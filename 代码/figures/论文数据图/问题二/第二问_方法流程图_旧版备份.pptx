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1817e5c40146d6" /><Relationship Type="http://schemas.openxmlformats.org/officeDocument/2006/relationships/extended-properties" Target="/docProps/app.xml" Id="Rec07476be2f64490" /><Relationship Type="http://schemas.openxmlformats.org/officeDocument/2006/relationships/officeDocument" Target="/ppt/presentation.xml" Id="R3b22604d872b4c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affb32b7c4c15"/>
  </p:sldMasterIdLst>
  <p:notesMasterIdLst>
    <p:notesMasterId xmlns:r="http://schemas.openxmlformats.org/officeDocument/2006/relationships" r:id="R1589fd6913744070"/>
  </p:notesMasterIdLst>
  <p:sldIdLst>
    <p:sldId xmlns:r="http://schemas.openxmlformats.org/officeDocument/2006/relationships" id="256" r:id="R239d6b14fa81489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60937ab5ed41e8" /><Relationship Type="http://schemas.openxmlformats.org/officeDocument/2006/relationships/slideMaster" Target="/ppt/slideMasters/slideMaster1.xml" Id="R79daffb32b7c4c15" /><Relationship Type="http://schemas.openxmlformats.org/officeDocument/2006/relationships/notesMaster" Target="/ppt/notesMasters/notesMaster1.xml" Id="R1589fd6913744070" /><Relationship Type="http://schemas.openxmlformats.org/officeDocument/2006/relationships/presProps" Target="/ppt/presProps.xml" Id="R9115fdf161104049" /><Relationship Type="http://schemas.openxmlformats.org/officeDocument/2006/relationships/tableStyles" Target="/ppt/tableStyles.xml" Id="Rc8a0e5a4c492445d" /><Relationship Type="http://schemas.openxmlformats.org/officeDocument/2006/relationships/slide" Target="/ppt/slides/slide1.xml" Id="R239d6b14fa8148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4dc1b13df147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09fbb745f7465b" /><Relationship Type="http://schemas.openxmlformats.org/officeDocument/2006/relationships/notesMaster" Target="/ppt/notesMasters/notesMaster1.xml" Id="R367d252e59fe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依据当前第二问完整重跑方案，而非历史 SARIMA—CVaR 版本。</a:t>
            </a:r>
          </a:p>
          <a:p xmlns:a="http://schemas.openxmlformats.org/drawingml/2006/main">
            <a:r>
              <a:t>来源：C:/Users/sss/Desktop/国赛/建模思路/第二问_完整重跑_具体解法与结果.md</a:t>
            </a:r>
          </a:p>
          <a:p xmlns:a="http://schemas.openxmlformats.org/drawingml/2006/main">
            <a:r>
              <a:t>源码：C:/Users/sss/Desktop/国赛/代码/实验/q2_fresh_20260912/fresh_engine.py</a:t>
            </a:r>
          </a:p>
          <a:p xmlns:a="http://schemas.openxmlformats.org/drawingml/2006/main">
            <a:r>
              <a:t>第二问：当日0:00普通购电计划固定；固定分时电价来自附件1。净负荷是实际负荷减实际光伏；10分钟电量=功率/6。预测中心在1月验证中选择分开预测，并保留直接预测的分位间距。主方案LP与DP终端系数均为0。DP使用三状态Markov转移、每类最多7个样本和60kWh库存网格；富余优先充电，缺口选择放电后由5倍电价紧急购电补齐。当前区间平均功率即时可测属于执行假设。当前模型不宣称全局多阶段最优。1月1日初始6000kWh，1月预热；正式评价2月1日至12月31日，库存跨日连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dfb2d1bbf4d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f91e0155a148b8" /><Relationship Type="http://schemas.openxmlformats.org/officeDocument/2006/relationships/slideLayout" Target="/ppt/slideLayouts/slideLayout1.xml" Id="Rce667e179bed40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e667e179bed40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62015fd04d73" /><Relationship Type="http://schemas.openxmlformats.org/officeDocument/2006/relationships/notesSlide" Target="/ppt/notesSlides/notesSlide1.xml" Id="R9ad09e37ae4644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dayahead-label">
            <a:extLst xmlns:a="http://schemas.openxmlformats.org/drawingml/2006/main">
              <a:ext uri="{FF2B5EF4-FFF2-40B4-BE49-F238E27FC236}">
                <a16:creationId xmlns:a16="http://schemas.microsoft.com/office/drawing/2014/main" id="{C45DA68B-0C65-4C82-9E38-DC12FE02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每日0:00：依据历史信息制定当日计划</a:t>
            </a:r>
          </a:p>
        </p:txBody>
      </p:sp>
      <p:sp>
        <p:nvSpPr>
          <p:cNvPr id="2" name="historical-data">
            <a:extLst xmlns:a="http://schemas.openxmlformats.org/drawingml/2006/main">
              <a:ext uri="{FF2B5EF4-FFF2-40B4-BE49-F238E27FC236}">
                <a16:creationId xmlns:a16="http://schemas.microsoft.com/office/drawing/2014/main" id="{E1493B08-E683-4471-8FA5-144A27DE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3" name="historical-data-title">
            <a:extLst xmlns:a="http://schemas.openxmlformats.org/drawingml/2006/main">
              <a:ext uri="{FF2B5EF4-FFF2-40B4-BE49-F238E27FC236}">
                <a16:creationId xmlns:a16="http://schemas.microsoft.com/office/drawing/2014/main" id="{46B5A9C0-E5E6-437E-AB68-6D02335D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历史信息与特征构造</a:t>
            </a:r>
          </a:p>
        </p:txBody>
      </p:sp>
      <p:sp>
        <p:nvSpPr>
          <p:cNvPr id="4" name="historical-data-body">
            <a:extLst xmlns:a="http://schemas.openxmlformats.org/drawingml/2006/main">
              <a:ext uri="{FF2B5EF4-FFF2-40B4-BE49-F238E27FC236}">
                <a16:creationId xmlns:a16="http://schemas.microsoft.com/office/drawing/2014/main" id="{55FC22F9-FE09-4765-8C56-23E0E052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当日前负荷与光伏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日历、滞后与滚动统计</a:t>
            </a:r>
          </a:p>
        </p:txBody>
      </p:sp>
      <p:sp>
        <p:nvSpPr>
          <p:cNvPr id="5" name="quantile-prediction">
            <a:extLst xmlns:a="http://schemas.openxmlformats.org/drawingml/2006/main">
              <a:ext uri="{FF2B5EF4-FFF2-40B4-BE49-F238E27FC236}">
                <a16:creationId xmlns:a16="http://schemas.microsoft.com/office/drawing/2014/main" id="{5943AD62-4270-4D45-ACC8-19FBD7B0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6" name="quantile-prediction-title">
            <a:extLst xmlns:a="http://schemas.openxmlformats.org/drawingml/2006/main">
              <a:ext uri="{FF2B5EF4-FFF2-40B4-BE49-F238E27FC236}">
                <a16:creationId xmlns:a16="http://schemas.microsoft.com/office/drawing/2014/main" id="{E546A384-D10C-4FF6-BF9D-5286262F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LightGBM 分位预测</a:t>
            </a:r>
          </a:p>
        </p:txBody>
      </p:sp>
      <p:sp>
        <p:nvSpPr>
          <p:cNvPr id="7" name="quantile-prediction-body">
            <a:extLst xmlns:a="http://schemas.openxmlformats.org/drawingml/2006/main">
              <a:ext uri="{FF2B5EF4-FFF2-40B4-BE49-F238E27FC236}">
                <a16:creationId xmlns:a16="http://schemas.microsoft.com/office/drawing/2014/main" id="{A8C628CD-9A11-44FC-8819-DB97E1A1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负荷、光伏分别预测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净负荷直接分位预测</a:t>
            </a:r>
          </a:p>
        </p:txBody>
      </p:sp>
      <p:sp>
        <p:nvSpPr>
          <p:cNvPr id="8" name="calibration">
            <a:extLst xmlns:a="http://schemas.openxmlformats.org/drawingml/2006/main">
              <a:ext uri="{FF2B5EF4-FFF2-40B4-BE49-F238E27FC236}">
                <a16:creationId xmlns:a16="http://schemas.microsoft.com/office/drawing/2014/main" id="{66F99FC8-8AA0-448C-B998-E8B87177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9" name="calibration-title">
            <a:extLst xmlns:a="http://schemas.openxmlformats.org/drawingml/2006/main">
              <a:ext uri="{FF2B5EF4-FFF2-40B4-BE49-F238E27FC236}">
                <a16:creationId xmlns:a16="http://schemas.microsoft.com/office/drawing/2014/main" id="{7BB29F6C-FAB6-4A05-ADF2-C58165C3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预测中心修正与校准</a:t>
            </a:r>
          </a:p>
        </p:txBody>
      </p:sp>
      <p:sp>
        <p:nvSpPr>
          <p:cNvPr id="10" name="calibration-body">
            <a:extLst xmlns:a="http://schemas.openxmlformats.org/drawingml/2006/main">
              <a:ext uri="{FF2B5EF4-FFF2-40B4-BE49-F238E27FC236}">
                <a16:creationId xmlns:a16="http://schemas.microsoft.com/office/drawing/2014/main" id="{51B17B44-27B7-4015-900B-93EEECD6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历史残差分时段校准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分位排序消除交叉</a:t>
            </a:r>
          </a:p>
        </p:txBody>
      </p:sp>
      <p:sp>
        <p:nvSpPr>
          <p:cNvPr id="11" name="dayahead-LP">
            <a:extLst xmlns:a="http://schemas.openxmlformats.org/drawingml/2006/main">
              <a:ext uri="{FF2B5EF4-FFF2-40B4-BE49-F238E27FC236}">
                <a16:creationId xmlns:a16="http://schemas.microsoft.com/office/drawing/2014/main" id="{1141A3A3-931F-49EF-9683-4495F63D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6750"/>
            <a:ext cx="257175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14288">
            <a:solidFill>
              <a:srgbClr val="104E8B"/>
            </a:solidFill>
          </a:ln>
        </p:spPr>
      </p:sp>
      <p:sp>
        <p:nvSpPr>
          <p:cNvPr id="12" name="dayahead-LP-title">
            <a:extLst xmlns:a="http://schemas.openxmlformats.org/drawingml/2006/main">
              <a:ext uri="{FF2B5EF4-FFF2-40B4-BE49-F238E27FC236}">
                <a16:creationId xmlns:a16="http://schemas.microsoft.com/office/drawing/2014/main" id="{6EC7BBB3-A4C0-44D0-A149-52D33E36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7810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日前计划：线性规划</a:t>
            </a:r>
          </a:p>
        </p:txBody>
      </p:sp>
      <p:sp>
        <p:nvSpPr>
          <p:cNvPr id="13" name="dayahead-LP-body">
            <a:extLst xmlns:a="http://schemas.openxmlformats.org/drawingml/2006/main">
              <a:ext uri="{FF2B5EF4-FFF2-40B4-BE49-F238E27FC236}">
                <a16:creationId xmlns:a16="http://schemas.microsoft.com/office/drawing/2014/main" id="{B9C38437-3585-4F5A-A63F-93EACEBB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1133475"/>
            <a:ext cx="2343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80分位、分时电价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输入当日实际初始库存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输出全天固定购电计划</a:t>
            </a:r>
          </a:p>
        </p:txBody>
      </p:sp>
      <p:cxnSp>
        <p:nvCxnSpPr>
          <p:cNvPr id="61" name=""/>
          <p:cNvCxnSpPr>
            <a:stCxn xmlns:a="http://schemas.openxmlformats.org/drawingml/2006/main" id="2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6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47700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6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810750" y="1333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17" name="markov-error">
            <a:extLst xmlns:a="http://schemas.openxmlformats.org/drawingml/2006/main">
              <a:ext uri="{FF2B5EF4-FFF2-40B4-BE49-F238E27FC236}">
                <a16:creationId xmlns:a16="http://schemas.microsoft.com/office/drawing/2014/main" id="{9E0DF2A7-49F4-43A0-A1F1-3A00F398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18" name="markov-error-title">
            <a:extLst xmlns:a="http://schemas.openxmlformats.org/drawingml/2006/main">
              <a:ext uri="{FF2B5EF4-FFF2-40B4-BE49-F238E27FC236}">
                <a16:creationId xmlns:a16="http://schemas.microsoft.com/office/drawing/2014/main" id="{641F1AD6-57DC-43B1-B1A1-DABE3A1B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67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三状态误差模型</a:t>
            </a:r>
          </a:p>
        </p:txBody>
      </p:sp>
      <p:sp>
        <p:nvSpPr>
          <p:cNvPr id="19" name="markov-error-body">
            <a:extLst xmlns:a="http://schemas.openxmlformats.org/drawingml/2006/main">
              <a:ext uri="{FF2B5EF4-FFF2-40B4-BE49-F238E27FC236}">
                <a16:creationId xmlns:a16="http://schemas.microsoft.com/office/drawing/2014/main" id="{D8BCE561-324E-4B8D-9477-0868FFE1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19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估计 Markov 转移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每类最多7个加权样本</a:t>
            </a:r>
          </a:p>
        </p:txBody>
      </p:sp>
      <p:sp>
        <p:nvSpPr>
          <p:cNvPr id="20" name="bellman-value">
            <a:extLst xmlns:a="http://schemas.openxmlformats.org/drawingml/2006/main">
              <a:ext uri="{FF2B5EF4-FFF2-40B4-BE49-F238E27FC236}">
                <a16:creationId xmlns:a16="http://schemas.microsoft.com/office/drawing/2014/main" id="{8FEDF512-5E00-475B-BD30-58C1F847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55270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21" name="bellman-value-title">
            <a:extLst xmlns:a="http://schemas.openxmlformats.org/drawingml/2006/main">
              <a:ext uri="{FF2B5EF4-FFF2-40B4-BE49-F238E27FC236}">
                <a16:creationId xmlns:a16="http://schemas.microsoft.com/office/drawing/2014/main" id="{B4C656B4-776B-44E8-8D64-07FE9027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随机动态规划</a:t>
            </a:r>
          </a:p>
        </p:txBody>
      </p:sp>
      <p:sp>
        <p:nvSpPr>
          <p:cNvPr id="22" name="bellman-value-body">
            <a:extLst xmlns:a="http://schemas.openxmlformats.org/drawingml/2006/main">
              <a:ext uri="{FF2B5EF4-FFF2-40B4-BE49-F238E27FC236}">
                <a16:creationId xmlns:a16="http://schemas.microsoft.com/office/drawing/2014/main" id="{DBE152A4-A8E6-4E95-8C85-C03864468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01942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0:p xmlns:ns0="http://schemas.openxmlformats.org/drawingml/2006/main">
            <ns0:pPr algn="ctr">
              <ns0:defRPr sz="1538" b="0">
                <ns0:solidFill>
                  <ns0:srgbClr val="243B53"/>
                </ns0:solidFill>
                <ns0:latin typeface="Microsoft YaHei"/>
                <ns0:ea typeface="Microsoft YaHei"/>
                <ns0:cs typeface="Microsoft YaHei"/>
              </ns0:defRPr>
            </ns0:pPr>
            <ns0:r>
              <ns0:rPr sz="1538" b="0">
                <ns0:solidFill>
                  <ns0:srgbClr val="243B53"/>
                </ns0:solidFill>
                <ns0:latin typeface="Microsoft YaHei"/>
                <ns0:ea typeface="Microsoft YaHei"/>
                <ns0:cs typeface="Microsoft YaHei"/>
              </ns0:rPr>
              <ns0:t>计算库存价值函数</ns0:t>
            </ns0:r>
          </ns0:p>
          <ns1:p xmlns:ns1="http://schemas.openxmlformats.org/drawingml/2006/main">
            <ns1:pPr algn="ctr">
              <ns1:defRPr sz="1538" b="0">
                <ns1:solidFill>
                  <ns1:srgbClr val="243B53"/>
                </ns1:solidFill>
                <ns1:latin typeface="Microsoft YaHei"/>
                <ns1:ea typeface="Microsoft YaHei"/>
                <ns1:cs typeface="Microsoft YaHei"/>
              </ns1:defRPr>
            </ns1:pPr>
            <ns1:r>
              <ns1:rPr sz="1538" b="0">
                <ns1:solidFill>
                  <ns1:srgbClr val="243B53"/>
                </ns1:solidFill>
                <ns1:latin typeface="Microsoft YaHei"/>
                <ns1:ea typeface="Microsoft YaHei"/>
                <ns1:cs typeface="Microsoft YaHei"/>
              </ns1:rPr>
              <ns1:t>终端价值设为零</ns1:t>
            </ns1:r>
          </ns1:p>
        </p:txBody>
      </p:sp>
      <p:cxnSp>
        <p:nvCxnSpPr>
          <p:cNvPr id="70" name=""/>
          <p:cNvCxnSpPr>
            <a:stCxn xmlns:a="http://schemas.openxmlformats.org/drawingml/2006/main" id="8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8524875" y="2000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71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9810750" y="3143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72" name=""/>
          <p:cNvCxnSpPr>
            <a:stCxn xmlns:a="http://schemas.openxmlformats.org/drawingml/2006/main" id="11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1858625" y="200025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26" name="plan-arrow-label">
            <a:extLst xmlns:a="http://schemas.openxmlformats.org/drawingml/2006/main">
              <a:ext uri="{FF2B5EF4-FFF2-40B4-BE49-F238E27FC236}">
                <a16:creationId xmlns:a16="http://schemas.microsoft.com/office/drawing/2014/main" id="{5E603069-0DBB-4F92-B8BF-0E1D660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4800" y="20383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固定计划</a:t>
            </a:r>
          </a:p>
        </p:txBody>
      </p:sp>
      <p:sp>
        <p:nvSpPr>
          <p:cNvPr id="27" name="current-observation">
            <a:extLst xmlns:a="http://schemas.openxmlformats.org/drawingml/2006/main">
              <a:ext uri="{FF2B5EF4-FFF2-40B4-BE49-F238E27FC236}">
                <a16:creationId xmlns:a16="http://schemas.microsoft.com/office/drawing/2014/main" id="{EFE38ADC-5BE7-4532-A2AF-84F4949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28" name="current-observation-title">
            <a:extLst xmlns:a="http://schemas.openxmlformats.org/drawingml/2006/main">
              <a:ext uri="{FF2B5EF4-FFF2-40B4-BE49-F238E27FC236}">
                <a16:creationId xmlns:a16="http://schemas.microsoft.com/office/drawing/2014/main" id="{27A78A90-74EC-4481-B445-BF100FAC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148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每10分钟读取实测</a:t>
            </a:r>
          </a:p>
        </p:txBody>
      </p:sp>
      <p:sp>
        <p:nvSpPr>
          <p:cNvPr id="29" name="current-observation-body">
            <a:extLst xmlns:a="http://schemas.openxmlformats.org/drawingml/2006/main">
              <a:ext uri="{FF2B5EF4-FFF2-40B4-BE49-F238E27FC236}">
                <a16:creationId xmlns:a16="http://schemas.microsoft.com/office/drawing/2014/main" id="{7D03B818-8543-47E5-9FEF-9458FDF1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67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实际净负荷与电池库存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计算净需求与计划之差</a:t>
            </a:r>
          </a:p>
        </p:txBody>
      </p:sp>
      <p:sp>
        <p:nvSpPr>
          <p:cNvPr id="30" name="feedback-action">
            <a:extLst xmlns:a="http://schemas.openxmlformats.org/drawingml/2006/main">
              <a:ext uri="{FF2B5EF4-FFF2-40B4-BE49-F238E27FC236}">
                <a16:creationId xmlns:a16="http://schemas.microsoft.com/office/drawing/2014/main" id="{F4B0F221-CBB7-49B5-8681-E77742D6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30530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31" name="feedback-action-title">
            <a:extLst xmlns:a="http://schemas.openxmlformats.org/drawingml/2006/main">
              <a:ext uri="{FF2B5EF4-FFF2-40B4-BE49-F238E27FC236}">
                <a16:creationId xmlns:a16="http://schemas.microsoft.com/office/drawing/2014/main" id="{71854F4C-D7CA-4A30-AF2A-A1E85B3F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41960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储能反馈执行</a:t>
            </a:r>
          </a:p>
        </p:txBody>
      </p:sp>
      <p:sp>
        <p:nvSpPr>
          <p:cNvPr id="32" name="feedback-action-body">
            <a:extLst xmlns:a="http://schemas.openxmlformats.org/drawingml/2006/main">
              <a:ext uri="{FF2B5EF4-FFF2-40B4-BE49-F238E27FC236}">
                <a16:creationId xmlns:a16="http://schemas.microsoft.com/office/drawing/2014/main" id="{732FB52D-7C4A-477C-98E1-8A4566D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772025"/>
            <a:ext cx="23431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2:p xmlns:ns2="http://schemas.openxmlformats.org/drawingml/2006/main">
            <ns2:pPr algn="ctr">
              <ns2:defRPr sz="1538" b="0">
                <ns2:solidFill>
                  <ns2:srgbClr val="243B53"/>
                </ns2:solidFill>
                <ns2:latin typeface="Microsoft YaHei"/>
                <ns2:ea typeface="Microsoft YaHei"/>
                <ns2:cs typeface="Microsoft YaHei"/>
              </ns2:defRPr>
            </ns2:pPr>
            <ns2:r>
              <ns2:rPr sz="1538" b="0">
                <ns2:solidFill>
                  <ns2:srgbClr val="243B53"/>
                </ns2:solidFill>
                <ns2:latin typeface="Microsoft YaHei"/>
                <ns2:ea typeface="Microsoft YaHei"/>
                <ns2:cs typeface="Microsoft YaHei"/>
              </ns2:rPr>
              <ns2:t>富余时充电，余量弃用</ns2:t>
            </ns2:r>
          </ns2:p>
          <ns3:p xmlns:ns3="http://schemas.openxmlformats.org/drawingml/2006/main">
            <ns3:pPr algn="ctr">
              <ns3:defRPr sz="1538" b="0">
                <ns3:solidFill>
                  <ns3:srgbClr val="243B53"/>
                </ns3:solidFill>
                <ns3:latin typeface="Microsoft YaHei"/>
                <ns3:ea typeface="Microsoft YaHei"/>
                <ns3:cs typeface="Microsoft YaHei"/>
              </ns3:defRPr>
            </ns3:pPr>
            <ns3:r>
              <ns3:rPr sz="1538" b="0">
                <ns3:solidFill>
                  <ns3:srgbClr val="243B53"/>
                </ns3:solidFill>
                <ns3:latin typeface="Microsoft YaHei"/>
                <ns3:ea typeface="Microsoft YaHei"/>
                <ns3:cs typeface="Microsoft YaHei"/>
              </ns3:rPr>
              <ns3:t>缺口时放电并紧急购电</ns3:t>
            </ns3:r>
          </ns3:p>
          <ns4:p xmlns:ns4="http://schemas.openxmlformats.org/drawingml/2006/main">
            <ns4:pPr algn="ctr">
              <ns4:defRPr sz="1538" b="0">
                <ns4:solidFill>
                  <ns4:srgbClr val="243B53"/>
                </ns4:solidFill>
                <ns4:latin typeface="Microsoft YaHei"/>
                <ns4:ea typeface="Microsoft YaHei"/>
                <ns4:cs typeface="Microsoft YaHei"/>
              </ns4:defRPr>
            </ns4:pPr>
            <ns4:r>
              <ns4:rPr sz="1538" b="0">
                <ns4:solidFill>
                  <ns4:srgbClr val="243B53"/>
                </ns4:solidFill>
                <ns4:latin typeface="Microsoft YaHei"/>
                <ns4:ea typeface="Microsoft YaHei"/>
                <ns4:cs typeface="Microsoft YaHei"/>
              </ns4:rPr>
              <ns4:t>按价值函数选择放电量</ns4:t>
            </ns4:r>
          </ns4:p>
        </p:txBody>
      </p:sp>
      <p:cxnSp>
        <p:nvCxnSpPr>
          <p:cNvPr id="80" name=""/>
          <p:cNvCxnSpPr>
            <a:stCxn xmlns:a="http://schemas.openxmlformats.org/drawingml/2006/main" id="20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1858625" y="3733800"/>
            <a:ext cx="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81" name=""/>
          <p:cNvCxnSpPr>
            <a:stCxn xmlns:a="http://schemas.openxmlformats.org/drawingml/2006/main" id="27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9810750" y="4991100"/>
            <a:ext cx="762000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35" name="inventory-update">
            <a:extLst xmlns:a="http://schemas.openxmlformats.org/drawingml/2006/main">
              <a:ext uri="{FF2B5EF4-FFF2-40B4-BE49-F238E27FC236}">
                <a16:creationId xmlns:a16="http://schemas.microsoft.com/office/drawing/2014/main" id="{262565C6-08FA-4A9F-A428-64B4AE79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305550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7"/>
          </a:solidFill>
          <a:ln xmlns:a="http://schemas.openxmlformats.org/drawingml/2006/main" w="14288">
            <a:solidFill>
              <a:srgbClr val="347F8B"/>
            </a:solidFill>
          </a:ln>
        </p:spPr>
      </p:sp>
      <p:sp>
        <p:nvSpPr>
          <p:cNvPr id="36" name="inventory-update-title">
            <a:extLst xmlns:a="http://schemas.openxmlformats.org/drawingml/2006/main">
              <a:ext uri="{FF2B5EF4-FFF2-40B4-BE49-F238E27FC236}">
                <a16:creationId xmlns:a16="http://schemas.microsoft.com/office/drawing/2014/main" id="{65E53D46-982F-480A-B9C1-4E7A92C2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4198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库存递推与跨日衔接</a:t>
            </a:r>
          </a:p>
        </p:txBody>
      </p:sp>
      <p:sp>
        <p:nvSpPr>
          <p:cNvPr id="37" name="inventory-update-body">
            <a:extLst xmlns:a="http://schemas.openxmlformats.org/drawingml/2006/main">
              <a:ext uri="{FF2B5EF4-FFF2-40B4-BE49-F238E27FC236}">
                <a16:creationId xmlns:a16="http://schemas.microsoft.com/office/drawing/2014/main" id="{BC706C54-E760-4E3C-96FB-63E1EBEF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6772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日末库存作为次日日初</a:t>
            </a:r>
          </a:p>
          <a:p xmlns:a="http://schemas.openxmlformats.org/drawingml/2006/main">
            <a:pPr algn="ctr">
              <a:def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243B53"/>
                </a:solidFill>
                <a:latin typeface="Microsoft YaHei"/>
                <a:ea typeface="Microsoft YaHei"/>
                <a:cs typeface="Microsoft YaHei"/>
              </a:rPr>
              <a:t>不重置、不强制日循环</a:t>
            </a:r>
          </a:p>
        </p:txBody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9810750" y="5772150"/>
            <a:ext cx="2047875" cy="1123950"/>
          </a:xfrm>
          <a:prstGeom xmlns:a="http://schemas.openxmlformats.org/drawingml/2006/main" prst="bentConnector5">
            <a:avLst>
              <a:gd name="adj1" fmla="val 0"/>
              <a:gd name="adj2" fmla="val 20339"/>
              <a:gd name="adj3" fmla="val 88837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cxnSp>
        <p:nvCxnSpPr>
          <p:cNvPr id="86" name=""/>
          <p:cNvCxnSpPr>
            <a:stCxn xmlns:a="http://schemas.openxmlformats.org/drawingml/2006/main" id="35" idx="0"/>
            <a:endCxn xmlns:a="http://schemas.openxmlformats.org/drawingml/2006/main" id="27" idx="2"/>
          </p:cNvCxnSpPr>
          <p:nvPr/>
        </p:nvCxnSpPr>
        <p:spPr>
          <a:xfrm xmlns:a="http://schemas.openxmlformats.org/drawingml/2006/main" flipV="1">
            <a:off x="8524875" y="5581650"/>
            <a:ext cx="0" cy="7239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47F8B"/>
            </a:solidFill>
            <a:prstDash val="solid"/>
            <a:tailEnd type="triangle" w="sm" len="sm"/>
          </a:ln>
        </p:spPr>
      </p:cxnSp>
      <p:sp>
        <p:nvSpPr>
          <p:cNvPr id="40" name="feedback-loop-label">
            <a:extLst xmlns:a="http://schemas.openxmlformats.org/drawingml/2006/main">
              <a:ext uri="{FF2B5EF4-FFF2-40B4-BE49-F238E27FC236}">
                <a16:creationId xmlns:a16="http://schemas.microsoft.com/office/drawing/2014/main" id="{B8AEB9DD-9566-41EE-8515-4C70B693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800725"/>
            <a:ext cx="1285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47F8B"/>
                </a:solidFill>
                <a:latin typeface="Microsoft YaHei"/>
                <a:ea typeface="Microsoft YaHei"/>
                <a:cs typeface="Microsoft YaHei"/>
              </a:rPr>
              <a:t>下一时段</a:t>
            </a:r>
          </a:p>
        </p:txBody>
      </p:sp>
      <p:sp>
        <p:nvSpPr>
          <p:cNvPr id="41" name="accounting-verification">
            <a:extLst xmlns:a="http://schemas.openxmlformats.org/drawingml/2006/main">
              <a:ext uri="{FF2B5EF4-FFF2-40B4-BE49-F238E27FC236}">
                <a16:creationId xmlns:a16="http://schemas.microsoft.com/office/drawing/2014/main" id="{AFC2F748-6AC4-4A79-8F59-B370C0DC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95800"/>
            <a:ext cx="5905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A"/>
          </a:solidFill>
          <a:ln xmlns:a="http://schemas.openxmlformats.org/drawingml/2006/main" w="14288">
            <a:solidFill>
              <a:srgbClr val="9DAAB7"/>
            </a:solidFill>
          </a:ln>
        </p:spPr>
      </p:sp>
      <p:sp>
        <p:nvSpPr>
          <p:cNvPr id="42" name="accounting-verification-title">
            <a:extLst xmlns:a="http://schemas.openxmlformats.org/drawingml/2006/main">
              <a:ext uri="{FF2B5EF4-FFF2-40B4-BE49-F238E27FC236}">
                <a16:creationId xmlns:a16="http://schemas.microsoft.com/office/drawing/2014/main" id="{7B6369B2-6D09-4085-9053-8F5956943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0100"/>
            <a:ext cx="567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费用核算与结果验证</a:t>
            </a:r>
          </a:p>
        </p:txBody>
      </p:sp>
      <p:sp>
        <p:nvSpPr>
          <p:cNvPr id="43" name="accounting-verification-body">
            <a:extLst xmlns:a="http://schemas.openxmlformats.org/drawingml/2006/main">
              <a:ext uri="{FF2B5EF4-FFF2-40B4-BE49-F238E27FC236}">
                <a16:creationId xmlns:a16="http://schemas.microsoft.com/office/drawing/2014/main" id="{BEF9F7CE-1B62-4F25-9505-780432B3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56769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ns5:p xmlns:ns5="http://schemas.openxmlformats.org/drawingml/2006/main">
            <ns5:pPr algn="ctr">
              <ns5:defRPr sz="1538" b="0">
                <ns5:solidFill>
                  <ns5:srgbClr val="243B53"/>
                </ns5:solidFill>
                <ns5:latin typeface="Microsoft YaHei"/>
                <ns5:ea typeface="Microsoft YaHei"/>
                <ns5:cs typeface="Microsoft YaHei"/>
              </ns5:defRPr>
            </ns5:pPr>
            <ns5:r>
              <ns5:rPr sz="1538" b="0">
                <ns5:solidFill>
                  <ns5:srgbClr val="243B53"/>
                </ns5:solidFill>
                <ns5:latin typeface="Microsoft YaHei"/>
                <ns5:ea typeface="Microsoft YaHei"/>
                <ns5:cs typeface="Microsoft YaHei"/>
              </ns5:rPr>
              <ns5:t>核算计划购电费与紧急购电费</ns5:t>
            </ns5:r>
          </ns5:p>
          <ns6:p xmlns:ns6="http://schemas.openxmlformats.org/drawingml/2006/main">
            <ns6:pPr algn="ctr">
              <ns6:defRPr sz="1538" b="0">
                <ns6:solidFill>
                  <ns6:srgbClr val="243B53"/>
                </ns6:solidFill>
                <ns6:latin typeface="Microsoft YaHei"/>
                <ns6:ea typeface="Microsoft YaHei"/>
                <ns6:cs typeface="Microsoft YaHei"/>
              </ns6:defRPr>
            </ns6:pPr>
            <ns6:r>
              <ns6:rPr sz="1538" b="0">
                <ns6:solidFill>
                  <ns6:srgbClr val="243B53"/>
                </ns6:solidFill>
                <ns6:latin typeface="Microsoft YaHei"/>
                <ns6:ea typeface="Microsoft YaHei"/>
                <ns6:cs typeface="Microsoft YaHei"/>
              </ns6:rPr>
              <ns6:t>检查功率平衡、储能边界与库存连续性</ns6:t>
            </ns6:r>
          </ns6:p>
          <ns7:p xmlns:ns7="http://schemas.openxmlformats.org/drawingml/2006/main">
            <ns7:pPr algn="ctr">
              <ns7:defRPr sz="1538" b="0">
                <ns7:solidFill>
                  <ns7:srgbClr val="243B53"/>
                </ns7:solidFill>
                <ns7:latin typeface="Microsoft YaHei"/>
                <ns7:ea typeface="Microsoft YaHei"/>
                <ns7:cs typeface="Microsoft YaHei"/>
              </ns7:defRPr>
            </ns7:pPr>
            <ns7:r>
              <ns7:rPr sz="1538" b="0">
                <ns7:solidFill>
                  <ns7:srgbClr val="243B53"/>
                </ns7:solidFill>
                <ns7:latin typeface="Microsoft YaHei"/>
                <ns7:ea typeface="Microsoft YaHei"/>
                <ns7:cs typeface="Microsoft YaHei"/>
              </ns7:rPr>
              <ns7:t>输出购电计划、充放电轨迹与紧急购电记录</ns7:t>
            </ns7:r>
          </ns7:p>
        </p:txBody>
      </p:sp>
      <p:cxnSp>
        <p:nvCxnSpPr>
          <p:cNvPr id="91" name=""/>
          <p:cNvCxnSpPr>
            <a:stCxn xmlns:a="http://schemas.openxmlformats.org/drawingml/2006/main" id="35" idx="1"/>
            <a:endCxn xmlns:a="http://schemas.openxmlformats.org/drawingml/2006/main" id="41" idx="2"/>
          </p:cNvCxnSpPr>
          <p:nvPr/>
        </p:nvCxnSpPr>
        <p:spPr>
          <a:xfrm xmlns:a="http://schemas.openxmlformats.org/drawingml/2006/main" flipH="1" flipV="1">
            <a:off x="3524250" y="6057900"/>
            <a:ext cx="3714750" cy="838200"/>
          </a:xfrm>
          <a:prstGeom xmlns:a="http://schemas.openxmlformats.org/drawingml/2006/main" prst="bentConnector4">
            <a:avLst>
              <a:gd name="adj1" fmla="val 6154"/>
              <a:gd name="adj2" fmla="val 72727"/>
            </a:avLst>
          </a:prstGeom>
          <a:ln xmlns:a="http://schemas.openxmlformats.org/drawingml/2006/main" w="17145">
            <a:solidFill>
              <a:srgbClr val="667E93"/>
            </a:solidFill>
            <a:prstDash val="solid"/>
            <a:tailEnd type="triangle" w="sm" len="sm"/>
          </a:ln>
        </p:spPr>
      </p:cxnSp>
      <p:sp>
        <p:nvSpPr>
          <p:cNvPr id="45" name="accumulation-label">
            <a:extLst xmlns:a="http://schemas.openxmlformats.org/drawingml/2006/main">
              <a:ext uri="{FF2B5EF4-FFF2-40B4-BE49-F238E27FC236}">
                <a16:creationId xmlns:a16="http://schemas.microsoft.com/office/drawing/2014/main" id="{7D6D6066-0FF3-4F3F-B6B4-92A23270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65627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逐日累计</a:t>
            </a:r>
          </a:p>
        </p:txBody>
      </p:sp>
      <p:sp>
        <p:nvSpPr>
          <p:cNvPr id="46" name="constraints-heading">
            <a:extLst xmlns:a="http://schemas.openxmlformats.org/drawingml/2006/main">
              <a:ext uri="{FF2B5EF4-FFF2-40B4-BE49-F238E27FC236}">
                <a16:creationId xmlns:a16="http://schemas.microsoft.com/office/drawing/2014/main" id="{D52B70BB-C257-4172-A999-D6AA432E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5075"/>
            <a:ext cx="581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4E8B"/>
                </a:solidFill>
                <a:latin typeface="Microsoft YaHei"/>
                <a:ea typeface="Microsoft YaHei"/>
                <a:cs typeface="Microsoft YaHei"/>
              </a:rPr>
              <a:t>共同物理约束</a:t>
            </a:r>
          </a:p>
        </p:txBody>
      </p:sp>
      <p:sp>
        <p:nvSpPr>
          <p:cNvPr id="47" name="constraints">
            <a:extLst xmlns:a="http://schemas.openxmlformats.org/drawingml/2006/main">
              <a:ext uri="{FF2B5EF4-FFF2-40B4-BE49-F238E27FC236}">
                <a16:creationId xmlns:a16="http://schemas.microsoft.com/office/drawing/2014/main" id="{DD1C60AF-E20A-4E69-9557-634EAB9F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90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储电量：1200–10800 kWh</a:t>
            </a:r>
          </a:p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充、放电功率上限：5000 kW；效率均为90%</a:t>
            </a:r>
          </a:p>
          <a:p xmlns:a="http://schemas.openxmlformats.org/drawingml/2006/main">
            <a:pPr algn="l">
              <a:def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38" b="0">
                <a:solidFill>
                  <a:srgbClr val="536B80"/>
                </a:solidFill>
                <a:latin typeface="Microsoft YaHei"/>
                <a:ea typeface="Microsoft YaHei"/>
                <a:cs typeface="Microsoft YaHei"/>
              </a:rPr>
              <a:t>仅当前观测用于执行，未来实测不进入决策</a:t>
            </a:r>
          </a:p>
        </p:txBody>
      </p:sp>
    </p:spTree>
    <p:extLst>
      <p:ext uri="{BB962C8B-B14F-4D97-AF65-F5344CB8AC3E}">
        <p14:creationId xmlns:p14="http://schemas.microsoft.com/office/powerpoint/2010/main" val="1177671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2026-09-12T09:26:33.6180000Z</dcterms:created>
  <dcterms:modified xsi:type="dcterms:W3CDTF">2026-09-12T09:26:33.6180000Z</dcterms:modified>
</coreProperties>
</file>