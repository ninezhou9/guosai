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background: '#FFFFFF', position: 'relative', padding: 0 }}&gt;&#10;    {/* ===== 连线层：置于最底 ===== */}&#10;    &lt;svg width={1280} height={720} viewBox='0 0 1280 720' style={{ position: 'absolute', top: 0, left: 0 }}&gt;&#10;        &lt;path d='M48 136 V 148' stroke='#111111' strokeWidth='2' fill='none' /&gt;&#10;        &lt;polygon points='40,148 56,148 48,160' fill='#111111' /&gt;&#10;        &lt;path d='M84 200 H 104' stroke='#111111' strokeWidth='2' fill='none' /&gt;&#10;        &lt;polygon points='102,192 118,200 102,208' fill='#111111' /&gt;&#10;        &lt;path d='M354 380 H 360' stroke='#111111' strokeWidth='2' fill='none' /&gt;&#10;        &lt;polygon points='358,372 374,380 358,388' fill='#111111' /&gt;&#10;        &lt;path d='M624 380 H 630' stroke='#111111' strokeWidth='2' fill='none' /&gt;&#10;        &lt;polygon points='628,372 644,380 628,388' fill='#111111' /&gt;&#10;        &lt;path d='M894 380 H 900' stroke='#111111' strokeWidth='2' fill='none' /&gt;&#10;        &lt;polygon points='898,372 914,380 898,388' fill='#111111' /&gt;&#10;        &lt;path d='M1152 470 H 1170 V 365 H 1174' stroke='#111111' strokeWidth='2' fill='none' /&gt;&#10;        &lt;polygon points='1172,357 1188,365 1172,373' fill='#111111' /&gt;&#10;    &lt;/svg&gt;&#10;&#10;    {/* ===== 外层虚线总框 ===== */}&#10;    &lt;Box style={{&#10;        position: 'absolute', left: 94, top: 57, width: 1082, height: 594,&#10;        border: '3px dashed #8198B3', borderRadius: 8, background: 'transparent',&#10;    }} /&gt;&#10;&#10;    {/* ===== 左侧输入列 ===== */}&#10;    &lt;Box style={{&#10;        position: 'absolute', left: 12, top: 56, width: 72, height: 80,&#10;        background: '#9EC3E6', border: '1.9px solid #111111', borderRadius: 6,&#10;        justifyContent: 'center', alignItems: 'center',&#10;    }}&gt;&#10;        &lt;Text style={{ fontSize: 26, fontWeight: 'bold', color: '#111111', textAlign: 'center', lineHeight: 1.3 }}&gt;原始&lt;br /&gt;数据&lt;/Text&gt;&#10;    &lt;/Box&gt;&#10;    &lt;Box style={{&#10;        position: 'absolute', left: 12, top: 160, width: 72, height: 80,&#10;        background: '#9EC3E6', border: '1.9px solid #111111', borderRadius: 6,&#10;        justifyContent: 'center', alignItems: 'center',&#10;    }}&gt;&#10;        &lt;Text style={{ fontSize: 26, fontWeight: 'bold', color: '#111111', textAlign: 'center', lineHeight: 1.3 }}&gt;特征&lt;br /&gt;构造&lt;/Text&gt;&#10;    &lt;/Box&gt;&#10;&#10;    {/* ===== 右侧输出列 ===== */}&#10;    &lt;Box style={{&#10;        position: 'absolute', left: 1188, top: 250, width: 76, height: 230,&#10;        background: '#9EC3E6', border: '1.9px solid #111111', borderRadius: 6,&#10;        justifyContent: 'center', alignItems: 'center',&#10;    }}&gt;&#10;        &lt;Text style={{ fontSize: 26, fontWeight: 'bold', color: '#111111', textAlign: 'center', lineHeight: 1.35 }}&gt;调度&lt;br /&gt;方案&lt;br /&gt;与&lt;br /&gt;费用&lt;/Text&gt;&#10;    &lt;/Box&gt;&#10;&#10;    {/* ===== 四个阶段容器 ===== */}&#10;    &lt;Box style={{ position: 'absolute', left: 106, top: 84, width: 248, height: 542, border: '2.5px dashed #B0B0B0', borderRadius: 6 }} /&gt;&#10;    &lt;Box style={{ position: 'absolute', left: 376, top: 84, width: 248, height: 542, border: '2.5px dashed #B0B0B0', borderRadius: 6 }} /&gt;&#10;    &lt;Box style={{ position: 'absolute', left: 646, top: 84, width: 248, height: 542, border: '2.5px dashed #B0B0B0', borderRadius: 6 }} /&gt;&#10;    &lt;Box style={{ position: 'absolute', left: 916, top: 84, width: 248, height: 542, border: '2.5px dashed #B0B0B0', borderRadius: 6 }} /&gt;&#10;&#10;    {/* ===== 阶段标题 ===== */}&#10;    &lt;Box style={{ position: 'absolute', left: 116, top: 97, width: 228, height: 36, justifyContent: 'center', alignItems: 'center' }}&gt;&#10;        &lt;Text style={{ fontSize: 22, fontWeight: 'bold', color: '#367CB3', textAlign: 'center' }}&gt;阶段1  分位数预测&lt;/Text&gt;&#10;    &lt;/Box&gt;&#10;    &lt;Box style={{ position: 'absolute', left: 386, top: 97, width: 228, height: 36, justifyContent: 'center', alignItems: 'center' }}&gt;&#10;        &lt;Text style={{ fontSize: 22, fontWeight: 'bold', color: '#367CB3', textAlign: 'center' }}&gt;阶段2  日前计划&lt;/Text&gt;&#10;    &lt;/Box&gt;&#10;    &lt;Box style={{ position: 'absolute', left: 656, top: 97, width: 228, height: 36, justifyContent: 'center', alignItems: 'center' }}&gt;&#10;        &lt;Text style={{ fontSize: 22, fontWeight: 'bold', color: '#367CB3', textAlign: 'center' }}&gt;阶段3  随机动态规划&lt;/Text&gt;&#10;    &lt;/Box&gt;&#10;    &lt;Box style={{ position: 'absolute', left: 926, top: 97, width: 228, height: 36, justifyContent: 'center', alignItems: 'center' }}&gt;&#10;        &lt;Text style={{ fontSize: 22, fontWeight: 'bold', color: '#367CB3', textAlign: 'center' }}&gt;阶段4  SOC 跨日接续&lt;/Text&gt;&#10;    &lt;/Box&gt;&#10;&#10;    {/* ===== 阶段1 节点 ===== */}&#10;    &lt;Box style={{ position: 'absolute', left: 118, top: 145, width: 224, height: 72, background: '#FFFFFF', border: '1.9px solid #111111', justifyContent: 'center', alignItems: 'center', padding: 4 }}&gt;&#10;        &lt;Text style={{ fontSize: 22, color: '#111111', textAlign: 'center', lineHeight: 1.3 }}&gt;LightGBM&lt;br /&gt;分位数回归&lt;/Text&gt;&#10;    &lt;/Box&gt;&#10;    &lt;Box style={{ position: 'absolute', left: 118, top: 231, width: 224, height: 92, border: '2px dashed #355C96', borderRadius: 4 }} /&gt;&#10;    &lt;Box style={{ position: 'absolute', left: 126, top: 245, width: 100, height: 64, background: '#FFFFFF', border: '1.9px solid #111111', justifyContent: 'center', alignItems: 'center', padding: 4 }}&gt;&#10;        &lt;Text style={{ fontSize: 18, color: '#111111', textAlign: 'center', lineHeight: 1.3 }}&gt;净负荷&lt;br /&gt;直接预测&lt;/Text&gt;&#10;    &lt;/Box&gt;&#10;    &lt;Box style={{ position: 'absolute', left: 234, top: 245, width: 100, height: 64, background: '#FFFFFF', border: '1.9px solid #111111', justifyContent: 'center', alignItems: 'center', padding: 4 }}&gt;&#10;        &lt;Text style={{ fontSize: 18, color: '#111111', textAlign: 'center', lineHeight: 1.3 }}&gt;负荷与光伏&lt;br /&gt;分别预测&lt;/Text&gt;&#10;    &lt;/Box&gt;&#10;    &lt;Box style={{ position: 'absolute', left: 118, top: 337, width: 224, height: 72, background: '#FFFFFF', border: '1.9px solid #111111', justifyContent: 'center', alignItems: 'center', padding: 4 }}&gt;&#10;        &lt;Text style={{ fontSize: 22, color: '#111111', textAlign: 'center', lineHeight: 1.3 }}&gt;预测中心修正&lt;br /&gt;MAE 择直接或分开&lt;/Text&gt;&#10;    &lt;/Box&gt;&#10;    &lt;Box style={{ position: 'absolute', left: 118, top: 423, width: 224, height: 68, background: '#FFFFFF', border: '1.9px solid #111111', justifyContent: 'center', alignItems: 'center', padding: 4 }}&gt;&#10;        &lt;Text style={{ fontSize: 20, color: '#111111', textAlign: 'center', lineHeight: 1.3 }}&gt;历史残差校准与排序&lt;br /&gt;4 个 6 时段块校准&lt;/Text&gt;&#10;    &lt;/Box&gt;&#10;    &lt;Box style={{ position: 'absolute', left: 118, top: 505, width: 224, height: 48, background: '#BBD6EE', border: '1.9px solid #111111', justifyContent: 'center', alignItems: 'center' }}&gt;&#10;        &lt;Text style={{ fontSize: 24, color: '#111111', textAlign: 'center' }}&gt;净负荷分位预测&lt;/Text&gt;&#10;    &lt;/Box&gt;&#10;&#10;    {/* ===== 阶段2 节点 ===== */}&#10;    &lt;Box style={{ position: 'absolute', left: 388, top: 145, width: 224, height: 92, background: '#FFFFFF', border: '1.9px solid #111111', justifyContent: 'center', alignItems: 'center', padding: 4 }}&gt;&#10;        &lt;Text style={{ fontSize: 20, color: '#111111', textAlign: 'center', lineHeight: 1.3 }}&gt;1 月预热启动&lt;br /&gt;6000 kWh 起&lt;br /&gt;2 月 1 日达 10800&lt;/Text&gt;&#10;    &lt;/Box&gt;&#10;    &lt;Box style={{ position: 'absolute', left: 388, top: 251, width: 224, height: 92, background: '#FFFFFF', border: '1.9px solid #111111', justifyContent: 'center', alignItems: 'center', padding: 4 }}&gt;&#10;        &lt;Text style={{ fontSize: 20, color: '#111111', textAlign: 'center', lineHeight: 1.3 }}&gt;80 分位净需求&lt;br /&gt;分时电价&lt;br /&gt;输入实际日初库存&lt;/Text&gt;&#10;    &lt;/Box&gt;&#10;    &lt;Box style={{ position: 'absolute', left: 388, top: 357, width: 224, height: 126, background: '#FFFFFF', border: '1.9px solid #111111', justifyContent: 'center', alignItems: 'center', padding: 4 }}&gt;&#10;        &lt;Text style={{ fontSize: 20, color: '#111111', textAlign: 'center', lineHeight: 1.3 }}&gt;日前线性规划&lt;br /&gt;min Σ p_t g_t&lt;br /&gt;储能 1200—10800&lt;br /&gt;功率 ≤5000 kW&lt;/Text&gt;&#10;    &lt;/Box&gt;&#10;    &lt;Box style={{ position: 'absolute', left: 388, top: 497, width: 224, height: 72, background: '#BBD6EE', border: '1.9px solid #111111', justifyContent: 'center', alignItems: 'center', padding: 4 }}&gt;&#10;        &lt;Text style={{ fontSize: 22, color: '#111111', textAlign: 'center', lineHeight: 1.3 }}&gt;全天购电计划 g_d&lt;br /&gt;日内不再修改&lt;/Text&gt;&#10;    &lt;/Box&gt;&#10;&#10;    {/* ===== 阶段3 节点 ===== */}&#10;    &lt;Box style={{ position: 'absolute', left: 658, top: 145, width: 224, height: 72, background: '#FFFFFF', border: '1.9px solid #111111', justifyContent: 'center', alignItems: 'center', padding: 4 }}&gt;&#10;        &lt;Text style={{ fontSize: 22, color: '#111111', textAlign: 'center', lineHeight: 1.3 }}&gt;三状态误差模型&lt;br /&gt;按 ±0.84 分三态&lt;/Text&gt;&#10;    &lt;/Box&gt;&#10;    &lt;Box style={{ position: 'absolute', left: 658, top: 231, width: 224, height: 72, background: '#FFFFFF', border: '1.9px solid #111111', justifyContent: 'center', alignItems: 'center', padding: 4 }}&gt;&#10;        &lt;Text style={{ fontSize: 22, color: '#111111', textAlign: 'center', lineHeight: 1.3 }}&gt;Markov 转移估计&lt;br /&gt;全局平滑 + 局部修正&lt;/Text&gt;&#10;    &lt;/Box&gt;&#10;    &lt;Box style={{ position: 'absolute', left: 658, top: 317, width: 224, height: 72, background: '#FFFFFF', border: '1.9px solid #111111', justifyContent: 'center', alignItems: 'center', padding: 4 }}&gt;&#10;        &lt;Text style={{ fontSize: 22, color: '#111111', textAlign: 'center', lineHeight: 1.3 }}&gt;类内加权误差样本&lt;br /&gt;每类最多 7 个&lt;/Text&gt;&#10;    &lt;/Box&gt;&#10;    &lt;Box style={{ position: 'absolute', left: 658, top: 403, width: 224, height: 72, background: '#FFFFFF', border: '1.9px solid #111111', justifyContent: 'center', alignItems: 'center', padding: 4 }}&gt;&#10;        &lt;Text style={{ fontSize: 22, color: '#111111', textAlign: 'center', lineHeight: 1.3 }}&gt;终端参数 κ 验证&lt;br /&gt;1 月 22—31 日择定&lt;/Text&gt;&#10;    &lt;/Box&gt;&#10;    &lt;Box style={{ position: 'absolute', left: 658, top: 489, width: 224, height: 104, background: '#FFFFFF', border: '1.9px solid #111111', justifyContent: 'center', alignItems: 'center', padding: 4 }}&gt;&#10;        &lt;Text style={{ fontSize: 22, color: '#111111', textAlign: 'center', lineHeight: 1.3 }}&gt;Bellman 递推&lt;br /&gt;161 点网格&lt;br /&gt;最小化预期应急费&lt;/Text&gt;&#10;    &lt;/Box&gt;&#10;&#10;    {/* ===== 阶段4 节点 ===== */}&#10;    &lt;Box style={{ position: 'absolute', left: 928, top: 145, width: 224, height: 126, background: '#FFFFFF', border: '1.9px solid #111111', justifyContent: 'center', alignItems: 'center', padding: 4 }}&gt;&#10;        &lt;Text style={{ fontSize: 20, color: '#111111', textAlign: 'center', lineHeight: 1.3 }}&gt;日内反馈执行&lt;br /&gt;每 10 分钟读实测&lt;br /&gt;富余：优先充电&lt;br /&gt;缺口：放电 + 应急&lt;/Text&gt;&#10;    &lt;/Box&gt;&#10;    &lt;Box style={{ position: 'absolute', left: 928, top: 285, width: 224, height: 88, background: '#FFFFFF', border: '1.9px solid #111111', justifyContent: 'center', alignItems: 'center', padding: 4 }}&gt;&#10;        &lt;Text style={{ fontSize: 18, color: '#111111', textAlign: 'center', lineHeight: 1.3 }}&gt;更新储电量&lt;br /&gt;E' = E + 0.9c - b/0.9&lt;br /&gt;日末库存 = 次日日初&lt;/Text&gt;&#10;    &lt;/Box&gt;&#10;    &lt;Box style={{ position: 'absolute', left: 928, top: 387, width: 224, height: 96, background: '#FFFFFF', border: '1.9px solid #111111', justifyContent: 'center', alignItems: 'center', padding: 4 }}&gt;&#10;        &lt;Text style={{ fontSize: 20, color: '#111111', textAlign: 'center', lineHeight: 1.3 }}&gt;逐日费用核算&lt;br /&gt;普通购电 p·g&lt;br /&gt;应急购电 5p·e&lt;/Text&gt;&#10;    &lt;/Box&gt;&#10;    &lt;Box style={{ position: 'absolute', left: 928, top: 497, width: 224, height: 72, background: '#FFFFFF', border: '1.9px solid #111111', justifyContent: 'center', alignItems: 'center', padding: 4 }}&gt;&#10;        &lt;Text style={{ fontSize: 22, color: '#111111', textAlign: 'center', lineHeight: 1.3 }}&gt;费用与约束核验&lt;br /&gt;物理与跨日衔接复核&lt;/Text&gt;&#10;    &lt;/Box&gt;&#10;&#10;    {/* ===== 底部说明 ===== */}&#10;    &lt;Box style={{ position: 'absolute', left: 156, top: 663, width: 968, height: 36, justifyContent: 'center', alignItems: 'center' }}&gt;&#10;        &lt;Text style={{ fontSize: 22, color: '#333333', textAlign: 'center' }}&gt;日内每10分钟执行反馈控制；日末库存作为次日日初库存，不重置、不强制每日首末相等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895350" y="542925"/>
            <a:ext cx="10306050" cy="5657850"/>
          </a:xfrm>
          <a:prstGeom prst="roundRect">
            <a:avLst>
              <a:gd name="adj" fmla="val 1347"/>
            </a:avLst>
          </a:prstGeom>
          <a:ln w="38100">
            <a:solidFill>
              <a:srgbClr val="8198B3"/>
            </a:solidFill>
            <a:prstDash val="dash"/>
          </a:ln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" y="533400"/>
            <a:ext cx="685800" cy="762000"/>
          </a:xfrm>
          <a:prstGeom prst="roundRect">
            <a:avLst>
              <a:gd name="adj" fmla="val 8333"/>
            </a:avLst>
          </a:prstGeom>
          <a:solidFill>
            <a:srgbClr val="9EC3E6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209550" y="523875"/>
            <a:ext cx="495300" cy="7810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原始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114300" y="1524000"/>
            <a:ext cx="685800" cy="762000"/>
          </a:xfrm>
          <a:prstGeom prst="roundRect">
            <a:avLst>
              <a:gd name="adj" fmla="val 8333"/>
            </a:avLst>
          </a:prstGeom>
          <a:solidFill>
            <a:srgbClr val="9EC3E6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209550" y="1514475"/>
            <a:ext cx="495300" cy="7810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特征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构造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11315700" y="2381250"/>
            <a:ext cx="723900" cy="2190750"/>
          </a:xfrm>
          <a:prstGeom prst="roundRect">
            <a:avLst>
              <a:gd name="adj" fmla="val 7895"/>
            </a:avLst>
          </a:prstGeom>
          <a:solidFill>
            <a:srgbClr val="9EC3E6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1430000" y="2676525"/>
            <a:ext cx="495300" cy="1609725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调度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方案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与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费用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1009650" y="800100"/>
            <a:ext cx="2362200" cy="5162550"/>
          </a:xfrm>
          <a:prstGeom prst="roundRect">
            <a:avLst>
              <a:gd name="adj" fmla="val 2419"/>
            </a:avLst>
          </a:prstGeom>
          <a:ln w="31750">
            <a:solidFill>
              <a:srgbClr val="B0B0B0"/>
            </a:solidFill>
            <a:prstDash val="dash"/>
          </a:ln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3581400" y="800100"/>
            <a:ext cx="2362200" cy="5162550"/>
          </a:xfrm>
          <a:prstGeom prst="roundRect">
            <a:avLst>
              <a:gd name="adj" fmla="val 2419"/>
            </a:avLst>
          </a:prstGeom>
          <a:ln w="31750">
            <a:solidFill>
              <a:srgbClr val="B0B0B0"/>
            </a:solidFill>
            <a:prstDash val="dash"/>
          </a:ln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6153150" y="800100"/>
            <a:ext cx="2362200" cy="5162550"/>
          </a:xfrm>
          <a:prstGeom prst="roundRect">
            <a:avLst>
              <a:gd name="adj" fmla="val 2419"/>
            </a:avLst>
          </a:prstGeom>
          <a:ln w="31750">
            <a:solidFill>
              <a:srgbClr val="B0B0B0"/>
            </a:solidFill>
            <a:prstDash val="dash"/>
          </a:ln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8724900" y="800100"/>
            <a:ext cx="2362200" cy="5162550"/>
          </a:xfrm>
          <a:prstGeom prst="roundRect">
            <a:avLst>
              <a:gd name="adj" fmla="val 2419"/>
            </a:avLst>
          </a:prstGeom>
          <a:ln w="31750">
            <a:solidFill>
              <a:srgbClr val="B0B0B0"/>
            </a:solidFill>
            <a:prstDash val="dash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333500" y="971550"/>
            <a:ext cx="172402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阶段</a:t>
            </a:r>
            <a:r>
              <a:rPr lang="en-US" sz="1650" b="1">
                <a:solidFill>
                  <a:srgbClr val="367CB3"/>
                </a:solidFill>
                <a:latin typeface="Microsoft YaHei"/>
                <a:ea typeface="Microsoft YaHei"/>
              </a:rPr>
              <a:t>1  </a:t>
            </a: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分位数预测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010025" y="971550"/>
            <a:ext cx="15144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阶段</a:t>
            </a:r>
            <a:r>
              <a:rPr lang="en-US" sz="1650" b="1">
                <a:solidFill>
                  <a:srgbClr val="367CB3"/>
                </a:solidFill>
                <a:latin typeface="Microsoft YaHei"/>
                <a:ea typeface="Microsoft YaHei"/>
              </a:rPr>
              <a:t>2  </a:t>
            </a: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日前计划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372225" y="971550"/>
            <a:ext cx="19335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阶段</a:t>
            </a:r>
            <a:r>
              <a:rPr lang="en-US" sz="1650" b="1">
                <a:solidFill>
                  <a:srgbClr val="367CB3"/>
                </a:solidFill>
                <a:latin typeface="Microsoft YaHei"/>
                <a:ea typeface="Microsoft YaHei"/>
              </a:rPr>
              <a:t>3  </a:t>
            </a: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随机动态规划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896350" y="971550"/>
            <a:ext cx="20193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阶段</a:t>
            </a:r>
            <a:r>
              <a:rPr lang="en-US" sz="1650" b="1">
                <a:solidFill>
                  <a:srgbClr val="367CB3"/>
                </a:solidFill>
                <a:latin typeface="Microsoft YaHei"/>
                <a:ea typeface="Microsoft YaHei"/>
              </a:rPr>
              <a:t>4  SOC </a:t>
            </a: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跨日接续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123950" y="138112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666875" y="1400175"/>
            <a:ext cx="104775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LightGBM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分位数回归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23950" y="2200275"/>
            <a:ext cx="2133600" cy="876300"/>
          </a:xfrm>
          <a:prstGeom prst="roundRect">
            <a:avLst>
              <a:gd name="adj" fmla="val 4348"/>
            </a:avLst>
          </a:prstGeom>
          <a:ln w="25400">
            <a:solidFill>
              <a:srgbClr val="355C96"/>
            </a:solidFill>
            <a:prstDash val="dash"/>
          </a:ln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1200150" y="2333625"/>
            <a:ext cx="952500" cy="6096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333500" y="2371725"/>
            <a:ext cx="685800" cy="5429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净负荷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直接预测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2228850" y="2333625"/>
            <a:ext cx="952500" cy="6096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2276475" y="2371725"/>
            <a:ext cx="857250" cy="5429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负荷与光伏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分别预测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1123950" y="320992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295400" y="3228975"/>
            <a:ext cx="179070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预测中心修正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MAE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择直接或分开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1123950" y="4029075"/>
            <a:ext cx="2133600" cy="6477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333500" y="4057650"/>
            <a:ext cx="1714500" cy="6000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历史残差校准与排序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4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个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6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时段块校准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1123950" y="4810125"/>
            <a:ext cx="2133600" cy="457200"/>
          </a:xfrm>
          <a:prstGeom prst="rect">
            <a:avLst/>
          </a:prstGeom>
          <a:solidFill>
            <a:srgbClr val="BBD6EE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390650" y="4905375"/>
            <a:ext cx="16002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00">
                <a:solidFill>
                  <a:srgbClr val="111111"/>
                </a:solidFill>
                <a:latin typeface="Microsoft YaHei"/>
                <a:ea typeface="Microsoft YaHei"/>
              </a:rPr>
              <a:t>净负荷分位预测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3695700" y="1381125"/>
            <a:ext cx="2133600" cy="8763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971925" y="1371600"/>
            <a:ext cx="1581150" cy="8953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1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月预热启动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6000 kWh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起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2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月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1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日达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10800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695700" y="2390775"/>
            <a:ext cx="2133600" cy="8763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000500" y="2381250"/>
            <a:ext cx="1524000" cy="8953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80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分位净需求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分时电价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输入实际日初库存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695700" y="3400425"/>
            <a:ext cx="2133600" cy="120015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933825" y="3409950"/>
            <a:ext cx="1657350" cy="11906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日前线性规划</a:t>
            </a:r>
          </a:p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最小化购电费用</a:t>
            </a:r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满足储电量边界</a:t>
            </a:r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限制充放电功率</a:t>
            </a:r>
          </a:p>
        </p:txBody>
      </p:sp>
      <p:sp>
        <p:nvSpPr>
          <p:cNvPr id="38" name=""/>
          <p:cNvSpPr/>
          <p:nvPr/>
        </p:nvSpPr>
        <p:spPr>
          <a:xfrm rot="0" flipH="0" flipV="0">
            <a:off x="3695700" y="4733925"/>
            <a:ext cx="2133600" cy="685800"/>
          </a:xfrm>
          <a:prstGeom prst="rect">
            <a:avLst/>
          </a:prstGeom>
          <a:solidFill>
            <a:srgbClr val="BBD6EE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924300" y="4752975"/>
            <a:ext cx="1685925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全天购电计划</a:t>
            </a:r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日内不再修改</a:t>
            </a:r>
          </a:p>
        </p:txBody>
      </p:sp>
      <p:sp>
        <p:nvSpPr>
          <p:cNvPr id="40" name=""/>
          <p:cNvSpPr/>
          <p:nvPr/>
        </p:nvSpPr>
        <p:spPr>
          <a:xfrm rot="0" flipH="0" flipV="0">
            <a:off x="6267450" y="138112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562725" y="1400175"/>
            <a:ext cx="154305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三状态误差模型</a:t>
            </a:r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按上下阈值划分类别</a:t>
            </a:r>
          </a:p>
        </p:txBody>
      </p:sp>
      <p:sp>
        <p:nvSpPr>
          <p:cNvPr id="42" name=""/>
          <p:cNvSpPr/>
          <p:nvPr/>
        </p:nvSpPr>
        <p:spPr>
          <a:xfrm rot="0" flipH="0" flipV="0">
            <a:off x="6267450" y="220027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353175" y="2219325"/>
            <a:ext cx="196215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估计状态转移</a:t>
            </a:r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全局平滑与局部修正</a:t>
            </a:r>
          </a:p>
        </p:txBody>
      </p:sp>
      <p:sp>
        <p:nvSpPr>
          <p:cNvPr id="44" name=""/>
          <p:cNvSpPr/>
          <p:nvPr/>
        </p:nvSpPr>
        <p:spPr>
          <a:xfrm rot="0" flipH="0" flipV="0">
            <a:off x="6267450" y="301942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496050" y="3038475"/>
            <a:ext cx="167640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类内加权误差样本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每类最多</a:t>
            </a: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 7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267450" y="383857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400800" y="3857625"/>
            <a:ext cx="186690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终端价值参数验证</a:t>
            </a:r>
          </a:p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依据一月验证期择定</a:t>
            </a:r>
          </a:p>
        </p:txBody>
      </p:sp>
      <p:sp>
        <p:nvSpPr>
          <p:cNvPr id="48" name=""/>
          <p:cNvSpPr/>
          <p:nvPr/>
        </p:nvSpPr>
        <p:spPr>
          <a:xfrm rot="0" flipH="0" flipV="0">
            <a:off x="6267450" y="4657725"/>
            <a:ext cx="2133600" cy="9906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496050" y="4667250"/>
            <a:ext cx="1676400" cy="9810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Bellman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递推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161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点网格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最小化预期应急费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8839200" y="1381125"/>
            <a:ext cx="2133600" cy="120015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115425" y="1390650"/>
            <a:ext cx="1590675" cy="11906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日内反馈执行</a:t>
            </a:r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每十分钟读取实测</a:t>
            </a:r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富余时优先充电</a:t>
            </a:r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缺口时放电并紧急购电</a:t>
            </a:r>
          </a:p>
        </p:txBody>
      </p:sp>
      <p:sp>
        <p:nvSpPr>
          <p:cNvPr id="52" name=""/>
          <p:cNvSpPr/>
          <p:nvPr/>
        </p:nvSpPr>
        <p:spPr>
          <a:xfrm rot="0" flipH="0" flipV="0">
            <a:off x="8839200" y="2714625"/>
            <a:ext cx="2133600" cy="8382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096375" y="2733675"/>
            <a:ext cx="1619250" cy="8096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更新储电量</a:t>
            </a:r>
          </a:p>
          <a:p>
            <a:pPr algn="ctr">
              <a:lnSpc>
                <a:spcPct val="130000"/>
              </a:lnSpc>
            </a:pPr>
            <a:r>
              <a:rPr lang="en-US" sz="1350">
                <a:solidFill>
                  <a:srgbClr val="111111"/>
                </a:solidFill>
                <a:latin typeface="Microsoft YaHei"/>
                <a:ea typeface="Microsoft YaHei"/>
              </a:rPr>
              <a:t>计入充放电损耗</a:t>
            </a:r>
          </a:p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日末库存传递至次日</a:t>
            </a:r>
          </a:p>
        </p:txBody>
      </p:sp>
      <p:sp>
        <p:nvSpPr>
          <p:cNvPr id="54" name=""/>
          <p:cNvSpPr/>
          <p:nvPr/>
        </p:nvSpPr>
        <p:spPr>
          <a:xfrm rot="0" flipH="0" flipV="0">
            <a:off x="8839200" y="3686175"/>
            <a:ext cx="2133600" cy="9144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305925" y="3695700"/>
            <a:ext cx="1209675" cy="8953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逐日费用核算</a:t>
            </a:r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普通购电按分时电价</a:t>
            </a:r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紧急购电按五倍电价</a:t>
            </a:r>
          </a:p>
        </p:txBody>
      </p:sp>
      <p:sp>
        <p:nvSpPr>
          <p:cNvPr id="56" name=""/>
          <p:cNvSpPr/>
          <p:nvPr/>
        </p:nvSpPr>
        <p:spPr>
          <a:xfrm rot="0" flipH="0" flipV="0">
            <a:off x="8839200" y="473392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963025" y="4752975"/>
            <a:ext cx="188595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费用与约束核验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物理与跨日衔接复核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990725" y="6362700"/>
            <a:ext cx="82105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日内每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10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分钟执行反馈控制；日末库存作为次日日初库存，不重置、不强制每日首末相等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2026-09-12T20:05:29Z</dcterms:created>
  <dcterms:modified xsi:type="dcterms:W3CDTF">2026-09-12T20:05:29Z</dcterms:modified>
</cp:coreProperties>
</file>