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115c4cd1ba4915" /><Relationship Type="http://schemas.openxmlformats.org/officeDocument/2006/relationships/extended-properties" Target="/docProps/app.xml" Id="R97d2f18848114af8" /><Relationship Type="http://schemas.openxmlformats.org/officeDocument/2006/relationships/officeDocument" Target="/ppt/presentation.xml" Id="R5d7c909e75ac4e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4805f945044b6d"/>
  </p:sldMasterIdLst>
  <p:notesMasterIdLst>
    <p:notesMasterId xmlns:r="http://schemas.openxmlformats.org/officeDocument/2006/relationships" r:id="Rb32c24a2e69944a1"/>
  </p:notesMasterIdLst>
  <p:sldIdLst>
    <p:sldId xmlns:r="http://schemas.openxmlformats.org/officeDocument/2006/relationships" id="256" r:id="Rd173ea2cb2fd4ca4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259927b63144ba" /><Relationship Type="http://schemas.openxmlformats.org/officeDocument/2006/relationships/slideMaster" Target="/ppt/slideMasters/slideMaster1.xml" Id="Rbb4805f945044b6d" /><Relationship Type="http://schemas.openxmlformats.org/officeDocument/2006/relationships/notesMaster" Target="/ppt/notesMasters/notesMaster1.xml" Id="Rb32c24a2e69944a1" /><Relationship Type="http://schemas.openxmlformats.org/officeDocument/2006/relationships/presProps" Target="/ppt/presProps.xml" Id="R1b78e0b4ce9c43cd" /><Relationship Type="http://schemas.openxmlformats.org/officeDocument/2006/relationships/tableStyles" Target="/ppt/tableStyles.xml" Id="Rae800fcfdaeb4076" /><Relationship Type="http://schemas.openxmlformats.org/officeDocument/2006/relationships/slide" Target="/ppt/slides/slide1.xml" Id="Rd173ea2cb2fd4c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d96181316d4f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5eb6c87670479e" /><Relationship Type="http://schemas.openxmlformats.org/officeDocument/2006/relationships/notesMaster" Target="/ppt/notesMasters/notesMaster1.xml" Id="R0ff37b7f1b8742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fd0934f9441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fd68cac1c548bf" /><Relationship Type="http://schemas.openxmlformats.org/officeDocument/2006/relationships/slideLayout" Target="/ppt/slideLayouts/slideLayout1.xml" Id="R2694d2f0e79c46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94d2f0e79c46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5baf112254124" /><Relationship Type="http://schemas.openxmlformats.org/officeDocument/2006/relationships/notesSlide" Target="/ppt/notesSlides/notesSlide1.xml" Id="R677d030fdecb4d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2AC04880-DB43-4995-AF17-6D05C0E2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load-heading">
            <a:extLst xmlns:a="http://schemas.openxmlformats.org/drawingml/2006/main">
              <a:ext uri="{FF2B5EF4-FFF2-40B4-BE49-F238E27FC236}">
                <a16:creationId xmlns:a16="http://schemas.microsoft.com/office/drawing/2014/main" id="{D9B79266-7862-4508-BB5A-E5FFA8D1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净负荷不确定性</a:t>
            </a:r>
          </a:p>
        </p:txBody>
      </p:sp>
      <p:sp>
        <p:nvSpPr>
          <p:cNvPr id="3" name="netload">
            <a:extLst xmlns:a="http://schemas.openxmlformats.org/drawingml/2006/main">
              <a:ext uri="{FF2B5EF4-FFF2-40B4-BE49-F238E27FC236}">
                <a16:creationId xmlns:a16="http://schemas.microsoft.com/office/drawing/2014/main" id="{9EBD155F-CBEB-4716-9A55-4FD981DB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2190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净负荷预测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历史预测误差</a:t>
            </a:r>
          </a:p>
        </p:txBody>
      </p:sp>
      <p:sp>
        <p:nvSpPr>
          <p:cNvPr id="4" name="price-heading">
            <a:extLst xmlns:a="http://schemas.openxmlformats.org/drawingml/2006/main">
              <a:ext uri="{FF2B5EF4-FFF2-40B4-BE49-F238E27FC236}">
                <a16:creationId xmlns:a16="http://schemas.microsoft.com/office/drawing/2014/main" id="{814F8A9F-A74D-43D4-ACA1-0038E24E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电价不确定性</a:t>
            </a:r>
          </a:p>
        </p:txBody>
      </p:sp>
      <p:sp>
        <p:nvSpPr>
          <p:cNvPr id="5" name="price">
            <a:extLst xmlns:a="http://schemas.openxmlformats.org/drawingml/2006/main">
              <a:ext uri="{FF2B5EF4-FFF2-40B4-BE49-F238E27FC236}">
                <a16:creationId xmlns:a16="http://schemas.microsoft.com/office/drawing/2014/main" id="{732F9BB5-AFEA-4A26-B586-EBE62AA5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21907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因果电价预测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历史预测误差</a:t>
            </a:r>
          </a:p>
        </p:txBody>
      </p:sp>
      <p:sp>
        <p:nvSpPr>
          <p:cNvPr id="6" name="joint-model">
            <a:extLst xmlns:a="http://schemas.openxmlformats.org/drawingml/2006/main">
              <a:ext uri="{FF2B5EF4-FFF2-40B4-BE49-F238E27FC236}">
                <a16:creationId xmlns:a16="http://schemas.microsoft.com/office/drawing/2014/main" id="{AF7F25A2-210A-4D94-A596-CBA9054B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3429000" cy="387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7" name="joint-model-heading">
            <a:extLst xmlns:a="http://schemas.openxmlformats.org/drawingml/2006/main">
              <a:ext uri="{FF2B5EF4-FFF2-40B4-BE49-F238E27FC236}">
                <a16:creationId xmlns:a16="http://schemas.microsoft.com/office/drawing/2014/main" id="{B380EE6F-84B6-46AC-9F0F-59865A99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联合误差建模</a:t>
            </a:r>
          </a:p>
        </p:txBody>
      </p:sp>
      <p:sp>
        <p:nvSpPr>
          <p:cNvPr id="8" name="paired">
            <a:extLst xmlns:a="http://schemas.openxmlformats.org/drawingml/2006/main">
              <a:ext uri="{FF2B5EF4-FFF2-40B4-BE49-F238E27FC236}">
                <a16:creationId xmlns:a16="http://schemas.microsoft.com/office/drawing/2014/main" id="{911DD58A-6144-4C25-BCB6-BC69B503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03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历史误差配对</a:t>
            </a:r>
          </a:p>
        </p:txBody>
      </p:sp>
      <p:sp>
        <p:nvSpPr>
          <p:cNvPr id="9" name="states">
            <a:extLst xmlns:a="http://schemas.openxmlformats.org/drawingml/2006/main">
              <a:ext uri="{FF2B5EF4-FFF2-40B4-BE49-F238E27FC236}">
                <a16:creationId xmlns:a16="http://schemas.microsoft.com/office/drawing/2014/main" id="{328DF972-B92B-42ED-A4CF-0C7CFB9C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九状态联合模型</a:t>
            </a:r>
          </a:p>
        </p:txBody>
      </p:sp>
      <p:sp>
        <p:nvSpPr>
          <p:cNvPr id="10" name="samples">
            <a:extLst xmlns:a="http://schemas.openxmlformats.org/drawingml/2006/main">
              <a:ext uri="{FF2B5EF4-FFF2-40B4-BE49-F238E27FC236}">
                <a16:creationId xmlns:a16="http://schemas.microsoft.com/office/drawing/2014/main" id="{326F57F9-68E4-4BA2-8830-4B5E9B9B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72025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转移与加权样本</a:t>
            </a:r>
          </a:p>
        </p:txBody>
      </p:sp>
      <p:sp>
        <p:nvSpPr>
          <p:cNvPr id="11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20746CC4-C30A-4420-A964-91416537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82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route-end-1">
            <a:extLst xmlns:a="http://schemas.openxmlformats.org/drawingml/2006/main">
              <a:ext uri="{FF2B5EF4-FFF2-40B4-BE49-F238E27FC236}">
                <a16:creationId xmlns:a16="http://schemas.microsoft.com/office/drawing/2014/main" id="{BC0A73B9-6FA7-43CB-B441-46BEEF67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72728" y="27622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4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8D054C9E-B7F4-4E53-8F88-6585E866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route-end-2">
            <a:extLst xmlns:a="http://schemas.openxmlformats.org/drawingml/2006/main">
              <a:ext uri="{FF2B5EF4-FFF2-40B4-BE49-F238E27FC236}">
                <a16:creationId xmlns:a16="http://schemas.microsoft.com/office/drawing/2014/main" id="{80FDB119-DB6E-4427-BB48-162BA9FC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095626" y="2763203"/>
            <a:ext cx="0" cy="1504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7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8F38C54B-90D5-4A01-A613-98EABCFE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82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route-end-3">
            <a:extLst xmlns:a="http://schemas.openxmlformats.org/drawingml/2006/main">
              <a:ext uri="{FF2B5EF4-FFF2-40B4-BE49-F238E27FC236}">
                <a16:creationId xmlns:a16="http://schemas.microsoft.com/office/drawing/2014/main" id="{83F018B5-0525-4CE4-B9F9-AA72DC14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772728" y="491490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20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B59B4AD1-0552-440E-8120-52E62FD6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route-end-4">
            <a:extLst xmlns:a="http://schemas.openxmlformats.org/drawingml/2006/main">
              <a:ext uri="{FF2B5EF4-FFF2-40B4-BE49-F238E27FC236}">
                <a16:creationId xmlns:a16="http://schemas.microsoft.com/office/drawing/2014/main" id="{F7DC9D2E-A0FC-4D4F-A4D2-43EB2984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20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3095626" y="2915603"/>
            <a:ext cx="0" cy="19983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23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7E460380-C1FF-46D6-B4D2-CA1EFC8D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route-end-5">
            <a:extLst xmlns:a="http://schemas.openxmlformats.org/drawingml/2006/main">
              <a:ext uri="{FF2B5EF4-FFF2-40B4-BE49-F238E27FC236}">
                <a16:creationId xmlns:a16="http://schemas.microsoft.com/office/drawing/2014/main" id="{A4290CB3-6DAB-47FF-A04B-0B644701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2913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096578" y="2914651"/>
            <a:ext cx="6076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26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30A6CF3C-CF41-4A0B-B0AB-3EE03678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3237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route-end-6">
            <a:extLst xmlns:a="http://schemas.openxmlformats.org/drawingml/2006/main">
              <a:ext uri="{FF2B5EF4-FFF2-40B4-BE49-F238E27FC236}">
                <a16:creationId xmlns:a16="http://schemas.microsoft.com/office/drawing/2014/main" id="{B45F481C-7455-4FF6-BD81-267489FC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3675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5143501" y="3239453"/>
            <a:ext cx="0" cy="436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9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916306CA-CDFB-44B6-BAA9-275BA485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4323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oute-end-7">
            <a:extLst xmlns:a="http://schemas.openxmlformats.org/drawingml/2006/main">
              <a:ext uri="{FF2B5EF4-FFF2-40B4-BE49-F238E27FC236}">
                <a16:creationId xmlns:a16="http://schemas.microsoft.com/office/drawing/2014/main" id="{BE62B3AE-7174-4E4C-95DF-221A9C84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4761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143501" y="4325303"/>
            <a:ext cx="0" cy="436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2" name="fixed-strategy">
            <a:extLst xmlns:a="http://schemas.openxmlformats.org/drawingml/2006/main">
              <a:ext uri="{FF2B5EF4-FFF2-40B4-BE49-F238E27FC236}">
                <a16:creationId xmlns:a16="http://schemas.microsoft.com/office/drawing/2014/main" id="{AAD28B58-4862-4345-BCBC-B51425DF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381125"/>
            <a:ext cx="7191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3" name="fixed-strategy-heading">
            <a:extLst xmlns:a="http://schemas.openxmlformats.org/drawingml/2006/main">
              <a:ext uri="{FF2B5EF4-FFF2-40B4-BE49-F238E27FC236}">
                <a16:creationId xmlns:a16="http://schemas.microsoft.com/office/drawing/2014/main" id="{574A1E32-EFD1-492E-90E3-B55329A8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71625"/>
            <a:ext cx="703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4-2  固定计划</a:t>
            </a:r>
          </a:p>
        </p:txBody>
      </p:sp>
      <p:sp>
        <p:nvSpPr>
          <p:cNvPr id="34" name="rolling-strategy">
            <a:extLst xmlns:a="http://schemas.openxmlformats.org/drawingml/2006/main">
              <a:ext uri="{FF2B5EF4-FFF2-40B4-BE49-F238E27FC236}">
                <a16:creationId xmlns:a16="http://schemas.microsoft.com/office/drawing/2014/main" id="{0AA34C51-2145-43F3-9C68-496AF278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38575"/>
            <a:ext cx="719137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5" name="rolling-strategy-heading">
            <a:extLst xmlns:a="http://schemas.openxmlformats.org/drawingml/2006/main">
              <a:ext uri="{FF2B5EF4-FFF2-40B4-BE49-F238E27FC236}">
                <a16:creationId xmlns:a16="http://schemas.microsoft.com/office/drawing/2014/main" id="{00CF00D8-050B-4D07-9904-302C2EA2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29075"/>
            <a:ext cx="703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4-3  滚动调整</a:t>
            </a:r>
          </a:p>
        </p:txBody>
      </p:sp>
      <p:sp>
        <p:nvSpPr>
          <p:cNvPr id="36" name="fixed-plan">
            <a:extLst xmlns:a="http://schemas.openxmlformats.org/drawingml/2006/main">
              <a:ext uri="{FF2B5EF4-FFF2-40B4-BE49-F238E27FC236}">
                <a16:creationId xmlns:a16="http://schemas.microsoft.com/office/drawing/2014/main" id="{DA47796A-65AE-4700-9A29-66DBDF2B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零时规划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全天固定</a:t>
            </a:r>
          </a:p>
        </p:txBody>
      </p:sp>
      <p:sp>
        <p:nvSpPr>
          <p:cNvPr id="37" name="fixed-control">
            <a:extLst xmlns:a="http://schemas.openxmlformats.org/drawingml/2006/main">
              <a:ext uri="{FF2B5EF4-FFF2-40B4-BE49-F238E27FC236}">
                <a16:creationId xmlns:a16="http://schemas.microsoft.com/office/drawing/2014/main" id="{E6B85D39-79CE-4983-8045-EF16FD6A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联合动态规划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储能反馈</a:t>
            </a:r>
          </a:p>
        </p:txBody>
      </p:sp>
      <p:sp>
        <p:nvSpPr>
          <p:cNvPr id="38" name="fixed-result">
            <a:extLst xmlns:a="http://schemas.openxmlformats.org/drawingml/2006/main">
              <a:ext uri="{FF2B5EF4-FFF2-40B4-BE49-F238E27FC236}">
                <a16:creationId xmlns:a16="http://schemas.microsoft.com/office/drawing/2014/main" id="{D018512F-DE40-4EA7-B4C9-60DD5A0F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228850"/>
            <a:ext cx="1666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购电与储能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费用结果</a:t>
            </a:r>
          </a:p>
        </p:txBody>
      </p:sp>
      <p:sp>
        <p:nvSpPr>
          <p:cNvPr id="39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C11DEF7F-C031-4FD6-ACF7-7A73ECB0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route-end-8">
            <a:extLst xmlns:a="http://schemas.openxmlformats.org/drawingml/2006/main">
              <a:ext uri="{FF2B5EF4-FFF2-40B4-BE49-F238E27FC236}">
                <a16:creationId xmlns:a16="http://schemas.microsoft.com/office/drawing/2014/main" id="{1F14F1CF-1160-4A29-8B4D-0F7D5FC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02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9725978" y="261937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2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92F13678-4ABD-4990-985B-DD2559A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107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route-end-9">
            <a:extLst xmlns:a="http://schemas.openxmlformats.org/drawingml/2006/main">
              <a:ext uri="{FF2B5EF4-FFF2-40B4-BE49-F238E27FC236}">
                <a16:creationId xmlns:a16="http://schemas.microsoft.com/office/drawing/2014/main" id="{C8D3CDAA-4631-4CC4-8361-4A58BEC1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023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2392978" y="261937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5" name="rolling-plan">
            <a:extLst xmlns:a="http://schemas.openxmlformats.org/drawingml/2006/main">
              <a:ext uri="{FF2B5EF4-FFF2-40B4-BE49-F238E27FC236}">
                <a16:creationId xmlns:a16="http://schemas.microsoft.com/office/drawing/2014/main" id="{AE84F60B-CAC9-4ADE-93FC-DCC51CA0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更新预报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生成候选</a:t>
            </a:r>
          </a:p>
        </p:txBody>
      </p:sp>
      <p:sp>
        <p:nvSpPr>
          <p:cNvPr id="46" name="rolling-control">
            <a:extLst xmlns:a="http://schemas.openxmlformats.org/drawingml/2006/main">
              <a:ext uri="{FF2B5EF4-FFF2-40B4-BE49-F238E27FC236}">
                <a16:creationId xmlns:a16="http://schemas.microsoft.com/office/drawing/2014/main" id="{30175562-26FE-4219-AF4D-2E73A287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95825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联合动态规划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调整与储能</a:t>
            </a:r>
          </a:p>
        </p:txBody>
      </p:sp>
      <p:sp>
        <p:nvSpPr>
          <p:cNvPr id="47" name="rolling-result">
            <a:extLst xmlns:a="http://schemas.openxmlformats.org/drawingml/2006/main">
              <a:ext uri="{FF2B5EF4-FFF2-40B4-BE49-F238E27FC236}">
                <a16:creationId xmlns:a16="http://schemas.microsoft.com/office/drawing/2014/main" id="{5B75526F-A403-4C7A-BAA4-74FC35BA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695825"/>
            <a:ext cx="1666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调整账本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费用对照</a:t>
            </a:r>
          </a:p>
        </p:txBody>
      </p:sp>
      <p:sp>
        <p:nvSpPr>
          <p:cNvPr id="48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CEC6524E-613B-4D41-95DD-1C72B0BC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D394D61E-1EB0-4F86-B498-6D820C3C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02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9725978" y="511492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1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32A7D6E1-6585-425D-9210-340EEE88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107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A2EE86D4-2FB6-4AA4-833D-957DB665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023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2392978" y="511492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4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9FC54D8C-AA7C-45F0-9FE2-E19C2B45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573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9FEAC14F-8C5A-4950-B842-D3B497A6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6868478" y="374332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7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15D99DB6-3E1E-4B63-B579-BA63BD58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C6674627-5DC1-4EF7-9BBD-88332A5C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57" idx="0"/>
            <a:endCxn xmlns:a="http://schemas.openxmlformats.org/drawingml/2006/main" id="58" idx="2"/>
          </p:cNvCxnSpPr>
          <p:nvPr/>
        </p:nvCxnSpPr>
        <p:spPr>
          <a:xfrm xmlns:a="http://schemas.openxmlformats.org/drawingml/2006/main" flipV="1">
            <a:off x="7181851" y="2620328"/>
            <a:ext cx="0" cy="11220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0" name="route-start-14">
            <a:extLst xmlns:a="http://schemas.openxmlformats.org/drawingml/2006/main">
              <a:ext uri="{FF2B5EF4-FFF2-40B4-BE49-F238E27FC236}">
                <a16:creationId xmlns:a16="http://schemas.microsoft.com/office/drawing/2014/main" id="{4A74CA9D-C573-4459-A94E-8C44EE33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route-end-14">
            <a:extLst xmlns:a="http://schemas.openxmlformats.org/drawingml/2006/main">
              <a:ext uri="{FF2B5EF4-FFF2-40B4-BE49-F238E27FC236}">
                <a16:creationId xmlns:a16="http://schemas.microsoft.com/office/drawing/2014/main" id="{8E34F4E3-0FE6-49CA-8514-21F662A9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648" y="2618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7182803" y="261937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3" name="route-start-15">
            <a:extLst xmlns:a="http://schemas.openxmlformats.org/drawingml/2006/main">
              <a:ext uri="{FF2B5EF4-FFF2-40B4-BE49-F238E27FC236}">
                <a16:creationId xmlns:a16="http://schemas.microsoft.com/office/drawing/2014/main" id="{84D427AD-2150-4A69-86A9-AE47FD1C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374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route-end-15">
            <a:extLst xmlns:a="http://schemas.openxmlformats.org/drawingml/2006/main">
              <a:ext uri="{FF2B5EF4-FFF2-40B4-BE49-F238E27FC236}">
                <a16:creationId xmlns:a16="http://schemas.microsoft.com/office/drawing/2014/main" id="{E5575116-26D6-41FA-A1D7-010109D1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7181851" y="3744278"/>
            <a:ext cx="0" cy="13696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6" name="route-start-16">
            <a:extLst xmlns:a="http://schemas.openxmlformats.org/drawingml/2006/main">
              <a:ext uri="{FF2B5EF4-FFF2-40B4-BE49-F238E27FC236}">
                <a16:creationId xmlns:a16="http://schemas.microsoft.com/office/drawing/2014/main" id="{EC361580-AAA4-4B19-A559-F6132A90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0898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route-end-16">
            <a:extLst xmlns:a="http://schemas.openxmlformats.org/drawingml/2006/main">
              <a:ext uri="{FF2B5EF4-FFF2-40B4-BE49-F238E27FC236}">
                <a16:creationId xmlns:a16="http://schemas.microsoft.com/office/drawing/2014/main" id="{A5AF9209-A4AA-4F91-A208-37793A05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648" y="5113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7182803" y="511492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9" name="footer">
            <a:extLst xmlns:a="http://schemas.openxmlformats.org/drawingml/2006/main">
              <a:ext uri="{FF2B5EF4-FFF2-40B4-BE49-F238E27FC236}">
                <a16:creationId xmlns:a16="http://schemas.microsoft.com/office/drawing/2014/main" id="{FDA901D3-1280-4D45-92B5-D4C9C6CB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67425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预测价用于规划，当前真实价用于执行与结算</a:t>
            </a:r>
          </a:p>
        </p:txBody>
      </p:sp>
    </p:spTree>
    <p:extLst>
      <p:ext uri="{BB962C8B-B14F-4D97-AF65-F5344CB8AC3E}">
        <p14:creationId xmlns:p14="http://schemas.microsoft.com/office/powerpoint/2010/main" val="1035957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2026-09-13T08:17:55.1880000Z</dcterms:created>
  <dcterms:modified xsi:type="dcterms:W3CDTF">2026-09-13T08:17:55.1880000Z</dcterms:modified>
</coreProperties>
</file>