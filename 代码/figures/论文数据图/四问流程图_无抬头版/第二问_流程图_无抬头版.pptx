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610cc508034d4e" /><Relationship Type="http://schemas.openxmlformats.org/officeDocument/2006/relationships/extended-properties" Target="/docProps/app.xml" Id="R1ffec17ce59e48e4" /><Relationship Type="http://schemas.openxmlformats.org/officeDocument/2006/relationships/officeDocument" Target="/ppt/presentation.xml" Id="Re79cffa1649c4fb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5c3775377d4a1f"/>
  </p:sldMasterIdLst>
  <p:notesMasterIdLst>
    <p:notesMasterId xmlns:r="http://schemas.openxmlformats.org/officeDocument/2006/relationships" r:id="Raee36c10bee64645"/>
  </p:notesMasterIdLst>
  <p:sldIdLst>
    <p:sldId xmlns:r="http://schemas.openxmlformats.org/officeDocument/2006/relationships" id="256" r:id="R7a40e6165f3c4207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68f45df4d144df" /><Relationship Type="http://schemas.openxmlformats.org/officeDocument/2006/relationships/slideMaster" Target="/ppt/slideMasters/slideMaster1.xml" Id="Re55c3775377d4a1f" /><Relationship Type="http://schemas.openxmlformats.org/officeDocument/2006/relationships/notesMaster" Target="/ppt/notesMasters/notesMaster1.xml" Id="Raee36c10bee64645" /><Relationship Type="http://schemas.openxmlformats.org/officeDocument/2006/relationships/presProps" Target="/ppt/presProps.xml" Id="Rd14e2db55ade486e" /><Relationship Type="http://schemas.openxmlformats.org/officeDocument/2006/relationships/tableStyles" Target="/ppt/tableStyles.xml" Id="R58b54e076c924189" /><Relationship Type="http://schemas.openxmlformats.org/officeDocument/2006/relationships/slide" Target="/ppt/slides/slide1.xml" Id="R7a40e6165f3c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35afade91043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be9a872a894890" /><Relationship Type="http://schemas.openxmlformats.org/officeDocument/2006/relationships/notesMaster" Target="/ppt/notesMasters/notesMaster1.xml" Id="Rb367c08ccdae43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7340119c5242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7ec3b4e31e4a18" /><Relationship Type="http://schemas.openxmlformats.org/officeDocument/2006/relationships/slideLayout" Target="/ppt/slideLayouts/slideLayout1.xml" Id="R97adb618d89249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adb618d89249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39c7d056af4b48" /><Relationship Type="http://schemas.openxmlformats.org/officeDocument/2006/relationships/notesSlide" Target="/ppt/notesSlides/notesSlide1.xml" Id="R14959a2c4fa14e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outer-frame">
            <a:extLst xmlns:a="http://schemas.openxmlformats.org/drawingml/2006/main">
              <a:ext uri="{FF2B5EF4-FFF2-40B4-BE49-F238E27FC236}">
                <a16:creationId xmlns:a16="http://schemas.microsoft.com/office/drawing/2014/main" id="{37C6E9DC-D096-4A56-AB7F-315D0EBB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66700"/>
            <a:ext cx="14782800" cy="619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forecast">
            <a:extLst xmlns:a="http://schemas.openxmlformats.org/drawingml/2006/main">
              <a:ext uri="{FF2B5EF4-FFF2-40B4-BE49-F238E27FC236}">
                <a16:creationId xmlns:a16="http://schemas.microsoft.com/office/drawing/2014/main" id="{134566DB-D196-4128-B4CA-41FAB329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forecast-heading">
            <a:extLst xmlns:a="http://schemas.openxmlformats.org/drawingml/2006/main">
              <a:ext uri="{FF2B5EF4-FFF2-40B4-BE49-F238E27FC236}">
                <a16:creationId xmlns:a16="http://schemas.microsoft.com/office/drawing/2014/main" id="{EA8958FD-F1B8-49E2-9772-D0AF06A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LightGBM 概率预测</a:t>
            </a:r>
          </a:p>
        </p:txBody>
      </p:sp>
      <p:sp>
        <p:nvSpPr>
          <p:cNvPr id="4" name="history">
            <a:extLst xmlns:a="http://schemas.openxmlformats.org/drawingml/2006/main">
              <a:ext uri="{FF2B5EF4-FFF2-40B4-BE49-F238E27FC236}">
                <a16:creationId xmlns:a16="http://schemas.microsoft.com/office/drawing/2014/main" id="{4BA52146-94D7-4132-8248-0F12B5ED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34290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历史负荷与光伏</a:t>
            </a:r>
          </a:p>
        </p:txBody>
      </p:sp>
      <p:sp>
        <p:nvSpPr>
          <p:cNvPr id="5" name="direct">
            <a:extLst xmlns:a="http://schemas.openxmlformats.org/drawingml/2006/main">
              <a:ext uri="{FF2B5EF4-FFF2-40B4-BE49-F238E27FC236}">
                <a16:creationId xmlns:a16="http://schemas.microsoft.com/office/drawing/2014/main" id="{2CBEC18B-0F5B-45FA-AFE3-31F45CD3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直接预测</a:t>
            </a:r>
          </a:p>
        </p:txBody>
      </p:sp>
      <p:sp>
        <p:nvSpPr>
          <p:cNvPr id="6" name="separate">
            <a:extLst xmlns:a="http://schemas.openxmlformats.org/drawingml/2006/main">
              <a:ext uri="{FF2B5EF4-FFF2-40B4-BE49-F238E27FC236}">
                <a16:creationId xmlns:a16="http://schemas.microsoft.com/office/drawing/2014/main" id="{7810BE64-49CA-41E7-A27C-11E1A157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33375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负荷与光伏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分别预测</a:t>
            </a:r>
          </a:p>
        </p:txBody>
      </p:sp>
      <p:sp>
        <p:nvSpPr>
          <p:cNvPr id="7" name="route-start-1">
            <a:extLst xmlns:a="http://schemas.openxmlformats.org/drawingml/2006/main">
              <a:ext uri="{FF2B5EF4-FFF2-40B4-BE49-F238E27FC236}">
                <a16:creationId xmlns:a16="http://schemas.microsoft.com/office/drawing/2014/main" id="{22E8626C-1FF2-4E6A-899D-4D285670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2932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route-end-1">
            <a:extLst xmlns:a="http://schemas.openxmlformats.org/drawingml/2006/main">
              <a:ext uri="{FF2B5EF4-FFF2-40B4-BE49-F238E27FC236}">
                <a16:creationId xmlns:a16="http://schemas.microsoft.com/office/drawing/2014/main" id="{604C353F-AB54-4F0E-A2D4-7AC86C31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6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571751" y="2934653"/>
            <a:ext cx="0" cy="198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" name="route-start-2">
            <a:extLst xmlns:a="http://schemas.openxmlformats.org/drawingml/2006/main">
              <a:ext uri="{FF2B5EF4-FFF2-40B4-BE49-F238E27FC236}">
                <a16:creationId xmlns:a16="http://schemas.microsoft.com/office/drawing/2014/main" id="{7B8D74D7-3480-46BA-9B01-F28784D4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route-end-2">
            <a:extLst xmlns:a="http://schemas.openxmlformats.org/drawingml/2006/main">
              <a:ext uri="{FF2B5EF4-FFF2-40B4-BE49-F238E27FC236}">
                <a16:creationId xmlns:a16="http://schemas.microsoft.com/office/drawing/2014/main" id="{C397E387-27CE-4407-AAD7-C59F8D94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9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648778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" name="route-start-3">
            <a:extLst xmlns:a="http://schemas.openxmlformats.org/drawingml/2006/main">
              <a:ext uri="{FF2B5EF4-FFF2-40B4-BE49-F238E27FC236}">
                <a16:creationId xmlns:a16="http://schemas.microsoft.com/office/drawing/2014/main" id="{D121C459-470E-4756-B649-C6293E61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route-end-3">
            <a:extLst xmlns:a="http://schemas.openxmlformats.org/drawingml/2006/main">
              <a:ext uri="{FF2B5EF4-FFF2-40B4-BE49-F238E27FC236}">
                <a16:creationId xmlns:a16="http://schemas.microsoft.com/office/drawing/2014/main" id="{EC2E3C72-6E2A-4F90-A656-C16FC4B2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64782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6" name="route-start-4">
            <a:extLst xmlns:a="http://schemas.openxmlformats.org/drawingml/2006/main">
              <a:ext uri="{FF2B5EF4-FFF2-40B4-BE49-F238E27FC236}">
                <a16:creationId xmlns:a16="http://schemas.microsoft.com/office/drawing/2014/main" id="{968AAF1D-64D9-416D-B6E7-E6B90186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route-end-4">
            <a:extLst xmlns:a="http://schemas.openxmlformats.org/drawingml/2006/main">
              <a:ext uri="{FF2B5EF4-FFF2-40B4-BE49-F238E27FC236}">
                <a16:creationId xmlns:a16="http://schemas.microsoft.com/office/drawing/2014/main" id="{FAD5474B-E927-43EC-8A43-4B93305E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572703" y="313372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9" name="route-start-5">
            <a:extLst xmlns:a="http://schemas.openxmlformats.org/drawingml/2006/main">
              <a:ext uri="{FF2B5EF4-FFF2-40B4-BE49-F238E27FC236}">
                <a16:creationId xmlns:a16="http://schemas.microsoft.com/office/drawing/2014/main" id="{39886B98-0520-4898-A2D0-24EC839E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132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route-end-5">
            <a:extLst xmlns:a="http://schemas.openxmlformats.org/drawingml/2006/main">
              <a:ext uri="{FF2B5EF4-FFF2-40B4-BE49-F238E27FC236}">
                <a16:creationId xmlns:a16="http://schemas.microsoft.com/office/drawing/2014/main" id="{6974AB1C-7942-4417-BCF5-4F4958D3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33232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3495676" y="3134678"/>
            <a:ext cx="0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2" name="calibrate">
            <a:extLst xmlns:a="http://schemas.openxmlformats.org/drawingml/2006/main">
              <a:ext uri="{FF2B5EF4-FFF2-40B4-BE49-F238E27FC236}">
                <a16:creationId xmlns:a16="http://schemas.microsoft.com/office/drawing/2014/main" id="{FF7CE5DA-7CDD-4030-8281-9DB4A964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中心修正与残差校准</a:t>
            </a:r>
          </a:p>
        </p:txBody>
      </p:sp>
      <p:sp>
        <p:nvSpPr>
          <p:cNvPr id="23" name="route-start-6">
            <a:extLst xmlns:a="http://schemas.openxmlformats.org/drawingml/2006/main">
              <a:ext uri="{FF2B5EF4-FFF2-40B4-BE49-F238E27FC236}">
                <a16:creationId xmlns:a16="http://schemas.microsoft.com/office/drawing/2014/main" id="{3E3BFD18-7068-423B-B2D6-10293DAD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route-end-6">
            <a:extLst xmlns:a="http://schemas.openxmlformats.org/drawingml/2006/main">
              <a:ext uri="{FF2B5EF4-FFF2-40B4-BE49-F238E27FC236}">
                <a16:creationId xmlns:a16="http://schemas.microsoft.com/office/drawing/2014/main" id="{AC7218A4-EDD1-409F-B690-65F3DB94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2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64782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route-start-7">
            <a:extLst xmlns:a="http://schemas.openxmlformats.org/drawingml/2006/main">
              <a:ext uri="{FF2B5EF4-FFF2-40B4-BE49-F238E27FC236}">
                <a16:creationId xmlns:a16="http://schemas.microsoft.com/office/drawing/2014/main" id="{8A691EA0-AF3D-44F2-A503-121A9C24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687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route-end-7">
            <a:extLst xmlns:a="http://schemas.openxmlformats.org/drawingml/2006/main">
              <a:ext uri="{FF2B5EF4-FFF2-40B4-BE49-F238E27FC236}">
                <a16:creationId xmlns:a16="http://schemas.microsoft.com/office/drawing/2014/main" id="{970067CB-B927-4A5E-A95C-F1B518B8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5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648778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route-start-8">
            <a:extLst xmlns:a="http://schemas.openxmlformats.org/drawingml/2006/main">
              <a:ext uri="{FF2B5EF4-FFF2-40B4-BE49-F238E27FC236}">
                <a16:creationId xmlns:a16="http://schemas.microsoft.com/office/drawing/2014/main" id="{DCDAEFDC-B623-4369-9C32-8BD57B7C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route-end-8">
            <a:extLst xmlns:a="http://schemas.openxmlformats.org/drawingml/2006/main">
              <a:ext uri="{FF2B5EF4-FFF2-40B4-BE49-F238E27FC236}">
                <a16:creationId xmlns:a16="http://schemas.microsoft.com/office/drawing/2014/main" id="{99145C1F-D78C-4325-92D2-22870CF4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580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8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571751" y="4296728"/>
            <a:ext cx="0" cy="2838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route-start-9">
            <a:extLst xmlns:a="http://schemas.openxmlformats.org/drawingml/2006/main">
              <a:ext uri="{FF2B5EF4-FFF2-40B4-BE49-F238E27FC236}">
                <a16:creationId xmlns:a16="http://schemas.microsoft.com/office/drawing/2014/main" id="{7D92CAE9-95F7-4604-A373-7A420B81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047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route-end-9">
            <a:extLst xmlns:a="http://schemas.openxmlformats.org/drawingml/2006/main">
              <a:ext uri="{FF2B5EF4-FFF2-40B4-BE49-F238E27FC236}">
                <a16:creationId xmlns:a16="http://schemas.microsoft.com/office/drawing/2014/main" id="{AD17D48E-D7A1-427A-8707-AEAAEA3F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1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495676" y="4049078"/>
            <a:ext cx="0" cy="2457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5" name="route-start-10">
            <a:extLst xmlns:a="http://schemas.openxmlformats.org/drawingml/2006/main">
              <a:ext uri="{FF2B5EF4-FFF2-40B4-BE49-F238E27FC236}">
                <a16:creationId xmlns:a16="http://schemas.microsoft.com/office/drawing/2014/main" id="{FAE05FFD-19C5-4E78-8A9D-685F8AF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4723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route-end-10">
            <a:extLst xmlns:a="http://schemas.openxmlformats.org/drawingml/2006/main">
              <a:ext uri="{FF2B5EF4-FFF2-40B4-BE49-F238E27FC236}">
                <a16:creationId xmlns:a16="http://schemas.microsoft.com/office/drawing/2014/main" id="{3416F202-CB29-4496-8234-4F0C7AD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798" y="4294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34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2572703" y="4295776"/>
            <a:ext cx="9220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8" name="plan-heading">
            <a:extLst xmlns:a="http://schemas.openxmlformats.org/drawingml/2006/main">
              <a:ext uri="{FF2B5EF4-FFF2-40B4-BE49-F238E27FC236}">
                <a16:creationId xmlns:a16="http://schemas.microsoft.com/office/drawing/2014/main" id="{189C399A-1F2C-4B7F-81A3-2F0A7C9C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04975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零时购电规划</a:t>
            </a:r>
          </a:p>
        </p:txBody>
      </p:sp>
      <p:sp>
        <p:nvSpPr>
          <p:cNvPr id="39" name="quantile">
            <a:extLst xmlns:a="http://schemas.openxmlformats.org/drawingml/2006/main">
              <a:ext uri="{FF2B5EF4-FFF2-40B4-BE49-F238E27FC236}">
                <a16:creationId xmlns:a16="http://schemas.microsoft.com/office/drawing/2014/main" id="{6DA22F01-A9E1-4132-B786-848F75BA3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校准后80分位</a:t>
            </a:r>
          </a:p>
        </p:txBody>
      </p:sp>
      <p:sp>
        <p:nvSpPr>
          <p:cNvPr id="40" name="fixed-plan">
            <a:extLst xmlns:a="http://schemas.openxmlformats.org/drawingml/2006/main">
              <a:ext uri="{FF2B5EF4-FFF2-40B4-BE49-F238E27FC236}">
                <a16:creationId xmlns:a16="http://schemas.microsoft.com/office/drawing/2014/main" id="{73D03B21-0558-4EEE-8B77-787C78A3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5267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1" name="route-start-11">
            <a:extLst xmlns:a="http://schemas.openxmlformats.org/drawingml/2006/main">
              <a:ext uri="{FF2B5EF4-FFF2-40B4-BE49-F238E27FC236}">
                <a16:creationId xmlns:a16="http://schemas.microsoft.com/office/drawing/2014/main" id="{4D6C0230-23E1-408C-92A1-E9A08E27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2" name="route-end-11">
            <a:extLst xmlns:a="http://schemas.openxmlformats.org/drawingml/2006/main">
              <a:ext uri="{FF2B5EF4-FFF2-40B4-BE49-F238E27FC236}">
                <a16:creationId xmlns:a16="http://schemas.microsoft.com/office/drawing/2014/main" id="{CE817C53-7256-4B13-B7C4-4F115F0C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0" name=""/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7297103" y="270510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44" name="value-heading">
            <a:extLst xmlns:a="http://schemas.openxmlformats.org/drawingml/2006/main">
              <a:ext uri="{FF2B5EF4-FFF2-40B4-BE49-F238E27FC236}">
                <a16:creationId xmlns:a16="http://schemas.microsoft.com/office/drawing/2014/main" id="{1457325F-226B-436E-A78F-7BDC7B8A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储能价值评估</a:t>
            </a:r>
          </a:p>
        </p:txBody>
      </p:sp>
      <p:sp>
        <p:nvSpPr>
          <p:cNvPr id="45" name="error">
            <a:extLst xmlns:a="http://schemas.openxmlformats.org/drawingml/2006/main">
              <a:ext uri="{FF2B5EF4-FFF2-40B4-BE49-F238E27FC236}">
                <a16:creationId xmlns:a16="http://schemas.microsoft.com/office/drawing/2014/main" id="{B5636262-0942-4FF1-878A-5299FFDA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三状态误差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类内加权样本</a:t>
            </a:r>
          </a:p>
        </p:txBody>
      </p:sp>
      <p:sp>
        <p:nvSpPr>
          <p:cNvPr id="46" name="value">
            <a:extLst xmlns:a="http://schemas.openxmlformats.org/drawingml/2006/main">
              <a:ext uri="{FF2B5EF4-FFF2-40B4-BE49-F238E27FC236}">
                <a16:creationId xmlns:a16="http://schemas.microsoft.com/office/drawing/2014/main" id="{D70BEF6A-3A5F-41F4-87F4-EC295DD2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57725"/>
            <a:ext cx="2000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库存价值</a:t>
            </a:r>
          </a:p>
        </p:txBody>
      </p:sp>
      <p:sp>
        <p:nvSpPr>
          <p:cNvPr id="47" name="route-start-12">
            <a:extLst xmlns:a="http://schemas.openxmlformats.org/drawingml/2006/main">
              <a:ext uri="{FF2B5EF4-FFF2-40B4-BE49-F238E27FC236}">
                <a16:creationId xmlns:a16="http://schemas.microsoft.com/office/drawing/2014/main" id="{A8C37A81-A586-428C-8E41-34892C9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51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8" name="route-end-12">
            <a:extLst xmlns:a="http://schemas.openxmlformats.org/drawingml/2006/main">
              <a:ext uri="{FF2B5EF4-FFF2-40B4-BE49-F238E27FC236}">
                <a16:creationId xmlns:a16="http://schemas.microsoft.com/office/drawing/2014/main" id="{228FBC2E-86C3-4D5B-984E-D479F43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47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6" name="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97103" y="50101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0" name="route-start-13">
            <a:extLst xmlns:a="http://schemas.openxmlformats.org/drawingml/2006/main">
              <a:ext uri="{FF2B5EF4-FFF2-40B4-BE49-F238E27FC236}">
                <a16:creationId xmlns:a16="http://schemas.microsoft.com/office/drawing/2014/main" id="{8205D971-5E41-4516-B5E6-4A292DB0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1" name="route-end-13">
            <a:extLst xmlns:a="http://schemas.openxmlformats.org/drawingml/2006/main">
              <a:ext uri="{FF2B5EF4-FFF2-40B4-BE49-F238E27FC236}">
                <a16:creationId xmlns:a16="http://schemas.microsoft.com/office/drawing/2014/main" id="{97E3102C-F104-4CC2-9339-CB9C65AA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9" name=""/>
          <p:cNvCxnSpPr>
            <a:stCxn xmlns:a="http://schemas.openxmlformats.org/drawingml/2006/main" id="50" idx="3"/>
            <a:endCxn xmlns:a="http://schemas.openxmlformats.org/drawingml/2006/main" id="51" idx="1"/>
          </p:cNvCxnSpPr>
          <p:nvPr/>
        </p:nvCxnSpPr>
        <p:spPr>
          <a:xfrm xmlns:a="http://schemas.openxmlformats.org/drawingml/2006/main">
            <a:off x="4296728" y="4924426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3" name="route-start-14">
            <a:extLst xmlns:a="http://schemas.openxmlformats.org/drawingml/2006/main">
              <a:ext uri="{FF2B5EF4-FFF2-40B4-BE49-F238E27FC236}">
                <a16:creationId xmlns:a16="http://schemas.microsoft.com/office/drawing/2014/main" id="{2CCA60E7-45A6-476F-8CE1-E731BB421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4" name="route-end-14">
            <a:extLst xmlns:a="http://schemas.openxmlformats.org/drawingml/2006/main">
              <a:ext uri="{FF2B5EF4-FFF2-40B4-BE49-F238E27FC236}">
                <a16:creationId xmlns:a16="http://schemas.microsoft.com/office/drawing/2014/main" id="{1C515593-3363-4AEC-8C55-D8209BAC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2" name=""/>
          <p:cNvCxnSpPr>
            <a:stCxn xmlns:a="http://schemas.openxmlformats.org/drawingml/2006/main" id="53" idx="0"/>
            <a:endCxn xmlns:a="http://schemas.openxmlformats.org/drawingml/2006/main" id="54" idx="2"/>
          </p:cNvCxnSpPr>
          <p:nvPr/>
        </p:nvCxnSpPr>
        <p:spPr>
          <a:xfrm xmlns:a="http://schemas.openxmlformats.org/drawingml/2006/main" flipV="1">
            <a:off x="4857751" y="2706053"/>
            <a:ext cx="0" cy="22174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56" name="route-start-15">
            <a:extLst xmlns:a="http://schemas.openxmlformats.org/drawingml/2006/main">
              <a:ext uri="{FF2B5EF4-FFF2-40B4-BE49-F238E27FC236}">
                <a16:creationId xmlns:a16="http://schemas.microsoft.com/office/drawing/2014/main" id="{7475378C-4CAC-45F7-9D0E-59FF962B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7" name="route-end-15">
            <a:extLst xmlns:a="http://schemas.openxmlformats.org/drawingml/2006/main">
              <a:ext uri="{FF2B5EF4-FFF2-40B4-BE49-F238E27FC236}">
                <a16:creationId xmlns:a16="http://schemas.microsoft.com/office/drawing/2014/main" id="{90A607DD-E998-44C3-B4DB-C5E7A43C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5" name="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4858703" y="270510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59" name="route-start-16">
            <a:extLst xmlns:a="http://schemas.openxmlformats.org/drawingml/2006/main">
              <a:ext uri="{FF2B5EF4-FFF2-40B4-BE49-F238E27FC236}">
                <a16:creationId xmlns:a16="http://schemas.microsoft.com/office/drawing/2014/main" id="{F8C8E17C-BBA3-4ADA-B5CE-6982F22E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49234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0" name="route-end-16">
            <a:extLst xmlns:a="http://schemas.openxmlformats.org/drawingml/2006/main">
              <a:ext uri="{FF2B5EF4-FFF2-40B4-BE49-F238E27FC236}">
                <a16:creationId xmlns:a16="http://schemas.microsoft.com/office/drawing/2014/main" id="{CAE55E43-9AF6-4757-9742-3E5B153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58" name=""/>
          <p:cNvCxnSpPr>
            <a:stCxn xmlns:a="http://schemas.openxmlformats.org/drawingml/2006/main" id="59" idx="2"/>
            <a:endCxn xmlns:a="http://schemas.openxmlformats.org/drawingml/2006/main" id="60" idx="0"/>
          </p:cNvCxnSpPr>
          <p:nvPr/>
        </p:nvCxnSpPr>
        <p:spPr>
          <a:xfrm xmlns:a="http://schemas.openxmlformats.org/drawingml/2006/main">
            <a:off x="4857751" y="4925378"/>
            <a:ext cx="0" cy="838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62" name="route-start-17">
            <a:extLst xmlns:a="http://schemas.openxmlformats.org/drawingml/2006/main">
              <a:ext uri="{FF2B5EF4-FFF2-40B4-BE49-F238E27FC236}">
                <a16:creationId xmlns:a16="http://schemas.microsoft.com/office/drawing/2014/main" id="{64F82567-2A0E-44F2-9447-0E57852E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7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3" name="route-end-17">
            <a:extLst xmlns:a="http://schemas.openxmlformats.org/drawingml/2006/main">
              <a:ext uri="{FF2B5EF4-FFF2-40B4-BE49-F238E27FC236}">
                <a16:creationId xmlns:a16="http://schemas.microsoft.com/office/drawing/2014/main" id="{49007133-8DF3-4303-85F2-7D9363A2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8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1" name=""/>
          <p:cNvCxnSpPr>
            <a:stCxn xmlns:a="http://schemas.openxmlformats.org/drawingml/2006/main" id="62" idx="3"/>
            <a:endCxn xmlns:a="http://schemas.openxmlformats.org/drawingml/2006/main" id="63" idx="1"/>
          </p:cNvCxnSpPr>
          <p:nvPr/>
        </p:nvCxnSpPr>
        <p:spPr>
          <a:xfrm xmlns:a="http://schemas.openxmlformats.org/drawingml/2006/main">
            <a:off x="4858703" y="5010151"/>
            <a:ext cx="4171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5" name="route-start-18">
            <a:extLst xmlns:a="http://schemas.openxmlformats.org/drawingml/2006/main">
              <a:ext uri="{FF2B5EF4-FFF2-40B4-BE49-F238E27FC236}">
                <a16:creationId xmlns:a16="http://schemas.microsoft.com/office/drawing/2014/main" id="{59D6784C-778B-4423-976D-F124C518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3066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6" name="route-end-18">
            <a:extLst xmlns:a="http://schemas.openxmlformats.org/drawingml/2006/main">
              <a:ext uri="{FF2B5EF4-FFF2-40B4-BE49-F238E27FC236}">
                <a16:creationId xmlns:a16="http://schemas.microsoft.com/office/drawing/2014/main" id="{339418DB-A46E-4984-A4F6-F27119E7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4647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4" name=""/>
          <p:cNvCxnSpPr>
            <a:stCxn xmlns:a="http://schemas.openxmlformats.org/drawingml/2006/main" id="65" idx="2"/>
            <a:endCxn xmlns:a="http://schemas.openxmlformats.org/drawingml/2006/main" id="66" idx="0"/>
          </p:cNvCxnSpPr>
          <p:nvPr/>
        </p:nvCxnSpPr>
        <p:spPr>
          <a:xfrm xmlns:a="http://schemas.openxmlformats.org/drawingml/2006/main">
            <a:off x="8715376" y="3068003"/>
            <a:ext cx="0" cy="1579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8" name="feedback">
            <a:extLst xmlns:a="http://schemas.openxmlformats.org/drawingml/2006/main">
              <a:ext uri="{FF2B5EF4-FFF2-40B4-BE49-F238E27FC236}">
                <a16:creationId xmlns:a16="http://schemas.microsoft.com/office/drawing/2014/main" id="{F0ED895B-D18C-4064-B938-B5BE584A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666875"/>
            <a:ext cx="40005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9" name="feedback-heading">
            <a:extLst xmlns:a="http://schemas.openxmlformats.org/drawingml/2006/main">
              <a:ext uri="{FF2B5EF4-FFF2-40B4-BE49-F238E27FC236}">
                <a16:creationId xmlns:a16="http://schemas.microsoft.com/office/drawing/2014/main" id="{65782A03-2609-4CB9-A868-1499EF12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57375"/>
            <a:ext cx="3848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十分钟反馈控制</a:t>
            </a:r>
          </a:p>
        </p:txBody>
      </p:sp>
      <p:sp>
        <p:nvSpPr>
          <p:cNvPr id="70" name="observe">
            <a:extLst xmlns:a="http://schemas.openxmlformats.org/drawingml/2006/main">
              <a:ext uri="{FF2B5EF4-FFF2-40B4-BE49-F238E27FC236}">
                <a16:creationId xmlns:a16="http://schemas.microsoft.com/office/drawing/2014/main" id="{59CDB918-C98A-4ED1-B692-11797ABE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52675"/>
            <a:ext cx="34290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当前净负荷与实际库存</a:t>
            </a:r>
          </a:p>
        </p:txBody>
      </p:sp>
      <p:sp>
        <p:nvSpPr>
          <p:cNvPr id="71" name="action">
            <a:extLst xmlns:a="http://schemas.openxmlformats.org/drawingml/2006/main">
              <a:ext uri="{FF2B5EF4-FFF2-40B4-BE49-F238E27FC236}">
                <a16:creationId xmlns:a16="http://schemas.microsoft.com/office/drawing/2014/main" id="{B134ED83-BF3D-4BCF-BA83-8E433336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67665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充放电决策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不足紧急购电</a:t>
            </a:r>
          </a:p>
        </p:txBody>
      </p:sp>
      <p:sp>
        <p:nvSpPr>
          <p:cNvPr id="72" name="result">
            <a:extLst xmlns:a="http://schemas.openxmlformats.org/drawingml/2006/main">
              <a:ext uri="{FF2B5EF4-FFF2-40B4-BE49-F238E27FC236}">
                <a16:creationId xmlns:a16="http://schemas.microsoft.com/office/drawing/2014/main" id="{1C3754D6-02DC-45A8-B605-AB63AFEE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848225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实际费用与库存轨迹</a:t>
            </a:r>
          </a:p>
        </p:txBody>
      </p:sp>
      <p:sp>
        <p:nvSpPr>
          <p:cNvPr id="73" name="route-start-19">
            <a:extLst xmlns:a="http://schemas.openxmlformats.org/drawingml/2006/main">
              <a:ext uri="{FF2B5EF4-FFF2-40B4-BE49-F238E27FC236}">
                <a16:creationId xmlns:a16="http://schemas.microsoft.com/office/drawing/2014/main" id="{73CE84B2-83E2-4D8E-A84D-1E28EC5B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0279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4" name="route-end-19">
            <a:extLst xmlns:a="http://schemas.openxmlformats.org/drawingml/2006/main">
              <a:ext uri="{FF2B5EF4-FFF2-40B4-BE49-F238E27FC236}">
                <a16:creationId xmlns:a16="http://schemas.microsoft.com/office/drawing/2014/main" id="{3034D1C8-B6CD-4972-8915-DDBE61D67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3666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73" idx="2"/>
            <a:endCxn xmlns:a="http://schemas.openxmlformats.org/drawingml/2006/main" id="74" idx="0"/>
          </p:cNvCxnSpPr>
          <p:nvPr/>
        </p:nvCxnSpPr>
        <p:spPr>
          <a:xfrm xmlns:a="http://schemas.openxmlformats.org/drawingml/2006/main">
            <a:off x="12668251" y="3029903"/>
            <a:ext cx="0" cy="636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6" name="route-start-20">
            <a:extLst xmlns:a="http://schemas.openxmlformats.org/drawingml/2006/main">
              <a:ext uri="{FF2B5EF4-FFF2-40B4-BE49-F238E27FC236}">
                <a16:creationId xmlns:a16="http://schemas.microsoft.com/office/drawing/2014/main" id="{1820A8FC-AEE5-4B98-8364-AE12A000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409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7" name="route-end-20">
            <a:extLst xmlns:a="http://schemas.openxmlformats.org/drawingml/2006/main">
              <a:ext uri="{FF2B5EF4-FFF2-40B4-BE49-F238E27FC236}">
                <a16:creationId xmlns:a16="http://schemas.microsoft.com/office/drawing/2014/main" id="{6B81357E-193F-4B13-AFFE-85DB684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7298" y="4837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5" name=""/>
          <p:cNvCxnSpPr>
            <a:stCxn xmlns:a="http://schemas.openxmlformats.org/drawingml/2006/main" id="76" idx="2"/>
            <a:endCxn xmlns:a="http://schemas.openxmlformats.org/drawingml/2006/main" id="77" idx="0"/>
          </p:cNvCxnSpPr>
          <p:nvPr/>
        </p:nvCxnSpPr>
        <p:spPr>
          <a:xfrm xmlns:a="http://schemas.openxmlformats.org/drawingml/2006/main">
            <a:off x="12668251" y="4411028"/>
            <a:ext cx="0" cy="4267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9" name="route-start-21">
            <a:extLst xmlns:a="http://schemas.openxmlformats.org/drawingml/2006/main">
              <a:ext uri="{FF2B5EF4-FFF2-40B4-BE49-F238E27FC236}">
                <a16:creationId xmlns:a16="http://schemas.microsoft.com/office/drawing/2014/main" id="{80264A42-5696-4892-98ED-85CDA7BF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0" name="route-end-21">
            <a:extLst xmlns:a="http://schemas.openxmlformats.org/drawingml/2006/main">
              <a:ext uri="{FF2B5EF4-FFF2-40B4-BE49-F238E27FC236}">
                <a16:creationId xmlns:a16="http://schemas.microsoft.com/office/drawing/2014/main" id="{4229CCEF-6621-42A9-921C-C780F49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8" name=""/>
          <p:cNvCxnSpPr>
            <a:stCxn xmlns:a="http://schemas.openxmlformats.org/drawingml/2006/main" id="79" idx="3"/>
            <a:endCxn xmlns:a="http://schemas.openxmlformats.org/drawingml/2006/main" id="80" idx="1"/>
          </p:cNvCxnSpPr>
          <p:nvPr/>
        </p:nvCxnSpPr>
        <p:spPr>
          <a:xfrm xmlns:a="http://schemas.openxmlformats.org/drawingml/2006/main">
            <a:off x="9725978" y="2705101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2" name="route-start-22">
            <a:extLst xmlns:a="http://schemas.openxmlformats.org/drawingml/2006/main">
              <a:ext uri="{FF2B5EF4-FFF2-40B4-BE49-F238E27FC236}">
                <a16:creationId xmlns:a16="http://schemas.microsoft.com/office/drawing/2014/main" id="{0B5E4372-AD75-4C00-8A50-8A2B2651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2704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3" name="route-end-22">
            <a:extLst xmlns:a="http://schemas.openxmlformats.org/drawingml/2006/main">
              <a:ext uri="{FF2B5EF4-FFF2-40B4-BE49-F238E27FC236}">
                <a16:creationId xmlns:a16="http://schemas.microsoft.com/office/drawing/2014/main" id="{569D5CE9-7D69-4918-8A6E-00B9D9E6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1" name=""/>
          <p:cNvCxnSpPr>
            <a:stCxn xmlns:a="http://schemas.openxmlformats.org/drawingml/2006/main" id="82" idx="2"/>
            <a:endCxn xmlns:a="http://schemas.openxmlformats.org/drawingml/2006/main" id="83" idx="0"/>
          </p:cNvCxnSpPr>
          <p:nvPr/>
        </p:nvCxnSpPr>
        <p:spPr>
          <a:xfrm xmlns:a="http://schemas.openxmlformats.org/drawingml/2006/main">
            <a:off x="10191751" y="2706053"/>
            <a:ext cx="0" cy="1198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85" name="route-start-23">
            <a:extLst xmlns:a="http://schemas.openxmlformats.org/drawingml/2006/main">
              <a:ext uri="{FF2B5EF4-FFF2-40B4-BE49-F238E27FC236}">
                <a16:creationId xmlns:a16="http://schemas.microsoft.com/office/drawing/2014/main" id="{65B6D6C7-61AF-435D-9AA1-5AAD472D7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0798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6" name="route-end-23">
            <a:extLst xmlns:a="http://schemas.openxmlformats.org/drawingml/2006/main">
              <a:ext uri="{FF2B5EF4-FFF2-40B4-BE49-F238E27FC236}">
                <a16:creationId xmlns:a16="http://schemas.microsoft.com/office/drawing/2014/main" id="{07EBD96E-CDBC-44EF-8B1F-691338DF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9042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4" name=""/>
          <p:cNvCxnSpPr>
            <a:stCxn xmlns:a="http://schemas.openxmlformats.org/drawingml/2006/main" id="85" idx="3"/>
            <a:endCxn xmlns:a="http://schemas.openxmlformats.org/drawingml/2006/main" id="86" idx="1"/>
          </p:cNvCxnSpPr>
          <p:nvPr/>
        </p:nvCxnSpPr>
        <p:spPr>
          <a:xfrm xmlns:a="http://schemas.openxmlformats.org/drawingml/2006/main">
            <a:off x="10192703" y="3905251"/>
            <a:ext cx="7505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88" name="route-start-24">
            <a:extLst xmlns:a="http://schemas.openxmlformats.org/drawingml/2006/main">
              <a:ext uri="{FF2B5EF4-FFF2-40B4-BE49-F238E27FC236}">
                <a16:creationId xmlns:a16="http://schemas.microsoft.com/office/drawing/2014/main" id="{15F98599-B331-4082-9AB0-05B04ED9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9" name="route-end-24">
            <a:extLst xmlns:a="http://schemas.openxmlformats.org/drawingml/2006/main">
              <a:ext uri="{FF2B5EF4-FFF2-40B4-BE49-F238E27FC236}">
                <a16:creationId xmlns:a16="http://schemas.microsoft.com/office/drawing/2014/main" id="{D0D0CA83-4EC8-4E1F-8AB6-2175B08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7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9725978" y="5010151"/>
            <a:ext cx="655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1" name="route-start-25">
            <a:extLst xmlns:a="http://schemas.openxmlformats.org/drawingml/2006/main">
              <a:ext uri="{FF2B5EF4-FFF2-40B4-BE49-F238E27FC236}">
                <a16:creationId xmlns:a16="http://schemas.microsoft.com/office/drawing/2014/main" id="{BC885EA6-5C65-44FD-BAC4-D48A1FF8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5009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2" name="route-end-25">
            <a:extLst xmlns:a="http://schemas.openxmlformats.org/drawingml/2006/main">
              <a:ext uri="{FF2B5EF4-FFF2-40B4-BE49-F238E27FC236}">
                <a16:creationId xmlns:a16="http://schemas.microsoft.com/office/drawing/2014/main" id="{CB8C96AA-B803-4F0C-903D-9A2A3C37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0" name=""/>
          <p:cNvCxnSpPr>
            <a:stCxn xmlns:a="http://schemas.openxmlformats.org/drawingml/2006/main" id="91" idx="0"/>
            <a:endCxn xmlns:a="http://schemas.openxmlformats.org/drawingml/2006/main" id="92" idx="2"/>
          </p:cNvCxnSpPr>
          <p:nvPr/>
        </p:nvCxnSpPr>
        <p:spPr>
          <a:xfrm xmlns:a="http://schemas.openxmlformats.org/drawingml/2006/main" flipV="1">
            <a:off x="10382251" y="4191953"/>
            <a:ext cx="0" cy="817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94" name="route-start-26">
            <a:extLst xmlns:a="http://schemas.openxmlformats.org/drawingml/2006/main">
              <a:ext uri="{FF2B5EF4-FFF2-40B4-BE49-F238E27FC236}">
                <a16:creationId xmlns:a16="http://schemas.microsoft.com/office/drawing/2014/main" id="{6505433F-BAAD-4927-B09C-1EC4775D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298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5" name="route-end-26">
            <a:extLst xmlns:a="http://schemas.openxmlformats.org/drawingml/2006/main">
              <a:ext uri="{FF2B5EF4-FFF2-40B4-BE49-F238E27FC236}">
                <a16:creationId xmlns:a16="http://schemas.microsoft.com/office/drawing/2014/main" id="{2CEB8D4E-E8DB-40EA-8E2F-DB4CE71E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4190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3" name=""/>
          <p:cNvCxnSpPr>
            <a:stCxn xmlns:a="http://schemas.openxmlformats.org/drawingml/2006/main" id="94" idx="3"/>
            <a:endCxn xmlns:a="http://schemas.openxmlformats.org/drawingml/2006/main" id="95" idx="1"/>
          </p:cNvCxnSpPr>
          <p:nvPr/>
        </p:nvCxnSpPr>
        <p:spPr>
          <a:xfrm xmlns:a="http://schemas.openxmlformats.org/drawingml/2006/main">
            <a:off x="10383203" y="4191001"/>
            <a:ext cx="5600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7" name="footer">
            <a:extLst xmlns:a="http://schemas.openxmlformats.org/drawingml/2006/main">
              <a:ext uri="{FF2B5EF4-FFF2-40B4-BE49-F238E27FC236}">
                <a16:creationId xmlns:a16="http://schemas.microsoft.com/office/drawing/2014/main" id="{1F182A72-EAC4-47F9-99D2-03BB5D0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409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444444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444444"/>
                </a:solidFill>
                <a:latin typeface="SimSun"/>
                <a:ea typeface="SimSun"/>
                <a:cs typeface="SimSun"/>
              </a:rPr>
              <a:t>购电计划全天固定，储能决策随当前观测更新</a:t>
            </a:r>
          </a:p>
        </p:txBody>
      </p:sp>
    </p:spTree>
    <p:extLst>
      <p:ext uri="{BB962C8B-B14F-4D97-AF65-F5344CB8AC3E}">
        <p14:creationId xmlns:p14="http://schemas.microsoft.com/office/powerpoint/2010/main" val="1200091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2026-09-13T08:17:43.9400000Z</dcterms:created>
  <dcterms:modified xsi:type="dcterms:W3CDTF">2026-09-13T08:17:43.9400000Z</dcterms:modified>
</coreProperties>
</file>