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e1fbffb8be4911" /><Relationship Type="http://schemas.openxmlformats.org/officeDocument/2006/relationships/extended-properties" Target="/docProps/app.xml" Id="R7b7fb857d17f4cb6" /><Relationship Type="http://schemas.openxmlformats.org/officeDocument/2006/relationships/officeDocument" Target="/ppt/presentation.xml" Id="Ra801a966f1d646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bae92bd3394096"/>
  </p:sldMasterIdLst>
  <p:notesMasterIdLst>
    <p:notesMasterId xmlns:r="http://schemas.openxmlformats.org/officeDocument/2006/relationships" r:id="Rad677d698e9c4c51"/>
  </p:notesMasterIdLst>
  <p:sldIdLst>
    <p:sldId xmlns:r="http://schemas.openxmlformats.org/officeDocument/2006/relationships" id="256" r:id="R8c8db5459d194a4e"/>
    <p:sldId xmlns:r="http://schemas.openxmlformats.org/officeDocument/2006/relationships" id="257" r:id="Rf303b1e7358a4640"/>
    <p:sldId xmlns:r="http://schemas.openxmlformats.org/officeDocument/2006/relationships" id="258" r:id="R9c56170096164414"/>
    <p:sldId xmlns:r="http://schemas.openxmlformats.org/officeDocument/2006/relationships" id="259" r:id="Ra77e6c8ef9624922"/>
  </p:sldIdLst>
  <p:sldSz cx="15240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99565aad844db2" /><Relationship Type="http://schemas.openxmlformats.org/officeDocument/2006/relationships/slideMaster" Target="/ppt/slideMasters/slideMaster1.xml" Id="R6ebae92bd3394096" /><Relationship Type="http://schemas.openxmlformats.org/officeDocument/2006/relationships/notesMaster" Target="/ppt/notesMasters/notesMaster1.xml" Id="Rad677d698e9c4c51" /><Relationship Type="http://schemas.openxmlformats.org/officeDocument/2006/relationships/presProps" Target="/ppt/presProps.xml" Id="Rc568628d4d1f4b2e" /><Relationship Type="http://schemas.openxmlformats.org/officeDocument/2006/relationships/tableStyles" Target="/ppt/tableStyles.xml" Id="R9d769920f9d14677" /><Relationship Type="http://schemas.openxmlformats.org/officeDocument/2006/relationships/slide" Target="/ppt/slides/slide1.xml" Id="R8c8db5459d194a4e" /><Relationship Type="http://schemas.openxmlformats.org/officeDocument/2006/relationships/slide" Target="/ppt/slides/slide2.xml" Id="Rf303b1e7358a4640" /><Relationship Type="http://schemas.openxmlformats.org/officeDocument/2006/relationships/slide" Target="/ppt/slides/slide3.xml" Id="R9c56170096164414" /><Relationship Type="http://schemas.openxmlformats.org/officeDocument/2006/relationships/slide" Target="/ppt/slides/slide4.xml" Id="Ra77e6c8ef96249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31315399a14b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832b0680614dfa" /><Relationship Type="http://schemas.openxmlformats.org/officeDocument/2006/relationships/notesMaster" Target="/ppt/notesMasters/notesMaster1.xml" Id="R77590e1797ce4f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a6c701f5e1489d" /><Relationship Type="http://schemas.openxmlformats.org/officeDocument/2006/relationships/notesMaster" Target="/ppt/notesMasters/notesMaster1.xml" Id="R748323e6bd954b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33861bff2f470e" /><Relationship Type="http://schemas.openxmlformats.org/officeDocument/2006/relationships/notesMaster" Target="/ppt/notesMasters/notesMaster1.xml" Id="R0abe2245ba9e48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36dfa9dd244872" /><Relationship Type="http://schemas.openxmlformats.org/officeDocument/2006/relationships/notesMaster" Target="/ppt/notesMasters/notesMaster1.xml" Id="R3cf51b70e3894f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df1d0ea4f04c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660ae7030c4062" /><Relationship Type="http://schemas.openxmlformats.org/officeDocument/2006/relationships/slideLayout" Target="/ppt/slideLayouts/slideLayout1.xml" Id="R85e1a2402a0644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e1a2402a0644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c19b802064445" /><Relationship Type="http://schemas.openxmlformats.org/officeDocument/2006/relationships/notesSlide" Target="/ppt/notesSlides/notesSlide1.xml" Id="Rda235f1b47cc41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93ad997f54d7e" /><Relationship Type="http://schemas.openxmlformats.org/officeDocument/2006/relationships/notesSlide" Target="/ppt/notesSlides/notesSlide2.xml" Id="R255c73cd69f84e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d3988a8634d52" /><Relationship Type="http://schemas.openxmlformats.org/officeDocument/2006/relationships/notesSlide" Target="/ppt/notesSlides/notesSlide3.xml" Id="R169ac8defe854f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e1a9067cb4b3e" /><Relationship Type="http://schemas.openxmlformats.org/officeDocument/2006/relationships/notesSlide" Target="/ppt/notesSlides/notesSlide4.xml" Id="R7ae229af10444b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outer-frame">
            <a:extLst xmlns:a="http://schemas.openxmlformats.org/drawingml/2006/main">
              <a:ext uri="{FF2B5EF4-FFF2-40B4-BE49-F238E27FC236}">
                <a16:creationId xmlns:a16="http://schemas.microsoft.com/office/drawing/2014/main" id="{985BB094-D32E-4D91-9E7D-A7A02DCB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66700"/>
            <a:ext cx="147828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198B3"/>
            </a:solidFill>
            <a:prstDash val="dash"/>
          </a:ln>
        </p:spPr>
      </p:sp>
      <p:sp>
        <p:nvSpPr>
          <p:cNvPr id="2" name="input-heading">
            <a:extLst xmlns:a="http://schemas.openxmlformats.org/drawingml/2006/main">
              <a:ext uri="{FF2B5EF4-FFF2-40B4-BE49-F238E27FC236}">
                <a16:creationId xmlns:a16="http://schemas.microsoft.com/office/drawing/2014/main" id="{365C996F-FA96-4F92-9782-89BA84EE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已知日内数据</a:t>
            </a:r>
          </a:p>
        </p:txBody>
      </p:sp>
      <p:sp>
        <p:nvSpPr>
          <p:cNvPr id="3" name="input">
            <a:extLst xmlns:a="http://schemas.openxmlformats.org/drawingml/2006/main">
              <a:ext uri="{FF2B5EF4-FFF2-40B4-BE49-F238E27FC236}">
                <a16:creationId xmlns:a16="http://schemas.microsoft.com/office/drawing/2014/main" id="{A40B7406-126C-41D6-A2BF-965C1604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20955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电价、负荷与光伏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十分钟离散</a:t>
            </a:r>
          </a:p>
        </p:txBody>
      </p:sp>
      <p:sp>
        <p:nvSpPr>
          <p:cNvPr id="4" name="constraints">
            <a:extLst xmlns:a="http://schemas.openxmlformats.org/drawingml/2006/main">
              <a:ext uri="{FF2B5EF4-FFF2-40B4-BE49-F238E27FC236}">
                <a16:creationId xmlns:a16="http://schemas.microsoft.com/office/drawing/2014/main" id="{186BA6D2-D275-4FBC-B0B9-1EF6F31C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666875"/>
            <a:ext cx="3048000" cy="387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5" name="constraints-heading">
            <a:extLst xmlns:a="http://schemas.openxmlformats.org/drawingml/2006/main">
              <a:ext uri="{FF2B5EF4-FFF2-40B4-BE49-F238E27FC236}">
                <a16:creationId xmlns:a16="http://schemas.microsoft.com/office/drawing/2014/main" id="{5ADB15B5-FE89-439C-A616-BCB13C5B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85737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并列物理约束</a:t>
            </a:r>
          </a:p>
        </p:txBody>
      </p:sp>
      <p:sp>
        <p:nvSpPr>
          <p:cNvPr id="6" name="balance">
            <a:extLst xmlns:a="http://schemas.openxmlformats.org/drawingml/2006/main">
              <a:ext uri="{FF2B5EF4-FFF2-40B4-BE49-F238E27FC236}">
                <a16:creationId xmlns:a16="http://schemas.microsoft.com/office/drawing/2014/main" id="{A31C2769-A25C-46AF-860B-D6DFBE3F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2571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能量平衡</a:t>
            </a:r>
          </a:p>
        </p:txBody>
      </p:sp>
      <p:sp>
        <p:nvSpPr>
          <p:cNvPr id="7" name="soc">
            <a:extLst xmlns:a="http://schemas.openxmlformats.org/drawingml/2006/main">
              <a:ext uri="{FF2B5EF4-FFF2-40B4-BE49-F238E27FC236}">
                <a16:creationId xmlns:a16="http://schemas.microsoft.com/office/drawing/2014/main" id="{6B862549-540A-423C-86CD-C8248C17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09950"/>
            <a:ext cx="2571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储能递推</a:t>
            </a:r>
          </a:p>
        </p:txBody>
      </p:sp>
      <p:sp>
        <p:nvSpPr>
          <p:cNvPr id="8" name="bounds">
            <a:extLst xmlns:a="http://schemas.openxmlformats.org/drawingml/2006/main">
              <a:ext uri="{FF2B5EF4-FFF2-40B4-BE49-F238E27FC236}">
                <a16:creationId xmlns:a16="http://schemas.microsoft.com/office/drawing/2014/main" id="{12F10E77-2FEE-4182-92FF-6FC95A7E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19600"/>
            <a:ext cx="2571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容量与功率边界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充放电互斥</a:t>
            </a:r>
          </a:p>
        </p:txBody>
      </p:sp>
      <p:sp>
        <p:nvSpPr>
          <p:cNvPr id="9" name="route-start-1">
            <a:extLst xmlns:a="http://schemas.openxmlformats.org/drawingml/2006/main">
              <a:ext uri="{FF2B5EF4-FFF2-40B4-BE49-F238E27FC236}">
                <a16:creationId xmlns:a16="http://schemas.microsoft.com/office/drawing/2014/main" id="{552ED6E8-C209-4A56-83E8-AB7D99A8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573" y="3428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route-end-1">
            <a:extLst xmlns:a="http://schemas.openxmlformats.org/drawingml/2006/main">
              <a:ext uri="{FF2B5EF4-FFF2-40B4-BE49-F238E27FC236}">
                <a16:creationId xmlns:a16="http://schemas.microsoft.com/office/drawing/2014/main" id="{89DE400B-6DFA-437B-A9AB-F1B176F1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5148" y="3428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677478" y="342900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12" name="cycle">
            <a:extLst xmlns:a="http://schemas.openxmlformats.org/drawingml/2006/main">
              <a:ext uri="{FF2B5EF4-FFF2-40B4-BE49-F238E27FC236}">
                <a16:creationId xmlns:a16="http://schemas.microsoft.com/office/drawing/2014/main" id="{5BDB7D18-D690-492C-B86F-714BD245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954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日初日末库存一致</a:t>
            </a:r>
          </a:p>
        </p:txBody>
      </p:sp>
      <p:sp>
        <p:nvSpPr>
          <p:cNvPr id="13" name="milp">
            <a:extLst xmlns:a="http://schemas.openxmlformats.org/drawingml/2006/main">
              <a:ext uri="{FF2B5EF4-FFF2-40B4-BE49-F238E27FC236}">
                <a16:creationId xmlns:a16="http://schemas.microsoft.com/office/drawing/2014/main" id="{00C696A0-3B52-48F1-AABD-628A5CBA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2952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日循环 MILP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购电费用最小</a:t>
            </a:r>
          </a:p>
        </p:txBody>
      </p:sp>
      <p:sp>
        <p:nvSpPr>
          <p:cNvPr id="14" name="route-start-2">
            <a:extLst xmlns:a="http://schemas.openxmlformats.org/drawingml/2006/main">
              <a:ext uri="{FF2B5EF4-FFF2-40B4-BE49-F238E27FC236}">
                <a16:creationId xmlns:a16="http://schemas.microsoft.com/office/drawing/2014/main" id="{E19DC386-D08A-4D19-80B5-68AB0ED5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2370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route-end-2">
            <a:extLst xmlns:a="http://schemas.openxmlformats.org/drawingml/2006/main">
              <a:ext uri="{FF2B5EF4-FFF2-40B4-BE49-F238E27FC236}">
                <a16:creationId xmlns:a16="http://schemas.microsoft.com/office/drawing/2014/main" id="{B147906A-B48E-47E0-AF9F-082900E0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3142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8334376" y="2372678"/>
            <a:ext cx="0" cy="7696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17" name="route-start-3">
            <a:extLst xmlns:a="http://schemas.openxmlformats.org/drawingml/2006/main">
              <a:ext uri="{FF2B5EF4-FFF2-40B4-BE49-F238E27FC236}">
                <a16:creationId xmlns:a16="http://schemas.microsoft.com/office/drawing/2014/main" id="{403D88F5-E8FC-4C71-BEEA-7125B487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4073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route-end-3">
            <a:extLst xmlns:a="http://schemas.openxmlformats.org/drawingml/2006/main">
              <a:ext uri="{FF2B5EF4-FFF2-40B4-BE49-F238E27FC236}">
                <a16:creationId xmlns:a16="http://schemas.microsoft.com/office/drawing/2014/main" id="{05FE09B5-66BA-4856-9DC3-5D020D0D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915978" y="2714626"/>
            <a:ext cx="5695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20" name="route-start-4">
            <a:extLst xmlns:a="http://schemas.openxmlformats.org/drawingml/2006/main">
              <a:ext uri="{FF2B5EF4-FFF2-40B4-BE49-F238E27FC236}">
                <a16:creationId xmlns:a16="http://schemas.microsoft.com/office/drawing/2014/main" id="{65165AE9-F0A8-460E-AEFA-4271C651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route-end-4">
            <a:extLst xmlns:a="http://schemas.openxmlformats.org/drawingml/2006/main">
              <a:ext uri="{FF2B5EF4-FFF2-40B4-BE49-F238E27FC236}">
                <a16:creationId xmlns:a16="http://schemas.microsoft.com/office/drawing/2014/main" id="{354BB4FD-BA90-423C-AA21-2B61E8DB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6486526" y="2715578"/>
            <a:ext cx="0" cy="9886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23" name="route-start-5">
            <a:extLst xmlns:a="http://schemas.openxmlformats.org/drawingml/2006/main">
              <a:ext uri="{FF2B5EF4-FFF2-40B4-BE49-F238E27FC236}">
                <a16:creationId xmlns:a16="http://schemas.microsoft.com/office/drawing/2014/main" id="{98AB2A3A-E79B-4314-8D51-FD726E2A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4073" y="3723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route-end-5">
            <a:extLst xmlns:a="http://schemas.openxmlformats.org/drawingml/2006/main">
              <a:ext uri="{FF2B5EF4-FFF2-40B4-BE49-F238E27FC236}">
                <a16:creationId xmlns:a16="http://schemas.microsoft.com/office/drawing/2014/main" id="{1A339D4C-CBF3-487F-B850-783F2F1B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3723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5915978" y="3724276"/>
            <a:ext cx="5695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26" name="route-start-6">
            <a:extLst xmlns:a="http://schemas.openxmlformats.org/drawingml/2006/main">
              <a:ext uri="{FF2B5EF4-FFF2-40B4-BE49-F238E27FC236}">
                <a16:creationId xmlns:a16="http://schemas.microsoft.com/office/drawing/2014/main" id="{F7F7FC07-102C-4369-BEFE-CA74E8BE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4073" y="48282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route-end-6">
            <a:extLst xmlns:a="http://schemas.openxmlformats.org/drawingml/2006/main">
              <a:ext uri="{FF2B5EF4-FFF2-40B4-BE49-F238E27FC236}">
                <a16:creationId xmlns:a16="http://schemas.microsoft.com/office/drawing/2014/main" id="{ECEB0700-DA65-4DB1-86D4-7CA74E82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48282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5915978" y="4829176"/>
            <a:ext cx="5695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29" name="route-start-7">
            <a:extLst xmlns:a="http://schemas.openxmlformats.org/drawingml/2006/main">
              <a:ext uri="{FF2B5EF4-FFF2-40B4-BE49-F238E27FC236}">
                <a16:creationId xmlns:a16="http://schemas.microsoft.com/office/drawing/2014/main" id="{63354F0A-E73C-4675-9186-E7308670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48282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route-end-7">
            <a:extLst xmlns:a="http://schemas.openxmlformats.org/drawingml/2006/main">
              <a:ext uri="{FF2B5EF4-FFF2-40B4-BE49-F238E27FC236}">
                <a16:creationId xmlns:a16="http://schemas.microsoft.com/office/drawing/2014/main" id="{EDC91CAB-631B-4F2B-A7A0-438CA113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" name=""/>
          <p:cNvCxnSpPr>
            <a:stCxn xmlns:a="http://schemas.openxmlformats.org/drawingml/2006/main" id="29" idx="0"/>
            <a:endCxn xmlns:a="http://schemas.openxmlformats.org/drawingml/2006/main" id="30" idx="2"/>
          </p:cNvCxnSpPr>
          <p:nvPr/>
        </p:nvCxnSpPr>
        <p:spPr>
          <a:xfrm xmlns:a="http://schemas.openxmlformats.org/drawingml/2006/main" flipV="1">
            <a:off x="6486526" y="3706178"/>
            <a:ext cx="0" cy="11220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32" name="route-start-8">
            <a:extLst xmlns:a="http://schemas.openxmlformats.org/drawingml/2006/main">
              <a:ext uri="{FF2B5EF4-FFF2-40B4-BE49-F238E27FC236}">
                <a16:creationId xmlns:a16="http://schemas.microsoft.com/office/drawing/2014/main" id="{73424AFB-4E47-4EE8-925A-7E629DCE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route-end-8">
            <a:extLst xmlns:a="http://schemas.openxmlformats.org/drawingml/2006/main">
              <a:ext uri="{FF2B5EF4-FFF2-40B4-BE49-F238E27FC236}">
                <a16:creationId xmlns:a16="http://schemas.microsoft.com/office/drawing/2014/main" id="{04E7E0FE-F181-4667-A3B3-BFA589AC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7523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8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6487478" y="3705226"/>
            <a:ext cx="3600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35" name="solve">
            <a:extLst xmlns:a="http://schemas.openxmlformats.org/drawingml/2006/main">
              <a:ext uri="{FF2B5EF4-FFF2-40B4-BE49-F238E27FC236}">
                <a16:creationId xmlns:a16="http://schemas.microsoft.com/office/drawing/2014/main" id="{D856C069-361B-4DB1-AE15-4A3779F5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76600"/>
            <a:ext cx="1762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HiGHS 求解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最优调度</a:t>
            </a:r>
          </a:p>
        </p:txBody>
      </p:sp>
      <p:sp>
        <p:nvSpPr>
          <p:cNvPr id="36" name="route-start-9">
            <a:extLst xmlns:a="http://schemas.openxmlformats.org/drawingml/2006/main">
              <a:ext uri="{FF2B5EF4-FFF2-40B4-BE49-F238E27FC236}">
                <a16:creationId xmlns:a16="http://schemas.microsoft.com/office/drawing/2014/main" id="{4DDF7029-0CA0-48E5-B1B0-90F50931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323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route-end-9">
            <a:extLst xmlns:a="http://schemas.openxmlformats.org/drawingml/2006/main">
              <a:ext uri="{FF2B5EF4-FFF2-40B4-BE49-F238E27FC236}">
                <a16:creationId xmlns:a16="http://schemas.microsoft.com/office/drawing/2014/main" id="{4C38A176-51DF-4D69-8442-0426A1E6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773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2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9821228" y="3705226"/>
            <a:ext cx="5505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39" name="baseline">
            <a:extLst xmlns:a="http://schemas.openxmlformats.org/drawingml/2006/main">
              <a:ext uri="{FF2B5EF4-FFF2-40B4-BE49-F238E27FC236}">
                <a16:creationId xmlns:a16="http://schemas.microsoft.com/office/drawing/2014/main" id="{0A788A7E-F840-4D19-BF1F-98E630E6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190500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无储能基线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LP 松弛下界</a:t>
            </a:r>
          </a:p>
        </p:txBody>
      </p:sp>
      <p:sp>
        <p:nvSpPr>
          <p:cNvPr id="40" name="compare">
            <a:extLst xmlns:a="http://schemas.openxmlformats.org/drawingml/2006/main">
              <a:ext uri="{FF2B5EF4-FFF2-40B4-BE49-F238E27FC236}">
                <a16:creationId xmlns:a16="http://schemas.microsoft.com/office/drawing/2014/main" id="{A537EBF8-5DF1-4197-9D06-E97CD8A0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229100"/>
            <a:ext cx="2000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电费节省情况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最优调度方案</a:t>
            </a:r>
          </a:p>
        </p:txBody>
      </p:sp>
      <p:sp>
        <p:nvSpPr>
          <p:cNvPr id="41" name="route-start-10">
            <a:extLst xmlns:a="http://schemas.openxmlformats.org/drawingml/2006/main">
              <a:ext uri="{FF2B5EF4-FFF2-40B4-BE49-F238E27FC236}">
                <a16:creationId xmlns:a16="http://schemas.microsoft.com/office/drawing/2014/main" id="{1EB88108-46D1-47C1-B043-00033D05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2948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route-end-10">
            <a:extLst xmlns:a="http://schemas.openxmlformats.org/drawingml/2006/main">
              <a:ext uri="{FF2B5EF4-FFF2-40B4-BE49-F238E27FC236}">
                <a16:creationId xmlns:a16="http://schemas.microsoft.com/office/drawing/2014/main" id="{520464D3-113F-4FB0-A51F-1DC75E9A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9648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12154853" y="3705226"/>
            <a:ext cx="2647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44" name="route-start-11">
            <a:extLst xmlns:a="http://schemas.openxmlformats.org/drawingml/2006/main">
              <a:ext uri="{FF2B5EF4-FFF2-40B4-BE49-F238E27FC236}">
                <a16:creationId xmlns:a16="http://schemas.microsoft.com/office/drawing/2014/main" id="{43F34957-DF91-4206-8D63-2367FF43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9648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route-end-11">
            <a:extLst xmlns:a="http://schemas.openxmlformats.org/drawingml/2006/main">
              <a:ext uri="{FF2B5EF4-FFF2-40B4-BE49-F238E27FC236}">
                <a16:creationId xmlns:a16="http://schemas.microsoft.com/office/drawing/2014/main" id="{B5F98427-EC22-4F7D-A5DA-D55F857C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9648" y="4675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" name=""/>
          <p:cNvCxnSpPr>
            <a:stCxn xmlns:a="http://schemas.openxmlformats.org/drawingml/2006/main" id="44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12420601" y="3706178"/>
            <a:ext cx="0" cy="9696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47" name="route-start-12">
            <a:extLst xmlns:a="http://schemas.openxmlformats.org/drawingml/2006/main">
              <a:ext uri="{FF2B5EF4-FFF2-40B4-BE49-F238E27FC236}">
                <a16:creationId xmlns:a16="http://schemas.microsoft.com/office/drawing/2014/main" id="{2ABB6462-77E2-4D21-BA9A-F1178FC1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9648" y="4675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route-end-12">
            <a:extLst xmlns:a="http://schemas.openxmlformats.org/drawingml/2006/main">
              <a:ext uri="{FF2B5EF4-FFF2-40B4-BE49-F238E27FC236}">
                <a16:creationId xmlns:a16="http://schemas.microsoft.com/office/drawing/2014/main" id="{5453AE25-2043-405E-B763-7AF23076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7773" y="4675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12421553" y="4676776"/>
            <a:ext cx="2362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50" name="route-start-13">
            <a:extLst xmlns:a="http://schemas.openxmlformats.org/drawingml/2006/main">
              <a:ext uri="{FF2B5EF4-FFF2-40B4-BE49-F238E27FC236}">
                <a16:creationId xmlns:a16="http://schemas.microsoft.com/office/drawing/2014/main" id="{2831B06A-336C-421D-9167-5D7CF06A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7423" y="2770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route-end-13">
            <a:extLst xmlns:a="http://schemas.openxmlformats.org/drawingml/2006/main">
              <a:ext uri="{FF2B5EF4-FFF2-40B4-BE49-F238E27FC236}">
                <a16:creationId xmlns:a16="http://schemas.microsoft.com/office/drawing/2014/main" id="{CE99AE18-A9D2-4A57-A298-D26064B8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7423" y="4218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" name=""/>
          <p:cNvCxnSpPr>
            <a:stCxn xmlns:a="http://schemas.openxmlformats.org/drawingml/2006/main" id="50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13668376" y="2772728"/>
            <a:ext cx="0" cy="14458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53" name="model-note">
            <a:extLst xmlns:a="http://schemas.openxmlformats.org/drawingml/2006/main">
              <a:ext uri="{FF2B5EF4-FFF2-40B4-BE49-F238E27FC236}">
                <a16:creationId xmlns:a16="http://schemas.microsoft.com/office/drawing/2014/main" id="{83314D57-3D01-4372-B124-461CA2DD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9582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允许有限弃光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不允许向电网售电</a:t>
            </a:r>
          </a:p>
        </p:txBody>
      </p:sp>
      <p:sp>
        <p:nvSpPr>
          <p:cNvPr id="54" name="footer">
            <a:extLst xmlns:a="http://schemas.openxmlformats.org/drawingml/2006/main">
              <a:ext uri="{FF2B5EF4-FFF2-40B4-BE49-F238E27FC236}">
                <a16:creationId xmlns:a16="http://schemas.microsoft.com/office/drawing/2014/main" id="{BBCB4489-9DAE-427F-8C29-9A537EA6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409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444444"/>
                </a:solidFill>
                <a:latin typeface="SimSun"/>
                <a:ea typeface="SimSun"/>
                <a:cs typeface="SimSun"/>
              </a:rPr>
              <a:t>日初日末库存共同优化，最优调度通过物理与费用复核</a:t>
            </a:r>
          </a:p>
        </p:txBody>
      </p:sp>
    </p:spTree>
    <p:extLst>
      <p:ext uri="{BB962C8B-B14F-4D97-AF65-F5344CB8AC3E}">
        <p14:creationId xmlns:p14="http://schemas.microsoft.com/office/powerpoint/2010/main" val="402338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outer-frame">
            <a:extLst xmlns:a="http://schemas.openxmlformats.org/drawingml/2006/main">
              <a:ext uri="{FF2B5EF4-FFF2-40B4-BE49-F238E27FC236}">
                <a16:creationId xmlns:a16="http://schemas.microsoft.com/office/drawing/2014/main" id="{AEE110D9-5D7D-4583-92F2-0FCE41B9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66700"/>
            <a:ext cx="147828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198B3"/>
            </a:solidFill>
            <a:prstDash val="dash"/>
          </a:ln>
        </p:spPr>
      </p:sp>
      <p:sp>
        <p:nvSpPr>
          <p:cNvPr id="2" name="forecast">
            <a:extLst xmlns:a="http://schemas.openxmlformats.org/drawingml/2006/main">
              <a:ext uri="{FF2B5EF4-FFF2-40B4-BE49-F238E27FC236}">
                <a16:creationId xmlns:a16="http://schemas.microsoft.com/office/drawing/2014/main" id="{3CEA0BB0-F20A-4C5D-B4F9-6B19E8BD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40005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3" name="forecast-heading">
            <a:extLst xmlns:a="http://schemas.openxmlformats.org/drawingml/2006/main">
              <a:ext uri="{FF2B5EF4-FFF2-40B4-BE49-F238E27FC236}">
                <a16:creationId xmlns:a16="http://schemas.microsoft.com/office/drawing/2014/main" id="{ECF1EDBA-208D-4CCF-9D1E-4390C220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3848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LightGBM 概率预测</a:t>
            </a:r>
          </a:p>
        </p:txBody>
      </p:sp>
      <p:sp>
        <p:nvSpPr>
          <p:cNvPr id="4" name="history">
            <a:extLst xmlns:a="http://schemas.openxmlformats.org/drawingml/2006/main">
              <a:ext uri="{FF2B5EF4-FFF2-40B4-BE49-F238E27FC236}">
                <a16:creationId xmlns:a16="http://schemas.microsoft.com/office/drawing/2014/main" id="{15C0EE6A-9C94-47C9-9EDF-D2758969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342900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历史负荷与光伏</a:t>
            </a:r>
          </a:p>
        </p:txBody>
      </p:sp>
      <p:sp>
        <p:nvSpPr>
          <p:cNvPr id="5" name="direct">
            <a:extLst xmlns:a="http://schemas.openxmlformats.org/drawingml/2006/main">
              <a:ext uri="{FF2B5EF4-FFF2-40B4-BE49-F238E27FC236}">
                <a16:creationId xmlns:a16="http://schemas.microsoft.com/office/drawing/2014/main" id="{1A0AEC78-051D-48B7-887B-FBFCEEF0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581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净负荷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直接预测</a:t>
            </a:r>
          </a:p>
        </p:txBody>
      </p:sp>
      <p:sp>
        <p:nvSpPr>
          <p:cNvPr id="6" name="separate">
            <a:extLst xmlns:a="http://schemas.openxmlformats.org/drawingml/2006/main">
              <a:ext uri="{FF2B5EF4-FFF2-40B4-BE49-F238E27FC236}">
                <a16:creationId xmlns:a16="http://schemas.microsoft.com/office/drawing/2014/main" id="{8AA94063-FD2C-4ABB-A07A-E75AFC8C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33750"/>
            <a:ext cx="1581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负荷与光伏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分别预测</a:t>
            </a:r>
          </a:p>
        </p:txBody>
      </p:sp>
      <p:sp>
        <p:nvSpPr>
          <p:cNvPr id="7" name="route-start-1">
            <a:extLst xmlns:a="http://schemas.openxmlformats.org/drawingml/2006/main">
              <a:ext uri="{FF2B5EF4-FFF2-40B4-BE49-F238E27FC236}">
                <a16:creationId xmlns:a16="http://schemas.microsoft.com/office/drawing/2014/main" id="{002F4784-85BC-46FE-9237-60E2B662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2932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route-end-1">
            <a:extLst xmlns:a="http://schemas.openxmlformats.org/drawingml/2006/main">
              <a:ext uri="{FF2B5EF4-FFF2-40B4-BE49-F238E27FC236}">
                <a16:creationId xmlns:a16="http://schemas.microsoft.com/office/drawing/2014/main" id="{36EF5B6C-C7CF-4944-99F8-A9EB57F8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571751" y="2934653"/>
            <a:ext cx="0" cy="1981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10" name="route-start-2">
            <a:extLst xmlns:a="http://schemas.openxmlformats.org/drawingml/2006/main">
              <a:ext uri="{FF2B5EF4-FFF2-40B4-BE49-F238E27FC236}">
                <a16:creationId xmlns:a16="http://schemas.microsoft.com/office/drawing/2014/main" id="{C1FEF9A4-B268-4CE2-A43E-74E90693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route-end-2">
            <a:extLst xmlns:a="http://schemas.openxmlformats.org/drawingml/2006/main">
              <a:ext uri="{FF2B5EF4-FFF2-40B4-BE49-F238E27FC236}">
                <a16:creationId xmlns:a16="http://schemas.microsoft.com/office/drawing/2014/main" id="{6A811A6F-3FBB-4A4A-8764-575AE036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3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1648778" y="3133726"/>
            <a:ext cx="9220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13" name="route-start-3">
            <a:extLst xmlns:a="http://schemas.openxmlformats.org/drawingml/2006/main">
              <a:ext uri="{FF2B5EF4-FFF2-40B4-BE49-F238E27FC236}">
                <a16:creationId xmlns:a16="http://schemas.microsoft.com/office/drawing/2014/main" id="{0EFF5BDE-E61F-4E54-BD46-F0218FB7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3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route-end-3">
            <a:extLst xmlns:a="http://schemas.openxmlformats.org/drawingml/2006/main">
              <a:ext uri="{FF2B5EF4-FFF2-40B4-BE49-F238E27FC236}">
                <a16:creationId xmlns:a16="http://schemas.microsoft.com/office/drawing/2014/main" id="{C01E7C8E-F3C8-480F-8868-7849DAA9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3" y="332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1647826" y="3134678"/>
            <a:ext cx="0" cy="1885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16" name="route-start-4">
            <a:extLst xmlns:a="http://schemas.openxmlformats.org/drawingml/2006/main">
              <a:ext uri="{FF2B5EF4-FFF2-40B4-BE49-F238E27FC236}">
                <a16:creationId xmlns:a16="http://schemas.microsoft.com/office/drawing/2014/main" id="{9395A2E2-8875-4470-A043-6777DFF8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route-end-4">
            <a:extLst xmlns:a="http://schemas.openxmlformats.org/drawingml/2006/main">
              <a:ext uri="{FF2B5EF4-FFF2-40B4-BE49-F238E27FC236}">
                <a16:creationId xmlns:a16="http://schemas.microsoft.com/office/drawing/2014/main" id="{B40F1290-5053-4852-867C-CA255437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572703" y="3133726"/>
            <a:ext cx="9220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19" name="route-start-5">
            <a:extLst xmlns:a="http://schemas.openxmlformats.org/drawingml/2006/main">
              <a:ext uri="{FF2B5EF4-FFF2-40B4-BE49-F238E27FC236}">
                <a16:creationId xmlns:a16="http://schemas.microsoft.com/office/drawing/2014/main" id="{E435E186-4F97-4AE0-9605-9198FFB7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route-end-5">
            <a:extLst xmlns:a="http://schemas.openxmlformats.org/drawingml/2006/main">
              <a:ext uri="{FF2B5EF4-FFF2-40B4-BE49-F238E27FC236}">
                <a16:creationId xmlns:a16="http://schemas.microsoft.com/office/drawing/2014/main" id="{97C91F40-7517-4422-9318-54248583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332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3495676" y="3134678"/>
            <a:ext cx="0" cy="1885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22" name="calibrate">
            <a:extLst xmlns:a="http://schemas.openxmlformats.org/drawingml/2006/main">
              <a:ext uri="{FF2B5EF4-FFF2-40B4-BE49-F238E27FC236}">
                <a16:creationId xmlns:a16="http://schemas.microsoft.com/office/drawing/2014/main" id="{0F67AA32-75C0-4049-876A-60BB6CB5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中心修正与残差校准</a:t>
            </a:r>
          </a:p>
        </p:txBody>
      </p:sp>
      <p:sp>
        <p:nvSpPr>
          <p:cNvPr id="23" name="route-start-6">
            <a:extLst xmlns:a="http://schemas.openxmlformats.org/drawingml/2006/main">
              <a:ext uri="{FF2B5EF4-FFF2-40B4-BE49-F238E27FC236}">
                <a16:creationId xmlns:a16="http://schemas.microsoft.com/office/drawing/2014/main" id="{B0358807-3950-4A8D-A86E-B3860D0A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3" y="4047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route-end-6">
            <a:extLst xmlns:a="http://schemas.openxmlformats.org/drawingml/2006/main">
              <a:ext uri="{FF2B5EF4-FFF2-40B4-BE49-F238E27FC236}">
                <a16:creationId xmlns:a16="http://schemas.microsoft.com/office/drawing/2014/main" id="{2F4D05DB-ACE3-4C93-803C-85E501CA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3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" name="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1647826" y="4049078"/>
            <a:ext cx="0" cy="2457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26" name="route-start-7">
            <a:extLst xmlns:a="http://schemas.openxmlformats.org/drawingml/2006/main">
              <a:ext uri="{FF2B5EF4-FFF2-40B4-BE49-F238E27FC236}">
                <a16:creationId xmlns:a16="http://schemas.microsoft.com/office/drawing/2014/main" id="{3A17905C-AC64-494B-AE57-6796806B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3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route-end-7">
            <a:extLst xmlns:a="http://schemas.openxmlformats.org/drawingml/2006/main">
              <a:ext uri="{FF2B5EF4-FFF2-40B4-BE49-F238E27FC236}">
                <a16:creationId xmlns:a16="http://schemas.microsoft.com/office/drawing/2014/main" id="{EF3237EE-19E7-4B0B-B5F5-F27C7709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1648778" y="4295776"/>
            <a:ext cx="9220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29" name="route-start-8">
            <a:extLst xmlns:a="http://schemas.openxmlformats.org/drawingml/2006/main">
              <a:ext uri="{FF2B5EF4-FFF2-40B4-BE49-F238E27FC236}">
                <a16:creationId xmlns:a16="http://schemas.microsoft.com/office/drawing/2014/main" id="{5E3DE390-8FF7-46DC-BC5F-2392634A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route-end-8">
            <a:extLst xmlns:a="http://schemas.openxmlformats.org/drawingml/2006/main">
              <a:ext uri="{FF2B5EF4-FFF2-40B4-BE49-F238E27FC236}">
                <a16:creationId xmlns:a16="http://schemas.microsoft.com/office/drawing/2014/main" id="{529BB1A9-B120-4003-9FC1-3DE89CBD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4580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" name=""/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2571751" y="4296728"/>
            <a:ext cx="0" cy="2838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32" name="route-start-9">
            <a:extLst xmlns:a="http://schemas.openxmlformats.org/drawingml/2006/main">
              <a:ext uri="{FF2B5EF4-FFF2-40B4-BE49-F238E27FC236}">
                <a16:creationId xmlns:a16="http://schemas.microsoft.com/office/drawing/2014/main" id="{3A426120-690A-44E6-8099-E6737201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4047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route-end-9">
            <a:extLst xmlns:a="http://schemas.openxmlformats.org/drawingml/2006/main">
              <a:ext uri="{FF2B5EF4-FFF2-40B4-BE49-F238E27FC236}">
                <a16:creationId xmlns:a16="http://schemas.microsoft.com/office/drawing/2014/main" id="{7E81E8EC-059A-4BA0-BB8D-88FAA131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" name=""/>
          <p:cNvCxnSpPr>
            <a:stCxn xmlns:a="http://schemas.openxmlformats.org/drawingml/2006/main" id="3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3495676" y="4049078"/>
            <a:ext cx="0" cy="2457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35" name="route-start-10">
            <a:extLst xmlns:a="http://schemas.openxmlformats.org/drawingml/2006/main">
              <a:ext uri="{FF2B5EF4-FFF2-40B4-BE49-F238E27FC236}">
                <a16:creationId xmlns:a16="http://schemas.microsoft.com/office/drawing/2014/main" id="{5C3EB428-006D-424A-B6B6-5A16CEAB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route-end-10">
            <a:extLst xmlns:a="http://schemas.openxmlformats.org/drawingml/2006/main">
              <a:ext uri="{FF2B5EF4-FFF2-40B4-BE49-F238E27FC236}">
                <a16:creationId xmlns:a16="http://schemas.microsoft.com/office/drawing/2014/main" id="{732D3D3C-7A0A-4D84-AAEB-89D98CD2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" name=""/>
          <p:cNvCxnSpPr>
            <a:stCxn xmlns:a="http://schemas.openxmlformats.org/drawingml/2006/main" id="35" idx="1"/>
            <a:endCxn xmlns:a="http://schemas.openxmlformats.org/drawingml/2006/main" id="36" idx="3"/>
          </p:cNvCxnSpPr>
          <p:nvPr/>
        </p:nvCxnSpPr>
        <p:spPr>
          <a:xfrm xmlns:a="http://schemas.openxmlformats.org/drawingml/2006/main" flipH="1">
            <a:off x="2572703" y="4295776"/>
            <a:ext cx="9220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38" name="plan-heading">
            <a:extLst xmlns:a="http://schemas.openxmlformats.org/drawingml/2006/main">
              <a:ext uri="{FF2B5EF4-FFF2-40B4-BE49-F238E27FC236}">
                <a16:creationId xmlns:a16="http://schemas.microsoft.com/office/drawing/2014/main" id="{A6CA66C4-604B-4674-9EA0-1ED02012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0497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零时购电规划</a:t>
            </a:r>
          </a:p>
        </p:txBody>
      </p:sp>
      <p:sp>
        <p:nvSpPr>
          <p:cNvPr id="39" name="quantile">
            <a:extLst xmlns:a="http://schemas.openxmlformats.org/drawingml/2006/main">
              <a:ext uri="{FF2B5EF4-FFF2-40B4-BE49-F238E27FC236}">
                <a16:creationId xmlns:a16="http://schemas.microsoft.com/office/drawing/2014/main" id="{01F2D9D7-8FD0-4B82-8D40-CD0AB244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52675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校准后80分位</a:t>
            </a:r>
          </a:p>
        </p:txBody>
      </p:sp>
      <p:sp>
        <p:nvSpPr>
          <p:cNvPr id="40" name="fixed-plan">
            <a:extLst xmlns:a="http://schemas.openxmlformats.org/drawingml/2006/main">
              <a:ext uri="{FF2B5EF4-FFF2-40B4-BE49-F238E27FC236}">
                <a16:creationId xmlns:a16="http://schemas.microsoft.com/office/drawing/2014/main" id="{6C600B71-FAB0-4B63-9294-CF2C4F86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52675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线性规划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固定全天购电</a:t>
            </a:r>
          </a:p>
        </p:txBody>
      </p:sp>
      <p:sp>
        <p:nvSpPr>
          <p:cNvPr id="41" name="route-start-11">
            <a:extLst xmlns:a="http://schemas.openxmlformats.org/drawingml/2006/main">
              <a:ext uri="{FF2B5EF4-FFF2-40B4-BE49-F238E27FC236}">
                <a16:creationId xmlns:a16="http://schemas.microsoft.com/office/drawing/2014/main" id="{6C1C8EF6-D8E7-4FA6-9173-419D5105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5198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route-end-11">
            <a:extLst xmlns:a="http://schemas.openxmlformats.org/drawingml/2006/main">
              <a:ext uri="{FF2B5EF4-FFF2-40B4-BE49-F238E27FC236}">
                <a16:creationId xmlns:a16="http://schemas.microsoft.com/office/drawing/2014/main" id="{18773881-1DB8-4990-AACA-ADFE7C8F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773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7297103" y="270510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44" name="value-heading">
            <a:extLst xmlns:a="http://schemas.openxmlformats.org/drawingml/2006/main">
              <a:ext uri="{FF2B5EF4-FFF2-40B4-BE49-F238E27FC236}">
                <a16:creationId xmlns:a16="http://schemas.microsoft.com/office/drawing/2014/main" id="{A02174D1-7F4E-478F-90E6-A999B3AC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243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储能价值评估</a:t>
            </a:r>
          </a:p>
        </p:txBody>
      </p:sp>
      <p:sp>
        <p:nvSpPr>
          <p:cNvPr id="45" name="error">
            <a:extLst xmlns:a="http://schemas.openxmlformats.org/drawingml/2006/main">
              <a:ext uri="{FF2B5EF4-FFF2-40B4-BE49-F238E27FC236}">
                <a16:creationId xmlns:a16="http://schemas.microsoft.com/office/drawing/2014/main" id="{1BB7C870-C700-417B-AB94-A498177C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657725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三状态误差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类内加权样本</a:t>
            </a:r>
          </a:p>
        </p:txBody>
      </p:sp>
      <p:sp>
        <p:nvSpPr>
          <p:cNvPr id="46" name="value">
            <a:extLst xmlns:a="http://schemas.openxmlformats.org/drawingml/2006/main">
              <a:ext uri="{FF2B5EF4-FFF2-40B4-BE49-F238E27FC236}">
                <a16:creationId xmlns:a16="http://schemas.microsoft.com/office/drawing/2014/main" id="{B8122DC7-8CE1-4D35-8422-513BE4E3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57725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动态规划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库存价值</a:t>
            </a:r>
          </a:p>
        </p:txBody>
      </p:sp>
      <p:sp>
        <p:nvSpPr>
          <p:cNvPr id="47" name="route-start-12">
            <a:extLst xmlns:a="http://schemas.openxmlformats.org/drawingml/2006/main">
              <a:ext uri="{FF2B5EF4-FFF2-40B4-BE49-F238E27FC236}">
                <a16:creationId xmlns:a16="http://schemas.microsoft.com/office/drawing/2014/main" id="{41BBA8D6-F1B7-44EC-886A-3142DD44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5198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route-end-12">
            <a:extLst xmlns:a="http://schemas.openxmlformats.org/drawingml/2006/main">
              <a:ext uri="{FF2B5EF4-FFF2-40B4-BE49-F238E27FC236}">
                <a16:creationId xmlns:a16="http://schemas.microsoft.com/office/drawing/2014/main" id="{2921CBB8-9993-40AB-AC91-FDB96A18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773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6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7297103" y="501015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50" name="route-start-13">
            <a:extLst xmlns:a="http://schemas.openxmlformats.org/drawingml/2006/main">
              <a:ext uri="{FF2B5EF4-FFF2-40B4-BE49-F238E27FC236}">
                <a16:creationId xmlns:a16="http://schemas.microsoft.com/office/drawing/2014/main" id="{708B08C8-E4B1-4087-9FCB-09E30E62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823" y="4923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route-end-13">
            <a:extLst xmlns:a="http://schemas.openxmlformats.org/drawingml/2006/main">
              <a:ext uri="{FF2B5EF4-FFF2-40B4-BE49-F238E27FC236}">
                <a16:creationId xmlns:a16="http://schemas.microsoft.com/office/drawing/2014/main" id="{92BB2F68-8BB8-4502-ADB8-663E094D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798" y="4923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4296728" y="4924426"/>
            <a:ext cx="5600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53" name="route-start-14">
            <a:extLst xmlns:a="http://schemas.openxmlformats.org/drawingml/2006/main">
              <a:ext uri="{FF2B5EF4-FFF2-40B4-BE49-F238E27FC236}">
                <a16:creationId xmlns:a16="http://schemas.microsoft.com/office/drawing/2014/main" id="{8053C3B9-CCB0-48C4-A3CA-D9FFA55C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798" y="4923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" name="route-end-14">
            <a:extLst xmlns:a="http://schemas.openxmlformats.org/drawingml/2006/main">
              <a:ext uri="{FF2B5EF4-FFF2-40B4-BE49-F238E27FC236}">
                <a16:creationId xmlns:a16="http://schemas.microsoft.com/office/drawing/2014/main" id="{7DBE0DDD-6909-48A4-8A9E-ADB082E6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798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" name=""/>
          <p:cNvCxnSpPr>
            <a:stCxn xmlns:a="http://schemas.openxmlformats.org/drawingml/2006/main" id="53" idx="0"/>
            <a:endCxn xmlns:a="http://schemas.openxmlformats.org/drawingml/2006/main" id="54" idx="2"/>
          </p:cNvCxnSpPr>
          <p:nvPr/>
        </p:nvCxnSpPr>
        <p:spPr>
          <a:xfrm xmlns:a="http://schemas.openxmlformats.org/drawingml/2006/main" flipV="1">
            <a:off x="4857751" y="2706053"/>
            <a:ext cx="0" cy="22174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56" name="route-start-15">
            <a:extLst xmlns:a="http://schemas.openxmlformats.org/drawingml/2006/main">
              <a:ext uri="{FF2B5EF4-FFF2-40B4-BE49-F238E27FC236}">
                <a16:creationId xmlns:a16="http://schemas.microsoft.com/office/drawing/2014/main" id="{9BCE5E69-3F38-43DF-9E2D-D49FFA59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798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route-end-15">
            <a:extLst xmlns:a="http://schemas.openxmlformats.org/drawingml/2006/main">
              <a:ext uri="{FF2B5EF4-FFF2-40B4-BE49-F238E27FC236}">
                <a16:creationId xmlns:a16="http://schemas.microsoft.com/office/drawing/2014/main" id="{B19D98C3-2003-4635-B291-93F0C9CF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898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4858703" y="2705101"/>
            <a:ext cx="4171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59" name="route-start-16">
            <a:extLst xmlns:a="http://schemas.openxmlformats.org/drawingml/2006/main">
              <a:ext uri="{FF2B5EF4-FFF2-40B4-BE49-F238E27FC236}">
                <a16:creationId xmlns:a16="http://schemas.microsoft.com/office/drawing/2014/main" id="{D030E69D-6621-4942-AF47-A5095FA2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798" y="4923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route-end-16">
            <a:extLst xmlns:a="http://schemas.openxmlformats.org/drawingml/2006/main">
              <a:ext uri="{FF2B5EF4-FFF2-40B4-BE49-F238E27FC236}">
                <a16:creationId xmlns:a16="http://schemas.microsoft.com/office/drawing/2014/main" id="{B532393B-6B20-44DC-B1EA-4B022178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798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" name=""/>
          <p:cNvCxnSpPr>
            <a:stCxn xmlns:a="http://schemas.openxmlformats.org/drawingml/2006/main" id="59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4857751" y="4925378"/>
            <a:ext cx="0" cy="838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62" name="route-start-17">
            <a:extLst xmlns:a="http://schemas.openxmlformats.org/drawingml/2006/main">
              <a:ext uri="{FF2B5EF4-FFF2-40B4-BE49-F238E27FC236}">
                <a16:creationId xmlns:a16="http://schemas.microsoft.com/office/drawing/2014/main" id="{AF879F90-C528-4258-A825-40374AEF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798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route-end-17">
            <a:extLst xmlns:a="http://schemas.openxmlformats.org/drawingml/2006/main">
              <a:ext uri="{FF2B5EF4-FFF2-40B4-BE49-F238E27FC236}">
                <a16:creationId xmlns:a16="http://schemas.microsoft.com/office/drawing/2014/main" id="{48217D04-CDFB-4B9B-B036-2725FE01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898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4858703" y="5010151"/>
            <a:ext cx="4171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65" name="route-start-18">
            <a:extLst xmlns:a="http://schemas.openxmlformats.org/drawingml/2006/main">
              <a:ext uri="{FF2B5EF4-FFF2-40B4-BE49-F238E27FC236}">
                <a16:creationId xmlns:a16="http://schemas.microsoft.com/office/drawing/2014/main" id="{7981D64D-3979-4465-A996-A984680F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423" y="306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route-end-18">
            <a:extLst xmlns:a="http://schemas.openxmlformats.org/drawingml/2006/main">
              <a:ext uri="{FF2B5EF4-FFF2-40B4-BE49-F238E27FC236}">
                <a16:creationId xmlns:a16="http://schemas.microsoft.com/office/drawing/2014/main" id="{DB4B2137-83C1-4AD5-B50D-7A6A5AE8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423" y="4647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" name=""/>
          <p:cNvCxnSpPr>
            <a:stCxn xmlns:a="http://schemas.openxmlformats.org/drawingml/2006/main" id="65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>
            <a:off x="8715376" y="3068003"/>
            <a:ext cx="0" cy="15792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68" name="feedback">
            <a:extLst xmlns:a="http://schemas.openxmlformats.org/drawingml/2006/main">
              <a:ext uri="{FF2B5EF4-FFF2-40B4-BE49-F238E27FC236}">
                <a16:creationId xmlns:a16="http://schemas.microsoft.com/office/drawing/2014/main" id="{E04F9DCD-1898-4AFD-B8EF-54DB464D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666875"/>
            <a:ext cx="40005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69" name="feedback-heading">
            <a:extLst xmlns:a="http://schemas.openxmlformats.org/drawingml/2006/main">
              <a:ext uri="{FF2B5EF4-FFF2-40B4-BE49-F238E27FC236}">
                <a16:creationId xmlns:a16="http://schemas.microsoft.com/office/drawing/2014/main" id="{46596FAB-75F0-4C9E-B667-360D4137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857375"/>
            <a:ext cx="3848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十分钟反馈控制</a:t>
            </a:r>
          </a:p>
        </p:txBody>
      </p:sp>
      <p:sp>
        <p:nvSpPr>
          <p:cNvPr id="70" name="observe">
            <a:extLst xmlns:a="http://schemas.openxmlformats.org/drawingml/2006/main">
              <a:ext uri="{FF2B5EF4-FFF2-40B4-BE49-F238E27FC236}">
                <a16:creationId xmlns:a16="http://schemas.microsoft.com/office/drawing/2014/main" id="{F9047C81-2E3C-4E58-A2BD-9DDC779A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52675"/>
            <a:ext cx="34290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当前净负荷与实际库存</a:t>
            </a:r>
          </a:p>
        </p:txBody>
      </p:sp>
      <p:sp>
        <p:nvSpPr>
          <p:cNvPr id="71" name="action">
            <a:extLst xmlns:a="http://schemas.openxmlformats.org/drawingml/2006/main">
              <a:ext uri="{FF2B5EF4-FFF2-40B4-BE49-F238E27FC236}">
                <a16:creationId xmlns:a16="http://schemas.microsoft.com/office/drawing/2014/main" id="{CB438661-67EB-433E-AA73-5487EFF9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766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充放电决策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不足紧急购电</a:t>
            </a:r>
          </a:p>
        </p:txBody>
      </p:sp>
      <p:sp>
        <p:nvSpPr>
          <p:cNvPr id="72" name="result">
            <a:extLst xmlns:a="http://schemas.openxmlformats.org/drawingml/2006/main">
              <a:ext uri="{FF2B5EF4-FFF2-40B4-BE49-F238E27FC236}">
                <a16:creationId xmlns:a16="http://schemas.microsoft.com/office/drawing/2014/main" id="{8FF55DF4-0FC1-4DA3-8781-AD31CF22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48225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实际费用与库存轨迹</a:t>
            </a:r>
          </a:p>
        </p:txBody>
      </p:sp>
      <p:sp>
        <p:nvSpPr>
          <p:cNvPr id="73" name="route-start-19">
            <a:extLst xmlns:a="http://schemas.openxmlformats.org/drawingml/2006/main">
              <a:ext uri="{FF2B5EF4-FFF2-40B4-BE49-F238E27FC236}">
                <a16:creationId xmlns:a16="http://schemas.microsoft.com/office/drawing/2014/main" id="{70C4E633-33CE-4621-9072-8290C5A0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7298" y="3027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route-end-19">
            <a:extLst xmlns:a="http://schemas.openxmlformats.org/drawingml/2006/main">
              <a:ext uri="{FF2B5EF4-FFF2-40B4-BE49-F238E27FC236}">
                <a16:creationId xmlns:a16="http://schemas.microsoft.com/office/drawing/2014/main" id="{2B2BCD9A-CD5E-4659-AB5A-8D25BA59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7298" y="3666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2" name="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12668251" y="3029903"/>
            <a:ext cx="0" cy="63627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76" name="route-start-20">
            <a:extLst xmlns:a="http://schemas.openxmlformats.org/drawingml/2006/main">
              <a:ext uri="{FF2B5EF4-FFF2-40B4-BE49-F238E27FC236}">
                <a16:creationId xmlns:a16="http://schemas.microsoft.com/office/drawing/2014/main" id="{55232D14-DB9E-42BD-A086-67018DF8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7298" y="4409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route-end-20">
            <a:extLst xmlns:a="http://schemas.openxmlformats.org/drawingml/2006/main">
              <a:ext uri="{FF2B5EF4-FFF2-40B4-BE49-F238E27FC236}">
                <a16:creationId xmlns:a16="http://schemas.microsoft.com/office/drawing/2014/main" id="{8660E259-3E63-40D7-A771-D212D33B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7298" y="4837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" name=""/>
          <p:cNvCxnSpPr>
            <a:stCxn xmlns:a="http://schemas.openxmlformats.org/drawingml/2006/main" id="76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>
            <a:off x="12668251" y="4411028"/>
            <a:ext cx="0" cy="4267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79" name="route-start-21">
            <a:extLst xmlns:a="http://schemas.openxmlformats.org/drawingml/2006/main">
              <a:ext uri="{FF2B5EF4-FFF2-40B4-BE49-F238E27FC236}">
                <a16:creationId xmlns:a16="http://schemas.microsoft.com/office/drawing/2014/main" id="{C3808C06-E87B-4308-902D-9B24BB63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073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route-end-21">
            <a:extLst xmlns:a="http://schemas.openxmlformats.org/drawingml/2006/main">
              <a:ext uri="{FF2B5EF4-FFF2-40B4-BE49-F238E27FC236}">
                <a16:creationId xmlns:a16="http://schemas.microsoft.com/office/drawing/2014/main" id="{47C7FCC7-C7D0-4E0F-B402-25EEE2A8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0798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8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9725978" y="2705101"/>
            <a:ext cx="4648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82" name="route-start-22">
            <a:extLst xmlns:a="http://schemas.openxmlformats.org/drawingml/2006/main">
              <a:ext uri="{FF2B5EF4-FFF2-40B4-BE49-F238E27FC236}">
                <a16:creationId xmlns:a16="http://schemas.microsoft.com/office/drawing/2014/main" id="{239764B8-0A7F-4A41-986A-C0FFD4AD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0798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route-end-22">
            <a:extLst xmlns:a="http://schemas.openxmlformats.org/drawingml/2006/main">
              <a:ext uri="{FF2B5EF4-FFF2-40B4-BE49-F238E27FC236}">
                <a16:creationId xmlns:a16="http://schemas.microsoft.com/office/drawing/2014/main" id="{FD788B35-2793-4FE5-A9ED-B6CBD183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0798" y="3904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" name=""/>
          <p:cNvCxnSpPr>
            <a:stCxn xmlns:a="http://schemas.openxmlformats.org/drawingml/2006/main" id="82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>
            <a:off x="10191751" y="2706053"/>
            <a:ext cx="0" cy="11982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85" name="route-start-23">
            <a:extLst xmlns:a="http://schemas.openxmlformats.org/drawingml/2006/main">
              <a:ext uri="{FF2B5EF4-FFF2-40B4-BE49-F238E27FC236}">
                <a16:creationId xmlns:a16="http://schemas.microsoft.com/office/drawing/2014/main" id="{A6B2975F-6C6A-4D82-B4E1-F1E22B80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0798" y="3904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route-end-23">
            <a:extLst xmlns:a="http://schemas.openxmlformats.org/drawingml/2006/main">
              <a:ext uri="{FF2B5EF4-FFF2-40B4-BE49-F238E27FC236}">
                <a16:creationId xmlns:a16="http://schemas.microsoft.com/office/drawing/2014/main" id="{481824C7-B4CE-475F-8741-EF211F73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3273" y="3904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10192703" y="3905251"/>
            <a:ext cx="7505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88" name="route-start-24">
            <a:extLst xmlns:a="http://schemas.openxmlformats.org/drawingml/2006/main">
              <a:ext uri="{FF2B5EF4-FFF2-40B4-BE49-F238E27FC236}">
                <a16:creationId xmlns:a16="http://schemas.microsoft.com/office/drawing/2014/main" id="{BF93ED2F-9A5B-4753-8289-17F9773F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073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route-end-24">
            <a:extLst xmlns:a="http://schemas.openxmlformats.org/drawingml/2006/main">
              <a:ext uri="{FF2B5EF4-FFF2-40B4-BE49-F238E27FC236}">
                <a16:creationId xmlns:a16="http://schemas.microsoft.com/office/drawing/2014/main" id="{1C319BBA-9391-44F6-90E3-77639D4A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298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" name=""/>
          <p:cNvCxnSpPr>
            <a:stCxn xmlns:a="http://schemas.openxmlformats.org/drawingml/2006/main" id="88" idx="3"/>
            <a:endCxn xmlns:a="http://schemas.openxmlformats.org/drawingml/2006/main" id="89" idx="1"/>
          </p:cNvCxnSpPr>
          <p:nvPr/>
        </p:nvCxnSpPr>
        <p:spPr>
          <a:xfrm xmlns:a="http://schemas.openxmlformats.org/drawingml/2006/main">
            <a:off x="9725978" y="5010151"/>
            <a:ext cx="6553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91" name="route-start-25">
            <a:extLst xmlns:a="http://schemas.openxmlformats.org/drawingml/2006/main">
              <a:ext uri="{FF2B5EF4-FFF2-40B4-BE49-F238E27FC236}">
                <a16:creationId xmlns:a16="http://schemas.microsoft.com/office/drawing/2014/main" id="{B49A367D-93EA-4BB7-891B-D897991D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298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route-end-25">
            <a:extLst xmlns:a="http://schemas.openxmlformats.org/drawingml/2006/main">
              <a:ext uri="{FF2B5EF4-FFF2-40B4-BE49-F238E27FC236}">
                <a16:creationId xmlns:a16="http://schemas.microsoft.com/office/drawing/2014/main" id="{89B423AE-1757-4B4F-A6CE-6EC4BB16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298" y="4190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" name=""/>
          <p:cNvCxnSpPr>
            <a:stCxn xmlns:a="http://schemas.openxmlformats.org/drawingml/2006/main" id="91" idx="0"/>
            <a:endCxn xmlns:a="http://schemas.openxmlformats.org/drawingml/2006/main" id="92" idx="2"/>
          </p:cNvCxnSpPr>
          <p:nvPr/>
        </p:nvCxnSpPr>
        <p:spPr>
          <a:xfrm xmlns:a="http://schemas.openxmlformats.org/drawingml/2006/main" flipV="1">
            <a:off x="10382251" y="4191953"/>
            <a:ext cx="0" cy="8172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94" name="route-start-26">
            <a:extLst xmlns:a="http://schemas.openxmlformats.org/drawingml/2006/main">
              <a:ext uri="{FF2B5EF4-FFF2-40B4-BE49-F238E27FC236}">
                <a16:creationId xmlns:a16="http://schemas.microsoft.com/office/drawing/2014/main" id="{C45ACD66-EACC-441C-8FB6-67577A6E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298" y="4190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route-end-26">
            <a:extLst xmlns:a="http://schemas.openxmlformats.org/drawingml/2006/main">
              <a:ext uri="{FF2B5EF4-FFF2-40B4-BE49-F238E27FC236}">
                <a16:creationId xmlns:a16="http://schemas.microsoft.com/office/drawing/2014/main" id="{F0C6FD6E-7C35-494C-AF09-79AC7958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3273" y="4190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" name="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10383203" y="4191001"/>
            <a:ext cx="5600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97" name="footer">
            <a:extLst xmlns:a="http://schemas.openxmlformats.org/drawingml/2006/main">
              <a:ext uri="{FF2B5EF4-FFF2-40B4-BE49-F238E27FC236}">
                <a16:creationId xmlns:a16="http://schemas.microsoft.com/office/drawing/2014/main" id="{A1B536D4-7EE6-479B-A3BE-22C3FF50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409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444444"/>
                </a:solidFill>
                <a:latin typeface="SimSun"/>
                <a:ea typeface="SimSun"/>
                <a:cs typeface="SimSun"/>
              </a:rPr>
              <a:t>购电计划全天固定，储能决策随当前观测更新</a:t>
            </a:r>
          </a:p>
        </p:txBody>
      </p:sp>
    </p:spTree>
    <p:extLst>
      <p:ext uri="{BB962C8B-B14F-4D97-AF65-F5344CB8AC3E}">
        <p14:creationId xmlns:p14="http://schemas.microsoft.com/office/powerpoint/2010/main" val="474773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outer-frame">
            <a:extLst xmlns:a="http://schemas.openxmlformats.org/drawingml/2006/main">
              <a:ext uri="{FF2B5EF4-FFF2-40B4-BE49-F238E27FC236}">
                <a16:creationId xmlns:a16="http://schemas.microsoft.com/office/drawing/2014/main" id="{D6249E9A-D310-4687-8E00-31D56896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66700"/>
            <a:ext cx="147828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198B3"/>
            </a:solidFill>
            <a:prstDash val="dash"/>
          </a:ln>
        </p:spPr>
      </p:sp>
      <p:sp>
        <p:nvSpPr>
          <p:cNvPr id="2" name="time-0">
            <a:extLst xmlns:a="http://schemas.openxmlformats.org/drawingml/2006/main">
              <a:ext uri="{FF2B5EF4-FFF2-40B4-BE49-F238E27FC236}">
                <a16:creationId xmlns:a16="http://schemas.microsoft.com/office/drawing/2014/main" id="{2011216A-9C91-429A-8D31-97FEE3D4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428750"/>
            <a:ext cx="12001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0:00</a:t>
            </a:r>
          </a:p>
        </p:txBody>
      </p:sp>
      <p:sp>
        <p:nvSpPr>
          <p:cNvPr id="3" name="route-start-1">
            <a:extLst xmlns:a="http://schemas.openxmlformats.org/drawingml/2006/main">
              <a:ext uri="{FF2B5EF4-FFF2-40B4-BE49-F238E27FC236}">
                <a16:creationId xmlns:a16="http://schemas.microsoft.com/office/drawing/2014/main" id="{4F78EB8D-7492-4584-972B-4670BD7D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1273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" name="route-end-1">
            <a:extLst xmlns:a="http://schemas.openxmlformats.org/drawingml/2006/main">
              <a:ext uri="{FF2B5EF4-FFF2-40B4-BE49-F238E27FC236}">
                <a16:creationId xmlns:a16="http://schemas.microsoft.com/office/drawing/2014/main" id="{E3F175FA-26B8-48FB-AB8A-61AFF761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073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563178" y="1676401"/>
            <a:ext cx="22078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6" name="time-1">
            <a:extLst xmlns:a="http://schemas.openxmlformats.org/drawingml/2006/main">
              <a:ext uri="{FF2B5EF4-FFF2-40B4-BE49-F238E27FC236}">
                <a16:creationId xmlns:a16="http://schemas.microsoft.com/office/drawing/2014/main" id="{650F8907-BAFF-4B8E-8C9E-4B8AB120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28750"/>
            <a:ext cx="12001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6:00</a:t>
            </a:r>
          </a:p>
        </p:txBody>
      </p:sp>
      <p:sp>
        <p:nvSpPr>
          <p:cNvPr id="7" name="route-start-2">
            <a:extLst xmlns:a="http://schemas.openxmlformats.org/drawingml/2006/main">
              <a:ext uri="{FF2B5EF4-FFF2-40B4-BE49-F238E27FC236}">
                <a16:creationId xmlns:a16="http://schemas.microsoft.com/office/drawing/2014/main" id="{1D06046B-31BC-4786-9954-9FD7A741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273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route-end-2">
            <a:extLst xmlns:a="http://schemas.openxmlformats.org/drawingml/2006/main">
              <a:ext uri="{FF2B5EF4-FFF2-40B4-BE49-F238E27FC236}">
                <a16:creationId xmlns:a16="http://schemas.microsoft.com/office/drawing/2014/main" id="{D5205ADE-A903-491F-B920-B75E86A6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948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92178" y="1676401"/>
            <a:ext cx="12077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10" name="time-2">
            <a:extLst xmlns:a="http://schemas.openxmlformats.org/drawingml/2006/main">
              <a:ext uri="{FF2B5EF4-FFF2-40B4-BE49-F238E27FC236}">
                <a16:creationId xmlns:a16="http://schemas.microsoft.com/office/drawing/2014/main" id="{426F10CB-62CC-4CC1-920A-A647B9C3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428750"/>
            <a:ext cx="12001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12:00</a:t>
            </a:r>
          </a:p>
        </p:txBody>
      </p:sp>
      <p:sp>
        <p:nvSpPr>
          <p:cNvPr id="11" name="route-start-3">
            <a:extLst xmlns:a="http://schemas.openxmlformats.org/drawingml/2006/main">
              <a:ext uri="{FF2B5EF4-FFF2-40B4-BE49-F238E27FC236}">
                <a16:creationId xmlns:a16="http://schemas.microsoft.com/office/drawing/2014/main" id="{26B0CBAA-A4D5-4D64-8173-9283C601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9148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route-end-3">
            <a:extLst xmlns:a="http://schemas.openxmlformats.org/drawingml/2006/main">
              <a:ext uri="{FF2B5EF4-FFF2-40B4-BE49-F238E27FC236}">
                <a16:creationId xmlns:a16="http://schemas.microsoft.com/office/drawing/2014/main" id="{28C443E2-4443-4E84-8898-905477D8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823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421053" y="1676401"/>
            <a:ext cx="12077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14" name="time-3">
            <a:extLst xmlns:a="http://schemas.openxmlformats.org/drawingml/2006/main">
              <a:ext uri="{FF2B5EF4-FFF2-40B4-BE49-F238E27FC236}">
                <a16:creationId xmlns:a16="http://schemas.microsoft.com/office/drawing/2014/main" id="{D3038B29-DC22-478B-B15A-EE145BAE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428750"/>
            <a:ext cx="12001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18:00</a:t>
            </a:r>
          </a:p>
        </p:txBody>
      </p:sp>
      <p:sp>
        <p:nvSpPr>
          <p:cNvPr id="15" name="route-start-4">
            <a:extLst xmlns:a="http://schemas.openxmlformats.org/drawingml/2006/main">
              <a:ext uri="{FF2B5EF4-FFF2-40B4-BE49-F238E27FC236}">
                <a16:creationId xmlns:a16="http://schemas.microsoft.com/office/drawing/2014/main" id="{34D19994-1E5C-465F-AB8C-19D25A1D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023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route-end-4">
            <a:extLst xmlns:a="http://schemas.openxmlformats.org/drawingml/2006/main">
              <a:ext uri="{FF2B5EF4-FFF2-40B4-BE49-F238E27FC236}">
                <a16:creationId xmlns:a16="http://schemas.microsoft.com/office/drawing/2014/main" id="{AB71BDF1-8C03-4FFF-A5DB-F9F0B6CE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1198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0849928" y="1676401"/>
            <a:ext cx="25412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18" name="time-4">
            <a:extLst xmlns:a="http://schemas.openxmlformats.org/drawingml/2006/main">
              <a:ext uri="{FF2B5EF4-FFF2-40B4-BE49-F238E27FC236}">
                <a16:creationId xmlns:a16="http://schemas.microsoft.com/office/drawing/2014/main" id="{D28EF148-7ECE-40F0-95CC-40BDCDBA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675" y="1428750"/>
            <a:ext cx="12001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24:00</a:t>
            </a:r>
          </a:p>
        </p:txBody>
      </p:sp>
      <p:sp>
        <p:nvSpPr>
          <p:cNvPr id="19" name="zero-forecast">
            <a:extLst xmlns:a="http://schemas.openxmlformats.org/drawingml/2006/main">
              <a:ext uri="{FF2B5EF4-FFF2-40B4-BE49-F238E27FC236}">
                <a16:creationId xmlns:a16="http://schemas.microsoft.com/office/drawing/2014/main" id="{BB886089-43F0-4D61-B19D-E80FBCB0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524125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零时净负荷预测</a:t>
            </a:r>
          </a:p>
        </p:txBody>
      </p:sp>
      <p:sp>
        <p:nvSpPr>
          <p:cNvPr id="20" name="route-start-5">
            <a:extLst xmlns:a="http://schemas.openxmlformats.org/drawingml/2006/main">
              <a:ext uri="{FF2B5EF4-FFF2-40B4-BE49-F238E27FC236}">
                <a16:creationId xmlns:a16="http://schemas.microsoft.com/office/drawing/2014/main" id="{CCEE26F0-5F21-4F38-8240-5C28157A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673" y="1932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route-end-5">
            <a:extLst xmlns:a="http://schemas.openxmlformats.org/drawingml/2006/main">
              <a:ext uri="{FF2B5EF4-FFF2-40B4-BE49-F238E27FC236}">
                <a16:creationId xmlns:a16="http://schemas.microsoft.com/office/drawing/2014/main" id="{7598C9DD-027E-41E9-93F8-760B4184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673" y="2847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1952626" y="1934528"/>
            <a:ext cx="0" cy="9124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23" name="initial-plan">
            <a:extLst xmlns:a="http://schemas.openxmlformats.org/drawingml/2006/main">
              <a:ext uri="{FF2B5EF4-FFF2-40B4-BE49-F238E27FC236}">
                <a16:creationId xmlns:a16="http://schemas.microsoft.com/office/drawing/2014/main" id="{3DC09CC8-F0F5-4D80-9E1F-7BC3547D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25241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80分位线性规划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初始购电计划</a:t>
            </a:r>
          </a:p>
        </p:txBody>
      </p:sp>
      <p:sp>
        <p:nvSpPr>
          <p:cNvPr id="24" name="route-start-6">
            <a:extLst xmlns:a="http://schemas.openxmlformats.org/drawingml/2006/main">
              <a:ext uri="{FF2B5EF4-FFF2-40B4-BE49-F238E27FC236}">
                <a16:creationId xmlns:a16="http://schemas.microsoft.com/office/drawing/2014/main" id="{E4C105EF-A776-41BF-AE24-A670C8C0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3098" y="3485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route-end-6">
            <a:extLst xmlns:a="http://schemas.openxmlformats.org/drawingml/2006/main">
              <a:ext uri="{FF2B5EF4-FFF2-40B4-BE49-F238E27FC236}">
                <a16:creationId xmlns:a16="http://schemas.microsoft.com/office/drawing/2014/main" id="{451DD880-665D-4DD4-935A-81168578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3098" y="4047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924051" y="3487103"/>
            <a:ext cx="0" cy="56007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27" name="rolling-selection">
            <a:extLst xmlns:a="http://schemas.openxmlformats.org/drawingml/2006/main">
              <a:ext uri="{FF2B5EF4-FFF2-40B4-BE49-F238E27FC236}">
                <a16:creationId xmlns:a16="http://schemas.microsoft.com/office/drawing/2014/main" id="{461C8FDE-F5FE-41A3-875C-9F5C7545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62200"/>
            <a:ext cx="7620000" cy="3514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28" name="rolling-selection-heading">
            <a:extLst xmlns:a="http://schemas.openxmlformats.org/drawingml/2006/main">
              <a:ext uri="{FF2B5EF4-FFF2-40B4-BE49-F238E27FC236}">
                <a16:creationId xmlns:a16="http://schemas.microsoft.com/office/drawing/2014/main" id="{789C3147-3CE7-4C13-88EB-EF0AD434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52700"/>
            <a:ext cx="746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更新时刻的计划选择</a:t>
            </a:r>
          </a:p>
        </p:txBody>
      </p:sp>
      <p:sp>
        <p:nvSpPr>
          <p:cNvPr id="29" name="route-start-7">
            <a:extLst xmlns:a="http://schemas.openxmlformats.org/drawingml/2006/main">
              <a:ext uri="{FF2B5EF4-FFF2-40B4-BE49-F238E27FC236}">
                <a16:creationId xmlns:a16="http://schemas.microsoft.com/office/drawing/2014/main" id="{6862CA00-7CA2-4162-A6EB-5564A6FA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673" y="1932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route-end-7">
            <a:extLst xmlns:a="http://schemas.openxmlformats.org/drawingml/2006/main">
              <a:ext uri="{FF2B5EF4-FFF2-40B4-BE49-F238E27FC236}">
                <a16:creationId xmlns:a16="http://schemas.microsoft.com/office/drawing/2014/main" id="{6874AA29-0150-4001-BBC4-1FD486F1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673" y="23517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" name=""/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5381626" y="1934528"/>
            <a:ext cx="0" cy="4171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32" name="route-start-8">
            <a:extLst xmlns:a="http://schemas.openxmlformats.org/drawingml/2006/main">
              <a:ext uri="{FF2B5EF4-FFF2-40B4-BE49-F238E27FC236}">
                <a16:creationId xmlns:a16="http://schemas.microsoft.com/office/drawing/2014/main" id="{0F101C92-8F2B-49DA-83C7-2D259E41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9548" y="1932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route-end-8">
            <a:extLst xmlns:a="http://schemas.openxmlformats.org/drawingml/2006/main">
              <a:ext uri="{FF2B5EF4-FFF2-40B4-BE49-F238E27FC236}">
                <a16:creationId xmlns:a16="http://schemas.microsoft.com/office/drawing/2014/main" id="{5E31E788-C438-42F5-BC9C-F319185E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9548" y="23517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" name=""/>
          <p:cNvCxnSpPr>
            <a:stCxn xmlns:a="http://schemas.openxmlformats.org/drawingml/2006/main" id="3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7810501" y="1934528"/>
            <a:ext cx="0" cy="4171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35" name="route-start-9">
            <a:extLst xmlns:a="http://schemas.openxmlformats.org/drawingml/2006/main">
              <a:ext uri="{FF2B5EF4-FFF2-40B4-BE49-F238E27FC236}">
                <a16:creationId xmlns:a16="http://schemas.microsoft.com/office/drawing/2014/main" id="{D4E19207-5DDA-45BD-AE53-497A8AB6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423" y="1932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route-end-9">
            <a:extLst xmlns:a="http://schemas.openxmlformats.org/drawingml/2006/main">
              <a:ext uri="{FF2B5EF4-FFF2-40B4-BE49-F238E27FC236}">
                <a16:creationId xmlns:a16="http://schemas.microsoft.com/office/drawing/2014/main" id="{5ACA6660-8E93-43CE-B77A-3363BF5B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423" y="23517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1" name=""/>
          <p:cNvCxnSpPr>
            <a:stCxn xmlns:a="http://schemas.openxmlformats.org/drawingml/2006/main" id="35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10239376" y="1934528"/>
            <a:ext cx="0" cy="4171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38" name="new-information">
            <a:extLst xmlns:a="http://schemas.openxmlformats.org/drawingml/2006/main">
              <a:ext uri="{FF2B5EF4-FFF2-40B4-BE49-F238E27FC236}">
                <a16:creationId xmlns:a16="http://schemas.microsoft.com/office/drawing/2014/main" id="{276E17AA-D418-49BD-9E20-371DBCB3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76575"/>
            <a:ext cx="6381750" cy="581025"/>
          </a:xfrm>
          <a:prstGeom xmlns:a="http://schemas.openxmlformats.org/drawingml/2006/main" prst="roundRect">
            <a:avLst>
              <a:gd name="adj" fmla="val 22951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新预报与实际库存</a:t>
            </a:r>
          </a:p>
        </p:txBody>
      </p:sp>
      <p:sp>
        <p:nvSpPr>
          <p:cNvPr id="39" name="candidate-plan">
            <a:extLst xmlns:a="http://schemas.openxmlformats.org/drawingml/2006/main">
              <a:ext uri="{FF2B5EF4-FFF2-40B4-BE49-F238E27FC236}">
                <a16:creationId xmlns:a16="http://schemas.microsoft.com/office/drawing/2014/main" id="{FBA30CB5-4E13-4139-8DE1-968C5996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52900"/>
            <a:ext cx="1905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生成调整候选</a:t>
            </a:r>
          </a:p>
        </p:txBody>
      </p:sp>
      <p:sp>
        <p:nvSpPr>
          <p:cNvPr id="40" name="keep-plan">
            <a:extLst xmlns:a="http://schemas.openxmlformats.org/drawingml/2006/main">
              <a:ext uri="{FF2B5EF4-FFF2-40B4-BE49-F238E27FC236}">
                <a16:creationId xmlns:a16="http://schemas.microsoft.com/office/drawing/2014/main" id="{56D9F0A2-237F-4CD2-ABD6-71CE0182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57775"/>
            <a:ext cx="1905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保留原计划</a:t>
            </a:r>
          </a:p>
        </p:txBody>
      </p:sp>
      <p:sp>
        <p:nvSpPr>
          <p:cNvPr id="41" name="select-plan">
            <a:extLst xmlns:a="http://schemas.openxmlformats.org/drawingml/2006/main">
              <a:ext uri="{FF2B5EF4-FFF2-40B4-BE49-F238E27FC236}">
                <a16:creationId xmlns:a16="http://schemas.microsoft.com/office/drawing/2014/main" id="{7BE33578-E382-40AD-BB93-BFA1DFBA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24350"/>
            <a:ext cx="3476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调整费与预期紧急费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动态规划择优</a:t>
            </a:r>
          </a:p>
        </p:txBody>
      </p:sp>
      <p:sp>
        <p:nvSpPr>
          <p:cNvPr id="42" name="route-start-10">
            <a:extLst xmlns:a="http://schemas.openxmlformats.org/drawingml/2006/main">
              <a:ext uri="{FF2B5EF4-FFF2-40B4-BE49-F238E27FC236}">
                <a16:creationId xmlns:a16="http://schemas.microsoft.com/office/drawing/2014/main" id="{E183127D-5CA5-46A7-B24B-7B7531BE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448" y="4475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route-end-10">
            <a:extLst xmlns:a="http://schemas.openxmlformats.org/drawingml/2006/main">
              <a:ext uri="{FF2B5EF4-FFF2-40B4-BE49-F238E27FC236}">
                <a16:creationId xmlns:a16="http://schemas.microsoft.com/office/drawing/2014/main" id="{24D0143E-BE65-4FEA-8868-47181624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098" y="4475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3201353" y="4476751"/>
            <a:ext cx="2457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45" name="route-start-11">
            <a:extLst xmlns:a="http://schemas.openxmlformats.org/drawingml/2006/main">
              <a:ext uri="{FF2B5EF4-FFF2-40B4-BE49-F238E27FC236}">
                <a16:creationId xmlns:a16="http://schemas.microsoft.com/office/drawing/2014/main" id="{17CA5847-CB83-462A-9288-3D787FE0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098" y="4475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route-end-11">
            <a:extLst xmlns:a="http://schemas.openxmlformats.org/drawingml/2006/main">
              <a:ext uri="{FF2B5EF4-FFF2-40B4-BE49-F238E27FC236}">
                <a16:creationId xmlns:a16="http://schemas.microsoft.com/office/drawing/2014/main" id="{8933B54E-1FFA-41D6-A363-45C93AF5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098" y="5371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" name=""/>
          <p:cNvCxnSpPr>
            <a:stCxn xmlns:a="http://schemas.openxmlformats.org/drawingml/2006/main" id="45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>
            <a:off x="3448051" y="4477703"/>
            <a:ext cx="0" cy="8934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48" name="route-start-12">
            <a:extLst xmlns:a="http://schemas.openxmlformats.org/drawingml/2006/main">
              <a:ext uri="{FF2B5EF4-FFF2-40B4-BE49-F238E27FC236}">
                <a16:creationId xmlns:a16="http://schemas.microsoft.com/office/drawing/2014/main" id="{109797FC-E528-4694-B2B3-BAC384C2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098" y="5371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route-end-12">
            <a:extLst xmlns:a="http://schemas.openxmlformats.org/drawingml/2006/main">
              <a:ext uri="{FF2B5EF4-FFF2-40B4-BE49-F238E27FC236}">
                <a16:creationId xmlns:a16="http://schemas.microsoft.com/office/drawing/2014/main" id="{70512F2F-788B-4BA5-8DE9-7401A461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5773" y="5371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3449003" y="5372101"/>
            <a:ext cx="8267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51" name="route-start-13">
            <a:extLst xmlns:a="http://schemas.openxmlformats.org/drawingml/2006/main">
              <a:ext uri="{FF2B5EF4-FFF2-40B4-BE49-F238E27FC236}">
                <a16:creationId xmlns:a16="http://schemas.microsoft.com/office/drawing/2014/main" id="{2C35F8E3-8FBC-48CF-96CE-6C2547E4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798" y="3666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route-end-13">
            <a:extLst xmlns:a="http://schemas.openxmlformats.org/drawingml/2006/main">
              <a:ext uri="{FF2B5EF4-FFF2-40B4-BE49-F238E27FC236}">
                <a16:creationId xmlns:a16="http://schemas.microsoft.com/office/drawing/2014/main" id="{0DD1C589-4CD1-4A09-BDD0-1DA071B3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798" y="4142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" name=""/>
          <p:cNvCxnSpPr>
            <a:stCxn xmlns:a="http://schemas.openxmlformats.org/drawingml/2006/main" id="51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5238751" y="3668078"/>
            <a:ext cx="0" cy="4743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54" name="route-start-14">
            <a:extLst xmlns:a="http://schemas.openxmlformats.org/drawingml/2006/main">
              <a:ext uri="{FF2B5EF4-FFF2-40B4-BE49-F238E27FC236}">
                <a16:creationId xmlns:a16="http://schemas.microsoft.com/office/drawing/2014/main" id="{BB3501B3-56AB-4458-8F52-1B61A693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798" y="3666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route-end-14">
            <a:extLst xmlns:a="http://schemas.openxmlformats.org/drawingml/2006/main">
              <a:ext uri="{FF2B5EF4-FFF2-40B4-BE49-F238E27FC236}">
                <a16:creationId xmlns:a16="http://schemas.microsoft.com/office/drawing/2014/main" id="{EAF01FC7-D1DD-40FC-8AEF-83F89FB2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798" y="4313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9048751" y="3668078"/>
            <a:ext cx="0" cy="6457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57" name="route-start-15">
            <a:extLst xmlns:a="http://schemas.openxmlformats.org/drawingml/2006/main">
              <a:ext uri="{FF2B5EF4-FFF2-40B4-BE49-F238E27FC236}">
                <a16:creationId xmlns:a16="http://schemas.microsoft.com/office/drawing/2014/main" id="{887526B4-10B8-45D5-AEF0-2CA40DF4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823" y="4466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route-end-15">
            <a:extLst xmlns:a="http://schemas.openxmlformats.org/drawingml/2006/main">
              <a:ext uri="{FF2B5EF4-FFF2-40B4-BE49-F238E27FC236}">
                <a16:creationId xmlns:a16="http://schemas.microsoft.com/office/drawing/2014/main" id="{2CFAD67E-BE2A-44D9-B3EB-A1799A92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4466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6201728" y="4467226"/>
            <a:ext cx="702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60" name="route-start-16">
            <a:extLst xmlns:a="http://schemas.openxmlformats.org/drawingml/2006/main">
              <a:ext uri="{FF2B5EF4-FFF2-40B4-BE49-F238E27FC236}">
                <a16:creationId xmlns:a16="http://schemas.microsoft.com/office/drawing/2014/main" id="{079A2828-0400-4D7A-97ED-2483E0A8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4466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route-end-16">
            <a:extLst xmlns:a="http://schemas.openxmlformats.org/drawingml/2006/main">
              <a:ext uri="{FF2B5EF4-FFF2-40B4-BE49-F238E27FC236}">
                <a16:creationId xmlns:a16="http://schemas.microsoft.com/office/drawing/2014/main" id="{187649B4-91F1-4D19-9328-2E96071E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4628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6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6905626" y="4468178"/>
            <a:ext cx="0" cy="1600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63" name="route-start-17">
            <a:extLst xmlns:a="http://schemas.openxmlformats.org/drawingml/2006/main">
              <a:ext uri="{FF2B5EF4-FFF2-40B4-BE49-F238E27FC236}">
                <a16:creationId xmlns:a16="http://schemas.microsoft.com/office/drawing/2014/main" id="{54C7B6C7-71B5-4351-B4F8-B48D44AB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4628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route-end-17">
            <a:extLst xmlns:a="http://schemas.openxmlformats.org/drawingml/2006/main">
              <a:ext uri="{FF2B5EF4-FFF2-40B4-BE49-F238E27FC236}">
                <a16:creationId xmlns:a16="http://schemas.microsoft.com/office/drawing/2014/main" id="{3C8F2730-3106-4ED4-BFC9-F62CC7E9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523" y="4628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" name=""/>
          <p:cNvCxnSpPr>
            <a:stCxn xmlns:a="http://schemas.openxmlformats.org/drawingml/2006/main" id="63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6906578" y="4629151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66" name="route-start-18">
            <a:extLst xmlns:a="http://schemas.openxmlformats.org/drawingml/2006/main">
              <a:ext uri="{FF2B5EF4-FFF2-40B4-BE49-F238E27FC236}">
                <a16:creationId xmlns:a16="http://schemas.microsoft.com/office/drawing/2014/main" id="{396265F6-05C7-47EA-9137-F8D78B80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823" y="5371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route-end-18">
            <a:extLst xmlns:a="http://schemas.openxmlformats.org/drawingml/2006/main">
              <a:ext uri="{FF2B5EF4-FFF2-40B4-BE49-F238E27FC236}">
                <a16:creationId xmlns:a16="http://schemas.microsoft.com/office/drawing/2014/main" id="{F94D60DC-70BB-4117-AE5D-DBF36B5A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5371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6201728" y="5372101"/>
            <a:ext cx="702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69" name="route-start-19">
            <a:extLst xmlns:a="http://schemas.openxmlformats.org/drawingml/2006/main">
              <a:ext uri="{FF2B5EF4-FFF2-40B4-BE49-F238E27FC236}">
                <a16:creationId xmlns:a16="http://schemas.microsoft.com/office/drawing/2014/main" id="{85FA99E0-571B-49E9-AC85-6D81F2CF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5371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route-end-19">
            <a:extLst xmlns:a="http://schemas.openxmlformats.org/drawingml/2006/main">
              <a:ext uri="{FF2B5EF4-FFF2-40B4-BE49-F238E27FC236}">
                <a16:creationId xmlns:a16="http://schemas.microsoft.com/office/drawing/2014/main" id="{A2EF7FA8-7BBE-4D46-87F7-13068185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5075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" name=""/>
          <p:cNvCxnSpPr>
            <a:stCxn xmlns:a="http://schemas.openxmlformats.org/drawingml/2006/main" id="69" idx="0"/>
            <a:endCxn xmlns:a="http://schemas.openxmlformats.org/drawingml/2006/main" id="70" idx="2"/>
          </p:cNvCxnSpPr>
          <p:nvPr/>
        </p:nvCxnSpPr>
        <p:spPr>
          <a:xfrm xmlns:a="http://schemas.openxmlformats.org/drawingml/2006/main" flipV="1">
            <a:off x="6905626" y="5077778"/>
            <a:ext cx="0" cy="29337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72" name="route-start-20">
            <a:extLst xmlns:a="http://schemas.openxmlformats.org/drawingml/2006/main">
              <a:ext uri="{FF2B5EF4-FFF2-40B4-BE49-F238E27FC236}">
                <a16:creationId xmlns:a16="http://schemas.microsoft.com/office/drawing/2014/main" id="{698B911C-A806-4B25-9738-E96A4E4B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5075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route-end-20">
            <a:extLst xmlns:a="http://schemas.openxmlformats.org/drawingml/2006/main">
              <a:ext uri="{FF2B5EF4-FFF2-40B4-BE49-F238E27FC236}">
                <a16:creationId xmlns:a16="http://schemas.microsoft.com/office/drawing/2014/main" id="{B9E4C4E9-E0AF-48A7-975F-74EC4B77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523" y="5075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6906578" y="5076826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75" name="feedback">
            <a:extLst xmlns:a="http://schemas.openxmlformats.org/drawingml/2006/main">
              <a:ext uri="{FF2B5EF4-FFF2-40B4-BE49-F238E27FC236}">
                <a16:creationId xmlns:a16="http://schemas.microsoft.com/office/drawing/2014/main" id="{876BFCA3-A473-4BFC-9508-8D3C09C7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343400"/>
            <a:ext cx="257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十分钟反馈执行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更新储能库存</a:t>
            </a:r>
          </a:p>
        </p:txBody>
      </p:sp>
      <p:sp>
        <p:nvSpPr>
          <p:cNvPr id="76" name="route-start-21">
            <a:extLst xmlns:a="http://schemas.openxmlformats.org/drawingml/2006/main">
              <a:ext uri="{FF2B5EF4-FFF2-40B4-BE49-F238E27FC236}">
                <a16:creationId xmlns:a16="http://schemas.microsoft.com/office/drawing/2014/main" id="{6BB6D918-711D-42D3-BE40-0F032391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4198" y="4856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route-end-21">
            <a:extLst xmlns:a="http://schemas.openxmlformats.org/drawingml/2006/main">
              <a:ext uri="{FF2B5EF4-FFF2-40B4-BE49-F238E27FC236}">
                <a16:creationId xmlns:a16="http://schemas.microsoft.com/office/drawing/2014/main" id="{27E84CAF-E54A-4AAD-BE0D-DA0E17F3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0523" y="4856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" name="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10726103" y="4857751"/>
            <a:ext cx="10744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79" name="result">
            <a:extLst xmlns:a="http://schemas.openxmlformats.org/drawingml/2006/main">
              <a:ext uri="{FF2B5EF4-FFF2-40B4-BE49-F238E27FC236}">
                <a16:creationId xmlns:a16="http://schemas.microsoft.com/office/drawing/2014/main" id="{7E80A4C8-2004-429A-951B-8833FC10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6197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调整账本与费用</a:t>
            </a:r>
          </a:p>
        </p:txBody>
      </p:sp>
      <p:sp>
        <p:nvSpPr>
          <p:cNvPr id="80" name="route-start-22">
            <a:extLst xmlns:a="http://schemas.openxmlformats.org/drawingml/2006/main">
              <a:ext uri="{FF2B5EF4-FFF2-40B4-BE49-F238E27FC236}">
                <a16:creationId xmlns:a16="http://schemas.microsoft.com/office/drawing/2014/main" id="{E9EFC6AE-2F63-49B6-B5B9-7A6FFE8D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5923" y="5190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1" name="route-end-22">
            <a:extLst xmlns:a="http://schemas.openxmlformats.org/drawingml/2006/main">
              <a:ext uri="{FF2B5EF4-FFF2-40B4-BE49-F238E27FC236}">
                <a16:creationId xmlns:a16="http://schemas.microsoft.com/office/drawing/2014/main" id="{10382698-B2B2-4EC7-915F-BF947579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5923" y="5609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" name=""/>
          <p:cNvCxnSpPr>
            <a:stCxn xmlns:a="http://schemas.openxmlformats.org/drawingml/2006/main" id="80" idx="2"/>
            <a:endCxn xmlns:a="http://schemas.openxmlformats.org/drawingml/2006/main" id="81" idx="0"/>
          </p:cNvCxnSpPr>
          <p:nvPr/>
        </p:nvCxnSpPr>
        <p:spPr>
          <a:xfrm xmlns:a="http://schemas.openxmlformats.org/drawingml/2006/main">
            <a:off x="13096876" y="5192078"/>
            <a:ext cx="0" cy="4171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83" name="freeze-note">
            <a:extLst xmlns:a="http://schemas.openxmlformats.org/drawingml/2006/main">
              <a:ext uri="{FF2B5EF4-FFF2-40B4-BE49-F238E27FC236}">
                <a16:creationId xmlns:a16="http://schemas.microsoft.com/office/drawing/2014/main" id="{63578477-47D7-49D3-9E7E-14B4DDDB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768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已执行时段冻结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仅修改后续计划</a:t>
            </a:r>
          </a:p>
        </p:txBody>
      </p:sp>
      <p:sp>
        <p:nvSpPr>
          <p:cNvPr id="84" name="execution-note">
            <a:extLst xmlns:a="http://schemas.openxmlformats.org/drawingml/2006/main">
              <a:ext uri="{FF2B5EF4-FFF2-40B4-BE49-F238E27FC236}">
                <a16:creationId xmlns:a16="http://schemas.microsoft.com/office/drawing/2014/main" id="{3FE02E73-FDA2-4737-A4C7-CADA167E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02895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更新之间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沿用当前计划</a:t>
            </a:r>
          </a:p>
        </p:txBody>
      </p:sp>
    </p:spTree>
    <p:extLst>
      <p:ext uri="{BB962C8B-B14F-4D97-AF65-F5344CB8AC3E}">
        <p14:creationId xmlns:p14="http://schemas.microsoft.com/office/powerpoint/2010/main" val="238590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B325DBC4-0A8E-4610-90DA-6247F622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66700"/>
            <a:ext cx="147828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198B3"/>
            </a:solidFill>
            <a:prstDash val="dash"/>
          </a:ln>
        </p:spPr>
      </p:sp>
      <p:sp>
        <p:nvSpPr>
          <p:cNvPr id="2" name="load-heading">
            <a:extLst xmlns:a="http://schemas.openxmlformats.org/drawingml/2006/main">
              <a:ext uri="{FF2B5EF4-FFF2-40B4-BE49-F238E27FC236}">
                <a16:creationId xmlns:a16="http://schemas.microsoft.com/office/drawing/2014/main" id="{64068EB9-3070-4FA5-A9D3-25357662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净负荷不确定性</a:t>
            </a:r>
          </a:p>
        </p:txBody>
      </p:sp>
      <p:sp>
        <p:nvSpPr>
          <p:cNvPr id="3" name="netload">
            <a:extLst xmlns:a="http://schemas.openxmlformats.org/drawingml/2006/main">
              <a:ext uri="{FF2B5EF4-FFF2-40B4-BE49-F238E27FC236}">
                <a16:creationId xmlns:a16="http://schemas.microsoft.com/office/drawing/2014/main" id="{A480499F-5A0B-42B5-8044-E71D99C9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21907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净负荷预测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历史预测误差</a:t>
            </a:r>
          </a:p>
        </p:txBody>
      </p:sp>
      <p:sp>
        <p:nvSpPr>
          <p:cNvPr id="4" name="price-heading">
            <a:extLst xmlns:a="http://schemas.openxmlformats.org/drawingml/2006/main">
              <a:ext uri="{FF2B5EF4-FFF2-40B4-BE49-F238E27FC236}">
                <a16:creationId xmlns:a16="http://schemas.microsoft.com/office/drawing/2014/main" id="{87D105DF-8FC9-410F-B1E1-9619BA7A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电价不确定性</a:t>
            </a:r>
          </a:p>
        </p:txBody>
      </p:sp>
      <p:sp>
        <p:nvSpPr>
          <p:cNvPr id="5" name="price">
            <a:extLst xmlns:a="http://schemas.openxmlformats.org/drawingml/2006/main">
              <a:ext uri="{FF2B5EF4-FFF2-40B4-BE49-F238E27FC236}">
                <a16:creationId xmlns:a16="http://schemas.microsoft.com/office/drawing/2014/main" id="{88A96BEA-7196-4BBE-9AB7-6F03FB82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21907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因果电价预测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历史预测误差</a:t>
            </a:r>
          </a:p>
        </p:txBody>
      </p:sp>
      <p:sp>
        <p:nvSpPr>
          <p:cNvPr id="6" name="joint-model">
            <a:extLst xmlns:a="http://schemas.openxmlformats.org/drawingml/2006/main">
              <a:ext uri="{FF2B5EF4-FFF2-40B4-BE49-F238E27FC236}">
                <a16:creationId xmlns:a16="http://schemas.microsoft.com/office/drawing/2014/main" id="{E99A69B8-D471-468B-BC6A-633A4404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3429000" cy="387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7" name="joint-model-heading">
            <a:extLst xmlns:a="http://schemas.openxmlformats.org/drawingml/2006/main">
              <a:ext uri="{FF2B5EF4-FFF2-40B4-BE49-F238E27FC236}">
                <a16:creationId xmlns:a16="http://schemas.microsoft.com/office/drawing/2014/main" id="{A0DB3689-7A36-4C59-A4FF-7F0D9FC4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002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联合误差建模</a:t>
            </a:r>
          </a:p>
        </p:txBody>
      </p:sp>
      <p:sp>
        <p:nvSpPr>
          <p:cNvPr id="8" name="paired">
            <a:extLst xmlns:a="http://schemas.openxmlformats.org/drawingml/2006/main">
              <a:ext uri="{FF2B5EF4-FFF2-40B4-BE49-F238E27FC236}">
                <a16:creationId xmlns:a16="http://schemas.microsoft.com/office/drawing/2014/main" id="{3DF2006F-B5C6-47FD-8974-DE0BC087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0325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历史误差配对</a:t>
            </a:r>
          </a:p>
        </p:txBody>
      </p:sp>
      <p:sp>
        <p:nvSpPr>
          <p:cNvPr id="9" name="states">
            <a:extLst xmlns:a="http://schemas.openxmlformats.org/drawingml/2006/main">
              <a:ext uri="{FF2B5EF4-FFF2-40B4-BE49-F238E27FC236}">
                <a16:creationId xmlns:a16="http://schemas.microsoft.com/office/drawing/2014/main" id="{B6A16C13-5A8E-4872-83D8-2E16B5D1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九状态联合模型</a:t>
            </a:r>
          </a:p>
        </p:txBody>
      </p:sp>
      <p:sp>
        <p:nvSpPr>
          <p:cNvPr id="10" name="samples">
            <a:extLst xmlns:a="http://schemas.openxmlformats.org/drawingml/2006/main">
              <a:ext uri="{FF2B5EF4-FFF2-40B4-BE49-F238E27FC236}">
                <a16:creationId xmlns:a16="http://schemas.microsoft.com/office/drawing/2014/main" id="{574896B8-12A9-472A-BDA0-63FC1B93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72025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转移与加权样本</a:t>
            </a:r>
          </a:p>
        </p:txBody>
      </p:sp>
      <p:sp>
        <p:nvSpPr>
          <p:cNvPr id="11" name="route-start-1">
            <a:extLst xmlns:a="http://schemas.openxmlformats.org/drawingml/2006/main">
              <a:ext uri="{FF2B5EF4-FFF2-40B4-BE49-F238E27FC236}">
                <a16:creationId xmlns:a16="http://schemas.microsoft.com/office/drawing/2014/main" id="{DEF1CE3F-ABB5-4A94-AF3F-B7D5FB9E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823" y="2761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route-end-1">
            <a:extLst xmlns:a="http://schemas.openxmlformats.org/drawingml/2006/main">
              <a:ext uri="{FF2B5EF4-FFF2-40B4-BE49-F238E27FC236}">
                <a16:creationId xmlns:a16="http://schemas.microsoft.com/office/drawing/2014/main" id="{DABBEE59-B844-4E2F-BD39-DCDE3AB1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73" y="2761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772728" y="2762251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14" name="route-start-2">
            <a:extLst xmlns:a="http://schemas.openxmlformats.org/drawingml/2006/main">
              <a:ext uri="{FF2B5EF4-FFF2-40B4-BE49-F238E27FC236}">
                <a16:creationId xmlns:a16="http://schemas.microsoft.com/office/drawing/2014/main" id="{DE7812DC-2385-483F-A214-42223B1C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73" y="2761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route-end-2">
            <a:extLst xmlns:a="http://schemas.openxmlformats.org/drawingml/2006/main">
              <a:ext uri="{FF2B5EF4-FFF2-40B4-BE49-F238E27FC236}">
                <a16:creationId xmlns:a16="http://schemas.microsoft.com/office/drawing/2014/main" id="{F689BB1E-C397-4EF5-8790-17B4EB4E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73" y="2913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095626" y="2763203"/>
            <a:ext cx="0" cy="1504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17" name="route-start-3">
            <a:extLst xmlns:a="http://schemas.openxmlformats.org/drawingml/2006/main">
              <a:ext uri="{FF2B5EF4-FFF2-40B4-BE49-F238E27FC236}">
                <a16:creationId xmlns:a16="http://schemas.microsoft.com/office/drawing/2014/main" id="{B902822B-3389-41E8-B25A-F58053B6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823" y="4913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route-end-3">
            <a:extLst xmlns:a="http://schemas.openxmlformats.org/drawingml/2006/main">
              <a:ext uri="{FF2B5EF4-FFF2-40B4-BE49-F238E27FC236}">
                <a16:creationId xmlns:a16="http://schemas.microsoft.com/office/drawing/2014/main" id="{FA05B5E0-F39F-42B0-8459-B0D1436D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73" y="4913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8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772728" y="4914901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20" name="route-start-4">
            <a:extLst xmlns:a="http://schemas.openxmlformats.org/drawingml/2006/main">
              <a:ext uri="{FF2B5EF4-FFF2-40B4-BE49-F238E27FC236}">
                <a16:creationId xmlns:a16="http://schemas.microsoft.com/office/drawing/2014/main" id="{59ADE950-9C27-4A14-9119-FB0520AF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73" y="4913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route-end-4">
            <a:extLst xmlns:a="http://schemas.openxmlformats.org/drawingml/2006/main">
              <a:ext uri="{FF2B5EF4-FFF2-40B4-BE49-F238E27FC236}">
                <a16:creationId xmlns:a16="http://schemas.microsoft.com/office/drawing/2014/main" id="{F3767E6A-50A2-482F-94FC-37AA0DD5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73" y="2913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" name=""/>
          <p:cNvCxnSpPr>
            <a:stCxn xmlns:a="http://schemas.openxmlformats.org/drawingml/2006/main" id="20" idx="0"/>
            <a:endCxn xmlns:a="http://schemas.openxmlformats.org/drawingml/2006/main" id="21" idx="2"/>
          </p:cNvCxnSpPr>
          <p:nvPr/>
        </p:nvCxnSpPr>
        <p:spPr>
          <a:xfrm xmlns:a="http://schemas.openxmlformats.org/drawingml/2006/main" flipV="1">
            <a:off x="3095626" y="2915603"/>
            <a:ext cx="0" cy="19983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23" name="route-start-5">
            <a:extLst xmlns:a="http://schemas.openxmlformats.org/drawingml/2006/main">
              <a:ext uri="{FF2B5EF4-FFF2-40B4-BE49-F238E27FC236}">
                <a16:creationId xmlns:a16="http://schemas.microsoft.com/office/drawing/2014/main" id="{5221EB44-D05D-4C3D-A1B4-58EF754E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73" y="2913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route-end-5">
            <a:extLst xmlns:a="http://schemas.openxmlformats.org/drawingml/2006/main">
              <a:ext uri="{FF2B5EF4-FFF2-40B4-BE49-F238E27FC236}">
                <a16:creationId xmlns:a16="http://schemas.microsoft.com/office/drawing/2014/main" id="{A5182B53-42BF-4771-9287-1B0C848E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273" y="2913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3096578" y="2914651"/>
            <a:ext cx="6076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26" name="route-start-6">
            <a:extLst xmlns:a="http://schemas.openxmlformats.org/drawingml/2006/main">
              <a:ext uri="{FF2B5EF4-FFF2-40B4-BE49-F238E27FC236}">
                <a16:creationId xmlns:a16="http://schemas.microsoft.com/office/drawing/2014/main" id="{023C76D5-1A3A-4FA6-A0F7-0894C5D2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548" y="3237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route-end-6">
            <a:extLst xmlns:a="http://schemas.openxmlformats.org/drawingml/2006/main">
              <a:ext uri="{FF2B5EF4-FFF2-40B4-BE49-F238E27FC236}">
                <a16:creationId xmlns:a16="http://schemas.microsoft.com/office/drawing/2014/main" id="{E847AF5D-CE6F-45D5-86E1-F0FF96D2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548" y="3675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" name=""/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5143501" y="3239453"/>
            <a:ext cx="0" cy="4362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29" name="route-start-7">
            <a:extLst xmlns:a="http://schemas.openxmlformats.org/drawingml/2006/main">
              <a:ext uri="{FF2B5EF4-FFF2-40B4-BE49-F238E27FC236}">
                <a16:creationId xmlns:a16="http://schemas.microsoft.com/office/drawing/2014/main" id="{FAEFABAF-725A-4DE3-9B91-592CB4D1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548" y="4323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route-end-7">
            <a:extLst xmlns:a="http://schemas.openxmlformats.org/drawingml/2006/main">
              <a:ext uri="{FF2B5EF4-FFF2-40B4-BE49-F238E27FC236}">
                <a16:creationId xmlns:a16="http://schemas.microsoft.com/office/drawing/2014/main" id="{176E4735-C2F1-4558-93E5-B3B292D0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548" y="4761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" name=""/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5143501" y="4325303"/>
            <a:ext cx="0" cy="4362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32" name="fixed-strategy">
            <a:extLst xmlns:a="http://schemas.openxmlformats.org/drawingml/2006/main">
              <a:ext uri="{FF2B5EF4-FFF2-40B4-BE49-F238E27FC236}">
                <a16:creationId xmlns:a16="http://schemas.microsoft.com/office/drawing/2014/main" id="{5A14AE70-4D1D-450E-AC6B-8E581E5B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381125"/>
            <a:ext cx="71913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33" name="fixed-strategy-heading">
            <a:extLst xmlns:a="http://schemas.openxmlformats.org/drawingml/2006/main">
              <a:ext uri="{FF2B5EF4-FFF2-40B4-BE49-F238E27FC236}">
                <a16:creationId xmlns:a16="http://schemas.microsoft.com/office/drawing/2014/main" id="{621BA1D3-44FF-4D33-8B4B-F9973C34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71625"/>
            <a:ext cx="7038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4-2  固定计划</a:t>
            </a:r>
          </a:p>
        </p:txBody>
      </p:sp>
      <p:sp>
        <p:nvSpPr>
          <p:cNvPr id="34" name="rolling-strategy">
            <a:extLst xmlns:a="http://schemas.openxmlformats.org/drawingml/2006/main">
              <a:ext uri="{FF2B5EF4-FFF2-40B4-BE49-F238E27FC236}">
                <a16:creationId xmlns:a16="http://schemas.microsoft.com/office/drawing/2014/main" id="{EAFCE71A-7709-4300-A832-8A4637A0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38575"/>
            <a:ext cx="7191375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35" name="rolling-strategy-heading">
            <a:extLst xmlns:a="http://schemas.openxmlformats.org/drawingml/2006/main">
              <a:ext uri="{FF2B5EF4-FFF2-40B4-BE49-F238E27FC236}">
                <a16:creationId xmlns:a16="http://schemas.microsoft.com/office/drawing/2014/main" id="{F943578C-E28F-499D-8283-25BEC6B4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029075"/>
            <a:ext cx="7038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4-3  滚动调整</a:t>
            </a:r>
          </a:p>
        </p:txBody>
      </p:sp>
      <p:sp>
        <p:nvSpPr>
          <p:cNvPr id="36" name="fixed-plan">
            <a:extLst xmlns:a="http://schemas.openxmlformats.org/drawingml/2006/main">
              <a:ext uri="{FF2B5EF4-FFF2-40B4-BE49-F238E27FC236}">
                <a16:creationId xmlns:a16="http://schemas.microsoft.com/office/drawing/2014/main" id="{B7C5B4D0-0C08-480C-A55B-A9E33BC2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288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零时规划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全天固定</a:t>
            </a:r>
          </a:p>
        </p:txBody>
      </p:sp>
      <p:sp>
        <p:nvSpPr>
          <p:cNvPr id="37" name="fixed-control">
            <a:extLst xmlns:a="http://schemas.openxmlformats.org/drawingml/2006/main">
              <a:ext uri="{FF2B5EF4-FFF2-40B4-BE49-F238E27FC236}">
                <a16:creationId xmlns:a16="http://schemas.microsoft.com/office/drawing/2014/main" id="{75C3C0E4-BDBD-470B-9EF1-7E178213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2885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联合动态规划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储能反馈</a:t>
            </a:r>
          </a:p>
        </p:txBody>
      </p:sp>
      <p:sp>
        <p:nvSpPr>
          <p:cNvPr id="38" name="fixed-result">
            <a:extLst xmlns:a="http://schemas.openxmlformats.org/drawingml/2006/main">
              <a:ext uri="{FF2B5EF4-FFF2-40B4-BE49-F238E27FC236}">
                <a16:creationId xmlns:a16="http://schemas.microsoft.com/office/drawing/2014/main" id="{338BDC94-4E29-47BF-ADFA-59768924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228850"/>
            <a:ext cx="1666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购电与储能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费用结果</a:t>
            </a:r>
          </a:p>
        </p:txBody>
      </p:sp>
      <p:sp>
        <p:nvSpPr>
          <p:cNvPr id="39" name="route-start-8">
            <a:extLst xmlns:a="http://schemas.openxmlformats.org/drawingml/2006/main">
              <a:ext uri="{FF2B5EF4-FFF2-40B4-BE49-F238E27FC236}">
                <a16:creationId xmlns:a16="http://schemas.microsoft.com/office/drawing/2014/main" id="{1EFD2EF9-F35B-495E-A333-490230A5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073" y="2618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route-end-8">
            <a:extLst xmlns:a="http://schemas.openxmlformats.org/drawingml/2006/main">
              <a:ext uri="{FF2B5EF4-FFF2-40B4-BE49-F238E27FC236}">
                <a16:creationId xmlns:a16="http://schemas.microsoft.com/office/drawing/2014/main" id="{E4C9D8C4-8BCF-40E7-800B-F23C2CC6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023" y="2618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9725978" y="2619376"/>
            <a:ext cx="3600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42" name="route-start-9">
            <a:extLst xmlns:a="http://schemas.openxmlformats.org/drawingml/2006/main">
              <a:ext uri="{FF2B5EF4-FFF2-40B4-BE49-F238E27FC236}">
                <a16:creationId xmlns:a16="http://schemas.microsoft.com/office/drawing/2014/main" id="{67DDD173-9A85-4B71-8B91-2BB2B865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1073" y="2618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route-end-9">
            <a:extLst xmlns:a="http://schemas.openxmlformats.org/drawingml/2006/main">
              <a:ext uri="{FF2B5EF4-FFF2-40B4-BE49-F238E27FC236}">
                <a16:creationId xmlns:a16="http://schemas.microsoft.com/office/drawing/2014/main" id="{B1A70668-27D9-4101-8938-56C1E2FD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3023" y="2618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12392978" y="2619376"/>
            <a:ext cx="3600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45" name="rolling-plan">
            <a:extLst xmlns:a="http://schemas.openxmlformats.org/drawingml/2006/main">
              <a:ext uri="{FF2B5EF4-FFF2-40B4-BE49-F238E27FC236}">
                <a16:creationId xmlns:a16="http://schemas.microsoft.com/office/drawing/2014/main" id="{A0974529-DBA6-43A2-B3CC-A055A8FE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95825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更新预报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生成候选</a:t>
            </a:r>
          </a:p>
        </p:txBody>
      </p:sp>
      <p:sp>
        <p:nvSpPr>
          <p:cNvPr id="46" name="rolling-control">
            <a:extLst xmlns:a="http://schemas.openxmlformats.org/drawingml/2006/main">
              <a:ext uri="{FF2B5EF4-FFF2-40B4-BE49-F238E27FC236}">
                <a16:creationId xmlns:a16="http://schemas.microsoft.com/office/drawing/2014/main" id="{EDB8E261-85FA-4AC6-A737-052D4CB2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95825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联合动态规划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调整与储能</a:t>
            </a:r>
          </a:p>
        </p:txBody>
      </p:sp>
      <p:sp>
        <p:nvSpPr>
          <p:cNvPr id="47" name="rolling-result">
            <a:extLst xmlns:a="http://schemas.openxmlformats.org/drawingml/2006/main">
              <a:ext uri="{FF2B5EF4-FFF2-40B4-BE49-F238E27FC236}">
                <a16:creationId xmlns:a16="http://schemas.microsoft.com/office/drawing/2014/main" id="{B878EC06-DF08-4334-ABD5-1E8CBCE2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695825"/>
            <a:ext cx="1666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调整账本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费用对照</a:t>
            </a:r>
          </a:p>
        </p:txBody>
      </p:sp>
      <p:sp>
        <p:nvSpPr>
          <p:cNvPr id="48" name="route-start-10">
            <a:extLst xmlns:a="http://schemas.openxmlformats.org/drawingml/2006/main">
              <a:ext uri="{FF2B5EF4-FFF2-40B4-BE49-F238E27FC236}">
                <a16:creationId xmlns:a16="http://schemas.microsoft.com/office/drawing/2014/main" id="{D921A8D1-B3A5-4041-B8FA-7FC89413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073" y="5113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route-end-10">
            <a:extLst xmlns:a="http://schemas.openxmlformats.org/drawingml/2006/main">
              <a:ext uri="{FF2B5EF4-FFF2-40B4-BE49-F238E27FC236}">
                <a16:creationId xmlns:a16="http://schemas.microsoft.com/office/drawing/2014/main" id="{90E35DA8-30A6-4307-BE3C-A95E0E05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023" y="5113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9725978" y="5114926"/>
            <a:ext cx="3600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51" name="route-start-11">
            <a:extLst xmlns:a="http://schemas.openxmlformats.org/drawingml/2006/main">
              <a:ext uri="{FF2B5EF4-FFF2-40B4-BE49-F238E27FC236}">
                <a16:creationId xmlns:a16="http://schemas.microsoft.com/office/drawing/2014/main" id="{1CE67F13-F0F2-4AB0-89D5-88EBFFBB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1073" y="5113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route-end-11">
            <a:extLst xmlns:a="http://schemas.openxmlformats.org/drawingml/2006/main">
              <a:ext uri="{FF2B5EF4-FFF2-40B4-BE49-F238E27FC236}">
                <a16:creationId xmlns:a16="http://schemas.microsoft.com/office/drawing/2014/main" id="{659BEB17-2D8B-4B19-8214-5DE4047D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3023" y="5113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12392978" y="5114926"/>
            <a:ext cx="3600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54" name="route-start-12">
            <a:extLst xmlns:a="http://schemas.openxmlformats.org/drawingml/2006/main">
              <a:ext uri="{FF2B5EF4-FFF2-40B4-BE49-F238E27FC236}">
                <a16:creationId xmlns:a16="http://schemas.microsoft.com/office/drawing/2014/main" id="{A75A3ECD-C171-497E-BF6F-60C56640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573" y="3742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route-end-12">
            <a:extLst xmlns:a="http://schemas.openxmlformats.org/drawingml/2006/main">
              <a:ext uri="{FF2B5EF4-FFF2-40B4-BE49-F238E27FC236}">
                <a16:creationId xmlns:a16="http://schemas.microsoft.com/office/drawing/2014/main" id="{A6ABF9C4-090E-42FB-B4EF-4599A557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898" y="3742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" name=""/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6868478" y="3743326"/>
            <a:ext cx="3124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57" name="route-start-13">
            <a:extLst xmlns:a="http://schemas.openxmlformats.org/drawingml/2006/main">
              <a:ext uri="{FF2B5EF4-FFF2-40B4-BE49-F238E27FC236}">
                <a16:creationId xmlns:a16="http://schemas.microsoft.com/office/drawing/2014/main" id="{4AE53AAF-5826-48AC-9B72-6CD6518F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898" y="3742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route-end-13">
            <a:extLst xmlns:a="http://schemas.openxmlformats.org/drawingml/2006/main">
              <a:ext uri="{FF2B5EF4-FFF2-40B4-BE49-F238E27FC236}">
                <a16:creationId xmlns:a16="http://schemas.microsoft.com/office/drawing/2014/main" id="{C8299F61-F6FA-4190-AA8F-A416D89A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898" y="2618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" name=""/>
          <p:cNvCxnSpPr>
            <a:stCxn xmlns:a="http://schemas.openxmlformats.org/drawingml/2006/main" id="57" idx="0"/>
            <a:endCxn xmlns:a="http://schemas.openxmlformats.org/drawingml/2006/main" id="58" idx="2"/>
          </p:cNvCxnSpPr>
          <p:nvPr/>
        </p:nvCxnSpPr>
        <p:spPr>
          <a:xfrm xmlns:a="http://schemas.openxmlformats.org/drawingml/2006/main" flipV="1">
            <a:off x="7181851" y="2620328"/>
            <a:ext cx="0" cy="11220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60" name="route-start-14">
            <a:extLst xmlns:a="http://schemas.openxmlformats.org/drawingml/2006/main">
              <a:ext uri="{FF2B5EF4-FFF2-40B4-BE49-F238E27FC236}">
                <a16:creationId xmlns:a16="http://schemas.microsoft.com/office/drawing/2014/main" id="{47FC33D7-B203-4D74-88B6-6C946804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898" y="2618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route-end-14">
            <a:extLst xmlns:a="http://schemas.openxmlformats.org/drawingml/2006/main">
              <a:ext uri="{FF2B5EF4-FFF2-40B4-BE49-F238E27FC236}">
                <a16:creationId xmlns:a16="http://schemas.microsoft.com/office/drawing/2014/main" id="{E44D00EA-8A98-46C6-BDF7-412ED2CE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648" y="2618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7182803" y="2619376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63" name="route-start-15">
            <a:extLst xmlns:a="http://schemas.openxmlformats.org/drawingml/2006/main">
              <a:ext uri="{FF2B5EF4-FFF2-40B4-BE49-F238E27FC236}">
                <a16:creationId xmlns:a16="http://schemas.microsoft.com/office/drawing/2014/main" id="{F9AC67FF-CCBB-48B6-A336-A11A1BA9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898" y="3742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route-end-15">
            <a:extLst xmlns:a="http://schemas.openxmlformats.org/drawingml/2006/main">
              <a:ext uri="{FF2B5EF4-FFF2-40B4-BE49-F238E27FC236}">
                <a16:creationId xmlns:a16="http://schemas.microsoft.com/office/drawing/2014/main" id="{9D133ECF-7A62-4774-A5F6-DF7390F3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898" y="5113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" name=""/>
          <p:cNvCxnSpPr>
            <a:stCxn xmlns:a="http://schemas.openxmlformats.org/drawingml/2006/main" id="63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>
            <a:off x="7181851" y="3744278"/>
            <a:ext cx="0" cy="13696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66" name="route-start-16">
            <a:extLst xmlns:a="http://schemas.openxmlformats.org/drawingml/2006/main">
              <a:ext uri="{FF2B5EF4-FFF2-40B4-BE49-F238E27FC236}">
                <a16:creationId xmlns:a16="http://schemas.microsoft.com/office/drawing/2014/main" id="{2C928A2E-20E9-4303-BBD0-38F8182C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898" y="5113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route-end-16">
            <a:extLst xmlns:a="http://schemas.openxmlformats.org/drawingml/2006/main">
              <a:ext uri="{FF2B5EF4-FFF2-40B4-BE49-F238E27FC236}">
                <a16:creationId xmlns:a16="http://schemas.microsoft.com/office/drawing/2014/main" id="{326855CA-F478-4026-AB60-7BDD0533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648" y="5113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7182803" y="5114926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69" name="footer">
            <a:extLst xmlns:a="http://schemas.openxmlformats.org/drawingml/2006/main">
              <a:ext uri="{FF2B5EF4-FFF2-40B4-BE49-F238E27FC236}">
                <a16:creationId xmlns:a16="http://schemas.microsoft.com/office/drawing/2014/main" id="{C9B3CAE1-D05F-41A2-81F8-75F24B4E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67425"/>
            <a:ext cx="1409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444444"/>
                </a:solidFill>
                <a:latin typeface="SimSun"/>
                <a:ea typeface="SimSun"/>
                <a:cs typeface="SimSun"/>
              </a:rPr>
              <a:t>预测价用于规划，当前真实价用于执行与结算</a:t>
            </a:r>
          </a:p>
        </p:txBody>
      </p:sp>
    </p:spTree>
    <p:extLst>
      <p:ext uri="{BB962C8B-B14F-4D97-AF65-F5344CB8AC3E}">
        <p14:creationId xmlns:p14="http://schemas.microsoft.com/office/powerpoint/2010/main" val="6705562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2026-09-13T08:18:00.5580000Z</dcterms:created>
  <dcterms:modified xsi:type="dcterms:W3CDTF">2026-09-13T08:18:00.5580000Z</dcterms:modified>
</coreProperties>
</file>