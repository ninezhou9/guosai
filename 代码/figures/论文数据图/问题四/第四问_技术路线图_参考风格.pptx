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erall"/>
          <p:cNvSpPr/>
          <p:nvPr/>
        </p:nvSpPr>
        <p:spPr>
          <a:xfrm>
            <a:off x="190500" y="190500"/>
            <a:ext cx="14859000" cy="9286875"/>
          </a:xfrm>
          <a:prstGeom prst="rect">
            <a:avLst/>
          </a:prstGeom>
          <a:noFill/>
          <a:ln w="28575">
            <a:solidFill>
              <a:srgbClr val="8198B3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381000" y="266700"/>
            <a:ext cx="144780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第四问  随机电价下的联合预测、双分支调度与真实结算</a:t>
            </a:r>
          </a:p>
        </p:txBody>
      </p:sp>
      <p:sp>
        <p:nvSpPr>
          <p:cNvPr id="4" name="joint-input"/>
          <p:cNvSpPr/>
          <p:nvPr/>
        </p:nvSpPr>
        <p:spPr>
          <a:xfrm>
            <a:off x="381000" y="762000"/>
            <a:ext cx="14478000" cy="1952625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joint-input-heading"/>
          <p:cNvSpPr txBox="1"/>
          <p:nvPr/>
        </p:nvSpPr>
        <p:spPr>
          <a:xfrm>
            <a:off x="476250" y="847725"/>
            <a:ext cx="142875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共同输入与联合模型：预测价用于规划，历史配对样本用于动态规划</a:t>
            </a:r>
          </a:p>
        </p:txBody>
      </p:sp>
      <p:sp>
        <p:nvSpPr>
          <p:cNvPr id="6" name="source"/>
          <p:cNvSpPr/>
          <p:nvPr/>
        </p:nvSpPr>
        <p:spPr>
          <a:xfrm>
            <a:off x="571500" y="142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已核验的第二、三问预测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历史负荷、光伏与真实电价</a:t>
            </a:r>
          </a:p>
        </p:txBody>
      </p:sp>
      <p:sp>
        <p:nvSpPr>
          <p:cNvPr id="7" name="price-forecast"/>
          <p:cNvSpPr/>
          <p:nvPr/>
        </p:nvSpPr>
        <p:spPr>
          <a:xfrm>
            <a:off x="4191000" y="142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因果电价预测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仅使用已完成时段的价格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在允许的发布时间更新</a:t>
            </a:r>
          </a:p>
        </p:txBody>
      </p:sp>
      <p:sp>
        <p:nvSpPr>
          <p:cNvPr id="8" name="paired-errors"/>
          <p:cNvSpPr/>
          <p:nvPr/>
        </p:nvSpPr>
        <p:spPr>
          <a:xfrm>
            <a:off x="7810500" y="142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净负荷与价格误差配对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保留同一历史样本的对应关系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构造带权联合情景</a:t>
            </a:r>
          </a:p>
        </p:txBody>
      </p:sp>
      <p:sp>
        <p:nvSpPr>
          <p:cNvPr id="9" name="joint-model"/>
          <p:cNvSpPr/>
          <p:nvPr/>
        </p:nvSpPr>
        <p:spPr>
          <a:xfrm>
            <a:off x="11430000" y="142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九状态联合模型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净负荷与价格类别共同描述状态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估计转移概率与类内样本</a:t>
            </a:r>
          </a:p>
        </p:txBody>
      </p:sp>
      <p:cxnSp>
        <p:nvCxnSpPr>
          <p:cNvPr id="10" name="joint-link-0"/>
          <p:cNvCxnSpPr/>
          <p:nvPr/>
        </p:nvCxnSpPr>
        <p:spPr>
          <a:xfrm>
            <a:off x="3619500" y="183832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11" name="joint-link-0"/>
          <p:cNvCxnSpPr/>
          <p:nvPr/>
        </p:nvCxnSpPr>
        <p:spPr>
          <a:xfrm>
            <a:off x="7239000" y="183832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12" name="joint-link-0"/>
          <p:cNvCxnSpPr/>
          <p:nvPr/>
        </p:nvCxnSpPr>
        <p:spPr>
          <a:xfrm>
            <a:off x="10858500" y="183832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13" name="fixed-branch"/>
          <p:cNvSpPr/>
          <p:nvPr/>
        </p:nvSpPr>
        <p:spPr>
          <a:xfrm>
            <a:off x="381000" y="3190875"/>
            <a:ext cx="7048500" cy="3381375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ixed-branch-heading"/>
          <p:cNvSpPr txBox="1"/>
          <p:nvPr/>
        </p:nvSpPr>
        <p:spPr>
          <a:xfrm>
            <a:off x="476250" y="3276600"/>
            <a:ext cx="68580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4-2：继承第二问，普通购电计划全天固定</a:t>
            </a:r>
          </a:p>
        </p:txBody>
      </p:sp>
      <p:sp>
        <p:nvSpPr>
          <p:cNvPr id="15" name="fixed-input"/>
          <p:cNvSpPr/>
          <p:nvPr/>
        </p:nvSpPr>
        <p:spPr>
          <a:xfrm>
            <a:off x="571500" y="38576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零点净负荷分位预测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零点预测价与本策略日初库存</a:t>
            </a:r>
          </a:p>
        </p:txBody>
      </p:sp>
      <p:sp>
        <p:nvSpPr>
          <p:cNvPr id="16" name="fixed-plan"/>
          <p:cNvSpPr/>
          <p:nvPr/>
        </p:nvSpPr>
        <p:spPr>
          <a:xfrm>
            <a:off x="4191000" y="38576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零点线性规划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确定全天普通购电计划并冻结</a:t>
            </a:r>
          </a:p>
        </p:txBody>
      </p:sp>
      <p:sp>
        <p:nvSpPr>
          <p:cNvPr id="17" name="fixed-dp"/>
          <p:cNvSpPr/>
          <p:nvPr/>
        </p:nvSpPr>
        <p:spPr>
          <a:xfrm>
            <a:off x="571500" y="523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九状态联合动态规划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在固定计划下计算库存价值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综合未来需求与电价的不确定性</a:t>
            </a:r>
          </a:p>
        </p:txBody>
      </p:sp>
      <p:sp>
        <p:nvSpPr>
          <p:cNvPr id="18" name="fixed-execution"/>
          <p:cNvSpPr/>
          <p:nvPr/>
        </p:nvSpPr>
        <p:spPr>
          <a:xfrm>
            <a:off x="4191000" y="523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每十分钟反馈执行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读取当前净负荷、真实价与库存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富余充电；缺口择优放电并补购</a:t>
            </a:r>
          </a:p>
        </p:txBody>
      </p:sp>
      <p:cxnSp>
        <p:nvCxnSpPr>
          <p:cNvPr id="19" name="fixed-input-plan-0"/>
          <p:cNvCxnSpPr/>
          <p:nvPr/>
        </p:nvCxnSpPr>
        <p:spPr>
          <a:xfrm>
            <a:off x="3619500" y="42195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20" name="fixed-plan-dp-0"/>
          <p:cNvCxnSpPr/>
          <p:nvPr/>
        </p:nvCxnSpPr>
        <p:spPr>
          <a:xfrm>
            <a:off x="5715000" y="4581525"/>
            <a:ext cx="0" cy="32385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21" name="fixed-plan-dp-1"/>
          <p:cNvCxnSpPr/>
          <p:nvPr/>
        </p:nvCxnSpPr>
        <p:spPr>
          <a:xfrm flipH="1">
            <a:off x="2095500" y="4905375"/>
            <a:ext cx="361950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22" name="fixed-plan-dp-2"/>
          <p:cNvCxnSpPr/>
          <p:nvPr/>
        </p:nvCxnSpPr>
        <p:spPr>
          <a:xfrm>
            <a:off x="2095500" y="4905375"/>
            <a:ext cx="0" cy="333375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23" name="fixed-dp-execution-0"/>
          <p:cNvCxnSpPr/>
          <p:nvPr/>
        </p:nvCxnSpPr>
        <p:spPr>
          <a:xfrm>
            <a:off x="3619500" y="564832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24" name="adjustable-branch"/>
          <p:cNvSpPr/>
          <p:nvPr/>
        </p:nvSpPr>
        <p:spPr>
          <a:xfrm>
            <a:off x="7620000" y="3190875"/>
            <a:ext cx="7239000" cy="3381375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djustable-branch-heading"/>
          <p:cNvSpPr txBox="1"/>
          <p:nvPr/>
        </p:nvSpPr>
        <p:spPr>
          <a:xfrm>
            <a:off x="7715250" y="3276600"/>
            <a:ext cx="70485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4-3：继承第三问，日内预报更新并允许调整</a:t>
            </a:r>
          </a:p>
        </p:txBody>
      </p:sp>
      <p:sp>
        <p:nvSpPr>
          <p:cNvPr id="26" name="adjustable-initial"/>
          <p:cNvSpPr/>
          <p:nvPr/>
        </p:nvSpPr>
        <p:spPr>
          <a:xfrm>
            <a:off x="7810500" y="38576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零点条件净负荷与预测价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线性规划制定初始购电计划</a:t>
            </a:r>
          </a:p>
        </p:txBody>
      </p:sp>
      <p:sp>
        <p:nvSpPr>
          <p:cNvPr id="27" name="adjustable-update"/>
          <p:cNvSpPr/>
          <p:nvPr/>
        </p:nvSpPr>
        <p:spPr>
          <a:xfrm>
            <a:off x="11430000" y="38576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六、十二、十八时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更新光伏预报与价格预测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重新构建联合误差模型</a:t>
            </a:r>
          </a:p>
        </p:txBody>
      </p:sp>
      <p:sp>
        <p:nvSpPr>
          <p:cNvPr id="28" name="adjustable-execution"/>
          <p:cNvSpPr/>
          <p:nvPr/>
        </p:nvSpPr>
        <p:spPr>
          <a:xfrm>
            <a:off x="7810500" y="523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选定剩余时段计划及库存价值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每十分钟按当前实测反馈执行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更新库存并逐笔记录调整</a:t>
            </a:r>
          </a:p>
        </p:txBody>
      </p:sp>
      <p:sp>
        <p:nvSpPr>
          <p:cNvPr id="29" name="adjustable-candidates"/>
          <p:cNvSpPr/>
          <p:nvPr/>
        </p:nvSpPr>
        <p:spPr>
          <a:xfrm>
            <a:off x="11430000" y="5238750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生成调整候选并保留原计划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联合动态规划评价各候选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比较调整费与预期紧急购电费</a:t>
            </a:r>
          </a:p>
        </p:txBody>
      </p:sp>
      <p:cxnSp>
        <p:nvCxnSpPr>
          <p:cNvPr id="30" name="initial-update-0"/>
          <p:cNvCxnSpPr/>
          <p:nvPr/>
        </p:nvCxnSpPr>
        <p:spPr>
          <a:xfrm>
            <a:off x="10858500" y="42195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1" name="initial-execution-0"/>
          <p:cNvCxnSpPr/>
          <p:nvPr/>
        </p:nvCxnSpPr>
        <p:spPr>
          <a:xfrm>
            <a:off x="9334500" y="4581525"/>
            <a:ext cx="0" cy="657225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2" name="update-candidates-0"/>
          <p:cNvCxnSpPr/>
          <p:nvPr/>
        </p:nvCxnSpPr>
        <p:spPr>
          <a:xfrm>
            <a:off x="12954000" y="4581525"/>
            <a:ext cx="0" cy="657225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3" name="candidates-execution-0"/>
          <p:cNvCxnSpPr/>
          <p:nvPr/>
        </p:nvCxnSpPr>
        <p:spPr>
          <a:xfrm flipH="1">
            <a:off x="10858500" y="564832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4" name="joint-to-fixed-0"/>
          <p:cNvCxnSpPr/>
          <p:nvPr/>
        </p:nvCxnSpPr>
        <p:spPr>
          <a:xfrm>
            <a:off x="12954000" y="2257425"/>
            <a:ext cx="0" cy="69532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5" name="joint-to-fixed-1"/>
          <p:cNvCxnSpPr/>
          <p:nvPr/>
        </p:nvCxnSpPr>
        <p:spPr>
          <a:xfrm flipH="1">
            <a:off x="476250" y="2952750"/>
            <a:ext cx="1247775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6" name="joint-to-fixed-2"/>
          <p:cNvCxnSpPr/>
          <p:nvPr/>
        </p:nvCxnSpPr>
        <p:spPr>
          <a:xfrm>
            <a:off x="476250" y="2952750"/>
            <a:ext cx="0" cy="126682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7" name="joint-to-fixed-3"/>
          <p:cNvCxnSpPr/>
          <p:nvPr/>
        </p:nvCxnSpPr>
        <p:spPr>
          <a:xfrm>
            <a:off x="476250" y="4219575"/>
            <a:ext cx="9525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8" name="joint-to-adjustable-0"/>
          <p:cNvCxnSpPr/>
          <p:nvPr/>
        </p:nvCxnSpPr>
        <p:spPr>
          <a:xfrm>
            <a:off x="7715250" y="2952750"/>
            <a:ext cx="0" cy="126682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9" name="joint-to-adjustable-1"/>
          <p:cNvCxnSpPr/>
          <p:nvPr/>
        </p:nvCxnSpPr>
        <p:spPr>
          <a:xfrm>
            <a:off x="7715250" y="4219575"/>
            <a:ext cx="9525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40" name="branch-repeat"/>
          <p:cNvSpPr txBox="1"/>
          <p:nvPr/>
        </p:nvSpPr>
        <p:spPr>
          <a:xfrm>
            <a:off x="7810500" y="6143625"/>
            <a:ext cx="6858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按发布时刻重复更新；已执行时段始终冻结</a:t>
            </a:r>
          </a:p>
        </p:txBody>
      </p:sp>
      <p:sp>
        <p:nvSpPr>
          <p:cNvPr id="41" name="settlement"/>
          <p:cNvSpPr/>
          <p:nvPr/>
        </p:nvSpPr>
        <p:spPr>
          <a:xfrm>
            <a:off x="381000" y="7143750"/>
            <a:ext cx="14478000" cy="1952625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ettlement-heading"/>
          <p:cNvSpPr txBox="1"/>
          <p:nvPr/>
        </p:nvSpPr>
        <p:spPr>
          <a:xfrm>
            <a:off x="476250" y="7229475"/>
            <a:ext cx="142875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共同结算与核验：交付后按附件四真实电价逐笔结算，库存跨日连续</a:t>
            </a:r>
          </a:p>
        </p:txBody>
      </p:sp>
      <p:sp>
        <p:nvSpPr>
          <p:cNvPr id="43" name="actual-settlement"/>
          <p:cNvSpPr/>
          <p:nvPr/>
        </p:nvSpPr>
        <p:spPr>
          <a:xfrm>
            <a:off x="571500" y="7858125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按交付时段真实电价结算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固定计划核算普通费与紧急费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可调整计划另逐笔计入调整净费</a:t>
            </a:r>
          </a:p>
        </p:txBody>
      </p:sp>
      <p:sp>
        <p:nvSpPr>
          <p:cNvPr id="44" name="independent-audit"/>
          <p:cNvSpPr/>
          <p:nvPr/>
        </p:nvSpPr>
        <p:spPr>
          <a:xfrm>
            <a:off x="4191000" y="7858125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独立核验账单与物理约束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能量守恒、库存边界与跨日连续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逐笔计划重放及结果表回读</a:t>
            </a:r>
          </a:p>
        </p:txBody>
      </p:sp>
      <p:sp>
        <p:nvSpPr>
          <p:cNvPr id="45" name="comparisons"/>
          <p:cNvSpPr/>
          <p:nvPr/>
        </p:nvSpPr>
        <p:spPr>
          <a:xfrm>
            <a:off x="7810500" y="7858125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对照与敏感性分析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八种更新组合、价格点预测对照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指定日期与离散精度检查</a:t>
            </a:r>
          </a:p>
        </p:txBody>
      </p:sp>
      <p:sp>
        <p:nvSpPr>
          <p:cNvPr id="46" name="deliverables"/>
          <p:cNvSpPr/>
          <p:nvPr/>
        </p:nvSpPr>
        <p:spPr>
          <a:xfrm>
            <a:off x="11430000" y="7858125"/>
            <a:ext cx="3048000" cy="828675"/>
          </a:xfrm>
          <a:prstGeom prst="rect">
            <a:avLst/>
          </a:prstGeom>
          <a:solidFill>
            <a:srgbClr val="BBD6EE"/>
          </a:solidFill>
          <a:ln w="18098">
            <a:solidFill>
              <a:srgbClr val="BBD6EE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固定计划与可调整计划结果表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逐时轨迹、逐笔账本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费用分解与方案对照</a:t>
            </a:r>
          </a:p>
        </p:txBody>
      </p:sp>
      <p:cxnSp>
        <p:nvCxnSpPr>
          <p:cNvPr id="47" name="settlement-link-0"/>
          <p:cNvCxnSpPr/>
          <p:nvPr/>
        </p:nvCxnSpPr>
        <p:spPr>
          <a:xfrm>
            <a:off x="3619500" y="8267700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48" name="settlement-link-0"/>
          <p:cNvCxnSpPr/>
          <p:nvPr/>
        </p:nvCxnSpPr>
        <p:spPr>
          <a:xfrm>
            <a:off x="7239000" y="8267700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49" name="settlement-link-0"/>
          <p:cNvCxnSpPr/>
          <p:nvPr/>
        </p:nvCxnSpPr>
        <p:spPr>
          <a:xfrm>
            <a:off x="10858500" y="8267700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50" name="fixed-to-settlement-0"/>
          <p:cNvCxnSpPr/>
          <p:nvPr/>
        </p:nvCxnSpPr>
        <p:spPr>
          <a:xfrm>
            <a:off x="5715000" y="6067425"/>
            <a:ext cx="0" cy="74295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51" name="fixed-to-settlement-1"/>
          <p:cNvCxnSpPr/>
          <p:nvPr/>
        </p:nvCxnSpPr>
        <p:spPr>
          <a:xfrm flipH="1">
            <a:off x="2095500" y="6810375"/>
            <a:ext cx="361950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52" name="fixed-to-settlement-2"/>
          <p:cNvCxnSpPr/>
          <p:nvPr/>
        </p:nvCxnSpPr>
        <p:spPr>
          <a:xfrm>
            <a:off x="2095500" y="6810375"/>
            <a:ext cx="0" cy="104775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53" name="adjustable-to-settlement-0"/>
          <p:cNvCxnSpPr/>
          <p:nvPr/>
        </p:nvCxnSpPr>
        <p:spPr>
          <a:xfrm>
            <a:off x="9334500" y="6067425"/>
            <a:ext cx="0" cy="88582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54" name="adjustable-to-settlement-1"/>
          <p:cNvCxnSpPr/>
          <p:nvPr/>
        </p:nvCxnSpPr>
        <p:spPr>
          <a:xfrm flipH="1">
            <a:off x="2095500" y="6953250"/>
            <a:ext cx="72390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55" name="footer"/>
          <p:cNvSpPr txBox="1"/>
          <p:nvPr/>
        </p:nvSpPr>
        <p:spPr>
          <a:xfrm>
            <a:off x="381000" y="9496425"/>
            <a:ext cx="14478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未来真实电价不进入计划或候选评价；当前真实价在执行时揭示；两条策略分别维护自身库存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