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763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erall"/>
          <p:cNvSpPr/>
          <p:nvPr/>
        </p:nvSpPr>
        <p:spPr>
          <a:xfrm>
            <a:off x="190500" y="190500"/>
            <a:ext cx="14859000" cy="8143875"/>
          </a:xfrm>
          <a:prstGeom prst="rect">
            <a:avLst/>
          </a:prstGeom>
          <a:noFill/>
          <a:ln w="28575">
            <a:solidFill>
              <a:srgbClr val="8198B3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381000" y="266700"/>
            <a:ext cx="144780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第三问  多时刻预报驱动的购电调整与滚动反馈</a:t>
            </a:r>
          </a:p>
        </p:txBody>
      </p:sp>
      <p:sp>
        <p:nvSpPr>
          <p:cNvPr id="4" name="dayahead"/>
          <p:cNvSpPr/>
          <p:nvPr/>
        </p:nvSpPr>
        <p:spPr>
          <a:xfrm>
            <a:off x="381000" y="762000"/>
            <a:ext cx="14478000" cy="1762125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ayahead-heading"/>
          <p:cNvSpPr txBox="1"/>
          <p:nvPr/>
        </p:nvSpPr>
        <p:spPr>
          <a:xfrm>
            <a:off x="476250" y="847725"/>
            <a:ext cx="142875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零点：生成初始计划与执行所需的库存价值</a:t>
            </a:r>
          </a:p>
        </p:txBody>
      </p:sp>
      <p:sp>
        <p:nvSpPr>
          <p:cNvPr id="6" name="initial-information"/>
          <p:cNvSpPr/>
          <p:nvPr/>
        </p:nvSpPr>
        <p:spPr>
          <a:xfrm>
            <a:off x="571500" y="13811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历史负荷与零点光伏预报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只使用当时可获得的信息</a:t>
            </a:r>
          </a:p>
        </p:txBody>
      </p:sp>
      <p:sp>
        <p:nvSpPr>
          <p:cNvPr id="7" name="conditional-forecast"/>
          <p:cNvSpPr/>
          <p:nvPr/>
        </p:nvSpPr>
        <p:spPr>
          <a:xfrm>
            <a:off x="4191000" y="13811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条件净负荷分位预测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光伏插值与历史净误差校准</a:t>
            </a:r>
          </a:p>
        </p:txBody>
      </p:sp>
      <p:sp>
        <p:nvSpPr>
          <p:cNvPr id="8" name="initial-lp"/>
          <p:cNvSpPr/>
          <p:nvPr/>
        </p:nvSpPr>
        <p:spPr>
          <a:xfrm>
            <a:off x="7810500" y="13811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日前线性规划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八十分位需求与分时电价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输入本策略日初库存</a:t>
            </a:r>
          </a:p>
        </p:txBody>
      </p:sp>
      <p:sp>
        <p:nvSpPr>
          <p:cNvPr id="9" name="initial-policy"/>
          <p:cNvSpPr/>
          <p:nvPr/>
        </p:nvSpPr>
        <p:spPr>
          <a:xfrm>
            <a:off x="11430000" y="13811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初始有效购电计划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三状态动态规划计算库存价值</a:t>
            </a:r>
          </a:p>
        </p:txBody>
      </p:sp>
      <p:cxnSp>
        <p:nvCxnSpPr>
          <p:cNvPr id="10" name="dayahead-link-0"/>
          <p:cNvCxnSpPr/>
          <p:nvPr/>
        </p:nvCxnSpPr>
        <p:spPr>
          <a:xfrm>
            <a:off x="3619500" y="174307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11" name="dayahead-link-0"/>
          <p:cNvCxnSpPr/>
          <p:nvPr/>
        </p:nvCxnSpPr>
        <p:spPr>
          <a:xfrm>
            <a:off x="7239000" y="174307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12" name="dayahead-link-0"/>
          <p:cNvCxnSpPr/>
          <p:nvPr/>
        </p:nvCxnSpPr>
        <p:spPr>
          <a:xfrm>
            <a:off x="10858500" y="174307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13" name="revision"/>
          <p:cNvSpPr/>
          <p:nvPr/>
        </p:nvSpPr>
        <p:spPr>
          <a:xfrm>
            <a:off x="381000" y="2857500"/>
            <a:ext cx="10668000" cy="2381250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vision-heading"/>
          <p:cNvSpPr txBox="1"/>
          <p:nvPr/>
        </p:nvSpPr>
        <p:spPr>
          <a:xfrm>
            <a:off x="476250" y="2943225"/>
            <a:ext cx="104775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日内发布时刻：只调整尚未执行的购电计划</a:t>
            </a:r>
          </a:p>
        </p:txBody>
      </p:sp>
      <p:sp>
        <p:nvSpPr>
          <p:cNvPr id="15" name="published-update"/>
          <p:cNvSpPr/>
          <p:nvPr/>
        </p:nvSpPr>
        <p:spPr>
          <a:xfrm>
            <a:off x="571500" y="3571875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六、十二、十八时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读取最新预报与当前库存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更新条件预测和三状态误差模型</a:t>
            </a:r>
          </a:p>
        </p:txBody>
      </p:sp>
      <p:sp>
        <p:nvSpPr>
          <p:cNvPr id="16" name="candidate-lp"/>
          <p:cNvSpPr/>
          <p:nvPr/>
        </p:nvSpPr>
        <p:spPr>
          <a:xfrm>
            <a:off x="4191000" y="3571875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多分位线性规划生成调整候选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冻结已执行时段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保留原计划作为不调整候选</a:t>
            </a:r>
          </a:p>
        </p:txBody>
      </p:sp>
      <p:sp>
        <p:nvSpPr>
          <p:cNvPr id="17" name="candidate-dp"/>
          <p:cNvSpPr/>
          <p:nvPr/>
        </p:nvSpPr>
        <p:spPr>
          <a:xfrm>
            <a:off x="7810500" y="3571875"/>
            <a:ext cx="3048000" cy="82867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动态规划比较候选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综合调整费与预期紧急购电费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选定有效计划及对应库存价值</a:t>
            </a:r>
          </a:p>
        </p:txBody>
      </p:sp>
      <p:cxnSp>
        <p:nvCxnSpPr>
          <p:cNvPr id="18" name="update-to-candidates-0"/>
          <p:cNvCxnSpPr/>
          <p:nvPr/>
        </p:nvCxnSpPr>
        <p:spPr>
          <a:xfrm>
            <a:off x="3619500" y="3981450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19" name="candidates-to-evaluation-0"/>
          <p:cNvCxnSpPr/>
          <p:nvPr/>
        </p:nvCxnSpPr>
        <p:spPr>
          <a:xfrm>
            <a:off x="7239000" y="3981450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20" name="keep-note"/>
          <p:cNvSpPr txBox="1"/>
          <p:nvPr/>
        </p:nvSpPr>
        <p:spPr>
          <a:xfrm>
            <a:off x="666750" y="4619625"/>
            <a:ext cx="10287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保持原计划时，仍使用更新后的预测与库存价值</a:t>
            </a:r>
          </a:p>
        </p:txBody>
      </p:sp>
      <p:sp>
        <p:nvSpPr>
          <p:cNvPr id="21" name="execution"/>
          <p:cNvSpPr/>
          <p:nvPr/>
        </p:nvSpPr>
        <p:spPr>
          <a:xfrm>
            <a:off x="11239500" y="2857500"/>
            <a:ext cx="3619500" cy="3905250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xecution-heading"/>
          <p:cNvSpPr txBox="1"/>
          <p:nvPr/>
        </p:nvSpPr>
        <p:spPr>
          <a:xfrm>
            <a:off x="11334750" y="2943225"/>
            <a:ext cx="34290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每十分钟：读取实测并执行</a:t>
            </a:r>
          </a:p>
        </p:txBody>
      </p:sp>
      <p:sp>
        <p:nvSpPr>
          <p:cNvPr id="23" name="current-observation"/>
          <p:cNvSpPr/>
          <p:nvPr/>
        </p:nvSpPr>
        <p:spPr>
          <a:xfrm>
            <a:off x="11430000" y="338137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当前净负荷与实际库存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结合有效计划和库存价值选择动作</a:t>
            </a:r>
          </a:p>
        </p:txBody>
      </p:sp>
      <p:sp>
        <p:nvSpPr>
          <p:cNvPr id="24" name="surplus"/>
          <p:cNvSpPr/>
          <p:nvPr/>
        </p:nvSpPr>
        <p:spPr>
          <a:xfrm>
            <a:off x="11430000" y="4619625"/>
            <a:ext cx="1609725" cy="84772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富余时段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优先充电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余量弃用</a:t>
            </a:r>
          </a:p>
        </p:txBody>
      </p:sp>
      <p:sp>
        <p:nvSpPr>
          <p:cNvPr id="25" name="deficit"/>
          <p:cNvSpPr/>
          <p:nvPr/>
        </p:nvSpPr>
        <p:spPr>
          <a:xfrm>
            <a:off x="13239750" y="4619625"/>
            <a:ext cx="1581150" cy="847725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缺口时段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择优放电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紧急购电补足</a:t>
            </a:r>
          </a:p>
        </p:txBody>
      </p:sp>
      <p:sp>
        <p:nvSpPr>
          <p:cNvPr id="26" name="inventory"/>
          <p:cNvSpPr/>
          <p:nvPr/>
        </p:nvSpPr>
        <p:spPr>
          <a:xfrm>
            <a:off x="11430000" y="5810250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按实际充放电更新库存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逐时记录，日末库存传递至次日</a:t>
            </a:r>
          </a:p>
        </p:txBody>
      </p:sp>
      <p:cxnSp>
        <p:nvCxnSpPr>
          <p:cNvPr id="27" name="initial-to-execute-0"/>
          <p:cNvCxnSpPr/>
          <p:nvPr/>
        </p:nvCxnSpPr>
        <p:spPr>
          <a:xfrm>
            <a:off x="12954000" y="2105025"/>
            <a:ext cx="0" cy="561975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28" name="initial-to-execute-1"/>
          <p:cNvCxnSpPr/>
          <p:nvPr/>
        </p:nvCxnSpPr>
        <p:spPr>
          <a:xfrm>
            <a:off x="12954000" y="2667000"/>
            <a:ext cx="1762125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29" name="initial-to-execute-2"/>
          <p:cNvCxnSpPr/>
          <p:nvPr/>
        </p:nvCxnSpPr>
        <p:spPr>
          <a:xfrm>
            <a:off x="14716125" y="2667000"/>
            <a:ext cx="0" cy="1076325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30" name="initial-to-execute-3"/>
          <p:cNvCxnSpPr/>
          <p:nvPr/>
        </p:nvCxnSpPr>
        <p:spPr>
          <a:xfrm flipH="1">
            <a:off x="14478000" y="3743325"/>
            <a:ext cx="238125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31" name="revision-to-execute-0"/>
          <p:cNvCxnSpPr/>
          <p:nvPr/>
        </p:nvCxnSpPr>
        <p:spPr>
          <a:xfrm>
            <a:off x="10858500" y="3981450"/>
            <a:ext cx="266700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32" name="revision-to-execute-1"/>
          <p:cNvCxnSpPr/>
          <p:nvPr/>
        </p:nvCxnSpPr>
        <p:spPr>
          <a:xfrm flipV="1">
            <a:off x="11125200" y="3743325"/>
            <a:ext cx="0" cy="238125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33" name="revision-to-execute-2"/>
          <p:cNvCxnSpPr/>
          <p:nvPr/>
        </p:nvCxnSpPr>
        <p:spPr>
          <a:xfrm>
            <a:off x="11125200" y="3743325"/>
            <a:ext cx="3048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34" name="surplus-branch-0"/>
          <p:cNvCxnSpPr/>
          <p:nvPr/>
        </p:nvCxnSpPr>
        <p:spPr>
          <a:xfrm>
            <a:off x="12954000" y="4105275"/>
            <a:ext cx="0" cy="228600"/>
          </a:xfrm>
          <a:prstGeom prst="line">
            <a:avLst/>
          </a:prstGeom>
          <a:ln w="20003">
            <a:solidFill>
              <a:srgbClr val="777777"/>
            </a:solidFill>
          </a:ln>
          <a:effectLst/>
        </p:spPr>
      </p:cxnSp>
      <p:cxnSp>
        <p:nvCxnSpPr>
          <p:cNvPr id="35" name="surplus-branch-1"/>
          <p:cNvCxnSpPr/>
          <p:nvPr/>
        </p:nvCxnSpPr>
        <p:spPr>
          <a:xfrm flipH="1">
            <a:off x="12230100" y="4333875"/>
            <a:ext cx="723900" cy="0"/>
          </a:xfrm>
          <a:prstGeom prst="line">
            <a:avLst/>
          </a:prstGeom>
          <a:ln w="20003">
            <a:solidFill>
              <a:srgbClr val="777777"/>
            </a:solidFill>
          </a:ln>
          <a:effectLst/>
        </p:spPr>
      </p:cxnSp>
      <p:cxnSp>
        <p:nvCxnSpPr>
          <p:cNvPr id="36" name="surplus-branch-2"/>
          <p:cNvCxnSpPr/>
          <p:nvPr/>
        </p:nvCxnSpPr>
        <p:spPr>
          <a:xfrm>
            <a:off x="12230100" y="4333875"/>
            <a:ext cx="0" cy="285750"/>
          </a:xfrm>
          <a:prstGeom prst="line">
            <a:avLst/>
          </a:prstGeom>
          <a:ln w="20003">
            <a:solidFill>
              <a:srgbClr val="777777"/>
            </a:solidFill>
            <a:tailEnd type="triangle" w="med" len="med"/>
          </a:ln>
          <a:effectLst/>
        </p:spPr>
      </p:cxnSp>
      <p:cxnSp>
        <p:nvCxnSpPr>
          <p:cNvPr id="37" name="deficit-branch-0"/>
          <p:cNvCxnSpPr/>
          <p:nvPr/>
        </p:nvCxnSpPr>
        <p:spPr>
          <a:xfrm>
            <a:off x="12954000" y="4105275"/>
            <a:ext cx="0" cy="228600"/>
          </a:xfrm>
          <a:prstGeom prst="line">
            <a:avLst/>
          </a:prstGeom>
          <a:ln w="20003">
            <a:solidFill>
              <a:srgbClr val="777777"/>
            </a:solidFill>
          </a:ln>
          <a:effectLst/>
        </p:spPr>
      </p:cxnSp>
      <p:cxnSp>
        <p:nvCxnSpPr>
          <p:cNvPr id="38" name="deficit-branch-1"/>
          <p:cNvCxnSpPr/>
          <p:nvPr/>
        </p:nvCxnSpPr>
        <p:spPr>
          <a:xfrm>
            <a:off x="12954000" y="4333875"/>
            <a:ext cx="1076325" cy="0"/>
          </a:xfrm>
          <a:prstGeom prst="line">
            <a:avLst/>
          </a:prstGeom>
          <a:ln w="20003">
            <a:solidFill>
              <a:srgbClr val="777777"/>
            </a:solidFill>
          </a:ln>
          <a:effectLst/>
        </p:spPr>
      </p:cxnSp>
      <p:cxnSp>
        <p:nvCxnSpPr>
          <p:cNvPr id="39" name="deficit-branch-2"/>
          <p:cNvCxnSpPr/>
          <p:nvPr/>
        </p:nvCxnSpPr>
        <p:spPr>
          <a:xfrm>
            <a:off x="14030325" y="4333875"/>
            <a:ext cx="0" cy="285750"/>
          </a:xfrm>
          <a:prstGeom prst="line">
            <a:avLst/>
          </a:prstGeom>
          <a:ln w="20003">
            <a:solidFill>
              <a:srgbClr val="777777"/>
            </a:solidFill>
            <a:tailEnd type="triangle" w="med" len="med"/>
          </a:ln>
          <a:effectLst/>
        </p:spPr>
      </p:cxnSp>
      <p:cxnSp>
        <p:nvCxnSpPr>
          <p:cNvPr id="40" name="surplus-to-stock-0"/>
          <p:cNvCxnSpPr/>
          <p:nvPr/>
        </p:nvCxnSpPr>
        <p:spPr>
          <a:xfrm>
            <a:off x="12230100" y="5467350"/>
            <a:ext cx="0" cy="161925"/>
          </a:xfrm>
          <a:prstGeom prst="line">
            <a:avLst/>
          </a:prstGeom>
          <a:ln w="20003">
            <a:solidFill>
              <a:srgbClr val="777777"/>
            </a:solidFill>
          </a:ln>
          <a:effectLst/>
        </p:spPr>
      </p:cxnSp>
      <p:cxnSp>
        <p:nvCxnSpPr>
          <p:cNvPr id="41" name="surplus-to-stock-1"/>
          <p:cNvCxnSpPr/>
          <p:nvPr/>
        </p:nvCxnSpPr>
        <p:spPr>
          <a:xfrm>
            <a:off x="12230100" y="5629275"/>
            <a:ext cx="723900" cy="0"/>
          </a:xfrm>
          <a:prstGeom prst="line">
            <a:avLst/>
          </a:prstGeom>
          <a:ln w="20003">
            <a:solidFill>
              <a:srgbClr val="777777"/>
            </a:solidFill>
          </a:ln>
          <a:effectLst/>
        </p:spPr>
      </p:cxnSp>
      <p:cxnSp>
        <p:nvCxnSpPr>
          <p:cNvPr id="42" name="surplus-to-stock-2"/>
          <p:cNvCxnSpPr/>
          <p:nvPr/>
        </p:nvCxnSpPr>
        <p:spPr>
          <a:xfrm>
            <a:off x="12954000" y="5629275"/>
            <a:ext cx="0" cy="180975"/>
          </a:xfrm>
          <a:prstGeom prst="line">
            <a:avLst/>
          </a:prstGeom>
          <a:ln w="20003">
            <a:solidFill>
              <a:srgbClr val="777777"/>
            </a:solidFill>
            <a:tailEnd type="triangle" w="med" len="med"/>
          </a:ln>
          <a:effectLst/>
        </p:spPr>
      </p:cxnSp>
      <p:cxnSp>
        <p:nvCxnSpPr>
          <p:cNvPr id="43" name="deficit-to-stock-0"/>
          <p:cNvCxnSpPr/>
          <p:nvPr/>
        </p:nvCxnSpPr>
        <p:spPr>
          <a:xfrm>
            <a:off x="14030325" y="5467350"/>
            <a:ext cx="0" cy="161925"/>
          </a:xfrm>
          <a:prstGeom prst="line">
            <a:avLst/>
          </a:prstGeom>
          <a:ln w="20003">
            <a:solidFill>
              <a:srgbClr val="777777"/>
            </a:solidFill>
          </a:ln>
          <a:effectLst/>
        </p:spPr>
      </p:cxnSp>
      <p:cxnSp>
        <p:nvCxnSpPr>
          <p:cNvPr id="44" name="deficit-to-stock-1"/>
          <p:cNvCxnSpPr/>
          <p:nvPr/>
        </p:nvCxnSpPr>
        <p:spPr>
          <a:xfrm flipH="1">
            <a:off x="12954000" y="5629275"/>
            <a:ext cx="1076325" cy="0"/>
          </a:xfrm>
          <a:prstGeom prst="line">
            <a:avLst/>
          </a:prstGeom>
          <a:ln w="20003">
            <a:solidFill>
              <a:srgbClr val="777777"/>
            </a:solidFill>
            <a:tailEnd type="triangle" w="med" len="med"/>
          </a:ln>
          <a:effectLst/>
        </p:spPr>
      </p:cxnSp>
      <p:cxnSp>
        <p:nvCxnSpPr>
          <p:cNvPr id="45" name="next-issue-feedback-0"/>
          <p:cNvCxnSpPr/>
          <p:nvPr/>
        </p:nvCxnSpPr>
        <p:spPr>
          <a:xfrm flipH="1">
            <a:off x="11144250" y="6172200"/>
            <a:ext cx="285750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46" name="next-issue-feedback-1"/>
          <p:cNvCxnSpPr/>
          <p:nvPr/>
        </p:nvCxnSpPr>
        <p:spPr>
          <a:xfrm flipV="1">
            <a:off x="11144250" y="5524500"/>
            <a:ext cx="0" cy="64770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47" name="next-issue-feedback-2"/>
          <p:cNvCxnSpPr/>
          <p:nvPr/>
        </p:nvCxnSpPr>
        <p:spPr>
          <a:xfrm flipH="1">
            <a:off x="2095500" y="5524500"/>
            <a:ext cx="9048750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48" name="next-issue-feedback-3"/>
          <p:cNvCxnSpPr/>
          <p:nvPr/>
        </p:nvCxnSpPr>
        <p:spPr>
          <a:xfrm flipV="1">
            <a:off x="2095500" y="4400550"/>
            <a:ext cx="0" cy="112395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49" name="feedback-label"/>
          <p:cNvSpPr txBox="1"/>
          <p:nvPr/>
        </p:nvSpPr>
        <p:spPr>
          <a:xfrm>
            <a:off x="3143250" y="5591175"/>
            <a:ext cx="7239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到启用的预报时刻，携带实际库存进入下一次调整</a:t>
            </a:r>
          </a:p>
        </p:txBody>
      </p:sp>
      <p:sp>
        <p:nvSpPr>
          <p:cNvPr id="50" name="verification"/>
          <p:cNvSpPr/>
          <p:nvPr/>
        </p:nvSpPr>
        <p:spPr>
          <a:xfrm>
            <a:off x="381000" y="6000750"/>
            <a:ext cx="10668000" cy="1905000"/>
          </a:xfrm>
          <a:prstGeom prst="rect">
            <a:avLst/>
          </a:prstGeom>
          <a:noFill/>
          <a:ln w="23813">
            <a:solidFill>
              <a:srgbClr val="B0B0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verification-heading"/>
          <p:cNvSpPr txBox="1"/>
          <p:nvPr/>
        </p:nvSpPr>
        <p:spPr>
          <a:xfrm>
            <a:off x="476250" y="6086475"/>
            <a:ext cx="1047750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结算与验证：保留每次调整的完整账本</a:t>
            </a:r>
          </a:p>
        </p:txBody>
      </p:sp>
      <p:sp>
        <p:nvSpPr>
          <p:cNvPr id="52" name="ledger"/>
          <p:cNvSpPr/>
          <p:nvPr/>
        </p:nvSpPr>
        <p:spPr>
          <a:xfrm>
            <a:off x="571500" y="67151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分别记录初始购电与紧急购电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逐笔记录增购、撤销退款及违约费</a:t>
            </a:r>
          </a:p>
        </p:txBody>
      </p:sp>
      <p:sp>
        <p:nvSpPr>
          <p:cNvPr id="53" name="checks"/>
          <p:cNvSpPr/>
          <p:nvPr/>
        </p:nvSpPr>
        <p:spPr>
          <a:xfrm>
            <a:off x="4191000" y="6715125"/>
            <a:ext cx="3048000" cy="723900"/>
          </a:xfrm>
          <a:prstGeom prst="rect">
            <a:avLst/>
          </a:prstGeom>
          <a:solidFill>
            <a:srgbClr val="FFFFFF"/>
          </a:solidFill>
          <a:ln w="18098">
            <a:solidFill>
              <a:srgbClr val="111111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独立复算费用与物理约束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核对计划重放和库存连续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结果表保存后回读</a:t>
            </a:r>
          </a:p>
        </p:txBody>
      </p:sp>
      <p:sp>
        <p:nvSpPr>
          <p:cNvPr id="54" name="results"/>
          <p:cNvSpPr/>
          <p:nvPr/>
        </p:nvSpPr>
        <p:spPr>
          <a:xfrm>
            <a:off x="7810500" y="6715125"/>
            <a:ext cx="3048000" cy="723900"/>
          </a:xfrm>
          <a:prstGeom prst="rect">
            <a:avLst/>
          </a:prstGeom>
          <a:solidFill>
            <a:srgbClr val="BBD6EE"/>
          </a:solidFill>
          <a:ln w="18098">
            <a:solidFill>
              <a:srgbClr val="BBD6EE"/>
            </a:solidFill>
          </a:ln>
          <a:effectLst/>
        </p:spPr>
        <p:txBody>
          <a:bodyPr rtlCol="0" anchor="ctr" wrap="square" lIns="85725" rIns="85725" tIns="57150" bIns="571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第三问结果表与逐时轨迹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八种更新组合及固定计划对照</a:t>
            </a:r>
          </a:p>
        </p:txBody>
      </p:sp>
      <p:cxnSp>
        <p:nvCxnSpPr>
          <p:cNvPr id="55" name="ledger-to-checks-0"/>
          <p:cNvCxnSpPr/>
          <p:nvPr/>
        </p:nvCxnSpPr>
        <p:spPr>
          <a:xfrm>
            <a:off x="3619500" y="707707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56" name="checks-to-output-0"/>
          <p:cNvCxnSpPr/>
          <p:nvPr/>
        </p:nvCxnSpPr>
        <p:spPr>
          <a:xfrm>
            <a:off x="7239000" y="7077075"/>
            <a:ext cx="571500" cy="0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cxnSp>
        <p:nvCxnSpPr>
          <p:cNvPr id="57" name="records-to-ledger-0"/>
          <p:cNvCxnSpPr/>
          <p:nvPr/>
        </p:nvCxnSpPr>
        <p:spPr>
          <a:xfrm>
            <a:off x="12954000" y="6534150"/>
            <a:ext cx="0" cy="156210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58" name="records-to-ledger-1"/>
          <p:cNvCxnSpPr/>
          <p:nvPr/>
        </p:nvCxnSpPr>
        <p:spPr>
          <a:xfrm flipH="1">
            <a:off x="2095500" y="8096250"/>
            <a:ext cx="10858500" cy="0"/>
          </a:xfrm>
          <a:prstGeom prst="line">
            <a:avLst/>
          </a:prstGeom>
          <a:ln w="20003">
            <a:solidFill>
              <a:srgbClr val="8198B3"/>
            </a:solidFill>
          </a:ln>
          <a:effectLst/>
        </p:spPr>
      </p:cxnSp>
      <p:cxnSp>
        <p:nvCxnSpPr>
          <p:cNvPr id="59" name="records-to-ledger-2"/>
          <p:cNvCxnSpPr/>
          <p:nvPr/>
        </p:nvCxnSpPr>
        <p:spPr>
          <a:xfrm flipV="1">
            <a:off x="2095500" y="7439025"/>
            <a:ext cx="0" cy="657225"/>
          </a:xfrm>
          <a:prstGeom prst="line">
            <a:avLst/>
          </a:prstGeom>
          <a:ln w="20003">
            <a:solidFill>
              <a:srgbClr val="8198B3"/>
            </a:solidFill>
            <a:tailEnd type="triangle" w="med" len="med"/>
          </a:ln>
          <a:effectLst/>
        </p:spPr>
      </p:cxnSp>
      <p:sp>
        <p:nvSpPr>
          <p:cNvPr id="60" name="ledger-label"/>
          <p:cNvSpPr txBox="1"/>
          <p:nvPr/>
        </p:nvSpPr>
        <p:spPr>
          <a:xfrm>
            <a:off x="5334000" y="7515225"/>
            <a:ext cx="5048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逐时轨迹与逐笔交易记录</a:t>
            </a:r>
          </a:p>
        </p:txBody>
      </p:sp>
      <p:sp>
        <p:nvSpPr>
          <p:cNvPr id="61" name="footer"/>
          <p:cNvSpPr txBox="1"/>
          <p:nvPr/>
        </p:nvSpPr>
        <p:spPr>
          <a:xfrm>
            <a:off x="381000" y="8391525"/>
            <a:ext cx="14478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分时电价已知；更新预报、计划调整与十分钟执行按时间先后衔接；跨日库存连续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