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5d9a6bbad44d4" /><Relationship Type="http://schemas.openxmlformats.org/officeDocument/2006/relationships/extended-properties" Target="/docProps/app.xml" Id="R0a7021f2b5754e27" /><Relationship Type="http://schemas.openxmlformats.org/officeDocument/2006/relationships/officeDocument" Target="/ppt/presentation.xml" Id="Rccc45d88cfba4a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9562cafdd471c"/>
  </p:sldMasterIdLst>
  <p:notesMasterIdLst>
    <p:notesMasterId xmlns:r="http://schemas.openxmlformats.org/officeDocument/2006/relationships" r:id="Rff733c2f44124432"/>
  </p:notesMasterIdLst>
  <p:sldIdLst>
    <p:sldId xmlns:r="http://schemas.openxmlformats.org/officeDocument/2006/relationships" id="256" r:id="Rc5101062bb22412f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689b46b38a4710" /><Relationship Type="http://schemas.openxmlformats.org/officeDocument/2006/relationships/slideMaster" Target="/ppt/slideMasters/slideMaster1.xml" Id="R7559562cafdd471c" /><Relationship Type="http://schemas.openxmlformats.org/officeDocument/2006/relationships/notesMaster" Target="/ppt/notesMasters/notesMaster1.xml" Id="Rff733c2f44124432" /><Relationship Type="http://schemas.openxmlformats.org/officeDocument/2006/relationships/presProps" Target="/ppt/presProps.xml" Id="Ra72e3ceac5574260" /><Relationship Type="http://schemas.openxmlformats.org/officeDocument/2006/relationships/tableStyles" Target="/ppt/tableStyles.xml" Id="R784428274fdb4c01" /><Relationship Type="http://schemas.openxmlformats.org/officeDocument/2006/relationships/slide" Target="/ppt/slides/slide1.xml" Id="Rc5101062bb2241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23686d198b4f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fc39861314ab4" /><Relationship Type="http://schemas.openxmlformats.org/officeDocument/2006/relationships/notesMaster" Target="/ppt/notesMasters/notesMaster1.xml" Id="R82675ded1f0a4c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8871cea9e4c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2073b7f7744f18" /><Relationship Type="http://schemas.openxmlformats.org/officeDocument/2006/relationships/slideLayout" Target="/ppt/slideLayouts/slideLayout1.xml" Id="Rde904f6fd31548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904f6fd31548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06dabd2274c7c" /><Relationship Type="http://schemas.openxmlformats.org/officeDocument/2006/relationships/notesSlide" Target="/ppt/notesSlides/notesSlide1.xml" Id="Rc9bc234002fa42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outer-frame">
            <a:extLst xmlns:a="http://schemas.openxmlformats.org/drawingml/2006/main">
              <a:ext uri="{FF2B5EF4-FFF2-40B4-BE49-F238E27FC236}">
                <a16:creationId xmlns:a16="http://schemas.microsoft.com/office/drawing/2014/main" id="{B913AF49-7BCB-4A37-AB94-41F2EFAB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BE36DB-8717-4F27-8ACC-60D80710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第一问  确定性日循环储能优化</a:t>
            </a:r>
          </a:p>
        </p:txBody>
      </p:sp>
      <p:sp>
        <p:nvSpPr>
          <p:cNvPr id="3" name="input-heading">
            <a:extLst xmlns:a="http://schemas.openxmlformats.org/drawingml/2006/main">
              <a:ext uri="{FF2B5EF4-FFF2-40B4-BE49-F238E27FC236}">
                <a16:creationId xmlns:a16="http://schemas.microsoft.com/office/drawing/2014/main" id="{156C0635-58E3-4A7E-A768-2949027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已知日内数据</a:t>
            </a:r>
          </a:p>
        </p:txBody>
      </p:sp>
      <p:sp>
        <p:nvSpPr>
          <p:cNvPr id="4" name="input">
            <a:extLst xmlns:a="http://schemas.openxmlformats.org/drawingml/2006/main">
              <a:ext uri="{FF2B5EF4-FFF2-40B4-BE49-F238E27FC236}">
                <a16:creationId xmlns:a16="http://schemas.microsoft.com/office/drawing/2014/main" id="{1FE2E106-EAE6-4D6D-8214-1828539B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095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电价、负荷与光伏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十分钟离散</a:t>
            </a:r>
          </a:p>
        </p:txBody>
      </p:sp>
      <p:sp>
        <p:nvSpPr>
          <p:cNvPr id="5" name="constraints">
            <a:extLst xmlns:a="http://schemas.openxmlformats.org/drawingml/2006/main">
              <a:ext uri="{FF2B5EF4-FFF2-40B4-BE49-F238E27FC236}">
                <a16:creationId xmlns:a16="http://schemas.microsoft.com/office/drawing/2014/main" id="{AAB610EA-1ADF-44E3-8008-E4EF40D2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66875"/>
            <a:ext cx="3048000" cy="387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" name="constraints-heading">
            <a:extLst xmlns:a="http://schemas.openxmlformats.org/drawingml/2006/main">
              <a:ext uri="{FF2B5EF4-FFF2-40B4-BE49-F238E27FC236}">
                <a16:creationId xmlns:a16="http://schemas.microsoft.com/office/drawing/2014/main" id="{D5C3CD35-4CF2-4FDA-B175-B070BC96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8573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并列物理约束</a:t>
            </a:r>
          </a:p>
        </p:txBody>
      </p:sp>
      <p:sp>
        <p:nvSpPr>
          <p:cNvPr id="7" name="balance">
            <a:extLst xmlns:a="http://schemas.openxmlformats.org/drawingml/2006/main">
              <a:ext uri="{FF2B5EF4-FFF2-40B4-BE49-F238E27FC236}">
                <a16:creationId xmlns:a16="http://schemas.microsoft.com/office/drawing/2014/main" id="{279AE5F8-5CBB-4B1D-AD7C-EF8D379F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能量平衡</a:t>
            </a:r>
          </a:p>
        </p:txBody>
      </p:sp>
      <p:sp>
        <p:nvSpPr>
          <p:cNvPr id="8" name="soc">
            <a:extLst xmlns:a="http://schemas.openxmlformats.org/drawingml/2006/main">
              <a:ext uri="{FF2B5EF4-FFF2-40B4-BE49-F238E27FC236}">
                <a16:creationId xmlns:a16="http://schemas.microsoft.com/office/drawing/2014/main" id="{374C555D-1915-40EC-B6C4-DFF619E9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2571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储能递推</a:t>
            </a:r>
          </a:p>
        </p:txBody>
      </p:sp>
      <p:sp>
        <p:nvSpPr>
          <p:cNvPr id="9" name="bounds">
            <a:extLst xmlns:a="http://schemas.openxmlformats.org/drawingml/2006/main">
              <a:ext uri="{FF2B5EF4-FFF2-40B4-BE49-F238E27FC236}">
                <a16:creationId xmlns:a16="http://schemas.microsoft.com/office/drawing/2014/main" id="{7B47F590-7E19-4BE0-84CF-B429CC65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容量与功率边界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充放电互斥</a:t>
            </a:r>
          </a:p>
        </p:txBody>
      </p:sp>
      <p:sp>
        <p:nvSpPr>
          <p:cNvPr id="10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29B91F22-5DB6-46B1-B394-235D9868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573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route-end-1">
            <a:extLst xmlns:a="http://schemas.openxmlformats.org/drawingml/2006/main">
              <a:ext uri="{FF2B5EF4-FFF2-40B4-BE49-F238E27FC236}">
                <a16:creationId xmlns:a16="http://schemas.microsoft.com/office/drawing/2014/main" id="{912971D9-9580-417A-BA30-C03F685E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148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77478" y="342900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13" name="cycle">
            <a:extLst xmlns:a="http://schemas.openxmlformats.org/drawingml/2006/main">
              <a:ext uri="{FF2B5EF4-FFF2-40B4-BE49-F238E27FC236}">
                <a16:creationId xmlns:a16="http://schemas.microsoft.com/office/drawing/2014/main" id="{C23660E3-03D3-40E9-B763-5885C559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95450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日初日末库存一致</a:t>
            </a:r>
          </a:p>
        </p:txBody>
      </p:sp>
      <p:sp>
        <p:nvSpPr>
          <p:cNvPr id="14" name="milp">
            <a:extLst xmlns:a="http://schemas.openxmlformats.org/drawingml/2006/main">
              <a:ext uri="{FF2B5EF4-FFF2-40B4-BE49-F238E27FC236}">
                <a16:creationId xmlns:a16="http://schemas.microsoft.com/office/drawing/2014/main" id="{427EE844-315E-4EB7-8B52-1AAEE885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2952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日循环 MILP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购电费用最小</a:t>
            </a:r>
          </a:p>
        </p:txBody>
      </p:sp>
      <p:sp>
        <p:nvSpPr>
          <p:cNvPr id="15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3B784A8C-EF85-4E69-89CA-58E870CE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2370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route-end-2">
            <a:extLst xmlns:a="http://schemas.openxmlformats.org/drawingml/2006/main">
              <a:ext uri="{FF2B5EF4-FFF2-40B4-BE49-F238E27FC236}">
                <a16:creationId xmlns:a16="http://schemas.microsoft.com/office/drawing/2014/main" id="{6C3BC670-1E17-455A-8BD7-C358BA37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23" y="3142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334376" y="2372678"/>
            <a:ext cx="0" cy="7696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8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142CFA67-2581-4761-BAB2-C9AED00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route-end-3">
            <a:extLst xmlns:a="http://schemas.openxmlformats.org/drawingml/2006/main">
              <a:ext uri="{FF2B5EF4-FFF2-40B4-BE49-F238E27FC236}">
                <a16:creationId xmlns:a16="http://schemas.microsoft.com/office/drawing/2014/main" id="{2C3EB6C0-DC23-4D6F-9C41-B2FF24CE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915978" y="271462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1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DAEFEAC1-20DE-43E2-89D4-0540BF1E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route-end-4">
            <a:extLst xmlns:a="http://schemas.openxmlformats.org/drawingml/2006/main">
              <a:ext uri="{FF2B5EF4-FFF2-40B4-BE49-F238E27FC236}">
                <a16:creationId xmlns:a16="http://schemas.microsoft.com/office/drawing/2014/main" id="{31005230-6DD9-4508-8540-975DE9BA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486526" y="2715578"/>
            <a:ext cx="0" cy="988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4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49A56DDA-EDE0-41BE-A379-1162F23D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3723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route-end-5">
            <a:extLst xmlns:a="http://schemas.openxmlformats.org/drawingml/2006/main">
              <a:ext uri="{FF2B5EF4-FFF2-40B4-BE49-F238E27FC236}">
                <a16:creationId xmlns:a16="http://schemas.microsoft.com/office/drawing/2014/main" id="{8EE29CE4-F82A-4F37-84FD-ABE19BA3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23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915978" y="372427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7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107312FC-F5A1-423A-827A-4B9C0F54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0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route-end-6">
            <a:extLst xmlns:a="http://schemas.openxmlformats.org/drawingml/2006/main">
              <a:ext uri="{FF2B5EF4-FFF2-40B4-BE49-F238E27FC236}">
                <a16:creationId xmlns:a16="http://schemas.microsoft.com/office/drawing/2014/main" id="{1859D286-34F0-423E-9CCE-9881792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915978" y="4829176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0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1BB34040-A0B4-4DDB-93C7-CCBED228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route-end-7">
            <a:extLst xmlns:a="http://schemas.openxmlformats.org/drawingml/2006/main">
              <a:ext uri="{FF2B5EF4-FFF2-40B4-BE49-F238E27FC236}">
                <a16:creationId xmlns:a16="http://schemas.microsoft.com/office/drawing/2014/main" id="{D57EBDE4-B344-4B4C-8228-F47AD433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30" idx="0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V="1">
            <a:off x="6486526" y="3706178"/>
            <a:ext cx="0" cy="1122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3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C9D8B6A7-79FC-4303-B876-671F6F67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5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route-end-8">
            <a:extLst xmlns:a="http://schemas.openxmlformats.org/drawingml/2006/main">
              <a:ext uri="{FF2B5EF4-FFF2-40B4-BE49-F238E27FC236}">
                <a16:creationId xmlns:a16="http://schemas.microsoft.com/office/drawing/2014/main" id="{BAFCEC92-8119-4C5B-B2A7-CBF03CDD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52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487478" y="3705226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6" name="solve">
            <a:extLst xmlns:a="http://schemas.openxmlformats.org/drawingml/2006/main">
              <a:ext uri="{FF2B5EF4-FFF2-40B4-BE49-F238E27FC236}">
                <a16:creationId xmlns:a16="http://schemas.microsoft.com/office/drawing/2014/main" id="{7E5E3C11-A81F-4DE6-B443-CC92A1EF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76600"/>
            <a:ext cx="1762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HiGHS 求解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</a:t>
            </a:r>
          </a:p>
        </p:txBody>
      </p:sp>
      <p:sp>
        <p:nvSpPr>
          <p:cNvPr id="37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DE2CD4E2-8FF7-4837-A956-C645B39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32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route-end-9">
            <a:extLst xmlns:a="http://schemas.openxmlformats.org/drawingml/2006/main">
              <a:ext uri="{FF2B5EF4-FFF2-40B4-BE49-F238E27FC236}">
                <a16:creationId xmlns:a16="http://schemas.microsoft.com/office/drawing/2014/main" id="{D9386FC6-3EC8-43BF-B41B-05243E1C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773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9821228" y="3705226"/>
            <a:ext cx="5505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0" name="baseline">
            <a:extLst xmlns:a="http://schemas.openxmlformats.org/drawingml/2006/main">
              <a:ext uri="{FF2B5EF4-FFF2-40B4-BE49-F238E27FC236}">
                <a16:creationId xmlns:a16="http://schemas.microsoft.com/office/drawing/2014/main" id="{C470BE72-B74C-4215-A8DD-8AA06997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050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无储能基线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LP 松弛下界</a:t>
            </a:r>
          </a:p>
        </p:txBody>
      </p:sp>
      <p:sp>
        <p:nvSpPr>
          <p:cNvPr id="41" name="compare">
            <a:extLst xmlns:a="http://schemas.openxmlformats.org/drawingml/2006/main">
              <a:ext uri="{FF2B5EF4-FFF2-40B4-BE49-F238E27FC236}">
                <a16:creationId xmlns:a16="http://schemas.microsoft.com/office/drawing/2014/main" id="{DCA385CC-9517-45B1-BBC9-59BA160A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22910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节费与下界对照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调度结果</a:t>
            </a:r>
          </a:p>
        </p:txBody>
      </p:sp>
      <p:sp>
        <p:nvSpPr>
          <p:cNvPr id="42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BEAB5E99-A2BE-4FC4-9DA2-91EA0615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9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AF576615-83D9-428B-BFD4-CC451ACA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2154853" y="3705226"/>
            <a:ext cx="2647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45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2D673ABE-0EE3-4381-A248-4113144F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3704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3DF0AE73-64CC-4CBF-A93A-BEABC6DE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12420601" y="3706178"/>
            <a:ext cx="0" cy="9696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48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5FFB8B9A-6192-4B79-9AE1-98CDCA8C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96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BEF0990A-DC85-4024-8432-CE89716D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7773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2421553" y="4676776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1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2E37A7E5-965F-4675-88E8-EEAA0F23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423" y="2770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AB60BFFB-A0F5-4E09-A97C-66E9C475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7423" y="42186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3668376" y="2772728"/>
            <a:ext cx="0" cy="14458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4" name="model-note">
            <a:extLst xmlns:a="http://schemas.openxmlformats.org/drawingml/2006/main">
              <a:ext uri="{FF2B5EF4-FFF2-40B4-BE49-F238E27FC236}">
                <a16:creationId xmlns:a16="http://schemas.microsoft.com/office/drawing/2014/main" id="{94F8CA03-CDBE-4018-824B-694D4325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允许有限弃光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不允许向电网售电</a:t>
            </a:r>
          </a:p>
        </p:txBody>
      </p:sp>
      <p:sp>
        <p:nvSpPr>
          <p:cNvPr id="55" name="footer">
            <a:extLst xmlns:a="http://schemas.openxmlformats.org/drawingml/2006/main">
              <a:ext uri="{FF2B5EF4-FFF2-40B4-BE49-F238E27FC236}">
                <a16:creationId xmlns:a16="http://schemas.microsoft.com/office/drawing/2014/main" id="{F8BF71F1-D1C4-470B-8B28-F29F510F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日初日末库存共同优化，最优调度通过物理与费用复核</a:t>
            </a:r>
          </a:p>
        </p:txBody>
      </p:sp>
    </p:spTree>
    <p:extLst>
      <p:ext uri="{BB962C8B-B14F-4D97-AF65-F5344CB8AC3E}">
        <p14:creationId xmlns:p14="http://schemas.microsoft.com/office/powerpoint/2010/main" val="17939690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2026-09-13T08:10:48.3190000Z</dcterms:created>
  <dcterms:modified xsi:type="dcterms:W3CDTF">2026-09-13T08:10:48.3190000Z</dcterms:modified>
</coreProperties>
</file>