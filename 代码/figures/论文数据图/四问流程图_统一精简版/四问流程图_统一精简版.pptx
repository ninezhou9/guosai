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a7e207b29443c" /><Relationship Type="http://schemas.openxmlformats.org/officeDocument/2006/relationships/extended-properties" Target="/docProps/app.xml" Id="R7c9993177bfc4c17" /><Relationship Type="http://schemas.openxmlformats.org/officeDocument/2006/relationships/officeDocument" Target="/ppt/presentation.xml" Id="R0f50fd155f52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f26a9ed9244bd8"/>
  </p:sldMasterIdLst>
  <p:notesMasterIdLst>
    <p:notesMasterId xmlns:r="http://schemas.openxmlformats.org/officeDocument/2006/relationships" r:id="R87a48e2a7869458a"/>
  </p:notesMasterIdLst>
  <p:sldIdLst>
    <p:sldId xmlns:r="http://schemas.openxmlformats.org/officeDocument/2006/relationships" id="256" r:id="R00f493bb5dc0463b"/>
    <p:sldId xmlns:r="http://schemas.openxmlformats.org/officeDocument/2006/relationships" id="257" r:id="R36b6da774b92465e"/>
    <p:sldId xmlns:r="http://schemas.openxmlformats.org/officeDocument/2006/relationships" id="258" r:id="Rd8c1ddc7f3604b98"/>
    <p:sldId xmlns:r="http://schemas.openxmlformats.org/officeDocument/2006/relationships" id="259" r:id="Re424db3cacf94708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cc7eb8ec2e4c68" /><Relationship Type="http://schemas.openxmlformats.org/officeDocument/2006/relationships/slideMaster" Target="/ppt/slideMasters/slideMaster1.xml" Id="R9cf26a9ed9244bd8" /><Relationship Type="http://schemas.openxmlformats.org/officeDocument/2006/relationships/notesMaster" Target="/ppt/notesMasters/notesMaster1.xml" Id="R87a48e2a7869458a" /><Relationship Type="http://schemas.openxmlformats.org/officeDocument/2006/relationships/presProps" Target="/ppt/presProps.xml" Id="R5bd3e8da057443fa" /><Relationship Type="http://schemas.openxmlformats.org/officeDocument/2006/relationships/tableStyles" Target="/ppt/tableStyles.xml" Id="R25c4871e70274711" /><Relationship Type="http://schemas.openxmlformats.org/officeDocument/2006/relationships/slide" Target="/ppt/slides/slide1.xml" Id="R00f493bb5dc0463b" /><Relationship Type="http://schemas.openxmlformats.org/officeDocument/2006/relationships/slide" Target="/ppt/slides/slide2.xml" Id="R36b6da774b92465e" /><Relationship Type="http://schemas.openxmlformats.org/officeDocument/2006/relationships/slide" Target="/ppt/slides/slide3.xml" Id="Rd8c1ddc7f3604b98" /><Relationship Type="http://schemas.openxmlformats.org/officeDocument/2006/relationships/slide" Target="/ppt/slides/slide4.xml" Id="Re424db3cacf9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8879380914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02c4d0a2744a4f" /><Relationship Type="http://schemas.openxmlformats.org/officeDocument/2006/relationships/notesMaster" Target="/ppt/notesMasters/notesMaster1.xml" Id="R50af87960fbc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d6621d39c497b" /><Relationship Type="http://schemas.openxmlformats.org/officeDocument/2006/relationships/notesMaster" Target="/ppt/notesMasters/notesMaster1.xml" Id="R4b352e17272f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4e4cd4dfec47b5" /><Relationship Type="http://schemas.openxmlformats.org/officeDocument/2006/relationships/notesMaster" Target="/ppt/notesMasters/notesMaster1.xml" Id="Rc2bb9506f6de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9085bd77014f87" /><Relationship Type="http://schemas.openxmlformats.org/officeDocument/2006/relationships/notesMaster" Target="/ppt/notesMasters/notesMaster1.xml" Id="R10775e28ea5a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498ac40b2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f3f1aada7b41b8" /><Relationship Type="http://schemas.openxmlformats.org/officeDocument/2006/relationships/slideLayout" Target="/ppt/slideLayouts/slideLayout1.xml" Id="Rdd891028695b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891028695b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db38fc23f4dee" /><Relationship Type="http://schemas.openxmlformats.org/officeDocument/2006/relationships/notesSlide" Target="/ppt/notesSlides/notesSlide1.xml" Id="R1d4032bdc8964c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e89c83ef74288" /><Relationship Type="http://schemas.openxmlformats.org/officeDocument/2006/relationships/notesSlide" Target="/ppt/notesSlides/notesSlide2.xml" Id="R7162edf39d94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b53fe7c094be0" /><Relationship Type="http://schemas.openxmlformats.org/officeDocument/2006/relationships/notesSlide" Target="/ppt/notesSlides/notesSlide3.xml" Id="Ra7c0010a22d3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2abe9faf545f7" /><Relationship Type="http://schemas.openxmlformats.org/officeDocument/2006/relationships/notesSlide" Target="/ppt/notesSlides/notesSlide4.xml" Id="Rcf28e935812c41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outer-frame">
            <a:extLst xmlns:a="http://schemas.openxmlformats.org/drawingml/2006/main">
              <a:ext uri="{FF2B5EF4-FFF2-40B4-BE49-F238E27FC236}">
                <a16:creationId xmlns:a16="http://schemas.microsoft.com/office/drawing/2014/main" id="{0CBF0368-9B24-4F65-8A8F-1D18F70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0F158E-01DF-4D32-8EEB-8BCAFBE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第一问  确定性日循环储能优化</a:t>
            </a:r>
          </a:p>
        </p:txBody>
      </p:sp>
      <p:sp>
        <p:nvSpPr>
          <p:cNvPr id="3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A49AFB9F-7322-42C9-9531-AEC49799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已知日内数据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68E45769-5BE8-47BE-B3CE-699F4182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095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十分钟离散</a:t>
            </a:r>
          </a:p>
        </p:txBody>
      </p:sp>
      <p:sp>
        <p:nvSpPr>
          <p:cNvPr id="5" name="constraints">
            <a:extLst xmlns:a="http://schemas.openxmlformats.org/drawingml/2006/main">
              <a:ext uri="{FF2B5EF4-FFF2-40B4-BE49-F238E27FC236}">
                <a16:creationId xmlns:a16="http://schemas.microsoft.com/office/drawing/2014/main" id="{E99D8A54-1704-435F-BB6A-05FC858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3048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7F48B3D3-BAD5-46FA-9892-98F5F31B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573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并列物理约束</a:t>
            </a:r>
          </a:p>
        </p:txBody>
      </p:sp>
      <p:sp>
        <p:nvSpPr>
          <p:cNvPr id="7" name="balance">
            <a:extLst xmlns:a="http://schemas.openxmlformats.org/drawingml/2006/main">
              <a:ext uri="{FF2B5EF4-FFF2-40B4-BE49-F238E27FC236}">
                <a16:creationId xmlns:a16="http://schemas.microsoft.com/office/drawing/2014/main" id="{7CC45B6A-9846-4672-8EB2-3587F1A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能量平衡</a:t>
            </a:r>
          </a:p>
        </p:txBody>
      </p:sp>
      <p:sp>
        <p:nvSpPr>
          <p:cNvPr id="8" name="soc">
            <a:extLst xmlns:a="http://schemas.openxmlformats.org/drawingml/2006/main">
              <a:ext uri="{FF2B5EF4-FFF2-40B4-BE49-F238E27FC236}">
                <a16:creationId xmlns:a16="http://schemas.microsoft.com/office/drawing/2014/main" id="{F9CAECD3-46B3-4521-83FC-58AA79E1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p:sp>
        <p:nvSpPr>
          <p:cNvPr id="9" name="bounds">
            <a:extLst xmlns:a="http://schemas.openxmlformats.org/drawingml/2006/main">
              <a:ext uri="{FF2B5EF4-FFF2-40B4-BE49-F238E27FC236}">
                <a16:creationId xmlns:a16="http://schemas.microsoft.com/office/drawing/2014/main" id="{07CCA36E-1C2B-4F50-8C89-D984F997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容量与功率边界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充放电互斥</a:t>
            </a:r>
          </a:p>
        </p:txBody>
      </p:sp>
      <p:sp>
        <p:nvSpPr>
          <p:cNvPr id="10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4EDA253F-2252-43BA-BCE4-E539EA85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5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route-end-1">
            <a:extLst xmlns:a="http://schemas.openxmlformats.org/drawingml/2006/main">
              <a:ext uri="{FF2B5EF4-FFF2-40B4-BE49-F238E27FC236}">
                <a16:creationId xmlns:a16="http://schemas.microsoft.com/office/drawing/2014/main" id="{DB131732-CE1D-47BC-9B8C-DDDE6ED1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77478" y="34290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3" name="cycle">
            <a:extLst xmlns:a="http://schemas.openxmlformats.org/drawingml/2006/main">
              <a:ext uri="{FF2B5EF4-FFF2-40B4-BE49-F238E27FC236}">
                <a16:creationId xmlns:a16="http://schemas.microsoft.com/office/drawing/2014/main" id="{A8478735-42B2-46E3-9937-2C3124D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日初日末库存一致</a:t>
            </a:r>
          </a:p>
        </p:txBody>
      </p:sp>
      <p:sp>
        <p:nvSpPr>
          <p:cNvPr id="14" name="milp">
            <a:extLst xmlns:a="http://schemas.openxmlformats.org/drawingml/2006/main">
              <a:ext uri="{FF2B5EF4-FFF2-40B4-BE49-F238E27FC236}">
                <a16:creationId xmlns:a16="http://schemas.microsoft.com/office/drawing/2014/main" id="{187D748A-39D9-4964-A8EE-55A466D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 MILP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购电费用最小</a:t>
            </a:r>
          </a:p>
        </p:txBody>
      </p:sp>
      <p:sp>
        <p:nvSpPr>
          <p:cNvPr id="15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1F0B1A46-6F24-45F3-A48F-DC39934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37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end-2">
            <a:extLst xmlns:a="http://schemas.openxmlformats.org/drawingml/2006/main">
              <a:ext uri="{FF2B5EF4-FFF2-40B4-BE49-F238E27FC236}">
                <a16:creationId xmlns:a16="http://schemas.microsoft.com/office/drawing/2014/main" id="{A1C70704-C669-4673-A3AA-D425D82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142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34376" y="2372678"/>
            <a:ext cx="0" cy="7696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8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B0401397-2C6D-4986-BFC7-02DD063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route-end-3">
            <a:extLst xmlns:a="http://schemas.openxmlformats.org/drawingml/2006/main">
              <a:ext uri="{FF2B5EF4-FFF2-40B4-BE49-F238E27FC236}">
                <a16:creationId xmlns:a16="http://schemas.microsoft.com/office/drawing/2014/main" id="{091E7F6B-68BA-40AD-A63C-ED9544B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15978" y="271462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1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240894C6-8431-4234-96A2-443BB34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end-4">
            <a:extLst xmlns:a="http://schemas.openxmlformats.org/drawingml/2006/main">
              <a:ext uri="{FF2B5EF4-FFF2-40B4-BE49-F238E27FC236}">
                <a16:creationId xmlns:a16="http://schemas.microsoft.com/office/drawing/2014/main" id="{8791922E-8E75-4BB6-AEB2-F2D677E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486526" y="2715578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4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1E88D781-FAD2-4D64-B2F3-7CE3D47E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5">
            <a:extLst xmlns:a="http://schemas.openxmlformats.org/drawingml/2006/main">
              <a:ext uri="{FF2B5EF4-FFF2-40B4-BE49-F238E27FC236}">
                <a16:creationId xmlns:a16="http://schemas.microsoft.com/office/drawing/2014/main" id="{080115F1-6EF6-42E0-9CF1-E20FB75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915978" y="37242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7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D8B42E5A-FF48-4E0B-906B-015946F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route-end-6">
            <a:extLst xmlns:a="http://schemas.openxmlformats.org/drawingml/2006/main">
              <a:ext uri="{FF2B5EF4-FFF2-40B4-BE49-F238E27FC236}">
                <a16:creationId xmlns:a16="http://schemas.microsoft.com/office/drawing/2014/main" id="{C2A63366-BCF6-44A3-8C51-2D60C4E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915978" y="48291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0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4178F583-24AC-4324-9470-42737423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7">
            <a:extLst xmlns:a="http://schemas.openxmlformats.org/drawingml/2006/main">
              <a:ext uri="{FF2B5EF4-FFF2-40B4-BE49-F238E27FC236}">
                <a16:creationId xmlns:a16="http://schemas.microsoft.com/office/drawing/2014/main" id="{D9E26C17-4FEF-4C93-B40B-0E7BE2E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30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6486526" y="370617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3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D7B75352-D833-46F9-856E-00608A7B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end-8">
            <a:extLst xmlns:a="http://schemas.openxmlformats.org/drawingml/2006/main">
              <a:ext uri="{FF2B5EF4-FFF2-40B4-BE49-F238E27FC236}">
                <a16:creationId xmlns:a16="http://schemas.microsoft.com/office/drawing/2014/main" id="{AB685029-832D-448E-B2A9-61D0143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5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487478" y="37052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6" name="solve">
            <a:extLst xmlns:a="http://schemas.openxmlformats.org/drawingml/2006/main">
              <a:ext uri="{FF2B5EF4-FFF2-40B4-BE49-F238E27FC236}">
                <a16:creationId xmlns:a16="http://schemas.microsoft.com/office/drawing/2014/main" id="{7C5D0D31-6093-409C-A0A7-8C75479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76600"/>
            <a:ext cx="1762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HiGHS 求解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</a:t>
            </a:r>
          </a:p>
        </p:txBody>
      </p:sp>
      <p:sp>
        <p:nvSpPr>
          <p:cNvPr id="37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C8A37F7F-E3BB-4FAC-A6A4-F0B73333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3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route-end-9">
            <a:extLst xmlns:a="http://schemas.openxmlformats.org/drawingml/2006/main">
              <a:ext uri="{FF2B5EF4-FFF2-40B4-BE49-F238E27FC236}">
                <a16:creationId xmlns:a16="http://schemas.microsoft.com/office/drawing/2014/main" id="{F5B83862-D703-4296-8B85-F34E7FFD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821228" y="3705226"/>
            <a:ext cx="5505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0" name="baseline">
            <a:extLst xmlns:a="http://schemas.openxmlformats.org/drawingml/2006/main">
              <a:ext uri="{FF2B5EF4-FFF2-40B4-BE49-F238E27FC236}">
                <a16:creationId xmlns:a16="http://schemas.microsoft.com/office/drawing/2014/main" id="{E15BBD13-341D-4A28-A807-569F6C64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 松弛下界</a:t>
            </a:r>
          </a:p>
        </p:txBody>
      </p:sp>
      <p:sp>
        <p:nvSpPr>
          <p:cNvPr id="41" name="compare">
            <a:extLst xmlns:a="http://schemas.openxmlformats.org/drawingml/2006/main">
              <a:ext uri="{FF2B5EF4-FFF2-40B4-BE49-F238E27FC236}">
                <a16:creationId xmlns:a16="http://schemas.microsoft.com/office/drawing/2014/main" id="{A3B4691E-04F4-4639-9E94-A8B4D6D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22910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节费与下界对照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调度结果</a:t>
            </a:r>
          </a:p>
        </p:txBody>
      </p:sp>
      <p:sp>
        <p:nvSpPr>
          <p:cNvPr id="42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C1860EC6-8363-424D-906E-D08259D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9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3773F871-7CF1-40C5-8737-0E7004D2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2154853" y="3705226"/>
            <a:ext cx="2647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5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39201232-2CA4-477F-83AF-ED4F3A35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9B3A7767-B70B-4413-8C24-0B96BCD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2420601" y="3706178"/>
            <a:ext cx="0" cy="969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8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F8485759-39FC-459E-99CC-B7324403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AC67CE45-21CE-4893-BBEF-30C7C2DE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773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2421553" y="4676776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1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BDC719F1-4095-4739-A19E-74219A8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2770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C8962E9E-B1EA-489A-BB0F-9F4D9FAE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4218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3668376" y="2772728"/>
            <a:ext cx="0" cy="1445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4" name="model-note">
            <a:extLst xmlns:a="http://schemas.openxmlformats.org/drawingml/2006/main">
              <a:ext uri="{FF2B5EF4-FFF2-40B4-BE49-F238E27FC236}">
                <a16:creationId xmlns:a16="http://schemas.microsoft.com/office/drawing/2014/main" id="{766E4DEE-7C0D-45B1-B53A-C58A7C30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允许有限弃光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不允许向电网售电</a:t>
            </a:r>
          </a:p>
        </p:txBody>
      </p:sp>
      <p:sp>
        <p:nvSpPr>
          <p:cNvPr id="55" name="footer">
            <a:extLst xmlns:a="http://schemas.openxmlformats.org/drawingml/2006/main">
              <a:ext uri="{FF2B5EF4-FFF2-40B4-BE49-F238E27FC236}">
                <a16:creationId xmlns:a16="http://schemas.microsoft.com/office/drawing/2014/main" id="{F1F7F819-254C-4DD4-96A9-F9CA055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日初日末库存共同优化，最优调度通过物理与费用复核</a:t>
            </a:r>
          </a:p>
        </p:txBody>
      </p:sp>
    </p:spTree>
    <p:extLst>
      <p:ext uri="{BB962C8B-B14F-4D97-AF65-F5344CB8AC3E}">
        <p14:creationId xmlns:p14="http://schemas.microsoft.com/office/powerpoint/2010/main" val="1596703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outer-frame">
            <a:extLst xmlns:a="http://schemas.openxmlformats.org/drawingml/2006/main">
              <a:ext uri="{FF2B5EF4-FFF2-40B4-BE49-F238E27FC236}">
                <a16:creationId xmlns:a16="http://schemas.microsoft.com/office/drawing/2014/main" id="{8BB565B8-E829-4F86-AD5D-A61E08B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877493-064D-43A9-A521-690FBA7E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第二问  概率预测与固定计划反馈控制</a:t>
            </a:r>
          </a:p>
        </p:txBody>
      </p:sp>
      <p:sp>
        <p:nvSpPr>
          <p:cNvPr id="3" name="forecast">
            <a:extLst xmlns:a="http://schemas.openxmlformats.org/drawingml/2006/main">
              <a:ext uri="{FF2B5EF4-FFF2-40B4-BE49-F238E27FC236}">
                <a16:creationId xmlns:a16="http://schemas.microsoft.com/office/drawing/2014/main" id="{96712000-F6E2-4BE2-8F36-35AF1E6A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forecast-heading">
            <a:extLst xmlns:a="http://schemas.openxmlformats.org/drawingml/2006/main">
              <a:ext uri="{FF2B5EF4-FFF2-40B4-BE49-F238E27FC236}">
                <a16:creationId xmlns:a16="http://schemas.microsoft.com/office/drawing/2014/main" id="{8BF3F624-06AC-42BD-9A89-4CB60DA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LightGBM 概率预测</a:t>
            </a:r>
          </a:p>
        </p:txBody>
      </p:sp>
      <p:sp>
        <p:nvSpPr>
          <p:cNvPr id="5" name="history">
            <a:extLst xmlns:a="http://schemas.openxmlformats.org/drawingml/2006/main">
              <a:ext uri="{FF2B5EF4-FFF2-40B4-BE49-F238E27FC236}">
                <a16:creationId xmlns:a16="http://schemas.microsoft.com/office/drawing/2014/main" id="{A404A6D2-1DE3-4179-B27E-BCF2101D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3429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历史负荷与光伏</a:t>
            </a:r>
          </a:p>
        </p:txBody>
      </p:sp>
      <p:sp>
        <p:nvSpPr>
          <p:cNvPr id="6" name="direct">
            <a:extLst xmlns:a="http://schemas.openxmlformats.org/drawingml/2006/main">
              <a:ext uri="{FF2B5EF4-FFF2-40B4-BE49-F238E27FC236}">
                <a16:creationId xmlns:a16="http://schemas.microsoft.com/office/drawing/2014/main" id="{EAAC7D93-C094-4D38-A0C9-761D311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直接预测</a:t>
            </a:r>
          </a:p>
        </p:txBody>
      </p:sp>
      <p:sp>
        <p:nvSpPr>
          <p:cNvPr id="7" name="separate">
            <a:extLst xmlns:a="http://schemas.openxmlformats.org/drawingml/2006/main">
              <a:ext uri="{FF2B5EF4-FFF2-40B4-BE49-F238E27FC236}">
                <a16:creationId xmlns:a16="http://schemas.microsoft.com/office/drawing/2014/main" id="{063A4A01-D4A0-4E89-BE24-57D9BE4F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分别预测</a:t>
            </a:r>
          </a:p>
        </p:txBody>
      </p:sp>
      <p:sp>
        <p:nvSpPr>
          <p:cNvPr id="8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E194F724-F6BD-4139-8087-5A3E42F2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2932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route-end-1">
            <a:extLst xmlns:a="http://schemas.openxmlformats.org/drawingml/2006/main">
              <a:ext uri="{FF2B5EF4-FFF2-40B4-BE49-F238E27FC236}">
                <a16:creationId xmlns:a16="http://schemas.microsoft.com/office/drawing/2014/main" id="{AF74133B-3EFD-49A2-856F-04EAC074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571751" y="2934653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1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439F8F79-55A6-4EA1-93E7-E5BBA758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route-end-2">
            <a:extLst xmlns:a="http://schemas.openxmlformats.org/drawingml/2006/main">
              <a:ext uri="{FF2B5EF4-FFF2-40B4-BE49-F238E27FC236}">
                <a16:creationId xmlns:a16="http://schemas.microsoft.com/office/drawing/2014/main" id="{FF1CF62A-77C0-45D1-BAB5-48CB8FD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1648778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4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1428E48C-3B60-4557-8005-26AAA561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route-end-3">
            <a:extLst xmlns:a="http://schemas.openxmlformats.org/drawingml/2006/main">
              <a:ext uri="{FF2B5EF4-FFF2-40B4-BE49-F238E27FC236}">
                <a16:creationId xmlns:a16="http://schemas.microsoft.com/office/drawing/2014/main" id="{3E744C88-F9BC-4F8D-A58F-7536684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64782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7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2C6C9D66-8F64-4126-9559-32742AE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end-4">
            <a:extLst xmlns:a="http://schemas.openxmlformats.org/drawingml/2006/main">
              <a:ext uri="{FF2B5EF4-FFF2-40B4-BE49-F238E27FC236}">
                <a16:creationId xmlns:a16="http://schemas.microsoft.com/office/drawing/2014/main" id="{29A12B1D-0749-404F-A142-93D65B1A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572703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0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E2F4A0BA-818F-46C2-82EF-28673C5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5">
            <a:extLst xmlns:a="http://schemas.openxmlformats.org/drawingml/2006/main">
              <a:ext uri="{FF2B5EF4-FFF2-40B4-BE49-F238E27FC236}">
                <a16:creationId xmlns:a16="http://schemas.microsoft.com/office/drawing/2014/main" id="{3A496D0F-5958-4467-B940-B4500E8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49567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3" name="calibrate">
            <a:extLst xmlns:a="http://schemas.openxmlformats.org/drawingml/2006/main">
              <a:ext uri="{FF2B5EF4-FFF2-40B4-BE49-F238E27FC236}">
                <a16:creationId xmlns:a16="http://schemas.microsoft.com/office/drawing/2014/main" id="{BDB38FD3-BAB5-457F-BAF2-E17F7310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中心修正与残差校准</a:t>
            </a:r>
          </a:p>
        </p:txBody>
      </p:sp>
      <p:sp>
        <p:nvSpPr>
          <p:cNvPr id="24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A49348F8-2A9C-43A1-873A-7325FFA2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6">
            <a:extLst xmlns:a="http://schemas.openxmlformats.org/drawingml/2006/main">
              <a:ext uri="{FF2B5EF4-FFF2-40B4-BE49-F238E27FC236}">
                <a16:creationId xmlns:a16="http://schemas.microsoft.com/office/drawing/2014/main" id="{BFD71AEC-EB24-43CC-8301-0475E52E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64782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7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EF478FCB-E749-49F6-8269-81CE62E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route-end-7">
            <a:extLst xmlns:a="http://schemas.openxmlformats.org/drawingml/2006/main">
              <a:ext uri="{FF2B5EF4-FFF2-40B4-BE49-F238E27FC236}">
                <a16:creationId xmlns:a16="http://schemas.microsoft.com/office/drawing/2014/main" id="{32E2BB10-7831-44DD-BBD5-E6E78C29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648778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0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B2B553A8-6705-433B-B502-077C242F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8">
            <a:extLst xmlns:a="http://schemas.openxmlformats.org/drawingml/2006/main">
              <a:ext uri="{FF2B5EF4-FFF2-40B4-BE49-F238E27FC236}">
                <a16:creationId xmlns:a16="http://schemas.microsoft.com/office/drawing/2014/main" id="{6357D483-7417-4726-9AB9-12586327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2571751" y="42967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3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7CBDC945-CD1D-4057-A5AA-8128B462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end-9">
            <a:extLst xmlns:a="http://schemas.openxmlformats.org/drawingml/2006/main">
              <a:ext uri="{FF2B5EF4-FFF2-40B4-BE49-F238E27FC236}">
                <a16:creationId xmlns:a16="http://schemas.microsoft.com/office/drawing/2014/main" id="{BBF91FBF-BE46-433B-B196-9E7FA0A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49567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6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72A7549A-5B46-409E-B634-7E9A613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92566DC9-B8A9-4724-81A2-C00CAA6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2572703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9" name="plan-heading">
            <a:extLst xmlns:a="http://schemas.openxmlformats.org/drawingml/2006/main">
              <a:ext uri="{FF2B5EF4-FFF2-40B4-BE49-F238E27FC236}">
                <a16:creationId xmlns:a16="http://schemas.microsoft.com/office/drawing/2014/main" id="{27B378F9-8880-4DBC-AC42-A1C5B2F7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零时购电规划</a:t>
            </a:r>
          </a:p>
        </p:txBody>
      </p:sp>
      <p:sp>
        <p:nvSpPr>
          <p:cNvPr id="40" name="quantile">
            <a:extLst xmlns:a="http://schemas.openxmlformats.org/drawingml/2006/main">
              <a:ext uri="{FF2B5EF4-FFF2-40B4-BE49-F238E27FC236}">
                <a16:creationId xmlns:a16="http://schemas.microsoft.com/office/drawing/2014/main" id="{6C42C068-312F-42A3-86CC-B9549B03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校准后80分位</a:t>
            </a:r>
          </a:p>
        </p:txBody>
      </p:sp>
      <p:sp>
        <p:nvSpPr>
          <p:cNvPr id="41" name="fixed-plan">
            <a:extLst xmlns:a="http://schemas.openxmlformats.org/drawingml/2006/main">
              <a:ext uri="{FF2B5EF4-FFF2-40B4-BE49-F238E27FC236}">
                <a16:creationId xmlns:a16="http://schemas.microsoft.com/office/drawing/2014/main" id="{DCE0CF21-1532-42C7-9E3E-A546F23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固定全天购电</a:t>
            </a:r>
          </a:p>
        </p:txBody>
      </p:sp>
      <p:sp>
        <p:nvSpPr>
          <p:cNvPr id="42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176324DE-78BE-4045-B8A3-B4DBFE9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5D9BEADC-5D42-4FD1-B92C-5BD74D1F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297103" y="27051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5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B36F2CC1-547E-4EEC-A22E-EFE86A6E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储能价值评估</a:t>
            </a:r>
          </a:p>
        </p:txBody>
      </p:sp>
      <p:sp>
        <p:nvSpPr>
          <p:cNvPr id="46" name="error">
            <a:extLst xmlns:a="http://schemas.openxmlformats.org/drawingml/2006/main">
              <a:ext uri="{FF2B5EF4-FFF2-40B4-BE49-F238E27FC236}">
                <a16:creationId xmlns:a16="http://schemas.microsoft.com/office/drawing/2014/main" id="{E5224068-C447-404A-8207-C53A7412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三状态误差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类内加权样本</a:t>
            </a:r>
          </a:p>
        </p:txBody>
      </p:sp>
      <p:sp>
        <p:nvSpPr>
          <p:cNvPr id="47" name="value">
            <a:extLst xmlns:a="http://schemas.openxmlformats.org/drawingml/2006/main">
              <a:ext uri="{FF2B5EF4-FFF2-40B4-BE49-F238E27FC236}">
                <a16:creationId xmlns:a16="http://schemas.microsoft.com/office/drawing/2014/main" id="{F61460B5-38E6-4ED1-B73D-4766106C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库存价值</a:t>
            </a:r>
          </a:p>
        </p:txBody>
      </p:sp>
      <p:sp>
        <p:nvSpPr>
          <p:cNvPr id="48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A76BF55B-A52B-488F-BA4C-F2E144CF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7355376B-C1DC-430F-8133-177962D7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297103" y="50101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1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57F18058-70D9-4BF6-B588-C2DC9BFC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038FF65F-6B3F-4BFF-9391-ED35D8E1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296728" y="492442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4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9D655F01-38B6-4017-8AC8-BBFBF49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6054FAD9-12CF-4BF9-BCB5-7382FA91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54" idx="0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V="1">
            <a:off x="4857751" y="2706053"/>
            <a:ext cx="0" cy="22174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7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F8950F99-EAF3-4E9C-A5F3-2E063127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DCC92648-5E17-40C5-A6E4-194E4851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4858703" y="270510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0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92FC24C6-8D58-4D3F-804B-53E56883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B320AD59-BE6C-4620-A995-3710DBF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857751" y="4925378"/>
            <a:ext cx="0" cy="838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3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D27C477E-2C8B-4498-B251-A682E8AB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76D69D0B-36CB-4961-BC89-D7D4551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4858703" y="50101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6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ABF2B3E2-9052-46F3-A644-CE869AF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306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8FE505C4-E1EF-4E9D-86D2-0A55C97D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4647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8715376" y="3068003"/>
            <a:ext cx="0" cy="1579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9" name="feedback">
            <a:extLst xmlns:a="http://schemas.openxmlformats.org/drawingml/2006/main">
              <a:ext uri="{FF2B5EF4-FFF2-40B4-BE49-F238E27FC236}">
                <a16:creationId xmlns:a16="http://schemas.microsoft.com/office/drawing/2014/main" id="{157E1635-2944-4DC9-9F0F-80D19EC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70" name="feedback-heading">
            <a:extLst xmlns:a="http://schemas.openxmlformats.org/drawingml/2006/main">
              <a:ext uri="{FF2B5EF4-FFF2-40B4-BE49-F238E27FC236}">
                <a16:creationId xmlns:a16="http://schemas.microsoft.com/office/drawing/2014/main" id="{C6F4540A-BDEC-4213-8DBB-2DD7E815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十分钟反馈控制</a:t>
            </a:r>
          </a:p>
        </p:txBody>
      </p:sp>
      <p:sp>
        <p:nvSpPr>
          <p:cNvPr id="71" name="observe">
            <a:extLst xmlns:a="http://schemas.openxmlformats.org/drawingml/2006/main">
              <a:ext uri="{FF2B5EF4-FFF2-40B4-BE49-F238E27FC236}">
                <a16:creationId xmlns:a16="http://schemas.microsoft.com/office/drawing/2014/main" id="{B612DF9E-9D03-4276-AE3E-E194BE9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52675"/>
            <a:ext cx="3429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当前净负荷与实际库存</a:t>
            </a:r>
          </a:p>
        </p:txBody>
      </p:sp>
      <p:sp>
        <p:nvSpPr>
          <p:cNvPr id="72" name="action">
            <a:extLst xmlns:a="http://schemas.openxmlformats.org/drawingml/2006/main">
              <a:ext uri="{FF2B5EF4-FFF2-40B4-BE49-F238E27FC236}">
                <a16:creationId xmlns:a16="http://schemas.microsoft.com/office/drawing/2014/main" id="{42BAADB7-8F75-4622-B9E1-25D19E6C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766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充放电决策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不足紧急购电</a:t>
            </a:r>
          </a:p>
        </p:txBody>
      </p:sp>
      <p:sp>
        <p:nvSpPr>
          <p:cNvPr id="73" name="result">
            <a:extLst xmlns:a="http://schemas.openxmlformats.org/drawingml/2006/main">
              <a:ext uri="{FF2B5EF4-FFF2-40B4-BE49-F238E27FC236}">
                <a16:creationId xmlns:a16="http://schemas.microsoft.com/office/drawing/2014/main" id="{657DC796-E94C-4282-B084-3F3CD85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482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实际费用与库存轨迹</a:t>
            </a:r>
          </a:p>
        </p:txBody>
      </p:sp>
      <p:sp>
        <p:nvSpPr>
          <p:cNvPr id="74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470BB784-6189-40E3-BCE5-2ED3E2B8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C999A168-7F67-47ED-8676-C98F4413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2668251" y="3029903"/>
            <a:ext cx="0" cy="636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7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D4773591-70F2-4945-A01B-9F203F8A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40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0281B08A-2AF9-458B-80BF-D6D7087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83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12668251" y="4411028"/>
            <a:ext cx="0" cy="4267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0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9CD0F5A5-F594-41A4-BE92-6576CCE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588E5B91-CFAB-43A3-B3C3-504E038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9725978" y="2705101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3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8926C3C8-1A16-4DDF-8F0F-068A59C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C2C31C55-C18D-46C9-972D-4358A8ED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83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10191751" y="2706053"/>
            <a:ext cx="0" cy="1198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6" name="route-start-23">
            <a:extLst xmlns:a="http://schemas.openxmlformats.org/drawingml/2006/main">
              <a:ext uri="{FF2B5EF4-FFF2-40B4-BE49-F238E27FC236}">
                <a16:creationId xmlns:a16="http://schemas.microsoft.com/office/drawing/2014/main" id="{231FF6B6-E527-4645-B9BA-B3A6BCF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route-end-23">
            <a:extLst xmlns:a="http://schemas.openxmlformats.org/drawingml/2006/main">
              <a:ext uri="{FF2B5EF4-FFF2-40B4-BE49-F238E27FC236}">
                <a16:creationId xmlns:a16="http://schemas.microsoft.com/office/drawing/2014/main" id="{F4F0BE85-279D-48B0-B225-F0BAA462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10192703" y="3905251"/>
            <a:ext cx="7505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89" name="route-start-24">
            <a:extLst xmlns:a="http://schemas.openxmlformats.org/drawingml/2006/main">
              <a:ext uri="{FF2B5EF4-FFF2-40B4-BE49-F238E27FC236}">
                <a16:creationId xmlns:a16="http://schemas.microsoft.com/office/drawing/2014/main" id="{C9ECC85B-A38B-49B4-9482-902CEAE5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route-end-24">
            <a:extLst xmlns:a="http://schemas.openxmlformats.org/drawingml/2006/main">
              <a:ext uri="{FF2B5EF4-FFF2-40B4-BE49-F238E27FC236}">
                <a16:creationId xmlns:a16="http://schemas.microsoft.com/office/drawing/2014/main" id="{C71175A5-7A17-4EA0-A942-D3F9E5EF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725978" y="5010151"/>
            <a:ext cx="655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2" name="route-start-25">
            <a:extLst xmlns:a="http://schemas.openxmlformats.org/drawingml/2006/main">
              <a:ext uri="{FF2B5EF4-FFF2-40B4-BE49-F238E27FC236}">
                <a16:creationId xmlns:a16="http://schemas.microsoft.com/office/drawing/2014/main" id="{EEBEB37A-04FC-4874-9317-B7405D6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route-end-25">
            <a:extLst xmlns:a="http://schemas.openxmlformats.org/drawingml/2006/main">
              <a:ext uri="{FF2B5EF4-FFF2-40B4-BE49-F238E27FC236}">
                <a16:creationId xmlns:a16="http://schemas.microsoft.com/office/drawing/2014/main" id="{3216901C-9676-47B6-A1B3-6B183C87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92" idx="0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10382251" y="4191953"/>
            <a:ext cx="0" cy="817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5" name="route-start-26">
            <a:extLst xmlns:a="http://schemas.openxmlformats.org/drawingml/2006/main">
              <a:ext uri="{FF2B5EF4-FFF2-40B4-BE49-F238E27FC236}">
                <a16:creationId xmlns:a16="http://schemas.microsoft.com/office/drawing/2014/main" id="{F13423D0-EFF1-4162-BCDF-F9A506EA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route-end-26">
            <a:extLst xmlns:a="http://schemas.openxmlformats.org/drawingml/2006/main">
              <a:ext uri="{FF2B5EF4-FFF2-40B4-BE49-F238E27FC236}">
                <a16:creationId xmlns:a16="http://schemas.microsoft.com/office/drawing/2014/main" id="{F5FDBF5B-2F46-4CD3-8C99-4ADC11A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10383203" y="4191001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8" name="footer">
            <a:extLst xmlns:a="http://schemas.openxmlformats.org/drawingml/2006/main">
              <a:ext uri="{FF2B5EF4-FFF2-40B4-BE49-F238E27FC236}">
                <a16:creationId xmlns:a16="http://schemas.microsoft.com/office/drawing/2014/main" id="{119BAA70-BA16-406D-826E-5EBA5C7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购电计划全天固定，储能决策随当前观测更新</a:t>
            </a:r>
          </a:p>
        </p:txBody>
      </p:sp>
    </p:spTree>
    <p:extLst>
      <p:ext uri="{BB962C8B-B14F-4D97-AF65-F5344CB8AC3E}">
        <p14:creationId xmlns:p14="http://schemas.microsoft.com/office/powerpoint/2010/main" val="1189944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DD6EB69-E7BD-4E9C-A0F6-10B5665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CD1E2F-C280-478D-A291-0EC3578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第三问  预报更新驱动的日内滚动调整</a:t>
            </a:r>
          </a:p>
        </p:txBody>
      </p:sp>
      <p:sp>
        <p:nvSpPr>
          <p:cNvPr id="3" name="time-0">
            <a:extLst xmlns:a="http://schemas.openxmlformats.org/drawingml/2006/main">
              <a:ext uri="{FF2B5EF4-FFF2-40B4-BE49-F238E27FC236}">
                <a16:creationId xmlns:a16="http://schemas.microsoft.com/office/drawing/2014/main" id="{6548628E-2642-40C3-911C-45A9E50B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0:00</a:t>
            </a:r>
          </a:p>
        </p:txBody>
      </p:sp>
      <p:sp>
        <p:nvSpPr>
          <p:cNvPr id="4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C24979F6-C501-4625-A324-BD8F696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route-end-1">
            <a:extLst xmlns:a="http://schemas.openxmlformats.org/drawingml/2006/main">
              <a:ext uri="{FF2B5EF4-FFF2-40B4-BE49-F238E27FC236}">
                <a16:creationId xmlns:a16="http://schemas.microsoft.com/office/drawing/2014/main" id="{8AF7082D-4875-45C7-B897-1642B99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0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63178" y="1676401"/>
            <a:ext cx="22078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" name="time-1">
            <a:extLst xmlns:a="http://schemas.openxmlformats.org/drawingml/2006/main">
              <a:ext uri="{FF2B5EF4-FFF2-40B4-BE49-F238E27FC236}">
                <a16:creationId xmlns:a16="http://schemas.microsoft.com/office/drawing/2014/main" id="{FAB116A9-D1F5-4D17-9C77-AC0CB12D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6:00</a:t>
            </a:r>
          </a:p>
        </p:txBody>
      </p:sp>
      <p:sp>
        <p:nvSpPr>
          <p:cNvPr id="8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886A1672-1FB2-4749-9DD4-D8B219E8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route-end-2">
            <a:extLst xmlns:a="http://schemas.openxmlformats.org/drawingml/2006/main">
              <a:ext uri="{FF2B5EF4-FFF2-40B4-BE49-F238E27FC236}">
                <a16:creationId xmlns:a16="http://schemas.microsoft.com/office/drawing/2014/main" id="{E4B09AB4-AA08-4141-ADE9-6688ED6A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9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92178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1" name="time-2">
            <a:extLst xmlns:a="http://schemas.openxmlformats.org/drawingml/2006/main">
              <a:ext uri="{FF2B5EF4-FFF2-40B4-BE49-F238E27FC236}">
                <a16:creationId xmlns:a16="http://schemas.microsoft.com/office/drawing/2014/main" id="{C338A9F5-90F0-4E9C-ABBE-729C32E5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12:00</a:t>
            </a:r>
          </a:p>
        </p:txBody>
      </p:sp>
      <p:sp>
        <p:nvSpPr>
          <p:cNvPr id="12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21DF99C5-C40F-4691-83E3-5430406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4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route-end-3">
            <a:extLst xmlns:a="http://schemas.openxmlformats.org/drawingml/2006/main">
              <a:ext uri="{FF2B5EF4-FFF2-40B4-BE49-F238E27FC236}">
                <a16:creationId xmlns:a16="http://schemas.microsoft.com/office/drawing/2014/main" id="{A2C04E88-B583-4B96-82A5-700E2DB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8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21053" y="1676401"/>
            <a:ext cx="1207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5" name="time-3">
            <a:extLst xmlns:a="http://schemas.openxmlformats.org/drawingml/2006/main">
              <a:ext uri="{FF2B5EF4-FFF2-40B4-BE49-F238E27FC236}">
                <a16:creationId xmlns:a16="http://schemas.microsoft.com/office/drawing/2014/main" id="{5AD94D30-A62F-4054-B30A-FEDE0A3E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18:00</a:t>
            </a:r>
          </a:p>
        </p:txBody>
      </p:sp>
      <p:sp>
        <p:nvSpPr>
          <p:cNvPr id="16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BEC1F962-6ADD-4AA4-A561-7319EBC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023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route-end-4">
            <a:extLst xmlns:a="http://schemas.openxmlformats.org/drawingml/2006/main">
              <a:ext uri="{FF2B5EF4-FFF2-40B4-BE49-F238E27FC236}">
                <a16:creationId xmlns:a16="http://schemas.microsoft.com/office/drawing/2014/main" id="{8AEBCD2D-F679-4D5D-BBB4-D94E939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198" y="1675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849928" y="1676401"/>
            <a:ext cx="25412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9" name="time-4">
            <a:extLst xmlns:a="http://schemas.openxmlformats.org/drawingml/2006/main">
              <a:ext uri="{FF2B5EF4-FFF2-40B4-BE49-F238E27FC236}">
                <a16:creationId xmlns:a16="http://schemas.microsoft.com/office/drawing/2014/main" id="{F4F6FC4A-2219-4602-8A16-6C1E72B8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1428750"/>
            <a:ext cx="12001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24:00</a:t>
            </a:r>
          </a:p>
        </p:txBody>
      </p:sp>
      <p:sp>
        <p:nvSpPr>
          <p:cNvPr id="20" name="zero-forecast">
            <a:extLst xmlns:a="http://schemas.openxmlformats.org/drawingml/2006/main">
              <a:ext uri="{FF2B5EF4-FFF2-40B4-BE49-F238E27FC236}">
                <a16:creationId xmlns:a16="http://schemas.microsoft.com/office/drawing/2014/main" id="{4519175C-47BC-48AC-9310-E0F01517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524125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零时净负荷预测</a:t>
            </a:r>
          </a:p>
        </p:txBody>
      </p:sp>
      <p:sp>
        <p:nvSpPr>
          <p:cNvPr id="21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FFB9552B-C056-46BF-BA9E-1A69A891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end-5">
            <a:extLst xmlns:a="http://schemas.openxmlformats.org/drawingml/2006/main">
              <a:ext uri="{FF2B5EF4-FFF2-40B4-BE49-F238E27FC236}">
                <a16:creationId xmlns:a16="http://schemas.microsoft.com/office/drawing/2014/main" id="{E8F78FB8-8D6E-4912-B4DA-A1661AF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284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952626" y="1934528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4" name="initial-plan">
            <a:extLst xmlns:a="http://schemas.openxmlformats.org/drawingml/2006/main">
              <a:ext uri="{FF2B5EF4-FFF2-40B4-BE49-F238E27FC236}">
                <a16:creationId xmlns:a16="http://schemas.microsoft.com/office/drawing/2014/main" id="{46A8383D-2B53-4A02-B7D5-1B96B63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524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80分位线性规划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初始购电计划</a:t>
            </a:r>
          </a:p>
        </p:txBody>
      </p:sp>
      <p:sp>
        <p:nvSpPr>
          <p:cNvPr id="25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4EEE6448-EA03-49AB-B51C-03FA75A6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348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route-end-6">
            <a:extLst xmlns:a="http://schemas.openxmlformats.org/drawingml/2006/main">
              <a:ext uri="{FF2B5EF4-FFF2-40B4-BE49-F238E27FC236}">
                <a16:creationId xmlns:a16="http://schemas.microsoft.com/office/drawing/2014/main" id="{C4319F00-232F-463D-A770-797A2EF2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8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924051" y="3487103"/>
            <a:ext cx="0" cy="5600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8" name="rolling-selection">
            <a:extLst xmlns:a="http://schemas.openxmlformats.org/drawingml/2006/main">
              <a:ext uri="{FF2B5EF4-FFF2-40B4-BE49-F238E27FC236}">
                <a16:creationId xmlns:a16="http://schemas.microsoft.com/office/drawing/2014/main" id="{27CF2D06-92A3-4F28-B7A8-A4596BC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76200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29" name="rolling-selection-heading">
            <a:extLst xmlns:a="http://schemas.openxmlformats.org/drawingml/2006/main">
              <a:ext uri="{FF2B5EF4-FFF2-40B4-BE49-F238E27FC236}">
                <a16:creationId xmlns:a16="http://schemas.microsoft.com/office/drawing/2014/main" id="{B154A9CD-9C8E-48BF-88E3-60FC5138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746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更新时刻的计划选择</a:t>
            </a:r>
          </a:p>
        </p:txBody>
      </p:sp>
      <p:sp>
        <p:nvSpPr>
          <p:cNvPr id="30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BB5B378E-2D3B-41D1-B61B-63937CE2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7">
            <a:extLst xmlns:a="http://schemas.openxmlformats.org/drawingml/2006/main">
              <a:ext uri="{FF2B5EF4-FFF2-40B4-BE49-F238E27FC236}">
                <a16:creationId xmlns:a16="http://schemas.microsoft.com/office/drawing/2014/main" id="{713C0C59-5934-4FD1-9C14-5BDBF13C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538162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3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08069D30-032E-4AAD-8EAE-A1E1CBC4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end-8">
            <a:extLst xmlns:a="http://schemas.openxmlformats.org/drawingml/2006/main">
              <a:ext uri="{FF2B5EF4-FFF2-40B4-BE49-F238E27FC236}">
                <a16:creationId xmlns:a16="http://schemas.microsoft.com/office/drawing/2014/main" id="{2698E94F-05EA-473F-82D0-86C05B81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7810501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6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7A145290-09F7-4623-8FDB-452047A8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end-9">
            <a:extLst xmlns:a="http://schemas.openxmlformats.org/drawingml/2006/main">
              <a:ext uri="{FF2B5EF4-FFF2-40B4-BE49-F238E27FC236}">
                <a16:creationId xmlns:a16="http://schemas.microsoft.com/office/drawing/2014/main" id="{BEEEEE12-5A07-480C-AC50-355072D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235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0239376" y="19345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9" name="new-information">
            <a:extLst xmlns:a="http://schemas.openxmlformats.org/drawingml/2006/main">
              <a:ext uri="{FF2B5EF4-FFF2-40B4-BE49-F238E27FC236}">
                <a16:creationId xmlns:a16="http://schemas.microsoft.com/office/drawing/2014/main" id="{8A027829-4B22-4634-B9D2-579173A3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638175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新预报与实际库存</a:t>
            </a:r>
          </a:p>
        </p:txBody>
      </p:sp>
      <p:sp>
        <p:nvSpPr>
          <p:cNvPr id="40" name="candidate-plan">
            <a:extLst xmlns:a="http://schemas.openxmlformats.org/drawingml/2006/main">
              <a:ext uri="{FF2B5EF4-FFF2-40B4-BE49-F238E27FC236}">
                <a16:creationId xmlns:a16="http://schemas.microsoft.com/office/drawing/2014/main" id="{0E5A9F8A-5ACC-45B5-9D7C-C73B2132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</a:t>
            </a:r>
          </a:p>
        </p:txBody>
      </p:sp>
      <p:sp>
        <p:nvSpPr>
          <p:cNvPr id="41" name="keep-plan">
            <a:extLst xmlns:a="http://schemas.openxmlformats.org/drawingml/2006/main">
              <a:ext uri="{FF2B5EF4-FFF2-40B4-BE49-F238E27FC236}">
                <a16:creationId xmlns:a16="http://schemas.microsoft.com/office/drawing/2014/main" id="{F34E9023-2CB6-4FFE-B2EC-041D7AA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1905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保留原计划</a:t>
            </a:r>
          </a:p>
        </p:txBody>
      </p:sp>
      <p:sp>
        <p:nvSpPr>
          <p:cNvPr id="42" name="select-plan">
            <a:extLst xmlns:a="http://schemas.openxmlformats.org/drawingml/2006/main">
              <a:ext uri="{FF2B5EF4-FFF2-40B4-BE49-F238E27FC236}">
                <a16:creationId xmlns:a16="http://schemas.microsoft.com/office/drawing/2014/main" id="{5468C80D-8374-4AA5-96E6-52641DD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调整费与预期紧急费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动态规划择优</a:t>
            </a:r>
          </a:p>
        </p:txBody>
      </p:sp>
      <p:sp>
        <p:nvSpPr>
          <p:cNvPr id="43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198DC47C-5E19-470C-B42D-EBDED70B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4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3CDE9DDA-D03F-4095-BE05-B107468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3201353" y="44767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6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A82238D9-A641-4C67-AC4E-76DA7710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B6193C18-F186-475E-9F54-B9028F9B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3448051" y="4477703"/>
            <a:ext cx="0" cy="8934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49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F4E2D931-C6C4-4A0D-A0ED-A4E97DE8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98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ABBA17B4-62A9-4832-B68E-5B10CAED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7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449003" y="5372101"/>
            <a:ext cx="8267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2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D56B0E21-D294-4900-B8D2-4E9889C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EC070347-29C7-49F5-93B7-518C66DA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798" y="4142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5238751" y="366807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5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6B72EA43-A1CE-42EF-9324-F8C9957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ADD9B0EA-3F13-44F8-BA33-01D0F19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798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9048751" y="3668078"/>
            <a:ext cx="0" cy="645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8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8DD6F3B2-AD9C-40BF-99DC-FF9C42B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B21B8F17-93A7-43A7-9C3A-C7DBF6E1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201728" y="4467226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1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8CEE2ABA-8D9B-4B24-A94A-FDAEF22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034213EA-E46C-4364-B13B-59233E1C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6905626" y="4468178"/>
            <a:ext cx="0" cy="1600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4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64FA1FDA-927E-46AA-9B0C-0A4D66B8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8E49ED95-9745-4307-8CF3-4669DFCD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4628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6906578" y="46291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7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7EF8E8B1-58A6-438F-9B4D-72B03B7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4AF7A369-59BB-4614-B591-D0D399F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6201728" y="5372101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0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3347F865-EB15-427C-9B1C-FD5B1E66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371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D24B7519-14F2-409A-B661-2C05BAF6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70" idx="0"/>
            <a:endCxn xmlns:a="http://schemas.openxmlformats.org/drawingml/2006/main" id="71" idx="2"/>
          </p:cNvCxnSpPr>
          <p:nvPr/>
        </p:nvCxnSpPr>
        <p:spPr>
          <a:xfrm xmlns:a="http://schemas.openxmlformats.org/drawingml/2006/main" flipV="1">
            <a:off x="6905626" y="5077778"/>
            <a:ext cx="0" cy="293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3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386D0F2C-D3A7-4F92-83C5-144FC9B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DB093FA3-8F59-4CF6-891E-81DABB03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5075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6906578" y="507682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6" name="feedback">
            <a:extLst xmlns:a="http://schemas.openxmlformats.org/drawingml/2006/main">
              <a:ext uri="{FF2B5EF4-FFF2-40B4-BE49-F238E27FC236}">
                <a16:creationId xmlns:a16="http://schemas.microsoft.com/office/drawing/2014/main" id="{ABC1A6F7-83F8-487B-82A4-42E12DC1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3434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十分钟反馈执行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更新储能库存</a:t>
            </a:r>
          </a:p>
        </p:txBody>
      </p:sp>
      <p:sp>
        <p:nvSpPr>
          <p:cNvPr id="77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282E9EF1-B9BE-49DE-9469-9D7045CC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19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0F6B051C-582C-4ACC-8A38-E39A4892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523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10726103" y="4857751"/>
            <a:ext cx="1074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80" name="result">
            <a:extLst xmlns:a="http://schemas.openxmlformats.org/drawingml/2006/main">
              <a:ext uri="{FF2B5EF4-FFF2-40B4-BE49-F238E27FC236}">
                <a16:creationId xmlns:a16="http://schemas.microsoft.com/office/drawing/2014/main" id="{EBB84695-6BB3-4D3B-BEFA-E5BBDB22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1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调整账本与费用</a:t>
            </a:r>
          </a:p>
        </p:txBody>
      </p:sp>
      <p:sp>
        <p:nvSpPr>
          <p:cNvPr id="81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6C2B5CCC-3D33-4088-95B2-86716DC8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190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C22FE14B-8531-4C99-93A5-6D560C8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9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13096876" y="519207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4" name="freeze-note">
            <a:extLst xmlns:a="http://schemas.openxmlformats.org/drawingml/2006/main">
              <a:ext uri="{FF2B5EF4-FFF2-40B4-BE49-F238E27FC236}">
                <a16:creationId xmlns:a16="http://schemas.microsoft.com/office/drawing/2014/main" id="{9946C40F-039A-493D-90C2-3B77524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已执行时段冻结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仅修改后续计划</a:t>
            </a:r>
          </a:p>
        </p:txBody>
      </p:sp>
      <p:sp>
        <p:nvSpPr>
          <p:cNvPr id="85" name="execution-note">
            <a:extLst xmlns:a="http://schemas.openxmlformats.org/drawingml/2006/main">
              <a:ext uri="{FF2B5EF4-FFF2-40B4-BE49-F238E27FC236}">
                <a16:creationId xmlns:a16="http://schemas.microsoft.com/office/drawing/2014/main" id="{DFAA01CD-8992-4BDE-9D87-1DE32A2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289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更新之间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沿用当前计划</a:t>
            </a:r>
          </a:p>
        </p:txBody>
      </p:sp>
    </p:spTree>
    <p:extLst>
      <p:ext uri="{BB962C8B-B14F-4D97-AF65-F5344CB8AC3E}">
        <p14:creationId xmlns:p14="http://schemas.microsoft.com/office/powerpoint/2010/main" val="737610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95C9CD83-5AB3-46C7-AB70-5813288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A0D5CB-B496-4AD8-A837-27E8076A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第四问  净负荷与电价的联合不确定性调度</a:t>
            </a:r>
          </a:p>
        </p:txBody>
      </p:sp>
      <p:sp>
        <p:nvSpPr>
          <p:cNvPr id="3" name="load-heading">
            <a:extLst xmlns:a="http://schemas.openxmlformats.org/drawingml/2006/main">
              <a:ext uri="{FF2B5EF4-FFF2-40B4-BE49-F238E27FC236}">
                <a16:creationId xmlns:a16="http://schemas.microsoft.com/office/drawing/2014/main" id="{B36C9325-FA35-4B65-A0E0-3EB158A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净负荷不确定性</a:t>
            </a:r>
          </a:p>
        </p:txBody>
      </p:sp>
      <p:sp>
        <p:nvSpPr>
          <p:cNvPr id="4" name="netload">
            <a:extLst xmlns:a="http://schemas.openxmlformats.org/drawingml/2006/main">
              <a:ext uri="{FF2B5EF4-FFF2-40B4-BE49-F238E27FC236}">
                <a16:creationId xmlns:a16="http://schemas.microsoft.com/office/drawing/2014/main" id="{721A89C5-59BD-4A3C-8C09-D6B5C31C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5" name="price-heading">
            <a:extLst xmlns:a="http://schemas.openxmlformats.org/drawingml/2006/main">
              <a:ext uri="{FF2B5EF4-FFF2-40B4-BE49-F238E27FC236}">
                <a16:creationId xmlns:a16="http://schemas.microsoft.com/office/drawing/2014/main" id="{0A6AD242-4432-48C2-B958-64B1F7E7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电价不确定性</a:t>
            </a:r>
          </a:p>
        </p:txBody>
      </p:sp>
      <p:sp>
        <p:nvSpPr>
          <p:cNvPr id="6" name="price">
            <a:extLst xmlns:a="http://schemas.openxmlformats.org/drawingml/2006/main">
              <a:ext uri="{FF2B5EF4-FFF2-40B4-BE49-F238E27FC236}">
                <a16:creationId xmlns:a16="http://schemas.microsoft.com/office/drawing/2014/main" id="{14DE5885-9845-480F-8DDC-8675638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因果电价预测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7" name="joint-model">
            <a:extLst xmlns:a="http://schemas.openxmlformats.org/drawingml/2006/main">
              <a:ext uri="{FF2B5EF4-FFF2-40B4-BE49-F238E27FC236}">
                <a16:creationId xmlns:a16="http://schemas.microsoft.com/office/drawing/2014/main" id="{94FE93C7-E545-4B53-9849-AA5EBD8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3429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8" name="joint-model-heading">
            <a:extLst xmlns:a="http://schemas.openxmlformats.org/drawingml/2006/main">
              <a:ext uri="{FF2B5EF4-FFF2-40B4-BE49-F238E27FC236}">
                <a16:creationId xmlns:a16="http://schemas.microsoft.com/office/drawing/2014/main" id="{055FDF18-5E90-4B16-A51B-8B7DDDD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联合误差建模</a:t>
            </a:r>
          </a:p>
        </p:txBody>
      </p:sp>
      <p:sp>
        <p:nvSpPr>
          <p:cNvPr id="9" name="paired">
            <a:extLst xmlns:a="http://schemas.openxmlformats.org/drawingml/2006/main">
              <a:ext uri="{FF2B5EF4-FFF2-40B4-BE49-F238E27FC236}">
                <a16:creationId xmlns:a16="http://schemas.microsoft.com/office/drawing/2014/main" id="{48436CDD-684D-4B27-85D3-565CB86B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历史误差配对</a:t>
            </a:r>
          </a:p>
        </p:txBody>
      </p:sp>
      <p:sp>
        <p:nvSpPr>
          <p:cNvPr id="10" name="states">
            <a:extLst xmlns:a="http://schemas.openxmlformats.org/drawingml/2006/main">
              <a:ext uri="{FF2B5EF4-FFF2-40B4-BE49-F238E27FC236}">
                <a16:creationId xmlns:a16="http://schemas.microsoft.com/office/drawing/2014/main" id="{AA5BF2EC-8B51-4B39-A4CD-30A76AA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九状态联合模型</a:t>
            </a:r>
          </a:p>
        </p:txBody>
      </p:sp>
      <p:sp>
        <p:nvSpPr>
          <p:cNvPr id="11" name="samples">
            <a:extLst xmlns:a="http://schemas.openxmlformats.org/drawingml/2006/main">
              <a:ext uri="{FF2B5EF4-FFF2-40B4-BE49-F238E27FC236}">
                <a16:creationId xmlns:a16="http://schemas.microsoft.com/office/drawing/2014/main" id="{FC257464-7046-4FAC-AA20-91D14E34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转移与加权样本</a:t>
            </a:r>
          </a:p>
        </p:txBody>
      </p:sp>
      <p:sp>
        <p:nvSpPr>
          <p:cNvPr id="12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D3FC45BA-023C-4139-83F3-5666004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route-end-1">
            <a:extLst xmlns:a="http://schemas.openxmlformats.org/drawingml/2006/main">
              <a:ext uri="{FF2B5EF4-FFF2-40B4-BE49-F238E27FC236}">
                <a16:creationId xmlns:a16="http://schemas.microsoft.com/office/drawing/2014/main" id="{0B1B489F-9C95-43E7-A998-9609BAAE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72728" y="27622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5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C1BEC7CA-A554-430A-B107-4784BB82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end-2">
            <a:extLst xmlns:a="http://schemas.openxmlformats.org/drawingml/2006/main">
              <a:ext uri="{FF2B5EF4-FFF2-40B4-BE49-F238E27FC236}">
                <a16:creationId xmlns:a16="http://schemas.microsoft.com/office/drawing/2014/main" id="{1799345A-EA53-40CB-BD3D-B684CBD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95626" y="2763203"/>
            <a:ext cx="0" cy="150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8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07F0609B-BE09-42BA-9190-CBE79358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route-end-3">
            <a:extLst xmlns:a="http://schemas.openxmlformats.org/drawingml/2006/main">
              <a:ext uri="{FF2B5EF4-FFF2-40B4-BE49-F238E27FC236}">
                <a16:creationId xmlns:a16="http://schemas.microsoft.com/office/drawing/2014/main" id="{837362DB-93E2-4950-8720-A6B7AF4D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72728" y="4914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1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5C10D45E-B918-4285-86F6-BBC9FC86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end-4">
            <a:extLst xmlns:a="http://schemas.openxmlformats.org/drawingml/2006/main">
              <a:ext uri="{FF2B5EF4-FFF2-40B4-BE49-F238E27FC236}">
                <a16:creationId xmlns:a16="http://schemas.microsoft.com/office/drawing/2014/main" id="{4115850C-3E63-4EC7-A8FC-E089D1D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3095626" y="2915603"/>
            <a:ext cx="0" cy="1998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4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B77514D4-1558-4E07-BADF-46F06C1B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5">
            <a:extLst xmlns:a="http://schemas.openxmlformats.org/drawingml/2006/main">
              <a:ext uri="{FF2B5EF4-FFF2-40B4-BE49-F238E27FC236}">
                <a16:creationId xmlns:a16="http://schemas.microsoft.com/office/drawing/2014/main" id="{3F85C1EF-FCCB-442E-BC1B-59A9CD9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096578" y="2914651"/>
            <a:ext cx="6076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7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2617F8EB-2C11-4110-AE6E-9080DE99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route-end-6">
            <a:extLst xmlns:a="http://schemas.openxmlformats.org/drawingml/2006/main">
              <a:ext uri="{FF2B5EF4-FFF2-40B4-BE49-F238E27FC236}">
                <a16:creationId xmlns:a16="http://schemas.microsoft.com/office/drawing/2014/main" id="{3418B8DB-3555-4554-9F65-623C2AF8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67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5143501" y="323945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0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2080C433-D36F-440F-B156-6FBD90D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323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7">
            <a:extLst xmlns:a="http://schemas.openxmlformats.org/drawingml/2006/main">
              <a:ext uri="{FF2B5EF4-FFF2-40B4-BE49-F238E27FC236}">
                <a16:creationId xmlns:a16="http://schemas.microsoft.com/office/drawing/2014/main" id="{39BC1BC0-AE7B-48DA-A9B0-FA532AC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761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5143501" y="432530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3" name="fixed-strategy">
            <a:extLst xmlns:a="http://schemas.openxmlformats.org/drawingml/2006/main">
              <a:ext uri="{FF2B5EF4-FFF2-40B4-BE49-F238E27FC236}">
                <a16:creationId xmlns:a16="http://schemas.microsoft.com/office/drawing/2014/main" id="{A4411BD9-99CF-4799-ACAC-7BDA791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81125"/>
            <a:ext cx="7191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4" name="fixed-strategy-heading">
            <a:extLst xmlns:a="http://schemas.openxmlformats.org/drawingml/2006/main">
              <a:ext uri="{FF2B5EF4-FFF2-40B4-BE49-F238E27FC236}">
                <a16:creationId xmlns:a16="http://schemas.microsoft.com/office/drawing/2014/main" id="{69969230-4DF4-443A-B7D0-81E5824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7162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4-2  固定计划</a:t>
            </a:r>
          </a:p>
        </p:txBody>
      </p:sp>
      <p:sp>
        <p:nvSpPr>
          <p:cNvPr id="35" name="rolling-strategy">
            <a:extLst xmlns:a="http://schemas.openxmlformats.org/drawingml/2006/main">
              <a:ext uri="{FF2B5EF4-FFF2-40B4-BE49-F238E27FC236}">
                <a16:creationId xmlns:a16="http://schemas.microsoft.com/office/drawing/2014/main" id="{23D840CF-D727-4E9B-80B9-0B5007A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38575"/>
            <a:ext cx="719137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6" name="rolling-strategy-heading">
            <a:extLst xmlns:a="http://schemas.openxmlformats.org/drawingml/2006/main">
              <a:ext uri="{FF2B5EF4-FFF2-40B4-BE49-F238E27FC236}">
                <a16:creationId xmlns:a16="http://schemas.microsoft.com/office/drawing/2014/main" id="{D7D3B79A-C1B5-41FA-9CB2-0F20AC93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2907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4-3  滚动调整</a:t>
            </a:r>
          </a:p>
        </p:txBody>
      </p:sp>
      <p:sp>
        <p:nvSpPr>
          <p:cNvPr id="37" name="fixed-plan">
            <a:extLst xmlns:a="http://schemas.openxmlformats.org/drawingml/2006/main">
              <a:ext uri="{FF2B5EF4-FFF2-40B4-BE49-F238E27FC236}">
                <a16:creationId xmlns:a16="http://schemas.microsoft.com/office/drawing/2014/main" id="{AA09DE85-1243-4ACD-B5D8-38DE92D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</a:t>
            </a:r>
          </a:p>
        </p:txBody>
      </p:sp>
      <p:sp>
        <p:nvSpPr>
          <p:cNvPr id="38" name="fixed-control">
            <a:extLst xmlns:a="http://schemas.openxmlformats.org/drawingml/2006/main">
              <a:ext uri="{FF2B5EF4-FFF2-40B4-BE49-F238E27FC236}">
                <a16:creationId xmlns:a16="http://schemas.microsoft.com/office/drawing/2014/main" id="{913CE01F-097B-4083-8BDF-08CCEAC8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39" name="fixed-result">
            <a:extLst xmlns:a="http://schemas.openxmlformats.org/drawingml/2006/main">
              <a:ext uri="{FF2B5EF4-FFF2-40B4-BE49-F238E27FC236}">
                <a16:creationId xmlns:a16="http://schemas.microsoft.com/office/drawing/2014/main" id="{FA8F9B46-8DE9-437A-A41A-8C1C63D2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2885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购电与储能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费用结果</a:t>
            </a:r>
          </a:p>
        </p:txBody>
      </p:sp>
      <p:sp>
        <p:nvSpPr>
          <p:cNvPr id="40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7CB956D3-B684-4790-A6DC-C6F2C7E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route-end-8">
            <a:extLst xmlns:a="http://schemas.openxmlformats.org/drawingml/2006/main">
              <a:ext uri="{FF2B5EF4-FFF2-40B4-BE49-F238E27FC236}">
                <a16:creationId xmlns:a16="http://schemas.microsoft.com/office/drawing/2014/main" id="{EF548559-3994-4512-8639-D84AF463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725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3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E7110E0A-54C3-4931-B408-D37C7F87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route-end-9">
            <a:extLst xmlns:a="http://schemas.openxmlformats.org/drawingml/2006/main">
              <a:ext uri="{FF2B5EF4-FFF2-40B4-BE49-F238E27FC236}">
                <a16:creationId xmlns:a16="http://schemas.microsoft.com/office/drawing/2014/main" id="{EFEC05C9-29DA-42BD-8C96-4929795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2392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6" name="rolling-plan">
            <a:extLst xmlns:a="http://schemas.openxmlformats.org/drawingml/2006/main">
              <a:ext uri="{FF2B5EF4-FFF2-40B4-BE49-F238E27FC236}">
                <a16:creationId xmlns:a16="http://schemas.microsoft.com/office/drawing/2014/main" id="{9FC9D5AC-C28F-4A43-94A1-1EE3094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更新预报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生成候选</a:t>
            </a:r>
          </a:p>
        </p:txBody>
      </p:sp>
      <p:sp>
        <p:nvSpPr>
          <p:cNvPr id="47" name="rolling-control">
            <a:extLst xmlns:a="http://schemas.openxmlformats.org/drawingml/2006/main">
              <a:ext uri="{FF2B5EF4-FFF2-40B4-BE49-F238E27FC236}">
                <a16:creationId xmlns:a16="http://schemas.microsoft.com/office/drawing/2014/main" id="{4FD666B1-0C3A-4749-9014-4AC76066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9582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调整与储能</a:t>
            </a:r>
          </a:p>
        </p:txBody>
      </p:sp>
      <p:sp>
        <p:nvSpPr>
          <p:cNvPr id="48" name="rolling-result">
            <a:extLst xmlns:a="http://schemas.openxmlformats.org/drawingml/2006/main">
              <a:ext uri="{FF2B5EF4-FFF2-40B4-BE49-F238E27FC236}">
                <a16:creationId xmlns:a16="http://schemas.microsoft.com/office/drawing/2014/main" id="{79AA3904-A700-4B44-973F-F19065B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695825"/>
            <a:ext cx="166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费用对照</a:t>
            </a:r>
          </a:p>
        </p:txBody>
      </p:sp>
      <p:sp>
        <p:nvSpPr>
          <p:cNvPr id="49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40F6A118-B509-497D-AAA9-562E730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016D15A4-CACE-42B3-95E5-1D11AA86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9725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2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73F39FB9-932F-4D73-B3F8-234C274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59DD77A8-7C2E-4390-8761-B133B733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2392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5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1F172F04-F96A-4844-A8B2-A683625D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573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16F975DC-6E5D-4B0D-AFD4-9F537E94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868478" y="37433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8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AC256013-74BF-4105-BC16-9F321A1A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4D218D57-4861-400B-ADDA-ECF27FAC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58" idx="0"/>
            <a:endCxn xmlns:a="http://schemas.openxmlformats.org/drawingml/2006/main" id="59" idx="2"/>
          </p:cNvCxnSpPr>
          <p:nvPr/>
        </p:nvCxnSpPr>
        <p:spPr>
          <a:xfrm xmlns:a="http://schemas.openxmlformats.org/drawingml/2006/main" flipV="1">
            <a:off x="7181851" y="262032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1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A396E476-DB16-4732-952B-827D831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7A19C032-5994-48E4-A018-A35F3446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7182803" y="2619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4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3847772C-8252-4981-B2E8-C8760F5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12A9179A-5091-4EF8-9ED1-40180869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7181851" y="3744278"/>
            <a:ext cx="0" cy="1369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7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EA48A7B8-4C8C-4958-9275-FC53F794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ECB6EFD1-D58F-4E6F-A658-8811E1A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82803" y="51149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0" name="footer">
            <a:extLst xmlns:a="http://schemas.openxmlformats.org/drawingml/2006/main">
              <a:ext uri="{FF2B5EF4-FFF2-40B4-BE49-F238E27FC236}">
                <a16:creationId xmlns:a16="http://schemas.microsoft.com/office/drawing/2014/main" id="{84855CC8-F15E-4473-86B7-E5F8C5DB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预测价用于规划，当前真实价用于执行与结算</a:t>
            </a:r>
          </a:p>
        </p:txBody>
      </p:sp>
    </p:spTree>
    <p:extLst>
      <p:ext uri="{BB962C8B-B14F-4D97-AF65-F5344CB8AC3E}">
        <p14:creationId xmlns:p14="http://schemas.microsoft.com/office/powerpoint/2010/main" val="2116176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2026-09-13T08:11:14.6530000Z</dcterms:created>
  <dcterms:modified xsi:type="dcterms:W3CDTF">2026-09-13T08:11:14.6530000Z</dcterms:modified>
</coreProperties>
</file>