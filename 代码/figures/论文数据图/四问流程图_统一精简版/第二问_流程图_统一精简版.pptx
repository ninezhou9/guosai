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7eae2b42a84f9d" /><Relationship Type="http://schemas.openxmlformats.org/officeDocument/2006/relationships/extended-properties" Target="/docProps/app.xml" Id="Rb5dfab2142fe4d62" /><Relationship Type="http://schemas.openxmlformats.org/officeDocument/2006/relationships/officeDocument" Target="/ppt/presentation.xml" Id="R11d87760f97c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edfcca44540e9"/>
  </p:sldMasterIdLst>
  <p:notesMasterIdLst>
    <p:notesMasterId xmlns:r="http://schemas.openxmlformats.org/officeDocument/2006/relationships" r:id="R3719a9d4ac1542ea"/>
  </p:notesMasterIdLst>
  <p:sldIdLst>
    <p:sldId xmlns:r="http://schemas.openxmlformats.org/officeDocument/2006/relationships" id="256" r:id="R248543851b644176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fd33fc8d714ef7" /><Relationship Type="http://schemas.openxmlformats.org/officeDocument/2006/relationships/slideMaster" Target="/ppt/slideMasters/slideMaster1.xml" Id="Racaedfcca44540e9" /><Relationship Type="http://schemas.openxmlformats.org/officeDocument/2006/relationships/notesMaster" Target="/ppt/notesMasters/notesMaster1.xml" Id="R3719a9d4ac1542ea" /><Relationship Type="http://schemas.openxmlformats.org/officeDocument/2006/relationships/presProps" Target="/ppt/presProps.xml" Id="Re124dc8eec3e449b" /><Relationship Type="http://schemas.openxmlformats.org/officeDocument/2006/relationships/tableStyles" Target="/ppt/tableStyles.xml" Id="R26ffd615a22343f8" /><Relationship Type="http://schemas.openxmlformats.org/officeDocument/2006/relationships/slide" Target="/ppt/slides/slide1.xml" Id="R248543851b64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7ead5f876b41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779474cfc41c2" /><Relationship Type="http://schemas.openxmlformats.org/officeDocument/2006/relationships/notesMaster" Target="/ppt/notesMasters/notesMaster1.xml" Id="R2607ddde5f1e48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71dbe247a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00631fc924d12" /><Relationship Type="http://schemas.openxmlformats.org/officeDocument/2006/relationships/slideLayout" Target="/ppt/slideLayouts/slideLayout1.xml" Id="R6ade25f2a760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e25f2a760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f2d1b84e40c3" /><Relationship Type="http://schemas.openxmlformats.org/officeDocument/2006/relationships/notesSlide" Target="/ppt/notesSlides/notesSlide1.xml" Id="R69ce9a0ef63849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outer-frame">
            <a:extLst xmlns:a="http://schemas.openxmlformats.org/drawingml/2006/main">
              <a:ext uri="{FF2B5EF4-FFF2-40B4-BE49-F238E27FC236}">
                <a16:creationId xmlns:a16="http://schemas.microsoft.com/office/drawing/2014/main" id="{D381BF54-8FEE-462E-A21C-7504585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045FDE-0791-45A8-BF75-7D0F8624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第二问  概率预测与固定计划反馈控制</a:t>
            </a:r>
          </a:p>
        </p:txBody>
      </p:sp>
      <p:sp>
        <p:nvSpPr>
          <p:cNvPr id="3" name="forecast">
            <a:extLst xmlns:a="http://schemas.openxmlformats.org/drawingml/2006/main">
              <a:ext uri="{FF2B5EF4-FFF2-40B4-BE49-F238E27FC236}">
                <a16:creationId xmlns:a16="http://schemas.microsoft.com/office/drawing/2014/main" id="{50BBE65B-04F5-4645-B0D9-C6D229C7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forecast-heading">
            <a:extLst xmlns:a="http://schemas.openxmlformats.org/drawingml/2006/main">
              <a:ext uri="{FF2B5EF4-FFF2-40B4-BE49-F238E27FC236}">
                <a16:creationId xmlns:a16="http://schemas.microsoft.com/office/drawing/2014/main" id="{0C9566C2-075B-4E19-9A6B-FBCBF057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LightGBM 概率预测</a:t>
            </a:r>
          </a:p>
        </p:txBody>
      </p:sp>
      <p:sp>
        <p:nvSpPr>
          <p:cNvPr id="5" name="history">
            <a:extLst xmlns:a="http://schemas.openxmlformats.org/drawingml/2006/main">
              <a:ext uri="{FF2B5EF4-FFF2-40B4-BE49-F238E27FC236}">
                <a16:creationId xmlns:a16="http://schemas.microsoft.com/office/drawing/2014/main" id="{4C6905BB-55AA-4452-8D2A-1D30A48F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历史负荷与光伏</a:t>
            </a:r>
          </a:p>
        </p:txBody>
      </p:sp>
      <p:sp>
        <p:nvSpPr>
          <p:cNvPr id="6" name="direct">
            <a:extLst xmlns:a="http://schemas.openxmlformats.org/drawingml/2006/main">
              <a:ext uri="{FF2B5EF4-FFF2-40B4-BE49-F238E27FC236}">
                <a16:creationId xmlns:a16="http://schemas.microsoft.com/office/drawing/2014/main" id="{F5CFCCFF-A1E4-4C41-9090-AAA1241C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7" name="separate">
            <a:extLst xmlns:a="http://schemas.openxmlformats.org/drawingml/2006/main">
              <a:ext uri="{FF2B5EF4-FFF2-40B4-BE49-F238E27FC236}">
                <a16:creationId xmlns:a16="http://schemas.microsoft.com/office/drawing/2014/main" id="{7CE167A3-CEC7-4C2B-B842-51D704F5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8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A75F17A9-E1F8-4E62-A821-CEE51FC2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932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route-end-1">
            <a:extLst xmlns:a="http://schemas.openxmlformats.org/drawingml/2006/main">
              <a:ext uri="{FF2B5EF4-FFF2-40B4-BE49-F238E27FC236}">
                <a16:creationId xmlns:a16="http://schemas.microsoft.com/office/drawing/2014/main" id="{F1CCEAD9-2370-4ABC-AB6F-BA77698A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571751" y="2934653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23A73323-646F-4529-9EC5-6AEE791C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route-end-2">
            <a:extLst xmlns:a="http://schemas.openxmlformats.org/drawingml/2006/main">
              <a:ext uri="{FF2B5EF4-FFF2-40B4-BE49-F238E27FC236}">
                <a16:creationId xmlns:a16="http://schemas.microsoft.com/office/drawing/2014/main" id="{03BF33C0-948D-47DD-9666-94977572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648778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4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13C5D356-0EE8-4D0A-9E1D-794BB87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route-end-3">
            <a:extLst xmlns:a="http://schemas.openxmlformats.org/drawingml/2006/main">
              <a:ext uri="{FF2B5EF4-FFF2-40B4-BE49-F238E27FC236}">
                <a16:creationId xmlns:a16="http://schemas.microsoft.com/office/drawing/2014/main" id="{DA3EB565-D2D8-482B-B30C-E7626D98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64782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7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7E5A8449-C3C5-4A4D-AE08-50744B0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route-end-4">
            <a:extLst xmlns:a="http://schemas.openxmlformats.org/drawingml/2006/main">
              <a:ext uri="{FF2B5EF4-FFF2-40B4-BE49-F238E27FC236}">
                <a16:creationId xmlns:a16="http://schemas.microsoft.com/office/drawing/2014/main" id="{F65F7AE6-F923-4569-AFF9-7D6DE5D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572703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0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179018DC-2D42-466D-ACCC-535BA52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oute-end-5">
            <a:extLst xmlns:a="http://schemas.openxmlformats.org/drawingml/2006/main">
              <a:ext uri="{FF2B5EF4-FFF2-40B4-BE49-F238E27FC236}">
                <a16:creationId xmlns:a16="http://schemas.microsoft.com/office/drawing/2014/main" id="{0D1242A2-3CBC-4594-88E5-ACF92EBA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49567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3" name="calibrate">
            <a:extLst xmlns:a="http://schemas.openxmlformats.org/drawingml/2006/main">
              <a:ext uri="{FF2B5EF4-FFF2-40B4-BE49-F238E27FC236}">
                <a16:creationId xmlns:a16="http://schemas.microsoft.com/office/drawing/2014/main" id="{7865CD18-E772-497E-8731-E2929107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中心修正与残差校准</a:t>
            </a:r>
          </a:p>
        </p:txBody>
      </p:sp>
      <p:sp>
        <p:nvSpPr>
          <p:cNvPr id="24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E5866D79-CC49-42B4-BAFD-F3B610FF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6">
            <a:extLst xmlns:a="http://schemas.openxmlformats.org/drawingml/2006/main">
              <a:ext uri="{FF2B5EF4-FFF2-40B4-BE49-F238E27FC236}">
                <a16:creationId xmlns:a16="http://schemas.microsoft.com/office/drawing/2014/main" id="{9CAE8E44-1155-48AD-B92C-626B7DF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64782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7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A0437F82-BF63-4E62-87BF-4B60FBF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7">
            <a:extLst xmlns:a="http://schemas.openxmlformats.org/drawingml/2006/main">
              <a:ext uri="{FF2B5EF4-FFF2-40B4-BE49-F238E27FC236}">
                <a16:creationId xmlns:a16="http://schemas.microsoft.com/office/drawing/2014/main" id="{A59FE123-F9C9-4B8D-9481-35CDC5A8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648778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0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35D8CD1A-E054-43F2-8304-F12316B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8">
            <a:extLst xmlns:a="http://schemas.openxmlformats.org/drawingml/2006/main">
              <a:ext uri="{FF2B5EF4-FFF2-40B4-BE49-F238E27FC236}">
                <a16:creationId xmlns:a16="http://schemas.microsoft.com/office/drawing/2014/main" id="{1552B8F8-7EEE-4E7B-8331-9A0946B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2571751" y="42967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3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73C39A7D-E65C-4016-8908-FFAF8817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9">
            <a:extLst xmlns:a="http://schemas.openxmlformats.org/drawingml/2006/main">
              <a:ext uri="{FF2B5EF4-FFF2-40B4-BE49-F238E27FC236}">
                <a16:creationId xmlns:a16="http://schemas.microsoft.com/office/drawing/2014/main" id="{931F7BF4-B49C-4CCE-99FA-3D5B0F5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349567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6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66BCF7D1-6A0B-462D-B09C-D1C42022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1C054598-4569-4616-A4C0-A749AD9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572703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9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E1A12B93-D1DA-4387-8A09-CA82D3E6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零时购电规划</a:t>
            </a:r>
          </a:p>
        </p:txBody>
      </p:sp>
      <p:sp>
        <p:nvSpPr>
          <p:cNvPr id="40" name="quantile">
            <a:extLst xmlns:a="http://schemas.openxmlformats.org/drawingml/2006/main">
              <a:ext uri="{FF2B5EF4-FFF2-40B4-BE49-F238E27FC236}">
                <a16:creationId xmlns:a16="http://schemas.microsoft.com/office/drawing/2014/main" id="{23EBD525-C11A-4526-BDB6-2C71D21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校准后80分位</a:t>
            </a:r>
          </a:p>
        </p:txBody>
      </p:sp>
      <p:sp>
        <p:nvSpPr>
          <p:cNvPr id="41" name="fixed-plan">
            <a:extLst xmlns:a="http://schemas.openxmlformats.org/drawingml/2006/main">
              <a:ext uri="{FF2B5EF4-FFF2-40B4-BE49-F238E27FC236}">
                <a16:creationId xmlns:a16="http://schemas.microsoft.com/office/drawing/2014/main" id="{C70B714C-57B4-4C36-AF50-4C337131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2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9FE39FE8-DA32-4D51-A1D5-2E97E0F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F01667DA-D603-4B49-80DF-1E29E31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297103" y="27051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5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1A50B4A1-960C-4722-B7C2-58EEB7DE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储能价值评估</a:t>
            </a:r>
          </a:p>
        </p:txBody>
      </p:sp>
      <p:sp>
        <p:nvSpPr>
          <p:cNvPr id="46" name="error">
            <a:extLst xmlns:a="http://schemas.openxmlformats.org/drawingml/2006/main">
              <a:ext uri="{FF2B5EF4-FFF2-40B4-BE49-F238E27FC236}">
                <a16:creationId xmlns:a16="http://schemas.microsoft.com/office/drawing/2014/main" id="{6151B615-7FEF-498A-9E26-127B10A2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三状态误差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类内加权样本</a:t>
            </a:r>
          </a:p>
        </p:txBody>
      </p:sp>
      <p:sp>
        <p:nvSpPr>
          <p:cNvPr id="47" name="value">
            <a:extLst xmlns:a="http://schemas.openxmlformats.org/drawingml/2006/main">
              <a:ext uri="{FF2B5EF4-FFF2-40B4-BE49-F238E27FC236}">
                <a16:creationId xmlns:a16="http://schemas.microsoft.com/office/drawing/2014/main" id="{5163B690-CA8A-4E43-BA53-2747A79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库存价值</a:t>
            </a:r>
          </a:p>
        </p:txBody>
      </p: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FE26593F-D486-45E0-93F4-28CE048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CD91B5F1-64E3-4EC2-BAB8-EA12BD5B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297103" y="50101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BCD3F0BC-CFF1-4A5D-AC6A-55A8D1F7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4AF2F3E3-7EA7-454A-96E8-E8E72E80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296728" y="49244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4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FB5B87A3-3DB8-4510-A94D-1652055C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1B993E50-A0C6-4BDC-BCB9-17EEA57D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54" idx="0"/>
            <a:endCxn xmlns:a="http://schemas.openxmlformats.org/drawingml/2006/main" id="55" idx="2"/>
          </p:cNvCxnSpPr>
          <p:nvPr/>
        </p:nvCxnSpPr>
        <p:spPr>
          <a:xfrm xmlns:a="http://schemas.openxmlformats.org/drawingml/2006/main" flipV="1">
            <a:off x="4857751" y="2706053"/>
            <a:ext cx="0" cy="22174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7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BB93D562-18A1-4AA7-9B65-9F9D782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2F5031B5-A308-4260-AEC8-E15C576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858703" y="27051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0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EEC239ED-6EA9-4AB4-A87C-FDBC6FF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D1012549-DEA3-4D08-BFB0-4DFE9F7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857751" y="4925378"/>
            <a:ext cx="0" cy="838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3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04456AEF-0994-4CDB-A612-34C491A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CA488C0E-2119-4EB6-9360-63910EB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4858703" y="50101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6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3B6AB113-EE76-4949-A0A4-4BCE3F59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306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4984BCFC-43CC-4AE9-9F9A-65A8DA3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4647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8715376" y="3068003"/>
            <a:ext cx="0" cy="1579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9" name="feedback">
            <a:extLst xmlns:a="http://schemas.openxmlformats.org/drawingml/2006/main">
              <a:ext uri="{FF2B5EF4-FFF2-40B4-BE49-F238E27FC236}">
                <a16:creationId xmlns:a16="http://schemas.microsoft.com/office/drawing/2014/main" id="{C6D7007D-74F9-4CC9-8F73-54DAEB31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70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FBC1CE80-4871-4E66-90D0-AC5A453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十分钟反馈控制</a:t>
            </a:r>
          </a:p>
        </p:txBody>
      </p:sp>
      <p:sp>
        <p:nvSpPr>
          <p:cNvPr id="71" name="observe">
            <a:extLst xmlns:a="http://schemas.openxmlformats.org/drawingml/2006/main">
              <a:ext uri="{FF2B5EF4-FFF2-40B4-BE49-F238E27FC236}">
                <a16:creationId xmlns:a16="http://schemas.microsoft.com/office/drawing/2014/main" id="{D5652C3D-0AB6-4E6C-B933-AAD9EC82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52675"/>
            <a:ext cx="3429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当前净负荷与实际库存</a:t>
            </a:r>
          </a:p>
        </p:txBody>
      </p:sp>
      <p:sp>
        <p:nvSpPr>
          <p:cNvPr id="72" name="action">
            <a:extLst xmlns:a="http://schemas.openxmlformats.org/drawingml/2006/main">
              <a:ext uri="{FF2B5EF4-FFF2-40B4-BE49-F238E27FC236}">
                <a16:creationId xmlns:a16="http://schemas.microsoft.com/office/drawing/2014/main" id="{533D529D-946D-4853-A907-FBE51F1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充放电决策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不足紧急购电</a:t>
            </a:r>
          </a:p>
        </p:txBody>
      </p:sp>
      <p:sp>
        <p:nvSpPr>
          <p:cNvPr id="73" name="result">
            <a:extLst xmlns:a="http://schemas.openxmlformats.org/drawingml/2006/main">
              <a:ext uri="{FF2B5EF4-FFF2-40B4-BE49-F238E27FC236}">
                <a16:creationId xmlns:a16="http://schemas.microsoft.com/office/drawing/2014/main" id="{8053C069-1DF5-49AB-9D1F-4920BD3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482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实际费用与库存轨迹</a:t>
            </a:r>
          </a:p>
        </p:txBody>
      </p:sp>
      <p:sp>
        <p:nvSpPr>
          <p:cNvPr id="74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3AD36EB2-0665-435B-8EDF-5D43E678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929142EB-6444-4450-9784-AF76046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74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2668251" y="3029903"/>
            <a:ext cx="0" cy="636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7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79E1C903-3804-44EC-8B99-5397096B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40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7403B49E-A4A7-41C3-9A88-5617A9CB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83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2668251" y="4411028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0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6E4B84D4-A0CA-4B96-8E07-E7CEB561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363889D4-7438-4192-BB2C-ABF5776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9725978" y="2705101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3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1DF6AA1A-887D-49C6-8AFE-0FCC76F7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4B18B9BD-9242-4D26-A9EF-01ABA498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83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10191751" y="270605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6" name="route-start-23">
            <a:extLst xmlns:a="http://schemas.openxmlformats.org/drawingml/2006/main">
              <a:ext uri="{FF2B5EF4-FFF2-40B4-BE49-F238E27FC236}">
                <a16:creationId xmlns:a16="http://schemas.microsoft.com/office/drawing/2014/main" id="{2C0BD949-491E-4CAF-B26A-82ADFA5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route-end-23">
            <a:extLst xmlns:a="http://schemas.openxmlformats.org/drawingml/2006/main">
              <a:ext uri="{FF2B5EF4-FFF2-40B4-BE49-F238E27FC236}">
                <a16:creationId xmlns:a16="http://schemas.microsoft.com/office/drawing/2014/main" id="{AB905960-8ACF-4637-BFD0-07D8729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10192703" y="3905251"/>
            <a:ext cx="7505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9" name="route-start-24">
            <a:extLst xmlns:a="http://schemas.openxmlformats.org/drawingml/2006/main">
              <a:ext uri="{FF2B5EF4-FFF2-40B4-BE49-F238E27FC236}">
                <a16:creationId xmlns:a16="http://schemas.microsoft.com/office/drawing/2014/main" id="{05CB912A-906E-4F71-848F-51D7F0B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route-end-24">
            <a:extLst xmlns:a="http://schemas.openxmlformats.org/drawingml/2006/main">
              <a:ext uri="{FF2B5EF4-FFF2-40B4-BE49-F238E27FC236}">
                <a16:creationId xmlns:a16="http://schemas.microsoft.com/office/drawing/2014/main" id="{102E2A14-7579-4B44-BFC3-E127F2A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725978" y="5010151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2" name="route-start-25">
            <a:extLst xmlns:a="http://schemas.openxmlformats.org/drawingml/2006/main">
              <a:ext uri="{FF2B5EF4-FFF2-40B4-BE49-F238E27FC236}">
                <a16:creationId xmlns:a16="http://schemas.microsoft.com/office/drawing/2014/main" id="{74B13871-8BE4-4B73-89A9-E2DE461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route-end-25">
            <a:extLst xmlns:a="http://schemas.openxmlformats.org/drawingml/2006/main">
              <a:ext uri="{FF2B5EF4-FFF2-40B4-BE49-F238E27FC236}">
                <a16:creationId xmlns:a16="http://schemas.microsoft.com/office/drawing/2014/main" id="{F8688B4F-D999-4571-A7C7-7D0C6186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92" idx="0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0382251" y="4191953"/>
            <a:ext cx="0" cy="817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5" name="route-start-26">
            <a:extLst xmlns:a="http://schemas.openxmlformats.org/drawingml/2006/main">
              <a:ext uri="{FF2B5EF4-FFF2-40B4-BE49-F238E27FC236}">
                <a16:creationId xmlns:a16="http://schemas.microsoft.com/office/drawing/2014/main" id="{FC045175-3533-43C5-8269-1CB987D8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route-end-26">
            <a:extLst xmlns:a="http://schemas.openxmlformats.org/drawingml/2006/main">
              <a:ext uri="{FF2B5EF4-FFF2-40B4-BE49-F238E27FC236}">
                <a16:creationId xmlns:a16="http://schemas.microsoft.com/office/drawing/2014/main" id="{2DAEC13C-7421-44BB-9C89-83E794F0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0383203" y="4191001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8" name="footer">
            <a:extLst xmlns:a="http://schemas.openxmlformats.org/drawingml/2006/main">
              <a:ext uri="{FF2B5EF4-FFF2-40B4-BE49-F238E27FC236}">
                <a16:creationId xmlns:a16="http://schemas.microsoft.com/office/drawing/2014/main" id="{03AB8E06-2477-4615-A885-EF8F1B7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购电计划全天固定，储能决策随当前观测更新</a:t>
            </a:r>
          </a:p>
        </p:txBody>
      </p:sp>
    </p:spTree>
    <p:extLst>
      <p:ext uri="{BB962C8B-B14F-4D97-AF65-F5344CB8AC3E}">
        <p14:creationId xmlns:p14="http://schemas.microsoft.com/office/powerpoint/2010/main" val="76750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2026-09-13T08:10:57.7850000Z</dcterms:created>
  <dcterms:modified xsi:type="dcterms:W3CDTF">2026-09-13T08:10:57.7850000Z</dcterms:modified>
</coreProperties>
</file>