
<file path=[Content_Types].xml><?xml version="1.0" encoding="utf-8"?>
<Types xmlns="http://schemas.openxmlformats.org/package/2006/content-types">
  <Default Extension="xml" ContentType="application/vnd.openxmlformats-package.core-properties+xml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c553e9e97dca43ec" /><Relationship Type="http://schemas.openxmlformats.org/officeDocument/2006/relationships/extended-properties" Target="/docProps/app.xml" Id="R082d0915434c49fa" /><Relationship Type="http://schemas.openxmlformats.org/officeDocument/2006/relationships/officeDocument" Target="/ppt/presentation.xml" Id="R2aabc7fa7ea14a4f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6c2bb9aeefa34682"/>
  </p:sldMasterIdLst>
  <p:notesMasterIdLst>
    <p:notesMasterId xmlns:r="http://schemas.openxmlformats.org/officeDocument/2006/relationships" r:id="R5468679cfb1c4279"/>
  </p:notesMasterIdLst>
  <p:sldIdLst>
    <p:sldId xmlns:r="http://schemas.openxmlformats.org/officeDocument/2006/relationships" id="256" r:id="R0bb55b34aedf4621"/>
  </p:sldIdLst>
  <p:sldSz cx="15240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efe42ccab47f46aa" /><Relationship Type="http://schemas.openxmlformats.org/officeDocument/2006/relationships/slideMaster" Target="/ppt/slideMasters/slideMaster1.xml" Id="R6c2bb9aeefa34682" /><Relationship Type="http://schemas.openxmlformats.org/officeDocument/2006/relationships/notesMaster" Target="/ppt/notesMasters/notesMaster1.xml" Id="R5468679cfb1c4279" /><Relationship Type="http://schemas.openxmlformats.org/officeDocument/2006/relationships/presProps" Target="/ppt/presProps.xml" Id="R2ec777cd603f4d7e" /><Relationship Type="http://schemas.openxmlformats.org/officeDocument/2006/relationships/tableStyles" Target="/ppt/tableStyles.xml" Id="Rd55c5bf7613d4ab8" /><Relationship Type="http://schemas.openxmlformats.org/officeDocument/2006/relationships/slide" Target="/ppt/slides/slide1.xml" Id="R0bb55b34aedf4621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74ecbf2101984c74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d44853cbe4a94912" /><Relationship Type="http://schemas.openxmlformats.org/officeDocument/2006/relationships/notesMaster" Target="/ppt/notesMasters/notesMaster1.xml" Id="Re1c740fd6973405e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/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c897d4d3ca4045c5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a034c49db56548be" /><Relationship Type="http://schemas.openxmlformats.org/officeDocument/2006/relationships/slideLayout" Target="/ppt/slideLayouts/slideLayout1.xml" Id="R9fb80ed836d1499f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9fb80ed836d1499f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628d93b38fc04c8a" /><Relationship Type="http://schemas.openxmlformats.org/officeDocument/2006/relationships/notesSlide" Target="/ppt/notesSlides/notesSlide1.xml" Id="R110bf3e7ad374443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1" name="outer-frame">
            <a:extLst xmlns:a="http://schemas.openxmlformats.org/drawingml/2006/main">
              <a:ext uri="{FF2B5EF4-FFF2-40B4-BE49-F238E27FC236}">
                <a16:creationId xmlns:a16="http://schemas.microsoft.com/office/drawing/2014/main" id="{4BC14CCA-19AB-4841-A209-CE567CF2FC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8600" y="266700"/>
            <a:ext cx="14782800" cy="6191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28575">
            <a:solidFill>
              <a:srgbClr val="8198B3"/>
            </a:solidFill>
            <a:prstDash val="dash"/>
          </a:ln>
        </p:spPr>
      </p:sp>
      <p:sp>
        <p:nvSpPr>
          <p:cNvPr id="2" name="slide-title">
            <a:extLst xmlns:a="http://schemas.openxmlformats.org/drawingml/2006/main">
              <a:ext uri="{FF2B5EF4-FFF2-40B4-BE49-F238E27FC236}">
                <a16:creationId xmlns:a16="http://schemas.microsoft.com/office/drawing/2014/main" id="{BACFB724-8CEC-42FB-8C5C-4CA3DE187A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466725"/>
            <a:ext cx="140970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2400" b="1">
                <a:solidFill>
                  <a:srgbClr val="367CB3"/>
                </a:solidFill>
                <a:latin typeface="SimSun"/>
                <a:ea typeface="SimSun"/>
                <a:cs typeface="SimSun"/>
              </a:defRPr>
            </a:pPr>
            <a:r>
              <a:rPr sz="2400" b="1">
                <a:solidFill>
                  <a:srgbClr val="367CB3"/>
                </a:solidFill>
                <a:latin typeface="SimSun"/>
                <a:ea typeface="SimSun"/>
                <a:cs typeface="SimSun"/>
              </a:rPr>
              <a:t>第四问  净负荷与电价的联合不确定性调度</a:t>
            </a:r>
          </a:p>
        </p:txBody>
      </p:sp>
      <p:sp>
        <p:nvSpPr>
          <p:cNvPr id="3" name="load-heading">
            <a:extLst xmlns:a="http://schemas.openxmlformats.org/drawingml/2006/main">
              <a:ext uri="{FF2B5EF4-FFF2-40B4-BE49-F238E27FC236}">
                <a16:creationId xmlns:a16="http://schemas.microsoft.com/office/drawing/2014/main" id="{1914DD26-5B32-444D-8795-386703E23B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1714500"/>
            <a:ext cx="21907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950" b="1">
                <a:solidFill>
                  <a:srgbClr val="367CB3"/>
                </a:solidFill>
                <a:latin typeface="SimSun"/>
                <a:ea typeface="SimSun"/>
                <a:cs typeface="SimSun"/>
              </a:defRPr>
            </a:pPr>
            <a:r>
              <a:rPr sz="1950" b="1">
                <a:solidFill>
                  <a:srgbClr val="367CB3"/>
                </a:solidFill>
                <a:latin typeface="SimSun"/>
                <a:ea typeface="SimSun"/>
                <a:cs typeface="SimSun"/>
              </a:rPr>
              <a:t>净负荷不确定性</a:t>
            </a:r>
          </a:p>
        </p:txBody>
      </p:sp>
      <p:sp>
        <p:nvSpPr>
          <p:cNvPr id="4" name="netload">
            <a:extLst xmlns:a="http://schemas.openxmlformats.org/drawingml/2006/main">
              <a:ext uri="{FF2B5EF4-FFF2-40B4-BE49-F238E27FC236}">
                <a16:creationId xmlns:a16="http://schemas.microsoft.com/office/drawing/2014/main" id="{A0A68D25-18EB-4D39-A81B-61AEE02C40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2343150"/>
            <a:ext cx="2190750" cy="838200"/>
          </a:xfrm>
          <a:prstGeom xmlns:a="http://schemas.openxmlformats.org/drawingml/2006/main" prst="roundRect">
            <a:avLst>
              <a:gd name="adj" fmla="val 15909"/>
            </a:avLst>
          </a:prstGeom>
          <a:solidFill xmlns:a="http://schemas.openxmlformats.org/drawingml/2006/main">
            <a:srgbClr val="9EC3E6"/>
          </a:solidFill>
          <a:ln xmlns:a="http://schemas.openxmlformats.org/drawingml/2006/main" w="18098">
            <a:solidFill>
              <a:srgbClr val="9EC3E6"/>
            </a:solidFill>
          </a:ln>
        </p:spPr>
        <p:txBody>
          <a:bodyPr xmlns:a="http://schemas.openxmlformats.org/drawingml/2006/main" lIns="76200" tIns="66675" rIns="76200" bIns="66675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800" b="0">
                <a:solidFill>
                  <a:srgbClr val="111111"/>
                </a:solidFill>
                <a:latin typeface="SimSun"/>
                <a:ea typeface="SimSun"/>
                <a:cs typeface="SimSun"/>
              </a:defRPr>
            </a:pPr>
            <a:r>
              <a:rPr sz="1800" b="0">
                <a:solidFill>
                  <a:srgbClr val="111111"/>
                </a:solidFill>
                <a:latin typeface="SimSun"/>
                <a:ea typeface="SimSun"/>
                <a:cs typeface="SimSun"/>
              </a:rPr>
              <a:t>净负荷预测</a:t>
            </a:r>
          </a:p>
          <a:p xmlns:a="http://schemas.openxmlformats.org/drawingml/2006/main">
            <a:pPr algn="ctr">
              <a:defRPr sz="1800" b="0">
                <a:solidFill>
                  <a:srgbClr val="111111"/>
                </a:solidFill>
                <a:latin typeface="SimSun"/>
                <a:ea typeface="SimSun"/>
                <a:cs typeface="SimSun"/>
              </a:defRPr>
            </a:pPr>
            <a:r>
              <a:rPr sz="1800" b="0">
                <a:solidFill>
                  <a:srgbClr val="111111"/>
                </a:solidFill>
                <a:latin typeface="SimSun"/>
                <a:ea typeface="SimSun"/>
                <a:cs typeface="SimSun"/>
              </a:rPr>
              <a:t>历史预测误差</a:t>
            </a:r>
          </a:p>
        </p:txBody>
      </p:sp>
      <p:sp>
        <p:nvSpPr>
          <p:cNvPr id="5" name="price-heading">
            <a:extLst xmlns:a="http://schemas.openxmlformats.org/drawingml/2006/main">
              <a:ext uri="{FF2B5EF4-FFF2-40B4-BE49-F238E27FC236}">
                <a16:creationId xmlns:a16="http://schemas.microsoft.com/office/drawing/2014/main" id="{B1EB3D86-4C1F-40BB-B2A2-37E6A15325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3867150"/>
            <a:ext cx="21907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950" b="1">
                <a:solidFill>
                  <a:srgbClr val="367CB3"/>
                </a:solidFill>
                <a:latin typeface="SimSun"/>
                <a:ea typeface="SimSun"/>
                <a:cs typeface="SimSun"/>
              </a:defRPr>
            </a:pPr>
            <a:r>
              <a:rPr sz="1950" b="1">
                <a:solidFill>
                  <a:srgbClr val="367CB3"/>
                </a:solidFill>
                <a:latin typeface="SimSun"/>
                <a:ea typeface="SimSun"/>
                <a:cs typeface="SimSun"/>
              </a:rPr>
              <a:t>电价不确定性</a:t>
            </a:r>
          </a:p>
        </p:txBody>
      </p:sp>
      <p:sp>
        <p:nvSpPr>
          <p:cNvPr id="6" name="price">
            <a:extLst xmlns:a="http://schemas.openxmlformats.org/drawingml/2006/main">
              <a:ext uri="{FF2B5EF4-FFF2-40B4-BE49-F238E27FC236}">
                <a16:creationId xmlns:a16="http://schemas.microsoft.com/office/drawing/2014/main" id="{653DB393-22C4-4124-B100-50D9C1C0D1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4495800"/>
            <a:ext cx="2190750" cy="838200"/>
          </a:xfrm>
          <a:prstGeom xmlns:a="http://schemas.openxmlformats.org/drawingml/2006/main" prst="roundRect">
            <a:avLst>
              <a:gd name="adj" fmla="val 15909"/>
            </a:avLst>
          </a:prstGeom>
          <a:solidFill xmlns:a="http://schemas.openxmlformats.org/drawingml/2006/main">
            <a:srgbClr val="9EC3E6"/>
          </a:solidFill>
          <a:ln xmlns:a="http://schemas.openxmlformats.org/drawingml/2006/main" w="18098">
            <a:solidFill>
              <a:srgbClr val="9EC3E6"/>
            </a:solidFill>
          </a:ln>
        </p:spPr>
        <p:txBody>
          <a:bodyPr xmlns:a="http://schemas.openxmlformats.org/drawingml/2006/main" lIns="76200" tIns="66675" rIns="76200" bIns="66675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800" b="0">
                <a:solidFill>
                  <a:srgbClr val="111111"/>
                </a:solidFill>
                <a:latin typeface="SimSun"/>
                <a:ea typeface="SimSun"/>
                <a:cs typeface="SimSun"/>
              </a:defRPr>
            </a:pPr>
            <a:r>
              <a:rPr sz="1800" b="0">
                <a:solidFill>
                  <a:srgbClr val="111111"/>
                </a:solidFill>
                <a:latin typeface="SimSun"/>
                <a:ea typeface="SimSun"/>
                <a:cs typeface="SimSun"/>
              </a:rPr>
              <a:t>因果电价预测</a:t>
            </a:r>
          </a:p>
          <a:p xmlns:a="http://schemas.openxmlformats.org/drawingml/2006/main">
            <a:pPr algn="ctr">
              <a:defRPr sz="1800" b="0">
                <a:solidFill>
                  <a:srgbClr val="111111"/>
                </a:solidFill>
                <a:latin typeface="SimSun"/>
                <a:ea typeface="SimSun"/>
                <a:cs typeface="SimSun"/>
              </a:defRPr>
            </a:pPr>
            <a:r>
              <a:rPr sz="1800" b="0">
                <a:solidFill>
                  <a:srgbClr val="111111"/>
                </a:solidFill>
                <a:latin typeface="SimSun"/>
                <a:ea typeface="SimSun"/>
                <a:cs typeface="SimSun"/>
              </a:rPr>
              <a:t>历史预测误差</a:t>
            </a:r>
          </a:p>
        </p:txBody>
      </p:sp>
      <p:sp>
        <p:nvSpPr>
          <p:cNvPr id="7" name="joint-model">
            <a:extLst xmlns:a="http://schemas.openxmlformats.org/drawingml/2006/main">
              <a:ext uri="{FF2B5EF4-FFF2-40B4-BE49-F238E27FC236}">
                <a16:creationId xmlns:a16="http://schemas.microsoft.com/office/drawing/2014/main" id="{C7418BCC-2E4F-4A29-ADBB-641B0A429C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29000" y="1809750"/>
            <a:ext cx="3429000" cy="38766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23813">
            <a:solidFill>
              <a:srgbClr val="B0B0B0"/>
            </a:solidFill>
            <a:prstDash val="dash"/>
          </a:ln>
        </p:spPr>
      </p:sp>
      <p:sp>
        <p:nvSpPr>
          <p:cNvPr id="8" name="joint-model-heading">
            <a:extLst xmlns:a="http://schemas.openxmlformats.org/drawingml/2006/main">
              <a:ext uri="{FF2B5EF4-FFF2-40B4-BE49-F238E27FC236}">
                <a16:creationId xmlns:a16="http://schemas.microsoft.com/office/drawing/2014/main" id="{1A0945DD-D07F-48B3-9170-5FB0F83630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05200" y="2000250"/>
            <a:ext cx="32766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950" b="1">
                <a:solidFill>
                  <a:srgbClr val="367CB3"/>
                </a:solidFill>
                <a:latin typeface="SimSun"/>
                <a:ea typeface="SimSun"/>
                <a:cs typeface="SimSun"/>
              </a:defRPr>
            </a:pPr>
            <a:r>
              <a:rPr sz="1950" b="1">
                <a:solidFill>
                  <a:srgbClr val="367CB3"/>
                </a:solidFill>
                <a:latin typeface="SimSun"/>
                <a:ea typeface="SimSun"/>
                <a:cs typeface="SimSun"/>
              </a:rPr>
              <a:t>联合误差建模</a:t>
            </a:r>
          </a:p>
        </p:txBody>
      </p:sp>
      <p:sp>
        <p:nvSpPr>
          <p:cNvPr id="9" name="paired">
            <a:extLst xmlns:a="http://schemas.openxmlformats.org/drawingml/2006/main">
              <a:ext uri="{FF2B5EF4-FFF2-40B4-BE49-F238E27FC236}">
                <a16:creationId xmlns:a16="http://schemas.microsoft.com/office/drawing/2014/main" id="{FD1AECE0-2DDD-470F-BA23-7BEA1DBF66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14750" y="2600325"/>
            <a:ext cx="2857500" cy="628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8098">
            <a:solidFill>
              <a:srgbClr val="111111"/>
            </a:solidFill>
          </a:ln>
        </p:spPr>
        <p:txBody>
          <a:bodyPr xmlns:a="http://schemas.openxmlformats.org/drawingml/2006/main" lIns="76200" tIns="66675" rIns="76200" bIns="66675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800" b="0">
                <a:solidFill>
                  <a:srgbClr val="111111"/>
                </a:solidFill>
                <a:latin typeface="SimSun"/>
                <a:ea typeface="SimSun"/>
                <a:cs typeface="SimSun"/>
              </a:defRPr>
            </a:pPr>
            <a:r>
              <a:rPr sz="1800" b="0">
                <a:solidFill>
                  <a:srgbClr val="111111"/>
                </a:solidFill>
                <a:latin typeface="SimSun"/>
                <a:ea typeface="SimSun"/>
                <a:cs typeface="SimSun"/>
              </a:rPr>
              <a:t>历史误差配对</a:t>
            </a:r>
          </a:p>
        </p:txBody>
      </p:sp>
      <p:sp>
        <p:nvSpPr>
          <p:cNvPr id="10" name="states">
            <a:extLst xmlns:a="http://schemas.openxmlformats.org/drawingml/2006/main">
              <a:ext uri="{FF2B5EF4-FFF2-40B4-BE49-F238E27FC236}">
                <a16:creationId xmlns:a16="http://schemas.microsoft.com/office/drawing/2014/main" id="{4C748449-DEBF-4B56-84EF-6F2C821367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14750" y="3686175"/>
            <a:ext cx="2857500" cy="628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8098">
            <a:solidFill>
              <a:srgbClr val="111111"/>
            </a:solidFill>
          </a:ln>
        </p:spPr>
        <p:txBody>
          <a:bodyPr xmlns:a="http://schemas.openxmlformats.org/drawingml/2006/main" lIns="76200" tIns="66675" rIns="76200" bIns="66675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800" b="0">
                <a:solidFill>
                  <a:srgbClr val="111111"/>
                </a:solidFill>
                <a:latin typeface="SimSun"/>
                <a:ea typeface="SimSun"/>
                <a:cs typeface="SimSun"/>
              </a:defRPr>
            </a:pPr>
            <a:r>
              <a:rPr sz="1800" b="0">
                <a:solidFill>
                  <a:srgbClr val="111111"/>
                </a:solidFill>
                <a:latin typeface="SimSun"/>
                <a:ea typeface="SimSun"/>
                <a:cs typeface="SimSun"/>
              </a:rPr>
              <a:t>九状态联合模型</a:t>
            </a:r>
          </a:p>
        </p:txBody>
      </p:sp>
      <p:sp>
        <p:nvSpPr>
          <p:cNvPr id="11" name="samples">
            <a:extLst xmlns:a="http://schemas.openxmlformats.org/drawingml/2006/main">
              <a:ext uri="{FF2B5EF4-FFF2-40B4-BE49-F238E27FC236}">
                <a16:creationId xmlns:a16="http://schemas.microsoft.com/office/drawing/2014/main" id="{60722D23-C61F-4705-9977-68A12BE6D9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14750" y="4772025"/>
            <a:ext cx="2857500" cy="628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BD6EE"/>
          </a:solidFill>
          <a:ln xmlns:a="http://schemas.openxmlformats.org/drawingml/2006/main" w="18098">
            <a:solidFill>
              <a:srgbClr val="BBD6EE"/>
            </a:solidFill>
          </a:ln>
        </p:spPr>
        <p:txBody>
          <a:bodyPr xmlns:a="http://schemas.openxmlformats.org/drawingml/2006/main" lIns="76200" tIns="66675" rIns="76200" bIns="66675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800" b="0">
                <a:solidFill>
                  <a:srgbClr val="111111"/>
                </a:solidFill>
                <a:latin typeface="SimSun"/>
                <a:ea typeface="SimSun"/>
                <a:cs typeface="SimSun"/>
              </a:defRPr>
            </a:pPr>
            <a:r>
              <a:rPr sz="1800" b="0">
                <a:solidFill>
                  <a:srgbClr val="111111"/>
                </a:solidFill>
                <a:latin typeface="SimSun"/>
                <a:ea typeface="SimSun"/>
                <a:cs typeface="SimSun"/>
              </a:rPr>
              <a:t>转移与加权样本</a:t>
            </a:r>
          </a:p>
        </p:txBody>
      </p:sp>
      <p:sp>
        <p:nvSpPr>
          <p:cNvPr id="12" name="route-start-1">
            <a:extLst xmlns:a="http://schemas.openxmlformats.org/drawingml/2006/main">
              <a:ext uri="{FF2B5EF4-FFF2-40B4-BE49-F238E27FC236}">
                <a16:creationId xmlns:a16="http://schemas.microsoft.com/office/drawing/2014/main" id="{43F86925-5BDE-4102-8B7F-19E6EEBE61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70823" y="2761298"/>
            <a:ext cx="1905" cy="190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sp>
        <p:nvSpPr>
          <p:cNvPr id="13" name="route-end-1">
            <a:extLst xmlns:a="http://schemas.openxmlformats.org/drawingml/2006/main">
              <a:ext uri="{FF2B5EF4-FFF2-40B4-BE49-F238E27FC236}">
                <a16:creationId xmlns:a16="http://schemas.microsoft.com/office/drawing/2014/main" id="{2A6CC54A-66AF-47D2-834B-992ECB5077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94673" y="2761298"/>
            <a:ext cx="1905" cy="190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cxnSp>
        <p:nvCxnSpPr>
          <p:cNvPr id="84" name=""/>
          <p:cNvCxnSpPr>
            <a:stCxn xmlns:a="http://schemas.openxmlformats.org/drawingml/2006/main" id="12" idx="3"/>
            <a:endCxn xmlns:a="http://schemas.openxmlformats.org/drawingml/2006/main" id="13" idx="1"/>
          </p:cNvCxnSpPr>
          <p:nvPr/>
        </p:nvCxnSpPr>
        <p:spPr>
          <a:xfrm xmlns:a="http://schemas.openxmlformats.org/drawingml/2006/main">
            <a:off x="2772728" y="2762251"/>
            <a:ext cx="321945" cy="0"/>
          </a:xfrm>
          <a:prstGeom xmlns:a="http://schemas.openxmlformats.org/drawingml/2006/main" prst="straightConnector1">
            <a:avLst/>
          </a:prstGeom>
          <a:ln xmlns:a="http://schemas.openxmlformats.org/drawingml/2006/main" w="20003">
            <a:solidFill>
              <a:srgbClr val="8198B3"/>
            </a:solidFill>
          </a:ln>
        </p:spPr>
      </p:cxnSp>
      <p:sp>
        <p:nvSpPr>
          <p:cNvPr id="15" name="route-start-2">
            <a:extLst xmlns:a="http://schemas.openxmlformats.org/drawingml/2006/main">
              <a:ext uri="{FF2B5EF4-FFF2-40B4-BE49-F238E27FC236}">
                <a16:creationId xmlns:a16="http://schemas.microsoft.com/office/drawing/2014/main" id="{FF35F5BD-7BB7-4AF4-862C-4E441CDB20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94673" y="2761298"/>
            <a:ext cx="1905" cy="190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sp>
        <p:nvSpPr>
          <p:cNvPr id="16" name="route-end-2">
            <a:extLst xmlns:a="http://schemas.openxmlformats.org/drawingml/2006/main">
              <a:ext uri="{FF2B5EF4-FFF2-40B4-BE49-F238E27FC236}">
                <a16:creationId xmlns:a16="http://schemas.microsoft.com/office/drawing/2014/main" id="{955373AA-30C0-485E-8F8B-66A6075553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94673" y="2913698"/>
            <a:ext cx="1905" cy="190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cxnSp>
        <p:nvCxnSpPr>
          <p:cNvPr id="87" name=""/>
          <p:cNvCxnSpPr>
            <a:stCxn xmlns:a="http://schemas.openxmlformats.org/drawingml/2006/main" id="15" idx="2"/>
            <a:endCxn xmlns:a="http://schemas.openxmlformats.org/drawingml/2006/main" id="16" idx="0"/>
          </p:cNvCxnSpPr>
          <p:nvPr/>
        </p:nvCxnSpPr>
        <p:spPr>
          <a:xfrm xmlns:a="http://schemas.openxmlformats.org/drawingml/2006/main">
            <a:off x="3095626" y="2763203"/>
            <a:ext cx="0" cy="150495"/>
          </a:xfrm>
          <a:prstGeom xmlns:a="http://schemas.openxmlformats.org/drawingml/2006/main" prst="straightConnector1">
            <a:avLst/>
          </a:prstGeom>
          <a:ln xmlns:a="http://schemas.openxmlformats.org/drawingml/2006/main" w="20003">
            <a:solidFill>
              <a:srgbClr val="8198B3"/>
            </a:solidFill>
          </a:ln>
        </p:spPr>
      </p:cxnSp>
      <p:sp>
        <p:nvSpPr>
          <p:cNvPr id="18" name="route-start-3">
            <a:extLst xmlns:a="http://schemas.openxmlformats.org/drawingml/2006/main">
              <a:ext uri="{FF2B5EF4-FFF2-40B4-BE49-F238E27FC236}">
                <a16:creationId xmlns:a16="http://schemas.microsoft.com/office/drawing/2014/main" id="{B359F135-2485-4E61-8344-70F2404CC2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70823" y="4913948"/>
            <a:ext cx="1905" cy="190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sp>
        <p:nvSpPr>
          <p:cNvPr id="19" name="route-end-3">
            <a:extLst xmlns:a="http://schemas.openxmlformats.org/drawingml/2006/main">
              <a:ext uri="{FF2B5EF4-FFF2-40B4-BE49-F238E27FC236}">
                <a16:creationId xmlns:a16="http://schemas.microsoft.com/office/drawing/2014/main" id="{BAF5E645-C75F-416B-A6B9-B938AE7A10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94673" y="4913948"/>
            <a:ext cx="1905" cy="190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cxnSp>
        <p:nvCxnSpPr>
          <p:cNvPr id="90" name=""/>
          <p:cNvCxnSpPr>
            <a:stCxn xmlns:a="http://schemas.openxmlformats.org/drawingml/2006/main" id="18" idx="3"/>
            <a:endCxn xmlns:a="http://schemas.openxmlformats.org/drawingml/2006/main" id="19" idx="1"/>
          </p:cNvCxnSpPr>
          <p:nvPr/>
        </p:nvCxnSpPr>
        <p:spPr>
          <a:xfrm xmlns:a="http://schemas.openxmlformats.org/drawingml/2006/main">
            <a:off x="2772728" y="4914901"/>
            <a:ext cx="321945" cy="0"/>
          </a:xfrm>
          <a:prstGeom xmlns:a="http://schemas.openxmlformats.org/drawingml/2006/main" prst="straightConnector1">
            <a:avLst/>
          </a:prstGeom>
          <a:ln xmlns:a="http://schemas.openxmlformats.org/drawingml/2006/main" w="20003">
            <a:solidFill>
              <a:srgbClr val="8198B3"/>
            </a:solidFill>
          </a:ln>
        </p:spPr>
      </p:cxnSp>
      <p:sp>
        <p:nvSpPr>
          <p:cNvPr id="21" name="route-start-4">
            <a:extLst xmlns:a="http://schemas.openxmlformats.org/drawingml/2006/main">
              <a:ext uri="{FF2B5EF4-FFF2-40B4-BE49-F238E27FC236}">
                <a16:creationId xmlns:a16="http://schemas.microsoft.com/office/drawing/2014/main" id="{D4121E98-56DA-4A49-8E13-1CA6827151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94673" y="4913948"/>
            <a:ext cx="1905" cy="190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sp>
        <p:nvSpPr>
          <p:cNvPr id="22" name="route-end-4">
            <a:extLst xmlns:a="http://schemas.openxmlformats.org/drawingml/2006/main">
              <a:ext uri="{FF2B5EF4-FFF2-40B4-BE49-F238E27FC236}">
                <a16:creationId xmlns:a16="http://schemas.microsoft.com/office/drawing/2014/main" id="{0AD71468-F491-400B-BA6C-44DDAD103F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94673" y="2913698"/>
            <a:ext cx="1905" cy="190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cxnSp>
        <p:nvCxnSpPr>
          <p:cNvPr id="93" name=""/>
          <p:cNvCxnSpPr>
            <a:stCxn xmlns:a="http://schemas.openxmlformats.org/drawingml/2006/main" id="21" idx="0"/>
            <a:endCxn xmlns:a="http://schemas.openxmlformats.org/drawingml/2006/main" id="22" idx="2"/>
          </p:cNvCxnSpPr>
          <p:nvPr/>
        </p:nvCxnSpPr>
        <p:spPr>
          <a:xfrm xmlns:a="http://schemas.openxmlformats.org/drawingml/2006/main" flipV="1">
            <a:off x="3095626" y="2915603"/>
            <a:ext cx="0" cy="1998345"/>
          </a:xfrm>
          <a:prstGeom xmlns:a="http://schemas.openxmlformats.org/drawingml/2006/main" prst="straightConnector1">
            <a:avLst/>
          </a:prstGeom>
          <a:ln xmlns:a="http://schemas.openxmlformats.org/drawingml/2006/main" w="20003">
            <a:solidFill>
              <a:srgbClr val="8198B3"/>
            </a:solidFill>
          </a:ln>
        </p:spPr>
      </p:cxnSp>
      <p:sp>
        <p:nvSpPr>
          <p:cNvPr id="24" name="route-start-5">
            <a:extLst xmlns:a="http://schemas.openxmlformats.org/drawingml/2006/main">
              <a:ext uri="{FF2B5EF4-FFF2-40B4-BE49-F238E27FC236}">
                <a16:creationId xmlns:a16="http://schemas.microsoft.com/office/drawing/2014/main" id="{597FFE0A-573B-41AB-BEA4-EA1B203103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94673" y="2913698"/>
            <a:ext cx="1905" cy="190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sp>
        <p:nvSpPr>
          <p:cNvPr id="25" name="route-end-5">
            <a:extLst xmlns:a="http://schemas.openxmlformats.org/drawingml/2006/main">
              <a:ext uri="{FF2B5EF4-FFF2-40B4-BE49-F238E27FC236}">
                <a16:creationId xmlns:a16="http://schemas.microsoft.com/office/drawing/2014/main" id="{84B8D72A-5CBE-4CDD-998F-3DCA7C51E3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04273" y="2913698"/>
            <a:ext cx="1905" cy="190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cxnSp>
        <p:nvCxnSpPr>
          <p:cNvPr id="96" name=""/>
          <p:cNvCxnSpPr>
            <a:stCxn xmlns:a="http://schemas.openxmlformats.org/drawingml/2006/main" id="24" idx="3"/>
            <a:endCxn xmlns:a="http://schemas.openxmlformats.org/drawingml/2006/main" id="25" idx="1"/>
          </p:cNvCxnSpPr>
          <p:nvPr/>
        </p:nvCxnSpPr>
        <p:spPr>
          <a:xfrm xmlns:a="http://schemas.openxmlformats.org/drawingml/2006/main">
            <a:off x="3096578" y="2914651"/>
            <a:ext cx="607695" cy="0"/>
          </a:xfrm>
          <a:prstGeom xmlns:a="http://schemas.openxmlformats.org/drawingml/2006/main" prst="straightConnector1">
            <a:avLst/>
          </a:prstGeom>
          <a:ln xmlns:a="http://schemas.openxmlformats.org/drawingml/2006/main" w="20003">
            <a:solidFill>
              <a:srgbClr val="8198B3"/>
            </a:solidFill>
            <a:tailEnd type="triangle" w="med" len="med"/>
          </a:ln>
        </p:spPr>
      </p:cxnSp>
      <p:sp>
        <p:nvSpPr>
          <p:cNvPr id="27" name="route-start-6">
            <a:extLst xmlns:a="http://schemas.openxmlformats.org/drawingml/2006/main">
              <a:ext uri="{FF2B5EF4-FFF2-40B4-BE49-F238E27FC236}">
                <a16:creationId xmlns:a16="http://schemas.microsoft.com/office/drawing/2014/main" id="{8F00398E-BCC3-4E0D-9371-2EEBC85F2F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2548" y="3237548"/>
            <a:ext cx="1905" cy="190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sp>
        <p:nvSpPr>
          <p:cNvPr id="28" name="route-end-6">
            <a:extLst xmlns:a="http://schemas.openxmlformats.org/drawingml/2006/main">
              <a:ext uri="{FF2B5EF4-FFF2-40B4-BE49-F238E27FC236}">
                <a16:creationId xmlns:a16="http://schemas.microsoft.com/office/drawing/2014/main" id="{7A08BCF6-2580-4B94-BB42-2C1EBB91D5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2548" y="3675698"/>
            <a:ext cx="1905" cy="190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cxnSp>
        <p:nvCxnSpPr>
          <p:cNvPr id="99" name=""/>
          <p:cNvCxnSpPr>
            <a:stCxn xmlns:a="http://schemas.openxmlformats.org/drawingml/2006/main" id="27" idx="2"/>
            <a:endCxn xmlns:a="http://schemas.openxmlformats.org/drawingml/2006/main" id="28" idx="0"/>
          </p:cNvCxnSpPr>
          <p:nvPr/>
        </p:nvCxnSpPr>
        <p:spPr>
          <a:xfrm xmlns:a="http://schemas.openxmlformats.org/drawingml/2006/main">
            <a:off x="5143501" y="3239453"/>
            <a:ext cx="0" cy="436245"/>
          </a:xfrm>
          <a:prstGeom xmlns:a="http://schemas.openxmlformats.org/drawingml/2006/main" prst="straightConnector1">
            <a:avLst/>
          </a:prstGeom>
          <a:ln xmlns:a="http://schemas.openxmlformats.org/drawingml/2006/main" w="20003">
            <a:solidFill>
              <a:srgbClr val="777777"/>
            </a:solidFill>
            <a:tailEnd type="triangle" w="med" len="med"/>
          </a:ln>
        </p:spPr>
      </p:cxnSp>
      <p:sp>
        <p:nvSpPr>
          <p:cNvPr id="30" name="route-start-7">
            <a:extLst xmlns:a="http://schemas.openxmlformats.org/drawingml/2006/main">
              <a:ext uri="{FF2B5EF4-FFF2-40B4-BE49-F238E27FC236}">
                <a16:creationId xmlns:a16="http://schemas.microsoft.com/office/drawing/2014/main" id="{9B7E3F0B-8209-43D9-B757-33094A660F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2548" y="4323398"/>
            <a:ext cx="1905" cy="190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sp>
        <p:nvSpPr>
          <p:cNvPr id="31" name="route-end-7">
            <a:extLst xmlns:a="http://schemas.openxmlformats.org/drawingml/2006/main">
              <a:ext uri="{FF2B5EF4-FFF2-40B4-BE49-F238E27FC236}">
                <a16:creationId xmlns:a16="http://schemas.microsoft.com/office/drawing/2014/main" id="{5A214072-1A93-4E92-9AF0-A8B078DC12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2548" y="4761548"/>
            <a:ext cx="1905" cy="190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cxnSp>
        <p:nvCxnSpPr>
          <p:cNvPr id="102" name=""/>
          <p:cNvCxnSpPr>
            <a:stCxn xmlns:a="http://schemas.openxmlformats.org/drawingml/2006/main" id="30" idx="2"/>
            <a:endCxn xmlns:a="http://schemas.openxmlformats.org/drawingml/2006/main" id="31" idx="0"/>
          </p:cNvCxnSpPr>
          <p:nvPr/>
        </p:nvCxnSpPr>
        <p:spPr>
          <a:xfrm xmlns:a="http://schemas.openxmlformats.org/drawingml/2006/main">
            <a:off x="5143501" y="4325303"/>
            <a:ext cx="0" cy="436245"/>
          </a:xfrm>
          <a:prstGeom xmlns:a="http://schemas.openxmlformats.org/drawingml/2006/main" prst="straightConnector1">
            <a:avLst/>
          </a:prstGeom>
          <a:ln xmlns:a="http://schemas.openxmlformats.org/drawingml/2006/main" w="20003">
            <a:solidFill>
              <a:srgbClr val="777777"/>
            </a:solidFill>
            <a:tailEnd type="triangle" w="med" len="med"/>
          </a:ln>
        </p:spPr>
      </p:cxnSp>
      <p:sp>
        <p:nvSpPr>
          <p:cNvPr id="33" name="fixed-strategy">
            <a:extLst xmlns:a="http://schemas.openxmlformats.org/drawingml/2006/main">
              <a:ext uri="{FF2B5EF4-FFF2-40B4-BE49-F238E27FC236}">
                <a16:creationId xmlns:a16="http://schemas.microsoft.com/office/drawing/2014/main" id="{3F1D02F8-4C2B-4D34-8633-8F50B2AC30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77125" y="1381125"/>
            <a:ext cx="7191375" cy="2000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23813">
            <a:solidFill>
              <a:srgbClr val="B0B0B0"/>
            </a:solidFill>
            <a:prstDash val="dash"/>
          </a:ln>
        </p:spPr>
      </p:sp>
      <p:sp>
        <p:nvSpPr>
          <p:cNvPr id="34" name="fixed-strategy-heading">
            <a:extLst xmlns:a="http://schemas.openxmlformats.org/drawingml/2006/main">
              <a:ext uri="{FF2B5EF4-FFF2-40B4-BE49-F238E27FC236}">
                <a16:creationId xmlns:a16="http://schemas.microsoft.com/office/drawing/2014/main" id="{D1AEB229-CA11-4ED4-89E6-47B6339836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53325" y="1571625"/>
            <a:ext cx="7038975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950" b="1">
                <a:solidFill>
                  <a:srgbClr val="367CB3"/>
                </a:solidFill>
                <a:latin typeface="SimSun"/>
                <a:ea typeface="SimSun"/>
                <a:cs typeface="SimSun"/>
              </a:defRPr>
            </a:pPr>
            <a:r>
              <a:rPr sz="1950" b="1">
                <a:solidFill>
                  <a:srgbClr val="367CB3"/>
                </a:solidFill>
                <a:latin typeface="SimSun"/>
                <a:ea typeface="SimSun"/>
                <a:cs typeface="SimSun"/>
              </a:rPr>
              <a:t>4-2  固定计划</a:t>
            </a:r>
          </a:p>
        </p:txBody>
      </p:sp>
      <p:sp>
        <p:nvSpPr>
          <p:cNvPr id="35" name="rolling-strategy">
            <a:extLst xmlns:a="http://schemas.openxmlformats.org/drawingml/2006/main">
              <a:ext uri="{FF2B5EF4-FFF2-40B4-BE49-F238E27FC236}">
                <a16:creationId xmlns:a16="http://schemas.microsoft.com/office/drawing/2014/main" id="{1747050F-DD67-411E-BE0C-1C381A058A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77125" y="3838575"/>
            <a:ext cx="7191375" cy="2038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23813">
            <a:solidFill>
              <a:srgbClr val="B0B0B0"/>
            </a:solidFill>
            <a:prstDash val="dash"/>
          </a:ln>
        </p:spPr>
      </p:sp>
      <p:sp>
        <p:nvSpPr>
          <p:cNvPr id="36" name="rolling-strategy-heading">
            <a:extLst xmlns:a="http://schemas.openxmlformats.org/drawingml/2006/main">
              <a:ext uri="{FF2B5EF4-FFF2-40B4-BE49-F238E27FC236}">
                <a16:creationId xmlns:a16="http://schemas.microsoft.com/office/drawing/2014/main" id="{6AC84D75-34E9-4120-A650-880CF22BC8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53325" y="4029075"/>
            <a:ext cx="7038975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950" b="1">
                <a:solidFill>
                  <a:srgbClr val="367CB3"/>
                </a:solidFill>
                <a:latin typeface="SimSun"/>
                <a:ea typeface="SimSun"/>
                <a:cs typeface="SimSun"/>
              </a:defRPr>
            </a:pPr>
            <a:r>
              <a:rPr sz="1950" b="1">
                <a:solidFill>
                  <a:srgbClr val="367CB3"/>
                </a:solidFill>
                <a:latin typeface="SimSun"/>
                <a:ea typeface="SimSun"/>
                <a:cs typeface="SimSun"/>
              </a:rPr>
              <a:t>4-3  滚动调整</a:t>
            </a:r>
          </a:p>
        </p:txBody>
      </p:sp>
      <p:sp>
        <p:nvSpPr>
          <p:cNvPr id="37" name="fixed-plan">
            <a:extLst xmlns:a="http://schemas.openxmlformats.org/drawingml/2006/main">
              <a:ext uri="{FF2B5EF4-FFF2-40B4-BE49-F238E27FC236}">
                <a16:creationId xmlns:a16="http://schemas.microsoft.com/office/drawing/2014/main" id="{F2A4CD7A-D572-4B2A-B95C-C63466494F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15250" y="2228850"/>
            <a:ext cx="2000250" cy="781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8098">
            <a:solidFill>
              <a:srgbClr val="111111"/>
            </a:solidFill>
          </a:ln>
        </p:spPr>
        <p:txBody>
          <a:bodyPr xmlns:a="http://schemas.openxmlformats.org/drawingml/2006/main" lIns="76200" tIns="66675" rIns="76200" bIns="66675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800" b="0">
                <a:solidFill>
                  <a:srgbClr val="111111"/>
                </a:solidFill>
                <a:latin typeface="SimSun"/>
                <a:ea typeface="SimSun"/>
                <a:cs typeface="SimSun"/>
              </a:defRPr>
            </a:pPr>
            <a:r>
              <a:rPr sz="1800" b="0">
                <a:solidFill>
                  <a:srgbClr val="111111"/>
                </a:solidFill>
                <a:latin typeface="SimSun"/>
                <a:ea typeface="SimSun"/>
                <a:cs typeface="SimSun"/>
              </a:rPr>
              <a:t>零时规划</a:t>
            </a:r>
          </a:p>
          <a:p xmlns:a="http://schemas.openxmlformats.org/drawingml/2006/main">
            <a:pPr algn="ctr">
              <a:defRPr sz="1800" b="0">
                <a:solidFill>
                  <a:srgbClr val="111111"/>
                </a:solidFill>
                <a:latin typeface="SimSun"/>
                <a:ea typeface="SimSun"/>
                <a:cs typeface="SimSun"/>
              </a:defRPr>
            </a:pPr>
            <a:r>
              <a:rPr sz="1800" b="0">
                <a:solidFill>
                  <a:srgbClr val="111111"/>
                </a:solidFill>
                <a:latin typeface="SimSun"/>
                <a:ea typeface="SimSun"/>
                <a:cs typeface="SimSun"/>
              </a:rPr>
              <a:t>全天固定</a:t>
            </a:r>
          </a:p>
        </p:txBody>
      </p:sp>
      <p:sp>
        <p:nvSpPr>
          <p:cNvPr id="38" name="fixed-control">
            <a:extLst xmlns:a="http://schemas.openxmlformats.org/drawingml/2006/main">
              <a:ext uri="{FF2B5EF4-FFF2-40B4-BE49-F238E27FC236}">
                <a16:creationId xmlns:a16="http://schemas.microsoft.com/office/drawing/2014/main" id="{6AA3CD2A-19B7-4630-80DF-3A3EC97812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0" y="2228850"/>
            <a:ext cx="2286000" cy="781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8098">
            <a:solidFill>
              <a:srgbClr val="111111"/>
            </a:solidFill>
          </a:ln>
        </p:spPr>
        <p:txBody>
          <a:bodyPr xmlns:a="http://schemas.openxmlformats.org/drawingml/2006/main" lIns="76200" tIns="66675" rIns="76200" bIns="66675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800" b="0">
                <a:solidFill>
                  <a:srgbClr val="111111"/>
                </a:solidFill>
                <a:latin typeface="SimSun"/>
                <a:ea typeface="SimSun"/>
                <a:cs typeface="SimSun"/>
              </a:defRPr>
            </a:pPr>
            <a:r>
              <a:rPr sz="1800" b="0">
                <a:solidFill>
                  <a:srgbClr val="111111"/>
                </a:solidFill>
                <a:latin typeface="SimSun"/>
                <a:ea typeface="SimSun"/>
                <a:cs typeface="SimSun"/>
              </a:rPr>
              <a:t>联合动态规划</a:t>
            </a:r>
          </a:p>
          <a:p xmlns:a="http://schemas.openxmlformats.org/drawingml/2006/main">
            <a:pPr algn="ctr">
              <a:defRPr sz="1800" b="0">
                <a:solidFill>
                  <a:srgbClr val="111111"/>
                </a:solidFill>
                <a:latin typeface="SimSun"/>
                <a:ea typeface="SimSun"/>
                <a:cs typeface="SimSun"/>
              </a:defRPr>
            </a:pPr>
            <a:r>
              <a:rPr sz="1800" b="0">
                <a:solidFill>
                  <a:srgbClr val="111111"/>
                </a:solidFill>
                <a:latin typeface="SimSun"/>
                <a:ea typeface="SimSun"/>
                <a:cs typeface="SimSun"/>
              </a:rPr>
              <a:t>储能反馈</a:t>
            </a:r>
          </a:p>
        </p:txBody>
      </p:sp>
      <p:sp>
        <p:nvSpPr>
          <p:cNvPr id="39" name="fixed-result">
            <a:extLst xmlns:a="http://schemas.openxmlformats.org/drawingml/2006/main">
              <a:ext uri="{FF2B5EF4-FFF2-40B4-BE49-F238E27FC236}">
                <a16:creationId xmlns:a16="http://schemas.microsoft.com/office/drawing/2014/main" id="{7C1CD090-F8C4-446D-91D2-ECEAE2DD70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763500" y="2228850"/>
            <a:ext cx="1666875" cy="781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BD6EE"/>
          </a:solidFill>
          <a:ln xmlns:a="http://schemas.openxmlformats.org/drawingml/2006/main" w="18098">
            <a:solidFill>
              <a:srgbClr val="BBD6EE"/>
            </a:solidFill>
          </a:ln>
        </p:spPr>
        <p:txBody>
          <a:bodyPr xmlns:a="http://schemas.openxmlformats.org/drawingml/2006/main" lIns="76200" tIns="66675" rIns="76200" bIns="66675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800" b="0">
                <a:solidFill>
                  <a:srgbClr val="111111"/>
                </a:solidFill>
                <a:latin typeface="SimSun"/>
                <a:ea typeface="SimSun"/>
                <a:cs typeface="SimSun"/>
              </a:defRPr>
            </a:pPr>
            <a:r>
              <a:rPr sz="1800" b="0">
                <a:solidFill>
                  <a:srgbClr val="111111"/>
                </a:solidFill>
                <a:latin typeface="SimSun"/>
                <a:ea typeface="SimSun"/>
                <a:cs typeface="SimSun"/>
              </a:rPr>
              <a:t>购电与储能</a:t>
            </a:r>
          </a:p>
          <a:p xmlns:a="http://schemas.openxmlformats.org/drawingml/2006/main">
            <a:pPr algn="ctr">
              <a:defRPr sz="1800" b="0">
                <a:solidFill>
                  <a:srgbClr val="111111"/>
                </a:solidFill>
                <a:latin typeface="SimSun"/>
                <a:ea typeface="SimSun"/>
                <a:cs typeface="SimSun"/>
              </a:defRPr>
            </a:pPr>
            <a:r>
              <a:rPr sz="1800" b="0">
                <a:solidFill>
                  <a:srgbClr val="111111"/>
                </a:solidFill>
                <a:latin typeface="SimSun"/>
                <a:ea typeface="SimSun"/>
                <a:cs typeface="SimSun"/>
              </a:rPr>
              <a:t>费用结果</a:t>
            </a:r>
          </a:p>
        </p:txBody>
      </p:sp>
      <p:sp>
        <p:nvSpPr>
          <p:cNvPr id="40" name="route-start-8">
            <a:extLst xmlns:a="http://schemas.openxmlformats.org/drawingml/2006/main">
              <a:ext uri="{FF2B5EF4-FFF2-40B4-BE49-F238E27FC236}">
                <a16:creationId xmlns:a16="http://schemas.microsoft.com/office/drawing/2014/main" id="{A8DF81C8-554B-47DE-BDDE-4225D453B4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24073" y="2618423"/>
            <a:ext cx="1905" cy="190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sp>
        <p:nvSpPr>
          <p:cNvPr id="41" name="route-end-8">
            <a:extLst xmlns:a="http://schemas.openxmlformats.org/drawingml/2006/main">
              <a:ext uri="{FF2B5EF4-FFF2-40B4-BE49-F238E27FC236}">
                <a16:creationId xmlns:a16="http://schemas.microsoft.com/office/drawing/2014/main" id="{20C401CA-DD6E-4F9C-B125-EA0320E4E4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86023" y="2618423"/>
            <a:ext cx="1905" cy="190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cxnSp>
        <p:nvCxnSpPr>
          <p:cNvPr id="112" name=""/>
          <p:cNvCxnSpPr>
            <a:stCxn xmlns:a="http://schemas.openxmlformats.org/drawingml/2006/main" id="40" idx="3"/>
            <a:endCxn xmlns:a="http://schemas.openxmlformats.org/drawingml/2006/main" id="41" idx="1"/>
          </p:cNvCxnSpPr>
          <p:nvPr/>
        </p:nvCxnSpPr>
        <p:spPr>
          <a:xfrm xmlns:a="http://schemas.openxmlformats.org/drawingml/2006/main">
            <a:off x="9725978" y="2619376"/>
            <a:ext cx="360045" cy="0"/>
          </a:xfrm>
          <a:prstGeom xmlns:a="http://schemas.openxmlformats.org/drawingml/2006/main" prst="straightConnector1">
            <a:avLst/>
          </a:prstGeom>
          <a:ln xmlns:a="http://schemas.openxmlformats.org/drawingml/2006/main" w="20003">
            <a:solidFill>
              <a:srgbClr val="8198B3"/>
            </a:solidFill>
            <a:tailEnd type="triangle" w="med" len="med"/>
          </a:ln>
        </p:spPr>
      </p:cxnSp>
      <p:sp>
        <p:nvSpPr>
          <p:cNvPr id="43" name="route-start-9">
            <a:extLst xmlns:a="http://schemas.openxmlformats.org/drawingml/2006/main">
              <a:ext uri="{FF2B5EF4-FFF2-40B4-BE49-F238E27FC236}">
                <a16:creationId xmlns:a16="http://schemas.microsoft.com/office/drawing/2014/main" id="{EC6A0D68-7479-48CB-BF38-A419E87E77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91073" y="2618423"/>
            <a:ext cx="1905" cy="190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sp>
        <p:nvSpPr>
          <p:cNvPr id="44" name="route-end-9">
            <a:extLst xmlns:a="http://schemas.openxmlformats.org/drawingml/2006/main">
              <a:ext uri="{FF2B5EF4-FFF2-40B4-BE49-F238E27FC236}">
                <a16:creationId xmlns:a16="http://schemas.microsoft.com/office/drawing/2014/main" id="{F42A81BB-3A5A-4AC4-8C85-7602D9CA3B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753023" y="2618423"/>
            <a:ext cx="1905" cy="190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cxnSp>
        <p:nvCxnSpPr>
          <p:cNvPr id="115" name=""/>
          <p:cNvCxnSpPr>
            <a:stCxn xmlns:a="http://schemas.openxmlformats.org/drawingml/2006/main" id="43" idx="3"/>
            <a:endCxn xmlns:a="http://schemas.openxmlformats.org/drawingml/2006/main" id="44" idx="1"/>
          </p:cNvCxnSpPr>
          <p:nvPr/>
        </p:nvCxnSpPr>
        <p:spPr>
          <a:xfrm xmlns:a="http://schemas.openxmlformats.org/drawingml/2006/main">
            <a:off x="12392978" y="2619376"/>
            <a:ext cx="360045" cy="0"/>
          </a:xfrm>
          <a:prstGeom xmlns:a="http://schemas.openxmlformats.org/drawingml/2006/main" prst="straightConnector1">
            <a:avLst/>
          </a:prstGeom>
          <a:ln xmlns:a="http://schemas.openxmlformats.org/drawingml/2006/main" w="20003">
            <a:solidFill>
              <a:srgbClr val="8198B3"/>
            </a:solidFill>
            <a:tailEnd type="triangle" w="med" len="med"/>
          </a:ln>
        </p:spPr>
      </p:cxnSp>
      <p:sp>
        <p:nvSpPr>
          <p:cNvPr id="46" name="rolling-plan">
            <a:extLst xmlns:a="http://schemas.openxmlformats.org/drawingml/2006/main">
              <a:ext uri="{FF2B5EF4-FFF2-40B4-BE49-F238E27FC236}">
                <a16:creationId xmlns:a16="http://schemas.microsoft.com/office/drawing/2014/main" id="{A4AF5561-AADA-40CA-82C4-1592F568BF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15250" y="4695825"/>
            <a:ext cx="2000250" cy="838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8098">
            <a:solidFill>
              <a:srgbClr val="111111"/>
            </a:solidFill>
          </a:ln>
        </p:spPr>
        <p:txBody>
          <a:bodyPr xmlns:a="http://schemas.openxmlformats.org/drawingml/2006/main" lIns="76200" tIns="66675" rIns="76200" bIns="66675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800" b="0">
                <a:solidFill>
                  <a:srgbClr val="111111"/>
                </a:solidFill>
                <a:latin typeface="SimSun"/>
                <a:ea typeface="SimSun"/>
                <a:cs typeface="SimSun"/>
              </a:defRPr>
            </a:pPr>
            <a:r>
              <a:rPr sz="1800" b="0">
                <a:solidFill>
                  <a:srgbClr val="111111"/>
                </a:solidFill>
                <a:latin typeface="SimSun"/>
                <a:ea typeface="SimSun"/>
                <a:cs typeface="SimSun"/>
              </a:rPr>
              <a:t>更新预报</a:t>
            </a:r>
          </a:p>
          <a:p xmlns:a="http://schemas.openxmlformats.org/drawingml/2006/main">
            <a:pPr algn="ctr">
              <a:defRPr sz="1800" b="0">
                <a:solidFill>
                  <a:srgbClr val="111111"/>
                </a:solidFill>
                <a:latin typeface="SimSun"/>
                <a:ea typeface="SimSun"/>
                <a:cs typeface="SimSun"/>
              </a:defRPr>
            </a:pPr>
            <a:r>
              <a:rPr sz="1800" b="0">
                <a:solidFill>
                  <a:srgbClr val="111111"/>
                </a:solidFill>
                <a:latin typeface="SimSun"/>
                <a:ea typeface="SimSun"/>
                <a:cs typeface="SimSun"/>
              </a:rPr>
              <a:t>生成候选</a:t>
            </a:r>
          </a:p>
        </p:txBody>
      </p:sp>
      <p:sp>
        <p:nvSpPr>
          <p:cNvPr id="47" name="rolling-control">
            <a:extLst xmlns:a="http://schemas.openxmlformats.org/drawingml/2006/main">
              <a:ext uri="{FF2B5EF4-FFF2-40B4-BE49-F238E27FC236}">
                <a16:creationId xmlns:a16="http://schemas.microsoft.com/office/drawing/2014/main" id="{F62BEEE3-154C-4535-B098-0D2A093095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0" y="4695825"/>
            <a:ext cx="2286000" cy="838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8098">
            <a:solidFill>
              <a:srgbClr val="111111"/>
            </a:solidFill>
          </a:ln>
        </p:spPr>
        <p:txBody>
          <a:bodyPr xmlns:a="http://schemas.openxmlformats.org/drawingml/2006/main" lIns="76200" tIns="66675" rIns="76200" bIns="66675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800" b="0">
                <a:solidFill>
                  <a:srgbClr val="111111"/>
                </a:solidFill>
                <a:latin typeface="SimSun"/>
                <a:ea typeface="SimSun"/>
                <a:cs typeface="SimSun"/>
              </a:defRPr>
            </a:pPr>
            <a:r>
              <a:rPr sz="1800" b="0">
                <a:solidFill>
                  <a:srgbClr val="111111"/>
                </a:solidFill>
                <a:latin typeface="SimSun"/>
                <a:ea typeface="SimSun"/>
                <a:cs typeface="SimSun"/>
              </a:rPr>
              <a:t>联合动态规划</a:t>
            </a:r>
          </a:p>
          <a:p xmlns:a="http://schemas.openxmlformats.org/drawingml/2006/main">
            <a:pPr algn="ctr">
              <a:defRPr sz="1800" b="0">
                <a:solidFill>
                  <a:srgbClr val="111111"/>
                </a:solidFill>
                <a:latin typeface="SimSun"/>
                <a:ea typeface="SimSun"/>
                <a:cs typeface="SimSun"/>
              </a:defRPr>
            </a:pPr>
            <a:r>
              <a:rPr sz="1800" b="0">
                <a:solidFill>
                  <a:srgbClr val="111111"/>
                </a:solidFill>
                <a:latin typeface="SimSun"/>
                <a:ea typeface="SimSun"/>
                <a:cs typeface="SimSun"/>
              </a:rPr>
              <a:t>调整与储能</a:t>
            </a:r>
          </a:p>
        </p:txBody>
      </p:sp>
      <p:sp>
        <p:nvSpPr>
          <p:cNvPr id="48" name="rolling-result">
            <a:extLst xmlns:a="http://schemas.openxmlformats.org/drawingml/2006/main">
              <a:ext uri="{FF2B5EF4-FFF2-40B4-BE49-F238E27FC236}">
                <a16:creationId xmlns:a16="http://schemas.microsoft.com/office/drawing/2014/main" id="{27BF893D-EBEB-4B2F-A6F1-57E89FA3D7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763500" y="4695825"/>
            <a:ext cx="1666875" cy="838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BD6EE"/>
          </a:solidFill>
          <a:ln xmlns:a="http://schemas.openxmlformats.org/drawingml/2006/main" w="18098">
            <a:solidFill>
              <a:srgbClr val="BBD6EE"/>
            </a:solidFill>
          </a:ln>
        </p:spPr>
        <p:txBody>
          <a:bodyPr xmlns:a="http://schemas.openxmlformats.org/drawingml/2006/main" lIns="76200" tIns="66675" rIns="76200" bIns="66675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800" b="0">
                <a:solidFill>
                  <a:srgbClr val="111111"/>
                </a:solidFill>
                <a:latin typeface="SimSun"/>
                <a:ea typeface="SimSun"/>
                <a:cs typeface="SimSun"/>
              </a:defRPr>
            </a:pPr>
            <a:r>
              <a:rPr sz="1800" b="0">
                <a:solidFill>
                  <a:srgbClr val="111111"/>
                </a:solidFill>
                <a:latin typeface="SimSun"/>
                <a:ea typeface="SimSun"/>
                <a:cs typeface="SimSun"/>
              </a:rPr>
              <a:t>调整账本</a:t>
            </a:r>
          </a:p>
          <a:p xmlns:a="http://schemas.openxmlformats.org/drawingml/2006/main">
            <a:pPr algn="ctr">
              <a:defRPr sz="1800" b="0">
                <a:solidFill>
                  <a:srgbClr val="111111"/>
                </a:solidFill>
                <a:latin typeface="SimSun"/>
                <a:ea typeface="SimSun"/>
                <a:cs typeface="SimSun"/>
              </a:defRPr>
            </a:pPr>
            <a:r>
              <a:rPr sz="1800" b="0">
                <a:solidFill>
                  <a:srgbClr val="111111"/>
                </a:solidFill>
                <a:latin typeface="SimSun"/>
                <a:ea typeface="SimSun"/>
                <a:cs typeface="SimSun"/>
              </a:rPr>
              <a:t>费用对照</a:t>
            </a:r>
          </a:p>
        </p:txBody>
      </p:sp>
      <p:sp>
        <p:nvSpPr>
          <p:cNvPr id="49" name="route-start-10">
            <a:extLst xmlns:a="http://schemas.openxmlformats.org/drawingml/2006/main">
              <a:ext uri="{FF2B5EF4-FFF2-40B4-BE49-F238E27FC236}">
                <a16:creationId xmlns:a16="http://schemas.microsoft.com/office/drawing/2014/main" id="{3308B026-9876-46A0-AEB0-C02A93B237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24073" y="5113973"/>
            <a:ext cx="1905" cy="190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sp>
        <p:nvSpPr>
          <p:cNvPr id="50" name="route-end-10">
            <a:extLst xmlns:a="http://schemas.openxmlformats.org/drawingml/2006/main">
              <a:ext uri="{FF2B5EF4-FFF2-40B4-BE49-F238E27FC236}">
                <a16:creationId xmlns:a16="http://schemas.microsoft.com/office/drawing/2014/main" id="{068B41D1-F60B-499D-8566-E9D4EA72C1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86023" y="5113973"/>
            <a:ext cx="1905" cy="190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cxnSp>
        <p:nvCxnSpPr>
          <p:cNvPr id="121" name=""/>
          <p:cNvCxnSpPr>
            <a:stCxn xmlns:a="http://schemas.openxmlformats.org/drawingml/2006/main" id="49" idx="3"/>
            <a:endCxn xmlns:a="http://schemas.openxmlformats.org/drawingml/2006/main" id="50" idx="1"/>
          </p:cNvCxnSpPr>
          <p:nvPr/>
        </p:nvCxnSpPr>
        <p:spPr>
          <a:xfrm xmlns:a="http://schemas.openxmlformats.org/drawingml/2006/main">
            <a:off x="9725978" y="5114926"/>
            <a:ext cx="360045" cy="0"/>
          </a:xfrm>
          <a:prstGeom xmlns:a="http://schemas.openxmlformats.org/drawingml/2006/main" prst="straightConnector1">
            <a:avLst/>
          </a:prstGeom>
          <a:ln xmlns:a="http://schemas.openxmlformats.org/drawingml/2006/main" w="20003">
            <a:solidFill>
              <a:srgbClr val="8198B3"/>
            </a:solidFill>
            <a:tailEnd type="triangle" w="med" len="med"/>
          </a:ln>
        </p:spPr>
      </p:cxnSp>
      <p:sp>
        <p:nvSpPr>
          <p:cNvPr id="52" name="route-start-11">
            <a:extLst xmlns:a="http://schemas.openxmlformats.org/drawingml/2006/main">
              <a:ext uri="{FF2B5EF4-FFF2-40B4-BE49-F238E27FC236}">
                <a16:creationId xmlns:a16="http://schemas.microsoft.com/office/drawing/2014/main" id="{6622EBA3-693B-4E93-A822-B49EB98A89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91073" y="5113973"/>
            <a:ext cx="1905" cy="190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sp>
        <p:nvSpPr>
          <p:cNvPr id="53" name="route-end-11">
            <a:extLst xmlns:a="http://schemas.openxmlformats.org/drawingml/2006/main">
              <a:ext uri="{FF2B5EF4-FFF2-40B4-BE49-F238E27FC236}">
                <a16:creationId xmlns:a16="http://schemas.microsoft.com/office/drawing/2014/main" id="{F06324D5-3F11-4D71-AE14-B24ED66D01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753023" y="5113973"/>
            <a:ext cx="1905" cy="190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cxnSp>
        <p:nvCxnSpPr>
          <p:cNvPr id="124" name=""/>
          <p:cNvCxnSpPr>
            <a:stCxn xmlns:a="http://schemas.openxmlformats.org/drawingml/2006/main" id="52" idx="3"/>
            <a:endCxn xmlns:a="http://schemas.openxmlformats.org/drawingml/2006/main" id="53" idx="1"/>
          </p:cNvCxnSpPr>
          <p:nvPr/>
        </p:nvCxnSpPr>
        <p:spPr>
          <a:xfrm xmlns:a="http://schemas.openxmlformats.org/drawingml/2006/main">
            <a:off x="12392978" y="5114926"/>
            <a:ext cx="360045" cy="0"/>
          </a:xfrm>
          <a:prstGeom xmlns:a="http://schemas.openxmlformats.org/drawingml/2006/main" prst="straightConnector1">
            <a:avLst/>
          </a:prstGeom>
          <a:ln xmlns:a="http://schemas.openxmlformats.org/drawingml/2006/main" w="20003">
            <a:solidFill>
              <a:srgbClr val="8198B3"/>
            </a:solidFill>
            <a:tailEnd type="triangle" w="med" len="med"/>
          </a:ln>
        </p:spPr>
      </p:cxnSp>
      <p:sp>
        <p:nvSpPr>
          <p:cNvPr id="55" name="route-start-12">
            <a:extLst xmlns:a="http://schemas.openxmlformats.org/drawingml/2006/main">
              <a:ext uri="{FF2B5EF4-FFF2-40B4-BE49-F238E27FC236}">
                <a16:creationId xmlns:a16="http://schemas.microsoft.com/office/drawing/2014/main" id="{1A9FA5B8-E4EB-4195-8409-819C5AB1FE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66573" y="3742373"/>
            <a:ext cx="1905" cy="190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sp>
        <p:nvSpPr>
          <p:cNvPr id="56" name="route-end-12">
            <a:extLst xmlns:a="http://schemas.openxmlformats.org/drawingml/2006/main">
              <a:ext uri="{FF2B5EF4-FFF2-40B4-BE49-F238E27FC236}">
                <a16:creationId xmlns:a16="http://schemas.microsoft.com/office/drawing/2014/main" id="{D53BC6D5-B4AB-47CE-AD08-31E3809074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80898" y="3742373"/>
            <a:ext cx="1905" cy="190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cxnSp>
        <p:nvCxnSpPr>
          <p:cNvPr id="127" name=""/>
          <p:cNvCxnSpPr>
            <a:stCxn xmlns:a="http://schemas.openxmlformats.org/drawingml/2006/main" id="55" idx="3"/>
            <a:endCxn xmlns:a="http://schemas.openxmlformats.org/drawingml/2006/main" id="56" idx="1"/>
          </p:cNvCxnSpPr>
          <p:nvPr/>
        </p:nvCxnSpPr>
        <p:spPr>
          <a:xfrm xmlns:a="http://schemas.openxmlformats.org/drawingml/2006/main">
            <a:off x="6868478" y="3743326"/>
            <a:ext cx="312420" cy="0"/>
          </a:xfrm>
          <a:prstGeom xmlns:a="http://schemas.openxmlformats.org/drawingml/2006/main" prst="straightConnector1">
            <a:avLst/>
          </a:prstGeom>
          <a:ln xmlns:a="http://schemas.openxmlformats.org/drawingml/2006/main" w="20003">
            <a:solidFill>
              <a:srgbClr val="8198B3"/>
            </a:solidFill>
          </a:ln>
        </p:spPr>
      </p:cxnSp>
      <p:sp>
        <p:nvSpPr>
          <p:cNvPr id="58" name="route-start-13">
            <a:extLst xmlns:a="http://schemas.openxmlformats.org/drawingml/2006/main">
              <a:ext uri="{FF2B5EF4-FFF2-40B4-BE49-F238E27FC236}">
                <a16:creationId xmlns:a16="http://schemas.microsoft.com/office/drawing/2014/main" id="{E0F5489C-27E6-4A5C-B780-97FA523B61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80898" y="3742373"/>
            <a:ext cx="1905" cy="190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sp>
        <p:nvSpPr>
          <p:cNvPr id="59" name="route-end-13">
            <a:extLst xmlns:a="http://schemas.openxmlformats.org/drawingml/2006/main">
              <a:ext uri="{FF2B5EF4-FFF2-40B4-BE49-F238E27FC236}">
                <a16:creationId xmlns:a16="http://schemas.microsoft.com/office/drawing/2014/main" id="{E8325589-2B94-4460-A66B-2B8851C0F0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80898" y="2618423"/>
            <a:ext cx="1905" cy="190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cxnSp>
        <p:nvCxnSpPr>
          <p:cNvPr id="130" name=""/>
          <p:cNvCxnSpPr>
            <a:stCxn xmlns:a="http://schemas.openxmlformats.org/drawingml/2006/main" id="58" idx="0"/>
            <a:endCxn xmlns:a="http://schemas.openxmlformats.org/drawingml/2006/main" id="59" idx="2"/>
          </p:cNvCxnSpPr>
          <p:nvPr/>
        </p:nvCxnSpPr>
        <p:spPr>
          <a:xfrm xmlns:a="http://schemas.openxmlformats.org/drawingml/2006/main" flipV="1">
            <a:off x="7181851" y="2620328"/>
            <a:ext cx="0" cy="1122045"/>
          </a:xfrm>
          <a:prstGeom xmlns:a="http://schemas.openxmlformats.org/drawingml/2006/main" prst="straightConnector1">
            <a:avLst/>
          </a:prstGeom>
          <a:ln xmlns:a="http://schemas.openxmlformats.org/drawingml/2006/main" w="20003">
            <a:solidFill>
              <a:srgbClr val="8198B3"/>
            </a:solidFill>
          </a:ln>
        </p:spPr>
      </p:cxnSp>
      <p:sp>
        <p:nvSpPr>
          <p:cNvPr id="61" name="route-start-14">
            <a:extLst xmlns:a="http://schemas.openxmlformats.org/drawingml/2006/main">
              <a:ext uri="{FF2B5EF4-FFF2-40B4-BE49-F238E27FC236}">
                <a16:creationId xmlns:a16="http://schemas.microsoft.com/office/drawing/2014/main" id="{5819C8A3-D0E8-4899-A7B9-A0A131B744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80898" y="2618423"/>
            <a:ext cx="1905" cy="190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sp>
        <p:nvSpPr>
          <p:cNvPr id="62" name="route-end-14">
            <a:extLst xmlns:a="http://schemas.openxmlformats.org/drawingml/2006/main">
              <a:ext uri="{FF2B5EF4-FFF2-40B4-BE49-F238E27FC236}">
                <a16:creationId xmlns:a16="http://schemas.microsoft.com/office/drawing/2014/main" id="{B7F27F8A-CE51-4EA7-8056-DDC9C759B8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66648" y="2618423"/>
            <a:ext cx="1905" cy="190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cxnSp>
        <p:nvCxnSpPr>
          <p:cNvPr id="133" name=""/>
          <p:cNvCxnSpPr>
            <a:stCxn xmlns:a="http://schemas.openxmlformats.org/drawingml/2006/main" id="61" idx="3"/>
            <a:endCxn xmlns:a="http://schemas.openxmlformats.org/drawingml/2006/main" id="62" idx="1"/>
          </p:cNvCxnSpPr>
          <p:nvPr/>
        </p:nvCxnSpPr>
        <p:spPr>
          <a:xfrm xmlns:a="http://schemas.openxmlformats.org/drawingml/2006/main">
            <a:off x="7182803" y="2619376"/>
            <a:ext cx="283845" cy="0"/>
          </a:xfrm>
          <a:prstGeom xmlns:a="http://schemas.openxmlformats.org/drawingml/2006/main" prst="straightConnector1">
            <a:avLst/>
          </a:prstGeom>
          <a:ln xmlns:a="http://schemas.openxmlformats.org/drawingml/2006/main" w="20003">
            <a:solidFill>
              <a:srgbClr val="8198B3"/>
            </a:solidFill>
            <a:tailEnd type="triangle" w="med" len="med"/>
          </a:ln>
        </p:spPr>
      </p:cxnSp>
      <p:sp>
        <p:nvSpPr>
          <p:cNvPr id="64" name="route-start-15">
            <a:extLst xmlns:a="http://schemas.openxmlformats.org/drawingml/2006/main">
              <a:ext uri="{FF2B5EF4-FFF2-40B4-BE49-F238E27FC236}">
                <a16:creationId xmlns:a16="http://schemas.microsoft.com/office/drawing/2014/main" id="{013BD3D0-3A85-4CA7-98AD-B233FDC41F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80898" y="3742373"/>
            <a:ext cx="1905" cy="190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sp>
        <p:nvSpPr>
          <p:cNvPr id="65" name="route-end-15">
            <a:extLst xmlns:a="http://schemas.openxmlformats.org/drawingml/2006/main">
              <a:ext uri="{FF2B5EF4-FFF2-40B4-BE49-F238E27FC236}">
                <a16:creationId xmlns:a16="http://schemas.microsoft.com/office/drawing/2014/main" id="{6D0551A1-D445-4085-8778-D5A640973E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80898" y="5113973"/>
            <a:ext cx="1905" cy="190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cxnSp>
        <p:nvCxnSpPr>
          <p:cNvPr id="136" name=""/>
          <p:cNvCxnSpPr>
            <a:stCxn xmlns:a="http://schemas.openxmlformats.org/drawingml/2006/main" id="64" idx="2"/>
            <a:endCxn xmlns:a="http://schemas.openxmlformats.org/drawingml/2006/main" id="65" idx="0"/>
          </p:cNvCxnSpPr>
          <p:nvPr/>
        </p:nvCxnSpPr>
        <p:spPr>
          <a:xfrm xmlns:a="http://schemas.openxmlformats.org/drawingml/2006/main">
            <a:off x="7181851" y="3744278"/>
            <a:ext cx="0" cy="1369695"/>
          </a:xfrm>
          <a:prstGeom xmlns:a="http://schemas.openxmlformats.org/drawingml/2006/main" prst="straightConnector1">
            <a:avLst/>
          </a:prstGeom>
          <a:ln xmlns:a="http://schemas.openxmlformats.org/drawingml/2006/main" w="20003">
            <a:solidFill>
              <a:srgbClr val="8198B3"/>
            </a:solidFill>
          </a:ln>
        </p:spPr>
      </p:cxnSp>
      <p:sp>
        <p:nvSpPr>
          <p:cNvPr id="67" name="route-start-16">
            <a:extLst xmlns:a="http://schemas.openxmlformats.org/drawingml/2006/main">
              <a:ext uri="{FF2B5EF4-FFF2-40B4-BE49-F238E27FC236}">
                <a16:creationId xmlns:a16="http://schemas.microsoft.com/office/drawing/2014/main" id="{2AFE40CB-D9C1-4767-8472-4D8D48A296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80898" y="5113973"/>
            <a:ext cx="1905" cy="190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sp>
        <p:nvSpPr>
          <p:cNvPr id="68" name="route-end-16">
            <a:extLst xmlns:a="http://schemas.openxmlformats.org/drawingml/2006/main">
              <a:ext uri="{FF2B5EF4-FFF2-40B4-BE49-F238E27FC236}">
                <a16:creationId xmlns:a16="http://schemas.microsoft.com/office/drawing/2014/main" id="{C795DC77-4FE2-4170-847B-048B608D31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66648" y="5113973"/>
            <a:ext cx="1905" cy="190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cxnSp>
        <p:nvCxnSpPr>
          <p:cNvPr id="139" name=""/>
          <p:cNvCxnSpPr>
            <a:stCxn xmlns:a="http://schemas.openxmlformats.org/drawingml/2006/main" id="67" idx="3"/>
            <a:endCxn xmlns:a="http://schemas.openxmlformats.org/drawingml/2006/main" id="68" idx="1"/>
          </p:cNvCxnSpPr>
          <p:nvPr/>
        </p:nvCxnSpPr>
        <p:spPr>
          <a:xfrm xmlns:a="http://schemas.openxmlformats.org/drawingml/2006/main">
            <a:off x="7182803" y="5114926"/>
            <a:ext cx="283845" cy="0"/>
          </a:xfrm>
          <a:prstGeom xmlns:a="http://schemas.openxmlformats.org/drawingml/2006/main" prst="straightConnector1">
            <a:avLst/>
          </a:prstGeom>
          <a:ln xmlns:a="http://schemas.openxmlformats.org/drawingml/2006/main" w="20003">
            <a:solidFill>
              <a:srgbClr val="8198B3"/>
            </a:solidFill>
            <a:tailEnd type="triangle" w="med" len="med"/>
          </a:ln>
        </p:spPr>
      </p:cxnSp>
      <p:sp>
        <p:nvSpPr>
          <p:cNvPr id="70" name="footer">
            <a:extLst xmlns:a="http://schemas.openxmlformats.org/drawingml/2006/main">
              <a:ext uri="{FF2B5EF4-FFF2-40B4-BE49-F238E27FC236}">
                <a16:creationId xmlns:a16="http://schemas.microsoft.com/office/drawing/2014/main" id="{71118DBA-9FA4-4CD5-8182-0D8C76F4BD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6067425"/>
            <a:ext cx="14097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650" b="0">
                <a:solidFill>
                  <a:srgbClr val="444444"/>
                </a:solidFill>
                <a:latin typeface="SimSun"/>
                <a:ea typeface="SimSun"/>
                <a:cs typeface="SimSun"/>
              </a:defRPr>
            </a:pPr>
            <a:r>
              <a:rPr sz="1650" b="0">
                <a:solidFill>
                  <a:srgbClr val="444444"/>
                </a:solidFill>
                <a:latin typeface="SimSun"/>
                <a:ea typeface="SimSun"/>
                <a:cs typeface="SimSun"/>
              </a:rPr>
              <a:t>预测价用于规划，当前真实价用于执行与结算</a:t>
            </a:r>
          </a:p>
        </p:txBody>
      </p:sp>
    </p:spTree>
    <p:extLst>
      <p:ext uri="{BB962C8B-B14F-4D97-AF65-F5344CB8AC3E}">
        <p14:creationId xmlns:p14="http://schemas.microsoft.com/office/powerpoint/2010/main" val="600037831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2026-09-13T08:11:09.1150000Z</dcterms:created>
  <dcterms:modified xsi:type="dcterms:W3CDTF">2026-09-13T08:11:09.1150000Z</dcterms:modified>
</coreProperties>
</file>