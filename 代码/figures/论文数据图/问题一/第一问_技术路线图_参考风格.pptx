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64d7f45f004e0c" /><Relationship Type="http://schemas.openxmlformats.org/officeDocument/2006/relationships/extended-properties" Target="/docProps/app.xml" Id="Re55487c7d5b24b1f" /><Relationship Type="http://schemas.openxmlformats.org/officeDocument/2006/relationships/officeDocument" Target="/ppt/presentation.xml" Id="Rd1e301341f644a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4e77e60cc94272"/>
  </p:sldMasterIdLst>
  <p:notesMasterIdLst>
    <p:notesMasterId xmlns:r="http://schemas.openxmlformats.org/officeDocument/2006/relationships" r:id="Rb22718f8601d4769"/>
  </p:notesMasterIdLst>
  <p:sldIdLst>
    <p:sldId xmlns:r="http://schemas.openxmlformats.org/officeDocument/2006/relationships" id="256" r:id="R344345ea51aa44aa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e6ea9343294d56" /><Relationship Type="http://schemas.openxmlformats.org/officeDocument/2006/relationships/slideMaster" Target="/ppt/slideMasters/slideMaster1.xml" Id="Rb04e77e60cc94272" /><Relationship Type="http://schemas.openxmlformats.org/officeDocument/2006/relationships/notesMaster" Target="/ppt/notesMasters/notesMaster1.xml" Id="Rb22718f8601d4769" /><Relationship Type="http://schemas.openxmlformats.org/officeDocument/2006/relationships/presProps" Target="/ppt/presProps.xml" Id="R50e4839649324300" /><Relationship Type="http://schemas.openxmlformats.org/officeDocument/2006/relationships/tableStyles" Target="/ppt/tableStyles.xml" Id="Rb0162c59cdc54f90" /><Relationship Type="http://schemas.openxmlformats.org/officeDocument/2006/relationships/slide" Target="/ppt/slides/slide1.xml" Id="R344345ea51aa44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8fcbe45e094c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693d2745064433" /><Relationship Type="http://schemas.openxmlformats.org/officeDocument/2006/relationships/notesMaster" Target="/ppt/notesMasters/notesMaster1.xml" Id="R8d7bea8eeeca43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问技术路线图。视觉样式与第二问、第三问、第四问保持一致，但流程内容按第一问真实解题思路重构。来源：建模思路/题目分析报告.md第一问模型合同；建模思路/四问整体建模思路.md；代码/q1_solution.py；代码/results/q1/第一问结果审核.md。第一问把附件1中的电价、负荷和光伏发电预测视为已知输入，先校验144个十分钟时段并计算净负荷，再以Δt=1/6小时将功率换算为电量。模型决策为普通购电g、充电c、放电d、弃光w、145个储电量状态E以及充放电互斥二元变量z，目标是最小化全天普通购电费。约束包括供需能量平衡、储能递推、储能1200—10800kWh边界、充放电功率上限5000kW、充放电互斥、弃光不超过光伏可用电量，并加入E0=E144的日循环条件；共同初末储电量由模型优化，不固定为6000kWh。第一问不设置第二问的五倍紧急购电，也不售电。求解采用SciPy/HiGHS MILP，同时计算无储能基线和LP松弛下界；结果再独立核验逐时守恒、SOC边界、功率、互斥、闭环和费用，并回读Excel。当前结果审核报告记录费用35118.598589元、初末储电量8550kWh、MILP与LP下界差约1.46e-11元。图中只呈现方法链，不重跑求解；结束时标与效率口径以项目合同和结果审核报告为准。输出result1.xlsx、表1、表2和完整调度明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8a942a37cc4e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2552a50f8e471b" /><Relationship Type="http://schemas.openxmlformats.org/officeDocument/2006/relationships/slideLayout" Target="/ppt/slideLayouts/slideLayout1.xml" Id="Ra32d6d695ac64f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2d6d695ac64f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9e86f81b74f9e" /><Relationship Type="http://schemas.openxmlformats.org/officeDocument/2006/relationships/notesSlide" Target="/ppt/notesSlides/notesSlide1.xml" Id="R36bb67cf84e341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overall-method">
            <a:extLst xmlns:a="http://schemas.openxmlformats.org/drawingml/2006/main">
              <a:ext uri="{FF2B5EF4-FFF2-40B4-BE49-F238E27FC236}">
                <a16:creationId xmlns:a16="http://schemas.microsoft.com/office/drawing/2014/main" id="{05669F88-B015-4668-9AFE-5A9B769D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2925"/>
            <a:ext cx="12096750" cy="565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stage-one">
            <a:extLst xmlns:a="http://schemas.openxmlformats.org/drawingml/2006/main">
              <a:ext uri="{FF2B5EF4-FFF2-40B4-BE49-F238E27FC236}">
                <a16:creationId xmlns:a16="http://schemas.microsoft.com/office/drawing/2014/main" id="{E2B5A934-D798-47A9-AE2E-2E50CD34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819150"/>
            <a:ext cx="3371850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stage-two">
            <a:extLst xmlns:a="http://schemas.openxmlformats.org/drawingml/2006/main">
              <a:ext uri="{FF2B5EF4-FFF2-40B4-BE49-F238E27FC236}">
                <a16:creationId xmlns:a16="http://schemas.microsoft.com/office/drawing/2014/main" id="{429F228D-CA8C-4F29-AAC1-4CE915DB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19150"/>
            <a:ext cx="3857625" cy="507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" name="stage-three">
            <a:extLst xmlns:a="http://schemas.openxmlformats.org/drawingml/2006/main">
              <a:ext uri="{FF2B5EF4-FFF2-40B4-BE49-F238E27FC236}">
                <a16:creationId xmlns:a16="http://schemas.microsoft.com/office/drawing/2014/main" id="{0A9950EB-3CC4-444E-AE72-369AAD1D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819150"/>
            <a:ext cx="3648075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5" name="stage-four">
            <a:extLst xmlns:a="http://schemas.openxmlformats.org/drawingml/2006/main">
              <a:ext uri="{FF2B5EF4-FFF2-40B4-BE49-F238E27FC236}">
                <a16:creationId xmlns:a16="http://schemas.microsoft.com/office/drawing/2014/main" id="{3A62E570-82D8-4795-8423-ABE536F4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105275"/>
            <a:ext cx="3648075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" name="stage-one-heading">
            <a:extLst xmlns:a="http://schemas.openxmlformats.org/drawingml/2006/main">
              <a:ext uri="{FF2B5EF4-FFF2-40B4-BE49-F238E27FC236}">
                <a16:creationId xmlns:a16="http://schemas.microsoft.com/office/drawing/2014/main" id="{BBFB3B3A-55E3-435D-ACF4-781172B7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942975"/>
            <a:ext cx="31718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阶段1  已知输入与离散</a:t>
            </a:r>
          </a:p>
        </p:txBody>
      </p:sp>
      <p:sp>
        <p:nvSpPr>
          <p:cNvPr id="7" name="stage-two-heading">
            <a:extLst xmlns:a="http://schemas.openxmlformats.org/drawingml/2006/main">
              <a:ext uri="{FF2B5EF4-FFF2-40B4-BE49-F238E27FC236}">
                <a16:creationId xmlns:a16="http://schemas.microsoft.com/office/drawing/2014/main" id="{F6352785-FA97-4E2E-83E9-0482A55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942975"/>
            <a:ext cx="35909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阶段2  日循环确定性 MILP</a:t>
            </a:r>
          </a:p>
        </p:txBody>
      </p:sp>
      <p:sp>
        <p:nvSpPr>
          <p:cNvPr id="8" name="stage-three-heading">
            <a:extLst xmlns:a="http://schemas.openxmlformats.org/drawingml/2006/main">
              <a:ext uri="{FF2B5EF4-FFF2-40B4-BE49-F238E27FC236}">
                <a16:creationId xmlns:a16="http://schemas.microsoft.com/office/drawing/2014/main" id="{172B272E-39D5-48C8-895D-190C7AD3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942975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阶段3  求解与基线对照</a:t>
            </a:r>
          </a:p>
        </p:txBody>
      </p:sp>
      <p:sp>
        <p:nvSpPr>
          <p:cNvPr id="9" name="stage-four-heading">
            <a:extLst xmlns:a="http://schemas.openxmlformats.org/drawingml/2006/main">
              <a:ext uri="{FF2B5EF4-FFF2-40B4-BE49-F238E27FC236}">
                <a16:creationId xmlns:a16="http://schemas.microsoft.com/office/drawing/2014/main" id="{00F54B6A-8A56-4CFD-BE89-4B836177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191000"/>
            <a:ext cx="342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阶段4  物理核验与结果输出</a:t>
            </a:r>
          </a:p>
        </p:txBody>
      </p:sp>
      <p:sp>
        <p:nvSpPr>
          <p:cNvPr id="10" name="raw-input">
            <a:extLst xmlns:a="http://schemas.openxmlformats.org/drawingml/2006/main">
              <a:ext uri="{FF2B5EF4-FFF2-40B4-BE49-F238E27FC236}">
                <a16:creationId xmlns:a16="http://schemas.microsoft.com/office/drawing/2014/main" id="{5BBA595A-223F-495C-AA1E-7C7138F6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990600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附件1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已知输入</a:t>
            </a:r>
          </a:p>
        </p:txBody>
      </p:sp>
      <p:sp>
        <p:nvSpPr>
          <p:cNvPr id="11" name="historical-features">
            <a:extLst xmlns:a="http://schemas.openxmlformats.org/drawingml/2006/main">
              <a:ext uri="{FF2B5EF4-FFF2-40B4-BE49-F238E27FC236}">
                <a16:creationId xmlns:a16="http://schemas.microsoft.com/office/drawing/2014/main" id="{6F9F5F9D-6DC2-42AC-9B36-DAE1D664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095625"/>
            <a:ext cx="1162050" cy="847725"/>
          </a:xfrm>
          <a:prstGeom xmlns:a="http://schemas.openxmlformats.org/drawingml/2006/main" prst="roundRect">
            <a:avLst>
              <a:gd name="adj" fmla="val 1573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时间校验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与整理</a:t>
            </a:r>
          </a:p>
        </p:txBody>
      </p:sp>
      <p:cxnSp>
        <p:nvCxnSpPr>
          <p:cNvPr id="5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09625" y="1838325"/>
            <a:ext cx="0" cy="12573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13" name="known-inputs">
            <a:extLst xmlns:a="http://schemas.openxmlformats.org/drawingml/2006/main">
              <a:ext uri="{FF2B5EF4-FFF2-40B4-BE49-F238E27FC236}">
                <a16:creationId xmlns:a16="http://schemas.microsoft.com/office/drawing/2014/main" id="{85FB8099-708D-454D-A224-54BAAF04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581150"/>
            <a:ext cx="3048000" cy="60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已知电价、负荷与光伏预测</a:t>
            </a:r>
          </a:p>
        </p:txBody>
      </p:sp>
      <p:sp>
        <p:nvSpPr>
          <p:cNvPr id="14" name="center-models">
            <a:extLst xmlns:a="http://schemas.openxmlformats.org/drawingml/2006/main">
              <a:ext uri="{FF2B5EF4-FFF2-40B4-BE49-F238E27FC236}">
                <a16:creationId xmlns:a16="http://schemas.microsoft.com/office/drawing/2014/main" id="{18C66CDB-5944-41D1-899C-E90CD14B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581275"/>
            <a:ext cx="31242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5" name="net-load">
            <a:extLst xmlns:a="http://schemas.openxmlformats.org/drawingml/2006/main">
              <a:ext uri="{FF2B5EF4-FFF2-40B4-BE49-F238E27FC236}">
                <a16:creationId xmlns:a16="http://schemas.microsoft.com/office/drawing/2014/main" id="{AC08B5AD-1DDB-4259-9867-204C57F5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138112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ns0:p xmlns:ns0="http://schemas.openxmlformats.org/drawingml/2006/main">
            <ns0:pPr algn="ctr">
              <ns0:defRPr sz="1650" b="0">
                <ns0:solidFill>
                  <ns0:srgbClr val="111111"/>
                </ns0:solidFill>
                <ns0:latin typeface="SimSun"/>
                <ns0:ea typeface="SimSun"/>
                <ns0:cs typeface="SimSun"/>
              </ns0:defRPr>
            </ns0:pPr>
            <ns0:r>
              <ns0:rPr sz="1650" b="0">
                <ns0:solidFill>
                  <ns0:srgbClr val="111111"/>
                </ns0:solidFill>
                <ns0:latin typeface="SimSun"/>
                <ns0:ea typeface="SimSun"/>
                <ns0:cs typeface="SimSun"/>
              </ns0:rPr>
              <ns0:t>净负荷</ns0:t>
            </ns0:r>
          </ns0:p>
          <ns1:p xmlns:ns1="http://schemas.openxmlformats.org/drawingml/2006/main">
            <ns1:pPr algn="ctr">
              <ns1:defRPr sz="1650" b="0">
                <ns1:solidFill>
                  <ns1:srgbClr val="111111"/>
                </ns1:solidFill>
                <ns1:latin typeface="SimSun"/>
                <ns1:ea typeface="SimSun"/>
                <ns1:cs typeface="SimSun"/>
              </ns1:defRPr>
            </ns1:pPr>
            <ns1:r>
              <ns1:rPr sz="1650" b="0">
                <ns1:solidFill>
                  <ns1:srgbClr val="111111"/>
                </ns1:solidFill>
                <ns1:latin typeface="SimSun"/>
                <ns1:ea typeface="SimSun"/>
                <ns1:cs typeface="SimSun"/>
              </ns1:rPr>
              <ns1:t>负荷扣光伏</ns1:t>
            </ns1:r>
          </ns1:p>
        </p:txBody>
      </p:sp>
      <p:sp>
        <p:nvSpPr>
          <p:cNvPr id="16" name="time-grid">
            <a:extLst xmlns:a="http://schemas.openxmlformats.org/drawingml/2006/main">
              <a:ext uri="{FF2B5EF4-FFF2-40B4-BE49-F238E27FC236}">
                <a16:creationId xmlns:a16="http://schemas.microsoft.com/office/drawing/2014/main" id="{ECA2ECA8-2577-4BBD-8C95-B6C8E00E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24150"/>
            <a:ext cx="1362075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ns2:p xmlns:ns2="http://schemas.openxmlformats.org/drawingml/2006/main">
            <ns2:pPr algn="ctr">
              <ns2:defRPr sz="1650" b="0">
                <ns2:solidFill>
                  <ns2:srgbClr val="111111"/>
                </ns2:solidFill>
                <ns2:latin typeface="SimSun"/>
                <ns2:ea typeface="SimSun"/>
                <ns2:cs typeface="SimSun"/>
              </ns2:defRPr>
            </ns2:pPr>
            <ns2:r>
              <ns2:rPr sz="1650" b="0">
                <ns2:solidFill>
                  <ns2:srgbClr val="111111"/>
                </ns2:solidFill>
                <ns2:latin typeface="SimSun"/>
                <ns2:ea typeface="SimSun"/>
                <ns2:cs typeface="SimSun"/>
              </ns2:rPr>
              <ns2:t>时间离散</ns2:t>
            </ns2:r>
          </ns2:p>
          <ns3:p xmlns:ns3="http://schemas.openxmlformats.org/drawingml/2006/main">
            <ns3:pPr algn="ctr">
              <ns3:defRPr sz="1650" b="0">
                <ns3:solidFill>
                  <ns3:srgbClr val="111111"/>
                </ns3:solidFill>
                <ns3:latin typeface="SimSun"/>
                <ns3:ea typeface="SimSun"/>
                <ns3:cs typeface="SimSun"/>
              </ns3:defRPr>
            </ns3:pPr>
            <ns3:r>
              <ns3:rPr sz="1650" b="0">
                <ns3:solidFill>
                  <ns3:srgbClr val="111111"/>
                </ns3:solidFill>
                <ns3:latin typeface="SimSun"/>
                <ns3:ea typeface="SimSun"/>
                <ns3:cs typeface="SimSun"/>
              </ns3:rPr>
              <ns3:t>十分钟一段</ns3:t>
            </ns3:r>
          </ns3:p>
        </p:txBody>
      </p:sp>
      <p:sp>
        <p:nvSpPr>
          <p:cNvPr id="17" name="energy-conversion">
            <a:extLst xmlns:a="http://schemas.openxmlformats.org/drawingml/2006/main">
              <a:ext uri="{FF2B5EF4-FFF2-40B4-BE49-F238E27FC236}">
                <a16:creationId xmlns:a16="http://schemas.microsoft.com/office/drawing/2014/main" id="{914E11DF-30B6-4673-9540-7E42D410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62425"/>
            <a:ext cx="3048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ns4:p xmlns:ns4="http://schemas.openxmlformats.org/drawingml/2006/main">
            <ns4:pPr algn="ctr">
              <ns4:defRPr sz="1650" b="0">
                <ns4:solidFill>
                  <ns4:srgbClr val="111111"/>
                </ns4:solidFill>
                <ns4:latin typeface="SimSun"/>
                <ns4:ea typeface="SimSun"/>
                <ns4:cs typeface="SimSun"/>
              </ns4:defRPr>
            </ns4:pPr>
            <ns4:r>
              <ns4:rPr sz="1650" b="0">
                <ns4:solidFill>
                  <ns4:srgbClr val="111111"/>
                </ns4:solidFill>
                <ns4:latin typeface="SimSun"/>
                <ns4:ea typeface="SimSun"/>
                <ns4:cs typeface="SimSun"/>
              </ns4:rPr>
              <ns4:t>功率转电量</ns4:t>
            </ns4:r>
          </ns4:p>
          <ns5:p xmlns:ns5="http://schemas.openxmlformats.org/drawingml/2006/main">
            <ns5:pPr algn="ctr">
              <ns5:defRPr sz="1650" b="0">
                <ns5:solidFill>
                  <ns5:srgbClr val="111111"/>
                </ns5:solidFill>
                <ns5:latin typeface="SimSun"/>
                <ns5:ea typeface="SimSun"/>
                <ns5:cs typeface="SimSun"/>
              </ns5:defRPr>
            </ns5:pPr>
            <ns5:r>
              <ns5:rPr sz="1650" b="0">
                <ns5:solidFill>
                  <ns5:srgbClr val="111111"/>
                </ns5:solidFill>
                <ns5:latin typeface="SimSun"/>
                <ns5:ea typeface="SimSun"/>
                <ns5:cs typeface="SimSun"/>
              </ns5:rPr>
              <ns5:t>按时段长度换算为千瓦时</ns5:t>
            </ns5:r>
          </ns5:p>
        </p:txBody>
      </p:sp>
      <p:sp>
        <p:nvSpPr>
          <p:cNvPr id="18" name="decision-grid">
            <a:extLst xmlns:a="http://schemas.openxmlformats.org/drawingml/2006/main">
              <a:ext uri="{FF2B5EF4-FFF2-40B4-BE49-F238E27FC236}">
                <a16:creationId xmlns:a16="http://schemas.microsoft.com/office/drawing/2014/main" id="{B9D78B2B-A354-4FD1-AFD1-66C395F2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48275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144个决策时段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145个SOC状态点</a:t>
            </a:r>
          </a:p>
        </p:txBody>
      </p:sp>
      <p:cxnSp>
        <p:nvCxnSpPr>
          <p:cNvPr id="62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1390650" y="1881188"/>
            <a:ext cx="704850" cy="1638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cxnSp>
        <p:nvCxnSpPr>
          <p:cNvPr id="63" name=""/>
          <p:cNvCxnSpPr>
            <a:stCxn xmlns:a="http://schemas.openxmlformats.org/drawingml/2006/main" id="13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862263" y="2181225"/>
            <a:ext cx="757238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4" name=""/>
          <p:cNvCxnSpPr>
            <a:stCxn xmlns:a="http://schemas.openxmlformats.org/drawingml/2006/main" id="13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3619500" y="2181225"/>
            <a:ext cx="766763" cy="5429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5" name=""/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2862263" y="3457575"/>
            <a:ext cx="757238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6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619500" y="3457575"/>
            <a:ext cx="766763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67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3619500" y="4876800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5" name="milp-objective-vars">
            <a:extLst xmlns:a="http://schemas.openxmlformats.org/drawingml/2006/main">
              <a:ext uri="{FF2B5EF4-FFF2-40B4-BE49-F238E27FC236}">
                <a16:creationId xmlns:a16="http://schemas.microsoft.com/office/drawing/2014/main" id="{816BA3DF-70A6-48AE-A00A-53168B8A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657350"/>
            <a:ext cx="16383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ns6:p xmlns:ns6="http://schemas.openxmlformats.org/drawingml/2006/main">
            <ns6:pPr algn="ctr">
              <ns6:defRPr sz="1575" b="0">
                <ns6:solidFill>
                  <ns6:srgbClr val="111111"/>
                </ns6:solidFill>
                <ns6:latin typeface="SimSun"/>
                <ns6:ea typeface="SimSun"/>
                <ns6:cs typeface="SimSun"/>
              </ns6:defRPr>
            </ns6:pPr>
            <ns6:r>
              <ns6:rPr sz="1575" b="0">
                <ns6:solidFill>
                  <ns6:srgbClr val="111111"/>
                </ns6:solidFill>
                <ns6:latin typeface="SimSun"/>
                <ns6:ea typeface="SimSun"/>
                <ns6:cs typeface="SimSun"/>
              </ns6:rPr>
              <ns6:t>购电费用最小</ns6:t>
            </ns6:r>
          </ns6:p>
          <ns7:p xmlns:ns7="http://schemas.openxmlformats.org/drawingml/2006/main">
            <ns7:pPr algn="ctr">
              <ns7:defRPr sz="1575" b="0">
                <ns7:solidFill>
                  <ns7:srgbClr val="111111"/>
                </ns7:solidFill>
                <ns7:latin typeface="SimSun"/>
                <ns7:ea typeface="SimSun"/>
                <ns7:cs typeface="SimSun"/>
              </ns7:defRPr>
            </ns7:pPr>
            <ns7:r>
              <ns7:rPr sz="1575" b="0">
                <ns7:solidFill>
                  <ns7:srgbClr val="111111"/>
                </ns7:solidFill>
                <ns7:latin typeface="SimSun"/>
                <ns7:ea typeface="SimSun"/>
                <ns7:cs typeface="SimSun"/>
              </ns7:rPr>
              <ns7:t>联合确定</ns7:t>
            </ns7:r>
          </ns7:p>
          <ns8:p xmlns:ns8="http://schemas.openxmlformats.org/drawingml/2006/main">
            <ns8:pPr algn="ctr">
              <ns8:defRPr sz="1575" b="0">
                <ns8:solidFill>
                  <ns8:srgbClr val="111111"/>
                </ns8:solidFill>
                <ns8:latin typeface="SimSun"/>
                <ns8:ea typeface="SimSun"/>
                <ns8:cs typeface="SimSun"/>
              </ns8:defRPr>
            </ns8:pPr>
            <ns8:r>
              <ns8:rPr sz="1575" b="0">
                <ns8:solidFill>
                  <ns8:srgbClr val="111111"/>
                </ns8:solidFill>
                <ns8:latin typeface="SimSun"/>
                <ns8:ea typeface="SimSun"/>
                <ns8:cs typeface="SimSun"/>
              </ns8:rPr>
              <ns8:t>购电与充放电</ns8:t>
            </ns8:r>
          </ns8:p>
          <ns9:p xmlns:ns9="http://schemas.openxmlformats.org/drawingml/2006/main">
            <ns9:pPr algn="ctr">
              <ns9:defRPr sz="1575" b="0">
                <ns9:solidFill>
                  <ns9:srgbClr val="111111"/>
                </ns9:solidFill>
                <ns9:latin typeface="SimSun"/>
                <ns9:ea typeface="SimSun"/>
                <ns9:cs typeface="SimSun"/>
              </ns9:defRPr>
            </ns9:pPr>
            <ns9:r>
              <ns9:rPr sz="1575" b="0">
                <ns9:solidFill>
                  <ns9:srgbClr val="111111"/>
                </ns9:solidFill>
                <ns9:latin typeface="SimSun"/>
                <ns9:ea typeface="SimSun"/>
                <ns9:cs typeface="SimSun"/>
              </ns9:rPr>
              <ns9:t>储电量与弃光</ns9:t>
            </ns9:r>
          </ns9:p>
          <ns10:p xmlns:ns10="http://schemas.openxmlformats.org/drawingml/2006/main">
            <ns10:pPr algn="ctr">
              <ns10:defRPr sz="1575" b="0">
                <ns10:solidFill>
                  <ns10:srgbClr val="111111"/>
                </ns10:solidFill>
                <ns10:latin typeface="SimSun"/>
                <ns10:ea typeface="SimSun"/>
                <ns10:cs typeface="SimSun"/>
              </ns10:defRPr>
            </ns10:pPr>
            <ns10:r>
              <ns10:rPr sz="1575" b="0">
                <ns10:solidFill>
                  <ns10:srgbClr val="111111"/>
                </ns10:solidFill>
                <ns10:latin typeface="SimSun"/>
                <ns10:ea typeface="SimSun"/>
                <ns10:cs typeface="SimSun"/>
              </ns10:rPr>
              <ns10:t>充放电互斥状态</ns10:t>
            </ns10:r>
          </ns10:p>
        </p:txBody>
      </p:sp>
      <p:sp>
        <p:nvSpPr>
          <p:cNvPr id="26" name="physical-constraints">
            <a:extLst xmlns:a="http://schemas.openxmlformats.org/drawingml/2006/main">
              <a:ext uri="{FF2B5EF4-FFF2-40B4-BE49-F238E27FC236}">
                <a16:creationId xmlns:a16="http://schemas.microsoft.com/office/drawing/2014/main" id="{6AFA86C2-E718-42E2-9D29-72231EF5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657350"/>
            <a:ext cx="16192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供需平衡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储能递推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SOC与功率边界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充放电互斥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弃光不超光伏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不设紧急购电</a:t>
            </a:r>
          </a:p>
        </p:txBody>
      </p:sp>
      <p:sp>
        <p:nvSpPr>
          <p:cNvPr id="27" name="cyclic-milp">
            <a:extLst xmlns:a="http://schemas.openxmlformats.org/drawingml/2006/main">
              <a:ext uri="{FF2B5EF4-FFF2-40B4-BE49-F238E27FC236}">
                <a16:creationId xmlns:a16="http://schemas.microsoft.com/office/drawing/2014/main" id="{A3A99265-2141-42B1-AE19-2D3699B6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35147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ns11:p xmlns:ns11="http://schemas.openxmlformats.org/drawingml/2006/main">
            <ns11:pPr algn="ctr">
              <ns11:defRPr sz="1650" b="0">
                <ns11:solidFill>
                  <ns11:srgbClr val="111111"/>
                </ns11:solidFill>
                <ns11:latin typeface="SimSun"/>
                <ns11:ea typeface="SimSun"/>
                <ns11:cs typeface="SimSun"/>
              </ns11:defRPr>
            </ns11:pPr>
            <ns11:r>
              <ns11:rPr sz="1650" b="0">
                <ns11:solidFill>
                  <ns11:srgbClr val="111111"/>
                </ns11:solidFill>
                <ns11:latin typeface="SimSun"/>
                <ns11:ea typeface="SimSun"/>
                <ns11:cs typeface="SimSun"/>
              </ns11:rPr>
              <ns11:t>构建日循环混合整数规划</ns11:t>
            </ns11:r>
          </ns11:p>
          <ns12:p xmlns:ns12="http://schemas.openxmlformats.org/drawingml/2006/main">
            <ns12:pPr algn="ctr">
              <ns12:defRPr sz="1650" b="0">
                <ns12:solidFill>
                  <ns12:srgbClr val="111111"/>
                </ns12:solidFill>
                <ns12:latin typeface="SimSun"/>
                <ns12:ea typeface="SimSun"/>
                <ns12:cs typeface="SimSun"/>
              </ns12:defRPr>
            </ns12:pPr>
            <ns12:r>
              <ns12:rPr sz="1650" b="0">
                <ns12:solidFill>
                  <ns12:srgbClr val="111111"/>
                </ns12:solidFill>
                <ns12:latin typeface="SimSun"/>
                <ns12:ea typeface="SimSun"/>
                <ns12:cs typeface="SimSun"/>
              </ns12:rPr>
              <ns12:t>日初与日末库存相同</ns12:t>
            </ns12:r>
          </ns12:p>
          <ns13:p xmlns:ns13="http://schemas.openxmlformats.org/drawingml/2006/main">
            <ns13:pPr algn="ctr">
              <ns13:defRPr sz="1650" b="0">
                <ns13:solidFill>
                  <ns13:srgbClr val="111111"/>
                </ns13:solidFill>
                <ns13:latin typeface="SimSun"/>
                <ns13:ea typeface="SimSun"/>
                <ns13:cs typeface="SimSun"/>
              </ns13:defRPr>
            </ns13:pPr>
            <ns13:r>
              <ns13:rPr sz="1650" b="0">
                <ns13:solidFill>
                  <ns13:srgbClr val="111111"/>
                </ns13:solidFill>
                <ns13:latin typeface="SimSun"/>
                <ns13:ea typeface="SimSun"/>
                <ns13:cs typeface="SimSun"/>
              </ns13:rPr>
              <ns13:t>共同库存由优化确定</ns13:t>
            </ns13:r>
          </ns13:p>
          <ns14:p xmlns:ns14="http://schemas.openxmlformats.org/drawingml/2006/main">
            <ns14:pPr algn="ctr">
              <ns14:defRPr sz="1650" b="0">
                <ns14:solidFill>
                  <ns14:srgbClr val="111111"/>
                </ns14:solidFill>
                <ns14:latin typeface="SimSun"/>
                <ns14:ea typeface="SimSun"/>
                <ns14:cs typeface="SimSun"/>
              </ns14:defRPr>
            </ns14:pPr>
            <ns14:r>
              <ns14:rPr sz="1650" b="0">
                <ns14:solidFill>
                  <ns14:srgbClr val="111111"/>
                </ns14:solidFill>
                <ns14:latin typeface="SimSun"/>
                <ns14:ea typeface="SimSun"/>
                <ns14:cs typeface="SimSun"/>
              </ns14:rPr>
              <ns14:t>允许弃光，不售电</ns14:t>
            </ns14:r>
          </ns14:p>
        </p:txBody>
      </p:sp>
      <p:cxnSp>
        <p:nvCxnSpPr>
          <p:cNvPr id="71" name="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6638925" y="3257550"/>
            <a:ext cx="9477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2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7586663" y="3257550"/>
            <a:ext cx="947738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3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5305425" y="3357563"/>
            <a:ext cx="3524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1" name="milp-solver">
            <a:extLst xmlns:a="http://schemas.openxmlformats.org/drawingml/2006/main">
              <a:ext uri="{FF2B5EF4-FFF2-40B4-BE49-F238E27FC236}">
                <a16:creationId xmlns:a16="http://schemas.microsoft.com/office/drawing/2014/main" id="{E1D875A0-8F4A-49C3-92F9-2B96D829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514475"/>
            <a:ext cx="33623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SciPy / HiGHS 求解主 MILP</a:t>
            </a:r>
          </a:p>
        </p:txBody>
      </p:sp>
      <p:sp>
        <p:nvSpPr>
          <p:cNvPr id="32" name="optimal-schedule">
            <a:extLst xmlns:a="http://schemas.openxmlformats.org/drawingml/2006/main">
              <a:ext uri="{FF2B5EF4-FFF2-40B4-BE49-F238E27FC236}">
                <a16:creationId xmlns:a16="http://schemas.microsoft.com/office/drawing/2014/main" id="{75C23A40-05F6-4CF2-860D-7055E906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19375"/>
            <a:ext cx="1609725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最优调度轨迹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购电、充放电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弃光与SOC</a:t>
            </a:r>
          </a:p>
        </p:txBody>
      </p:sp>
      <p:sp>
        <p:nvSpPr>
          <p:cNvPr id="33" name="baselines">
            <a:extLst xmlns:a="http://schemas.openxmlformats.org/drawingml/2006/main">
              <a:ext uri="{FF2B5EF4-FFF2-40B4-BE49-F238E27FC236}">
                <a16:creationId xmlns:a16="http://schemas.microsoft.com/office/drawing/2014/main" id="{8D660FAE-8199-4A1D-AB4A-26426EC2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2619375"/>
            <a:ext cx="15811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无储能基线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LP松弛下界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费用差值</a:t>
            </a:r>
          </a:p>
        </p:txBody>
      </p:sp>
      <p:cxnSp>
        <p:nvCxnSpPr>
          <p:cNvPr id="77" name="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10806113" y="2066925"/>
            <a:ext cx="876300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31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1682413" y="2066925"/>
            <a:ext cx="890588" cy="552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cxnSp>
        <p:nvCxnSpPr>
          <p:cNvPr id="7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9515475" y="2257425"/>
            <a:ext cx="342900" cy="11001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7" name="physical-checks">
            <a:extLst xmlns:a="http://schemas.openxmlformats.org/drawingml/2006/main">
              <a:ext uri="{FF2B5EF4-FFF2-40B4-BE49-F238E27FC236}">
                <a16:creationId xmlns:a16="http://schemas.microsoft.com/office/drawing/2014/main" id="{54EEFD6C-43CE-4FAC-B1B5-2C358173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19650"/>
            <a:ext cx="16097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逐时物理核验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守恒、SOC边界</a:t>
            </a:r>
          </a:p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功率上限与互斥</a:t>
            </a:r>
          </a:p>
        </p:txBody>
      </p:sp>
      <p:sp>
        <p:nvSpPr>
          <p:cNvPr id="38" name="export-checks">
            <a:extLst xmlns:a="http://schemas.openxmlformats.org/drawingml/2006/main">
              <a:ext uri="{FF2B5EF4-FFF2-40B4-BE49-F238E27FC236}">
                <a16:creationId xmlns:a16="http://schemas.microsoft.com/office/drawing/2014/main" id="{C3CA7F95-83F2-45D4-B23E-282CA7B3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2425" y="4819650"/>
            <a:ext cx="158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费用独立复算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144行回读</a:t>
            </a:r>
          </a:p>
          <a:p xmlns:a="http://schemas.openxmlformats.org/drawingml/2006/main">
            <a:pPr algn="ctr">
              <a:defRPr sz="157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表1、表2输出</a:t>
            </a:r>
          </a:p>
        </p:txBody>
      </p:sp>
      <p:cxnSp>
        <p:nvCxnSpPr>
          <p:cNvPr id="82" name=""/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682413" y="3695700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cxnSp>
        <p:nvCxnSpPr>
          <p:cNvPr id="83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11610975" y="52292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1" name="results">
            <a:extLst xmlns:a="http://schemas.openxmlformats.org/drawingml/2006/main">
              <a:ext uri="{FF2B5EF4-FFF2-40B4-BE49-F238E27FC236}">
                <a16:creationId xmlns:a16="http://schemas.microsoft.com/office/drawing/2014/main" id="{14E65095-A5F4-4F38-93DB-F167D091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2181225"/>
            <a:ext cx="1009650" cy="21907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result1.xlsx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表1、表2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调度轨迹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</a:t>
            </a:r>
          </a:p>
        </p:txBody>
      </p:sp>
      <p:cxnSp>
        <p:nvCxnSpPr>
          <p:cNvPr id="85" name=""/>
          <p:cNvCxnSpPr>
            <a:stCxn xmlns:a="http://schemas.openxmlformats.org/drawingml/2006/main" id="38" idx="3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V="1">
            <a:off x="13363575" y="4371975"/>
            <a:ext cx="1143000" cy="857250"/>
          </a:xfrm>
          <a:prstGeom xmlns:a="http://schemas.openxmlformats.org/drawingml/2006/main" prst="bentConnector2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  <p:sp>
        <p:nvSpPr>
          <p:cNvPr id="43" name="bottom-note">
            <a:extLst xmlns:a="http://schemas.openxmlformats.org/drawingml/2006/main">
              <a:ext uri="{FF2B5EF4-FFF2-40B4-BE49-F238E27FC236}">
                <a16:creationId xmlns:a16="http://schemas.microsoft.com/office/drawing/2014/main" id="{291C0D51-FC71-46EF-9BAC-BEB2B89E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6315075"/>
            <a:ext cx="11782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15:p xmlns:ns15="http://schemas.openxmlformats.org/drawingml/2006/main">
            <ns15:pPr algn="ctr">
              <ns15:defRPr sz="1575" b="0">
                <ns15:solidFill>
                  <ns15:srgbClr val="333333"/>
                </ns15:solidFill>
                <ns15:latin typeface="SimSun"/>
                <ns15:ea typeface="SimSun"/>
                <ns15:cs typeface="SimSun"/>
              </ns15:defRPr>
            </ns15:pPr>
            <ns15:r>
              <ns15:rPr sz="1575" b="0">
                <ns15:solidFill>
                  <ns15:srgbClr val="333333"/>
                </ns15:solidFill>
                <ns15:latin typeface="SimSun"/>
                <ns15:ea typeface="SimSun"/>
                <ns15:cs typeface="SimSun"/>
              </ns15:rPr>
              <ns15:t>已知预测条件下优化日循环储能；初末库存相同且共同优化；不设紧急购电与售电</ns15:t>
            </ns15:r>
          </ns15:p>
        </p:txBody>
      </p:sp>
    </p:spTree>
    <p:extLst>
      <p:ext uri="{BB962C8B-B14F-4D97-AF65-F5344CB8AC3E}">
        <p14:creationId xmlns:p14="http://schemas.microsoft.com/office/powerpoint/2010/main" val="2539636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2026-09-12T11:42:54.3600000Z</dcterms:created>
  <dcterms:modified xsi:type="dcterms:W3CDTF">2026-09-12T11:42:54.3600000Z</dcterms:modified>
</coreProperties>
</file>