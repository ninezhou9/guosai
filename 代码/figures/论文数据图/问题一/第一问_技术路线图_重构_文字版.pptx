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8f3f06d265416d" /><Relationship Type="http://schemas.openxmlformats.org/officeDocument/2006/relationships/extended-properties" Target="/docProps/app.xml" Id="R6252ef5c6e704d0d" /><Relationship Type="http://schemas.openxmlformats.org/officeDocument/2006/relationships/officeDocument" Target="/ppt/presentation.xml" Id="Re214526b653542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9477c271a841e7"/>
  </p:sldMasterIdLst>
  <p:notesMasterIdLst>
    <p:notesMasterId xmlns:r="http://schemas.openxmlformats.org/officeDocument/2006/relationships" r:id="R8a066d1bf92045f1"/>
  </p:notesMasterIdLst>
  <p:sldIdLst>
    <p:sldId xmlns:r="http://schemas.openxmlformats.org/officeDocument/2006/relationships" id="256" r:id="Rb1d3f32d9c8d4add"/>
  </p:sldIdLst>
  <p:sldSz cx="15240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11eef66892429b" /><Relationship Type="http://schemas.openxmlformats.org/officeDocument/2006/relationships/slideMaster" Target="/ppt/slideMasters/slideMaster1.xml" Id="Rb99477c271a841e7" /><Relationship Type="http://schemas.openxmlformats.org/officeDocument/2006/relationships/notesMaster" Target="/ppt/notesMasters/notesMaster1.xml" Id="R8a066d1bf92045f1" /><Relationship Type="http://schemas.openxmlformats.org/officeDocument/2006/relationships/presProps" Target="/ppt/presProps.xml" Id="R91e26a27934d400b" /><Relationship Type="http://schemas.openxmlformats.org/officeDocument/2006/relationships/tableStyles" Target="/ppt/tableStyles.xml" Id="R902c1d0801524daa" /><Relationship Type="http://schemas.openxmlformats.org/officeDocument/2006/relationships/slide" Target="/ppt/slides/slide1.xml" Id="Rb1d3f32d9c8d4a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5761c614a146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1a157c04904971" /><Relationship Type="http://schemas.openxmlformats.org/officeDocument/2006/relationships/notesMaster" Target="/ppt/notesMasters/notesMaster1.xml" Id="Raff06dbfd04244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第一问技术路线图重构版。保留第一至第四问统一的白底、蓝色标题、灰色虚线分区、黑色节点框和箭头线宽，但按第一问真实求解链路重新组织为左向右流程。</a:t>
            </a:r>
          </a:p>
          <a:p xmlns:a="http://schemas.openxmlformats.org/drawingml/2006/main">
            <a:r>
              <a:t>来源：C:/Users/sss/Desktop/国赛/建模思路/题目分析报告.md；C:/Users/sss/Desktop/国赛/建模思路/四问整体建模思路.md；C:/Users/sss/Desktop/国赛/代码/q1_solution.py；C:/Users/sss/Desktop/国赛/代码/results/q1/第一问结果审核.md。</a:t>
            </a:r>
          </a:p>
          <a:p xmlns:a="http://schemas.openxmlformats.org/drawingml/2006/main">
            <a:r>
              <a:t>模型输入为附件1中的电价、负荷和光伏预测，144个十分钟区间，Δt=1/6小时。决策变量为普通购电g、充电c、放电d、弃光w、储电量E和充放电互斥二元变量z。目标为最小化全天普通购电费用。</a:t>
            </a:r>
          </a:p>
          <a:p xmlns:a="http://schemas.openxmlformats.org/drawingml/2006/main">
            <a:r>
              <a:t>模型包含供需能量平衡、SOC递推、储能1200—10800kWh边界、5000kW充放电功率上限、充放电互斥、弃光不超过光伏可用量和E0=E144日循环约束。共同初末库存由模型优化，不固定为6000kWh；第一问不设紧急购电和售电。</a:t>
            </a:r>
          </a:p>
          <a:p xmlns:a="http://schemas.openxmlformats.org/drawingml/2006/main">
            <a:r>
              <a:t>求解采用SciPy/HiGHS MILP，并计算无储能基线与LP松弛下界。结果审核报告记录购电费用35118.598589元、初末储电量8550kWh、MILP与LP下界差约1.46e-11元。图中公式框采用PowerPoint原生OMML，Fallback仅用于旧版兼容显示。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9b9d6cbb0f44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5bc15ef545450d" /><Relationship Type="http://schemas.openxmlformats.org/officeDocument/2006/relationships/slideLayout" Target="/ppt/slideLayouts/slideLayout1.xml" Id="Re4b4664e8bf849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b4664e8bf849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b03829886449b3" /><Relationship Type="http://schemas.openxmlformats.org/officeDocument/2006/relationships/notesSlide" Target="/ppt/notesSlides/notesSlide1.xml" Id="R1c08a20fa6304f78" /></Relationships>
</file>

<file path=ppt/slides/slide1.xml><?xml version="1.0" encoding="utf-8"?>
<p:sld xmlns:p="http://schemas.openxmlformats.org/presentationml/2006/main" xmlns:mc="http://schemas.openxmlformats.org/markup-compatibility/2006" xmlns:a14="http://schemas.microsoft.com/office/drawing/2010/main" mc:Ignorable="a14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overall-method">
            <a:extLst xmlns:a="http://schemas.openxmlformats.org/drawingml/2006/main">
              <a:ext uri="{FF2B5EF4-FFF2-40B4-BE49-F238E27FC236}">
                <a16:creationId xmlns:a16="http://schemas.microsoft.com/office/drawing/2014/main" id="{9FC2AAC6-3112-4521-9789-2DF38041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57200"/>
            <a:ext cx="12096750" cy="567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198B3"/>
            </a:solidFill>
            <a:prstDash val="dash"/>
          </a:ln>
        </p:spPr>
      </p:sp>
      <p:sp>
        <p:nvSpPr>
          <p:cNvPr id="2" name="stage-input">
            <a:extLst xmlns:a="http://schemas.openxmlformats.org/drawingml/2006/main">
              <a:ext uri="{FF2B5EF4-FFF2-40B4-BE49-F238E27FC236}">
                <a16:creationId xmlns:a16="http://schemas.microsoft.com/office/drawing/2014/main" id="{E2E56A84-45AC-4B8F-847F-BB61C0D3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742950"/>
            <a:ext cx="2571750" cy="514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0B0B0"/>
            </a:solidFill>
            <a:prstDash val="dash"/>
          </a:ln>
        </p:spPr>
      </p:sp>
      <p:sp>
        <p:nvSpPr>
          <p:cNvPr id="3" name="stage-model">
            <a:extLst xmlns:a="http://schemas.openxmlformats.org/drawingml/2006/main">
              <a:ext uri="{FF2B5EF4-FFF2-40B4-BE49-F238E27FC236}">
                <a16:creationId xmlns:a16="http://schemas.microsoft.com/office/drawing/2014/main" id="{D643B73C-0247-4A70-BC84-07701DA6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742950"/>
            <a:ext cx="4238625" cy="514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0B0B0"/>
            </a:solidFill>
            <a:prstDash val="dash"/>
          </a:ln>
        </p:spPr>
      </p:sp>
      <p:sp>
        <p:nvSpPr>
          <p:cNvPr id="4" name="stage-solve">
            <a:extLst xmlns:a="http://schemas.openxmlformats.org/drawingml/2006/main">
              <a:ext uri="{FF2B5EF4-FFF2-40B4-BE49-F238E27FC236}">
                <a16:creationId xmlns:a16="http://schemas.microsoft.com/office/drawing/2014/main" id="{9C5F0283-333C-49C8-8B4B-735FDED7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742950"/>
            <a:ext cx="2095500" cy="514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0B0B0"/>
            </a:solidFill>
            <a:prstDash val="dash"/>
          </a:ln>
        </p:spPr>
      </p:sp>
      <p:sp>
        <p:nvSpPr>
          <p:cNvPr id="5" name="stage-verify">
            <a:extLst xmlns:a="http://schemas.openxmlformats.org/drawingml/2006/main">
              <a:ext uri="{FF2B5EF4-FFF2-40B4-BE49-F238E27FC236}">
                <a16:creationId xmlns:a16="http://schemas.microsoft.com/office/drawing/2014/main" id="{F72CEDC2-7215-4251-A9AE-1DE54FBC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742950"/>
            <a:ext cx="2286000" cy="514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0B0B0"/>
            </a:solidFill>
            <a:prstDash val="dash"/>
          </a:ln>
        </p:spPr>
      </p:sp>
      <p:cxnSp>
        <p:nvCxnSpPr>
          <p:cNvPr id="74" name="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4381500" y="331470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cxnSp>
        <p:nvCxnSpPr>
          <p:cNvPr id="75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8858250" y="331470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cxnSp>
        <p:nvCxnSpPr>
          <p:cNvPr id="76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11191875" y="3314700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9" name="stage-input-heading">
            <a:extLst xmlns:a="http://schemas.openxmlformats.org/drawingml/2006/main">
              <a:ext uri="{FF2B5EF4-FFF2-40B4-BE49-F238E27FC236}">
                <a16:creationId xmlns:a16="http://schemas.microsoft.com/office/drawing/2014/main" id="{C3AEFC54-95C9-4B47-89D1-EB5EF304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87630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650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阶段1  数据输入与离散</a:t>
            </a:r>
          </a:p>
        </p:txBody>
      </p:sp>
      <p:sp>
        <p:nvSpPr>
          <p:cNvPr id="10" name="stage-model-heading">
            <a:extLst xmlns:a="http://schemas.openxmlformats.org/drawingml/2006/main">
              <a:ext uri="{FF2B5EF4-FFF2-40B4-BE49-F238E27FC236}">
                <a16:creationId xmlns:a16="http://schemas.microsoft.com/office/drawing/2014/main" id="{933D99AB-1764-450A-95BA-B97EE08DC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876300"/>
            <a:ext cx="4048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725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阶段2  日循环确定性 MILP</a:t>
            </a:r>
          </a:p>
        </p:txBody>
      </p:sp>
      <p:sp>
        <p:nvSpPr>
          <p:cNvPr id="11" name="stage-solve-heading">
            <a:extLst xmlns:a="http://schemas.openxmlformats.org/drawingml/2006/main">
              <a:ext uri="{FF2B5EF4-FFF2-40B4-BE49-F238E27FC236}">
                <a16:creationId xmlns:a16="http://schemas.microsoft.com/office/drawing/2014/main" id="{27F61CA4-A981-4616-9F89-C8CA89A39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87630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575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阶段3  求解与对照</a:t>
            </a:r>
          </a:p>
        </p:txBody>
      </p:sp>
      <p:sp>
        <p:nvSpPr>
          <p:cNvPr id="12" name="stage-verify-heading">
            <a:extLst xmlns:a="http://schemas.openxmlformats.org/drawingml/2006/main">
              <a:ext uri="{FF2B5EF4-FFF2-40B4-BE49-F238E27FC236}">
                <a16:creationId xmlns:a16="http://schemas.microsoft.com/office/drawing/2014/main" id="{7E22F39D-11BB-45DD-8347-9AD2B9A19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87630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575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阶段4  核验与输出</a:t>
            </a:r>
          </a:p>
        </p:txBody>
      </p:sp>
      <p:sp>
        <p:nvSpPr>
          <p:cNvPr id="13" name="external-input">
            <a:extLst xmlns:a="http://schemas.openxmlformats.org/drawingml/2006/main">
              <a:ext uri="{FF2B5EF4-FFF2-40B4-BE49-F238E27FC236}">
                <a16:creationId xmlns:a16="http://schemas.microsoft.com/office/drawing/2014/main" id="{330BA565-0FB1-494E-A917-8A20F166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419350"/>
            <a:ext cx="1143000" cy="971550"/>
          </a:xfrm>
          <a:prstGeom xmlns:a="http://schemas.openxmlformats.org/drawingml/2006/main" prst="roundRect">
            <a:avLst>
              <a:gd name="adj" fmla="val 13725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附件1</a:t>
            </a:r>
          </a:p>
          <a:p xmlns:a="http://schemas.openxmlformats.org/drawingml/2006/main">
            <a:pPr algn="ctr">
              <a:defRPr sz="195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原始数据</a:t>
            </a:r>
          </a:p>
        </p:txBody>
      </p:sp>
      <p:sp>
        <p:nvSpPr>
          <p:cNvPr id="14" name="external-output">
            <a:extLst xmlns:a="http://schemas.openxmlformats.org/drawingml/2006/main">
              <a:ext uri="{FF2B5EF4-FFF2-40B4-BE49-F238E27FC236}">
                <a16:creationId xmlns:a16="http://schemas.microsoft.com/office/drawing/2014/main" id="{D243555A-61E1-4349-87BD-3B60372F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2209800"/>
            <a:ext cx="1000125" cy="21526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result1.xlsx</a:t>
            </a:r>
          </a:p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表1、表2</a:t>
            </a:r>
          </a:p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调度轨迹</a:t>
            </a:r>
          </a:p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购电费用</a:t>
            </a:r>
          </a:p>
        </p:txBody>
      </p:sp>
      <p:cxnSp>
        <p:nvCxnSpPr>
          <p:cNvPr id="83" name=""/>
          <p:cNvCxnSpPr>
            <a:stCxn xmlns:a="http://schemas.openxmlformats.org/drawingml/2006/main" id="5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13716000" y="3286125"/>
            <a:ext cx="285750" cy="2857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111111"/>
            </a:solidFill>
            <a:tailEnd type="triangle" w="med" len="med"/>
          </a:ln>
        </p:spPr>
      </p:cxnSp>
      <p:sp>
        <p:nvSpPr>
          <p:cNvPr id="16" name="raw-input">
            <a:extLst xmlns:a="http://schemas.openxmlformats.org/drawingml/2006/main">
              <a:ext uri="{FF2B5EF4-FFF2-40B4-BE49-F238E27FC236}">
                <a16:creationId xmlns:a16="http://schemas.microsoft.com/office/drawing/2014/main" id="{32B008A2-E76A-41BA-8101-CF806E83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381125"/>
            <a:ext cx="2190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电价、负荷与光伏预测</a:t>
            </a:r>
          </a:p>
        </p:txBody>
      </p:sp>
      <p:sp>
        <p:nvSpPr>
          <p:cNvPr id="17" name="known-label">
            <a:extLst xmlns:a="http://schemas.openxmlformats.org/drawingml/2006/main">
              <a:ext uri="{FF2B5EF4-FFF2-40B4-BE49-F238E27FC236}">
                <a16:creationId xmlns:a16="http://schemas.microsoft.com/office/drawing/2014/main" id="{D0684D0F-7F8C-4405-9EEC-7DF56539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038350"/>
            <a:ext cx="2228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44444"/>
                </a:solidFill>
                <a:latin typeface="SimSun"/>
                <a:ea typeface="SimSun"/>
                <a:cs typeface="SimSun"/>
              </a:defRPr>
            </a:pPr>
            <a:r>
              <a:rPr sz="1350" b="1">
                <a:solidFill>
                  <a:srgbClr val="444444"/>
                </a:solidFill>
                <a:latin typeface="SimSun"/>
                <a:ea typeface="SimSun"/>
                <a:cs typeface="SimSun"/>
              </a:rPr>
              <a:t>已知输入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eq-known-vars">
                <a:extLst xmlns:a="http://schemas.openxmlformats.org/drawingml/2006/main">
                  <a:ext uri="{FF2B5EF4-FFF2-40B4-BE49-F238E27FC236}">
                    <a16:creationId xmlns:a16="http://schemas.microsoft.com/office/drawing/2014/main" id="{7FCAABAD-A5A2-4E5C-A7AA-DE5F74A6647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981200" y="2257425"/>
                <a:ext cx="2228850" cy="428625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8098">
                <a:solidFill>
                  <a:srgbClr val="111111"/>
                </a:solidFill>
              </a:ln>
            </p:spPr>
            <p:txBody xmlns:a="http://schemas.openxmlformats.org/drawingml/2006/main">
              <a:bodyPr xmlns:a="http://schemas.openxmlformats.org/drawingml/2006/main" wrap="none" anchor="ctr" lIns="0" tIns="0" rIns="0" bIns="0">
                <a:noAutofit/>
              </a:bodyPr>
              <a:lstStyle xmlns:a="http://schemas.openxmlformats.org/drawingml/2006/main"/>
              <a:p>
                <a:pPr algn="ctr">
                  <a:defRPr sz="1425">
                    <a:solidFill>
                      <a:srgbClr val="111111"/>
                    </a:solidFill>
                    <a:latin typeface="SimSun"/>
                    <a:ea typeface="SimSun"/>
                    <a:cs typeface="SimSun"/>
                  </a:defRPr>
                </a:pPr>
                <a:r>
                  <a:rPr sz="1425">
                    <a:solidFill>
                      <a:srgbClr val="111111"/>
                    </a:solidFill>
                    <a:latin typeface="SimSun"/>
                    <a:ea typeface="SimSun"/>
                    <a:cs typeface="SimSun"/>
                  </a:rPr>
                  <a:t>已知电价与供需预测</a:t>
                </a:r>
              </a:p>
            </p:txBody>
          </p:sp>
        </mc:Choice>
        <mc:Fallback>
          <p:sp>
            <p:nvSpPr>
              <p:cNvPr id="18" name="eq-known-vars">
                <a:extLst xmlns:a="http://schemas.openxmlformats.org/drawingml/2006/main">
                  <a:ext uri="{FF2B5EF4-FFF2-40B4-BE49-F238E27FC236}">
                    <a16:creationId xmlns:a16="http://schemas.microsoft.com/office/drawing/2014/main" id="{7FCAABAD-A5A2-4E5C-A7AA-DE5F74A6647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981200" y="2257425"/>
                <a:ext cx="2228850" cy="428625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8098">
                <a:solidFill>
                  <a:srgbClr val="111111"/>
                </a:solidFill>
              </a:ln>
            </p:spPr>
            <p:txBody xmlns:a="http://schemas.openxmlformats.org/drawingml/2006/main">
              <a:bodyPr xmlns:a="http://schemas.openxmlformats.org/drawingml/2006/main" wrap="none" anchor="ctr" lIns="0" tIns="0" rIns="0" bIns="0">
                <a:noAutofit/>
              </a:bodyPr>
              <a:lstStyle xmlns:a="http://schemas.openxmlformats.org/drawingml/2006/main"/>
              <a:p>
                <a:pPr algn="ctr">
                  <a:defRPr sz="1425">
                    <a:solidFill>
                      <a:srgbClr val="111111"/>
                    </a:solidFill>
                    <a:latin typeface="SimSun"/>
                    <a:ea typeface="SimSun"/>
                    <a:cs typeface="SimSun"/>
                  </a:defRPr>
                </a:pPr>
                <a:r>
                  <a:rPr sz="1425">
                    <a:solidFill>
                      <a:srgbClr val="111111"/>
                    </a:solidFill>
                    <a:latin typeface="SimSun"/>
                  </a:rPr>
                  <a:t>已知电价与供需预测</a:t>
                </a:r>
              </a:p>
            </p:txBody>
          </p:sp>
        </mc:Fallback>
      </mc:AlternateContent>
      <p:sp>
        <p:nvSpPr>
          <p:cNvPr id="19" name="timestep-label">
            <a:extLst xmlns:a="http://schemas.openxmlformats.org/drawingml/2006/main">
              <a:ext uri="{FF2B5EF4-FFF2-40B4-BE49-F238E27FC236}">
                <a16:creationId xmlns:a16="http://schemas.microsoft.com/office/drawing/2014/main" id="{47041633-5868-4765-96AF-ECED78AA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800350"/>
            <a:ext cx="2228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44444"/>
                </a:solidFill>
                <a:latin typeface="SimSun"/>
                <a:ea typeface="SimSun"/>
                <a:cs typeface="SimSun"/>
              </a:defRPr>
            </a:pPr>
            <a:r>
              <a:rPr sz="1350" b="1">
                <a:solidFill>
                  <a:srgbClr val="444444"/>
                </a:solidFill>
                <a:latin typeface="SimSun"/>
                <a:ea typeface="SimSun"/>
                <a:cs typeface="SimSun"/>
              </a:rPr>
              <a:t>十分钟离散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eq-timestep">
                <a:extLst xmlns:a="http://schemas.openxmlformats.org/drawingml/2006/main">
                  <a:ext uri="{FF2B5EF4-FFF2-40B4-BE49-F238E27FC236}">
                    <a16:creationId xmlns:a16="http://schemas.microsoft.com/office/drawing/2014/main" id="{F6466335-9419-4471-BC21-0062FC0E49F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981200" y="3019425"/>
                <a:ext cx="2228850" cy="428625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8098">
                <a:solidFill>
                  <a:srgbClr val="111111"/>
                </a:solidFill>
              </a:ln>
            </p:spPr>
            <p:txBody xmlns:a="http://schemas.openxmlformats.org/drawingml/2006/main">
              <a:bodyPr xmlns:a="http://schemas.openxmlformats.org/drawingml/2006/main" wrap="none" anchor="ctr" lIns="0" tIns="0" rIns="0" bIns="0">
                <a:noAutofit/>
              </a:bodyPr>
              <a:lstStyle xmlns:a="http://schemas.openxmlformats.org/drawingml/2006/main"/>
              <a:p>
                <a:pPr algn="ctr">
                  <a:defRPr sz="1425">
                    <a:solidFill>
                      <a:srgbClr val="111111"/>
                    </a:solidFill>
                    <a:latin typeface="SimSun"/>
                    <a:ea typeface="SimSun"/>
                    <a:cs typeface="SimSun"/>
                  </a:defRPr>
                </a:pPr>
                <a:r>
                  <a:rPr sz="1425">
                    <a:solidFill>
                      <a:srgbClr val="111111"/>
                    </a:solidFill>
                    <a:latin typeface="SimSun"/>
                    <a:ea typeface="SimSun"/>
                    <a:cs typeface="SimSun"/>
                  </a:rPr>
                  <a:t>每段十分钟</a:t>
                </a:r>
              </a:p>
            </p:txBody>
          </p:sp>
        </mc:Choice>
        <mc:Fallback>
          <p:sp>
            <p:nvSpPr>
              <p:cNvPr id="20" name="eq-timestep">
                <a:extLst xmlns:a="http://schemas.openxmlformats.org/drawingml/2006/main">
                  <a:ext uri="{FF2B5EF4-FFF2-40B4-BE49-F238E27FC236}">
                    <a16:creationId xmlns:a16="http://schemas.microsoft.com/office/drawing/2014/main" id="{F6466335-9419-4471-BC21-0062FC0E49FE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981200" y="3019425"/>
                <a:ext cx="2228850" cy="428625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8098">
                <a:solidFill>
                  <a:srgbClr val="111111"/>
                </a:solidFill>
              </a:ln>
            </p:spPr>
            <p:txBody xmlns:a="http://schemas.openxmlformats.org/drawingml/2006/main">
              <a:bodyPr xmlns:a="http://schemas.openxmlformats.org/drawingml/2006/main" wrap="none" anchor="ctr" lIns="0" tIns="0" rIns="0" bIns="0">
                <a:noAutofit/>
              </a:bodyPr>
              <a:lstStyle xmlns:a="http://schemas.openxmlformats.org/drawingml/2006/main"/>
              <a:p>
                <a:pPr algn="ctr">
                  <a:defRPr sz="1425">
                    <a:solidFill>
                      <a:srgbClr val="111111"/>
                    </a:solidFill>
                    <a:latin typeface="SimSun"/>
                    <a:ea typeface="SimSun"/>
                    <a:cs typeface="SimSun"/>
                  </a:defRPr>
                </a:pPr>
                <a:r>
                  <a:rPr sz="1425">
                    <a:solidFill>
                      <a:srgbClr val="111111"/>
                    </a:solidFill>
                    <a:latin typeface="SimSun"/>
                  </a:rPr>
                  <a:t>每段十分钟</a:t>
                </a:r>
              </a:p>
            </p:txBody>
          </p:sp>
        </mc:Fallback>
      </mc:AlternateContent>
      <p:sp>
        <p:nvSpPr>
          <p:cNvPr id="21" name="netload-label">
            <a:extLst xmlns:a="http://schemas.openxmlformats.org/drawingml/2006/main">
              <a:ext uri="{FF2B5EF4-FFF2-40B4-BE49-F238E27FC236}">
                <a16:creationId xmlns:a16="http://schemas.microsoft.com/office/drawing/2014/main" id="{F2FE52A0-7FC1-41CA-B2DA-C102944B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571875"/>
            <a:ext cx="2228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44444"/>
                </a:solidFill>
                <a:latin typeface="SimSun"/>
                <a:ea typeface="SimSun"/>
                <a:cs typeface="SimSun"/>
              </a:defRPr>
            </a:pPr>
            <a:r>
              <a:rPr sz="1350" b="1">
                <a:solidFill>
                  <a:srgbClr val="444444"/>
                </a:solidFill>
                <a:latin typeface="SimSun"/>
                <a:ea typeface="SimSun"/>
                <a:cs typeface="SimSun"/>
              </a:rPr>
              <a:t>净负荷能量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eq-netload">
                <a:extLst xmlns:a="http://schemas.openxmlformats.org/drawingml/2006/main">
                  <a:ext uri="{FF2B5EF4-FFF2-40B4-BE49-F238E27FC236}">
                    <a16:creationId xmlns:a16="http://schemas.microsoft.com/office/drawing/2014/main" id="{EF90B5AC-E0AA-4110-937E-01A8C2BF1D6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981200" y="3790950"/>
                <a:ext cx="2228850" cy="457200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8098">
                <a:solidFill>
                  <a:srgbClr val="111111"/>
                </a:solidFill>
              </a:ln>
            </p:spPr>
            <p:txBody xmlns:a="http://schemas.openxmlformats.org/drawingml/2006/main">
              <a:bodyPr xmlns:a="http://schemas.openxmlformats.org/drawingml/2006/main" wrap="none" anchor="ctr" lIns="0" tIns="0" rIns="0" bIns="0">
                <a:noAutofit/>
              </a:bodyPr>
              <a:lstStyle xmlns:a="http://schemas.openxmlformats.org/drawingml/2006/main"/>
              <a:p>
                <a:pPr algn="ctr">
                  <a:defRPr sz="1275">
                    <a:solidFill>
                      <a:srgbClr val="111111"/>
                    </a:solidFill>
                    <a:latin typeface="SimSun"/>
                    <a:ea typeface="SimSun"/>
                    <a:cs typeface="SimSun"/>
                  </a:defRPr>
                </a:pPr>
                <a:r>
                  <a:rPr sz="1275">
                    <a:solidFill>
                      <a:srgbClr val="111111"/>
                    </a:solidFill>
                    <a:latin typeface="SimSun"/>
                    <a:ea typeface="SimSun"/>
                    <a:cs typeface="SimSun"/>
                  </a:rPr>
                  <a:t>负荷扣除光伏后换算电量</a:t>
                </a:r>
              </a:p>
            </p:txBody>
          </p:sp>
        </mc:Choice>
        <mc:Fallback>
          <p:sp>
            <p:nvSpPr>
              <p:cNvPr id="22" name="eq-netload">
                <a:extLst xmlns:a="http://schemas.openxmlformats.org/drawingml/2006/main">
                  <a:ext uri="{FF2B5EF4-FFF2-40B4-BE49-F238E27FC236}">
                    <a16:creationId xmlns:a16="http://schemas.microsoft.com/office/drawing/2014/main" id="{EF90B5AC-E0AA-4110-937E-01A8C2BF1D6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1981200" y="3790950"/>
                <a:ext cx="2228850" cy="457200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8098">
                <a:solidFill>
                  <a:srgbClr val="111111"/>
                </a:solidFill>
              </a:ln>
            </p:spPr>
            <p:txBody xmlns:a="http://schemas.openxmlformats.org/drawingml/2006/main">
              <a:bodyPr xmlns:a="http://schemas.openxmlformats.org/drawingml/2006/main" wrap="none" anchor="ctr" lIns="0" tIns="0" rIns="0" bIns="0">
                <a:noAutofit/>
              </a:bodyPr>
              <a:lstStyle xmlns:a="http://schemas.openxmlformats.org/drawingml/2006/main"/>
              <a:p>
                <a:pPr algn="ctr">
                  <a:defRPr sz="1275">
                    <a:solidFill>
                      <a:srgbClr val="111111"/>
                    </a:solidFill>
                    <a:latin typeface="SimSun"/>
                    <a:ea typeface="SimSun"/>
                    <a:cs typeface="SimSun"/>
                  </a:defRPr>
                </a:pPr>
                <a:r>
                  <a:rPr sz="1275">
                    <a:solidFill>
                      <a:srgbClr val="111111"/>
                    </a:solidFill>
                    <a:latin typeface="SimSun"/>
                  </a:rPr>
                  <a:t>负荷扣除光伏后换算电量</a:t>
                </a:r>
              </a:p>
            </p:txBody>
          </p:sp>
        </mc:Fallback>
      </mc:AlternateContent>
      <p:sp>
        <p:nvSpPr>
          <p:cNvPr id="23" name="decision-grid">
            <a:extLst xmlns:a="http://schemas.openxmlformats.org/drawingml/2006/main">
              <a:ext uri="{FF2B5EF4-FFF2-40B4-BE49-F238E27FC236}">
                <a16:creationId xmlns:a16="http://schemas.microsoft.com/office/drawing/2014/main" id="{E00D53CE-FE28-4A28-B04D-D3D5B2E1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4810125"/>
            <a:ext cx="21336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EE"/>
          </a:solidFill>
          <a:ln xmlns:a="http://schemas.openxmlformats.org/drawingml/2006/main" w="18098">
            <a:solidFill>
              <a:srgbClr val="BBD6EE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144个决策时段</a:t>
            </a:r>
          </a:p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145个SOC状态点</a:t>
            </a:r>
          </a:p>
        </p:txBody>
      </p:sp>
      <p:cxnSp>
        <p:nvCxnSpPr>
          <p:cNvPr id="92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1381125" y="1647825"/>
            <a:ext cx="619125" cy="125730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111111"/>
            </a:solidFill>
            <a:tailEnd type="triangle" w="med" len="med"/>
          </a:ln>
        </p:spPr>
      </p:cxnSp>
      <p:cxnSp>
        <p:nvCxnSpPr>
          <p:cNvPr id="93" name=""/>
          <p:cNvCxnSpPr>
            <a:stCxn xmlns:a="http://schemas.openxmlformats.org/drawingml/2006/main" id="16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3095625" y="1914525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cxnSp>
        <p:nvCxnSpPr>
          <p:cNvPr id="94" name=""/>
          <p:cNvCxnSpPr>
            <a:stCxn xmlns:a="http://schemas.openxmlformats.org/drawingml/2006/main" id="18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3095625" y="2686050"/>
            <a:ext cx="0" cy="33337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cxnSp>
        <p:nvCxnSpPr>
          <p:cNvPr id="95" name=""/>
          <p:cNvCxnSpPr>
            <a:stCxn xmlns:a="http://schemas.openxmlformats.org/drawingml/2006/main" id="20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3095625" y="344805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cxnSp>
        <p:nvCxnSpPr>
          <p:cNvPr id="96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3095625" y="4248150"/>
            <a:ext cx="0" cy="56197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29" name="objective-label">
            <a:extLst xmlns:a="http://schemas.openxmlformats.org/drawingml/2006/main">
              <a:ext uri="{FF2B5EF4-FFF2-40B4-BE49-F238E27FC236}">
                <a16:creationId xmlns:a16="http://schemas.microsoft.com/office/drawing/2014/main" id="{C4313E54-E345-4518-972F-426805FA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304925"/>
            <a:ext cx="3562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44444"/>
                </a:solidFill>
                <a:latin typeface="SimSun"/>
                <a:ea typeface="SimSun"/>
                <a:cs typeface="SimSun"/>
              </a:defRPr>
            </a:pPr>
            <a:r>
              <a:rPr sz="1350" b="1">
                <a:solidFill>
                  <a:srgbClr val="444444"/>
                </a:solidFill>
                <a:latin typeface="SimSun"/>
                <a:ea typeface="SimSun"/>
                <a:cs typeface="SimSun"/>
              </a:rPr>
              <a:t>购电费用目标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eq-objective">
                <a:extLst xmlns:a="http://schemas.openxmlformats.org/drawingml/2006/main">
                  <a:ext uri="{FF2B5EF4-FFF2-40B4-BE49-F238E27FC236}">
                    <a16:creationId xmlns:a16="http://schemas.microsoft.com/office/drawing/2014/main" id="{12560DE6-5E41-4729-9734-B3C6529AE8A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953000" y="1533525"/>
                <a:ext cx="3562350" cy="495300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8098">
                <a:solidFill>
                  <a:srgbClr val="111111"/>
                </a:solidFill>
              </a:ln>
            </p:spPr>
            <p:txBody xmlns:a="http://schemas.openxmlformats.org/drawingml/2006/main">
              <a:bodyPr xmlns:a="http://schemas.openxmlformats.org/drawingml/2006/main" wrap="none" anchor="ctr" lIns="0" tIns="0" rIns="0" bIns="0">
                <a:noAutofit/>
              </a:bodyPr>
              <a:lstStyle xmlns:a="http://schemas.openxmlformats.org/drawingml/2006/main"/>
              <a:p>
                <a:pPr algn="ctr">
                  <a:defRPr sz="1500">
                    <a:solidFill>
                      <a:srgbClr val="111111"/>
                    </a:solidFill>
                    <a:latin typeface="SimSun"/>
                    <a:ea typeface="SimSun"/>
                    <a:cs typeface="SimSun"/>
                  </a:defRPr>
                </a:pPr>
                <a:r>
                  <a:rPr sz="1500">
                    <a:solidFill>
                      <a:srgbClr val="111111"/>
                    </a:solidFill>
                    <a:latin typeface="SimSun"/>
                    <a:ea typeface="SimSun"/>
                    <a:cs typeface="SimSun"/>
                  </a:rPr>
                  <a:t>最小化全天购电费用</a:t>
                </a:r>
              </a:p>
            </p:txBody>
          </p:sp>
        </mc:Choice>
        <mc:Fallback>
          <p:sp>
            <p:nvSpPr>
              <p:cNvPr id="30" name="eq-objective">
                <a:extLst xmlns:a="http://schemas.openxmlformats.org/drawingml/2006/main">
                  <a:ext uri="{FF2B5EF4-FFF2-40B4-BE49-F238E27FC236}">
                    <a16:creationId xmlns:a16="http://schemas.microsoft.com/office/drawing/2014/main" id="{12560DE6-5E41-4729-9734-B3C6529AE8A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953000" y="1533525"/>
                <a:ext cx="3562350" cy="495300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8098">
                <a:solidFill>
                  <a:srgbClr val="111111"/>
                </a:solidFill>
              </a:ln>
            </p:spPr>
            <p:txBody xmlns:a="http://schemas.openxmlformats.org/drawingml/2006/main">
              <a:bodyPr xmlns:a="http://schemas.openxmlformats.org/drawingml/2006/main" wrap="none" anchor="ctr" lIns="0" tIns="0" rIns="0" bIns="0">
                <a:noAutofit/>
              </a:bodyPr>
              <a:lstStyle xmlns:a="http://schemas.openxmlformats.org/drawingml/2006/main"/>
              <a:p>
                <a:pPr algn="ctr">
                  <a:defRPr sz="1500">
                    <a:solidFill>
                      <a:srgbClr val="111111"/>
                    </a:solidFill>
                    <a:latin typeface="SimSun"/>
                    <a:ea typeface="SimSun"/>
                    <a:cs typeface="SimSun"/>
                  </a:defRPr>
                </a:pPr>
                <a:r>
                  <a:rPr sz="1500">
                    <a:solidFill>
                      <a:srgbClr val="111111"/>
                    </a:solidFill>
                    <a:latin typeface="SimSun"/>
                  </a:rPr>
                  <a:t>最小化全天购电费用</a:t>
                </a:r>
              </a:p>
            </p:txBody>
          </p:sp>
        </mc:Fallback>
      </mc:AlternateContent>
      <p:sp>
        <p:nvSpPr>
          <p:cNvPr id="31" name="constraints-frame">
            <a:extLst xmlns:a="http://schemas.openxmlformats.org/drawingml/2006/main">
              <a:ext uri="{FF2B5EF4-FFF2-40B4-BE49-F238E27FC236}">
                <a16:creationId xmlns:a16="http://schemas.microsoft.com/office/drawing/2014/main" id="{061647AF-F652-445A-9EA6-EF17AA04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181225"/>
            <a:ext cx="38576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355C96"/>
            </a:solidFill>
            <a:prstDash val="dash"/>
          </a:ln>
        </p:spPr>
      </p:sp>
      <p:sp>
        <p:nvSpPr>
          <p:cNvPr id="32" name="balance-label">
            <a:extLst xmlns:a="http://schemas.openxmlformats.org/drawingml/2006/main">
              <a:ext uri="{FF2B5EF4-FFF2-40B4-BE49-F238E27FC236}">
                <a16:creationId xmlns:a16="http://schemas.microsoft.com/office/drawing/2014/main" id="{47A16C60-95FE-48CF-8B48-A784D4DA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276475"/>
            <a:ext cx="3609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44444"/>
                </a:solidFill>
                <a:latin typeface="SimSun"/>
                <a:ea typeface="SimSun"/>
                <a:cs typeface="SimSun"/>
              </a:defRPr>
            </a:pPr>
            <a:r>
              <a:rPr sz="1275" b="1">
                <a:solidFill>
                  <a:srgbClr val="444444"/>
                </a:solidFill>
                <a:latin typeface="SimSun"/>
                <a:ea typeface="SimSun"/>
                <a:cs typeface="SimSun"/>
              </a:rPr>
              <a:t>能量守恒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eq-balance">
                <a:extLst xmlns:a="http://schemas.openxmlformats.org/drawingml/2006/main">
                  <a:ext uri="{FF2B5EF4-FFF2-40B4-BE49-F238E27FC236}">
                    <a16:creationId xmlns:a16="http://schemas.microsoft.com/office/drawing/2014/main" id="{DF5BB244-63ED-47B7-BFC5-65015F10414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933950" y="2476500"/>
                <a:ext cx="3609975" cy="419100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8098">
                <a:solidFill>
                  <a:srgbClr val="111111"/>
                </a:solidFill>
              </a:ln>
            </p:spPr>
            <p:txBody xmlns:a="http://schemas.openxmlformats.org/drawingml/2006/main">
              <a:bodyPr xmlns:a="http://schemas.openxmlformats.org/drawingml/2006/main" wrap="none" anchor="ctr" lIns="0" tIns="0" rIns="0" bIns="0">
                <a:noAutofit/>
              </a:bodyPr>
              <a:lstStyle xmlns:a="http://schemas.openxmlformats.org/drawingml/2006/main"/>
              <a:p>
                <a:pPr algn="ctr">
                  <a:defRPr sz="1125">
                    <a:solidFill>
                      <a:srgbClr val="111111"/>
                    </a:solidFill>
                    <a:latin typeface="SimSun"/>
                    <a:ea typeface="SimSun"/>
                    <a:cs typeface="SimSun"/>
                  </a:defRPr>
                </a:pPr>
                <a:r>
                  <a:rPr sz="1125">
                    <a:solidFill>
                      <a:srgbClr val="111111"/>
                    </a:solidFill>
                    <a:latin typeface="SimSun"/>
                    <a:ea typeface="SimSun"/>
                    <a:cs typeface="SimSun"/>
                  </a:rPr>
                  <a:t>电力供给满足负荷、充电与弃光</a:t>
                </a:r>
              </a:p>
            </p:txBody>
          </p:sp>
        </mc:Choice>
        <mc:Fallback>
          <p:sp>
            <p:nvSpPr>
              <p:cNvPr id="33" name="eq-balance">
                <a:extLst xmlns:a="http://schemas.openxmlformats.org/drawingml/2006/main">
                  <a:ext uri="{FF2B5EF4-FFF2-40B4-BE49-F238E27FC236}">
                    <a16:creationId xmlns:a16="http://schemas.microsoft.com/office/drawing/2014/main" id="{DF5BB244-63ED-47B7-BFC5-65015F10414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933950" y="2476500"/>
                <a:ext cx="3609975" cy="419100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8098">
                <a:solidFill>
                  <a:srgbClr val="111111"/>
                </a:solidFill>
              </a:ln>
            </p:spPr>
            <p:txBody xmlns:a="http://schemas.openxmlformats.org/drawingml/2006/main">
              <a:bodyPr xmlns:a="http://schemas.openxmlformats.org/drawingml/2006/main" wrap="none" anchor="ctr" lIns="0" tIns="0" rIns="0" bIns="0">
                <a:noAutofit/>
              </a:bodyPr>
              <a:lstStyle xmlns:a="http://schemas.openxmlformats.org/drawingml/2006/main"/>
              <a:p>
                <a:pPr algn="ctr">
                  <a:defRPr sz="1125">
                    <a:solidFill>
                      <a:srgbClr val="111111"/>
                    </a:solidFill>
                    <a:latin typeface="SimSun"/>
                    <a:ea typeface="SimSun"/>
                    <a:cs typeface="SimSun"/>
                  </a:defRPr>
                </a:pPr>
                <a:r>
                  <a:rPr sz="1125">
                    <a:solidFill>
                      <a:srgbClr val="111111"/>
                    </a:solidFill>
                    <a:latin typeface="SimSun"/>
                  </a:rPr>
                  <a:t>电力供给满足负荷、充电与弃光</a:t>
                </a:r>
              </a:p>
            </p:txBody>
          </p:sp>
        </mc:Fallback>
      </mc:AlternateContent>
      <p:sp>
        <p:nvSpPr>
          <p:cNvPr id="34" name="soc-label">
            <a:extLst xmlns:a="http://schemas.openxmlformats.org/drawingml/2006/main">
              <a:ext uri="{FF2B5EF4-FFF2-40B4-BE49-F238E27FC236}">
                <a16:creationId xmlns:a16="http://schemas.microsoft.com/office/drawing/2014/main" id="{D867812F-B92C-4265-9953-AC509C884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990850"/>
            <a:ext cx="3609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44444"/>
                </a:solidFill>
                <a:latin typeface="SimSun"/>
                <a:ea typeface="SimSun"/>
                <a:cs typeface="SimSun"/>
              </a:defRPr>
            </a:pPr>
            <a:r>
              <a:rPr sz="1275" b="1">
                <a:solidFill>
                  <a:srgbClr val="444444"/>
                </a:solidFill>
                <a:latin typeface="SimSun"/>
                <a:ea typeface="SimSun"/>
                <a:cs typeface="SimSun"/>
              </a:rPr>
              <a:t>储能递推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eq-soc">
                <a:extLst xmlns:a="http://schemas.openxmlformats.org/drawingml/2006/main">
                  <a:ext uri="{FF2B5EF4-FFF2-40B4-BE49-F238E27FC236}">
                    <a16:creationId xmlns:a16="http://schemas.microsoft.com/office/drawing/2014/main" id="{73A34B44-BDB5-43D0-8179-C26D98B22B9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933950" y="3190875"/>
                <a:ext cx="3609975" cy="419100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8098">
                <a:solidFill>
                  <a:srgbClr val="111111"/>
                </a:solidFill>
              </a:ln>
            </p:spPr>
            <p:txBody xmlns:a="http://schemas.openxmlformats.org/drawingml/2006/main">
              <a:bodyPr xmlns:a="http://schemas.openxmlformats.org/drawingml/2006/main" wrap="none" anchor="ctr" lIns="0" tIns="0" rIns="0" bIns="0">
                <a:noAutofit/>
              </a:bodyPr>
              <a:lstStyle xmlns:a="http://schemas.openxmlformats.org/drawingml/2006/main"/>
              <a:p>
                <a:pPr algn="ctr">
                  <a:defRPr sz="1125">
                    <a:solidFill>
                      <a:srgbClr val="111111"/>
                    </a:solidFill>
                    <a:latin typeface="SimSun"/>
                    <a:ea typeface="SimSun"/>
                    <a:cs typeface="SimSun"/>
                  </a:defRPr>
                </a:pPr>
                <a:r>
                  <a:rPr sz="1125">
                    <a:solidFill>
                      <a:srgbClr val="111111"/>
                    </a:solidFill>
                    <a:latin typeface="SimSun"/>
                    <a:ea typeface="SimSun"/>
                    <a:cs typeface="SimSun"/>
                  </a:rPr>
                  <a:t>按充放电效率逐段更新库存</a:t>
                </a:r>
              </a:p>
            </p:txBody>
          </p:sp>
        </mc:Choice>
        <mc:Fallback>
          <p:sp>
            <p:nvSpPr>
              <p:cNvPr id="35" name="eq-soc">
                <a:extLst xmlns:a="http://schemas.openxmlformats.org/drawingml/2006/main">
                  <a:ext uri="{FF2B5EF4-FFF2-40B4-BE49-F238E27FC236}">
                    <a16:creationId xmlns:a16="http://schemas.microsoft.com/office/drawing/2014/main" id="{73A34B44-BDB5-43D0-8179-C26D98B22B9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933950" y="3190875"/>
                <a:ext cx="3609975" cy="419100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8098">
                <a:solidFill>
                  <a:srgbClr val="111111"/>
                </a:solidFill>
              </a:ln>
            </p:spPr>
            <p:txBody xmlns:a="http://schemas.openxmlformats.org/drawingml/2006/main">
              <a:bodyPr xmlns:a="http://schemas.openxmlformats.org/drawingml/2006/main" wrap="none" anchor="ctr" lIns="0" tIns="0" rIns="0" bIns="0">
                <a:noAutofit/>
              </a:bodyPr>
              <a:lstStyle xmlns:a="http://schemas.openxmlformats.org/drawingml/2006/main"/>
              <a:p>
                <a:pPr algn="ctr">
                  <a:defRPr sz="1125">
                    <a:solidFill>
                      <a:srgbClr val="111111"/>
                    </a:solidFill>
                    <a:latin typeface="SimSun"/>
                    <a:ea typeface="SimSun"/>
                    <a:cs typeface="SimSun"/>
                  </a:defRPr>
                </a:pPr>
                <a:r>
                  <a:rPr sz="1125">
                    <a:solidFill>
                      <a:srgbClr val="111111"/>
                    </a:solidFill>
                    <a:latin typeface="SimSun"/>
                  </a:rPr>
                  <a:t>按充放电效率逐段更新库存</a:t>
                </a:r>
              </a:p>
            </p:txBody>
          </p:sp>
        </mc:Fallback>
      </mc:AlternateContent>
      <p:sp>
        <p:nvSpPr>
          <p:cNvPr id="36" name="bounds-label">
            <a:extLst xmlns:a="http://schemas.openxmlformats.org/drawingml/2006/main">
              <a:ext uri="{FF2B5EF4-FFF2-40B4-BE49-F238E27FC236}">
                <a16:creationId xmlns:a16="http://schemas.microsoft.com/office/drawing/2014/main" id="{326E2F89-B650-4DF3-BB98-6C7C0B95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705225"/>
            <a:ext cx="3609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44444"/>
                </a:solidFill>
                <a:latin typeface="SimSun"/>
                <a:ea typeface="SimSun"/>
                <a:cs typeface="SimSun"/>
              </a:defRPr>
            </a:pPr>
            <a:r>
              <a:rPr sz="1275" b="1">
                <a:solidFill>
                  <a:srgbClr val="444444"/>
                </a:solidFill>
                <a:latin typeface="SimSun"/>
                <a:ea typeface="SimSun"/>
                <a:cs typeface="SimSun"/>
              </a:rPr>
              <a:t>容量与功率边界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eq-bounds">
                <a:extLst xmlns:a="http://schemas.openxmlformats.org/drawingml/2006/main">
                  <a:ext uri="{FF2B5EF4-FFF2-40B4-BE49-F238E27FC236}">
                    <a16:creationId xmlns:a16="http://schemas.microsoft.com/office/drawing/2014/main" id="{5E60814E-0B1A-4596-9E3D-A73536AFE13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933950" y="3905250"/>
                <a:ext cx="3609975" cy="419100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8098">
                <a:solidFill>
                  <a:srgbClr val="111111"/>
                </a:solidFill>
              </a:ln>
            </p:spPr>
            <p:txBody xmlns:a="http://schemas.openxmlformats.org/drawingml/2006/main">
              <a:bodyPr xmlns:a="http://schemas.openxmlformats.org/drawingml/2006/main" wrap="none" anchor="ctr" lIns="0" tIns="0" rIns="0" bIns="0">
                <a:noAutofit/>
              </a:bodyPr>
              <a:lstStyle xmlns:a="http://schemas.openxmlformats.org/drawingml/2006/main"/>
              <a:p>
                <a:pPr algn="ctr">
                  <a:defRPr sz="1050">
                    <a:solidFill>
                      <a:srgbClr val="111111"/>
                    </a:solidFill>
                    <a:latin typeface="SimSun"/>
                    <a:ea typeface="SimSun"/>
                    <a:cs typeface="SimSun"/>
                  </a:defRPr>
                </a:pPr>
                <a:r>
                  <a:rPr sz="1050">
                    <a:solidFill>
                      <a:srgbClr val="111111"/>
                    </a:solidFill>
                    <a:latin typeface="SimSun"/>
                    <a:ea typeface="SimSun"/>
                    <a:cs typeface="SimSun"/>
                  </a:rPr>
                  <a:t>储电量与充放电功率均受上下限约束</a:t>
                </a:r>
              </a:p>
            </p:txBody>
          </p:sp>
        </mc:Choice>
        <mc:Fallback>
          <p:sp>
            <p:nvSpPr>
              <p:cNvPr id="37" name="eq-bounds">
                <a:extLst xmlns:a="http://schemas.openxmlformats.org/drawingml/2006/main">
                  <a:ext uri="{FF2B5EF4-FFF2-40B4-BE49-F238E27FC236}">
                    <a16:creationId xmlns:a16="http://schemas.microsoft.com/office/drawing/2014/main" id="{5E60814E-0B1A-4596-9E3D-A73536AFE13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933950" y="3905250"/>
                <a:ext cx="3609975" cy="419100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8098">
                <a:solidFill>
                  <a:srgbClr val="111111"/>
                </a:solidFill>
              </a:ln>
            </p:spPr>
            <p:txBody xmlns:a="http://schemas.openxmlformats.org/drawingml/2006/main">
              <a:bodyPr xmlns:a="http://schemas.openxmlformats.org/drawingml/2006/main" wrap="none" anchor="ctr" lIns="0" tIns="0" rIns="0" bIns="0">
                <a:noAutofit/>
              </a:bodyPr>
              <a:lstStyle xmlns:a="http://schemas.openxmlformats.org/drawingml/2006/main"/>
              <a:p>
                <a:pPr algn="ctr">
                  <a:defRPr sz="1050">
                    <a:solidFill>
                      <a:srgbClr val="111111"/>
                    </a:solidFill>
                    <a:latin typeface="SimSun"/>
                    <a:ea typeface="SimSun"/>
                    <a:cs typeface="SimSun"/>
                  </a:defRPr>
                </a:pPr>
                <a:r>
                  <a:rPr sz="1050">
                    <a:solidFill>
                      <a:srgbClr val="111111"/>
                    </a:solidFill>
                    <a:latin typeface="SimSun"/>
                  </a:rPr>
                  <a:t>储电量与充放电功率均受上下限约束</a:t>
                </a:r>
              </a:p>
            </p:txBody>
          </p:sp>
        </mc:Fallback>
      </mc:AlternateContent>
      <p:sp>
        <p:nvSpPr>
          <p:cNvPr id="38" name="cyclic-label">
            <a:extLst xmlns:a="http://schemas.openxmlformats.org/drawingml/2006/main">
              <a:ext uri="{FF2B5EF4-FFF2-40B4-BE49-F238E27FC236}">
                <a16:creationId xmlns:a16="http://schemas.microsoft.com/office/drawing/2014/main" id="{5FD9D2F7-F3A0-4035-BE3D-DAB2298B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410075"/>
            <a:ext cx="3609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44444"/>
                </a:solidFill>
                <a:latin typeface="SimSun"/>
                <a:ea typeface="SimSun"/>
                <a:cs typeface="SimSun"/>
              </a:defRPr>
            </a:pPr>
            <a:r>
              <a:rPr sz="1275" b="1">
                <a:solidFill>
                  <a:srgbClr val="444444"/>
                </a:solidFill>
                <a:latin typeface="SimSun"/>
                <a:ea typeface="SimSun"/>
                <a:cs typeface="SimSun"/>
              </a:rPr>
              <a:t>日循环与充放电互斥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eq-cyclic">
                <a:extLst xmlns:a="http://schemas.openxmlformats.org/drawingml/2006/main">
                  <a:ext uri="{FF2B5EF4-FFF2-40B4-BE49-F238E27FC236}">
                    <a16:creationId xmlns:a16="http://schemas.microsoft.com/office/drawing/2014/main" id="{F3514EAA-4A33-4541-A038-84A8DDCCC5D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933950" y="4610100"/>
                <a:ext cx="3609975" cy="419100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8098">
                <a:solidFill>
                  <a:srgbClr val="111111"/>
                </a:solidFill>
              </a:ln>
            </p:spPr>
            <p:txBody xmlns:a="http://schemas.openxmlformats.org/drawingml/2006/main">
              <a:bodyPr xmlns:a="http://schemas.openxmlformats.org/drawingml/2006/main" wrap="none" anchor="ctr" lIns="0" tIns="0" rIns="0" bIns="0">
                <a:noAutofit/>
              </a:bodyPr>
              <a:lstStyle xmlns:a="http://schemas.openxmlformats.org/drawingml/2006/main"/>
              <a:p>
                <a:pPr algn="ctr">
                  <a:defRPr sz="1200">
                    <a:solidFill>
                      <a:srgbClr val="111111"/>
                    </a:solidFill>
                    <a:latin typeface="SimSun"/>
                    <a:ea typeface="SimSun"/>
                    <a:cs typeface="SimSun"/>
                  </a:defRPr>
                </a:pPr>
                <a:r>
                  <a:rPr sz="1200">
                    <a:solidFill>
                      <a:srgbClr val="111111"/>
                    </a:solidFill>
                    <a:latin typeface="SimSun"/>
                    <a:ea typeface="SimSun"/>
                    <a:cs typeface="SimSun"/>
                  </a:rPr>
                  <a:t>初末库存相同，充电与放电互斥</a:t>
                </a:r>
              </a:p>
            </p:txBody>
          </p:sp>
        </mc:Choice>
        <mc:Fallback>
          <p:sp>
            <p:nvSpPr>
              <p:cNvPr id="39" name="eq-cyclic">
                <a:extLst xmlns:a="http://schemas.openxmlformats.org/drawingml/2006/main">
                  <a:ext uri="{FF2B5EF4-FFF2-40B4-BE49-F238E27FC236}">
                    <a16:creationId xmlns:a16="http://schemas.microsoft.com/office/drawing/2014/main" id="{F3514EAA-4A33-4541-A038-84A8DDCCC5D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933950" y="4610100"/>
                <a:ext cx="3609975" cy="419100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8098">
                <a:solidFill>
                  <a:srgbClr val="111111"/>
                </a:solidFill>
              </a:ln>
            </p:spPr>
            <p:txBody xmlns:a="http://schemas.openxmlformats.org/drawingml/2006/main">
              <a:bodyPr xmlns:a="http://schemas.openxmlformats.org/drawingml/2006/main" wrap="none" anchor="ctr" lIns="0" tIns="0" rIns="0" bIns="0">
                <a:noAutofit/>
              </a:bodyPr>
              <a:lstStyle xmlns:a="http://schemas.openxmlformats.org/drawingml/2006/main"/>
              <a:p>
                <a:pPr algn="ctr">
                  <a:defRPr sz="1200">
                    <a:solidFill>
                      <a:srgbClr val="111111"/>
                    </a:solidFill>
                    <a:latin typeface="SimSun"/>
                    <a:ea typeface="SimSun"/>
                    <a:cs typeface="SimSun"/>
                  </a:defRPr>
                </a:pPr>
                <a:r>
                  <a:rPr sz="1200">
                    <a:solidFill>
                      <a:srgbClr val="111111"/>
                    </a:solidFill>
                    <a:latin typeface="SimSun"/>
                  </a:rPr>
                  <a:t>初末库存相同，充电与放电互斥</a:t>
                </a:r>
              </a:p>
            </p:txBody>
          </p:sp>
        </mc:Fallback>
      </mc:AlternateContent>
      <p:sp>
        <p:nvSpPr>
          <p:cNvPr id="40" name="model-output">
            <a:extLst xmlns:a="http://schemas.openxmlformats.org/drawingml/2006/main">
              <a:ext uri="{FF2B5EF4-FFF2-40B4-BE49-F238E27FC236}">
                <a16:creationId xmlns:a16="http://schemas.microsoft.com/office/drawing/2014/main" id="{DCE0F328-B23A-4444-84EB-A90DD78D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3149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EE"/>
          </a:solidFill>
          <a:ln xmlns:a="http://schemas.openxmlformats.org/drawingml/2006/main" w="18098">
            <a:solidFill>
              <a:srgbClr val="BBD6EE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75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日循环确定性 MILP</a:t>
            </a:r>
          </a:p>
        </p:txBody>
      </p:sp>
      <p:cxnSp>
        <p:nvCxnSpPr>
          <p:cNvPr id="109" name=""/>
          <p:cNvCxnSpPr>
            <a:stCxn xmlns:a="http://schemas.openxmlformats.org/drawingml/2006/main" id="23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 flipV="1">
            <a:off x="4162425" y="1781175"/>
            <a:ext cx="790575" cy="33242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cxnSp>
        <p:nvCxnSpPr>
          <p:cNvPr id="110" name=""/>
          <p:cNvCxnSpPr>
            <a:stCxn xmlns:a="http://schemas.openxmlformats.org/drawingml/2006/main" id="30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6734175" y="2028825"/>
            <a:ext cx="4763" cy="44767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cxnSp>
        <p:nvCxnSpPr>
          <p:cNvPr id="111" name=""/>
          <p:cNvCxnSpPr>
            <a:stCxn xmlns:a="http://schemas.openxmlformats.org/drawingml/2006/main" id="33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6738938" y="2895600"/>
            <a:ext cx="0" cy="29527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cxnSp>
        <p:nvCxnSpPr>
          <p:cNvPr id="112" name=""/>
          <p:cNvCxnSpPr>
            <a:stCxn xmlns:a="http://schemas.openxmlformats.org/drawingml/2006/main" id="35" idx="2"/>
            <a:endCxn xmlns:a="http://schemas.openxmlformats.org/drawingml/2006/main" id="37" idx="0"/>
          </p:cNvCxnSpPr>
          <p:nvPr/>
        </p:nvCxnSpPr>
        <p:spPr>
          <a:xfrm xmlns:a="http://schemas.openxmlformats.org/drawingml/2006/main">
            <a:off x="6738938" y="3609975"/>
            <a:ext cx="0" cy="29527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cxnSp>
        <p:nvCxnSpPr>
          <p:cNvPr id="113" name=""/>
          <p:cNvCxnSpPr>
            <a:stCxn xmlns:a="http://schemas.openxmlformats.org/drawingml/2006/main" id="37" idx="2"/>
            <a:endCxn xmlns:a="http://schemas.openxmlformats.org/drawingml/2006/main" id="39" idx="0"/>
          </p:cNvCxnSpPr>
          <p:nvPr/>
        </p:nvCxnSpPr>
        <p:spPr>
          <a:xfrm xmlns:a="http://schemas.openxmlformats.org/drawingml/2006/main">
            <a:off x="6738938" y="4324350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cxnSp>
        <p:nvCxnSpPr>
          <p:cNvPr id="114" name=""/>
          <p:cNvCxnSpPr>
            <a:stCxn xmlns:a="http://schemas.openxmlformats.org/drawingml/2006/main" id="39" idx="2"/>
            <a:endCxn xmlns:a="http://schemas.openxmlformats.org/drawingml/2006/main" id="40" idx="0"/>
          </p:cNvCxnSpPr>
          <p:nvPr/>
        </p:nvCxnSpPr>
        <p:spPr>
          <a:xfrm xmlns:a="http://schemas.openxmlformats.org/drawingml/2006/main" flipH="1">
            <a:off x="6619875" y="5029200"/>
            <a:ext cx="119063" cy="28575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47" name="milp-solver">
            <a:extLst xmlns:a="http://schemas.openxmlformats.org/drawingml/2006/main">
              <a:ext uri="{FF2B5EF4-FFF2-40B4-BE49-F238E27FC236}">
                <a16:creationId xmlns:a16="http://schemas.microsoft.com/office/drawing/2014/main" id="{58F84BD7-3350-4CE6-83EF-A21D9AF5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438275"/>
            <a:ext cx="1847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SciPy / HiGHS</a:t>
            </a:r>
          </a:p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MILP求解</a:t>
            </a:r>
          </a:p>
        </p:txBody>
      </p:sp>
      <p:sp>
        <p:nvSpPr>
          <p:cNvPr id="48" name="solve-branches">
            <a:extLst xmlns:a="http://schemas.openxmlformats.org/drawingml/2006/main">
              <a:ext uri="{FF2B5EF4-FFF2-40B4-BE49-F238E27FC236}">
                <a16:creationId xmlns:a16="http://schemas.microsoft.com/office/drawing/2014/main" id="{1C13E824-859B-44CD-92D0-A0940CC3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276475"/>
            <a:ext cx="19240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355C96"/>
            </a:solidFill>
            <a:prstDash val="dash"/>
          </a:ln>
        </p:spPr>
      </p:sp>
      <p:sp>
        <p:nvSpPr>
          <p:cNvPr id="49" name="optimal-schedule">
            <a:extLst xmlns:a="http://schemas.openxmlformats.org/drawingml/2006/main">
              <a:ext uri="{FF2B5EF4-FFF2-40B4-BE49-F238E27FC236}">
                <a16:creationId xmlns:a16="http://schemas.microsoft.com/office/drawing/2014/main" id="{699E6C29-658A-4972-B3EE-AE551D55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552700"/>
            <a:ext cx="800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ns0:p xmlns:ns0="http://schemas.openxmlformats.org/drawingml/2006/main">
            <ns0:pPr algn="ctr">
              <ns0:defRPr sz="1275" b="0">
                <ns0:solidFill>
                  <ns0:srgbClr val="111111"/>
                </ns0:solidFill>
                <ns0:latin typeface="SimSun"/>
                <ns0:ea typeface="SimSun"/>
                <ns0:cs typeface="SimSun"/>
              </ns0:defRPr>
            </ns0:pPr>
            <ns0:r>
              <ns0:rPr sz="1275" b="0">
                <ns0:solidFill>
                  <ns0:srgbClr val="111111"/>
                </ns0:solidFill>
                <ns0:latin typeface="SimSun"/>
                <ns0:ea typeface="SimSun"/>
                <ns0:cs typeface="SimSun"/>
              </ns0:rPr>
              <ns0:t>最优调度</ns0:t>
            </ns0:r>
          </ns0:p>
          <ns1:p xmlns:ns1="http://schemas.openxmlformats.org/drawingml/2006/main">
            <ns1:pPr algn="ctr">
              <ns1:defRPr sz="1275" b="0">
                <ns1:solidFill>
                  <ns1:srgbClr val="111111"/>
                </ns1:solidFill>
                <ns1:latin typeface="SimSun"/>
                <ns1:ea typeface="SimSun"/>
                <ns1:cs typeface="SimSun"/>
              </ns1:defRPr>
            </ns1:pPr>
            <ns1:r>
              <ns1:rPr sz="1275" b="0">
                <ns1:solidFill>
                  <ns1:srgbClr val="111111"/>
                </ns1:solidFill>
                <ns1:latin typeface="SimSun"/>
                <ns1:ea typeface="SimSun"/>
                <ns1:cs typeface="SimSun"/>
              </ns1:rPr>
              <ns1:t>购电与储能</ns1:t>
            </ns1:r>
          </ns1:p>
          <ns2:p xmlns:ns2="http://schemas.openxmlformats.org/drawingml/2006/main">
            <ns2:pPr algn="ctr">
              <ns2:defRPr sz="1275" b="0">
                <ns2:solidFill>
                  <ns2:srgbClr val="111111"/>
                </ns2:solidFill>
                <ns2:latin typeface="SimSun"/>
                <ns2:ea typeface="SimSun"/>
                <ns2:cs typeface="SimSun"/>
              </ns2:defRPr>
            </ns2:pPr>
            <ns2:r>
              <ns2:rPr sz="1275" b="0">
                <ns2:solidFill>
                  <ns2:srgbClr val="111111"/>
                </ns2:solidFill>
                <ns2:latin typeface="SimSun"/>
                <ns2:ea typeface="SimSun"/>
                <ns2:cs typeface="SimSun"/>
              </ns2:rPr>
              <ns2:t>弃光轨迹</ns2:t>
            </ns2:r>
          </ns2:p>
        </p:txBody>
      </p:sp>
      <p:sp>
        <p:nvSpPr>
          <p:cNvPr id="50" name="baseline">
            <a:extLst xmlns:a="http://schemas.openxmlformats.org/drawingml/2006/main">
              <a:ext uri="{FF2B5EF4-FFF2-40B4-BE49-F238E27FC236}">
                <a16:creationId xmlns:a16="http://schemas.microsoft.com/office/drawing/2014/main" id="{1D941BAD-33AA-4D5D-B6A0-0C4FE66D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552700"/>
            <a:ext cx="800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ns3:p xmlns:ns3="http://schemas.openxmlformats.org/drawingml/2006/main">
            <ns3:pPr algn="ctr">
              <ns3:defRPr sz="1275" b="0">
                <ns3:solidFill>
                  <ns3:srgbClr val="111111"/>
                </ns3:solidFill>
                <ns3:latin typeface="SimSun"/>
                <ns3:ea typeface="SimSun"/>
                <ns3:cs typeface="SimSun"/>
              </ns3:defRPr>
            </ns3:pPr>
            <ns3:r>
              <ns3:rPr sz="1275" b="0">
                <ns3:solidFill>
                  <ns3:srgbClr val="111111"/>
                </ns3:solidFill>
                <ns3:latin typeface="SimSun"/>
                <ns3:ea typeface="SimSun"/>
                <ns3:cs typeface="SimSun"/>
              </ns3:rPr>
              <ns3:t>无储能</ns3:t>
            </ns3:r>
          </ns3:p>
          <ns4:p xmlns:ns4="http://schemas.openxmlformats.org/drawingml/2006/main">
            <ns4:pPr algn="ctr">
              <ns4:defRPr sz="1275" b="0">
                <ns4:solidFill>
                  <ns4:srgbClr val="111111"/>
                </ns4:solidFill>
                <ns4:latin typeface="SimSun"/>
                <ns4:ea typeface="SimSun"/>
                <ns4:cs typeface="SimSun"/>
              </ns4:defRPr>
            </ns4:pPr>
            <ns4:r>
              <ns4:rPr sz="1275" b="0">
                <ns4:solidFill>
                  <ns4:srgbClr val="111111"/>
                </ns4:solidFill>
                <ns4:latin typeface="SimSun"/>
                <ns4:ea typeface="SimSun"/>
                <ns4:cs typeface="SimSun"/>
              </ns4:rPr>
              <ns4:t>购电基线</ns4:t>
            </ns4:r>
          </ns4:p>
          <ns5:p xmlns:ns5="http://schemas.openxmlformats.org/drawingml/2006/main">
            <ns5:pPr algn="ctr">
              <ns5:defRPr sz="1275" b="0">
                <ns5:solidFill>
                  <ns5:srgbClr val="111111"/>
                </ns5:solidFill>
                <ns5:latin typeface="SimSun"/>
                <ns5:ea typeface="SimSun"/>
                <ns5:cs typeface="SimSun"/>
              </ns5:defRPr>
            </ns5:pPr>
            <ns5:r>
              <ns5:rPr sz="1275" b="0">
                <ns5:solidFill>
                  <ns5:srgbClr val="111111"/>
                </ns5:solidFill>
                <ns5:latin typeface="SimSun"/>
                <ns5:ea typeface="SimSun"/>
                <ns5:cs typeface="SimSun"/>
              </ns5:rPr>
              <ns5:t>松弛下界</ns5:t>
            </ns5:r>
          </ns5:p>
        </p:txBody>
      </p:sp>
      <p:sp>
        <p:nvSpPr>
          <p:cNvPr id="51" name="baseline-label">
            <a:extLst xmlns:a="http://schemas.openxmlformats.org/drawingml/2006/main">
              <a:ext uri="{FF2B5EF4-FFF2-40B4-BE49-F238E27FC236}">
                <a16:creationId xmlns:a16="http://schemas.microsoft.com/office/drawing/2014/main" id="{34F19EA1-90A2-4D28-97F1-4C4F99E17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486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ns6:p xmlns:ns6="http://schemas.openxmlformats.org/drawingml/2006/main">
            <ns6:pPr algn="ctr">
              <ns6:defRPr sz="1200" b="1">
                <ns6:solidFill>
                  <ns6:srgbClr val="444444"/>
                </ns6:solidFill>
                <ns6:latin typeface="SimSun"/>
                <ns6:ea typeface="SimSun"/>
                <ns6:cs typeface="SimSun"/>
              </ns6:defRPr>
            </ns6:pPr>
            <ns6:r>
              <ns6:rPr sz="1200" b="1">
                <ns6:solidFill>
                  <ns6:srgbClr val="444444"/>
                </ns6:solidFill>
                <ns6:latin typeface="SimSun"/>
                <ns6:ea typeface="SimSun"/>
                <ns6:cs typeface="SimSun"/>
              </ns6:rPr>
              <ns6:t>基线购电规则</ns6:t>
            </ns6:r>
          </ns6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eq-baseline">
                <a:extLst xmlns:a="http://schemas.openxmlformats.org/drawingml/2006/main">
                  <a:ext uri="{FF2B5EF4-FFF2-40B4-BE49-F238E27FC236}">
                    <a16:creationId xmlns:a16="http://schemas.microsoft.com/office/drawing/2014/main" id="{FB402E92-1639-4CB5-A819-29835AC3F24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286875" y="3705225"/>
                <a:ext cx="1714500" cy="457200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8098">
                <a:solidFill>
                  <a:srgbClr val="111111"/>
                </a:solidFill>
              </a:ln>
            </p:spPr>
            <p:txBody xmlns:a="http://schemas.openxmlformats.org/drawingml/2006/main">
              <a:bodyPr xmlns:a="http://schemas.openxmlformats.org/drawingml/2006/main" wrap="none" anchor="ctr" lIns="0" tIns="0" rIns="0" bIns="0">
                <a:noAutofit/>
              </a:bodyPr>
              <a:lstStyle xmlns:a="http://schemas.openxmlformats.org/drawingml/2006/main"/>
              <a:p>
                <a:pPr algn="ctr">
                  <a:defRPr sz="900">
                    <a:solidFill>
                      <a:srgbClr val="111111"/>
                    </a:solidFill>
                    <a:latin typeface="SimSun"/>
                    <a:ea typeface="SimSun"/>
                    <a:cs typeface="SimSun"/>
                  </a:defRPr>
                </a:pPr>
                <a:r>
                  <a:rPr sz="900">
                    <a:solidFill>
                      <a:srgbClr val="111111"/>
                    </a:solidFill>
                    <a:latin typeface="SimSun"/>
                    <a:ea typeface="SimSun"/>
                    <a:cs typeface="SimSun"/>
                  </a:rPr>
                  <a:t>净需求缺口由电网补足</a:t>
                </a:r>
              </a:p>
            </p:txBody>
          </p:sp>
        </mc:Choice>
        <mc:Fallback>
          <p:sp>
            <p:nvSpPr>
              <p:cNvPr id="52" name="eq-baseline">
                <a:extLst xmlns:a="http://schemas.openxmlformats.org/drawingml/2006/main">
                  <a:ext uri="{FF2B5EF4-FFF2-40B4-BE49-F238E27FC236}">
                    <a16:creationId xmlns:a16="http://schemas.microsoft.com/office/drawing/2014/main" id="{FB402E92-1639-4CB5-A819-29835AC3F240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9286875" y="3705225"/>
                <a:ext cx="1714500" cy="457200"/>
              </a:xfrm>
              <a:prstGeom xmlns:a="http://schemas.openxmlformats.org/drawingml/2006/main" prst="rect">
                <a:avLst/>
              </a:prstGeom>
              <a:solidFill xmlns:a="http://schemas.openxmlformats.org/drawingml/2006/main">
                <a:srgbClr val="FFFFFF"/>
              </a:solidFill>
              <a:ln xmlns:a="http://schemas.openxmlformats.org/drawingml/2006/main" w="18098">
                <a:solidFill>
                  <a:srgbClr val="111111"/>
                </a:solidFill>
              </a:ln>
            </p:spPr>
            <p:txBody xmlns:a="http://schemas.openxmlformats.org/drawingml/2006/main">
              <a:bodyPr xmlns:a="http://schemas.openxmlformats.org/drawingml/2006/main" wrap="none" anchor="ctr" lIns="0" tIns="0" rIns="0" bIns="0">
                <a:noAutofit/>
              </a:bodyPr>
              <a:lstStyle xmlns:a="http://schemas.openxmlformats.org/drawingml/2006/main"/>
              <a:p>
                <a:pPr algn="ctr">
                  <a:defRPr sz="900">
                    <a:solidFill>
                      <a:srgbClr val="111111"/>
                    </a:solidFill>
                    <a:latin typeface="SimSun"/>
                    <a:ea typeface="SimSun"/>
                    <a:cs typeface="SimSun"/>
                  </a:defRPr>
                </a:pPr>
                <a:r>
                  <a:rPr sz="900">
                    <a:solidFill>
                      <a:srgbClr val="111111"/>
                    </a:solidFill>
                    <a:latin typeface="SimSun"/>
                  </a:rPr>
                  <a:t>净需求缺口由电网补足</a:t>
                </a:r>
              </a:p>
            </p:txBody>
          </p:sp>
        </mc:Fallback>
      </mc:AlternateContent>
      <p:sp>
        <p:nvSpPr>
          <p:cNvPr id="53" name="comparison-result">
            <a:extLst xmlns:a="http://schemas.openxmlformats.org/drawingml/2006/main">
              <a:ext uri="{FF2B5EF4-FFF2-40B4-BE49-F238E27FC236}">
                <a16:creationId xmlns:a16="http://schemas.microsoft.com/office/drawing/2014/main" id="{30596302-0B85-4F4F-AD98-F089317A6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70535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EE"/>
          </a:solidFill>
          <a:ln xmlns:a="http://schemas.openxmlformats.org/drawingml/2006/main" w="18098">
            <a:solidFill>
              <a:srgbClr val="BBD6EE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最优方案与基线</a:t>
            </a:r>
          </a:p>
          <a:p xmlns:a="http://schemas.openxmlformats.org/drawingml/2006/main">
            <a:pPr algn="ctr">
              <a:defRPr sz="13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费用差值对照</a:t>
            </a:r>
          </a:p>
        </p:txBody>
      </p:sp>
      <p:cxnSp>
        <p:nvCxnSpPr>
          <p:cNvPr id="122" name=""/>
          <p:cNvCxnSpPr>
            <a:stCxn xmlns:a="http://schemas.openxmlformats.org/drawingml/2006/main" id="47" idx="2"/>
            <a:endCxn xmlns:a="http://schemas.openxmlformats.org/drawingml/2006/main" id="49" idx="0"/>
          </p:cNvCxnSpPr>
          <p:nvPr/>
        </p:nvCxnSpPr>
        <p:spPr>
          <a:xfrm xmlns:a="http://schemas.openxmlformats.org/drawingml/2006/main" flipH="1">
            <a:off x="9686925" y="2009775"/>
            <a:ext cx="457200" cy="5429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cxnSp>
        <p:nvCxnSpPr>
          <p:cNvPr id="123" name=""/>
          <p:cNvCxnSpPr>
            <a:stCxn xmlns:a="http://schemas.openxmlformats.org/drawingml/2006/main" id="47" idx="2"/>
            <a:endCxn xmlns:a="http://schemas.openxmlformats.org/drawingml/2006/main" id="50" idx="0"/>
          </p:cNvCxnSpPr>
          <p:nvPr/>
        </p:nvCxnSpPr>
        <p:spPr>
          <a:xfrm xmlns:a="http://schemas.openxmlformats.org/drawingml/2006/main">
            <a:off x="10144125" y="2009775"/>
            <a:ext cx="457200" cy="5429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cxnSp>
        <p:nvCxnSpPr>
          <p:cNvPr id="124" name=""/>
          <p:cNvCxnSpPr>
            <a:stCxn xmlns:a="http://schemas.openxmlformats.org/drawingml/2006/main" id="50" idx="2"/>
            <a:endCxn xmlns:a="http://schemas.openxmlformats.org/drawingml/2006/main" id="52" idx="0"/>
          </p:cNvCxnSpPr>
          <p:nvPr/>
        </p:nvCxnSpPr>
        <p:spPr>
          <a:xfrm xmlns:a="http://schemas.openxmlformats.org/drawingml/2006/main" flipH="1">
            <a:off x="10144125" y="3333750"/>
            <a:ext cx="457200" cy="37147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cxnSp>
        <p:nvCxnSpPr>
          <p:cNvPr id="125" name=""/>
          <p:cNvCxnSpPr>
            <a:stCxn xmlns:a="http://schemas.openxmlformats.org/drawingml/2006/main" id="49" idx="2"/>
            <a:endCxn xmlns:a="http://schemas.openxmlformats.org/drawingml/2006/main" id="53" idx="0"/>
          </p:cNvCxnSpPr>
          <p:nvPr/>
        </p:nvCxnSpPr>
        <p:spPr>
          <a:xfrm xmlns:a="http://schemas.openxmlformats.org/drawingml/2006/main">
            <a:off x="9686925" y="3333750"/>
            <a:ext cx="457200" cy="13716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cxnSp>
        <p:nvCxnSpPr>
          <p:cNvPr id="126" name=""/>
          <p:cNvCxnSpPr>
            <a:stCxn xmlns:a="http://schemas.openxmlformats.org/drawingml/2006/main" id="52" idx="2"/>
            <a:endCxn xmlns:a="http://schemas.openxmlformats.org/drawingml/2006/main" id="53" idx="0"/>
          </p:cNvCxnSpPr>
          <p:nvPr/>
        </p:nvCxnSpPr>
        <p:spPr>
          <a:xfrm xmlns:a="http://schemas.openxmlformats.org/drawingml/2006/main">
            <a:off x="10144125" y="4162425"/>
            <a:ext cx="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cxnSp>
        <p:nvCxnSpPr>
          <p:cNvPr id="127" name=""/>
          <p:cNvCxnSpPr>
            <a:stCxn xmlns:a="http://schemas.openxmlformats.org/drawingml/2006/main" id="40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 flipV="1">
            <a:off x="8048625" y="1724025"/>
            <a:ext cx="1171575" cy="37909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60" name="physical-checks">
            <a:extLst xmlns:a="http://schemas.openxmlformats.org/drawingml/2006/main">
              <a:ext uri="{FF2B5EF4-FFF2-40B4-BE49-F238E27FC236}">
                <a16:creationId xmlns:a16="http://schemas.microsoft.com/office/drawing/2014/main" id="{0DA31DC8-D5B9-4719-AFA5-ACE18E16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1438275"/>
            <a:ext cx="9144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ns7:p xmlns:ns7="http://schemas.openxmlformats.org/drawingml/2006/main">
            <ns7:pPr algn="ctr">
              <ns7:defRPr sz="1275" b="0">
                <ns7:solidFill>
                  <ns7:srgbClr val="111111"/>
                </ns7:solidFill>
                <ns7:latin typeface="SimSun"/>
                <ns7:ea typeface="SimSun"/>
                <ns7:cs typeface="SimSun"/>
              </ns7:defRPr>
            </ns7:pPr>
            <ns7:r>
              <ns7:rPr sz="1275" b="0">
                <ns7:solidFill>
                  <ns7:srgbClr val="111111"/>
                </ns7:solidFill>
                <ns7:latin typeface="SimSun"/>
                <ns7:ea typeface="SimSun"/>
                <ns7:cs typeface="SimSun"/>
              </ns7:rPr>
              <ns7:t>逐时核验</ns7:t>
            </ns7:r>
          </ns7:p>
          <ns8:p xmlns:ns8="http://schemas.openxmlformats.org/drawingml/2006/main">
            <ns8:pPr algn="ctr">
              <ns8:defRPr sz="1275" b="0">
                <ns8:solidFill>
                  <ns8:srgbClr val="111111"/>
                </ns8:solidFill>
                <ns8:latin typeface="SimSun"/>
                <ns8:ea typeface="SimSun"/>
                <ns8:cs typeface="SimSun"/>
              </ns8:defRPr>
            </ns8:pPr>
            <ns8:r>
              <ns8:rPr sz="1275" b="0">
                <ns8:solidFill>
                  <ns8:srgbClr val="111111"/>
                </ns8:solidFill>
                <ns8:latin typeface="SimSun"/>
                <ns8:ea typeface="SimSun"/>
                <ns8:cs typeface="SimSun"/>
              </ns8:rPr>
              <ns8:t>能量守恒</ns8:t>
            </ns8:r>
          </ns8:p>
          <ns9:p xmlns:ns9="http://schemas.openxmlformats.org/drawingml/2006/main">
            <ns9:pPr algn="ctr">
              <ns9:defRPr sz="1275" b="0">
                <ns9:solidFill>
                  <ns9:srgbClr val="111111"/>
                </ns9:solidFill>
                <ns9:latin typeface="SimSun"/>
                <ns9:ea typeface="SimSun"/>
                <ns9:cs typeface="SimSun"/>
              </ns9:defRPr>
            </ns9:pPr>
            <ns9:r>
              <ns9:rPr sz="1275" b="0">
                <ns9:solidFill>
                  <ns9:srgbClr val="111111"/>
                </ns9:solidFill>
                <ns9:latin typeface="SimSun"/>
                <ns9:ea typeface="SimSun"/>
                <ns9:cs typeface="SimSun"/>
              </ns9:rPr>
              <ns9:t>库存与功率</ns9:t>
            </ns9:r>
          </ns9:p>
        </p:txBody>
      </p:sp>
      <p:sp>
        <p:nvSpPr>
          <p:cNvPr id="61" name="exclusivity-checks">
            <a:extLst xmlns:a="http://schemas.openxmlformats.org/drawingml/2006/main">
              <a:ext uri="{FF2B5EF4-FFF2-40B4-BE49-F238E27FC236}">
                <a16:creationId xmlns:a16="http://schemas.microsoft.com/office/drawing/2014/main" id="{58F85B35-6CF9-4CF8-8972-2E5963D56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1438275"/>
            <a:ext cx="9144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2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互斥约束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2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弃光上限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2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非负性</a:t>
            </a:r>
          </a:p>
        </p:txBody>
      </p:sp>
      <p:sp>
        <p:nvSpPr>
          <p:cNvPr id="62" name="fee-recompute">
            <a:extLst xmlns:a="http://schemas.openxmlformats.org/drawingml/2006/main">
              <a:ext uri="{FF2B5EF4-FFF2-40B4-BE49-F238E27FC236}">
                <a16:creationId xmlns:a16="http://schemas.microsoft.com/office/drawing/2014/main" id="{DB3DBBA7-2149-4E49-A1B0-F359F6907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2714625"/>
            <a:ext cx="1924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独立复算购电费用</a:t>
            </a:r>
          </a:p>
          <a:p xmlns:a="http://schemas.openxmlformats.org/drawingml/2006/main">
            <a:pPr algn="ctr">
              <a:defRPr sz="13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3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并回读144行结果</a:t>
            </a:r>
          </a:p>
        </p:txBody>
      </p:sp>
      <p:sp>
        <p:nvSpPr>
          <p:cNvPr id="63" name="result-export">
            <a:extLst xmlns:a="http://schemas.openxmlformats.org/drawingml/2006/main">
              <a:ext uri="{FF2B5EF4-FFF2-40B4-BE49-F238E27FC236}">
                <a16:creationId xmlns:a16="http://schemas.microsoft.com/office/drawing/2014/main" id="{37B62EB0-D4E2-4170-8A12-ADEA5F89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4000500"/>
            <a:ext cx="1924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EE"/>
          </a:solidFill>
          <a:ln xmlns:a="http://schemas.openxmlformats.org/drawingml/2006/main" w="18098">
            <a:solidFill>
              <a:srgbClr val="BBD6EE"/>
            </a:solidFill>
          </a:ln>
        </p:spPr>
        <p:txBody>
          <a:bodyPr xmlns:a="http://schemas.openxmlformats.org/drawingml/2006/main" lIns="76200" tIns="47625" rIns="7620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表1、表2</a:t>
            </a:r>
          </a:p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完整调度明细</a:t>
            </a:r>
          </a:p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result1.xlsx</a:t>
            </a:r>
          </a:p>
        </p:txBody>
      </p:sp>
      <p:cxnSp>
        <p:nvCxnSpPr>
          <p:cNvPr id="132" name=""/>
          <p:cNvCxnSpPr>
            <a:stCxn xmlns:a="http://schemas.openxmlformats.org/drawingml/2006/main" id="60" idx="2"/>
            <a:endCxn xmlns:a="http://schemas.openxmlformats.org/drawingml/2006/main" id="62" idx="0"/>
          </p:cNvCxnSpPr>
          <p:nvPr/>
        </p:nvCxnSpPr>
        <p:spPr>
          <a:xfrm xmlns:a="http://schemas.openxmlformats.org/drawingml/2006/main">
            <a:off x="12058650" y="2219325"/>
            <a:ext cx="504825" cy="4953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cxnSp>
        <p:nvCxnSpPr>
          <p:cNvPr id="133" name=""/>
          <p:cNvCxnSpPr>
            <a:stCxn xmlns:a="http://schemas.openxmlformats.org/drawingml/2006/main" id="61" idx="2"/>
            <a:endCxn xmlns:a="http://schemas.openxmlformats.org/drawingml/2006/main" id="62" idx="0"/>
          </p:cNvCxnSpPr>
          <p:nvPr/>
        </p:nvCxnSpPr>
        <p:spPr>
          <a:xfrm xmlns:a="http://schemas.openxmlformats.org/drawingml/2006/main" flipH="1">
            <a:off x="12563475" y="2219325"/>
            <a:ext cx="504825" cy="4953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cxnSp>
        <p:nvCxnSpPr>
          <p:cNvPr id="134" name=""/>
          <p:cNvCxnSpPr>
            <a:stCxn xmlns:a="http://schemas.openxmlformats.org/drawingml/2006/main" id="62" idx="2"/>
            <a:endCxn xmlns:a="http://schemas.openxmlformats.org/drawingml/2006/main" id="63" idx="0"/>
          </p:cNvCxnSpPr>
          <p:nvPr/>
        </p:nvCxnSpPr>
        <p:spPr>
          <a:xfrm xmlns:a="http://schemas.openxmlformats.org/drawingml/2006/main">
            <a:off x="12563475" y="3305175"/>
            <a:ext cx="0" cy="69532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cxnSp>
        <p:nvCxnSpPr>
          <p:cNvPr id="135" name=""/>
          <p:cNvCxnSpPr>
            <a:stCxn xmlns:a="http://schemas.openxmlformats.org/drawingml/2006/main" id="53" idx="3"/>
            <a:endCxn xmlns:a="http://schemas.openxmlformats.org/drawingml/2006/main" id="60" idx="1"/>
          </p:cNvCxnSpPr>
          <p:nvPr/>
        </p:nvCxnSpPr>
        <p:spPr>
          <a:xfrm xmlns:a="http://schemas.openxmlformats.org/drawingml/2006/main" flipV="1">
            <a:off x="11001375" y="1828800"/>
            <a:ext cx="600075" cy="31337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68" name="bottom-note">
            <a:extLst xmlns:a="http://schemas.openxmlformats.org/drawingml/2006/main">
              <a:ext uri="{FF2B5EF4-FFF2-40B4-BE49-F238E27FC236}">
                <a16:creationId xmlns:a16="http://schemas.microsoft.com/office/drawing/2014/main" id="{A3F4A2FF-9882-4EA4-A5B0-54F990B6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6315075"/>
            <a:ext cx="1176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333333"/>
                </a:solidFill>
                <a:latin typeface="SimSun"/>
                <a:ea typeface="SimSun"/>
                <a:cs typeface="SimSun"/>
              </a:defRPr>
            </a:pPr>
            <a:r>
              <a:rPr sz="1425" b="0">
                <a:solidFill>
                  <a:srgbClr val="333333"/>
                </a:solidFill>
                <a:latin typeface="SimSun"/>
                <a:ea typeface="SimSun"/>
                <a:cs typeface="SimSun"/>
              </a:rPr>
              <a:t>已知预测条件下的日循环储能优化；初末库存闭环；不设紧急购电与售电；结果经物理约束与费用复算</a:t>
            </a:r>
          </a:p>
        </p:txBody>
      </p:sp>
    </p:spTree>
    <p:extLst>
      <p:ext uri="{BB962C8B-B14F-4D97-AF65-F5344CB8AC3E}">
        <p14:creationId xmlns:p14="http://schemas.microsoft.com/office/powerpoint/2010/main" val="15377844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2026-09-12T12:27:57.2520000Z</dcterms:created>
  <dcterms:modified xsi:type="dcterms:W3CDTF">2026-09-12T12:27:57.2520000Z</dcterms:modified>
</coreProperties>
</file>