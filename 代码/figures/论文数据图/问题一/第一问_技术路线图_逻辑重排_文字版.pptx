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c49ed1bb3d4a91" /><Relationship Type="http://schemas.openxmlformats.org/officeDocument/2006/relationships/extended-properties" Target="/docProps/app.xml" Id="R666be4b6b99f4a44" /><Relationship Type="http://schemas.openxmlformats.org/officeDocument/2006/relationships/officeDocument" Target="/ppt/presentation.xml" Id="R273438b558c64a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24fdfa18c43b8"/>
  </p:sldMasterIdLst>
  <p:notesMasterIdLst>
    <p:notesMasterId xmlns:r="http://schemas.openxmlformats.org/officeDocument/2006/relationships" r:id="R46a9eac589d84b16"/>
  </p:notesMasterIdLst>
  <p:sldIdLst>
    <p:sldId xmlns:r="http://schemas.openxmlformats.org/officeDocument/2006/relationships" id="256" r:id="Rd01b2a8f4b9c4ad4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b0325ef2904e5b" /><Relationship Type="http://schemas.openxmlformats.org/officeDocument/2006/relationships/slideMaster" Target="/ppt/slideMasters/slideMaster1.xml" Id="Rbb824fdfa18c43b8" /><Relationship Type="http://schemas.openxmlformats.org/officeDocument/2006/relationships/notesMaster" Target="/ppt/notesMasters/notesMaster1.xml" Id="R46a9eac589d84b16" /><Relationship Type="http://schemas.openxmlformats.org/officeDocument/2006/relationships/presProps" Target="/ppt/presProps.xml" Id="R4566ae204a96419a" /><Relationship Type="http://schemas.openxmlformats.org/officeDocument/2006/relationships/tableStyles" Target="/ppt/tableStyles.xml" Id="R4c5f9704761c4fab" /><Relationship Type="http://schemas.openxmlformats.org/officeDocument/2006/relationships/slide" Target="/ppt/slides/slide1.xml" Id="Rd01b2a8f4b9c4a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c4e3a39c0b48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b01e7cb3940eb" /><Relationship Type="http://schemas.openxmlformats.org/officeDocument/2006/relationships/notesMaster" Target="/ppt/notesMasters/notesMaster1.xml" Id="Re9addf7ccc1346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1d527cdec41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24de64cee641cc" /><Relationship Type="http://schemas.openxmlformats.org/officeDocument/2006/relationships/slideLayout" Target="/ppt/slideLayouts/slideLayout1.xml" Id="R85537e0f98e3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537e0f98e3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aa3b8ada3445b" /><Relationship Type="http://schemas.openxmlformats.org/officeDocument/2006/relationships/notesSlide" Target="/ppt/notesSlides/notesSlide1.xml" Id="R4ed02573108a41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model-group">
            <a:extLst xmlns:a="http://schemas.openxmlformats.org/drawingml/2006/main">
              <a:ext uri="{FF2B5EF4-FFF2-40B4-BE49-F238E27FC236}">
                <a16:creationId xmlns:a16="http://schemas.microsoft.com/office/drawing/2014/main" id="{4B91C47C-C1AE-494D-8053-0748B22A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"/>
            <a:ext cx="561975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2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ED40B540-6EB8-404E-BF59-6097BCBD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15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确定性日循环储能优化模型</a:t>
            </a:r>
          </a:p>
        </p:txBody>
      </p:sp>
      <p:sp>
        <p:nvSpPr>
          <p:cNvPr id="3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ADEDF38C-8379-43C7-BF43-D94E54C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已知数据与离散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472108F6-5FB2-47DA-A85F-BE69A959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76375"/>
            <a:ext cx="2286000" cy="7334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附件1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电价、负荷、光伏</a:t>
            </a:r>
          </a:p>
        </p:txBody>
      </p:sp>
      <p:sp>
        <p:nvSpPr>
          <p:cNvPr id="5" name="eq-input">
            <a:extLst xmlns:a="http://schemas.openxmlformats.org/drawingml/2006/main">
              <a:ext uri="{FF2B5EF4-FFF2-40B4-BE49-F238E27FC236}">
                <a16:creationId xmlns:a16="http://schemas.microsoft.com/office/drawing/2014/main" id="{BA1B037D-2457-4ACF-940C-F08F4A91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已知电价与供需预测</a:t>
            </a:r>
          </a:p>
        </p:txBody>
      </p:sp>
      <p:sp>
        <p:nvSpPr>
          <p:cNvPr id="6" name="eq-time-frame">
            <a:extLst xmlns:a="http://schemas.openxmlformats.org/drawingml/2006/main">
              <a:ext uri="{FF2B5EF4-FFF2-40B4-BE49-F238E27FC236}">
                <a16:creationId xmlns:a16="http://schemas.microsoft.com/office/drawing/2014/main" id="{E47D5A49-F1CE-4F36-83CC-317E4100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337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eq-time-label">
            <a:extLst xmlns:a="http://schemas.openxmlformats.org/drawingml/2006/main">
              <a:ext uri="{FF2B5EF4-FFF2-40B4-BE49-F238E27FC236}">
                <a16:creationId xmlns:a16="http://schemas.microsoft.com/office/drawing/2014/main" id="{E30EE487-DC91-4DC9-BDD4-2C04102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813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10分钟为一个时段</a:t>
            </a:r>
          </a:p>
        </p:txBody>
      </p:sp>
      <p:sp>
        <p:nvSpPr>
          <p:cNvPr id="8" name="eq-time">
            <a:extLst xmlns:a="http://schemas.openxmlformats.org/drawingml/2006/main">
              <a:ext uri="{FF2B5EF4-FFF2-40B4-BE49-F238E27FC236}">
                <a16:creationId xmlns:a16="http://schemas.microsoft.com/office/drawing/2014/main" id="{1BDA45BA-8A3B-4A69-8E36-77D7BFC5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57550"/>
            <a:ext cx="2095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全天等间隔划分</a:t>
            </a:r>
          </a:p>
        </p:txBody>
      </p:sp>
      <p:sp>
        <p:nvSpPr>
          <p:cNvPr id="9" name="eq-netload-frame">
            <a:extLst xmlns:a="http://schemas.openxmlformats.org/drawingml/2006/main">
              <a:ext uri="{FF2B5EF4-FFF2-40B4-BE49-F238E27FC236}">
                <a16:creationId xmlns:a16="http://schemas.microsoft.com/office/drawing/2014/main" id="{67EA6563-50D4-4C32-99B5-775C681B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67175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eq-netload-label">
            <a:extLst xmlns:a="http://schemas.openxmlformats.org/drawingml/2006/main">
              <a:ext uri="{FF2B5EF4-FFF2-40B4-BE49-F238E27FC236}">
                <a16:creationId xmlns:a16="http://schemas.microsoft.com/office/drawing/2014/main" id="{D2536B32-C1A7-435D-A031-FB5E0BF9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1148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净负荷能量（kWh）</a:t>
            </a:r>
          </a:p>
        </p:txBody>
      </p:sp>
      <p:sp>
        <p:nvSpPr>
          <p:cNvPr id="11" name="eq-netload">
            <a:extLst xmlns:a="http://schemas.openxmlformats.org/drawingml/2006/main">
              <a:ext uri="{FF2B5EF4-FFF2-40B4-BE49-F238E27FC236}">
                <a16:creationId xmlns:a16="http://schemas.microsoft.com/office/drawing/2014/main" id="{65C94E5D-94F6-4A19-B5CD-8D03277C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910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负荷扣除光伏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按时段换算电量</a:t>
            </a:r>
          </a:p>
        </p:txBody>
      </p:sp>
      <p:sp>
        <p:nvSpPr>
          <p:cNvPr id="12" name="grid">
            <a:extLst xmlns:a="http://schemas.openxmlformats.org/drawingml/2006/main">
              <a:ext uri="{FF2B5EF4-FFF2-40B4-BE49-F238E27FC236}">
                <a16:creationId xmlns:a16="http://schemas.microsoft.com/office/drawing/2014/main" id="{FA5D23A3-6452-4B62-B111-B8FA0864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38750"/>
            <a:ext cx="2286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144个决策时段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145个储能状态点</a:t>
            </a:r>
          </a:p>
        </p:txBody>
      </p:sp>
      <p:sp>
        <p:nvSpPr>
          <p:cNvPr id="13" name="eq-objective-frame">
            <a:extLst xmlns:a="http://schemas.openxmlformats.org/drawingml/2006/main">
              <a:ext uri="{FF2B5EF4-FFF2-40B4-BE49-F238E27FC236}">
                <a16:creationId xmlns:a16="http://schemas.microsoft.com/office/drawing/2014/main" id="{56E6E299-D858-46B9-993C-819C017F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09650"/>
            <a:ext cx="5238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eq-objective-label">
            <a:extLst xmlns:a="http://schemas.openxmlformats.org/drawingml/2006/main">
              <a:ext uri="{FF2B5EF4-FFF2-40B4-BE49-F238E27FC236}">
                <a16:creationId xmlns:a16="http://schemas.microsoft.com/office/drawing/2014/main" id="{5DB0CCD6-8377-4C1A-A03A-F50E21B5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57275"/>
            <a:ext cx="508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目标：全天购电费用最小</a:t>
            </a:r>
          </a:p>
        </p:txBody>
      </p:sp>
      <p:sp>
        <p:nvSpPr>
          <p:cNvPr id="15" name="eq-objective">
            <a:extLst xmlns:a="http://schemas.openxmlformats.org/drawingml/2006/main">
              <a:ext uri="{FF2B5EF4-FFF2-40B4-BE49-F238E27FC236}">
                <a16:creationId xmlns:a16="http://schemas.microsoft.com/office/drawing/2014/main" id="{8AA1784B-F0B7-4E96-BBB1-C91ADBF0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33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75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联合确定各时段购电与储能安排</a:t>
            </a:r>
          </a:p>
        </p:txBody>
      </p:sp>
      <p:sp>
        <p:nvSpPr>
          <p:cNvPr id="16" name="joint-constraints">
            <a:extLst xmlns:a="http://schemas.openxmlformats.org/drawingml/2006/main">
              <a:ext uri="{FF2B5EF4-FFF2-40B4-BE49-F238E27FC236}">
                <a16:creationId xmlns:a16="http://schemas.microsoft.com/office/drawing/2014/main" id="{2C921D66-8FB2-4B77-9235-9FAC8A6E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3530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7" name="eq-balance-frame">
            <a:extLst xmlns:a="http://schemas.openxmlformats.org/drawingml/2006/main">
              <a:ext uri="{FF2B5EF4-FFF2-40B4-BE49-F238E27FC236}">
                <a16:creationId xmlns:a16="http://schemas.microsoft.com/office/drawing/2014/main" id="{D6192B4A-C43F-493D-991D-933AB502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eq-balance-label">
            <a:extLst xmlns:a="http://schemas.openxmlformats.org/drawingml/2006/main">
              <a:ext uri="{FF2B5EF4-FFF2-40B4-BE49-F238E27FC236}">
                <a16:creationId xmlns:a16="http://schemas.microsoft.com/office/drawing/2014/main" id="{04665F8B-A522-4470-93C6-B6D766C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供需能量平衡</a:t>
            </a:r>
          </a:p>
        </p:txBody>
      </p:sp>
      <p:sp>
        <p:nvSpPr>
          <p:cNvPr id="19" name="eq-balance">
            <a:extLst xmlns:a="http://schemas.openxmlformats.org/drawingml/2006/main">
              <a:ext uri="{FF2B5EF4-FFF2-40B4-BE49-F238E27FC236}">
                <a16:creationId xmlns:a16="http://schemas.microsoft.com/office/drawing/2014/main" id="{90F5D526-F455-474E-8FEB-DEEF80B7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489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电力供给满足负荷、充电与弃光</a:t>
            </a:r>
          </a:p>
        </p:txBody>
      </p:sp>
      <p:sp>
        <p:nvSpPr>
          <p:cNvPr id="20" name="eq-soc-frame">
            <a:extLst xmlns:a="http://schemas.openxmlformats.org/drawingml/2006/main">
              <a:ext uri="{FF2B5EF4-FFF2-40B4-BE49-F238E27FC236}">
                <a16:creationId xmlns:a16="http://schemas.microsoft.com/office/drawing/2014/main" id="{8D4F2153-ED7A-4AFB-9F26-FD9E9EAD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508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eq-soc-label">
            <a:extLst xmlns:a="http://schemas.openxmlformats.org/drawingml/2006/main">
              <a:ext uri="{FF2B5EF4-FFF2-40B4-BE49-F238E27FC236}">
                <a16:creationId xmlns:a16="http://schemas.microsoft.com/office/drawing/2014/main" id="{5506C991-41E8-4122-8BD4-37C9E15C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623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储能递推</a:t>
            </a:r>
          </a:p>
        </p:txBody>
      </p:sp>
      <p:sp>
        <p:nvSpPr>
          <p:cNvPr id="22" name="eq-soc">
            <a:extLst xmlns:a="http://schemas.openxmlformats.org/drawingml/2006/main">
              <a:ext uri="{FF2B5EF4-FFF2-40B4-BE49-F238E27FC236}">
                <a16:creationId xmlns:a16="http://schemas.microsoft.com/office/drawing/2014/main" id="{282328F5-4AD0-4A76-9AA6-09189A60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38525"/>
            <a:ext cx="4895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按充放电效率逐段更新储电量</a:t>
            </a:r>
          </a:p>
        </p:txBody>
      </p:sp>
      <p:sp>
        <p:nvSpPr>
          <p:cNvPr id="23" name="eq-mutual-frame">
            <a:extLst xmlns:a="http://schemas.openxmlformats.org/drawingml/2006/main">
              <a:ext uri="{FF2B5EF4-FFF2-40B4-BE49-F238E27FC236}">
                <a16:creationId xmlns:a16="http://schemas.microsoft.com/office/drawing/2014/main" id="{D45B1259-D81E-4A41-B4AD-54FF1D17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0025"/>
            <a:ext cx="508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eq-mutual-label">
            <a:extLst xmlns:a="http://schemas.openxmlformats.org/drawingml/2006/main">
              <a:ext uri="{FF2B5EF4-FFF2-40B4-BE49-F238E27FC236}">
                <a16:creationId xmlns:a16="http://schemas.microsoft.com/office/drawing/2014/main" id="{1D411A12-0F75-445C-94D5-F32BDBC4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5765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充放电互斥与功率上限</a:t>
            </a:r>
          </a:p>
        </p:txBody>
      </p:sp>
      <p:sp>
        <p:nvSpPr>
          <p:cNvPr id="25" name="eq-mutual">
            <a:extLst xmlns:a="http://schemas.openxmlformats.org/drawingml/2006/main">
              <a:ext uri="{FF2B5EF4-FFF2-40B4-BE49-F238E27FC236}">
                <a16:creationId xmlns:a16="http://schemas.microsoft.com/office/drawing/2014/main" id="{3C4C5F3A-7567-4792-90AC-260D4927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4895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充电与放电不同时发生，功率受限</a:t>
            </a:r>
          </a:p>
        </p:txBody>
      </p:sp>
      <p:sp>
        <p:nvSpPr>
          <p:cNvPr id="26" name="eq-bound-frame">
            <a:extLst xmlns:a="http://schemas.openxmlformats.org/drawingml/2006/main">
              <a:ext uri="{FF2B5EF4-FFF2-40B4-BE49-F238E27FC236}">
                <a16:creationId xmlns:a16="http://schemas.microsoft.com/office/drawing/2014/main" id="{FD39D8D8-CB14-446E-8C5D-111735A7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05375"/>
            <a:ext cx="5086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eq-bound-label">
            <a:extLst xmlns:a="http://schemas.openxmlformats.org/drawingml/2006/main">
              <a:ext uri="{FF2B5EF4-FFF2-40B4-BE49-F238E27FC236}">
                <a16:creationId xmlns:a16="http://schemas.microsoft.com/office/drawing/2014/main" id="{D60AFE48-96DA-4FF4-8F65-1547968D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530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容量边界</a:t>
            </a:r>
          </a:p>
        </p:txBody>
      </p:sp>
      <p:sp>
        <p:nvSpPr>
          <p:cNvPr id="28" name="eq-bound">
            <a:extLst xmlns:a="http://schemas.openxmlformats.org/drawingml/2006/main">
              <a:ext uri="{FF2B5EF4-FFF2-40B4-BE49-F238E27FC236}">
                <a16:creationId xmlns:a16="http://schemas.microsoft.com/office/drawing/2014/main" id="{C016036B-1922-4A3F-AB66-E8C9F25C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29225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储电量始终处于允许范围</a:t>
            </a:r>
          </a:p>
        </p:txBody>
      </p:sp>
      <p:sp>
        <p:nvSpPr>
          <p:cNvPr id="29" name="eq-boundary">
            <a:extLst xmlns:a="http://schemas.openxmlformats.org/drawingml/2006/main">
              <a:ext uri="{FF2B5EF4-FFF2-40B4-BE49-F238E27FC236}">
                <a16:creationId xmlns:a16="http://schemas.microsoft.com/office/drawing/2014/main" id="{4819A680-690F-4088-B03D-B71559F4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5238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日初与日末库存相同，充放电状态互斥</a:t>
            </a:r>
          </a:p>
        </p:txBody>
      </p:sp>
      <p:sp>
        <p:nvSpPr>
          <p:cNvPr id="30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434021EF-F87A-4ED1-9E0A-4F2056CB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124575"/>
            <a:ext cx="5124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初末库存共同优化，充放电量均为电网侧电量</a:t>
            </a:r>
          </a:p>
        </p:txBody>
      </p:sp>
      <p:sp>
        <p:nvSpPr>
          <p:cNvPr id="31" name="solve-heading">
            <a:extLst xmlns:a="http://schemas.openxmlformats.org/drawingml/2006/main">
              <a:ext uri="{FF2B5EF4-FFF2-40B4-BE49-F238E27FC236}">
                <a16:creationId xmlns:a16="http://schemas.microsoft.com/office/drawing/2014/main" id="{C31911FA-91FF-448A-BEAC-39864E5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MILP求解</a:t>
            </a:r>
          </a:p>
        </p:txBody>
      </p:sp>
      <p:sp>
        <p:nvSpPr>
          <p:cNvPr id="32" name="solve">
            <a:extLst xmlns:a="http://schemas.openxmlformats.org/drawingml/2006/main">
              <a:ext uri="{FF2B5EF4-FFF2-40B4-BE49-F238E27FC236}">
                <a16:creationId xmlns:a16="http://schemas.microsoft.com/office/drawing/2014/main" id="{B478F794-9807-432E-8AC0-FBCD54D3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76375"/>
            <a:ext cx="2524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SciPy / HiGHS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求解最优调度</a:t>
            </a:r>
          </a:p>
        </p:txBody>
      </p:sp>
      <p:sp>
        <p:nvSpPr>
          <p:cNvPr id="33" name="schedule">
            <a:extLst xmlns:a="http://schemas.openxmlformats.org/drawingml/2006/main">
              <a:ext uri="{FF2B5EF4-FFF2-40B4-BE49-F238E27FC236}">
                <a16:creationId xmlns:a16="http://schemas.microsoft.com/office/drawing/2014/main" id="{3D55E9C8-4521-444F-B1A4-7D268547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90825"/>
            <a:ext cx="2524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购电、充电与放电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弃光及储电量轨迹</a:t>
            </a:r>
          </a:p>
        </p:txBody>
      </p:sp>
      <p:sp>
        <p:nvSpPr>
          <p:cNvPr id="34" name="verify-heading">
            <a:extLst xmlns:a="http://schemas.openxmlformats.org/drawingml/2006/main">
              <a:ext uri="{FF2B5EF4-FFF2-40B4-BE49-F238E27FC236}">
                <a16:creationId xmlns:a16="http://schemas.microsoft.com/office/drawing/2014/main" id="{9FAFA491-0A5E-4D9E-AED2-0E478C6B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525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物理核验与结果输出</a:t>
            </a:r>
          </a:p>
        </p:txBody>
      </p:sp>
      <p:sp>
        <p:nvSpPr>
          <p:cNvPr id="35" name="checks">
            <a:extLst xmlns:a="http://schemas.openxmlformats.org/drawingml/2006/main">
              <a:ext uri="{FF2B5EF4-FFF2-40B4-BE49-F238E27FC236}">
                <a16:creationId xmlns:a16="http://schemas.microsoft.com/office/drawing/2014/main" id="{D84C1F3A-B51A-41D1-8458-F60C8F37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476375"/>
            <a:ext cx="2524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能量守恒、SOC边界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充放电功率与互斥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弃光上限、非负性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费用复算与Excel回读</a:t>
            </a:r>
          </a:p>
        </p:txBody>
      </p:sp>
      <p:sp>
        <p:nvSpPr>
          <p:cNvPr id="36" name="output">
            <a:extLst xmlns:a="http://schemas.openxmlformats.org/drawingml/2006/main">
              <a:ext uri="{FF2B5EF4-FFF2-40B4-BE49-F238E27FC236}">
                <a16:creationId xmlns:a16="http://schemas.microsoft.com/office/drawing/2014/main" id="{F5B1CCE2-E94B-46D1-BED7-E365664B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24225"/>
            <a:ext cx="2524125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result1.xlsx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完整调度明细</a:t>
            </a:r>
          </a:p>
        </p:txBody>
      </p:sp>
      <p:sp>
        <p:nvSpPr>
          <p:cNvPr id="37" name="comparison-group">
            <a:extLst xmlns:a="http://schemas.openxmlformats.org/drawingml/2006/main">
              <a:ext uri="{FF2B5EF4-FFF2-40B4-BE49-F238E27FC236}">
                <a16:creationId xmlns:a16="http://schemas.microsoft.com/office/drawing/2014/main" id="{4E7A0885-06F0-430A-B1AD-8BBDA0A1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62475"/>
            <a:ext cx="58959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8" name="comparison-heading">
            <a:extLst xmlns:a="http://schemas.openxmlformats.org/drawingml/2006/main">
              <a:ext uri="{FF2B5EF4-FFF2-40B4-BE49-F238E27FC236}">
                <a16:creationId xmlns:a16="http://schemas.microsoft.com/office/drawing/2014/main" id="{1971BA38-7466-4B28-AABE-AA14CAAC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76775"/>
            <a:ext cx="5629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基线与下界对照</a:t>
            </a:r>
          </a:p>
        </p:txBody>
      </p:sp>
      <p:sp>
        <p:nvSpPr>
          <p:cNvPr id="39" name="eq-baseline-frame">
            <a:extLst xmlns:a="http://schemas.openxmlformats.org/drawingml/2006/main">
              <a:ext uri="{FF2B5EF4-FFF2-40B4-BE49-F238E27FC236}">
                <a16:creationId xmlns:a16="http://schemas.microsoft.com/office/drawing/2014/main" id="{84D4911C-F3BE-4FD2-8C15-995D1414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95875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eq-baseline-label">
            <a:extLst xmlns:a="http://schemas.openxmlformats.org/drawingml/2006/main">
              <a:ext uri="{FF2B5EF4-FFF2-40B4-BE49-F238E27FC236}">
                <a16:creationId xmlns:a16="http://schemas.microsoft.com/office/drawing/2014/main" id="{E85DA791-3159-4FBE-9687-B412A2D0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43500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无储能基线</a:t>
            </a:r>
          </a:p>
        </p:txBody>
      </p:sp>
      <p:sp>
        <p:nvSpPr>
          <p:cNvPr id="41" name="eq-baseline">
            <a:extLst xmlns:a="http://schemas.openxmlformats.org/drawingml/2006/main">
              <a:ext uri="{FF2B5EF4-FFF2-40B4-BE49-F238E27FC236}">
                <a16:creationId xmlns:a16="http://schemas.microsoft.com/office/drawing/2014/main" id="{901C62B4-C359-4244-AABB-0AC50D5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419725"/>
            <a:ext cx="2457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净需求缺口由电网补足</a:t>
            </a:r>
          </a:p>
        </p:txBody>
      </p:sp>
      <p:sp>
        <p:nvSpPr>
          <p:cNvPr id="42" name="lp-relax">
            <a:extLst xmlns:a="http://schemas.openxmlformats.org/drawingml/2006/main">
              <a:ext uri="{FF2B5EF4-FFF2-40B4-BE49-F238E27FC236}">
                <a16:creationId xmlns:a16="http://schemas.microsoft.com/office/drawing/2014/main" id="{3E037B7E-C9F1-4940-970E-B7946F30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5095875"/>
            <a:ext cx="2743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LP松弛下界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与MILP目标值比较</a:t>
            </a:r>
          </a:p>
        </p:txBody>
      </p:sp>
      <p:sp>
        <p:nvSpPr>
          <p:cNvPr id="43" name="comparison-note">
            <a:extLst xmlns:a="http://schemas.openxmlformats.org/drawingml/2006/main">
              <a:ext uri="{FF2B5EF4-FFF2-40B4-BE49-F238E27FC236}">
                <a16:creationId xmlns:a16="http://schemas.microsoft.com/office/drawing/2014/main" id="{D8F55693-2768-45BF-8533-B87AE2AB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057900"/>
            <a:ext cx="5657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评估储能节费效果，并核对最优性下界</a:t>
            </a:r>
          </a:p>
        </p:txBody>
      </p:sp>
      <p:sp>
        <p:nvSpPr>
          <p:cNvPr id="44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01906AC9-0209-4539-84DF-6B7D5416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68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route-end-1">
            <a:extLst xmlns:a="http://schemas.openxmlformats.org/drawingml/2006/main">
              <a:ext uri="{FF2B5EF4-FFF2-40B4-BE49-F238E27FC236}">
                <a16:creationId xmlns:a16="http://schemas.microsoft.com/office/drawing/2014/main" id="{36A48844-2881-49BD-A712-8C5B83F9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923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1476376" y="2687003"/>
            <a:ext cx="0" cy="2362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7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75EDE880-26F5-4B65-B78C-E12B0AD1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oute-end-2">
            <a:extLst xmlns:a="http://schemas.openxmlformats.org/drawingml/2006/main">
              <a:ext uri="{FF2B5EF4-FFF2-40B4-BE49-F238E27FC236}">
                <a16:creationId xmlns:a16="http://schemas.microsoft.com/office/drawing/2014/main" id="{3585DA81-1318-435D-A7FC-A3C709F2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4056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47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1476376" y="3858578"/>
            <a:ext cx="0" cy="198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0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5D214B2B-7758-4E72-8140-EA770BCC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4980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route-end-3">
            <a:extLst xmlns:a="http://schemas.openxmlformats.org/drawingml/2006/main">
              <a:ext uri="{FF2B5EF4-FFF2-40B4-BE49-F238E27FC236}">
                <a16:creationId xmlns:a16="http://schemas.microsoft.com/office/drawing/2014/main" id="{C7366464-7A0B-426C-B921-E33CF033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5228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476376" y="498252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3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711AED2B-0A19-4B11-9F89-A79CB5E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423" y="347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route-end-4">
            <a:extLst xmlns:a="http://schemas.openxmlformats.org/drawingml/2006/main">
              <a:ext uri="{FF2B5EF4-FFF2-40B4-BE49-F238E27FC236}">
                <a16:creationId xmlns:a16="http://schemas.microsoft.com/office/drawing/2014/main" id="{E40BE065-E153-41ED-894F-167AF3A4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998" y="347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2620328" y="3476626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6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26B570C5-C4AB-4692-9284-BF86260A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323" y="1913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route-end-5">
            <a:extLst xmlns:a="http://schemas.openxmlformats.org/drawingml/2006/main">
              <a:ext uri="{FF2B5EF4-FFF2-40B4-BE49-F238E27FC236}">
                <a16:creationId xmlns:a16="http://schemas.microsoft.com/office/drawing/2014/main" id="{FB84E703-A48A-4BE4-8A06-CFCBDF5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1913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678228" y="191452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9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4744E2C5-9C3E-46EF-9EB9-6C5AE33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348" y="236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route-end-6">
            <a:extLst xmlns:a="http://schemas.openxmlformats.org/drawingml/2006/main">
              <a:ext uri="{FF2B5EF4-FFF2-40B4-BE49-F238E27FC236}">
                <a16:creationId xmlns:a16="http://schemas.microsoft.com/office/drawing/2014/main" id="{7FC3F36B-99F4-4E21-A076-88B4F090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348" y="2780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10401301" y="23631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2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F33EB640-4F97-4E04-91E4-AB307750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698" y="3208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route-end-7">
            <a:extLst xmlns:a="http://schemas.openxmlformats.org/drawingml/2006/main">
              <a:ext uri="{FF2B5EF4-FFF2-40B4-BE49-F238E27FC236}">
                <a16:creationId xmlns:a16="http://schemas.microsoft.com/office/drawing/2014/main" id="{BF4DAECC-1A48-4860-A1CF-540AFB5E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123" y="3208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11678603" y="3209926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5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CDA6B8DF-748A-4791-86B0-D3CD2D1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123" y="3208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route-end-8">
            <a:extLst xmlns:a="http://schemas.openxmlformats.org/drawingml/2006/main">
              <a:ext uri="{FF2B5EF4-FFF2-40B4-BE49-F238E27FC236}">
                <a16:creationId xmlns:a16="http://schemas.microsoft.com/office/drawing/2014/main" id="{3D199B6B-4369-4C3C-8A36-5F0A45F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123" y="218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 flipV="1">
            <a:off x="12030076" y="2180273"/>
            <a:ext cx="0" cy="103060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8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EE86DB6C-05D9-4868-84E2-1032573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123" y="218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route-end-9">
            <a:extLst xmlns:a="http://schemas.openxmlformats.org/drawingml/2006/main">
              <a:ext uri="{FF2B5EF4-FFF2-40B4-BE49-F238E27FC236}">
                <a16:creationId xmlns:a16="http://schemas.microsoft.com/office/drawing/2014/main" id="{2E6F006B-0771-4F55-ABFF-53AC28BB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023" y="218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12031028" y="2181226"/>
            <a:ext cx="3409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71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D69DB672-B8BC-4E86-BCFA-46F5154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2894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97E92AF9-CBB7-4336-BA21-AAE6CF2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3313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13639801" y="28965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74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9194D26B-272A-48B1-8E0E-C511369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348" y="3637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03D47C82-1C63-40AC-8B24-8AC084F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348" y="4551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0401301" y="3639503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3F57207B-584B-4084-91A6-EBBDB565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1447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能量变量单位：kWh；第一问允许弃光，不设售电与紧急购电；各约束共同组成可行域</a:t>
            </a:r>
          </a:p>
        </p:txBody>
      </p:sp>
    </p:spTree>
    <p:extLst>
      <p:ext uri="{BB962C8B-B14F-4D97-AF65-F5344CB8AC3E}">
        <p14:creationId xmlns:p14="http://schemas.microsoft.com/office/powerpoint/2010/main" val="1723766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2026-09-13T06:25:34.1480000Z</dcterms:created>
  <dcterms:modified xsi:type="dcterms:W3CDTF">2026-09-13T06:25:34.1480000Z</dcterms:modified>
</coreProperties>
</file>