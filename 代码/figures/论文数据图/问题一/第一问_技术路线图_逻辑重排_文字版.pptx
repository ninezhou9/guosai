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2cd231958b4ec9" /><Relationship Type="http://schemas.openxmlformats.org/officeDocument/2006/relationships/extended-properties" Target="/docProps/app.xml" Id="Re41ae25364944f7f" /><Relationship Type="http://schemas.openxmlformats.org/officeDocument/2006/relationships/officeDocument" Target="/ppt/presentation.xml" Id="R38eeacf3ea614e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d1ecd08f484bd3"/>
  </p:sldMasterIdLst>
  <p:notesMasterIdLst>
    <p:notesMasterId xmlns:r="http://schemas.openxmlformats.org/officeDocument/2006/relationships" r:id="Rf931f80d92234ef0"/>
  </p:notesMasterIdLst>
  <p:sldIdLst>
    <p:sldId xmlns:r="http://schemas.openxmlformats.org/officeDocument/2006/relationships" id="256" r:id="Rd47af968f1704a6b"/>
  </p:sldIdLst>
  <p:sldSz cx="15240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88f4931dee4cc9" /><Relationship Type="http://schemas.openxmlformats.org/officeDocument/2006/relationships/slideMaster" Target="/ppt/slideMasters/slideMaster1.xml" Id="R9dd1ecd08f484bd3" /><Relationship Type="http://schemas.openxmlformats.org/officeDocument/2006/relationships/notesMaster" Target="/ppt/notesMasters/notesMaster1.xml" Id="Rf931f80d92234ef0" /><Relationship Type="http://schemas.openxmlformats.org/officeDocument/2006/relationships/presProps" Target="/ppt/presProps.xml" Id="Rdb8576b4c1784cc2" /><Relationship Type="http://schemas.openxmlformats.org/officeDocument/2006/relationships/tableStyles" Target="/ppt/tableStyles.xml" Id="Rfec41b5335974f30" /><Relationship Type="http://schemas.openxmlformats.org/officeDocument/2006/relationships/slide" Target="/ppt/slides/slide1.xml" Id="Rd47af968f1704a6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1f29f5278642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ba3320b7dc4bae" /><Relationship Type="http://schemas.openxmlformats.org/officeDocument/2006/relationships/notesMaster" Target="/ppt/notesMasters/notesMaster1.xml" Id="Rbd7c00d6a2c347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代码/q1_solution.py；建模思路/题目分析报告.md；代码/results/q1/第一问结果审核.md。144个10分钟时段，145个SOC状态。g,c,d,w为非负电量变量，z为二元变量，弃光满足w_t≤V_tΔt。图中N_t定义为净负荷能量。充放电互斥分别用c_t≤(5000/6)z_t和d_t≤(5000/6)(1−z_t)约束。E0=E144，共同值优化；不固定为6000。MILP和LP松弛分别求解，无储能基线独立计算。图中约束是同时成立的条件，没有先后求解关系。公式为原生OMML，中文SimSun，公式Cambria Math。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c6d5aa9cbd4e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2354f312de4e8b" /><Relationship Type="http://schemas.openxmlformats.org/officeDocument/2006/relationships/slideLayout" Target="/ppt/slideLayouts/slideLayout1.xml" Id="Rc0be4141e6d6467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be4141e6d6467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b5c3cf92a4392" /><Relationship Type="http://schemas.openxmlformats.org/officeDocument/2006/relationships/notesSlide" Target="/ppt/notesSlides/notesSlide1.xml" Id="Rb38c77a19bd34d1c" /></Relationships>
</file>

<file path=ppt/slides/slide1.xml><?xml version="1.0" encoding="utf-8"?>
<p:sld xmlns:p="http://schemas.openxmlformats.org/presentationml/2006/main" xmlns:mc="http://schemas.openxmlformats.org/markup-compatibility/2006" xmlns:a14="http://schemas.microsoft.com/office/drawing/2010/main" mc:Ignorable="a14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model-group">
            <a:extLst xmlns:a="http://schemas.openxmlformats.org/drawingml/2006/main">
              <a:ext uri="{FF2B5EF4-FFF2-40B4-BE49-F238E27FC236}">
                <a16:creationId xmlns:a16="http://schemas.microsoft.com/office/drawing/2014/main" id="{4B91C47C-C1AE-494D-8053-0748B22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"/>
            <a:ext cx="5619750" cy="590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2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ED40B540-6EB8-404E-BF59-6097BCBD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71500"/>
            <a:ext cx="533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2100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确定性日循环储能优化模型</a:t>
            </a:r>
          </a:p>
        </p:txBody>
      </p:sp>
      <p:sp>
        <p:nvSpPr>
          <p:cNvPr id="3" name="input-heading">
            <a:extLst xmlns:a="http://schemas.openxmlformats.org/drawingml/2006/main">
              <a:ext uri="{FF2B5EF4-FFF2-40B4-BE49-F238E27FC236}">
                <a16:creationId xmlns:a16="http://schemas.microsoft.com/office/drawing/2014/main" id="{ADEDF38C-8379-43C7-BF43-D94E54CB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952500"/>
            <a:ext cx="228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950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已知数据与离散</a:t>
            </a:r>
          </a:p>
        </p:txBody>
      </p:sp>
      <p:sp>
        <p:nvSpPr>
          <p:cNvPr id="4" name="input">
            <a:extLst xmlns:a="http://schemas.openxmlformats.org/drawingml/2006/main">
              <a:ext uri="{FF2B5EF4-FFF2-40B4-BE49-F238E27FC236}">
                <a16:creationId xmlns:a16="http://schemas.microsoft.com/office/drawing/2014/main" id="{472108F6-5FB2-47DA-A85F-BE69A959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76375"/>
            <a:ext cx="2286000" cy="733425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9EC3E6"/>
          </a:solidFill>
          <a:ln xmlns:a="http://schemas.openxmlformats.org/drawingml/2006/main" w="18098">
            <a:solidFill>
              <a:srgbClr val="9EC3E6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附件1</a:t>
            </a:r>
          </a:p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电价、负荷、光伏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q-input">
                <a:extLst xmlns:a="http://schemas.openxmlformats.org/drawingml/2006/main">
                  <a:ext uri="{FF2B5EF4-FFF2-40B4-BE49-F238E27FC236}">
                    <a16:creationId xmlns:a16="http://schemas.microsoft.com/office/drawing/2014/main" id="{BA1B037D-2457-4ACF-940C-F08F4A914C0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57200" y="2343150"/>
                <a:ext cx="2038350" cy="34290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已知电价与供需预测</a:t>
                </a:r>
              </a:p>
            </p:txBody>
          </p:sp>
        </mc:Choice>
        <mc:Fallback>
          <p:sp>
            <p:nvSpPr>
              <p:cNvPr id="5" name="eq-input">
                <a:extLst xmlns:a="http://schemas.openxmlformats.org/drawingml/2006/main">
                  <a:ext uri="{FF2B5EF4-FFF2-40B4-BE49-F238E27FC236}">
                    <a16:creationId xmlns:a16="http://schemas.microsoft.com/office/drawing/2014/main" id="{BA1B037D-2457-4ACF-940C-F08F4A914C05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57200" y="2343150"/>
                <a:ext cx="2038350" cy="34290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</a:rPr>
                  <a:t>已知电价与供需预测</a:t>
                </a:r>
              </a:p>
            </p:txBody>
          </p:sp>
        </mc:Fallback>
      </mc:AlternateContent>
      <p:sp>
        <p:nvSpPr>
          <p:cNvPr id="6" name="eq-time-frame">
            <a:extLst xmlns:a="http://schemas.openxmlformats.org/drawingml/2006/main">
              <a:ext uri="{FF2B5EF4-FFF2-40B4-BE49-F238E27FC236}">
                <a16:creationId xmlns:a16="http://schemas.microsoft.com/office/drawing/2014/main" id="{E47D5A49-F1CE-4F36-83CC-317E4100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933700"/>
            <a:ext cx="2286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eq-time-label">
            <a:extLst xmlns:a="http://schemas.openxmlformats.org/drawingml/2006/main">
              <a:ext uri="{FF2B5EF4-FFF2-40B4-BE49-F238E27FC236}">
                <a16:creationId xmlns:a16="http://schemas.microsoft.com/office/drawing/2014/main" id="{E30EE487-DC91-4DC9-BDD4-2C04102E1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2981325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10分钟为一个时段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eq-time">
                <a:extLst xmlns:a="http://schemas.openxmlformats.org/drawingml/2006/main">
                  <a:ext uri="{FF2B5EF4-FFF2-40B4-BE49-F238E27FC236}">
                    <a16:creationId xmlns:a16="http://schemas.microsoft.com/office/drawing/2014/main" id="{1BDA45BA-8A3B-4A69-8E36-77D7BFC5F95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28625" y="3257550"/>
                <a:ext cx="2095500" cy="5429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全天等间隔划分</a:t>
                </a:r>
              </a:p>
            </p:txBody>
          </p:sp>
        </mc:Choice>
        <mc:Fallback>
          <p:sp>
            <p:nvSpPr>
              <p:cNvPr id="8" name="eq-time">
                <a:extLst xmlns:a="http://schemas.openxmlformats.org/drawingml/2006/main">
                  <a:ext uri="{FF2B5EF4-FFF2-40B4-BE49-F238E27FC236}">
                    <a16:creationId xmlns:a16="http://schemas.microsoft.com/office/drawing/2014/main" id="{1BDA45BA-8A3B-4A69-8E36-77D7BFC5F954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28625" y="3257550"/>
                <a:ext cx="2095500" cy="5429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</a:rPr>
                  <a:t>全天等间隔划分</a:t>
                </a:r>
              </a:p>
            </p:txBody>
          </p:sp>
        </mc:Fallback>
      </mc:AlternateContent>
      <p:sp>
        <p:nvSpPr>
          <p:cNvPr id="9" name="eq-netload-frame">
            <a:extLst xmlns:a="http://schemas.openxmlformats.org/drawingml/2006/main">
              <a:ext uri="{FF2B5EF4-FFF2-40B4-BE49-F238E27FC236}">
                <a16:creationId xmlns:a16="http://schemas.microsoft.com/office/drawing/2014/main" id="{67EA6563-50D4-4C32-99B5-775C681B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067175"/>
            <a:ext cx="228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eq-netload-label">
            <a:extLst xmlns:a="http://schemas.openxmlformats.org/drawingml/2006/main">
              <a:ext uri="{FF2B5EF4-FFF2-40B4-BE49-F238E27FC236}">
                <a16:creationId xmlns:a16="http://schemas.microsoft.com/office/drawing/2014/main" id="{D2536B32-C1A7-435D-A031-FB5E0BF9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41148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净负荷能量（kWh）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eq-netload">
                <a:extLst xmlns:a="http://schemas.openxmlformats.org/drawingml/2006/main">
                  <a:ext uri="{FF2B5EF4-FFF2-40B4-BE49-F238E27FC236}">
                    <a16:creationId xmlns:a16="http://schemas.microsoft.com/office/drawing/2014/main" id="{65C94E5D-94F6-4A19-B5CD-8D03277C4B2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28625" y="4391025"/>
                <a:ext cx="2095500" cy="5334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负荷扣除光伏</a:t>
                </a:r>
              </a:p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按时段换算电量</a:t>
                </a:r>
              </a:p>
            </p:txBody>
          </p:sp>
        </mc:Choice>
        <mc:Fallback>
          <p:sp>
            <p:nvSpPr>
              <p:cNvPr id="11" name="eq-netload">
                <a:extLst xmlns:a="http://schemas.openxmlformats.org/drawingml/2006/main">
                  <a:ext uri="{FF2B5EF4-FFF2-40B4-BE49-F238E27FC236}">
                    <a16:creationId xmlns:a16="http://schemas.microsoft.com/office/drawing/2014/main" id="{65C94E5D-94F6-4A19-B5CD-8D03277C4B22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428625" y="4391025"/>
                <a:ext cx="2095500" cy="5334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</a:rPr>
                  <a:t>负荷扣除光伏</a:t>
                </a:r>
              </a:p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</a:rPr>
                  <a:t>按时段换算电量</a:t>
                </a:r>
              </a:p>
            </p:txBody>
          </p:sp>
        </mc:Fallback>
      </mc:AlternateContent>
      <p:sp>
        <p:nvSpPr>
          <p:cNvPr id="12" name="grid">
            <a:extLst xmlns:a="http://schemas.openxmlformats.org/drawingml/2006/main">
              <a:ext uri="{FF2B5EF4-FFF2-40B4-BE49-F238E27FC236}">
                <a16:creationId xmlns:a16="http://schemas.microsoft.com/office/drawing/2014/main" id="{FA5D23A3-6452-4B62-B111-B8FA0864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5238750"/>
            <a:ext cx="22860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6EE"/>
          </a:solidFill>
          <a:ln xmlns:a="http://schemas.openxmlformats.org/drawingml/2006/main" w="18098">
            <a:solidFill>
              <a:srgbClr val="BBD6EE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144个决策时段</a:t>
            </a:r>
          </a:p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145个储能状态点</a:t>
            </a:r>
          </a:p>
        </p:txBody>
      </p:sp>
      <p:sp>
        <p:nvSpPr>
          <p:cNvPr id="13" name="eq-objective-frame">
            <a:extLst xmlns:a="http://schemas.openxmlformats.org/drawingml/2006/main">
              <a:ext uri="{FF2B5EF4-FFF2-40B4-BE49-F238E27FC236}">
                <a16:creationId xmlns:a16="http://schemas.microsoft.com/office/drawing/2014/main" id="{56E6E299-D858-46B9-993C-819C017F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009650"/>
            <a:ext cx="523875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eq-objective-label">
            <a:extLst xmlns:a="http://schemas.openxmlformats.org/drawingml/2006/main">
              <a:ext uri="{FF2B5EF4-FFF2-40B4-BE49-F238E27FC236}">
                <a16:creationId xmlns:a16="http://schemas.microsoft.com/office/drawing/2014/main" id="{5DB0CCD6-8377-4C1A-A03A-F50E21B5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057275"/>
            <a:ext cx="5086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目标：全天购电费用最小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eq-objective">
                <a:extLst xmlns:a="http://schemas.openxmlformats.org/drawingml/2006/main">
                  <a:ext uri="{FF2B5EF4-FFF2-40B4-BE49-F238E27FC236}">
                    <a16:creationId xmlns:a16="http://schemas.microsoft.com/office/drawing/2014/main" id="{8AA1784B-F0B7-4E96-BBB1-C91ADBF01F3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333750" y="1333500"/>
                <a:ext cx="5048250" cy="5715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21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21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联合确定各时段购电与储能安排</a:t>
                </a:r>
              </a:p>
            </p:txBody>
          </p:sp>
        </mc:Choice>
        <mc:Fallback>
          <p:sp>
            <p:nvSpPr>
              <p:cNvPr id="15" name="eq-objective">
                <a:extLst xmlns:a="http://schemas.openxmlformats.org/drawingml/2006/main">
                  <a:ext uri="{FF2B5EF4-FFF2-40B4-BE49-F238E27FC236}">
                    <a16:creationId xmlns:a16="http://schemas.microsoft.com/office/drawing/2014/main" id="{8AA1784B-F0B7-4E96-BBB1-C91ADBF01F3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333750" y="1333500"/>
                <a:ext cx="5048250" cy="5715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21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2175">
                    <a:solidFill>
                      <a:srgbClr val="111111"/>
                    </a:solidFill>
                    <a:latin typeface="SimSun"/>
                  </a:rPr>
                  <a:t>联合确定各时段购电与储能安排</a:t>
                </a:r>
              </a:p>
            </p:txBody>
          </p:sp>
        </mc:Fallback>
      </mc:AlternateContent>
      <p:sp>
        <p:nvSpPr>
          <p:cNvPr id="16" name="joint-constraints">
            <a:extLst xmlns:a="http://schemas.openxmlformats.org/drawingml/2006/main">
              <a:ext uri="{FF2B5EF4-FFF2-40B4-BE49-F238E27FC236}">
                <a16:creationId xmlns:a16="http://schemas.microsoft.com/office/drawing/2014/main" id="{2C921D66-8FB2-4B77-9235-9FAC8A6ED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143125"/>
            <a:ext cx="5353050" cy="346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355C96"/>
            </a:solidFill>
            <a:prstDash val="dash"/>
          </a:ln>
        </p:spPr>
      </p:sp>
      <p:sp>
        <p:nvSpPr>
          <p:cNvPr id="17" name="eq-balance-frame">
            <a:extLst xmlns:a="http://schemas.openxmlformats.org/drawingml/2006/main">
              <a:ext uri="{FF2B5EF4-FFF2-40B4-BE49-F238E27FC236}">
                <a16:creationId xmlns:a16="http://schemas.microsoft.com/office/drawing/2014/main" id="{D6192B4A-C43F-493D-991D-933AB5024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76475"/>
            <a:ext cx="5086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eq-balance-label">
            <a:extLst xmlns:a="http://schemas.openxmlformats.org/drawingml/2006/main">
              <a:ext uri="{FF2B5EF4-FFF2-40B4-BE49-F238E27FC236}">
                <a16:creationId xmlns:a16="http://schemas.microsoft.com/office/drawing/2014/main" id="{04665F8B-A522-4470-93C6-B6D766CE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24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供需能量平衡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eq-balance">
                <a:extLst xmlns:a="http://schemas.openxmlformats.org/drawingml/2006/main">
                  <a:ext uri="{FF2B5EF4-FFF2-40B4-BE49-F238E27FC236}">
                    <a16:creationId xmlns:a16="http://schemas.microsoft.com/office/drawing/2014/main" id="{90F5D526-F455-474E-8FEB-DEEF80B750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2600325"/>
                <a:ext cx="4895850" cy="3524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电力供给满足负荷、充电与弃光</a:t>
                </a:r>
              </a:p>
            </p:txBody>
          </p:sp>
        </mc:Choice>
        <mc:Fallback>
          <p:sp>
            <p:nvSpPr>
              <p:cNvPr id="19" name="eq-balance">
                <a:extLst xmlns:a="http://schemas.openxmlformats.org/drawingml/2006/main">
                  <a:ext uri="{FF2B5EF4-FFF2-40B4-BE49-F238E27FC236}">
                    <a16:creationId xmlns:a16="http://schemas.microsoft.com/office/drawing/2014/main" id="{90F5D526-F455-474E-8FEB-DEEF80B75001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2600325"/>
                <a:ext cx="4895850" cy="3524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75">
                    <a:solidFill>
                      <a:srgbClr val="111111"/>
                    </a:solidFill>
                    <a:latin typeface="SimSun"/>
                  </a:rPr>
                  <a:t>电力供给满足负荷、充电与弃光</a:t>
                </a:r>
              </a:p>
            </p:txBody>
          </p:sp>
        </mc:Fallback>
      </mc:AlternateContent>
      <p:sp>
        <p:nvSpPr>
          <p:cNvPr id="20" name="eq-soc-frame">
            <a:extLst xmlns:a="http://schemas.openxmlformats.org/drawingml/2006/main">
              <a:ext uri="{FF2B5EF4-FFF2-40B4-BE49-F238E27FC236}">
                <a16:creationId xmlns:a16="http://schemas.microsoft.com/office/drawing/2014/main" id="{8D4F2153-ED7A-4AFB-9F26-FD9E9EAD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14675"/>
            <a:ext cx="508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eq-soc-label">
            <a:extLst xmlns:a="http://schemas.openxmlformats.org/drawingml/2006/main">
              <a:ext uri="{FF2B5EF4-FFF2-40B4-BE49-F238E27FC236}">
                <a16:creationId xmlns:a16="http://schemas.microsoft.com/office/drawing/2014/main" id="{5506C991-41E8-4122-8BD4-37C9E15C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623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储能递推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eq-soc">
                <a:extLst xmlns:a="http://schemas.openxmlformats.org/drawingml/2006/main">
                  <a:ext uri="{FF2B5EF4-FFF2-40B4-BE49-F238E27FC236}">
                    <a16:creationId xmlns:a16="http://schemas.microsoft.com/office/drawing/2014/main" id="{282328F5-4AD0-4A76-9AA6-09189A60418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3438525"/>
                <a:ext cx="4895850" cy="4095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按充放电效率逐段更新储电量</a:t>
                </a:r>
              </a:p>
            </p:txBody>
          </p:sp>
        </mc:Choice>
        <mc:Fallback>
          <p:sp>
            <p:nvSpPr>
              <p:cNvPr id="22" name="eq-soc">
                <a:extLst xmlns:a="http://schemas.openxmlformats.org/drawingml/2006/main">
                  <a:ext uri="{FF2B5EF4-FFF2-40B4-BE49-F238E27FC236}">
                    <a16:creationId xmlns:a16="http://schemas.microsoft.com/office/drawing/2014/main" id="{282328F5-4AD0-4A76-9AA6-09189A60418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3438525"/>
                <a:ext cx="4895850" cy="4095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95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950">
                    <a:solidFill>
                      <a:srgbClr val="111111"/>
                    </a:solidFill>
                    <a:latin typeface="SimSun"/>
                  </a:rPr>
                  <a:t>按充放电效率逐段更新储电量</a:t>
                </a:r>
              </a:p>
            </p:txBody>
          </p:sp>
        </mc:Fallback>
      </mc:AlternateContent>
      <p:sp>
        <p:nvSpPr>
          <p:cNvPr id="23" name="eq-mutual-frame">
            <a:extLst xmlns:a="http://schemas.openxmlformats.org/drawingml/2006/main">
              <a:ext uri="{FF2B5EF4-FFF2-40B4-BE49-F238E27FC236}">
                <a16:creationId xmlns:a16="http://schemas.microsoft.com/office/drawing/2014/main" id="{D45B1259-D81E-4A41-B4AD-54FF1D17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10025"/>
            <a:ext cx="50863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eq-mutual-label">
            <a:extLst xmlns:a="http://schemas.openxmlformats.org/drawingml/2006/main">
              <a:ext uri="{FF2B5EF4-FFF2-40B4-BE49-F238E27FC236}">
                <a16:creationId xmlns:a16="http://schemas.microsoft.com/office/drawing/2014/main" id="{1D411A12-0F75-445C-94D5-F32BDBC4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5765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充放电互斥与功率上限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eq-mutual">
                <a:extLst xmlns:a="http://schemas.openxmlformats.org/drawingml/2006/main">
                  <a:ext uri="{FF2B5EF4-FFF2-40B4-BE49-F238E27FC236}">
                    <a16:creationId xmlns:a16="http://schemas.microsoft.com/office/drawing/2014/main" id="{3C4C5F3A-7567-4792-90AC-260D49273EB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4333875"/>
                <a:ext cx="4895850" cy="4095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充电与放电不同时发生，功率受限</a:t>
                </a:r>
              </a:p>
            </p:txBody>
          </p:sp>
        </mc:Choice>
        <mc:Fallback>
          <p:sp>
            <p:nvSpPr>
              <p:cNvPr id="25" name="eq-mutual">
                <a:extLst xmlns:a="http://schemas.openxmlformats.org/drawingml/2006/main">
                  <a:ext uri="{FF2B5EF4-FFF2-40B4-BE49-F238E27FC236}">
                    <a16:creationId xmlns:a16="http://schemas.microsoft.com/office/drawing/2014/main" id="{3C4C5F3A-7567-4792-90AC-260D49273EB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4333875"/>
                <a:ext cx="4895850" cy="4095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</a:rPr>
                  <a:t>充电与放电不同时发生，功率受限</a:t>
                </a:r>
              </a:p>
            </p:txBody>
          </p:sp>
        </mc:Fallback>
      </mc:AlternateContent>
      <p:sp>
        <p:nvSpPr>
          <p:cNvPr id="26" name="eq-bound-frame">
            <a:extLst xmlns:a="http://schemas.openxmlformats.org/drawingml/2006/main">
              <a:ext uri="{FF2B5EF4-FFF2-40B4-BE49-F238E27FC236}">
                <a16:creationId xmlns:a16="http://schemas.microsoft.com/office/drawing/2014/main" id="{FD39D8D8-CB14-446E-8C5D-111735A7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05375"/>
            <a:ext cx="5086350" cy="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eq-bound-label">
            <a:extLst xmlns:a="http://schemas.openxmlformats.org/drawingml/2006/main">
              <a:ext uri="{FF2B5EF4-FFF2-40B4-BE49-F238E27FC236}">
                <a16:creationId xmlns:a16="http://schemas.microsoft.com/office/drawing/2014/main" id="{D60AFE48-96DA-4FF4-8F65-1547968D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9530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容量边界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eq-bound">
                <a:extLst xmlns:a="http://schemas.openxmlformats.org/drawingml/2006/main">
                  <a:ext uri="{FF2B5EF4-FFF2-40B4-BE49-F238E27FC236}">
                    <a16:creationId xmlns:a16="http://schemas.microsoft.com/office/drawing/2014/main" id="{C016036B-1922-4A3F-AB66-E8C9F25C42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5229225"/>
                <a:ext cx="4895850" cy="2095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储电量始终处于允许范围</a:t>
                </a:r>
              </a:p>
            </p:txBody>
          </p:sp>
        </mc:Choice>
        <mc:Fallback>
          <p:sp>
            <p:nvSpPr>
              <p:cNvPr id="28" name="eq-bound">
                <a:extLst xmlns:a="http://schemas.openxmlformats.org/drawingml/2006/main">
                  <a:ext uri="{FF2B5EF4-FFF2-40B4-BE49-F238E27FC236}">
                    <a16:creationId xmlns:a16="http://schemas.microsoft.com/office/drawing/2014/main" id="{C016036B-1922-4A3F-AB66-E8C9F25C4277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409950" y="5229225"/>
                <a:ext cx="4895850" cy="2095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72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725">
                    <a:solidFill>
                      <a:srgbClr val="111111"/>
                    </a:solidFill>
                    <a:latin typeface="SimSun"/>
                  </a:rPr>
                  <a:t>储电量始终处于允许范围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eq-boundary">
                <a:extLst xmlns:a="http://schemas.openxmlformats.org/drawingml/2006/main">
                  <a:ext uri="{FF2B5EF4-FFF2-40B4-BE49-F238E27FC236}">
                    <a16:creationId xmlns:a16="http://schemas.microsoft.com/office/drawing/2014/main" id="{4819A680-690F-4088-B03D-B71559F4C17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238500" y="5753100"/>
                <a:ext cx="5238750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日初与日末库存相同，充放电状态互斥</a:t>
                </a:r>
              </a:p>
            </p:txBody>
          </p:sp>
        </mc:Choice>
        <mc:Fallback>
          <p:sp>
            <p:nvSpPr>
              <p:cNvPr id="29" name="eq-boundary">
                <a:extLst xmlns:a="http://schemas.openxmlformats.org/drawingml/2006/main">
                  <a:ext uri="{FF2B5EF4-FFF2-40B4-BE49-F238E27FC236}">
                    <a16:creationId xmlns:a16="http://schemas.microsoft.com/office/drawing/2014/main" id="{4819A680-690F-4088-B03D-B71559F4C173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3238500" y="5753100"/>
                <a:ext cx="5238750" cy="35242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75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75">
                    <a:solidFill>
                      <a:srgbClr val="111111"/>
                    </a:solidFill>
                    <a:latin typeface="SimSun"/>
                  </a:rPr>
                  <a:t>日初与日末库存相同，充放电状态互斥</a:t>
                </a:r>
              </a:p>
            </p:txBody>
          </p:sp>
        </mc:Fallback>
      </mc:AlternateContent>
      <p:sp>
        <p:nvSpPr>
          <p:cNvPr id="30" name="boundary-note">
            <a:extLst xmlns:a="http://schemas.openxmlformats.org/drawingml/2006/main">
              <a:ext uri="{FF2B5EF4-FFF2-40B4-BE49-F238E27FC236}">
                <a16:creationId xmlns:a16="http://schemas.microsoft.com/office/drawing/2014/main" id="{434021EF-F87A-4ED1-9E0A-4F2056CB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124575"/>
            <a:ext cx="5124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444444"/>
                </a:solidFill>
                <a:latin typeface="SimSun"/>
                <a:ea typeface="SimSun"/>
                <a:cs typeface="SimSun"/>
              </a:defRPr>
            </a:pPr>
            <a:r>
              <a:rPr sz="1350" b="0">
                <a:solidFill>
                  <a:srgbClr val="444444"/>
                </a:solidFill>
                <a:latin typeface="SimSun"/>
                <a:ea typeface="SimSun"/>
                <a:cs typeface="SimSun"/>
              </a:rPr>
              <a:t>初末库存共同优化，充放电量均为电网侧电量</a:t>
            </a:r>
          </a:p>
        </p:txBody>
      </p:sp>
      <p:sp>
        <p:nvSpPr>
          <p:cNvPr id="31" name="solve-heading">
            <a:extLst xmlns:a="http://schemas.openxmlformats.org/drawingml/2006/main">
              <a:ext uri="{FF2B5EF4-FFF2-40B4-BE49-F238E27FC236}">
                <a16:creationId xmlns:a16="http://schemas.microsoft.com/office/drawing/2014/main" id="{C31911FA-91FF-448A-BEAC-39864E5C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9525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950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MILP求解</a:t>
            </a:r>
          </a:p>
        </p:txBody>
      </p:sp>
      <p:sp>
        <p:nvSpPr>
          <p:cNvPr id="32" name="solve">
            <a:extLst xmlns:a="http://schemas.openxmlformats.org/drawingml/2006/main">
              <a:ext uri="{FF2B5EF4-FFF2-40B4-BE49-F238E27FC236}">
                <a16:creationId xmlns:a16="http://schemas.microsoft.com/office/drawing/2014/main" id="{B478F794-9807-432E-8AC0-FBCD54D3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76375"/>
            <a:ext cx="25241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SciPy / HiGHS</a:t>
            </a:r>
          </a:p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求解最优调度</a:t>
            </a:r>
          </a:p>
        </p:txBody>
      </p:sp>
      <p:sp>
        <p:nvSpPr>
          <p:cNvPr id="33" name="schedule">
            <a:extLst xmlns:a="http://schemas.openxmlformats.org/drawingml/2006/main">
              <a:ext uri="{FF2B5EF4-FFF2-40B4-BE49-F238E27FC236}">
                <a16:creationId xmlns:a16="http://schemas.microsoft.com/office/drawing/2014/main" id="{3D55E9C8-4521-444F-B1A4-7D268547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90825"/>
            <a:ext cx="25241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D6EE"/>
          </a:solidFill>
          <a:ln xmlns:a="http://schemas.openxmlformats.org/drawingml/2006/main" w="18098">
            <a:solidFill>
              <a:srgbClr val="BBD6EE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购电、充电与放电</a:t>
            </a:r>
          </a:p>
          <a:p xmlns:a="http://schemas.openxmlformats.org/drawingml/2006/main">
            <a:pPr algn="ctr">
              <a:defRPr sz="1725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725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弃光及储电量轨迹</a:t>
            </a:r>
          </a:p>
        </p:txBody>
      </p:sp>
      <p:sp>
        <p:nvSpPr>
          <p:cNvPr id="34" name="verify-heading">
            <a:extLst xmlns:a="http://schemas.openxmlformats.org/drawingml/2006/main">
              <a:ext uri="{FF2B5EF4-FFF2-40B4-BE49-F238E27FC236}">
                <a16:creationId xmlns:a16="http://schemas.microsoft.com/office/drawing/2014/main" id="{9FAFA491-0A5E-4D9E-AED2-0E478C6B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9525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物理核验与结果输出</a:t>
            </a:r>
          </a:p>
        </p:txBody>
      </p:sp>
      <p:sp>
        <p:nvSpPr>
          <p:cNvPr id="35" name="checks">
            <a:extLst xmlns:a="http://schemas.openxmlformats.org/drawingml/2006/main">
              <a:ext uri="{FF2B5EF4-FFF2-40B4-BE49-F238E27FC236}">
                <a16:creationId xmlns:a16="http://schemas.microsoft.com/office/drawing/2014/main" id="{D84C1F3A-B51A-41D1-8458-F60C8F37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1476375"/>
            <a:ext cx="2524125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能量守恒、SOC边界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充放电功率与互斥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弃光上限、非负性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费用复算与Excel回读</a:t>
            </a:r>
          </a:p>
        </p:txBody>
      </p:sp>
      <p:sp>
        <p:nvSpPr>
          <p:cNvPr id="36" name="output">
            <a:extLst xmlns:a="http://schemas.openxmlformats.org/drawingml/2006/main">
              <a:ext uri="{FF2B5EF4-FFF2-40B4-BE49-F238E27FC236}">
                <a16:creationId xmlns:a16="http://schemas.microsoft.com/office/drawing/2014/main" id="{F5B1CCE2-E94B-46D1-BED7-E365664BA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324225"/>
            <a:ext cx="2524125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9EC3E6"/>
          </a:solidFill>
          <a:ln xmlns:a="http://schemas.openxmlformats.org/drawingml/2006/main" w="18098">
            <a:solidFill>
              <a:srgbClr val="9EC3E6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result1.xlsx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表1、表2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650" b="1">
                <a:solidFill>
                  <a:srgbClr val="111111"/>
                </a:solidFill>
                <a:latin typeface="SimSun"/>
                <a:ea typeface="SimSun"/>
                <a:cs typeface="SimSun"/>
              </a:rPr>
              <a:t>完整调度明细</a:t>
            </a:r>
          </a:p>
        </p:txBody>
      </p:sp>
      <p:sp>
        <p:nvSpPr>
          <p:cNvPr id="37" name="comparison-group">
            <a:extLst xmlns:a="http://schemas.openxmlformats.org/drawingml/2006/main">
              <a:ext uri="{FF2B5EF4-FFF2-40B4-BE49-F238E27FC236}">
                <a16:creationId xmlns:a16="http://schemas.microsoft.com/office/drawing/2014/main" id="{4E7A0885-06F0-430A-B1AD-8BBDA0A1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562475"/>
            <a:ext cx="5895975" cy="180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B0B0B0"/>
            </a:solidFill>
            <a:prstDash val="dash"/>
          </a:ln>
        </p:spPr>
      </p:sp>
      <p:sp>
        <p:nvSpPr>
          <p:cNvPr id="38" name="comparison-heading">
            <a:extLst xmlns:a="http://schemas.openxmlformats.org/drawingml/2006/main">
              <a:ext uri="{FF2B5EF4-FFF2-40B4-BE49-F238E27FC236}">
                <a16:creationId xmlns:a16="http://schemas.microsoft.com/office/drawing/2014/main" id="{1971BA38-7466-4B28-AABE-AA14CAAC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76775"/>
            <a:ext cx="5629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8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基线与下界对照</a:t>
            </a:r>
          </a:p>
        </p:txBody>
      </p:sp>
      <p:sp>
        <p:nvSpPr>
          <p:cNvPr id="39" name="eq-baseline-frame">
            <a:extLst xmlns:a="http://schemas.openxmlformats.org/drawingml/2006/main">
              <a:ext uri="{FF2B5EF4-FFF2-40B4-BE49-F238E27FC236}">
                <a16:creationId xmlns:a16="http://schemas.microsoft.com/office/drawing/2014/main" id="{84D4911C-F3BE-4FD2-8C15-995D1414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095875"/>
            <a:ext cx="2647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0" name="eq-baseline-label">
            <a:extLst xmlns:a="http://schemas.openxmlformats.org/drawingml/2006/main">
              <a:ext uri="{FF2B5EF4-FFF2-40B4-BE49-F238E27FC236}">
                <a16:creationId xmlns:a16="http://schemas.microsoft.com/office/drawing/2014/main" id="{E85DA791-3159-4FBE-9687-B412A2D0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5143500"/>
            <a:ext cx="249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367CB3"/>
                </a:solidFill>
                <a:latin typeface="SimSun"/>
                <a:ea typeface="SimSun"/>
                <a:cs typeface="SimSun"/>
              </a:defRPr>
            </a:pPr>
            <a:r>
              <a:rPr sz="1575" b="1">
                <a:solidFill>
                  <a:srgbClr val="367CB3"/>
                </a:solidFill>
                <a:latin typeface="SimSun"/>
                <a:ea typeface="SimSun"/>
                <a:cs typeface="SimSun"/>
              </a:rPr>
              <a:t>无储能基线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eq-baseline">
                <a:extLst xmlns:a="http://schemas.openxmlformats.org/drawingml/2006/main">
                  <a:ext uri="{FF2B5EF4-FFF2-40B4-BE49-F238E27FC236}">
                    <a16:creationId xmlns:a16="http://schemas.microsoft.com/office/drawing/2014/main" id="{901C62B4-C359-4244-AABB-0AC50D5EDB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9248775" y="5419725"/>
                <a:ext cx="2457450" cy="5048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0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0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rPr>
                  <a:t>净需求缺口由电网补足</a:t>
                </a:r>
              </a:p>
            </p:txBody>
          </p:sp>
        </mc:Choice>
        <mc:Fallback>
          <p:sp>
            <p:nvSpPr>
              <p:cNvPr id="41" name="eq-baseline">
                <a:extLst xmlns:a="http://schemas.openxmlformats.org/drawingml/2006/main">
                  <a:ext uri="{FF2B5EF4-FFF2-40B4-BE49-F238E27FC236}">
                    <a16:creationId xmlns:a16="http://schemas.microsoft.com/office/drawing/2014/main" id="{901C62B4-C359-4244-AABB-0AC50D5EDB4D}"/>
                  </a:ext>
                </a:extLst>
              </p:cNvPr>
              <p:cNvSpPr>
                <a:spLocks xmlns:a="http://schemas.openxmlformats.org/drawingml/2006/main" noGrp="1"/>
              </p:cNvSpPr>
              <p:nvPr/>
            </p:nvSpPr>
            <p:spPr>
              <a:xfrm xmlns:a="http://schemas.openxmlformats.org/drawingml/2006/main">
                <a:off x="9248775" y="5419725"/>
                <a:ext cx="2457450" cy="5048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>
                <a:noFill/>
              </a:ln>
            </p:spPr>
            <p:txBody xmlns:a="http://schemas.openxmlformats.org/drawingml/2006/main">
              <a:bodyPr xmlns:a="http://schemas.openxmlformats.org/drawingml/2006/main" wrap="none" anchor="ctr" lIns="0" tIns="0" rIns="0" bIns="0">
                <a:noAutofit/>
              </a:bodyPr>
              <a:lstStyle xmlns:a="http://schemas.openxmlformats.org/drawingml/2006/main"/>
              <a:p>
                <a:pPr algn="ctr">
                  <a:defRPr sz="1800">
                    <a:solidFill>
                      <a:srgbClr val="111111"/>
                    </a:solidFill>
                    <a:latin typeface="SimSun"/>
                    <a:ea typeface="SimSun"/>
                    <a:cs typeface="SimSun"/>
                  </a:defRPr>
                </a:pPr>
                <a:r>
                  <a:rPr sz="1800">
                    <a:solidFill>
                      <a:srgbClr val="111111"/>
                    </a:solidFill>
                    <a:latin typeface="SimSun"/>
                  </a:rPr>
                  <a:t>净需求缺口由电网补足</a:t>
                </a:r>
              </a:p>
            </p:txBody>
          </p:sp>
        </mc:Fallback>
      </mc:AlternateContent>
      <p:sp>
        <p:nvSpPr>
          <p:cNvPr id="42" name="lp-relax">
            <a:extLst xmlns:a="http://schemas.openxmlformats.org/drawingml/2006/main">
              <a:ext uri="{FF2B5EF4-FFF2-40B4-BE49-F238E27FC236}">
                <a16:creationId xmlns:a16="http://schemas.microsoft.com/office/drawing/2014/main" id="{3E037B7E-C9F1-4940-970E-B7946F30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11025" y="5095875"/>
            <a:ext cx="2743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098">
            <a:solidFill>
              <a:srgbClr val="111111"/>
            </a:solidFill>
          </a:ln>
        </p:spPr>
        <p:txBody>
          <a:bodyPr xmlns:a="http://schemas.openxmlformats.org/drawingml/2006/main" lIns="76200" tIns="47625" rIns="762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LP松弛下界</a:t>
            </a:r>
          </a:p>
          <a:p xmlns:a="http://schemas.openxmlformats.org/drawingml/2006/main">
            <a:pPr algn="ctr">
              <a:defRPr sz="1800" b="0">
                <a:solidFill>
                  <a:srgbClr val="111111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111111"/>
                </a:solidFill>
                <a:latin typeface="SimSun"/>
                <a:ea typeface="SimSun"/>
                <a:cs typeface="SimSun"/>
              </a:rPr>
              <a:t>与MILP目标值比较</a:t>
            </a:r>
          </a:p>
        </p:txBody>
      </p:sp>
      <p:sp>
        <p:nvSpPr>
          <p:cNvPr id="43" name="comparison-note">
            <a:extLst xmlns:a="http://schemas.openxmlformats.org/drawingml/2006/main">
              <a:ext uri="{FF2B5EF4-FFF2-40B4-BE49-F238E27FC236}">
                <a16:creationId xmlns:a16="http://schemas.microsoft.com/office/drawing/2014/main" id="{D8F55693-2768-45BF-8533-B87AE2AB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6057900"/>
            <a:ext cx="5657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44444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444444"/>
                </a:solidFill>
                <a:latin typeface="SimSun"/>
                <a:ea typeface="SimSun"/>
                <a:cs typeface="SimSun"/>
              </a:rPr>
              <a:t>评估储能节费效果，并核对最优性下界</a:t>
            </a:r>
          </a:p>
        </p:txBody>
      </p:sp>
      <p:sp>
        <p:nvSpPr>
          <p:cNvPr id="44" name="route-start-1">
            <a:extLst xmlns:a="http://schemas.openxmlformats.org/drawingml/2006/main">
              <a:ext uri="{FF2B5EF4-FFF2-40B4-BE49-F238E27FC236}">
                <a16:creationId xmlns:a16="http://schemas.microsoft.com/office/drawing/2014/main" id="{01906AC9-0209-4539-84DF-6B7D5416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268509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5" name="route-end-1">
            <a:extLst xmlns:a="http://schemas.openxmlformats.org/drawingml/2006/main">
              <a:ext uri="{FF2B5EF4-FFF2-40B4-BE49-F238E27FC236}">
                <a16:creationId xmlns:a16="http://schemas.microsoft.com/office/drawing/2014/main" id="{36A48844-2881-49BD-A712-8C5B83F9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292322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23" name=""/>
          <p:cNvCxnSpPr>
            <a:stCxn xmlns:a="http://schemas.openxmlformats.org/drawingml/2006/main" id="44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1476376" y="2687003"/>
            <a:ext cx="0" cy="23622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47" name="route-start-2">
            <a:extLst xmlns:a="http://schemas.openxmlformats.org/drawingml/2006/main">
              <a:ext uri="{FF2B5EF4-FFF2-40B4-BE49-F238E27FC236}">
                <a16:creationId xmlns:a16="http://schemas.microsoft.com/office/drawing/2014/main" id="{75EDE880-26F5-4B65-B78C-E12B0AD1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38566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8" name="route-end-2">
            <a:extLst xmlns:a="http://schemas.openxmlformats.org/drawingml/2006/main">
              <a:ext uri="{FF2B5EF4-FFF2-40B4-BE49-F238E27FC236}">
                <a16:creationId xmlns:a16="http://schemas.microsoft.com/office/drawing/2014/main" id="{3585DA81-1318-435D-A7FC-A3C709F2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405669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26" name=""/>
          <p:cNvCxnSpPr>
            <a:stCxn xmlns:a="http://schemas.openxmlformats.org/drawingml/2006/main" id="47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476376" y="3858578"/>
            <a:ext cx="0" cy="19812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50" name="route-start-3">
            <a:extLst xmlns:a="http://schemas.openxmlformats.org/drawingml/2006/main">
              <a:ext uri="{FF2B5EF4-FFF2-40B4-BE49-F238E27FC236}">
                <a16:creationId xmlns:a16="http://schemas.microsoft.com/office/drawing/2014/main" id="{5D214B2B-7758-4E72-8140-EA770BCC2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498062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1" name="route-end-3">
            <a:extLst xmlns:a="http://schemas.openxmlformats.org/drawingml/2006/main">
              <a:ext uri="{FF2B5EF4-FFF2-40B4-BE49-F238E27FC236}">
                <a16:creationId xmlns:a16="http://schemas.microsoft.com/office/drawing/2014/main" id="{C7366464-7A0B-426C-B921-E33CF033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423" y="52282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29" name=""/>
          <p:cNvCxnSpPr>
            <a:stCxn xmlns:a="http://schemas.openxmlformats.org/drawingml/2006/main" id="50" idx="2"/>
            <a:endCxn xmlns:a="http://schemas.openxmlformats.org/drawingml/2006/main" id="51" idx="0"/>
          </p:cNvCxnSpPr>
          <p:nvPr/>
        </p:nvCxnSpPr>
        <p:spPr>
          <a:xfrm xmlns:a="http://schemas.openxmlformats.org/drawingml/2006/main">
            <a:off x="1476376" y="4982528"/>
            <a:ext cx="0" cy="24574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53" name="route-start-4">
            <a:extLst xmlns:a="http://schemas.openxmlformats.org/drawingml/2006/main">
              <a:ext uri="{FF2B5EF4-FFF2-40B4-BE49-F238E27FC236}">
                <a16:creationId xmlns:a16="http://schemas.microsoft.com/office/drawing/2014/main" id="{711AED2B-0A19-4B11-9F89-A79CB5EE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8423" y="34756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4" name="route-end-4">
            <a:extLst xmlns:a="http://schemas.openxmlformats.org/drawingml/2006/main">
              <a:ext uri="{FF2B5EF4-FFF2-40B4-BE49-F238E27FC236}">
                <a16:creationId xmlns:a16="http://schemas.microsoft.com/office/drawing/2014/main" id="{E40BE065-E153-41ED-894F-167AF3A4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7998" y="34756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32" name=""/>
          <p:cNvCxnSpPr>
            <a:stCxn xmlns:a="http://schemas.openxmlformats.org/drawingml/2006/main" id="53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2620328" y="3476626"/>
            <a:ext cx="40767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sp>
        <p:nvSpPr>
          <p:cNvPr id="56" name="route-start-5">
            <a:extLst xmlns:a="http://schemas.openxmlformats.org/drawingml/2006/main">
              <a:ext uri="{FF2B5EF4-FFF2-40B4-BE49-F238E27FC236}">
                <a16:creationId xmlns:a16="http://schemas.microsoft.com/office/drawing/2014/main" id="{26B570C5-C4AB-4692-9284-BF86260A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6323" y="19135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57" name="route-end-5">
            <a:extLst xmlns:a="http://schemas.openxmlformats.org/drawingml/2006/main">
              <a:ext uri="{FF2B5EF4-FFF2-40B4-BE49-F238E27FC236}">
                <a16:creationId xmlns:a16="http://schemas.microsoft.com/office/drawing/2014/main" id="{FB84E703-A48A-4BE4-8A06-CFCBDF50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3523" y="19135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35" name=""/>
          <p:cNvCxnSpPr>
            <a:stCxn xmlns:a="http://schemas.openxmlformats.org/drawingml/2006/main" id="56" idx="3"/>
            <a:endCxn xmlns:a="http://schemas.openxmlformats.org/drawingml/2006/main" id="57" idx="1"/>
          </p:cNvCxnSpPr>
          <p:nvPr/>
        </p:nvCxnSpPr>
        <p:spPr>
          <a:xfrm xmlns:a="http://schemas.openxmlformats.org/drawingml/2006/main">
            <a:off x="8678228" y="1914526"/>
            <a:ext cx="45529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sp>
        <p:nvSpPr>
          <p:cNvPr id="59" name="route-start-6">
            <a:extLst xmlns:a="http://schemas.openxmlformats.org/drawingml/2006/main">
              <a:ext uri="{FF2B5EF4-FFF2-40B4-BE49-F238E27FC236}">
                <a16:creationId xmlns:a16="http://schemas.microsoft.com/office/drawing/2014/main" id="{4744E2C5-9C3E-46EF-9EB9-6C5AE33E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0348" y="236124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0" name="route-end-6">
            <a:extLst xmlns:a="http://schemas.openxmlformats.org/drawingml/2006/main">
              <a:ext uri="{FF2B5EF4-FFF2-40B4-BE49-F238E27FC236}">
                <a16:creationId xmlns:a16="http://schemas.microsoft.com/office/drawing/2014/main" id="{7FC3F36B-99F4-4E21-A076-88B4F0908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0348" y="278034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38" name=""/>
          <p:cNvCxnSpPr>
            <a:stCxn xmlns:a="http://schemas.openxmlformats.org/drawingml/2006/main" id="59" idx="2"/>
            <a:endCxn xmlns:a="http://schemas.openxmlformats.org/drawingml/2006/main" id="60" idx="0"/>
          </p:cNvCxnSpPr>
          <p:nvPr/>
        </p:nvCxnSpPr>
        <p:spPr>
          <a:xfrm xmlns:a="http://schemas.openxmlformats.org/drawingml/2006/main">
            <a:off x="10401301" y="2363153"/>
            <a:ext cx="0" cy="41719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62" name="route-start-7">
            <a:extLst xmlns:a="http://schemas.openxmlformats.org/drawingml/2006/main">
              <a:ext uri="{FF2B5EF4-FFF2-40B4-BE49-F238E27FC236}">
                <a16:creationId xmlns:a16="http://schemas.microsoft.com/office/drawing/2014/main" id="{F33EB640-4F97-4E04-91E4-AB307750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6698" y="32089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3" name="route-end-7">
            <a:extLst xmlns:a="http://schemas.openxmlformats.org/drawingml/2006/main">
              <a:ext uri="{FF2B5EF4-FFF2-40B4-BE49-F238E27FC236}">
                <a16:creationId xmlns:a16="http://schemas.microsoft.com/office/drawing/2014/main" id="{BF4DAECC-1A48-4860-A1CF-540AFB5E7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9123" y="32089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41" name=""/>
          <p:cNvCxnSpPr>
            <a:stCxn xmlns:a="http://schemas.openxmlformats.org/drawingml/2006/main" id="62" idx="3"/>
            <a:endCxn xmlns:a="http://schemas.openxmlformats.org/drawingml/2006/main" id="63" idx="1"/>
          </p:cNvCxnSpPr>
          <p:nvPr/>
        </p:nvCxnSpPr>
        <p:spPr>
          <a:xfrm xmlns:a="http://schemas.openxmlformats.org/drawingml/2006/main">
            <a:off x="11678603" y="3209926"/>
            <a:ext cx="35052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</a:ln>
        </p:spPr>
      </p:cxnSp>
      <p:sp>
        <p:nvSpPr>
          <p:cNvPr id="65" name="route-start-8">
            <a:extLst xmlns:a="http://schemas.openxmlformats.org/drawingml/2006/main">
              <a:ext uri="{FF2B5EF4-FFF2-40B4-BE49-F238E27FC236}">
                <a16:creationId xmlns:a16="http://schemas.microsoft.com/office/drawing/2014/main" id="{CDA6B8DF-748A-4791-86B0-D3CD2D19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9123" y="32089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6" name="route-end-8">
            <a:extLst xmlns:a="http://schemas.openxmlformats.org/drawingml/2006/main">
              <a:ext uri="{FF2B5EF4-FFF2-40B4-BE49-F238E27FC236}">
                <a16:creationId xmlns:a16="http://schemas.microsoft.com/office/drawing/2014/main" id="{3D199B6B-4369-4C3C-8A36-5F0A45F0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9123" y="21802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44" name=""/>
          <p:cNvCxnSpPr>
            <a:stCxn xmlns:a="http://schemas.openxmlformats.org/drawingml/2006/main" id="65" idx="2"/>
            <a:endCxn xmlns:a="http://schemas.openxmlformats.org/drawingml/2006/main" id="66" idx="0"/>
          </p:cNvCxnSpPr>
          <p:nvPr/>
        </p:nvCxnSpPr>
        <p:spPr>
          <a:xfrm xmlns:a="http://schemas.openxmlformats.org/drawingml/2006/main" flipV="1">
            <a:off x="12030076" y="2180273"/>
            <a:ext cx="0" cy="103060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</a:ln>
        </p:spPr>
      </p:cxnSp>
      <p:sp>
        <p:nvSpPr>
          <p:cNvPr id="68" name="route-start-9">
            <a:extLst xmlns:a="http://schemas.openxmlformats.org/drawingml/2006/main">
              <a:ext uri="{FF2B5EF4-FFF2-40B4-BE49-F238E27FC236}">
                <a16:creationId xmlns:a16="http://schemas.microsoft.com/office/drawing/2014/main" id="{EE86DB6C-05D9-4868-84E2-1032573C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9123" y="21802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69" name="route-end-9">
            <a:extLst xmlns:a="http://schemas.openxmlformats.org/drawingml/2006/main">
              <a:ext uri="{FF2B5EF4-FFF2-40B4-BE49-F238E27FC236}">
                <a16:creationId xmlns:a16="http://schemas.microsoft.com/office/drawing/2014/main" id="{2E6F006B-0771-4F55-ABFF-53AC28BB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2023" y="2180273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47" name=""/>
          <p:cNvCxnSpPr>
            <a:stCxn xmlns:a="http://schemas.openxmlformats.org/drawingml/2006/main" id="68" idx="3"/>
            <a:endCxn xmlns:a="http://schemas.openxmlformats.org/drawingml/2006/main" id="69" idx="1"/>
          </p:cNvCxnSpPr>
          <p:nvPr/>
        </p:nvCxnSpPr>
        <p:spPr>
          <a:xfrm xmlns:a="http://schemas.openxmlformats.org/drawingml/2006/main">
            <a:off x="12031028" y="2181226"/>
            <a:ext cx="34099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8198B3"/>
            </a:solidFill>
            <a:tailEnd type="triangle" w="med" len="med"/>
          </a:ln>
        </p:spPr>
      </p:cxnSp>
      <p:sp>
        <p:nvSpPr>
          <p:cNvPr id="71" name="route-start-10">
            <a:extLst xmlns:a="http://schemas.openxmlformats.org/drawingml/2006/main">
              <a:ext uri="{FF2B5EF4-FFF2-40B4-BE49-F238E27FC236}">
                <a16:creationId xmlns:a16="http://schemas.microsoft.com/office/drawing/2014/main" id="{D69DB672-B8BC-4E86-BCFA-46F515425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8848" y="289464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2" name="route-end-10">
            <a:extLst xmlns:a="http://schemas.openxmlformats.org/drawingml/2006/main">
              <a:ext uri="{FF2B5EF4-FFF2-40B4-BE49-F238E27FC236}">
                <a16:creationId xmlns:a16="http://schemas.microsoft.com/office/drawing/2014/main" id="{97E92AF9-CBB7-4336-BA21-AAE6CF2A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8848" y="331374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50" name=""/>
          <p:cNvCxnSpPr>
            <a:stCxn xmlns:a="http://schemas.openxmlformats.org/drawingml/2006/main" id="71" idx="2"/>
            <a:endCxn xmlns:a="http://schemas.openxmlformats.org/drawingml/2006/main" id="72" idx="0"/>
          </p:cNvCxnSpPr>
          <p:nvPr/>
        </p:nvCxnSpPr>
        <p:spPr>
          <a:xfrm xmlns:a="http://schemas.openxmlformats.org/drawingml/2006/main">
            <a:off x="13639801" y="2896553"/>
            <a:ext cx="0" cy="41719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111111"/>
            </a:solidFill>
            <a:tailEnd type="triangle" w="med" len="med"/>
          </a:ln>
        </p:spPr>
      </p:cxnSp>
      <p:sp>
        <p:nvSpPr>
          <p:cNvPr id="74" name="route-start-11">
            <a:extLst xmlns:a="http://schemas.openxmlformats.org/drawingml/2006/main">
              <a:ext uri="{FF2B5EF4-FFF2-40B4-BE49-F238E27FC236}">
                <a16:creationId xmlns:a16="http://schemas.microsoft.com/office/drawing/2014/main" id="{9194D26B-272A-48B1-8E0E-C5113697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0348" y="363759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75" name="route-end-11">
            <a:extLst xmlns:a="http://schemas.openxmlformats.org/drawingml/2006/main">
              <a:ext uri="{FF2B5EF4-FFF2-40B4-BE49-F238E27FC236}">
                <a16:creationId xmlns:a16="http://schemas.microsoft.com/office/drawing/2014/main" id="{03D47C82-1C63-40AC-8B24-8AC084F3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0348" y="4551998"/>
            <a:ext cx="1905" cy="19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cxnSp>
        <p:nvCxnSpPr>
          <p:cNvPr id="153" name=""/>
          <p:cNvCxnSpPr>
            <a:stCxn xmlns:a="http://schemas.openxmlformats.org/drawingml/2006/main" id="74" idx="2"/>
            <a:endCxn xmlns:a="http://schemas.openxmlformats.org/drawingml/2006/main" id="75" idx="0"/>
          </p:cNvCxnSpPr>
          <p:nvPr/>
        </p:nvCxnSpPr>
        <p:spPr>
          <a:xfrm xmlns:a="http://schemas.openxmlformats.org/drawingml/2006/main">
            <a:off x="10401301" y="3639503"/>
            <a:ext cx="0" cy="91249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777777"/>
            </a:solidFill>
            <a:tailEnd type="triangle" w="med" len="med"/>
          </a:ln>
        </p:spPr>
      </p:cxnSp>
      <p:sp>
        <p:nvSpPr>
          <p:cNvPr id="77" name="footer">
            <a:extLst xmlns:a="http://schemas.openxmlformats.org/drawingml/2006/main">
              <a:ext uri="{FF2B5EF4-FFF2-40B4-BE49-F238E27FC236}">
                <a16:creationId xmlns:a16="http://schemas.microsoft.com/office/drawing/2014/main" id="{3F57207B-584B-4084-91A6-EBBDB565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96050"/>
            <a:ext cx="1447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444444"/>
                </a:solidFill>
                <a:latin typeface="SimSun"/>
                <a:ea typeface="SimSun"/>
                <a:cs typeface="SimSun"/>
              </a:defRPr>
            </a:pPr>
            <a:r>
              <a:rPr sz="1500" b="0">
                <a:solidFill>
                  <a:srgbClr val="444444"/>
                </a:solidFill>
                <a:latin typeface="SimSun"/>
                <a:ea typeface="SimSun"/>
                <a:cs typeface="SimSun"/>
              </a:rPr>
              <a:t>能量变量单位：kWh；第一问允许弃光，不设售电与紧急购电；各约束共同组成可行域</a:t>
            </a:r>
          </a:p>
        </p:txBody>
      </p:sp>
    </p:spTree>
    <p:extLst>
      <p:ext uri="{BB962C8B-B14F-4D97-AF65-F5344CB8AC3E}">
        <p14:creationId xmlns:p14="http://schemas.microsoft.com/office/powerpoint/2010/main" val="17237664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2026-09-13T01:30:26.6020000Z</dcterms:created>
  <dcterms:modified xsi:type="dcterms:W3CDTF">2026-09-13T01:30:26.6020000Z</dcterms:modified>
</coreProperties>
</file>