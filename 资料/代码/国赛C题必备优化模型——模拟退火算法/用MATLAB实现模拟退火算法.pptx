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notesMasterIdLst>
    <p:notesMasterId r:id="rId32"/>
  </p:notesMasterIdLst>
  <p:handoutMasterIdLst>
    <p:handoutMasterId r:id="rId33"/>
  </p:handoutMasterIdLst>
  <p:sldIdLst>
    <p:sldId id="256" r:id="rId2"/>
    <p:sldId id="258" r:id="rId3"/>
    <p:sldId id="259" r:id="rId4"/>
    <p:sldId id="348" r:id="rId5"/>
    <p:sldId id="261" r:id="rId6"/>
    <p:sldId id="349" r:id="rId7"/>
    <p:sldId id="350" r:id="rId8"/>
    <p:sldId id="262" r:id="rId9"/>
    <p:sldId id="351" r:id="rId10"/>
    <p:sldId id="260" r:id="rId11"/>
    <p:sldId id="370" r:id="rId12"/>
    <p:sldId id="352" r:id="rId13"/>
    <p:sldId id="353" r:id="rId14"/>
    <p:sldId id="373" r:id="rId15"/>
    <p:sldId id="354" r:id="rId16"/>
    <p:sldId id="356" r:id="rId17"/>
    <p:sldId id="357" r:id="rId18"/>
    <p:sldId id="376" r:id="rId19"/>
    <p:sldId id="358" r:id="rId20"/>
    <p:sldId id="372" r:id="rId21"/>
    <p:sldId id="360" r:id="rId22"/>
    <p:sldId id="363" r:id="rId23"/>
    <p:sldId id="365" r:id="rId24"/>
    <p:sldId id="366" r:id="rId25"/>
    <p:sldId id="359" r:id="rId26"/>
    <p:sldId id="367" r:id="rId27"/>
    <p:sldId id="361" r:id="rId28"/>
    <p:sldId id="368" r:id="rId29"/>
    <p:sldId id="369" r:id="rId30"/>
    <p:sldId id="378" r:id="rId31"/>
  </p:sldIdLst>
  <p:sldSz cx="9144000" cy="6858000" type="screen4x3"/>
  <p:notesSz cx="6807200" cy="9939338"/>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59" autoAdjust="0"/>
  </p:normalViewPr>
  <p:slideViewPr>
    <p:cSldViewPr>
      <p:cViewPr>
        <p:scale>
          <a:sx n="66" d="100"/>
          <a:sy n="66" d="100"/>
        </p:scale>
        <p:origin x="-1506" y="-1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ltLang="zh-CN"/>
          </a:p>
        </p:txBody>
      </p:sp>
      <p:sp>
        <p:nvSpPr>
          <p:cNvPr id="104451" name="Rectangle 3"/>
          <p:cNvSpPr>
            <a:spLocks noGrp="1" noChangeArrowheads="1"/>
          </p:cNvSpPr>
          <p:nvPr>
            <p:ph type="dt" sz="quarter" idx="1"/>
          </p:nvPr>
        </p:nvSpPr>
        <p:spPr bwMode="auto">
          <a:xfrm>
            <a:off x="3856038"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104452" name="Rectangle 4"/>
          <p:cNvSpPr>
            <a:spLocks noGrp="1" noChangeArrowheads="1"/>
          </p:cNvSpPr>
          <p:nvPr>
            <p:ph type="ftr" sz="quarter" idx="2"/>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ltLang="zh-CN"/>
          </a:p>
        </p:txBody>
      </p:sp>
      <p:sp>
        <p:nvSpPr>
          <p:cNvPr id="104453" name="Rectangle 5"/>
          <p:cNvSpPr>
            <a:spLocks noGrp="1" noChangeArrowheads="1"/>
          </p:cNvSpPr>
          <p:nvPr>
            <p:ph type="sldNum" sz="quarter" idx="3"/>
          </p:nvPr>
        </p:nvSpPr>
        <p:spPr bwMode="auto">
          <a:xfrm>
            <a:off x="3856038"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6011997D-D982-479A-984F-04B701AE1998}" type="slidenum">
              <a:rPr lang="en-US" altLang="zh-CN"/>
              <a:pPr>
                <a:defRPr/>
              </a:pPr>
              <a:t>‹#›</a:t>
            </a:fld>
            <a:endParaRPr lang="en-US" altLang="zh-CN"/>
          </a:p>
        </p:txBody>
      </p:sp>
    </p:spTree>
    <p:extLst>
      <p:ext uri="{BB962C8B-B14F-4D97-AF65-F5344CB8AC3E}">
        <p14:creationId xmlns:p14="http://schemas.microsoft.com/office/powerpoint/2010/main" val="29438532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Arial" pitchFamily="34" charset="0"/>
              </a:defRPr>
            </a:lvl1pPr>
          </a:lstStyle>
          <a:p>
            <a:pPr>
              <a:defRPr/>
            </a:pPr>
            <a:endParaRPr lang="en-US" altLang="zh-CN"/>
          </a:p>
        </p:txBody>
      </p:sp>
      <p:sp>
        <p:nvSpPr>
          <p:cNvPr id="33795" name="Rectangle 3"/>
          <p:cNvSpPr>
            <a:spLocks noGrp="1" noChangeArrowheads="1"/>
          </p:cNvSpPr>
          <p:nvPr>
            <p:ph type="dt" idx="1"/>
          </p:nvPr>
        </p:nvSpPr>
        <p:spPr bwMode="auto">
          <a:xfrm>
            <a:off x="3856038"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endParaRPr lang="en-US" altLang="zh-CN"/>
          </a:p>
        </p:txBody>
      </p:sp>
      <p:sp>
        <p:nvSpPr>
          <p:cNvPr id="24580" name="Rectangle 4"/>
          <p:cNvSpPr>
            <a:spLocks noGrp="1" noRot="1" noChangeAspect="1" noChangeArrowheads="1" noTextEdit="1"/>
          </p:cNvSpPr>
          <p:nvPr>
            <p:ph type="sldImg" idx="2"/>
          </p:nvPr>
        </p:nvSpPr>
        <p:spPr bwMode="auto">
          <a:xfrm>
            <a:off x="920750" y="746125"/>
            <a:ext cx="4967288" cy="37258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7" name="Rectangle 5"/>
          <p:cNvSpPr>
            <a:spLocks noGrp="1" noChangeArrowheads="1"/>
          </p:cNvSpPr>
          <p:nvPr>
            <p:ph type="body" sz="quarter" idx="3"/>
          </p:nvPr>
        </p:nvSpPr>
        <p:spPr bwMode="auto">
          <a:xfrm>
            <a:off x="681038" y="4721225"/>
            <a:ext cx="5445125"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3798" name="Rectangle 6"/>
          <p:cNvSpPr>
            <a:spLocks noGrp="1" noChangeArrowheads="1"/>
          </p:cNvSpPr>
          <p:nvPr>
            <p:ph type="ftr" sz="quarter" idx="4"/>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Arial" pitchFamily="34" charset="0"/>
              </a:defRPr>
            </a:lvl1pPr>
          </a:lstStyle>
          <a:p>
            <a:pPr>
              <a:defRPr/>
            </a:pPr>
            <a:endParaRPr lang="en-US" altLang="zh-CN"/>
          </a:p>
        </p:txBody>
      </p:sp>
      <p:sp>
        <p:nvSpPr>
          <p:cNvPr id="33799" name="Rectangle 7"/>
          <p:cNvSpPr>
            <a:spLocks noGrp="1" noChangeArrowheads="1"/>
          </p:cNvSpPr>
          <p:nvPr>
            <p:ph type="sldNum" sz="quarter" idx="5"/>
          </p:nvPr>
        </p:nvSpPr>
        <p:spPr bwMode="auto">
          <a:xfrm>
            <a:off x="3856038"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DF66C405-B112-4027-AB46-C203783285D4}" type="slidenum">
              <a:rPr lang="en-US" altLang="zh-CN"/>
              <a:pPr>
                <a:defRPr/>
              </a:pPr>
              <a:t>‹#›</a:t>
            </a:fld>
            <a:endParaRPr lang="en-US" altLang="zh-CN"/>
          </a:p>
        </p:txBody>
      </p:sp>
    </p:spTree>
    <p:extLst>
      <p:ext uri="{BB962C8B-B14F-4D97-AF65-F5344CB8AC3E}">
        <p14:creationId xmlns:p14="http://schemas.microsoft.com/office/powerpoint/2010/main" val="5534917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a:ln/>
        </p:spPr>
      </p:sp>
      <p:sp>
        <p:nvSpPr>
          <p:cNvPr id="25603" name="备注占位符 2"/>
          <p:cNvSpPr>
            <a:spLocks noGrp="1"/>
          </p:cNvSpPr>
          <p:nvPr>
            <p:ph type="body" idx="1"/>
          </p:nvPr>
        </p:nvSpPr>
        <p:spPr>
          <a:noFill/>
        </p:spPr>
        <p:txBody>
          <a:bodyPr/>
          <a:lstStyle/>
          <a:p>
            <a:endParaRPr lang="zh-CN" altLang="en-US" smtClean="0">
              <a:latin typeface="Arial" charset="0"/>
            </a:endParaRPr>
          </a:p>
        </p:txBody>
      </p:sp>
      <p:sp>
        <p:nvSpPr>
          <p:cNvPr id="2560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4EA765-35D7-4FAA-A002-BCC70C5F5A79}" type="slidenum">
              <a:rPr lang="en-US" altLang="zh-CN" smtClean="0"/>
              <a:pPr eaLnBrk="1" hangingPunct="1"/>
              <a:t>7</a:t>
            </a:fld>
            <a:endParaRPr lang="en-US"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smtClean="0">
              <a:latin typeface="Arial" charset="0"/>
            </a:endParaRPr>
          </a:p>
        </p:txBody>
      </p:sp>
      <p:sp>
        <p:nvSpPr>
          <p:cNvPr id="2662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F90F68-DA67-45DF-8EDE-8B6FD389CCBA}" type="slidenum">
              <a:rPr lang="en-US" altLang="zh-CN" smtClean="0"/>
              <a:pPr eaLnBrk="1" hangingPunct="1"/>
              <a:t>13</a:t>
            </a:fld>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p:spPr>
        <p:txBody>
          <a:bodyPr/>
          <a:lstStyle/>
          <a:p>
            <a:endParaRPr lang="zh-CN" altLang="en-US" dirty="0" smtClean="0">
              <a:latin typeface="Arial" charset="0"/>
            </a:endParaRPr>
          </a:p>
        </p:txBody>
      </p:sp>
      <p:sp>
        <p:nvSpPr>
          <p:cNvPr id="2662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7F90F68-DA67-45DF-8EDE-8B6FD389CCBA}" type="slidenum">
              <a:rPr lang="en-US" altLang="zh-CN" smtClean="0"/>
              <a:pPr eaLnBrk="1" hangingPunct="1"/>
              <a:t>14</a:t>
            </a:fld>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a:ln/>
        </p:spPr>
      </p:sp>
      <p:sp>
        <p:nvSpPr>
          <p:cNvPr id="27651" name="备注占位符 2"/>
          <p:cNvSpPr>
            <a:spLocks noGrp="1"/>
          </p:cNvSpPr>
          <p:nvPr>
            <p:ph type="body" idx="1"/>
          </p:nvPr>
        </p:nvSpPr>
        <p:spPr>
          <a:noFill/>
        </p:spPr>
        <p:txBody>
          <a:bodyPr/>
          <a:lstStyle/>
          <a:p>
            <a:endParaRPr lang="zh-CN" altLang="en-US" smtClean="0">
              <a:latin typeface="Arial" charset="0"/>
            </a:endParaRPr>
          </a:p>
        </p:txBody>
      </p:sp>
      <p:sp>
        <p:nvSpPr>
          <p:cNvPr id="2765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C828D5-0D1F-4BCB-9F49-88650DAD8413}" type="slidenum">
              <a:rPr lang="en-US" altLang="zh-CN" smtClean="0"/>
              <a:pPr eaLnBrk="1" hangingPunct="1"/>
              <a:t>15</a:t>
            </a:fld>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幻灯片图像占位符 1"/>
          <p:cNvSpPr>
            <a:spLocks noGrp="1" noRot="1" noChangeAspect="1" noTextEdit="1"/>
          </p:cNvSpPr>
          <p:nvPr>
            <p:ph type="sldImg"/>
          </p:nvPr>
        </p:nvSpPr>
        <p:spPr>
          <a:ln/>
        </p:spPr>
      </p:sp>
      <p:sp>
        <p:nvSpPr>
          <p:cNvPr id="29699" name="备注占位符 2"/>
          <p:cNvSpPr>
            <a:spLocks noGrp="1"/>
          </p:cNvSpPr>
          <p:nvPr>
            <p:ph type="body" idx="1"/>
          </p:nvPr>
        </p:nvSpPr>
        <p:spPr>
          <a:noFill/>
        </p:spPr>
        <p:txBody>
          <a:bodyPr/>
          <a:lstStyle/>
          <a:p>
            <a:endParaRPr lang="zh-CN" altLang="en-US" smtClean="0">
              <a:latin typeface="Arial" charset="0"/>
            </a:endParaRPr>
          </a:p>
        </p:txBody>
      </p:sp>
      <p:sp>
        <p:nvSpPr>
          <p:cNvPr id="2970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C2424C4-A6FB-4D4A-B0D1-E42EC482A8FB}" type="slidenum">
              <a:rPr lang="en-US" altLang="zh-CN" smtClean="0"/>
              <a:pPr eaLnBrk="1" hangingPunct="1"/>
              <a:t>16</a:t>
            </a:fld>
            <a:endParaRPr lang="en-US"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smtClean="0">
              <a:latin typeface="Arial" charset="0"/>
            </a:endParaRPr>
          </a:p>
        </p:txBody>
      </p:sp>
      <p:sp>
        <p:nvSpPr>
          <p:cNvPr id="3072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224F151-1B0A-4C1F-BD31-C7B1ECF434FB}" type="slidenum">
              <a:rPr lang="en-US" altLang="zh-CN" smtClean="0"/>
              <a:pPr eaLnBrk="1" hangingPunct="1"/>
              <a:t>17</a:t>
            </a:fld>
            <a:endParaRPr lang="en-US"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a:ln/>
        </p:spPr>
      </p:sp>
      <p:sp>
        <p:nvSpPr>
          <p:cNvPr id="30723" name="备注占位符 2"/>
          <p:cNvSpPr>
            <a:spLocks noGrp="1"/>
          </p:cNvSpPr>
          <p:nvPr>
            <p:ph type="body" idx="1"/>
          </p:nvPr>
        </p:nvSpPr>
        <p:spPr>
          <a:noFill/>
        </p:spPr>
        <p:txBody>
          <a:bodyPr/>
          <a:lstStyle/>
          <a:p>
            <a:endParaRPr lang="zh-CN" altLang="en-US" smtClean="0">
              <a:latin typeface="Arial" charset="0"/>
            </a:endParaRPr>
          </a:p>
        </p:txBody>
      </p:sp>
      <p:sp>
        <p:nvSpPr>
          <p:cNvPr id="3072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224F151-1B0A-4C1F-BD31-C7B1ECF434FB}" type="slidenum">
              <a:rPr lang="en-US" altLang="zh-CN" smtClean="0"/>
              <a:pPr eaLnBrk="1" hangingPunct="1"/>
              <a:t>18</a:t>
            </a:fld>
            <a:endParaRPr lang="en-US"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p:spPr>
        <p:txBody>
          <a:bodyPr/>
          <a:lstStyle/>
          <a:p>
            <a:endParaRPr lang="zh-CN" altLang="en-US" smtClean="0">
              <a:latin typeface="Arial" charset="0"/>
            </a:endParaRPr>
          </a:p>
        </p:txBody>
      </p:sp>
      <p:sp>
        <p:nvSpPr>
          <p:cNvPr id="3174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B2ADB7-DBB4-4AE0-91D5-B3A5025944A3}" type="slidenum">
              <a:rPr lang="en-US" altLang="zh-CN" smtClean="0"/>
              <a:pPr eaLnBrk="1" hangingPunct="1"/>
              <a:t>19</a:t>
            </a:fld>
            <a:endParaRPr lang="en-US" altLang="zh-CN"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p:cNvSpPr>
            <a:spLocks noGrp="1" noRot="1" noChangeAspect="1" noTextEdit="1"/>
          </p:cNvSpPr>
          <p:nvPr>
            <p:ph type="sldImg"/>
          </p:nvPr>
        </p:nvSpPr>
        <p:spPr>
          <a:ln/>
        </p:spPr>
      </p:sp>
      <p:sp>
        <p:nvSpPr>
          <p:cNvPr id="31747" name="备注占位符 2"/>
          <p:cNvSpPr>
            <a:spLocks noGrp="1"/>
          </p:cNvSpPr>
          <p:nvPr>
            <p:ph type="body" idx="1"/>
          </p:nvPr>
        </p:nvSpPr>
        <p:spPr>
          <a:noFill/>
        </p:spPr>
        <p:txBody>
          <a:bodyPr/>
          <a:lstStyle/>
          <a:p>
            <a:endParaRPr lang="zh-CN" altLang="en-US" smtClean="0">
              <a:latin typeface="Arial" charset="0"/>
            </a:endParaRPr>
          </a:p>
        </p:txBody>
      </p:sp>
      <p:sp>
        <p:nvSpPr>
          <p:cNvPr id="31748"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FB2ADB7-DBB4-4AE0-91D5-B3A5025944A3}" type="slidenum">
              <a:rPr lang="en-US" altLang="zh-CN" smtClean="0"/>
              <a:pPr eaLnBrk="1" hangingPunct="1"/>
              <a:t>20</a:t>
            </a:fld>
            <a:endParaRPr lang="en-US" altLang="zh-CN"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ln/>
        </p:spPr>
      </p:sp>
      <p:sp>
        <p:nvSpPr>
          <p:cNvPr id="32771" name="备注占位符 2"/>
          <p:cNvSpPr>
            <a:spLocks noGrp="1"/>
          </p:cNvSpPr>
          <p:nvPr>
            <p:ph type="body" idx="1"/>
          </p:nvPr>
        </p:nvSpPr>
        <p:spPr>
          <a:noFill/>
        </p:spPr>
        <p:txBody>
          <a:bodyPr/>
          <a:lstStyle/>
          <a:p>
            <a:endParaRPr lang="zh-CN" altLang="en-US" smtClean="0">
              <a:latin typeface="Arial" charset="0"/>
            </a:endParaRPr>
          </a:p>
        </p:txBody>
      </p:sp>
      <p:sp>
        <p:nvSpPr>
          <p:cNvPr id="32772"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5B6FE60-FEFE-48E1-9713-E1F6CDF3C6E6}" type="slidenum">
              <a:rPr lang="en-US" altLang="zh-CN" smtClean="0"/>
              <a:pPr eaLnBrk="1" hangingPunct="1"/>
              <a:t>21</a:t>
            </a:fld>
            <a:endParaRPr lang="en-US" altLang="zh-CN"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22</a:t>
            </a:fld>
            <a:endParaRPr lang="en-US"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dirty="0"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23</a:t>
            </a:fld>
            <a:endParaRPr lang="en-US"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dirty="0"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24</a:t>
            </a:fld>
            <a:endParaRPr lang="en-US"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25</a:t>
            </a:fld>
            <a:endParaRPr lang="en-US"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a:ln/>
        </p:spPr>
      </p:sp>
      <p:sp>
        <p:nvSpPr>
          <p:cNvPr id="33795" name="备注占位符 2"/>
          <p:cNvSpPr>
            <a:spLocks noGrp="1"/>
          </p:cNvSpPr>
          <p:nvPr>
            <p:ph type="body" idx="1"/>
          </p:nvPr>
        </p:nvSpPr>
        <p:spPr>
          <a:noFill/>
        </p:spPr>
        <p:txBody>
          <a:bodyPr/>
          <a:lstStyle/>
          <a:p>
            <a:endParaRPr lang="zh-CN" altLang="en-US" smtClean="0">
              <a:latin typeface="Arial" charset="0"/>
            </a:endParaRPr>
          </a:p>
        </p:txBody>
      </p:sp>
      <p:sp>
        <p:nvSpPr>
          <p:cNvPr id="33796"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64BCAB-40E3-4B21-8EBF-922CB59F3ADC}" type="slidenum">
              <a:rPr lang="en-US" altLang="zh-CN" smtClean="0"/>
              <a:pPr eaLnBrk="1" hangingPunct="1"/>
              <a:t>26</a:t>
            </a:fld>
            <a:endParaRPr lang="en-US"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p:spPr>
        <p:txBody>
          <a:bodyPr/>
          <a:lstStyle/>
          <a:p>
            <a:endParaRPr lang="zh-CN" altLang="en-US" smtClean="0">
              <a:latin typeface="Arial" charset="0"/>
            </a:endParaRPr>
          </a:p>
        </p:txBody>
      </p:sp>
      <p:sp>
        <p:nvSpPr>
          <p:cNvPr id="3482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ACC060-8B08-44FA-BE5C-631BD23791C9}" type="slidenum">
              <a:rPr lang="en-US" altLang="zh-CN" smtClean="0"/>
              <a:pPr eaLnBrk="1" hangingPunct="1"/>
              <a:t>27</a:t>
            </a:fld>
            <a:endParaRPr lang="en-US"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a:ln/>
        </p:spPr>
      </p:sp>
      <p:sp>
        <p:nvSpPr>
          <p:cNvPr id="34819" name="备注占位符 2"/>
          <p:cNvSpPr>
            <a:spLocks noGrp="1"/>
          </p:cNvSpPr>
          <p:nvPr>
            <p:ph type="body" idx="1"/>
          </p:nvPr>
        </p:nvSpPr>
        <p:spPr>
          <a:noFill/>
        </p:spPr>
        <p:txBody>
          <a:bodyPr/>
          <a:lstStyle/>
          <a:p>
            <a:endParaRPr lang="zh-CN" altLang="en-US" smtClean="0">
              <a:latin typeface="Arial" charset="0"/>
            </a:endParaRPr>
          </a:p>
        </p:txBody>
      </p:sp>
      <p:sp>
        <p:nvSpPr>
          <p:cNvPr id="34820"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FACC060-8B08-44FA-BE5C-631BD23791C9}" type="slidenum">
              <a:rPr lang="en-US" altLang="zh-CN" smtClean="0"/>
              <a:pPr eaLnBrk="1" hangingPunct="1"/>
              <a:t>28</a:t>
            </a:fld>
            <a:endParaRPr lang="en-US"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a:ln/>
        </p:spPr>
      </p:sp>
      <p:sp>
        <p:nvSpPr>
          <p:cNvPr id="35843" name="备注占位符 2"/>
          <p:cNvSpPr>
            <a:spLocks noGrp="1"/>
          </p:cNvSpPr>
          <p:nvPr>
            <p:ph type="body" idx="1"/>
          </p:nvPr>
        </p:nvSpPr>
        <p:spPr>
          <a:noFill/>
        </p:spPr>
        <p:txBody>
          <a:bodyPr/>
          <a:lstStyle/>
          <a:p>
            <a:endParaRPr lang="zh-CN" altLang="en-US" smtClean="0">
              <a:latin typeface="Arial" charset="0"/>
            </a:endParaRPr>
          </a:p>
        </p:txBody>
      </p:sp>
      <p:sp>
        <p:nvSpPr>
          <p:cNvPr id="35844" name="灯片编号占位符 3"/>
          <p:cNvSpPr>
            <a:spLocks noGrp="1"/>
          </p:cNvSpPr>
          <p:nvPr>
            <p:ph type="sldNum" sz="quarter" idx="5"/>
          </p:nvPr>
        </p:nvSpPr>
        <p:spPr>
          <a:noFill/>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7409F91-343E-4242-B7E9-4ECE73162BEE}" type="slidenum">
              <a:rPr lang="en-US" altLang="zh-CN" smtClean="0"/>
              <a:pPr eaLnBrk="1" hangingPunct="1"/>
              <a:t>29</a:t>
            </a:fld>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3" name="矩形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矩形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矩形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矩形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矩形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圆角矩形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圆角矩形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矩形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矩形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矩形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标题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zh-CN" altLang="en-US" smtClean="0"/>
              <a:t>单击此处编辑母版标题样式</a:t>
            </a:r>
            <a:endParaRPr kumimoji="0" lang="en-US"/>
          </a:p>
        </p:txBody>
      </p:sp>
      <p:sp>
        <p:nvSpPr>
          <p:cNvPr id="9" name="副标题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
        <p:nvSpPr>
          <p:cNvPr id="28" name="日期占位符 27"/>
          <p:cNvSpPr>
            <a:spLocks noGrp="1"/>
          </p:cNvSpPr>
          <p:nvPr>
            <p:ph type="dt" sz="half" idx="10"/>
          </p:nvPr>
        </p:nvSpPr>
        <p:spPr>
          <a:xfrm>
            <a:off x="6705600" y="4206240"/>
            <a:ext cx="960120" cy="457200"/>
          </a:xfrm>
        </p:spPr>
        <p:txBody>
          <a:bodyPr/>
          <a:lstStyle/>
          <a:p>
            <a:pPr>
              <a:defRPr/>
            </a:pPr>
            <a:endParaRPr lang="en-US" altLang="zh-CN"/>
          </a:p>
        </p:txBody>
      </p:sp>
      <p:sp>
        <p:nvSpPr>
          <p:cNvPr id="17" name="页脚占位符 16"/>
          <p:cNvSpPr>
            <a:spLocks noGrp="1"/>
          </p:cNvSpPr>
          <p:nvPr>
            <p:ph type="ftr" sz="quarter" idx="11"/>
          </p:nvPr>
        </p:nvSpPr>
        <p:spPr>
          <a:xfrm>
            <a:off x="5410200" y="4205288"/>
            <a:ext cx="1295400" cy="457200"/>
          </a:xfrm>
        </p:spPr>
        <p:txBody>
          <a:bodyPr/>
          <a:lstStyle/>
          <a:p>
            <a:pPr>
              <a:defRPr/>
            </a:pPr>
            <a:endParaRPr lang="en-US" altLang="zh-CN"/>
          </a:p>
        </p:txBody>
      </p:sp>
      <p:sp>
        <p:nvSpPr>
          <p:cNvPr id="29" name="灯片编号占位符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pPr>
              <a:defRPr/>
            </a:pPr>
            <a:fld id="{38CEA2F5-3F51-4CB5-BD13-83EF1ED4B699}" type="slidenum">
              <a:rPr lang="en-US" altLang="zh-CN" smtClean="0"/>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B4407B98-E4F3-4CAD-B80C-0E6533DA1473}" type="slidenum">
              <a:rPr lang="en-US" altLang="zh-CN" smtClean="0"/>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E19F49C8-7FC9-4DF1-9BB6-C25117D9DB0D}" type="slidenum">
              <a:rPr lang="en-US" altLang="zh-CN"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7D10F125-92D3-463B-AB05-3C9FD1892A74}" type="slidenum">
              <a:rPr lang="en-US" altLang="zh-CN"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381000" y="1143000"/>
            <a:ext cx="8382000" cy="1069848"/>
          </a:xfrm>
        </p:spPr>
        <p:txBody>
          <a:bodyPr anchor="ctr"/>
          <a:lstStyle>
            <a:lvl1pPr>
              <a:defRPr sz="4000" b="0" i="0" cap="none" baseline="0"/>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26" name="日期占位符 25"/>
          <p:cNvSpPr>
            <a:spLocks noGrp="1"/>
          </p:cNvSpPr>
          <p:nvPr>
            <p:ph type="dt" sz="half" idx="10"/>
          </p:nvPr>
        </p:nvSpPr>
        <p:spPr/>
        <p:txBody>
          <a:bodyPr rtlCol="0"/>
          <a:lstStyle/>
          <a:p>
            <a:pPr>
              <a:defRPr/>
            </a:pPr>
            <a:endParaRPr lang="en-US" altLang="zh-CN"/>
          </a:p>
        </p:txBody>
      </p:sp>
      <p:sp>
        <p:nvSpPr>
          <p:cNvPr id="27" name="灯片编号占位符 26"/>
          <p:cNvSpPr>
            <a:spLocks noGrp="1"/>
          </p:cNvSpPr>
          <p:nvPr>
            <p:ph type="sldNum" sz="quarter" idx="11"/>
          </p:nvPr>
        </p:nvSpPr>
        <p:spPr/>
        <p:txBody>
          <a:bodyPr rtlCol="0"/>
          <a:lstStyle/>
          <a:p>
            <a:pPr>
              <a:defRPr/>
            </a:pPr>
            <a:fld id="{54FDF2C2-94D8-4CAC-9043-73F2D9445148}" type="slidenum">
              <a:rPr lang="en-US" altLang="zh-CN" smtClean="0"/>
              <a:pPr>
                <a:defRPr/>
              </a:pPr>
              <a:t>‹#›</a:t>
            </a:fld>
            <a:endParaRPr lang="en-US" altLang="zh-CN"/>
          </a:p>
        </p:txBody>
      </p:sp>
      <p:sp>
        <p:nvSpPr>
          <p:cNvPr id="28" name="页脚占位符 27"/>
          <p:cNvSpPr>
            <a:spLocks noGrp="1"/>
          </p:cNvSpPr>
          <p:nvPr>
            <p:ph type="ftr" sz="quarter" idx="12"/>
          </p:nvPr>
        </p:nvSpPr>
        <p:spPr/>
        <p:txBody>
          <a:bodyPr rtlCol="0"/>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a:xfrm>
            <a:off x="6583680" y="612648"/>
            <a:ext cx="957264" cy="457200"/>
          </a:xfrm>
        </p:spPr>
        <p:txBody>
          <a:bodyPr/>
          <a:lstStyle/>
          <a:p>
            <a:pPr>
              <a:defRPr/>
            </a:pPr>
            <a:endParaRPr lang="en-US" altLang="zh-CN"/>
          </a:p>
        </p:txBody>
      </p:sp>
      <p:sp>
        <p:nvSpPr>
          <p:cNvPr id="4" name="页脚占位符 3"/>
          <p:cNvSpPr>
            <a:spLocks noGrp="1"/>
          </p:cNvSpPr>
          <p:nvPr>
            <p:ph type="ftr" sz="quarter" idx="11"/>
          </p:nvPr>
        </p:nvSpPr>
        <p:spPr>
          <a:xfrm>
            <a:off x="5257800" y="612648"/>
            <a:ext cx="1325880" cy="457200"/>
          </a:xfrm>
        </p:spPr>
        <p:txBody>
          <a:bodyPr/>
          <a:lstStyle/>
          <a:p>
            <a:pPr>
              <a:defRPr/>
            </a:pPr>
            <a:endParaRPr lang="en-US" altLang="zh-CN"/>
          </a:p>
        </p:txBody>
      </p:sp>
      <p:sp>
        <p:nvSpPr>
          <p:cNvPr id="5" name="灯片编号占位符 4"/>
          <p:cNvSpPr>
            <a:spLocks noGrp="1"/>
          </p:cNvSpPr>
          <p:nvPr>
            <p:ph type="sldNum" sz="quarter" idx="12"/>
          </p:nvPr>
        </p:nvSpPr>
        <p:spPr>
          <a:xfrm>
            <a:off x="8174736" y="2272"/>
            <a:ext cx="762000" cy="365760"/>
          </a:xfrm>
        </p:spPr>
        <p:txBody>
          <a:bodyPr/>
          <a:lstStyle/>
          <a:p>
            <a:pPr>
              <a:defRPr/>
            </a:pPr>
            <a:fld id="{BA8A1850-01F7-4986-99A3-BFDBA1B2F283}" type="slidenum">
              <a:rPr lang="en-US" altLang="zh-CN"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endParaRPr lang="en-US" altLang="zh-CN"/>
          </a:p>
        </p:txBody>
      </p:sp>
      <p:sp>
        <p:nvSpPr>
          <p:cNvPr id="3" name="页脚占位符 2"/>
          <p:cNvSpPr>
            <a:spLocks noGrp="1"/>
          </p:cNvSpPr>
          <p:nvPr>
            <p:ph type="ftr" sz="quarter" idx="11"/>
          </p:nvPr>
        </p:nvSpPr>
        <p:spPr/>
        <p:txBody>
          <a:bodyPr/>
          <a:lstStyle/>
          <a:p>
            <a:pPr>
              <a:defRPr/>
            </a:pPr>
            <a:endParaRPr lang="en-US" altLang="zh-CN"/>
          </a:p>
        </p:txBody>
      </p:sp>
      <p:sp>
        <p:nvSpPr>
          <p:cNvPr id="4" name="灯片编号占位符 3"/>
          <p:cNvSpPr>
            <a:spLocks noGrp="1"/>
          </p:cNvSpPr>
          <p:nvPr>
            <p:ph type="sldNum" sz="quarter" idx="12"/>
          </p:nvPr>
        </p:nvSpPr>
        <p:spPr/>
        <p:txBody>
          <a:bodyPr/>
          <a:lstStyle/>
          <a:p>
            <a:pPr>
              <a:defRPr/>
            </a:pPr>
            <a:fld id="{29BBF012-5467-4D4B-8DA1-DE53E4A56773}" type="slidenum">
              <a:rPr lang="en-US" altLang="zh-CN"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353496" y="1101970"/>
            <a:ext cx="3383280" cy="877824"/>
          </a:xfrm>
        </p:spPr>
        <p:txBody>
          <a:bodyPr anchor="b"/>
          <a:lstStyle>
            <a:lvl1pPr algn="l">
              <a:buNone/>
              <a:defRPr sz="1800" b="1"/>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EFCB96A9-B9A5-4691-83A7-6BA6EFA197FF}" type="slidenum">
              <a:rPr lang="en-US" altLang="zh-CN"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zh-CN" altLang="en-US" smtClean="0"/>
              <a:t>单击图标添加图片</a:t>
            </a:r>
            <a:endParaRPr kumimoji="0" lang="en-US" dirty="0"/>
          </a:p>
        </p:txBody>
      </p:sp>
      <p:sp>
        <p:nvSpPr>
          <p:cNvPr id="4" name="文本占位符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pPr>
              <a:defRPr/>
            </a:pPr>
            <a:endParaRPr lang="en-US" altLang="zh-CN"/>
          </a:p>
        </p:txBody>
      </p:sp>
      <p:sp>
        <p:nvSpPr>
          <p:cNvPr id="6" name="页脚占位符 5"/>
          <p:cNvSpPr>
            <a:spLocks noGrp="1"/>
          </p:cNvSpPr>
          <p:nvPr>
            <p:ph type="ftr" sz="quarter" idx="11"/>
          </p:nvPr>
        </p:nvSpPr>
        <p:spPr/>
        <p:txBody>
          <a:bodyPr/>
          <a:lstStyle/>
          <a:p>
            <a:pPr>
              <a:defRPr/>
            </a:pPr>
            <a:endParaRPr lang="en-US" altLang="zh-CN"/>
          </a:p>
        </p:txBody>
      </p:sp>
      <p:sp>
        <p:nvSpPr>
          <p:cNvPr id="7" name="灯片编号占位符 6"/>
          <p:cNvSpPr>
            <a:spLocks noGrp="1"/>
          </p:cNvSpPr>
          <p:nvPr>
            <p:ph type="sldNum" sz="quarter" idx="12"/>
          </p:nvPr>
        </p:nvSpPr>
        <p:spPr/>
        <p:txBody>
          <a:bodyPr/>
          <a:lstStyle/>
          <a:p>
            <a:pPr>
              <a:defRPr/>
            </a:pPr>
            <a:fld id="{70B703E3-C345-437D-B521-EA1CFE3F631E}" type="slidenum">
              <a:rPr lang="en-US" altLang="zh-CN"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B2E7E3C5-B260-4C2A-B10E-7CD93D25E59E}" type="slidenum">
              <a:rPr lang="en-US" altLang="zh-CN"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81800" y="1143000"/>
            <a:ext cx="1905000" cy="5486400"/>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1143000"/>
            <a:ext cx="6248400" cy="5486400"/>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pPr>
              <a:defRPr/>
            </a:pPr>
            <a:endParaRPr lang="en-US" altLang="zh-CN"/>
          </a:p>
        </p:txBody>
      </p:sp>
      <p:sp>
        <p:nvSpPr>
          <p:cNvPr id="5" name="页脚占位符 4"/>
          <p:cNvSpPr>
            <a:spLocks noGrp="1"/>
          </p:cNvSpPr>
          <p:nvPr>
            <p:ph type="ftr" sz="quarter" idx="11"/>
          </p:nvPr>
        </p:nvSpPr>
        <p:spPr/>
        <p:txBody>
          <a:bodyPr/>
          <a:lstStyle/>
          <a:p>
            <a:pPr>
              <a:defRPr/>
            </a:pPr>
            <a:endParaRPr lang="en-US" altLang="zh-CN"/>
          </a:p>
        </p:txBody>
      </p:sp>
      <p:sp>
        <p:nvSpPr>
          <p:cNvPr id="6" name="灯片编号占位符 5"/>
          <p:cNvSpPr>
            <a:spLocks noGrp="1"/>
          </p:cNvSpPr>
          <p:nvPr>
            <p:ph type="sldNum" sz="quarter" idx="12"/>
          </p:nvPr>
        </p:nvSpPr>
        <p:spPr/>
        <p:txBody>
          <a:bodyPr/>
          <a:lstStyle/>
          <a:p>
            <a:pPr>
              <a:defRPr/>
            </a:pPr>
            <a:fld id="{FC913AE2-5D26-448A-A841-108CEECABF32}" type="slidenum">
              <a:rPr lang="en-US" altLang="zh-CN" smtClean="0"/>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矩形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矩形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矩形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矩形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圆角矩形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圆角矩形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矩形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矩形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矩形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矩形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矩形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矩形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标题占位符 21"/>
          <p:cNvSpPr>
            <a:spLocks noGrp="1"/>
          </p:cNvSpPr>
          <p:nvPr>
            <p:ph type="title"/>
          </p:nvPr>
        </p:nvSpPr>
        <p:spPr>
          <a:xfrm>
            <a:off x="457200" y="1143000"/>
            <a:ext cx="8229600" cy="1066800"/>
          </a:xfrm>
          <a:prstGeom prst="rect">
            <a:avLst/>
          </a:prstGeom>
        </p:spPr>
        <p:txBody>
          <a:bodyPr vert="horz" anchor="ctr">
            <a:normAutofit/>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pPr>
              <a:defRPr/>
            </a:pPr>
            <a:endParaRPr lang="en-US" altLang="zh-CN"/>
          </a:p>
        </p:txBody>
      </p:sp>
      <p:sp>
        <p:nvSpPr>
          <p:cNvPr id="3" name="页脚占位符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pPr>
              <a:defRPr/>
            </a:pPr>
            <a:endParaRPr lang="en-US" altLang="zh-CN"/>
          </a:p>
        </p:txBody>
      </p:sp>
      <p:sp>
        <p:nvSpPr>
          <p:cNvPr id="23" name="灯片编号占位符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pPr>
              <a:defRPr/>
            </a:pPr>
            <a:fld id="{5E06582A-4862-437B-AC14-D28D4C9CD877}" type="slidenum">
              <a:rPr lang="en-US" altLang="zh-CN"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ctrTitle"/>
          </p:nvPr>
        </p:nvSpPr>
        <p:spPr>
          <a:xfrm>
            <a:off x="3995738" y="1341438"/>
            <a:ext cx="4786312" cy="1981200"/>
          </a:xfrm>
        </p:spPr>
        <p:txBody>
          <a:bodyPr/>
          <a:lstStyle/>
          <a:p>
            <a:pPr eaLnBrk="1" hangingPunct="1"/>
            <a:r>
              <a:rPr lang="zh-CN" altLang="en-US" dirty="0" smtClean="0"/>
              <a:t>模拟退火算法及其</a:t>
            </a:r>
            <a:r>
              <a:rPr lang="en-US" altLang="zh-CN" dirty="0" smtClean="0"/>
              <a:t>MATLAB</a:t>
            </a:r>
            <a:r>
              <a:rPr lang="zh-CN" altLang="en-US" dirty="0" smtClean="0"/>
              <a:t>实现</a:t>
            </a:r>
          </a:p>
        </p:txBody>
      </p:sp>
      <p:sp>
        <p:nvSpPr>
          <p:cNvPr id="2" name="TextBox 1"/>
          <p:cNvSpPr txBox="1"/>
          <p:nvPr/>
        </p:nvSpPr>
        <p:spPr>
          <a:xfrm>
            <a:off x="2339752" y="4653136"/>
            <a:ext cx="1107996" cy="369332"/>
          </a:xfrm>
          <a:prstGeom prst="rect">
            <a:avLst/>
          </a:prstGeom>
          <a:noFill/>
        </p:spPr>
        <p:txBody>
          <a:bodyPr wrap="none" rtlCol="0">
            <a:spAutoFit/>
          </a:bodyPr>
          <a:lstStyle/>
          <a:p>
            <a:r>
              <a:rPr lang="zh-CN" altLang="en-US" dirty="0" smtClean="0"/>
              <a:t>模拟退火</a:t>
            </a:r>
            <a:endParaRPr lang="zh-CN" alt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Rot="1" noChangeArrowheads="1"/>
          </p:cNvSpPr>
          <p:nvPr>
            <p:ph type="title"/>
          </p:nvPr>
        </p:nvSpPr>
        <p:spPr>
          <a:xfrm>
            <a:off x="755650" y="476250"/>
            <a:ext cx="7772400" cy="1143000"/>
          </a:xfrm>
          <a:solidFill>
            <a:srgbClr val="CCECFF"/>
          </a:solidFill>
          <a:effectLst>
            <a:outerShdw dist="107763" dir="2700000" algn="ctr" rotWithShape="0">
              <a:schemeClr val="bg2"/>
            </a:outerShdw>
          </a:effectLst>
        </p:spPr>
        <p:txBody>
          <a:bodyPr/>
          <a:lstStyle/>
          <a:p>
            <a:pPr eaLnBrk="1" hangingPunct="1"/>
            <a:r>
              <a:rPr lang="zh-CN" altLang="en-US" sz="3600" b="1" smtClean="0">
                <a:latin typeface="黑体" pitchFamily="49" charset="-122"/>
                <a:ea typeface="黑体" pitchFamily="49" charset="-122"/>
              </a:rPr>
              <a:t>第</a:t>
            </a:r>
            <a:r>
              <a:rPr lang="en-US" altLang="zh-CN" sz="3600" b="1" smtClean="0">
                <a:latin typeface="黑体" pitchFamily="49" charset="-122"/>
                <a:ea typeface="黑体" pitchFamily="49" charset="-122"/>
              </a:rPr>
              <a:t>6</a:t>
            </a:r>
            <a:r>
              <a:rPr lang="zh-CN" altLang="en-US" sz="3600" b="1" smtClean="0">
                <a:latin typeface="黑体" pitchFamily="49" charset="-122"/>
                <a:ea typeface="黑体" pitchFamily="49" charset="-122"/>
              </a:rPr>
              <a:t>章  模拟退火算法及其</a:t>
            </a:r>
            <a:r>
              <a:rPr lang="en-US" altLang="zh-CN" sz="3600" b="1" smtClean="0">
                <a:latin typeface="黑体" pitchFamily="49" charset="-122"/>
                <a:ea typeface="黑体" pitchFamily="49" charset="-122"/>
              </a:rPr>
              <a:t>MATLAB</a:t>
            </a:r>
            <a:r>
              <a:rPr lang="zh-CN" altLang="en-US" sz="3600" b="1" smtClean="0">
                <a:latin typeface="黑体" pitchFamily="49" charset="-122"/>
                <a:ea typeface="黑体" pitchFamily="49" charset="-122"/>
              </a:rPr>
              <a:t>实现</a:t>
            </a:r>
          </a:p>
        </p:txBody>
      </p:sp>
      <p:sp>
        <p:nvSpPr>
          <p:cNvPr id="4099" name="TextBox 5"/>
          <p:cNvSpPr txBox="1">
            <a:spLocks noChangeArrowheads="1"/>
          </p:cNvSpPr>
          <p:nvPr/>
        </p:nvSpPr>
        <p:spPr bwMode="auto">
          <a:xfrm>
            <a:off x="1379538" y="2097088"/>
            <a:ext cx="3722687"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6.1 </a:t>
            </a:r>
            <a:r>
              <a:rPr lang="zh-CN" altLang="en-US" sz="3600"/>
              <a:t>算法基本理论</a:t>
            </a:r>
          </a:p>
        </p:txBody>
      </p:sp>
      <p:sp>
        <p:nvSpPr>
          <p:cNvPr id="4100" name="TextBox 6"/>
          <p:cNvSpPr txBox="1">
            <a:spLocks noChangeArrowheads="1"/>
          </p:cNvSpPr>
          <p:nvPr/>
        </p:nvSpPr>
        <p:spPr bwMode="auto">
          <a:xfrm>
            <a:off x="1376363" y="2901950"/>
            <a:ext cx="52022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6.2 </a:t>
            </a:r>
            <a:r>
              <a:rPr lang="zh-CN" altLang="en-US" sz="3600"/>
              <a:t>算法的</a:t>
            </a:r>
            <a:r>
              <a:rPr lang="en-US" altLang="zh-CN" sz="3600"/>
              <a:t>MATLAB</a:t>
            </a:r>
            <a:r>
              <a:rPr lang="zh-CN" altLang="en-US" sz="3600"/>
              <a:t>实现</a:t>
            </a:r>
          </a:p>
        </p:txBody>
      </p:sp>
      <p:sp>
        <p:nvSpPr>
          <p:cNvPr id="4101" name="TextBox 7"/>
          <p:cNvSpPr txBox="1">
            <a:spLocks noChangeArrowheads="1"/>
          </p:cNvSpPr>
          <p:nvPr/>
        </p:nvSpPr>
        <p:spPr bwMode="auto">
          <a:xfrm>
            <a:off x="1379538" y="3798888"/>
            <a:ext cx="28003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3600"/>
              <a:t>6.3 </a:t>
            </a:r>
            <a:r>
              <a:rPr lang="zh-CN" altLang="en-US" sz="3600"/>
              <a:t>应用实例</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2636838" y="349250"/>
            <a:ext cx="42894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lgn="ctr" eaLnBrk="1" hangingPunct="1">
              <a:spcBef>
                <a:spcPct val="0"/>
              </a:spcBef>
              <a:buClrTx/>
              <a:buSzTx/>
              <a:buFontTx/>
              <a:buNone/>
            </a:pPr>
            <a:r>
              <a:rPr kumimoji="1" lang="zh-CN" altLang="en-US" b="1">
                <a:solidFill>
                  <a:srgbClr val="000000"/>
                </a:solidFill>
                <a:latin typeface="华文新魏" pitchFamily="2" charset="-122"/>
                <a:ea typeface="华文新魏" pitchFamily="2" charset="-122"/>
                <a:hlinkClick r:id="rId2" action="ppaction://hlinksldjump"/>
              </a:rPr>
              <a:t>简单了解退火算法特点</a:t>
            </a:r>
            <a:endParaRPr kumimoji="1" lang="en-US" altLang="zh-CN" b="1">
              <a:solidFill>
                <a:srgbClr val="000000"/>
              </a:solidFill>
              <a:latin typeface="华文新魏" pitchFamily="2" charset="-122"/>
              <a:ea typeface="华文新魏" pitchFamily="2" charset="-122"/>
            </a:endParaRPr>
          </a:p>
        </p:txBody>
      </p:sp>
      <p:pic>
        <p:nvPicPr>
          <p:cNvPr id="51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513" y="3213100"/>
            <a:ext cx="5572125" cy="229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124" name="TextBox 1"/>
          <p:cNvSpPr txBox="1">
            <a:spLocks noChangeArrowheads="1"/>
          </p:cNvSpPr>
          <p:nvPr/>
        </p:nvSpPr>
        <p:spPr bwMode="auto">
          <a:xfrm>
            <a:off x="323850" y="1389063"/>
            <a:ext cx="7942263"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a:t>        介绍模拟退火前，先介绍爬山算法。</a:t>
            </a:r>
            <a:endParaRPr lang="en-US" altLang="zh-CN" sz="2400" dirty="0"/>
          </a:p>
          <a:p>
            <a:pPr eaLnBrk="1" hangingPunct="1">
              <a:spcBef>
                <a:spcPct val="0"/>
              </a:spcBef>
              <a:buClrTx/>
              <a:buSzTx/>
              <a:buFontTx/>
              <a:buNone/>
            </a:pPr>
            <a:r>
              <a:rPr lang="en-US" altLang="zh-CN" sz="2400" dirty="0"/>
              <a:t>        </a:t>
            </a:r>
            <a:r>
              <a:rPr lang="zh-CN" altLang="en-US" sz="2400" dirty="0"/>
              <a:t>爬山算法是一种简单的贪心搜索算法，该算法每次从</a:t>
            </a:r>
            <a:endParaRPr lang="en-US" altLang="zh-CN" sz="2400" dirty="0"/>
          </a:p>
          <a:p>
            <a:pPr eaLnBrk="1" hangingPunct="1">
              <a:spcBef>
                <a:spcPct val="0"/>
              </a:spcBef>
              <a:buClrTx/>
              <a:buSzTx/>
              <a:buFontTx/>
              <a:buNone/>
            </a:pPr>
            <a:r>
              <a:rPr lang="zh-CN" altLang="en-US" sz="2400" dirty="0"/>
              <a:t>当前解的临近解空间中选择一个最优解作为当前解，直到</a:t>
            </a:r>
            <a:endParaRPr lang="en-US" altLang="zh-CN" sz="2400" dirty="0"/>
          </a:p>
          <a:p>
            <a:pPr eaLnBrk="1" hangingPunct="1">
              <a:spcBef>
                <a:spcPct val="0"/>
              </a:spcBef>
              <a:buClrTx/>
              <a:buSzTx/>
              <a:buFontTx/>
              <a:buNone/>
            </a:pPr>
            <a:r>
              <a:rPr lang="zh-CN" altLang="en-US" sz="2400" dirty="0"/>
              <a:t>达到一个局部最优解。</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ChangeArrowheads="1"/>
          </p:cNvSpPr>
          <p:nvPr/>
        </p:nvSpPr>
        <p:spPr bwMode="auto">
          <a:xfrm>
            <a:off x="2636838" y="349250"/>
            <a:ext cx="4289425"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algn="ctr" eaLnBrk="1" hangingPunct="1">
              <a:spcBef>
                <a:spcPct val="0"/>
              </a:spcBef>
              <a:buClrTx/>
              <a:buSzTx/>
              <a:buFontTx/>
              <a:buNone/>
            </a:pPr>
            <a:r>
              <a:rPr kumimoji="1" lang="zh-CN" altLang="en-US" b="1">
                <a:solidFill>
                  <a:srgbClr val="000000"/>
                </a:solidFill>
                <a:latin typeface="华文新魏" pitchFamily="2" charset="-122"/>
                <a:ea typeface="华文新魏" pitchFamily="2" charset="-122"/>
                <a:hlinkClick r:id="rId2" action="ppaction://hlinksldjump"/>
              </a:rPr>
              <a:t>简单了解退火算法特点</a:t>
            </a:r>
            <a:endParaRPr kumimoji="1" lang="en-US" altLang="zh-CN" b="1">
              <a:solidFill>
                <a:srgbClr val="000000"/>
              </a:solidFill>
              <a:latin typeface="华文新魏" pitchFamily="2" charset="-122"/>
              <a:ea typeface="华文新魏" pitchFamily="2" charset="-122"/>
            </a:endParaRPr>
          </a:p>
        </p:txBody>
      </p:sp>
      <p:pic>
        <p:nvPicPr>
          <p:cNvPr id="614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838" y="2705100"/>
            <a:ext cx="5067300" cy="2089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148" name="TextBox 1"/>
          <p:cNvSpPr txBox="1">
            <a:spLocks noChangeArrowheads="1"/>
          </p:cNvSpPr>
          <p:nvPr/>
        </p:nvSpPr>
        <p:spPr bwMode="auto">
          <a:xfrm>
            <a:off x="850900" y="1125538"/>
            <a:ext cx="7105650"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dirty="0" smtClean="0"/>
              <a:t>爬山算法</a:t>
            </a:r>
            <a:endParaRPr lang="en-US" altLang="zh-CN" sz="2400" dirty="0" smtClean="0"/>
          </a:p>
          <a:p>
            <a:pPr eaLnBrk="1" hangingPunct="1">
              <a:spcBef>
                <a:spcPct val="0"/>
              </a:spcBef>
              <a:buClrTx/>
              <a:buSzTx/>
              <a:buFontTx/>
              <a:buNone/>
            </a:pPr>
            <a:r>
              <a:rPr lang="zh-CN" altLang="en-US" sz="2400" dirty="0" smtClean="0"/>
              <a:t>        如图所示：假设</a:t>
            </a:r>
            <a:r>
              <a:rPr lang="en-US" altLang="zh-CN" sz="2400" dirty="0" smtClean="0"/>
              <a:t>C</a:t>
            </a:r>
            <a:r>
              <a:rPr lang="zh-CN" altLang="en-US" sz="2400" dirty="0" smtClean="0"/>
              <a:t>点为当前解，爬山算法搜索</a:t>
            </a:r>
            <a:endParaRPr lang="en-US" altLang="zh-CN" sz="2400" dirty="0" smtClean="0"/>
          </a:p>
          <a:p>
            <a:pPr eaLnBrk="1" hangingPunct="1">
              <a:spcBef>
                <a:spcPct val="0"/>
              </a:spcBef>
              <a:buClrTx/>
              <a:buSzTx/>
              <a:buFontTx/>
              <a:buNone/>
            </a:pPr>
            <a:r>
              <a:rPr lang="zh-CN" altLang="en-US" sz="2400" dirty="0" smtClean="0"/>
              <a:t>到</a:t>
            </a:r>
            <a:r>
              <a:rPr lang="en-US" altLang="zh-CN" sz="2400" dirty="0" smtClean="0"/>
              <a:t>A</a:t>
            </a:r>
            <a:r>
              <a:rPr lang="zh-CN" altLang="en-US" sz="2400" dirty="0" smtClean="0"/>
              <a:t>点这个局部最优解就会停止搜索，因为在</a:t>
            </a:r>
            <a:r>
              <a:rPr lang="en-US" altLang="zh-CN" sz="2400" dirty="0" smtClean="0"/>
              <a:t>A</a:t>
            </a:r>
            <a:r>
              <a:rPr lang="zh-CN" altLang="en-US" sz="2400" dirty="0" smtClean="0"/>
              <a:t>点无</a:t>
            </a:r>
            <a:endParaRPr lang="en-US" altLang="zh-CN" sz="2400" dirty="0" smtClean="0"/>
          </a:p>
          <a:p>
            <a:pPr eaLnBrk="1" hangingPunct="1">
              <a:spcBef>
                <a:spcPct val="0"/>
              </a:spcBef>
              <a:buClrTx/>
              <a:buSzTx/>
              <a:buFontTx/>
              <a:buNone/>
            </a:pPr>
            <a:r>
              <a:rPr lang="zh-CN" altLang="en-US" sz="2400" dirty="0" smtClean="0"/>
              <a:t>论向那个方向小幅度移动都不能得到更优的解。</a:t>
            </a:r>
            <a:endParaRPr lang="zh-CN" altLang="en-US" sz="2400" dirty="0"/>
          </a:p>
        </p:txBody>
      </p:sp>
      <p:sp>
        <p:nvSpPr>
          <p:cNvPr id="6149" name="TextBox 2"/>
          <p:cNvSpPr txBox="1">
            <a:spLocks noChangeArrowheads="1"/>
          </p:cNvSpPr>
          <p:nvPr/>
        </p:nvSpPr>
        <p:spPr bwMode="auto">
          <a:xfrm>
            <a:off x="468313" y="4941888"/>
            <a:ext cx="7745412"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dirty="0"/>
              <a:t> </a:t>
            </a:r>
            <a:r>
              <a:rPr lang="zh-CN" altLang="en-US" sz="2400" dirty="0" smtClean="0"/>
              <a:t>模拟</a:t>
            </a:r>
            <a:r>
              <a:rPr lang="zh-CN" altLang="en-US" sz="2400" dirty="0"/>
              <a:t>退火算法</a:t>
            </a:r>
            <a:endParaRPr lang="en-US" altLang="zh-CN" sz="2400" dirty="0"/>
          </a:p>
          <a:p>
            <a:pPr eaLnBrk="1" hangingPunct="1">
              <a:spcBef>
                <a:spcPct val="0"/>
              </a:spcBef>
              <a:buClrTx/>
              <a:buSzTx/>
              <a:buFontTx/>
              <a:buNone/>
            </a:pPr>
            <a:r>
              <a:rPr lang="en-US" altLang="zh-CN" sz="2400" dirty="0"/>
              <a:t>       </a:t>
            </a:r>
            <a:r>
              <a:rPr lang="zh-CN" altLang="en-US" sz="2400" dirty="0"/>
              <a:t>在搜索到局部最优解</a:t>
            </a:r>
            <a:r>
              <a:rPr lang="en-US" altLang="zh-CN" sz="2400" dirty="0"/>
              <a:t>A</a:t>
            </a:r>
            <a:r>
              <a:rPr lang="zh-CN" altLang="en-US" sz="2400" dirty="0"/>
              <a:t>后，会以</a:t>
            </a:r>
            <a:r>
              <a:rPr lang="zh-CN" altLang="en-US" sz="2400" b="1" dirty="0">
                <a:solidFill>
                  <a:srgbClr val="FF0000"/>
                </a:solidFill>
              </a:rPr>
              <a:t>一定的概率</a:t>
            </a:r>
            <a:r>
              <a:rPr lang="zh-CN" altLang="en-US" sz="2400" dirty="0"/>
              <a:t>接受到</a:t>
            </a:r>
            <a:r>
              <a:rPr lang="en-US" altLang="zh-CN" sz="2400" dirty="0"/>
              <a:t>E</a:t>
            </a:r>
          </a:p>
          <a:p>
            <a:pPr eaLnBrk="1" hangingPunct="1">
              <a:spcBef>
                <a:spcPct val="0"/>
              </a:spcBef>
              <a:buClrTx/>
              <a:buSzTx/>
              <a:buFontTx/>
              <a:buNone/>
            </a:pPr>
            <a:r>
              <a:rPr lang="zh-CN" altLang="en-US" sz="2400" dirty="0"/>
              <a:t>的移动。也许经过几次这样的不是局部最优的移动后会</a:t>
            </a:r>
            <a:endParaRPr lang="en-US" altLang="zh-CN" sz="2400" dirty="0"/>
          </a:p>
          <a:p>
            <a:pPr eaLnBrk="1" hangingPunct="1">
              <a:spcBef>
                <a:spcPct val="0"/>
              </a:spcBef>
              <a:buClrTx/>
              <a:buSzTx/>
              <a:buFontTx/>
              <a:buNone/>
            </a:pPr>
            <a:r>
              <a:rPr lang="zh-CN" altLang="en-US" sz="2400" dirty="0"/>
              <a:t>到达</a:t>
            </a:r>
            <a:r>
              <a:rPr lang="en-US" altLang="zh-CN" sz="2400" dirty="0"/>
              <a:t>D</a:t>
            </a:r>
            <a:r>
              <a:rPr lang="zh-CN" altLang="en-US" sz="2400" dirty="0"/>
              <a:t>点，于是就跳出了局部最大值</a:t>
            </a:r>
            <a:r>
              <a:rPr lang="en-US" altLang="zh-CN" sz="2400" dirty="0"/>
              <a:t>A</a:t>
            </a:r>
            <a:r>
              <a:rPr lang="zh-CN" altLang="en-US" sz="24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7171" name="Rectangle 31"/>
          <p:cNvSpPr>
            <a:spLocks noGrp="1" noChangeArrowheads="1"/>
          </p:cNvSpPr>
          <p:nvPr>
            <p:ph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一、算法概述</a:t>
            </a:r>
          </a:p>
        </p:txBody>
      </p:sp>
      <p:sp>
        <p:nvSpPr>
          <p:cNvPr id="7172" name="TextBox 1"/>
          <p:cNvSpPr txBox="1">
            <a:spLocks noChangeArrowheads="1"/>
          </p:cNvSpPr>
          <p:nvPr/>
        </p:nvSpPr>
        <p:spPr bwMode="auto">
          <a:xfrm>
            <a:off x="611188" y="2133600"/>
            <a:ext cx="7596187"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1800"/>
              <a:t>          </a:t>
            </a:r>
            <a:r>
              <a:rPr lang="zh-CN" altLang="en-US" sz="2400"/>
              <a:t>工程中许多实际优化问题的目标函数都是非凸的，</a:t>
            </a:r>
            <a:endParaRPr lang="en-US" altLang="zh-CN" sz="2400"/>
          </a:p>
          <a:p>
            <a:pPr eaLnBrk="1" hangingPunct="1">
              <a:spcBef>
                <a:spcPct val="0"/>
              </a:spcBef>
              <a:buClrTx/>
              <a:buSzTx/>
              <a:buFontTx/>
              <a:buNone/>
            </a:pPr>
            <a:r>
              <a:rPr lang="zh-CN" altLang="en-US" sz="2400"/>
              <a:t>存在许多局部最优解。</a:t>
            </a:r>
            <a:endParaRPr lang="en-US" altLang="zh-CN" sz="2400"/>
          </a:p>
          <a:p>
            <a:pPr eaLnBrk="1" hangingPunct="1">
              <a:spcBef>
                <a:spcPct val="0"/>
              </a:spcBef>
              <a:buClrTx/>
              <a:buSzTx/>
              <a:buFontTx/>
              <a:buNone/>
            </a:pPr>
            <a:r>
              <a:rPr lang="zh-CN" altLang="en-US" sz="2400"/>
              <a:t>       求解全局优化问题的方法可分为两类：</a:t>
            </a:r>
            <a:endParaRPr lang="en-US" altLang="zh-CN" sz="2400"/>
          </a:p>
          <a:p>
            <a:pPr eaLnBrk="1" hangingPunct="1">
              <a:spcBef>
                <a:spcPct val="0"/>
              </a:spcBef>
              <a:buClrTx/>
              <a:buSzTx/>
              <a:buFontTx/>
              <a:buNone/>
            </a:pPr>
            <a:r>
              <a:rPr lang="en-US" altLang="zh-CN" sz="2400"/>
              <a:t>       </a:t>
            </a:r>
            <a:r>
              <a:rPr lang="zh-CN" altLang="en-US" sz="2400"/>
              <a:t>确定性方法和随机性方法。</a:t>
            </a:r>
            <a:endParaRPr lang="en-US" altLang="zh-CN" sz="2400"/>
          </a:p>
          <a:p>
            <a:pPr eaLnBrk="1" hangingPunct="1">
              <a:spcBef>
                <a:spcPct val="0"/>
              </a:spcBef>
              <a:buClrTx/>
              <a:buSzTx/>
              <a:buFontTx/>
              <a:buNone/>
            </a:pPr>
            <a:r>
              <a:rPr lang="zh-CN" altLang="en-US" sz="2400"/>
              <a:t>       确定性算法适用于求解具有一些特殊特征的问题，</a:t>
            </a:r>
            <a:endParaRPr lang="en-US" altLang="zh-CN" sz="2400"/>
          </a:p>
          <a:p>
            <a:pPr eaLnBrk="1" hangingPunct="1">
              <a:spcBef>
                <a:spcPct val="0"/>
              </a:spcBef>
              <a:buClrTx/>
              <a:buSzTx/>
              <a:buFontTx/>
              <a:buNone/>
            </a:pPr>
            <a:r>
              <a:rPr lang="zh-CN" altLang="en-US" sz="2400"/>
              <a:t>而梯度法和一般的随机搜索方法则沿着目标函数下降方</a:t>
            </a:r>
            <a:endParaRPr lang="en-US" altLang="zh-CN" sz="2400"/>
          </a:p>
          <a:p>
            <a:pPr eaLnBrk="1" hangingPunct="1">
              <a:spcBef>
                <a:spcPct val="0"/>
              </a:spcBef>
              <a:buClrTx/>
              <a:buSzTx/>
              <a:buFontTx/>
              <a:buNone/>
            </a:pPr>
            <a:r>
              <a:rPr lang="zh-CN" altLang="en-US" sz="2400"/>
              <a:t>向搜索，因此常常陷入局部而非全局最优解。</a:t>
            </a:r>
            <a:endParaRPr lang="en-US" altLang="zh-CN" sz="2400"/>
          </a:p>
          <a:p>
            <a:pPr eaLnBrk="1" hangingPunct="1">
              <a:spcBef>
                <a:spcPct val="0"/>
              </a:spcBef>
              <a:buClrTx/>
              <a:buSzTx/>
              <a:buFontTx/>
              <a:buNone/>
            </a:pPr>
            <a:endParaRPr lang="en-US" altLang="zh-CN" sz="2400"/>
          </a:p>
          <a:p>
            <a:pPr eaLnBrk="1" hangingPunct="1">
              <a:spcBef>
                <a:spcPct val="0"/>
              </a:spcBef>
              <a:buClrTx/>
              <a:buSzTx/>
              <a:buFontTx/>
              <a:buNone/>
            </a:pPr>
            <a:r>
              <a:rPr lang="zh-CN" altLang="en-US" sz="2400"/>
              <a:t>       </a:t>
            </a:r>
            <a:endParaRPr lang="zh-CN" altLang="en-US" sz="1800"/>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8195" name="Rectangle 31"/>
          <p:cNvSpPr>
            <a:spLocks noGrp="1" noChangeArrowheads="1"/>
          </p:cNvSpPr>
          <p:nvPr>
            <p:ph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一、算法概述</a:t>
            </a:r>
          </a:p>
        </p:txBody>
      </p:sp>
      <p:sp>
        <p:nvSpPr>
          <p:cNvPr id="8196" name="TextBox 1"/>
          <p:cNvSpPr txBox="1">
            <a:spLocks noChangeArrowheads="1"/>
          </p:cNvSpPr>
          <p:nvPr/>
        </p:nvSpPr>
        <p:spPr bwMode="auto">
          <a:xfrm>
            <a:off x="593725" y="2349500"/>
            <a:ext cx="74295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lnSpc>
                <a:spcPct val="125000"/>
              </a:lnSpc>
              <a:spcBef>
                <a:spcPct val="0"/>
              </a:spcBef>
              <a:buClrTx/>
              <a:buSzTx/>
              <a:buFontTx/>
              <a:buNone/>
            </a:pPr>
            <a:r>
              <a:rPr lang="zh-CN" altLang="en-US" sz="2400" dirty="0">
                <a:solidFill>
                  <a:srgbClr val="0033CC"/>
                </a:solidFill>
              </a:rPr>
              <a:t>      </a:t>
            </a:r>
            <a:r>
              <a:rPr lang="zh-CN" altLang="en-US" sz="2400" dirty="0" smtClean="0">
                <a:solidFill>
                  <a:srgbClr val="0033CC"/>
                </a:solidFill>
              </a:rPr>
              <a:t> </a:t>
            </a:r>
            <a:r>
              <a:rPr lang="zh-CN" altLang="en-US" sz="2400" dirty="0">
                <a:solidFill>
                  <a:srgbClr val="0033CC"/>
                </a:solidFill>
              </a:rPr>
              <a:t>模拟退火算法（</a:t>
            </a:r>
            <a:r>
              <a:rPr lang="en-US" altLang="zh-CN" sz="2400" dirty="0">
                <a:solidFill>
                  <a:srgbClr val="0033CC"/>
                </a:solidFill>
              </a:rPr>
              <a:t>SA</a:t>
            </a:r>
            <a:r>
              <a:rPr lang="zh-CN" altLang="en-US" sz="2400" dirty="0">
                <a:solidFill>
                  <a:srgbClr val="0033CC"/>
                </a:solidFill>
              </a:rPr>
              <a:t>）是一种通用概率算法。用来</a:t>
            </a:r>
            <a:endParaRPr lang="en-US" altLang="zh-CN" sz="2400" dirty="0">
              <a:solidFill>
                <a:srgbClr val="0033CC"/>
              </a:solidFill>
            </a:endParaRPr>
          </a:p>
          <a:p>
            <a:pPr eaLnBrk="1" hangingPunct="1">
              <a:lnSpc>
                <a:spcPct val="125000"/>
              </a:lnSpc>
              <a:spcBef>
                <a:spcPct val="0"/>
              </a:spcBef>
              <a:buClrTx/>
              <a:buSzTx/>
              <a:buFontTx/>
              <a:buNone/>
            </a:pPr>
            <a:r>
              <a:rPr lang="zh-CN" altLang="en-US" sz="2400" dirty="0">
                <a:solidFill>
                  <a:srgbClr val="0033CC"/>
                </a:solidFill>
              </a:rPr>
              <a:t>在一个大的搜索空间内寻找问题的最优解</a:t>
            </a:r>
            <a:r>
              <a:rPr lang="zh-CN" altLang="en-US" sz="1800" dirty="0">
                <a:solidFill>
                  <a:srgbClr val="0033CC"/>
                </a:solidFill>
              </a:rPr>
              <a:t>。</a:t>
            </a:r>
          </a:p>
          <a:p>
            <a:pPr eaLnBrk="1" hangingPunct="1">
              <a:lnSpc>
                <a:spcPct val="125000"/>
              </a:lnSpc>
              <a:spcBef>
                <a:spcPct val="0"/>
              </a:spcBef>
              <a:buClrTx/>
              <a:buSzTx/>
              <a:buFontTx/>
              <a:buNone/>
            </a:pPr>
            <a:r>
              <a:rPr lang="en-US" altLang="zh-CN" sz="2400" dirty="0"/>
              <a:t>       1953</a:t>
            </a:r>
            <a:r>
              <a:rPr lang="zh-CN" altLang="en-US" sz="2400" dirty="0"/>
              <a:t>年，</a:t>
            </a:r>
            <a:r>
              <a:rPr lang="en-US" altLang="zh-CN" sz="2400" dirty="0"/>
              <a:t>Metropolis</a:t>
            </a:r>
            <a:r>
              <a:rPr lang="zh-CN" altLang="en-US" sz="2400" dirty="0"/>
              <a:t>等提出了模拟退火的思想。</a:t>
            </a:r>
            <a:endParaRPr lang="en-US" altLang="zh-CN" sz="2400" dirty="0"/>
          </a:p>
          <a:p>
            <a:pPr eaLnBrk="1" hangingPunct="1">
              <a:lnSpc>
                <a:spcPct val="125000"/>
              </a:lnSpc>
              <a:spcBef>
                <a:spcPct val="0"/>
              </a:spcBef>
              <a:buClrTx/>
              <a:buSzTx/>
              <a:buFontTx/>
              <a:buNone/>
            </a:pPr>
            <a:r>
              <a:rPr lang="en-US" altLang="zh-CN" sz="2400" dirty="0"/>
              <a:t>       1983</a:t>
            </a:r>
            <a:r>
              <a:rPr lang="zh-CN" altLang="en-US" sz="2400" dirty="0"/>
              <a:t>年，</a:t>
            </a:r>
            <a:r>
              <a:rPr lang="en-US" altLang="zh-CN" sz="2400" dirty="0" smtClean="0"/>
              <a:t>Kirkpatrick</a:t>
            </a:r>
            <a:r>
              <a:rPr lang="zh-CN" altLang="en-US" sz="2400" dirty="0" smtClean="0"/>
              <a:t>等将</a:t>
            </a:r>
            <a:r>
              <a:rPr lang="en-US" altLang="zh-CN" sz="2400" dirty="0" smtClean="0"/>
              <a:t>SA</a:t>
            </a:r>
            <a:r>
              <a:rPr lang="zh-CN" altLang="en-US" sz="2400" dirty="0"/>
              <a:t>引入组合优化领域。</a:t>
            </a:r>
            <a:endParaRPr lang="en-US" altLang="zh-CN" sz="2400" dirty="0"/>
          </a:p>
          <a:p>
            <a:pPr eaLnBrk="1" hangingPunct="1">
              <a:spcBef>
                <a:spcPct val="0"/>
              </a:spcBef>
              <a:buClrTx/>
              <a:buSzTx/>
              <a:buFontTx/>
              <a:buNone/>
            </a:pPr>
            <a:r>
              <a:rPr lang="zh-CN" altLang="en-US" sz="2400" dirty="0"/>
              <a:t>       </a:t>
            </a:r>
            <a:endParaRPr lang="zh-CN" altLang="en-US" sz="1800" dirty="0"/>
          </a:p>
        </p:txBody>
      </p:sp>
    </p:spTree>
  </p:cSld>
  <p:clrMapOvr>
    <a:masterClrMapping/>
  </p:clrMapOvr>
  <p:transition>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9219" name="Rectangle 31"/>
          <p:cNvSpPr>
            <a:spLocks noGrp="1" noChangeArrowheads="1"/>
          </p:cNvSpPr>
          <p:nvPr>
            <p:ph idx="1"/>
          </p:nvPr>
        </p:nvSpPr>
        <p:spPr>
          <a:xfrm>
            <a:off x="41275" y="838200"/>
            <a:ext cx="3159125" cy="59372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二、基本思想</a:t>
            </a:r>
          </a:p>
        </p:txBody>
      </p:sp>
      <p:sp>
        <p:nvSpPr>
          <p:cNvPr id="9220" name="TextBox 1"/>
          <p:cNvSpPr txBox="1">
            <a:spLocks noChangeArrowheads="1"/>
          </p:cNvSpPr>
          <p:nvPr/>
        </p:nvSpPr>
        <p:spPr bwMode="auto">
          <a:xfrm>
            <a:off x="593725" y="2349500"/>
            <a:ext cx="8651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zh-CN" altLang="en-US" sz="2400">
                <a:solidFill>
                  <a:srgbClr val="0033CC"/>
                </a:solidFill>
              </a:rPr>
              <a:t>        </a:t>
            </a:r>
            <a:endParaRPr lang="zh-CN" altLang="en-US" sz="1800"/>
          </a:p>
        </p:txBody>
      </p:sp>
      <p:sp>
        <p:nvSpPr>
          <p:cNvPr id="9221" name="TextBox 2"/>
          <p:cNvSpPr txBox="1">
            <a:spLocks noChangeArrowheads="1"/>
          </p:cNvSpPr>
          <p:nvPr/>
        </p:nvSpPr>
        <p:spPr bwMode="auto">
          <a:xfrm>
            <a:off x="968375" y="2119313"/>
            <a:ext cx="36337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 typeface="Wingdings" pitchFamily="2" charset="2"/>
              <a:buNone/>
            </a:pPr>
            <a:r>
              <a:rPr lang="zh-CN" altLang="en-US" sz="2400">
                <a:solidFill>
                  <a:srgbClr val="0033CC"/>
                </a:solidFill>
              </a:rPr>
              <a:t>        退火，俗称固体降温</a:t>
            </a:r>
            <a:endParaRPr lang="en-US" altLang="zh-CN" sz="2400">
              <a:solidFill>
                <a:srgbClr val="0033CC"/>
              </a:solidFill>
            </a:endParaRPr>
          </a:p>
        </p:txBody>
      </p:sp>
      <p:sp>
        <p:nvSpPr>
          <p:cNvPr id="9222" name="TextBox 3"/>
          <p:cNvSpPr txBox="1">
            <a:spLocks noChangeArrowheads="1"/>
          </p:cNvSpPr>
          <p:nvPr/>
        </p:nvSpPr>
        <p:spPr bwMode="auto">
          <a:xfrm>
            <a:off x="960438" y="2554288"/>
            <a:ext cx="7570787"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lnSpc>
                <a:spcPct val="125000"/>
              </a:lnSpc>
              <a:spcBef>
                <a:spcPct val="0"/>
              </a:spcBef>
              <a:buClrTx/>
              <a:buSzTx/>
              <a:buFont typeface="Wingdings" pitchFamily="2" charset="2"/>
              <a:buNone/>
            </a:pPr>
            <a:r>
              <a:rPr lang="zh-CN" altLang="en-US" sz="2400">
                <a:solidFill>
                  <a:srgbClr val="0033CC"/>
                </a:solidFill>
              </a:rPr>
              <a:t>        先把固体加热至足够高温，使固体中所有粒子处</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于无序的状态，然后将温度缓慢下降，粒子渐渐有序，</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这样只要温度上升得足够高，冷却过程足够慢，则所</a:t>
            </a:r>
            <a:endParaRPr lang="en-US" altLang="zh-CN" sz="2400">
              <a:solidFill>
                <a:srgbClr val="0033CC"/>
              </a:solidFill>
            </a:endParaRPr>
          </a:p>
          <a:p>
            <a:pPr eaLnBrk="1" hangingPunct="1">
              <a:lnSpc>
                <a:spcPct val="125000"/>
              </a:lnSpc>
              <a:spcBef>
                <a:spcPct val="0"/>
              </a:spcBef>
              <a:buClrTx/>
              <a:buSzTx/>
              <a:buFont typeface="Wingdings" pitchFamily="2" charset="2"/>
              <a:buNone/>
            </a:pPr>
            <a:r>
              <a:rPr lang="zh-CN" altLang="en-US" sz="2400">
                <a:solidFill>
                  <a:srgbClr val="0033CC"/>
                </a:solidFill>
              </a:rPr>
              <a:t>有粒子最终会处于最低能态。</a:t>
            </a:r>
            <a:endParaRPr lang="en-US" altLang="zh-CN" sz="2400">
              <a:solidFill>
                <a:srgbClr val="0033CC"/>
              </a:solidFill>
            </a:endParaRPr>
          </a:p>
          <a:p>
            <a:pPr eaLnBrk="1" hangingPunct="1">
              <a:spcBef>
                <a:spcPct val="0"/>
              </a:spcBef>
              <a:buClrTx/>
              <a:buSzTx/>
              <a:buFont typeface="Wingdings" pitchFamily="2" charset="2"/>
              <a:buNone/>
            </a:pPr>
            <a:endParaRPr lang="zh-CN" altLang="en-US" sz="2400">
              <a:solidFill>
                <a:srgbClr val="0033CC"/>
              </a:solidFill>
            </a:endParaRPr>
          </a:p>
        </p:txBody>
      </p:sp>
    </p:spTree>
  </p:cSld>
  <p:clrMapOvr>
    <a:masterClrMapping/>
  </p:clrMapOvr>
  <p:transition>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07" name="TextBox 4"/>
          <p:cNvSpPr txBox="1">
            <a:spLocks noChangeArrowheads="1"/>
          </p:cNvSpPr>
          <p:nvPr/>
        </p:nvSpPr>
        <p:spPr bwMode="auto">
          <a:xfrm>
            <a:off x="839787" y="4293096"/>
            <a:ext cx="746390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dirty="0"/>
              <a:t>      算法试图随着控制参数</a:t>
            </a:r>
            <a:r>
              <a:rPr lang="en-US" altLang="zh-CN" sz="2800" dirty="0"/>
              <a:t>T</a:t>
            </a:r>
            <a:r>
              <a:rPr lang="zh-CN" altLang="en-US" sz="2800" dirty="0"/>
              <a:t>的降低，使目标函</a:t>
            </a:r>
            <a:endParaRPr lang="en-US" altLang="zh-CN" sz="2800" dirty="0"/>
          </a:p>
          <a:p>
            <a:pPr eaLnBrk="1" hangingPunct="1"/>
            <a:r>
              <a:rPr lang="zh-CN" altLang="en-US" sz="2800" dirty="0"/>
              <a:t>数值</a:t>
            </a:r>
            <a:r>
              <a:rPr lang="en-US" altLang="zh-CN" sz="2800" dirty="0"/>
              <a:t>f</a:t>
            </a:r>
            <a:r>
              <a:rPr lang="zh-CN" altLang="en-US" sz="2800" dirty="0"/>
              <a:t>（内能</a:t>
            </a:r>
            <a:r>
              <a:rPr lang="en-US" altLang="zh-CN" sz="2800" dirty="0"/>
              <a:t>E</a:t>
            </a:r>
            <a:r>
              <a:rPr lang="zh-CN" altLang="en-US" sz="2800" dirty="0"/>
              <a:t>）也逐渐降低，直至趋于全局最</a:t>
            </a:r>
            <a:endParaRPr lang="en-US" altLang="zh-CN" sz="2800" dirty="0"/>
          </a:p>
          <a:p>
            <a:pPr eaLnBrk="1" hangingPunct="1"/>
            <a:r>
              <a:rPr lang="zh-CN" altLang="en-US" sz="2800" dirty="0"/>
              <a:t>小值（退火中低温时的最低能量状态</a:t>
            </a:r>
            <a:r>
              <a:rPr lang="zh-CN" altLang="en-US" sz="2800" dirty="0" smtClean="0"/>
              <a:t>），算法</a:t>
            </a:r>
            <a:endParaRPr lang="en-US" altLang="zh-CN" sz="2800" dirty="0"/>
          </a:p>
          <a:p>
            <a:pPr eaLnBrk="1" hangingPunct="1"/>
            <a:r>
              <a:rPr lang="zh-CN" altLang="en-US" sz="2800" dirty="0" smtClean="0"/>
              <a:t>工作过程就像固体</a:t>
            </a:r>
            <a:r>
              <a:rPr lang="zh-CN" altLang="en-US" sz="2800" dirty="0"/>
              <a:t>退火过程</a:t>
            </a:r>
            <a:r>
              <a:rPr lang="zh-CN" altLang="en-US" sz="2800" dirty="0" smtClean="0"/>
              <a:t>一样。</a:t>
            </a:r>
            <a:endParaRPr lang="zh-CN" altLang="en-US" sz="2800" dirty="0"/>
          </a:p>
        </p:txBody>
      </p:sp>
      <p:sp>
        <p:nvSpPr>
          <p:cNvPr id="47" name="Rectangle 30"/>
          <p:cNvSpPr txBox="1">
            <a:spLocks noChangeArrowheads="1"/>
          </p:cNvSpPr>
          <p:nvPr/>
        </p:nvSpPr>
        <p:spPr bwMode="auto">
          <a:xfrm>
            <a:off x="685800" y="0"/>
            <a:ext cx="7772400" cy="762000"/>
          </a:xfrm>
          <a:prstGeom prst="rect">
            <a:avLst/>
          </a:prstGeom>
          <a:solidFill>
            <a:schemeClr val="accent1"/>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nchor="ct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a:lstStyle>
          <a:p>
            <a:pPr eaLnBrk="1" hangingPunct="1">
              <a:defRPr/>
            </a:pPr>
            <a:r>
              <a:rPr lang="en-US" altLang="zh-CN" sz="3600" b="1" kern="0" dirty="0" smtClean="0">
                <a:ea typeface="黑体" pitchFamily="49" charset="-122"/>
              </a:rPr>
              <a:t>6.1 </a:t>
            </a:r>
            <a:r>
              <a:rPr lang="zh-CN" altLang="en-US" sz="3600" b="1" kern="0" dirty="0" smtClean="0">
                <a:ea typeface="黑体" pitchFamily="49" charset="-122"/>
              </a:rPr>
              <a:t>算法基本理论　</a:t>
            </a:r>
          </a:p>
        </p:txBody>
      </p:sp>
      <p:sp>
        <p:nvSpPr>
          <p:cNvPr id="12309" name="Rectangle 31"/>
          <p:cNvSpPr txBox="1">
            <a:spLocks noChangeArrowheads="1"/>
          </p:cNvSpPr>
          <p:nvPr/>
        </p:nvSpPr>
        <p:spPr bwMode="auto">
          <a:xfrm>
            <a:off x="41275" y="838200"/>
            <a:ext cx="3954463" cy="574675"/>
          </a:xfrm>
          <a:prstGeom prst="rect">
            <a:avLst/>
          </a:prstGeom>
          <a:solidFill>
            <a:srgbClr val="33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Font typeface="Wingdings" pitchFamily="2" charset="2"/>
              <a:buNone/>
            </a:pPr>
            <a:r>
              <a:rPr lang="zh-CN" altLang="en-US" dirty="0">
                <a:solidFill>
                  <a:srgbClr val="000000"/>
                </a:solidFill>
              </a:rPr>
              <a:t>模拟退火算法的由来</a:t>
            </a:r>
          </a:p>
        </p:txBody>
      </p:sp>
      <p:sp>
        <p:nvSpPr>
          <p:cNvPr id="2" name="TextBox 1"/>
          <p:cNvSpPr txBox="1"/>
          <p:nvPr/>
        </p:nvSpPr>
        <p:spPr>
          <a:xfrm>
            <a:off x="1619672" y="3789040"/>
            <a:ext cx="184731" cy="369332"/>
          </a:xfrm>
          <a:prstGeom prst="rect">
            <a:avLst/>
          </a:prstGeom>
          <a:noFill/>
        </p:spPr>
        <p:txBody>
          <a:bodyPr wrap="none" rtlCol="0">
            <a:spAutoFit/>
          </a:bodyPr>
          <a:lstStyle/>
          <a:p>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161577576"/>
              </p:ext>
            </p:extLst>
          </p:nvPr>
        </p:nvGraphicFramePr>
        <p:xfrm>
          <a:off x="1495910" y="1772816"/>
          <a:ext cx="6096000" cy="185420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zh-CN" altLang="en-US" dirty="0" smtClean="0">
                          <a:solidFill>
                            <a:srgbClr val="000000"/>
                          </a:solidFill>
                        </a:rPr>
                        <a:t>模拟退火</a:t>
                      </a:r>
                      <a:endParaRPr lang="zh-CN" altLang="en-US" dirty="0">
                        <a:solidFill>
                          <a:srgbClr val="000000"/>
                        </a:solidFill>
                      </a:endParaRPr>
                    </a:p>
                  </a:txBody>
                  <a:tcPr/>
                </a:tc>
                <a:tc>
                  <a:txBody>
                    <a:bodyPr/>
                    <a:lstStyle/>
                    <a:p>
                      <a:pPr algn="ctr"/>
                      <a:r>
                        <a:rPr lang="zh-CN" altLang="en-US" dirty="0" smtClean="0">
                          <a:solidFill>
                            <a:srgbClr val="000000"/>
                          </a:solidFill>
                        </a:rPr>
                        <a:t>退火</a:t>
                      </a:r>
                      <a:endParaRPr lang="zh-CN" altLang="en-US" dirty="0">
                        <a:solidFill>
                          <a:srgbClr val="000000"/>
                        </a:solidFill>
                      </a:endParaRPr>
                    </a:p>
                  </a:txBody>
                  <a:tcPr/>
                </a:tc>
              </a:tr>
              <a:tr h="370840">
                <a:tc>
                  <a:txBody>
                    <a:bodyPr/>
                    <a:lstStyle/>
                    <a:p>
                      <a:pPr algn="ctr"/>
                      <a:r>
                        <a:rPr lang="zh-CN" altLang="en-US" dirty="0" smtClean="0"/>
                        <a:t>解</a:t>
                      </a:r>
                      <a:endParaRPr lang="zh-CN" altLang="en-US" dirty="0"/>
                    </a:p>
                  </a:txBody>
                  <a:tcPr/>
                </a:tc>
                <a:tc>
                  <a:txBody>
                    <a:bodyPr/>
                    <a:lstStyle/>
                    <a:p>
                      <a:pPr algn="ctr"/>
                      <a:r>
                        <a:rPr lang="zh-CN" altLang="en-US" dirty="0" smtClean="0"/>
                        <a:t>粒子状态</a:t>
                      </a:r>
                      <a:endParaRPr lang="zh-CN" altLang="en-US" dirty="0"/>
                    </a:p>
                  </a:txBody>
                  <a:tcPr/>
                </a:tc>
              </a:tr>
              <a:tr h="370840">
                <a:tc>
                  <a:txBody>
                    <a:bodyPr/>
                    <a:lstStyle/>
                    <a:p>
                      <a:pPr algn="ctr"/>
                      <a:r>
                        <a:rPr lang="zh-CN" altLang="en-US" dirty="0" smtClean="0"/>
                        <a:t>最优解</a:t>
                      </a:r>
                      <a:endParaRPr lang="zh-CN" altLang="en-US" dirty="0"/>
                    </a:p>
                  </a:txBody>
                  <a:tcPr/>
                </a:tc>
                <a:tc>
                  <a:txBody>
                    <a:bodyPr/>
                    <a:lstStyle/>
                    <a:p>
                      <a:pPr algn="ctr"/>
                      <a:r>
                        <a:rPr lang="zh-CN" altLang="en-US" dirty="0" smtClean="0"/>
                        <a:t>能量最低的状态</a:t>
                      </a:r>
                      <a:endParaRPr lang="zh-CN" altLang="en-US" dirty="0"/>
                    </a:p>
                  </a:txBody>
                  <a:tcPr/>
                </a:tc>
              </a:tr>
              <a:tr h="370840">
                <a:tc>
                  <a:txBody>
                    <a:bodyPr/>
                    <a:lstStyle/>
                    <a:p>
                      <a:pPr algn="ctr"/>
                      <a:r>
                        <a:rPr lang="zh-CN" altLang="en-US" dirty="0" smtClean="0"/>
                        <a:t>目标函数</a:t>
                      </a:r>
                      <a:r>
                        <a:rPr lang="en-US" altLang="zh-CN" dirty="0" smtClean="0"/>
                        <a:t>f</a:t>
                      </a:r>
                      <a:endParaRPr lang="zh-CN" altLang="en-US" dirty="0"/>
                    </a:p>
                  </a:txBody>
                  <a:tcPr/>
                </a:tc>
                <a:tc>
                  <a:txBody>
                    <a:bodyPr/>
                    <a:lstStyle/>
                    <a:p>
                      <a:pPr algn="ctr"/>
                      <a:r>
                        <a:rPr lang="zh-CN" altLang="en-US" dirty="0" smtClean="0"/>
                        <a:t>内能</a:t>
                      </a:r>
                      <a:endParaRPr lang="zh-CN" altLang="en-US" dirty="0"/>
                    </a:p>
                  </a:txBody>
                  <a:tcPr/>
                </a:tc>
              </a:tr>
              <a:tr h="370840">
                <a:tc>
                  <a:txBody>
                    <a:bodyPr/>
                    <a:lstStyle/>
                    <a:p>
                      <a:pPr algn="ctr"/>
                      <a:r>
                        <a:rPr lang="zh-CN" altLang="en-US" dirty="0" smtClean="0"/>
                        <a:t>控制参数</a:t>
                      </a:r>
                      <a:endParaRPr lang="zh-CN" altLang="en-US" dirty="0"/>
                    </a:p>
                  </a:txBody>
                  <a:tcPr/>
                </a:tc>
                <a:tc>
                  <a:txBody>
                    <a:bodyPr/>
                    <a:lstStyle/>
                    <a:p>
                      <a:pPr algn="ctr"/>
                      <a:r>
                        <a:rPr lang="zh-CN" altLang="en-US" dirty="0" smtClean="0"/>
                        <a:t>温度</a:t>
                      </a:r>
                      <a:r>
                        <a:rPr lang="en-US" altLang="zh-CN" dirty="0" smtClean="0"/>
                        <a:t>T</a:t>
                      </a:r>
                      <a:endParaRPr lang="zh-CN" altLang="en-US" dirty="0"/>
                    </a:p>
                  </a:txBody>
                  <a:tcPr/>
                </a:tc>
              </a:tr>
            </a:tbl>
          </a:graphicData>
        </a:graphic>
      </p:graphicFrame>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0243"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en-US" altLang="zh-CN" dirty="0" smtClean="0">
                <a:solidFill>
                  <a:srgbClr val="000000"/>
                </a:solidFill>
              </a:rPr>
              <a:t> Metropolis</a:t>
            </a:r>
            <a:r>
              <a:rPr lang="zh-CN" altLang="en-US" dirty="0" smtClean="0">
                <a:solidFill>
                  <a:srgbClr val="000000"/>
                </a:solidFill>
              </a:rPr>
              <a:t>准则</a:t>
            </a:r>
            <a:endParaRPr lang="zh-CN" altLang="en-US" b="1" dirty="0" smtClean="0">
              <a:ea typeface="黑体" pitchFamily="49" charset="-122"/>
            </a:endParaRPr>
          </a:p>
        </p:txBody>
      </p:sp>
      <p:sp>
        <p:nvSpPr>
          <p:cNvPr id="10244" name="TextBox 1"/>
          <p:cNvSpPr txBox="1">
            <a:spLocks noChangeArrowheads="1"/>
          </p:cNvSpPr>
          <p:nvPr/>
        </p:nvSpPr>
        <p:spPr bwMode="auto">
          <a:xfrm>
            <a:off x="3563938" y="1482725"/>
            <a:ext cx="50577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3600">
                <a:solidFill>
                  <a:srgbClr val="000000"/>
                </a:solidFill>
              </a:rPr>
              <a:t>——–</a:t>
            </a:r>
            <a:r>
              <a:rPr lang="zh-CN" altLang="en-US" sz="3600">
                <a:solidFill>
                  <a:srgbClr val="000000"/>
                </a:solidFill>
              </a:rPr>
              <a:t>以概率接受新状态</a:t>
            </a:r>
          </a:p>
        </p:txBody>
      </p:sp>
      <mc:AlternateContent xmlns:mc="http://schemas.openxmlformats.org/markup-compatibility/2006" xmlns:a14="http://schemas.microsoft.com/office/drawing/2010/main">
        <mc:Choice Requires="a14">
          <p:sp>
            <p:nvSpPr>
              <p:cNvPr id="2" name="TextBox 1"/>
              <p:cNvSpPr txBox="1"/>
              <p:nvPr/>
            </p:nvSpPr>
            <p:spPr>
              <a:xfrm>
                <a:off x="899592" y="2708920"/>
                <a:ext cx="8391593" cy="3135025"/>
              </a:xfrm>
              <a:prstGeom prst="rect">
                <a:avLst/>
              </a:prstGeom>
              <a:noFill/>
            </p:spPr>
            <p:txBody>
              <a:bodyPr wrap="none" rtlCol="0">
                <a:spAutoFit/>
              </a:bodyPr>
              <a:lstStyle/>
              <a:p>
                <a:pPr>
                  <a:lnSpc>
                    <a:spcPct val="125000"/>
                  </a:lnSpc>
                </a:pPr>
                <a:r>
                  <a:rPr lang="zh-CN" altLang="en-US" sz="2800" dirty="0" smtClean="0"/>
                  <a:t>若在温度</a:t>
                </a:r>
                <a:r>
                  <a:rPr lang="en-US" altLang="zh-CN" sz="2800" dirty="0" smtClean="0"/>
                  <a:t>T</a:t>
                </a:r>
                <a:r>
                  <a:rPr lang="zh-CN" altLang="en-US" sz="2800" dirty="0" smtClean="0"/>
                  <a:t>，当前状态</a:t>
                </a:r>
                <a:r>
                  <a:rPr lang="en-US" altLang="zh-CN" sz="2800" dirty="0" err="1"/>
                  <a:t>i</a:t>
                </a:r>
                <a:r>
                  <a:rPr lang="en-US" altLang="zh-CN" sz="2800" dirty="0" smtClean="0"/>
                  <a:t> (</a:t>
                </a:r>
                <a:r>
                  <a:rPr lang="zh-CN" altLang="en-US" sz="2800" dirty="0" smtClean="0"/>
                  <a:t>解</a:t>
                </a:r>
                <a:r>
                  <a:rPr lang="en-US" altLang="zh-CN" sz="2800" dirty="0" smtClean="0"/>
                  <a:t>1)</a:t>
                </a:r>
                <a:r>
                  <a:rPr lang="zh-CN" altLang="en-US" sz="2800" dirty="0" smtClean="0"/>
                  <a:t>→ 新状态 </a:t>
                </a:r>
                <a:r>
                  <a:rPr lang="en-US" altLang="zh-CN" sz="2800" dirty="0" smtClean="0"/>
                  <a:t>j(</a:t>
                </a:r>
                <a:r>
                  <a:rPr lang="zh-CN" altLang="en-US" sz="2800" dirty="0" smtClean="0"/>
                  <a:t>解</a:t>
                </a:r>
                <a:r>
                  <a:rPr lang="en-US" altLang="zh-CN" sz="2800" dirty="0" smtClean="0"/>
                  <a:t>2)</a:t>
                </a:r>
              </a:p>
              <a:p>
                <a:pPr>
                  <a:lnSpc>
                    <a:spcPct val="125000"/>
                  </a:lnSpc>
                </a:pPr>
                <a:r>
                  <a:rPr lang="zh-CN" altLang="en-US" sz="2800" dirty="0" smtClean="0"/>
                  <a:t>若</a:t>
                </a:r>
                <a14:m>
                  <m:oMath xmlns:m="http://schemas.openxmlformats.org/officeDocument/2006/math">
                    <m:sSub>
                      <m:sSubPr>
                        <m:ctrlPr>
                          <a:rPr lang="en-US" altLang="zh-CN" sz="2800" i="1" smtClean="0">
                            <a:latin typeface="Cambria Math"/>
                          </a:rPr>
                        </m:ctrlPr>
                      </m:sSubPr>
                      <m:e>
                        <m:r>
                          <a:rPr lang="en-US" altLang="zh-CN" sz="2800" b="0" i="1" smtClean="0">
                            <a:latin typeface="Cambria Math"/>
                          </a:rPr>
                          <m:t>𝐸</m:t>
                        </m:r>
                      </m:e>
                      <m:sub>
                        <m:r>
                          <a:rPr lang="en-US" altLang="zh-CN" sz="2800" b="0" i="1" smtClean="0">
                            <a:latin typeface="Cambria Math"/>
                          </a:rPr>
                          <m:t>𝑗</m:t>
                        </m:r>
                      </m:sub>
                    </m:sSub>
                    <m:r>
                      <a:rPr lang="en-US" altLang="zh-CN" sz="2800" b="0" i="1" smtClean="0">
                        <a:latin typeface="Cambria Math"/>
                      </a:rPr>
                      <m:t>(</m:t>
                    </m:r>
                    <m:r>
                      <a:rPr lang="zh-CN" altLang="en-US" sz="2800" i="1">
                        <a:latin typeface="Cambria Math"/>
                      </a:rPr>
                      <m:t>目标</m:t>
                    </m:r>
                    <m:r>
                      <a:rPr lang="zh-CN" altLang="en-US" sz="2800" i="1" smtClean="0">
                        <a:latin typeface="Cambria Math"/>
                      </a:rPr>
                      <m:t>函数</m:t>
                    </m:r>
                    <m:sSub>
                      <m:sSubPr>
                        <m:ctrlPr>
                          <a:rPr lang="en-US" altLang="zh-CN" sz="2800" i="1" smtClean="0">
                            <a:latin typeface="Cambria Math"/>
                          </a:rPr>
                        </m:ctrlPr>
                      </m:sSubPr>
                      <m:e>
                        <m:r>
                          <a:rPr lang="en-US" altLang="zh-CN" sz="2800" b="0" i="1" smtClean="0">
                            <a:latin typeface="Cambria Math"/>
                          </a:rPr>
                          <m:t>𝑓</m:t>
                        </m:r>
                      </m:e>
                      <m:sub>
                        <m:r>
                          <a:rPr lang="en-US" altLang="zh-CN" sz="2800" b="0" i="1" smtClean="0">
                            <a:latin typeface="Cambria Math"/>
                          </a:rPr>
                          <m:t>2</m:t>
                        </m:r>
                      </m:sub>
                    </m:sSub>
                    <m:r>
                      <a:rPr lang="en-US" altLang="zh-CN" sz="2800" b="0" i="1" smtClean="0">
                        <a:latin typeface="Cambria Math"/>
                      </a:rPr>
                      <m:t>)&lt;</m:t>
                    </m:r>
                    <m:sSub>
                      <m:sSubPr>
                        <m:ctrlPr>
                          <a:rPr lang="en-US" altLang="zh-CN" sz="2800" b="0" i="1" smtClean="0">
                            <a:latin typeface="Cambria Math"/>
                          </a:rPr>
                        </m:ctrlPr>
                      </m:sSubPr>
                      <m:e>
                        <m:r>
                          <a:rPr lang="en-US" altLang="zh-CN" sz="2800" b="0" i="1" smtClean="0">
                            <a:latin typeface="Cambria Math"/>
                          </a:rPr>
                          <m:t>𝐸</m:t>
                        </m:r>
                      </m:e>
                      <m:sub>
                        <m:r>
                          <a:rPr lang="en-US" altLang="zh-CN" sz="2800" b="0" i="1" smtClean="0">
                            <a:latin typeface="Cambria Math"/>
                          </a:rPr>
                          <m:t>𝑖</m:t>
                        </m:r>
                      </m:sub>
                    </m:sSub>
                  </m:oMath>
                </a14:m>
                <a:r>
                  <a:rPr lang="en-US" altLang="zh-CN" sz="2800" dirty="0" smtClean="0"/>
                  <a:t>(</a:t>
                </a:r>
                <a14:m>
                  <m:oMath xmlns:m="http://schemas.openxmlformats.org/officeDocument/2006/math">
                    <m:sSub>
                      <m:sSubPr>
                        <m:ctrlPr>
                          <a:rPr lang="en-US" altLang="zh-CN" sz="2800" i="1" dirty="0" smtClean="0">
                            <a:latin typeface="Cambria Math"/>
                          </a:rPr>
                        </m:ctrlPr>
                      </m:sSubPr>
                      <m:e>
                        <m:r>
                          <a:rPr lang="en-US" altLang="zh-CN" sz="2800" b="0" i="1" dirty="0" smtClean="0">
                            <a:latin typeface="Cambria Math"/>
                          </a:rPr>
                          <m:t>𝑓</m:t>
                        </m:r>
                      </m:e>
                      <m:sub>
                        <m:r>
                          <a:rPr lang="en-US" altLang="zh-CN" sz="2800" b="0" i="1" dirty="0" smtClean="0">
                            <a:latin typeface="Cambria Math"/>
                          </a:rPr>
                          <m:t>1</m:t>
                        </m:r>
                      </m:sub>
                    </m:sSub>
                  </m:oMath>
                </a14:m>
                <a:r>
                  <a:rPr lang="en-US" altLang="zh-CN" sz="2800" dirty="0" smtClean="0"/>
                  <a:t>)</a:t>
                </a:r>
                <a:r>
                  <a:rPr lang="zh-CN" altLang="en-US" sz="2800" dirty="0" smtClean="0"/>
                  <a:t>，则接受 </a:t>
                </a:r>
                <a:r>
                  <a:rPr lang="en-US" altLang="zh-CN" sz="2800" dirty="0" smtClean="0"/>
                  <a:t>j </a:t>
                </a:r>
                <a:r>
                  <a:rPr lang="zh-CN" altLang="en-US" sz="2800" dirty="0" smtClean="0"/>
                  <a:t>为当前状态；</a:t>
                </a:r>
                <a:endParaRPr lang="en-US" altLang="zh-CN" sz="2800" dirty="0" smtClean="0"/>
              </a:p>
              <a:p>
                <a:pPr>
                  <a:lnSpc>
                    <a:spcPct val="125000"/>
                  </a:lnSpc>
                </a:pPr>
                <a:r>
                  <a:rPr lang="zh-CN" altLang="en-US" sz="2800" dirty="0" smtClean="0"/>
                  <a:t>若</a:t>
                </a:r>
                <a14:m>
                  <m:oMath xmlns:m="http://schemas.openxmlformats.org/officeDocument/2006/math">
                    <m:sSub>
                      <m:sSubPr>
                        <m:ctrlPr>
                          <a:rPr lang="en-US" altLang="zh-CN" sz="2800" i="1">
                            <a:latin typeface="Cambria Math"/>
                          </a:rPr>
                        </m:ctrlPr>
                      </m:sSubPr>
                      <m:e>
                        <m:r>
                          <a:rPr lang="en-US" altLang="zh-CN" sz="2800" i="1">
                            <a:latin typeface="Cambria Math"/>
                          </a:rPr>
                          <m:t>𝐸</m:t>
                        </m:r>
                      </m:e>
                      <m:sub>
                        <m:r>
                          <a:rPr lang="en-US" altLang="zh-CN" sz="2800" i="1">
                            <a:latin typeface="Cambria Math"/>
                          </a:rPr>
                          <m:t>𝑗</m:t>
                        </m:r>
                      </m:sub>
                    </m:sSub>
                    <m:r>
                      <a:rPr lang="en-US" altLang="zh-CN" sz="2800" b="0" i="1" smtClean="0">
                        <a:latin typeface="Cambria Math"/>
                      </a:rPr>
                      <m:t>&gt;</m:t>
                    </m:r>
                    <m:sSub>
                      <m:sSubPr>
                        <m:ctrlPr>
                          <a:rPr lang="en-US" altLang="zh-CN" sz="2800" i="1">
                            <a:latin typeface="Cambria Math"/>
                          </a:rPr>
                        </m:ctrlPr>
                      </m:sSubPr>
                      <m:e>
                        <m:r>
                          <a:rPr lang="en-US" altLang="zh-CN" sz="2800" i="1">
                            <a:latin typeface="Cambria Math"/>
                          </a:rPr>
                          <m:t>𝐸</m:t>
                        </m:r>
                      </m:e>
                      <m:sub>
                        <m:r>
                          <a:rPr lang="en-US" altLang="zh-CN" sz="2800" i="1">
                            <a:latin typeface="Cambria Math"/>
                          </a:rPr>
                          <m:t>𝑖</m:t>
                        </m:r>
                      </m:sub>
                    </m:sSub>
                    <m:r>
                      <a:rPr lang="en-US" altLang="zh-CN" sz="2800" i="1">
                        <a:latin typeface="Cambria Math"/>
                      </a:rPr>
                      <m:t> </m:t>
                    </m:r>
                  </m:oMath>
                </a14:m>
                <a:r>
                  <a:rPr lang="zh-CN" altLang="en-US" sz="2800" dirty="0" smtClean="0"/>
                  <a:t>，概率</a:t>
                </a:r>
                <a14:m>
                  <m:oMath xmlns:m="http://schemas.openxmlformats.org/officeDocument/2006/math">
                    <m:r>
                      <a:rPr lang="en-US" altLang="zh-CN" sz="2800" b="0" i="1" dirty="0" smtClean="0">
                        <a:latin typeface="Cambria Math"/>
                      </a:rPr>
                      <m:t>𝑃</m:t>
                    </m:r>
                    <m:r>
                      <a:rPr lang="en-US" altLang="zh-CN" sz="2800" b="0" i="1" dirty="0" smtClean="0">
                        <a:latin typeface="Cambria Math"/>
                      </a:rPr>
                      <m:t>=</m:t>
                    </m:r>
                    <m:sSup>
                      <m:sSupPr>
                        <m:ctrlPr>
                          <a:rPr lang="en-US" altLang="zh-CN" sz="2800" b="0" i="1" dirty="0" smtClean="0">
                            <a:latin typeface="Cambria Math"/>
                          </a:rPr>
                        </m:ctrlPr>
                      </m:sSupPr>
                      <m:e>
                        <m:r>
                          <a:rPr lang="en-US" altLang="zh-CN" sz="2800" b="0" i="1" dirty="0" smtClean="0">
                            <a:latin typeface="Cambria Math"/>
                          </a:rPr>
                          <m:t>𝑒</m:t>
                        </m:r>
                      </m:e>
                      <m:sup>
                        <m:r>
                          <a:rPr lang="en-US" altLang="zh-CN" sz="2800" b="0" i="1" dirty="0" smtClean="0">
                            <a:latin typeface="Cambria Math"/>
                          </a:rPr>
                          <m:t>−</m:t>
                        </m:r>
                        <m:f>
                          <m:fPr>
                            <m:ctrlPr>
                              <a:rPr lang="en-US" altLang="zh-CN" sz="2800" b="0" i="1" dirty="0" smtClean="0">
                                <a:latin typeface="Cambria Math"/>
                              </a:rPr>
                            </m:ctrlPr>
                          </m:fPr>
                          <m:num>
                            <m:sSub>
                              <m:sSubPr>
                                <m:ctrlPr>
                                  <a:rPr lang="en-US" altLang="zh-CN" sz="2800" b="0" i="1" dirty="0" smtClean="0">
                                    <a:latin typeface="Cambria Math"/>
                                  </a:rPr>
                                </m:ctrlPr>
                              </m:sSubPr>
                              <m:e>
                                <m:r>
                                  <a:rPr lang="en-US" altLang="zh-CN" sz="2800" b="0" i="1" dirty="0" smtClean="0">
                                    <a:latin typeface="Cambria Math"/>
                                  </a:rPr>
                                  <m:t>𝐸</m:t>
                                </m:r>
                              </m:e>
                              <m:sub>
                                <m:r>
                                  <a:rPr lang="en-US" altLang="zh-CN" sz="2800" b="0" i="1" dirty="0" smtClean="0">
                                    <a:latin typeface="Cambria Math"/>
                                  </a:rPr>
                                  <m:t>𝑗</m:t>
                                </m:r>
                              </m:sub>
                            </m:sSub>
                            <m:r>
                              <a:rPr lang="en-US" altLang="zh-CN" sz="2800" b="0" i="1" dirty="0" smtClean="0">
                                <a:latin typeface="Cambria Math"/>
                              </a:rPr>
                              <m:t>−</m:t>
                            </m:r>
                            <m:sSub>
                              <m:sSubPr>
                                <m:ctrlPr>
                                  <a:rPr lang="en-US" altLang="zh-CN" sz="2800" b="0" i="1" dirty="0" smtClean="0">
                                    <a:latin typeface="Cambria Math"/>
                                  </a:rPr>
                                </m:ctrlPr>
                              </m:sSubPr>
                              <m:e>
                                <m:r>
                                  <a:rPr lang="en-US" altLang="zh-CN" sz="2800" b="0" i="1" dirty="0" smtClean="0">
                                    <a:latin typeface="Cambria Math"/>
                                  </a:rPr>
                                  <m:t>𝐸</m:t>
                                </m:r>
                              </m:e>
                              <m:sub>
                                <m:r>
                                  <a:rPr lang="en-US" altLang="zh-CN" sz="2800" b="0" i="1" dirty="0" smtClean="0">
                                    <a:latin typeface="Cambria Math"/>
                                  </a:rPr>
                                  <m:t>𝑖</m:t>
                                </m:r>
                              </m:sub>
                            </m:sSub>
                          </m:num>
                          <m:den>
                            <m:r>
                              <a:rPr lang="en-US" altLang="zh-CN" sz="2800" b="0" i="1" dirty="0" smtClean="0">
                                <a:latin typeface="Cambria Math"/>
                              </a:rPr>
                              <m:t>𝐾𝑇</m:t>
                            </m:r>
                          </m:den>
                        </m:f>
                      </m:sup>
                    </m:sSup>
                  </m:oMath>
                </a14:m>
                <a:r>
                  <a:rPr lang="zh-CN" altLang="en-US" sz="2800" dirty="0" smtClean="0"/>
                  <a:t>大于</a:t>
                </a:r>
                <a:r>
                  <a:rPr lang="en-US" altLang="zh-CN" sz="2800" dirty="0" smtClean="0"/>
                  <a:t>[0,1)</a:t>
                </a:r>
                <a:r>
                  <a:rPr lang="zh-CN" altLang="en-US" sz="2800" dirty="0" smtClean="0"/>
                  <a:t>区间的</a:t>
                </a:r>
                <a:endParaRPr lang="en-US" altLang="zh-CN" sz="2800" dirty="0" smtClean="0"/>
              </a:p>
              <a:p>
                <a:pPr>
                  <a:lnSpc>
                    <a:spcPct val="125000"/>
                  </a:lnSpc>
                </a:pPr>
                <a:r>
                  <a:rPr lang="zh-CN" altLang="en-US" sz="2800" dirty="0" smtClean="0"/>
                  <a:t>随机数，则仍接受状态 </a:t>
                </a:r>
                <a:r>
                  <a:rPr lang="en-US" altLang="zh-CN" sz="2800" dirty="0" smtClean="0"/>
                  <a:t>j </a:t>
                </a:r>
                <a:r>
                  <a:rPr lang="zh-CN" altLang="en-US" sz="2800" dirty="0" smtClean="0"/>
                  <a:t>为当前状态；</a:t>
                </a:r>
                <a:endParaRPr lang="en-US" altLang="zh-CN" sz="2800" dirty="0" smtClean="0"/>
              </a:p>
              <a:p>
                <a:pPr>
                  <a:lnSpc>
                    <a:spcPct val="125000"/>
                  </a:lnSpc>
                </a:pPr>
                <a:r>
                  <a:rPr lang="zh-CN" altLang="en-US" sz="2800" dirty="0"/>
                  <a:t>若</a:t>
                </a:r>
                <a:r>
                  <a:rPr lang="zh-CN" altLang="en-US" sz="2800" dirty="0" smtClean="0"/>
                  <a:t>不成立，则保留状态 </a:t>
                </a:r>
                <a:r>
                  <a:rPr lang="en-US" altLang="zh-CN" sz="2800" dirty="0" smtClean="0"/>
                  <a:t>I </a:t>
                </a:r>
                <a:r>
                  <a:rPr lang="zh-CN" altLang="en-US" sz="2800" dirty="0" smtClean="0"/>
                  <a:t>为当前状态。</a:t>
                </a:r>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899592" y="2708920"/>
                <a:ext cx="8391593" cy="3135025"/>
              </a:xfrm>
              <a:prstGeom prst="rect">
                <a:avLst/>
              </a:prstGeom>
              <a:blipFill rotWithShape="1">
                <a:blip r:embed="rId2"/>
                <a:stretch>
                  <a:fillRect l="-1526" t="-777" b="-2524"/>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738438" y="1462084"/>
            <a:ext cx="1439862" cy="936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新状态的内能</a:t>
            </a:r>
          </a:p>
        </p:txBody>
      </p:sp>
      <p:cxnSp>
        <p:nvCxnSpPr>
          <p:cNvPr id="6" name="直接箭头连接符 5"/>
          <p:cNvCxnSpPr>
            <a:stCxn id="4" idx="5"/>
          </p:cNvCxnSpPr>
          <p:nvPr/>
        </p:nvCxnSpPr>
        <p:spPr>
          <a:xfrm>
            <a:off x="3967163" y="2262184"/>
            <a:ext cx="452437" cy="28257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椭圆 7"/>
          <p:cNvSpPr/>
          <p:nvPr/>
        </p:nvSpPr>
        <p:spPr>
          <a:xfrm>
            <a:off x="6240463" y="1462084"/>
            <a:ext cx="1614487" cy="8001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当前状态的内能</a:t>
            </a:r>
          </a:p>
        </p:txBody>
      </p:sp>
      <p:cxnSp>
        <p:nvCxnSpPr>
          <p:cNvPr id="13" name="直接箭头连接符 12"/>
          <p:cNvCxnSpPr/>
          <p:nvPr/>
        </p:nvCxnSpPr>
        <p:spPr>
          <a:xfrm flipH="1">
            <a:off x="6078538" y="2179634"/>
            <a:ext cx="463550" cy="36036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5" name="椭圆 14"/>
          <p:cNvSpPr/>
          <p:nvPr/>
        </p:nvSpPr>
        <p:spPr>
          <a:xfrm>
            <a:off x="6280150" y="3800471"/>
            <a:ext cx="1574800" cy="6477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tx1"/>
                </a:solidFill>
              </a:rPr>
              <a:t>温度</a:t>
            </a:r>
          </a:p>
        </p:txBody>
      </p:sp>
      <p:cxnSp>
        <p:nvCxnSpPr>
          <p:cNvPr id="17" name="直接箭头连接符 16"/>
          <p:cNvCxnSpPr/>
          <p:nvPr/>
        </p:nvCxnSpPr>
        <p:spPr>
          <a:xfrm flipH="1" flipV="1">
            <a:off x="5603875" y="3638546"/>
            <a:ext cx="768350" cy="32385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1273" name="TextBox 1"/>
          <p:cNvSpPr txBox="1">
            <a:spLocks noChangeArrowheads="1"/>
          </p:cNvSpPr>
          <p:nvPr/>
        </p:nvSpPr>
        <p:spPr bwMode="auto">
          <a:xfrm>
            <a:off x="2008475" y="4725144"/>
            <a:ext cx="43396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ClrTx/>
              <a:buSzTx/>
              <a:buFontTx/>
              <a:buNone/>
            </a:pPr>
            <a:r>
              <a:rPr lang="en-US" altLang="zh-CN" sz="2400" dirty="0" err="1"/>
              <a:t>Ej</a:t>
            </a:r>
            <a:r>
              <a:rPr lang="en-US" altLang="zh-CN" sz="2400" dirty="0"/>
              <a:t>&gt;</a:t>
            </a:r>
            <a:r>
              <a:rPr lang="en-US" altLang="zh-CN" sz="2400" dirty="0" err="1"/>
              <a:t>Ei</a:t>
            </a:r>
            <a:r>
              <a:rPr lang="zh-CN" altLang="en-US" sz="2400" dirty="0"/>
              <a:t>（更差的解）时，</a:t>
            </a:r>
            <a:endParaRPr lang="en-US" altLang="zh-CN" sz="2400" dirty="0"/>
          </a:p>
          <a:p>
            <a:pPr eaLnBrk="1" hangingPunct="1">
              <a:spcBef>
                <a:spcPct val="0"/>
              </a:spcBef>
              <a:buClrTx/>
              <a:buSzTx/>
              <a:buFontTx/>
              <a:buNone/>
            </a:pPr>
            <a:r>
              <a:rPr lang="en-US" altLang="zh-CN" sz="2400" dirty="0"/>
              <a:t>0&lt;P&lt;1,P</a:t>
            </a:r>
            <a:r>
              <a:rPr lang="zh-CN" altLang="en-US" sz="2400" dirty="0"/>
              <a:t>随着</a:t>
            </a:r>
            <a:r>
              <a:rPr lang="en-US" altLang="zh-CN" sz="2400" dirty="0"/>
              <a:t>T</a:t>
            </a:r>
            <a:r>
              <a:rPr lang="zh-CN" altLang="en-US" sz="2400" dirty="0"/>
              <a:t>的减小而减小；</a:t>
            </a:r>
          </a:p>
        </p:txBody>
      </p:sp>
      <p:sp>
        <p:nvSpPr>
          <p:cNvPr id="1127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mc:AlternateContent xmlns:mc="http://schemas.openxmlformats.org/markup-compatibility/2006" xmlns:a14="http://schemas.microsoft.com/office/drawing/2010/main">
        <mc:Choice Requires="a14">
          <p:sp>
            <p:nvSpPr>
              <p:cNvPr id="3" name="TextBox 2"/>
              <p:cNvSpPr txBox="1"/>
              <p:nvPr/>
            </p:nvSpPr>
            <p:spPr>
              <a:xfrm>
                <a:off x="1093044" y="2398709"/>
                <a:ext cx="5748238" cy="16811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6600" i="1" dirty="0">
                          <a:latin typeface="Cambria Math"/>
                        </a:rPr>
                        <m:t>𝑃</m:t>
                      </m:r>
                      <m:r>
                        <a:rPr lang="en-US" altLang="zh-CN" sz="6600" i="1" dirty="0">
                          <a:latin typeface="Cambria Math"/>
                        </a:rPr>
                        <m:t>=</m:t>
                      </m:r>
                      <m:sSup>
                        <m:sSupPr>
                          <m:ctrlPr>
                            <a:rPr lang="en-US" altLang="zh-CN" sz="6600" i="1" dirty="0">
                              <a:latin typeface="Cambria Math"/>
                            </a:rPr>
                          </m:ctrlPr>
                        </m:sSupPr>
                        <m:e>
                          <m:r>
                            <a:rPr lang="en-US" altLang="zh-CN" sz="6600" i="1" dirty="0">
                              <a:latin typeface="Cambria Math"/>
                            </a:rPr>
                            <m:t>𝑒</m:t>
                          </m:r>
                        </m:e>
                        <m:sup>
                          <m:r>
                            <a:rPr lang="en-US" altLang="zh-CN" sz="6600" i="1" dirty="0">
                              <a:latin typeface="Cambria Math"/>
                            </a:rPr>
                            <m:t>−</m:t>
                          </m:r>
                          <m:f>
                            <m:fPr>
                              <m:ctrlPr>
                                <a:rPr lang="en-US" altLang="zh-CN" sz="6600" i="1" dirty="0">
                                  <a:latin typeface="Cambria Math"/>
                                </a:rPr>
                              </m:ctrlPr>
                            </m:fPr>
                            <m:num>
                              <m:sSub>
                                <m:sSubPr>
                                  <m:ctrlPr>
                                    <a:rPr lang="en-US" altLang="zh-CN" sz="6600" i="1" dirty="0">
                                      <a:latin typeface="Cambria Math"/>
                                    </a:rPr>
                                  </m:ctrlPr>
                                </m:sSubPr>
                                <m:e>
                                  <m:r>
                                    <a:rPr lang="en-US" altLang="zh-CN" sz="6600" i="1" dirty="0">
                                      <a:latin typeface="Cambria Math"/>
                                    </a:rPr>
                                    <m:t>𝐸</m:t>
                                  </m:r>
                                </m:e>
                                <m:sub>
                                  <m:r>
                                    <a:rPr lang="en-US" altLang="zh-CN" sz="6600" i="1" dirty="0">
                                      <a:latin typeface="Cambria Math"/>
                                    </a:rPr>
                                    <m:t>𝑗</m:t>
                                  </m:r>
                                </m:sub>
                              </m:sSub>
                              <m:r>
                                <a:rPr lang="en-US" altLang="zh-CN" sz="6600" i="1" dirty="0">
                                  <a:latin typeface="Cambria Math"/>
                                </a:rPr>
                                <m:t>−</m:t>
                              </m:r>
                              <m:sSub>
                                <m:sSubPr>
                                  <m:ctrlPr>
                                    <a:rPr lang="en-US" altLang="zh-CN" sz="6600" i="1" dirty="0">
                                      <a:latin typeface="Cambria Math"/>
                                    </a:rPr>
                                  </m:ctrlPr>
                                </m:sSubPr>
                                <m:e>
                                  <m:r>
                                    <a:rPr lang="en-US" altLang="zh-CN" sz="6600" i="1" dirty="0">
                                      <a:latin typeface="Cambria Math"/>
                                    </a:rPr>
                                    <m:t>𝐸</m:t>
                                  </m:r>
                                </m:e>
                                <m:sub>
                                  <m:r>
                                    <a:rPr lang="en-US" altLang="zh-CN" sz="6600" i="1" dirty="0">
                                      <a:latin typeface="Cambria Math"/>
                                    </a:rPr>
                                    <m:t>𝑖</m:t>
                                  </m:r>
                                </m:sub>
                              </m:sSub>
                            </m:num>
                            <m:den>
                              <m:r>
                                <a:rPr lang="en-US" altLang="zh-CN" sz="6600" i="1" dirty="0">
                                  <a:latin typeface="Cambria Math"/>
                                </a:rPr>
                                <m:t>𝐾𝑇</m:t>
                              </m:r>
                            </m:den>
                          </m:f>
                        </m:sup>
                      </m:sSup>
                    </m:oMath>
                  </m:oMathPara>
                </a14:m>
                <a:endParaRPr lang="zh-CN" altLang="en-US" sz="6600" dirty="0"/>
              </a:p>
            </p:txBody>
          </p:sp>
        </mc:Choice>
        <mc:Fallback xmlns="">
          <p:sp>
            <p:nvSpPr>
              <p:cNvPr id="3" name="TextBox 2"/>
              <p:cNvSpPr txBox="1">
                <a:spLocks noRot="1" noChangeAspect="1" noMove="1" noResize="1" noEditPoints="1" noAdjustHandles="1" noChangeArrowheads="1" noChangeShapeType="1" noTextEdit="1"/>
              </p:cNvSpPr>
              <p:nvPr/>
            </p:nvSpPr>
            <p:spPr>
              <a:xfrm>
                <a:off x="1093044" y="2398709"/>
                <a:ext cx="5748238" cy="1681166"/>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5" name="TextBox 4"/>
          <p:cNvSpPr txBox="1"/>
          <p:nvPr/>
        </p:nvSpPr>
        <p:spPr>
          <a:xfrm>
            <a:off x="326319" y="2492896"/>
            <a:ext cx="8494633" cy="3785652"/>
          </a:xfrm>
          <a:prstGeom prst="rect">
            <a:avLst/>
          </a:prstGeom>
          <a:noFill/>
        </p:spPr>
        <p:txBody>
          <a:bodyPr wrap="none" rtlCol="0">
            <a:spAutoFit/>
          </a:bodyPr>
          <a:lstStyle/>
          <a:p>
            <a:r>
              <a:rPr lang="zh-CN" altLang="en-US" sz="2400" dirty="0" smtClean="0"/>
              <a:t>       当初始温度足够高时，概率</a:t>
            </a:r>
            <a:r>
              <a:rPr lang="en-US" altLang="zh-CN" sz="2400" dirty="0" smtClean="0"/>
              <a:t>P</a:t>
            </a:r>
            <a:r>
              <a:rPr lang="zh-CN" altLang="en-US" sz="2400" dirty="0" smtClean="0"/>
              <a:t>接近于</a:t>
            </a:r>
            <a:r>
              <a:rPr lang="en-US" altLang="zh-CN" sz="2400" dirty="0" smtClean="0"/>
              <a:t>1</a:t>
            </a:r>
            <a:r>
              <a:rPr lang="zh-CN" altLang="en-US" sz="2400" dirty="0" smtClean="0"/>
              <a:t>，所以当前解</a:t>
            </a:r>
            <a:endParaRPr lang="en-US" altLang="zh-CN" sz="2400" dirty="0" smtClean="0"/>
          </a:p>
          <a:p>
            <a:r>
              <a:rPr lang="zh-CN" altLang="en-US" sz="2400" dirty="0" smtClean="0"/>
              <a:t>经过扰动产生的新解，无论好坏，基本都可以被接受为</a:t>
            </a:r>
            <a:endParaRPr lang="en-US" altLang="zh-CN" sz="2400" dirty="0" smtClean="0"/>
          </a:p>
          <a:p>
            <a:r>
              <a:rPr lang="zh-CN" altLang="en-US" sz="2400" dirty="0" smtClean="0"/>
              <a:t>当前解。即不受制于当前解，不会困在局部最优解中，可</a:t>
            </a:r>
            <a:endParaRPr lang="en-US" altLang="zh-CN" sz="2400" dirty="0" smtClean="0"/>
          </a:p>
          <a:p>
            <a:r>
              <a:rPr lang="zh-CN" altLang="en-US" sz="2400" dirty="0" smtClean="0"/>
              <a:t>以遍及解空间的各个区域，当然也不会保持在最优解处。</a:t>
            </a:r>
            <a:endParaRPr lang="en-US" altLang="zh-CN" sz="2400" dirty="0" smtClean="0"/>
          </a:p>
          <a:p>
            <a:endParaRPr lang="en-US" altLang="zh-CN" sz="2400" dirty="0"/>
          </a:p>
          <a:p>
            <a:r>
              <a:rPr lang="zh-CN" altLang="en-US" sz="2400" dirty="0"/>
              <a:t> </a:t>
            </a:r>
            <a:r>
              <a:rPr lang="zh-CN" altLang="en-US" sz="2400" dirty="0" smtClean="0"/>
              <a:t>       随着温度降低，概率降低，较差解被接受的次数减少，</a:t>
            </a:r>
            <a:endParaRPr lang="en-US" altLang="zh-CN" sz="2400" dirty="0" smtClean="0"/>
          </a:p>
          <a:p>
            <a:r>
              <a:rPr lang="zh-CN" altLang="en-US" sz="2400" dirty="0" smtClean="0"/>
              <a:t>当前解逐渐停留到最优解周围。</a:t>
            </a:r>
            <a:endParaRPr lang="en-US" altLang="zh-CN" sz="2400" dirty="0" smtClean="0"/>
          </a:p>
          <a:p>
            <a:r>
              <a:rPr lang="en-US" altLang="zh-CN" sz="2400" dirty="0" smtClean="0"/>
              <a:t> </a:t>
            </a:r>
          </a:p>
          <a:p>
            <a:r>
              <a:rPr lang="zh-CN" altLang="en-US" sz="2400" dirty="0" smtClean="0"/>
              <a:t>        温度达到终止温度前，概率足够低，使得只有最优解</a:t>
            </a:r>
            <a:endParaRPr lang="en-US" altLang="zh-CN" sz="2400" dirty="0" smtClean="0"/>
          </a:p>
          <a:p>
            <a:r>
              <a:rPr lang="zh-CN" altLang="en-US" sz="2400" dirty="0" smtClean="0"/>
              <a:t>被接受，较差解都不接受。最优解即为最后接受的当前解。</a:t>
            </a:r>
            <a:endParaRPr lang="zh-CN" altLang="en-US" dirty="0"/>
          </a:p>
        </p:txBody>
      </p:sp>
      <p:sp>
        <p:nvSpPr>
          <p:cNvPr id="16" name="Rectangle 31"/>
          <p:cNvSpPr txBox="1">
            <a:spLocks noChangeArrowheads="1"/>
          </p:cNvSpPr>
          <p:nvPr/>
        </p:nvSpPr>
        <p:spPr bwMode="auto">
          <a:xfrm>
            <a:off x="41275" y="838200"/>
            <a:ext cx="3954463" cy="574675"/>
          </a:xfrm>
          <a:prstGeom prst="rect">
            <a:avLst/>
          </a:prstGeom>
          <a:solidFill>
            <a:srgbClr val="33CCFF"/>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eaLnBrk="0" hangingPunct="0">
              <a:spcBef>
                <a:spcPct val="20000"/>
              </a:spcBef>
              <a:buClr>
                <a:schemeClr val="hlink"/>
              </a:buClr>
              <a:buSzPct val="70000"/>
              <a:buFont typeface="Wingdings" pitchFamily="2" charset="2"/>
              <a:buChar char="v"/>
              <a:defRPr sz="3200">
                <a:solidFill>
                  <a:schemeClr val="tx1"/>
                </a:solidFill>
                <a:latin typeface="Arial" charset="0"/>
                <a:ea typeface="宋体" pitchFamily="2" charset="-122"/>
              </a:defRPr>
            </a:lvl1pPr>
            <a:lvl2pPr marL="742950" indent="-285750" eaLnBrk="0" hangingPunct="0">
              <a:spcBef>
                <a:spcPct val="20000"/>
              </a:spcBef>
              <a:buClr>
                <a:schemeClr val="accent2"/>
              </a:buClr>
              <a:buSzPct val="85000"/>
              <a:buFont typeface="Wingdings" pitchFamily="2" charset="2"/>
              <a:buChar char=""/>
              <a:defRPr sz="2800">
                <a:solidFill>
                  <a:schemeClr val="tx1"/>
                </a:solidFill>
                <a:latin typeface="Arial" charset="0"/>
                <a:ea typeface="宋体" pitchFamily="2" charset="-122"/>
              </a:defRPr>
            </a:lvl2pPr>
            <a:lvl3pPr marL="1143000" indent="-228600" eaLnBrk="0" hangingPunct="0">
              <a:spcBef>
                <a:spcPct val="20000"/>
              </a:spcBef>
              <a:buClr>
                <a:schemeClr val="hlink"/>
              </a:buClr>
              <a:buSzPct val="80000"/>
              <a:buFont typeface="Wingdings" pitchFamily="2" charset="2"/>
              <a:buChar char="v"/>
              <a:defRPr sz="2400">
                <a:solidFill>
                  <a:schemeClr val="tx1"/>
                </a:solidFill>
                <a:latin typeface="Arial" charset="0"/>
                <a:ea typeface="宋体" pitchFamily="2" charset="-122"/>
              </a:defRPr>
            </a:lvl3pPr>
            <a:lvl4pPr marL="1600200" indent="-228600" eaLnBrk="0" hangingPunct="0">
              <a:spcBef>
                <a:spcPct val="20000"/>
              </a:spcBef>
              <a:buClr>
                <a:schemeClr val="accent2"/>
              </a:buClr>
              <a:buSzPct val="90000"/>
              <a:buFont typeface="Wingdings" pitchFamily="2" charset="2"/>
              <a:buChar char=""/>
              <a:defRPr sz="2000">
                <a:solidFill>
                  <a:schemeClr val="tx1"/>
                </a:solidFill>
                <a:latin typeface="Arial" charset="0"/>
                <a:ea typeface="宋体" pitchFamily="2" charset="-122"/>
              </a:defRPr>
            </a:lvl4pPr>
            <a:lvl5pPr marL="2057400" indent="-228600" eaLnBrk="0" hangingPunct="0">
              <a:spcBef>
                <a:spcPct val="20000"/>
              </a:spcBef>
              <a:buClr>
                <a:schemeClr val="hlink"/>
              </a:buClr>
              <a:buSzPct val="85000"/>
              <a:buFont typeface="Wingdings" pitchFamily="2" charset="2"/>
              <a:buChar char="v"/>
              <a:defRPr sz="2000">
                <a:solidFill>
                  <a:schemeClr val="tx1"/>
                </a:solidFill>
                <a:latin typeface="Arial" charset="0"/>
                <a:ea typeface="宋体" pitchFamily="2" charset="-122"/>
              </a:defRPr>
            </a:lvl5pPr>
            <a:lvl6pPr marL="25146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6pPr>
            <a:lvl7pPr marL="29718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7pPr>
            <a:lvl8pPr marL="34290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8pPr>
            <a:lvl9pPr marL="3886200" indent="-228600" eaLnBrk="0" fontAlgn="base" hangingPunct="0">
              <a:spcBef>
                <a:spcPct val="20000"/>
              </a:spcBef>
              <a:spcAft>
                <a:spcPct val="0"/>
              </a:spcAft>
              <a:buClr>
                <a:schemeClr val="hlink"/>
              </a:buClr>
              <a:buSzPct val="85000"/>
              <a:buFont typeface="Wingdings" pitchFamily="2" charset="2"/>
              <a:buChar char="v"/>
              <a:defRPr sz="2000">
                <a:solidFill>
                  <a:schemeClr val="tx1"/>
                </a:solidFill>
                <a:latin typeface="Arial" charset="0"/>
                <a:ea typeface="宋体" pitchFamily="2" charset="-122"/>
              </a:defRPr>
            </a:lvl9pPr>
          </a:lstStyle>
          <a:p>
            <a:pPr eaLnBrk="1" hangingPunct="1">
              <a:spcBef>
                <a:spcPct val="0"/>
              </a:spcBef>
              <a:buFont typeface="Wingdings" pitchFamily="2" charset="2"/>
              <a:buNone/>
            </a:pPr>
            <a:r>
              <a:rPr lang="zh-CN" altLang="en-US" dirty="0" smtClean="0">
                <a:solidFill>
                  <a:srgbClr val="000000"/>
                </a:solidFill>
              </a:rPr>
              <a:t>算法总结</a:t>
            </a:r>
            <a:endParaRPr lang="zh-CN" altLang="en-US" dirty="0">
              <a:solidFill>
                <a:srgbClr val="000000"/>
              </a:solidFill>
            </a:endParaRPr>
          </a:p>
        </p:txBody>
      </p:sp>
      <p:sp>
        <p:nvSpPr>
          <p:cNvPr id="18" name="TextBox 4"/>
          <p:cNvSpPr txBox="1">
            <a:spLocks noChangeArrowheads="1"/>
          </p:cNvSpPr>
          <p:nvPr/>
        </p:nvSpPr>
        <p:spPr bwMode="auto">
          <a:xfrm>
            <a:off x="326319" y="1538789"/>
            <a:ext cx="844333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2800" dirty="0">
                <a:solidFill>
                  <a:srgbClr val="000000"/>
                </a:solidFill>
              </a:rPr>
              <a:t>在高温下，可接受与当前状态能量差较大的新状态；</a:t>
            </a:r>
            <a:endParaRPr lang="en-US" altLang="zh-CN" sz="2800" dirty="0">
              <a:solidFill>
                <a:srgbClr val="000000"/>
              </a:solidFill>
            </a:endParaRPr>
          </a:p>
          <a:p>
            <a:pPr eaLnBrk="1" hangingPunct="1"/>
            <a:r>
              <a:rPr lang="zh-CN" altLang="en-US" sz="2800" dirty="0">
                <a:solidFill>
                  <a:srgbClr val="000000"/>
                </a:solidFill>
              </a:rPr>
              <a:t>在低温下，只接受与当前状态能量差较小的新状态</a:t>
            </a:r>
            <a:r>
              <a:rPr lang="zh-CN" altLang="en-US" sz="2800" dirty="0" smtClean="0">
                <a:solidFill>
                  <a:srgbClr val="000000"/>
                </a:solidFill>
              </a:rPr>
              <a:t>。</a:t>
            </a:r>
            <a:endParaRPr lang="zh-CN" altLang="en-US" sz="2800" dirty="0">
              <a:solidFill>
                <a:srgbClr val="000000"/>
              </a:solidFill>
            </a:endParaRPr>
          </a:p>
        </p:txBody>
      </p:sp>
    </p:spTree>
    <p:extLst>
      <p:ext uri="{BB962C8B-B14F-4D97-AF65-F5344CB8AC3E}">
        <p14:creationId xmlns:p14="http://schemas.microsoft.com/office/powerpoint/2010/main" val="171401978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3315" name="Rectangle 31"/>
          <p:cNvSpPr>
            <a:spLocks noGrp="1" noChangeArrowheads="1"/>
          </p:cNvSpPr>
          <p:nvPr>
            <p:ph idx="1"/>
          </p:nvPr>
        </p:nvSpPr>
        <p:spPr>
          <a:xfrm>
            <a:off x="41275" y="838200"/>
            <a:ext cx="48180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三、算法其他参数的说明</a:t>
            </a:r>
          </a:p>
        </p:txBody>
      </p:sp>
      <mc:AlternateContent xmlns:mc="http://schemas.openxmlformats.org/markup-compatibility/2006" xmlns:a14="http://schemas.microsoft.com/office/drawing/2010/main">
        <mc:Choice Requires="a14">
          <p:sp>
            <p:nvSpPr>
              <p:cNvPr id="2" name="TextBox 1"/>
              <p:cNvSpPr txBox="1"/>
              <p:nvPr/>
            </p:nvSpPr>
            <p:spPr>
              <a:xfrm>
                <a:off x="899592" y="1628800"/>
                <a:ext cx="7200800" cy="4247317"/>
              </a:xfrm>
              <a:prstGeom prst="rect">
                <a:avLst/>
              </a:prstGeom>
              <a:noFill/>
            </p:spPr>
            <p:txBody>
              <a:bodyPr wrap="square" rtlCol="0">
                <a:spAutoFit/>
              </a:bodyPr>
              <a:lstStyle/>
              <a:p>
                <a:pPr>
                  <a:lnSpc>
                    <a:spcPct val="125000"/>
                  </a:lnSpc>
                </a:pPr>
                <a:r>
                  <a:rPr lang="zh-CN" altLang="en-US" sz="2400" dirty="0" smtClean="0"/>
                  <a:t>       退火过程由一组初始参数，即冷却进度表控制，它的核心是尽量使系统达到准平衡，以使算法在有限的时间内逼近最优解。冷却进度表包括：</a:t>
                </a:r>
                <a:endParaRPr lang="en-US" altLang="zh-CN" sz="2400" dirty="0" smtClean="0"/>
              </a:p>
              <a:p>
                <a:pPr marL="342900" indent="-342900">
                  <a:lnSpc>
                    <a:spcPct val="125000"/>
                  </a:lnSpc>
                  <a:buAutoNum type="arabicPeriod"/>
                </a:pPr>
                <a:r>
                  <a:rPr lang="zh-CN" altLang="en-US" sz="2400" dirty="0" smtClean="0"/>
                  <a:t>控制参数的初值</a:t>
                </a:r>
                <a14:m>
                  <m:oMath xmlns:m="http://schemas.openxmlformats.org/officeDocument/2006/math">
                    <m:sSub>
                      <m:sSubPr>
                        <m:ctrlPr>
                          <a:rPr lang="en-US" altLang="zh-CN" sz="2400" i="1" smtClean="0">
                            <a:latin typeface="Cambria Math"/>
                          </a:rPr>
                        </m:ctrlPr>
                      </m:sSubPr>
                      <m:e>
                        <m:r>
                          <a:rPr lang="en-US" altLang="zh-CN" sz="2400" b="0" i="1" smtClean="0">
                            <a:latin typeface="Cambria Math"/>
                          </a:rPr>
                          <m:t>𝑇</m:t>
                        </m:r>
                      </m:e>
                      <m:sub>
                        <m:r>
                          <a:rPr lang="en-US" altLang="zh-CN" sz="2400" b="0" i="1" smtClean="0">
                            <a:latin typeface="Cambria Math"/>
                          </a:rPr>
                          <m:t>0</m:t>
                        </m:r>
                      </m:sub>
                    </m:sSub>
                  </m:oMath>
                </a14:m>
                <a:r>
                  <a:rPr lang="en-US" altLang="zh-CN" sz="2400" dirty="0" smtClean="0"/>
                  <a:t>:</a:t>
                </a:r>
                <a:r>
                  <a:rPr lang="zh-CN" altLang="en-US" sz="2400" dirty="0" smtClean="0"/>
                  <a:t>冷却开始的温度；</a:t>
                </a:r>
                <a:endParaRPr lang="en-US" altLang="zh-CN" sz="2400" dirty="0" smtClean="0"/>
              </a:p>
              <a:p>
                <a:pPr marL="342900" indent="-342900">
                  <a:lnSpc>
                    <a:spcPct val="125000"/>
                  </a:lnSpc>
                  <a:buAutoNum type="arabicPeriod"/>
                </a:pPr>
                <a:r>
                  <a:rPr lang="zh-CN" altLang="en-US" sz="2400" dirty="0" smtClean="0"/>
                  <a:t>控制参数</a:t>
                </a:r>
                <a:r>
                  <a:rPr lang="en-US" altLang="zh-CN" sz="2400" dirty="0" smtClean="0"/>
                  <a:t>T</a:t>
                </a:r>
                <a:r>
                  <a:rPr lang="zh-CN" altLang="en-US" sz="2400" dirty="0" smtClean="0"/>
                  <a:t>的衰减函数：要将连续的降温过程，离散成降温过程中的一系列温度点，衰减函数即计算这一系列温度的表达式；</a:t>
                </a:r>
                <a:endParaRPr lang="en-US" altLang="zh-CN" sz="2400" dirty="0" smtClean="0"/>
              </a:p>
              <a:p>
                <a:pPr>
                  <a:lnSpc>
                    <a:spcPct val="125000"/>
                  </a:lnSpc>
                </a:pPr>
                <a:r>
                  <a:rPr lang="en-US" altLang="zh-CN" sz="2400" dirty="0" smtClean="0"/>
                  <a:t>3. </a:t>
                </a:r>
                <a:r>
                  <a:rPr lang="zh-CN" altLang="en-US" sz="2400" dirty="0" smtClean="0"/>
                  <a:t>控制参数</a:t>
                </a:r>
                <a:r>
                  <a:rPr lang="en-US" altLang="zh-CN" sz="2400" dirty="0" smtClean="0"/>
                  <a:t>T</a:t>
                </a:r>
                <a:r>
                  <a:rPr lang="zh-CN" altLang="en-US" sz="2400" dirty="0" smtClean="0"/>
                  <a:t>的终值</a:t>
                </a:r>
                <a14:m>
                  <m:oMath xmlns:m="http://schemas.openxmlformats.org/officeDocument/2006/math">
                    <m:sSub>
                      <m:sSubPr>
                        <m:ctrlPr>
                          <a:rPr lang="en-US" altLang="zh-CN" sz="2400" i="1">
                            <a:latin typeface="Cambria Math"/>
                          </a:rPr>
                        </m:ctrlPr>
                      </m:sSubPr>
                      <m:e>
                        <m:r>
                          <a:rPr lang="en-US" altLang="zh-CN" sz="2400" i="1">
                            <a:latin typeface="Cambria Math"/>
                          </a:rPr>
                          <m:t>𝑇</m:t>
                        </m:r>
                      </m:e>
                      <m:sub>
                        <m:r>
                          <a:rPr lang="en-US" altLang="zh-CN" sz="2400" b="0" i="1" smtClean="0">
                            <a:latin typeface="Cambria Math"/>
                          </a:rPr>
                          <m:t>𝑓</m:t>
                        </m:r>
                      </m:sub>
                    </m:sSub>
                  </m:oMath>
                </a14:m>
                <a:r>
                  <a:rPr lang="zh-CN" altLang="en-US" sz="2400" dirty="0" smtClean="0"/>
                  <a:t>（停止准则）；</a:t>
                </a:r>
                <a:endParaRPr lang="en-US" altLang="zh-CN" sz="2400" dirty="0" smtClean="0"/>
              </a:p>
              <a:p>
                <a:pPr>
                  <a:lnSpc>
                    <a:spcPct val="125000"/>
                  </a:lnSpc>
                </a:pPr>
                <a:r>
                  <a:rPr lang="en-US" altLang="zh-CN" sz="2400" dirty="0" smtClean="0"/>
                  <a:t>4. Markov</a:t>
                </a:r>
                <a:r>
                  <a:rPr lang="zh-CN" altLang="en-US" sz="2400" dirty="0" smtClean="0"/>
                  <a:t>链的长度</a:t>
                </a:r>
                <a14:m>
                  <m:oMath xmlns:m="http://schemas.openxmlformats.org/officeDocument/2006/math">
                    <m:sSub>
                      <m:sSubPr>
                        <m:ctrlPr>
                          <a:rPr lang="en-US" altLang="zh-CN" sz="2400" i="1">
                            <a:latin typeface="Cambria Math"/>
                          </a:rPr>
                        </m:ctrlPr>
                      </m:sSubPr>
                      <m:e>
                        <m:r>
                          <a:rPr lang="en-US" altLang="zh-CN" sz="2400" b="0" i="1" smtClean="0">
                            <a:latin typeface="Cambria Math"/>
                          </a:rPr>
                          <m:t>𝐿</m:t>
                        </m:r>
                      </m:e>
                      <m:sub>
                        <m:r>
                          <a:rPr lang="en-US" altLang="zh-CN" sz="2400" b="0" i="1" smtClean="0">
                            <a:latin typeface="Cambria Math"/>
                          </a:rPr>
                          <m:t>𝑘</m:t>
                        </m:r>
                      </m:sub>
                    </m:sSub>
                  </m:oMath>
                </a14:m>
                <a:r>
                  <a:rPr lang="zh-CN" altLang="en-US" sz="2400" dirty="0" smtClean="0"/>
                  <a:t>：任意温度</a:t>
                </a:r>
                <a:r>
                  <a:rPr lang="en-US" altLang="zh-CN" sz="2400" dirty="0" smtClean="0"/>
                  <a:t>T</a:t>
                </a:r>
                <a:r>
                  <a:rPr lang="zh-CN" altLang="en-US" sz="2400" dirty="0" smtClean="0"/>
                  <a:t>的迭代次数。</a:t>
                </a:r>
                <a:endParaRPr lang="zh-CN" altLang="en-US"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899592" y="1628800"/>
                <a:ext cx="7200800" cy="4247317"/>
              </a:xfrm>
              <a:prstGeom prst="rect">
                <a:avLst/>
              </a:prstGeom>
              <a:blipFill rotWithShape="1">
                <a:blip r:embed="rId2"/>
                <a:stretch>
                  <a:fillRect l="-1355" t="-574" r="-1185" b="-2152"/>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4339"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四、算法基本步骤</a:t>
            </a:r>
          </a:p>
        </p:txBody>
      </p:sp>
      <mc:AlternateContent xmlns:mc="http://schemas.openxmlformats.org/markup-compatibility/2006" xmlns:a14="http://schemas.microsoft.com/office/drawing/2010/main">
        <mc:Choice Requires="a14">
          <p:sp>
            <p:nvSpPr>
              <p:cNvPr id="3" name="TextBox 2"/>
              <p:cNvSpPr txBox="1"/>
              <p:nvPr/>
            </p:nvSpPr>
            <p:spPr>
              <a:xfrm>
                <a:off x="683568" y="1332577"/>
                <a:ext cx="8136904" cy="5525423"/>
              </a:xfrm>
              <a:prstGeom prst="rect">
                <a:avLst/>
              </a:prstGeom>
              <a:noFill/>
            </p:spPr>
            <p:txBody>
              <a:bodyPr wrap="square" rtlCol="0">
                <a:spAutoFit/>
              </a:bodyPr>
              <a:lstStyle/>
              <a:p>
                <a:pPr>
                  <a:lnSpc>
                    <a:spcPct val="125000"/>
                  </a:lnSpc>
                </a:pPr>
                <a:r>
                  <a:rPr lang="en-US" altLang="zh-CN" sz="2400" dirty="0" smtClean="0"/>
                  <a:t>1</a:t>
                </a:r>
                <a:r>
                  <a:rPr lang="zh-CN" altLang="en-US" sz="2400" dirty="0" smtClean="0"/>
                  <a:t>、</a:t>
                </a:r>
                <a14:m>
                  <m:oMath xmlns:m="http://schemas.openxmlformats.org/officeDocument/2006/math">
                    <m:r>
                      <a:rPr lang="zh-CN" altLang="en-US" sz="2400" i="1" dirty="0" smtClean="0">
                        <a:latin typeface="Cambria Math"/>
                      </a:rPr>
                      <m:t>令</m:t>
                    </m:r>
                    <m:r>
                      <m:rPr>
                        <m:sty m:val="p"/>
                      </m:rPr>
                      <a:rPr lang="en-US" altLang="zh-CN" sz="2400" i="1" dirty="0">
                        <a:latin typeface="Cambria Math"/>
                      </a:rPr>
                      <m:t>T</m:t>
                    </m:r>
                    <m:r>
                      <a:rPr lang="en-US" altLang="zh-CN" sz="2400" b="0" i="1" dirty="0" smtClean="0">
                        <a:latin typeface="Cambria Math"/>
                      </a:rPr>
                      <m:t>=</m:t>
                    </m:r>
                    <m:sSub>
                      <m:sSubPr>
                        <m:ctrlPr>
                          <a:rPr lang="en-US" altLang="zh-CN" sz="2400" b="0" i="1" dirty="0" smtClean="0">
                            <a:latin typeface="Cambria Math"/>
                          </a:rPr>
                        </m:ctrlPr>
                      </m:sSubPr>
                      <m:e>
                        <m:r>
                          <a:rPr lang="en-US" altLang="zh-CN" sz="2400" b="0" i="1" dirty="0" smtClean="0">
                            <a:latin typeface="Cambria Math"/>
                          </a:rPr>
                          <m:t>𝑇</m:t>
                        </m:r>
                      </m:e>
                      <m:sub>
                        <m:r>
                          <a:rPr lang="en-US" altLang="zh-CN" sz="2400" b="0" i="1" dirty="0" smtClean="0">
                            <a:latin typeface="Cambria Math"/>
                          </a:rPr>
                          <m:t>0</m:t>
                        </m:r>
                      </m:sub>
                    </m:sSub>
                  </m:oMath>
                </a14:m>
                <a:r>
                  <a:rPr lang="zh-CN" altLang="en-US" sz="2400" dirty="0" smtClean="0"/>
                  <a:t>，随机生成一个初始解</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𝑥</m:t>
                        </m:r>
                      </m:e>
                      <m:sub>
                        <m:r>
                          <a:rPr lang="en-US" altLang="zh-CN" sz="2400" i="1" dirty="0">
                            <a:latin typeface="Cambria Math"/>
                          </a:rPr>
                          <m:t>0</m:t>
                        </m:r>
                      </m:sub>
                    </m:sSub>
                  </m:oMath>
                </a14:m>
                <a:r>
                  <a:rPr lang="zh-CN" altLang="en-US" sz="2400" dirty="0" smtClean="0"/>
                  <a:t>，并计算相应的</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目标函数值</a:t>
                </a:r>
                <a14:m>
                  <m:oMath xmlns:m="http://schemas.openxmlformats.org/officeDocument/2006/math">
                    <m:r>
                      <a:rPr lang="en-US" altLang="zh-CN" sz="2400" i="1" dirty="0" smtClean="0">
                        <a:latin typeface="Cambria Math"/>
                      </a:rPr>
                      <m:t>𝐸</m:t>
                    </m:r>
                  </m:oMath>
                </a14:m>
                <a:r>
                  <a:rPr lang="en-US" altLang="zh-CN" sz="2400" dirty="0" smtClean="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0</m:t>
                        </m:r>
                      </m:sub>
                    </m:sSub>
                  </m:oMath>
                </a14:m>
                <a:r>
                  <a:rPr lang="en-US" altLang="zh-CN" sz="2400" dirty="0" smtClean="0"/>
                  <a:t>)</a:t>
                </a:r>
                <a:r>
                  <a:rPr lang="zh-CN" altLang="en-US" sz="2400" dirty="0" smtClean="0"/>
                  <a:t>；</a:t>
                </a:r>
                <a:endParaRPr lang="en-US" altLang="zh-CN" sz="2400" dirty="0" smtClean="0"/>
              </a:p>
              <a:p>
                <a:pPr>
                  <a:lnSpc>
                    <a:spcPct val="125000"/>
                  </a:lnSpc>
                </a:pPr>
                <a:r>
                  <a:rPr lang="en-US" altLang="zh-CN" sz="2400" dirty="0" smtClean="0"/>
                  <a:t>2</a:t>
                </a:r>
                <a:r>
                  <a:rPr lang="zh-CN" altLang="en-US" sz="2400" dirty="0" smtClean="0"/>
                  <a:t>、令</a:t>
                </a:r>
                <a14:m>
                  <m:oMath xmlns:m="http://schemas.openxmlformats.org/officeDocument/2006/math">
                    <m:r>
                      <m:rPr>
                        <m:sty m:val="p"/>
                      </m:rPr>
                      <a:rPr lang="en-US" altLang="zh-CN" sz="2400" i="1" dirty="0">
                        <a:latin typeface="Cambria Math"/>
                      </a:rPr>
                      <m:t>T</m:t>
                    </m:r>
                  </m:oMath>
                </a14:m>
                <a:r>
                  <a:rPr lang="zh-CN" altLang="en-US" sz="2400" dirty="0" smtClean="0"/>
                  <a:t>等于冷却进度表中的下一个值</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𝑇</m:t>
                        </m:r>
                      </m:e>
                      <m:sub>
                        <m:r>
                          <a:rPr lang="en-US" altLang="zh-CN" sz="2400" b="0" i="1" dirty="0" smtClean="0">
                            <a:latin typeface="Cambria Math"/>
                          </a:rPr>
                          <m:t>𝑖</m:t>
                        </m:r>
                      </m:sub>
                    </m:sSub>
                    <m:r>
                      <a:rPr lang="en-US" altLang="zh-CN" sz="2400" i="1" dirty="0">
                        <a:latin typeface="Cambria Math"/>
                      </a:rPr>
                      <m:t> </m:t>
                    </m:r>
                  </m:oMath>
                </a14:m>
                <a:r>
                  <a:rPr lang="zh-CN" altLang="en-US" sz="2400" dirty="0" smtClean="0"/>
                  <a:t>；</a:t>
                </a:r>
                <a:endParaRPr lang="en-US" altLang="zh-CN" sz="2400" dirty="0" smtClean="0"/>
              </a:p>
              <a:p>
                <a:pPr>
                  <a:lnSpc>
                    <a:spcPct val="125000"/>
                  </a:lnSpc>
                </a:pPr>
                <a:r>
                  <a:rPr lang="en-US" altLang="zh-CN" sz="2400" dirty="0" smtClean="0"/>
                  <a:t>3</a:t>
                </a:r>
                <a:r>
                  <a:rPr lang="zh-CN" altLang="en-US" sz="2400" dirty="0" smtClean="0"/>
                  <a:t>、根据当前解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𝑖</m:t>
                        </m:r>
                      </m:sub>
                    </m:sSub>
                  </m:oMath>
                </a14:m>
                <a:r>
                  <a:rPr lang="zh-CN" altLang="en-US" sz="2400" dirty="0" smtClean="0"/>
                  <a:t>进行扰动，产生一个新解</a:t>
                </a:r>
                <a14:m>
                  <m:oMath xmlns:m="http://schemas.openxmlformats.org/officeDocument/2006/math">
                    <m:sSub>
                      <m:sSubPr>
                        <m:ctrlPr>
                          <a:rPr lang="en-US" altLang="zh-CN" sz="2400" i="1" dirty="0" smtClean="0">
                            <a:latin typeface="Cambria Math"/>
                          </a:rPr>
                        </m:ctrlPr>
                      </m:sSubPr>
                      <m:e>
                        <m:r>
                          <a:rPr lang="en-US" altLang="zh-CN" sz="2400" i="1" dirty="0">
                            <a:latin typeface="Cambria Math"/>
                          </a:rPr>
                          <m:t>𝑥</m:t>
                        </m:r>
                      </m:e>
                      <m:sub>
                        <m:r>
                          <a:rPr lang="en-US" altLang="zh-CN" sz="2400" b="0" i="1" dirty="0" smtClean="0">
                            <a:latin typeface="Cambria Math"/>
                          </a:rPr>
                          <m:t>𝑗</m:t>
                        </m:r>
                      </m:sub>
                    </m:sSub>
                    <m:r>
                      <a:rPr lang="en-US" altLang="zh-CN" sz="2400" i="1" dirty="0">
                        <a:latin typeface="Cambria Math"/>
                      </a:rPr>
                      <m:t> </m:t>
                    </m:r>
                  </m:oMath>
                </a14:m>
                <a:r>
                  <a:rPr lang="zh-CN" altLang="en-US" sz="2400" dirty="0" smtClean="0"/>
                  <a:t>，计相应</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的目标函数值</a:t>
                </a:r>
                <a14:m>
                  <m:oMath xmlns:m="http://schemas.openxmlformats.org/officeDocument/2006/math">
                    <m:r>
                      <a:rPr lang="en-US" altLang="zh-CN" sz="2400" i="1" dirty="0">
                        <a:latin typeface="Cambria Math"/>
                      </a:rPr>
                      <m:t>𝐸</m:t>
                    </m:r>
                  </m:oMath>
                </a14:m>
                <a:r>
                  <a:rPr lang="en-US" altLang="zh-CN" sz="2400" dirty="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𝑗</m:t>
                        </m:r>
                      </m:sub>
                    </m:sSub>
                  </m:oMath>
                </a14:m>
                <a:r>
                  <a:rPr lang="en-US" altLang="zh-CN" sz="2400" dirty="0"/>
                  <a:t>) </a:t>
                </a:r>
                <a:r>
                  <a:rPr lang="zh-CN" altLang="en-US" sz="2400" dirty="0" smtClean="0"/>
                  <a:t>，得到</a:t>
                </a:r>
                <a:r>
                  <a:rPr lang="en-US" altLang="zh-CN" sz="2400" dirty="0" smtClean="0">
                    <a:ea typeface="Cambria Math"/>
                  </a:rPr>
                  <a:t> </a:t>
                </a:r>
                <a14:m>
                  <m:oMath xmlns:m="http://schemas.openxmlformats.org/officeDocument/2006/math">
                    <m:r>
                      <a:rPr lang="en-US" altLang="zh-CN" sz="2400" i="1" dirty="0" smtClean="0">
                        <a:latin typeface="Cambria Math"/>
                        <a:ea typeface="Cambria Math"/>
                      </a:rPr>
                      <m:t>∆</m:t>
                    </m:r>
                    <m:r>
                      <a:rPr lang="en-US" altLang="zh-CN" sz="2400" b="0" i="1" dirty="0" smtClean="0">
                        <a:latin typeface="Cambria Math"/>
                        <a:ea typeface="Cambria Math"/>
                      </a:rPr>
                      <m:t>𝑒</m:t>
                    </m:r>
                  </m:oMath>
                </a14:m>
                <a:r>
                  <a:rPr lang="en-US" altLang="zh-CN" sz="2400" dirty="0" smtClean="0"/>
                  <a:t>=</a:t>
                </a:r>
                <a:r>
                  <a:rPr lang="en-US" altLang="zh-CN" sz="2400" dirty="0"/>
                  <a:t> </a:t>
                </a:r>
                <a14:m>
                  <m:oMath xmlns:m="http://schemas.openxmlformats.org/officeDocument/2006/math">
                    <m:r>
                      <a:rPr lang="en-US" altLang="zh-CN" sz="2400" i="1" dirty="0">
                        <a:latin typeface="Cambria Math"/>
                      </a:rPr>
                      <m:t>𝐸</m:t>
                    </m:r>
                  </m:oMath>
                </a14:m>
                <a:r>
                  <a:rPr lang="en-US" altLang="zh-CN" sz="2400" dirty="0"/>
                  <a:t>(</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𝑗</m:t>
                        </m:r>
                      </m:sub>
                    </m:sSub>
                  </m:oMath>
                </a14:m>
                <a:r>
                  <a:rPr lang="en-US" altLang="zh-CN" sz="2400" dirty="0"/>
                  <a:t>)</a:t>
                </a:r>
                <a14:m>
                  <m:oMath xmlns:m="http://schemas.openxmlformats.org/officeDocument/2006/math">
                    <m:r>
                      <a:rPr lang="en-US" altLang="zh-CN" sz="2400" b="0" i="1" dirty="0" smtClean="0">
                        <a:latin typeface="Cambria Math"/>
                      </a:rPr>
                      <m:t>−</m:t>
                    </m:r>
                    <m:r>
                      <a:rPr lang="en-US" altLang="zh-CN" sz="2400" i="1" dirty="0">
                        <a:latin typeface="Cambria Math"/>
                      </a:rPr>
                      <m:t>𝐸</m:t>
                    </m:r>
                    <m:r>
                      <m:rPr>
                        <m:nor/>
                      </m:rPr>
                      <a:rPr lang="en-US" altLang="zh-CN" sz="2400" dirty="0"/>
                      <m:t>(</m:t>
                    </m:r>
                    <m:sSub>
                      <m:sSubPr>
                        <m:ctrlPr>
                          <a:rPr lang="en-US" altLang="zh-CN" sz="2400" i="1" dirty="0">
                            <a:latin typeface="Cambria Math"/>
                          </a:rPr>
                        </m:ctrlPr>
                      </m:sSubPr>
                      <m:e>
                        <m:r>
                          <a:rPr lang="en-US" altLang="zh-CN" sz="2400" i="1" dirty="0">
                            <a:latin typeface="Cambria Math"/>
                          </a:rPr>
                          <m:t>𝑥</m:t>
                        </m:r>
                      </m:e>
                      <m:sub>
                        <m:r>
                          <a:rPr lang="en-US" altLang="zh-CN" sz="2400" b="0" i="1" dirty="0" smtClean="0">
                            <a:latin typeface="Cambria Math"/>
                          </a:rPr>
                          <m:t>𝑖</m:t>
                        </m:r>
                      </m:sub>
                    </m:sSub>
                    <m:r>
                      <m:rPr>
                        <m:nor/>
                      </m:rPr>
                      <a:rPr lang="en-US" altLang="zh-CN" sz="2400" dirty="0"/>
                      <m:t>)</m:t>
                    </m:r>
                  </m:oMath>
                </a14:m>
                <a:r>
                  <a:rPr lang="en-US" altLang="zh-CN" sz="2400" dirty="0" smtClean="0"/>
                  <a:t>;</a:t>
                </a:r>
              </a:p>
              <a:p>
                <a:pPr>
                  <a:lnSpc>
                    <a:spcPct val="125000"/>
                  </a:lnSpc>
                </a:pPr>
                <a:r>
                  <a:rPr lang="en-US" altLang="zh-CN" sz="2400" dirty="0" smtClean="0"/>
                  <a:t>4</a:t>
                </a:r>
                <a:r>
                  <a:rPr lang="zh-CN" altLang="en-US" sz="2400" dirty="0" smtClean="0"/>
                  <a:t>、</a:t>
                </a:r>
                <a:r>
                  <a:rPr lang="en-US" altLang="zh-CN" sz="2400" dirty="0">
                    <a:ea typeface="Cambria Math"/>
                  </a:rPr>
                  <a:t> </a:t>
                </a:r>
                <a14:m>
                  <m:oMath xmlns:m="http://schemas.openxmlformats.org/officeDocument/2006/math">
                    <m:r>
                      <a:rPr lang="en-US" altLang="zh-CN" sz="2400" i="1" dirty="0">
                        <a:latin typeface="Cambria Math"/>
                        <a:ea typeface="Cambria Math"/>
                      </a:rPr>
                      <m:t>∆</m:t>
                    </m:r>
                    <m:r>
                      <a:rPr lang="en-US" altLang="zh-CN" sz="2400" i="1" dirty="0">
                        <a:latin typeface="Cambria Math"/>
                        <a:ea typeface="Cambria Math"/>
                      </a:rPr>
                      <m:t>𝑒</m:t>
                    </m:r>
                    <m:r>
                      <a:rPr lang="en-US" altLang="zh-CN" sz="2400" b="0" i="1" dirty="0" smtClean="0">
                        <a:latin typeface="Cambria Math"/>
                        <a:ea typeface="Cambria Math"/>
                      </a:rPr>
                      <m:t>&lt;0</m:t>
                    </m:r>
                    <m:r>
                      <a:rPr lang="zh-CN" altLang="en-US" sz="2400" b="0" i="1" dirty="0" smtClean="0">
                        <a:latin typeface="Cambria Math"/>
                        <a:ea typeface="Cambria Math"/>
                      </a:rPr>
                      <m:t>，</m:t>
                    </m:r>
                  </m:oMath>
                </a14:m>
                <a:r>
                  <a:rPr lang="zh-CN" altLang="en-US" sz="2400" dirty="0" smtClean="0"/>
                  <a:t>则新解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𝑗</m:t>
                        </m:r>
                      </m:sub>
                    </m:sSub>
                  </m:oMath>
                </a14:m>
                <a:r>
                  <a:rPr lang="zh-CN" altLang="en-US" sz="2400" dirty="0" smtClean="0"/>
                  <a:t>被接受，作为新的当前解；</a:t>
                </a:r>
                <a:endParaRPr lang="en-US" altLang="zh-CN" sz="2400" dirty="0" smtClean="0"/>
              </a:p>
              <a:p>
                <a:pPr>
                  <a:lnSpc>
                    <a:spcPct val="125000"/>
                  </a:lnSpc>
                </a:pPr>
                <a:r>
                  <a:rPr lang="en-US" altLang="zh-CN" sz="2400" dirty="0"/>
                  <a:t> </a:t>
                </a:r>
                <a:r>
                  <a:rPr lang="en-US" altLang="zh-CN" sz="2400" dirty="0" smtClean="0"/>
                  <a:t>      </a:t>
                </a:r>
                <a14:m>
                  <m:oMath xmlns:m="http://schemas.openxmlformats.org/officeDocument/2006/math">
                    <m:r>
                      <a:rPr lang="en-US" altLang="zh-CN" sz="2400" i="1" dirty="0">
                        <a:latin typeface="Cambria Math"/>
                        <a:ea typeface="Cambria Math"/>
                      </a:rPr>
                      <m:t>∆</m:t>
                    </m:r>
                    <m:r>
                      <a:rPr lang="en-US" altLang="zh-CN" sz="2400" i="1" dirty="0">
                        <a:latin typeface="Cambria Math"/>
                        <a:ea typeface="Cambria Math"/>
                      </a:rPr>
                      <m:t>𝑒</m:t>
                    </m:r>
                    <m:r>
                      <a:rPr lang="en-US" altLang="zh-CN" sz="2400" b="0" i="1" dirty="0" smtClean="0">
                        <a:latin typeface="Cambria Math"/>
                        <a:ea typeface="Cambria Math"/>
                      </a:rPr>
                      <m:t>&gt;0</m:t>
                    </m:r>
                  </m:oMath>
                </a14:m>
                <a:r>
                  <a:rPr lang="zh-CN" altLang="en-US" sz="2400" dirty="0" smtClean="0"/>
                  <a:t>，则新解</a:t>
                </a:r>
                <a14:m>
                  <m:oMath xmlns:m="http://schemas.openxmlformats.org/officeDocument/2006/math">
                    <m:sSub>
                      <m:sSubPr>
                        <m:ctrlPr>
                          <a:rPr lang="en-US" altLang="zh-CN" sz="2400" i="1" dirty="0">
                            <a:latin typeface="Cambria Math"/>
                          </a:rPr>
                        </m:ctrlPr>
                      </m:sSubPr>
                      <m:e>
                        <m:r>
                          <a:rPr lang="en-US" altLang="zh-CN" sz="2400" i="1" dirty="0">
                            <a:latin typeface="Cambria Math"/>
                          </a:rPr>
                          <m:t>𝑥</m:t>
                        </m:r>
                      </m:e>
                      <m:sub>
                        <m:r>
                          <a:rPr lang="en-US" altLang="zh-CN" sz="2400" i="1" dirty="0">
                            <a:latin typeface="Cambria Math"/>
                          </a:rPr>
                          <m:t>𝑗</m:t>
                        </m:r>
                      </m:sub>
                    </m:sSub>
                  </m:oMath>
                </a14:m>
                <a:r>
                  <a:rPr lang="zh-CN" altLang="en-US" sz="2400" dirty="0" smtClean="0"/>
                  <a:t>按概率</a:t>
                </a:r>
                <a14:m>
                  <m:oMath xmlns:m="http://schemas.openxmlformats.org/officeDocument/2006/math">
                    <m:sSup>
                      <m:sSupPr>
                        <m:ctrlPr>
                          <a:rPr lang="en-US" altLang="zh-CN" sz="2400" i="1" dirty="0">
                            <a:latin typeface="Cambria Math"/>
                          </a:rPr>
                        </m:ctrlPr>
                      </m:sSupPr>
                      <m:e>
                        <m:r>
                          <a:rPr lang="en-US" altLang="zh-CN" sz="2400" i="1" dirty="0">
                            <a:latin typeface="Cambria Math"/>
                          </a:rPr>
                          <m:t>𝑒</m:t>
                        </m:r>
                      </m:e>
                      <m:sup>
                        <m:r>
                          <a:rPr lang="en-US" altLang="zh-CN" sz="2400" i="1" dirty="0">
                            <a:latin typeface="Cambria Math"/>
                          </a:rPr>
                          <m:t>−</m:t>
                        </m:r>
                        <m:f>
                          <m:fPr>
                            <m:ctrlPr>
                              <a:rPr lang="en-US" altLang="zh-CN" sz="2400" i="1" dirty="0">
                                <a:latin typeface="Cambria Math"/>
                              </a:rPr>
                            </m:ctrlPr>
                          </m:fPr>
                          <m:num>
                            <m:sSub>
                              <m:sSubPr>
                                <m:ctrlPr>
                                  <a:rPr lang="en-US" altLang="zh-CN" sz="2400" i="1" dirty="0">
                                    <a:latin typeface="Cambria Math"/>
                                  </a:rPr>
                                </m:ctrlPr>
                              </m:sSubPr>
                              <m:e>
                                <m:r>
                                  <a:rPr lang="en-US" altLang="zh-CN" sz="2400" i="1" dirty="0">
                                    <a:latin typeface="Cambria Math"/>
                                  </a:rPr>
                                  <m:t>𝐸</m:t>
                                </m:r>
                              </m:e>
                              <m:sub>
                                <m:r>
                                  <a:rPr lang="en-US" altLang="zh-CN" sz="2400" i="1" dirty="0">
                                    <a:latin typeface="Cambria Math"/>
                                  </a:rPr>
                                  <m:t>𝑗</m:t>
                                </m:r>
                              </m:sub>
                            </m:sSub>
                            <m:r>
                              <a:rPr lang="en-US" altLang="zh-CN" sz="2400" i="1" dirty="0">
                                <a:latin typeface="Cambria Math"/>
                              </a:rPr>
                              <m:t>−</m:t>
                            </m:r>
                            <m:sSub>
                              <m:sSubPr>
                                <m:ctrlPr>
                                  <a:rPr lang="en-US" altLang="zh-CN" sz="2400" i="1" dirty="0">
                                    <a:latin typeface="Cambria Math"/>
                                  </a:rPr>
                                </m:ctrlPr>
                              </m:sSubPr>
                              <m:e>
                                <m:r>
                                  <a:rPr lang="en-US" altLang="zh-CN" sz="2400" i="1" dirty="0">
                                    <a:latin typeface="Cambria Math"/>
                                  </a:rPr>
                                  <m:t>𝐸</m:t>
                                </m:r>
                              </m:e>
                              <m:sub>
                                <m:r>
                                  <a:rPr lang="en-US" altLang="zh-CN" sz="2400" i="1" dirty="0">
                                    <a:latin typeface="Cambria Math"/>
                                  </a:rPr>
                                  <m:t>𝑖</m:t>
                                </m:r>
                              </m:sub>
                            </m:sSub>
                          </m:num>
                          <m:den>
                            <m:r>
                              <a:rPr lang="en-US" altLang="zh-CN" sz="2400" i="1" dirty="0">
                                <a:latin typeface="Cambria Math"/>
                              </a:rPr>
                              <m:t>𝐾𝑇</m:t>
                            </m:r>
                          </m:den>
                        </m:f>
                      </m:sup>
                    </m:sSup>
                  </m:oMath>
                </a14:m>
                <a:r>
                  <a:rPr lang="zh-CN" altLang="en-US" sz="2400" dirty="0" smtClean="0"/>
                  <a:t>接受；</a:t>
                </a:r>
                <a:endParaRPr lang="en-US" altLang="zh-CN" sz="2400" dirty="0" smtClean="0"/>
              </a:p>
              <a:p>
                <a:pPr>
                  <a:lnSpc>
                    <a:spcPct val="125000"/>
                  </a:lnSpc>
                </a:pPr>
                <a:r>
                  <a:rPr lang="en-US" altLang="zh-CN" sz="2400" dirty="0" smtClean="0"/>
                  <a:t>5</a:t>
                </a:r>
                <a:r>
                  <a:rPr lang="zh-CN" altLang="en-US" sz="2400" dirty="0" smtClean="0"/>
                  <a:t>、在温度</a:t>
                </a:r>
                <a14:m>
                  <m:oMath xmlns:m="http://schemas.openxmlformats.org/officeDocument/2006/math">
                    <m:sSub>
                      <m:sSubPr>
                        <m:ctrlPr>
                          <a:rPr lang="en-US" altLang="zh-CN" sz="2400" i="1" dirty="0">
                            <a:latin typeface="Cambria Math"/>
                          </a:rPr>
                        </m:ctrlPr>
                      </m:sSubPr>
                      <m:e>
                        <m:r>
                          <a:rPr lang="en-US" altLang="zh-CN" sz="2400" i="1" dirty="0">
                            <a:latin typeface="Cambria Math"/>
                          </a:rPr>
                          <m:t>𝑇</m:t>
                        </m:r>
                      </m:e>
                      <m:sub>
                        <m:r>
                          <a:rPr lang="en-US" altLang="zh-CN" sz="2400" b="0" i="1" dirty="0" smtClean="0">
                            <a:latin typeface="Cambria Math"/>
                          </a:rPr>
                          <m:t>𝑖</m:t>
                        </m:r>
                      </m:sub>
                    </m:sSub>
                  </m:oMath>
                </a14:m>
                <a:r>
                  <a:rPr lang="zh-CN" altLang="en-US" sz="2400" dirty="0" smtClean="0"/>
                  <a:t>下，重复</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𝐿</m:t>
                        </m:r>
                      </m:e>
                      <m:sub>
                        <m:r>
                          <a:rPr lang="en-US" altLang="zh-CN" sz="2400" b="0" i="1" dirty="0" smtClean="0">
                            <a:latin typeface="Cambria Math"/>
                          </a:rPr>
                          <m:t>𝑘</m:t>
                        </m:r>
                      </m:sub>
                    </m:sSub>
                  </m:oMath>
                </a14:m>
                <a:r>
                  <a:rPr lang="zh-CN" altLang="en-US" sz="2400" dirty="0" smtClean="0"/>
                  <a:t>次的扰动和接受过程，即执行</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步骤（</a:t>
                </a:r>
                <a:r>
                  <a:rPr lang="en-US" altLang="zh-CN" sz="2400" dirty="0" smtClean="0"/>
                  <a:t>3</a:t>
                </a:r>
                <a:r>
                  <a:rPr lang="zh-CN" altLang="en-US" sz="2400" dirty="0" smtClean="0"/>
                  <a:t>）、（</a:t>
                </a:r>
                <a:r>
                  <a:rPr lang="en-US" altLang="zh-CN" sz="2400" dirty="0" smtClean="0"/>
                  <a:t>4</a:t>
                </a:r>
                <a:r>
                  <a:rPr lang="zh-CN" altLang="en-US" sz="2400" dirty="0" smtClean="0"/>
                  <a:t>）；</a:t>
                </a:r>
                <a:endParaRPr lang="en-US" altLang="zh-CN" sz="2400" dirty="0" smtClean="0"/>
              </a:p>
              <a:p>
                <a:pPr>
                  <a:lnSpc>
                    <a:spcPct val="125000"/>
                  </a:lnSpc>
                </a:pPr>
                <a:r>
                  <a:rPr lang="en-US" altLang="zh-CN" sz="2400" dirty="0" smtClean="0"/>
                  <a:t>6</a:t>
                </a:r>
                <a:r>
                  <a:rPr lang="zh-CN" altLang="en-US" sz="2400" dirty="0" smtClean="0"/>
                  <a:t>、判断</a:t>
                </a:r>
                <a:r>
                  <a:rPr lang="en-US" altLang="zh-CN" sz="2400" dirty="0" smtClean="0"/>
                  <a:t>T</a:t>
                </a:r>
                <a:r>
                  <a:rPr lang="zh-CN" altLang="en-US" sz="2400" dirty="0" smtClean="0"/>
                  <a:t>是否已达到</a:t>
                </a:r>
                <a14:m>
                  <m:oMath xmlns:m="http://schemas.openxmlformats.org/officeDocument/2006/math">
                    <m:sSub>
                      <m:sSubPr>
                        <m:ctrlPr>
                          <a:rPr lang="en-US" altLang="zh-CN" sz="2400" i="1" dirty="0">
                            <a:latin typeface="Cambria Math"/>
                          </a:rPr>
                        </m:ctrlPr>
                      </m:sSubPr>
                      <m:e>
                        <m:r>
                          <a:rPr lang="en-US" altLang="zh-CN" sz="2400" i="1" dirty="0">
                            <a:latin typeface="Cambria Math"/>
                          </a:rPr>
                          <m:t>𝑇</m:t>
                        </m:r>
                      </m:e>
                      <m:sub>
                        <m:r>
                          <a:rPr lang="en-US" altLang="zh-CN" sz="2400" b="0" i="1" dirty="0" smtClean="0">
                            <a:latin typeface="Cambria Math"/>
                          </a:rPr>
                          <m:t>𝑓</m:t>
                        </m:r>
                      </m:sub>
                    </m:sSub>
                  </m:oMath>
                </a14:m>
                <a:r>
                  <a:rPr lang="zh-CN" altLang="en-US" sz="2400" dirty="0" smtClean="0"/>
                  <a:t>，是，则终止算法；否则转到</a:t>
                </a:r>
                <a:endParaRPr lang="en-US" altLang="zh-CN" sz="2400" dirty="0" smtClean="0"/>
              </a:p>
              <a:p>
                <a:pPr>
                  <a:lnSpc>
                    <a:spcPct val="125000"/>
                  </a:lnSpc>
                </a:pPr>
                <a:r>
                  <a:rPr lang="en-US" altLang="zh-CN" sz="2400" dirty="0"/>
                  <a:t> </a:t>
                </a:r>
                <a:r>
                  <a:rPr lang="en-US" altLang="zh-CN" sz="2400" dirty="0" smtClean="0"/>
                  <a:t>  </a:t>
                </a:r>
                <a:r>
                  <a:rPr lang="zh-CN" altLang="en-US" sz="2400" dirty="0" smtClean="0"/>
                  <a:t>（</a:t>
                </a:r>
                <a:r>
                  <a:rPr lang="en-US" altLang="zh-CN" sz="2400" dirty="0" smtClean="0"/>
                  <a:t>2</a:t>
                </a:r>
                <a:r>
                  <a:rPr lang="zh-CN" altLang="en-US" sz="2400" dirty="0" smtClean="0"/>
                  <a:t>）继续执行 </a:t>
                </a:r>
                <a:endParaRPr lang="zh-CN" alt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683568" y="1332577"/>
                <a:ext cx="8136904" cy="5525423"/>
              </a:xfrm>
              <a:prstGeom prst="rect">
                <a:avLst/>
              </a:prstGeom>
              <a:blipFill rotWithShape="1">
                <a:blip r:embed="rId3"/>
                <a:stretch>
                  <a:fillRect l="-1124" t="-442" b="-1766"/>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流程图: 可选过程 6"/>
          <p:cNvSpPr/>
          <p:nvPr/>
        </p:nvSpPr>
        <p:spPr>
          <a:xfrm>
            <a:off x="3575288" y="166163"/>
            <a:ext cx="1665627" cy="74837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初始温度，随机产生初始解。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10" name="圆角矩形 9"/>
              <p:cNvSpPr/>
              <p:nvPr/>
            </p:nvSpPr>
            <p:spPr>
              <a:xfrm>
                <a:off x="2827835" y="4023821"/>
                <a:ext cx="3160527" cy="5003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计算两解的目标函数差值</a:t>
                </a:r>
                <a14:m>
                  <m:oMath xmlns:m="http://schemas.openxmlformats.org/officeDocument/2006/math">
                    <m:r>
                      <a:rPr lang="zh-CN" altLang="en-US" i="1" smtClean="0">
                        <a:solidFill>
                          <a:srgbClr val="000000"/>
                        </a:solidFill>
                        <a:latin typeface="Cambria Math"/>
                      </a:rPr>
                      <m:t>∆</m:t>
                    </m:r>
                    <m:r>
                      <a:rPr lang="en-US" altLang="zh-CN" b="0" i="1" smtClean="0">
                        <a:solidFill>
                          <a:srgbClr val="000000"/>
                        </a:solidFill>
                        <a:latin typeface="Cambria Math"/>
                      </a:rPr>
                      <m:t>𝑦</m:t>
                    </m:r>
                  </m:oMath>
                </a14:m>
                <a:endParaRPr lang="zh-CN" altLang="en-US" dirty="0">
                  <a:solidFill>
                    <a:srgbClr val="000000"/>
                  </a:solidFill>
                </a:endParaRPr>
              </a:p>
            </p:txBody>
          </p:sp>
        </mc:Choice>
        <mc:Fallback xmlns="">
          <p:sp>
            <p:nvSpPr>
              <p:cNvPr id="10" name="圆角矩形 9"/>
              <p:cNvSpPr>
                <a:spLocks noRot="1" noChangeAspect="1" noMove="1" noResize="1" noEditPoints="1" noAdjustHandles="1" noChangeArrowheads="1" noChangeShapeType="1" noTextEdit="1"/>
              </p:cNvSpPr>
              <p:nvPr/>
            </p:nvSpPr>
            <p:spPr>
              <a:xfrm>
                <a:off x="2827835" y="4023821"/>
                <a:ext cx="3160527" cy="500386"/>
              </a:xfrm>
              <a:prstGeom prst="roundRect">
                <a:avLst/>
              </a:prstGeom>
              <a:blipFill rotWithShape="1">
                <a:blip r:embed="rId3"/>
                <a:stretch>
                  <a:fillRect b="-1163"/>
                </a:stretch>
              </a:blipFill>
            </p:spPr>
            <p:txBody>
              <a:bodyPr/>
              <a:lstStyle/>
              <a:p>
                <a:r>
                  <a:rPr lang="zh-CN" altLang="en-US">
                    <a:noFill/>
                  </a:rPr>
                  <a:t> </a:t>
                </a:r>
              </a:p>
            </p:txBody>
          </p:sp>
        </mc:Fallback>
      </mc:AlternateContent>
      <p:cxnSp>
        <p:nvCxnSpPr>
          <p:cNvPr id="11" name="直接箭头连接符 10"/>
          <p:cNvCxnSpPr>
            <a:stCxn id="7" idx="2"/>
            <a:endCxn id="5" idx="0"/>
          </p:cNvCxnSpPr>
          <p:nvPr/>
        </p:nvCxnSpPr>
        <p:spPr>
          <a:xfrm>
            <a:off x="4408102" y="914538"/>
            <a:ext cx="0" cy="27500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12" name="流程图: 决策 11"/>
              <p:cNvSpPr/>
              <p:nvPr/>
            </p:nvSpPr>
            <p:spPr>
              <a:xfrm>
                <a:off x="3362617" y="4676910"/>
                <a:ext cx="2090970" cy="5040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zh-CN" altLang="en-US" i="1" smtClean="0">
                        <a:solidFill>
                          <a:srgbClr val="000000"/>
                        </a:solidFill>
                        <a:latin typeface="Cambria Math"/>
                      </a:rPr>
                      <m:t>∆</m:t>
                    </m:r>
                    <m:r>
                      <a:rPr lang="en-US" altLang="zh-CN" i="1">
                        <a:solidFill>
                          <a:srgbClr val="000000"/>
                        </a:solidFill>
                        <a:latin typeface="Cambria Math"/>
                      </a:rPr>
                      <m:t>𝑦</m:t>
                    </m:r>
                    <m:r>
                      <a:rPr lang="en-US" altLang="zh-CN" b="0" i="0" smtClean="0">
                        <a:solidFill>
                          <a:srgbClr val="000000"/>
                        </a:solidFill>
                        <a:latin typeface="Cambria Math"/>
                      </a:rPr>
                      <m:t>&gt;</m:t>
                    </m:r>
                  </m:oMath>
                </a14:m>
                <a:r>
                  <a:rPr lang="en-US" altLang="zh-CN" dirty="0" smtClean="0">
                    <a:solidFill>
                      <a:srgbClr val="000000"/>
                    </a:solidFill>
                  </a:rPr>
                  <a:t>0</a:t>
                </a:r>
                <a:endParaRPr lang="zh-CN" altLang="en-US" dirty="0">
                  <a:solidFill>
                    <a:srgbClr val="000000"/>
                  </a:solidFill>
                </a:endParaRPr>
              </a:p>
            </p:txBody>
          </p:sp>
        </mc:Choice>
        <mc:Fallback xmlns="">
          <p:sp>
            <p:nvSpPr>
              <p:cNvPr id="12" name="流程图: 决策 11"/>
              <p:cNvSpPr>
                <a:spLocks noRot="1" noChangeAspect="1" noMove="1" noResize="1" noEditPoints="1" noAdjustHandles="1" noChangeArrowheads="1" noChangeShapeType="1" noTextEdit="1"/>
              </p:cNvSpPr>
              <p:nvPr/>
            </p:nvSpPr>
            <p:spPr>
              <a:xfrm>
                <a:off x="3362617" y="4676910"/>
                <a:ext cx="2090970" cy="504056"/>
              </a:xfrm>
              <a:prstGeom prst="flowChartDecision">
                <a:avLst/>
              </a:prstGeom>
              <a:blipFill rotWithShape="1">
                <a:blip r:embed="rId4"/>
                <a:stretch>
                  <a:fillRect b="-3448"/>
                </a:stretch>
              </a:blipFill>
            </p:spPr>
            <p:txBody>
              <a:bodyPr/>
              <a:lstStyle/>
              <a:p>
                <a:r>
                  <a:rPr lang="zh-CN" altLang="en-US">
                    <a:noFill/>
                  </a:rPr>
                  <a:t> </a:t>
                </a:r>
              </a:p>
            </p:txBody>
          </p:sp>
        </mc:Fallback>
      </mc:AlternateContent>
      <p:sp>
        <p:nvSpPr>
          <p:cNvPr id="13" name="流程图: 可选过程 12"/>
          <p:cNvSpPr/>
          <p:nvPr/>
        </p:nvSpPr>
        <p:spPr>
          <a:xfrm>
            <a:off x="755575" y="4653135"/>
            <a:ext cx="1810817"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接受新解作为当前解</a:t>
            </a:r>
            <a:endParaRPr lang="zh-CN" altLang="en-US" dirty="0">
              <a:solidFill>
                <a:srgbClr val="000000"/>
              </a:solidFill>
            </a:endParaRPr>
          </a:p>
        </p:txBody>
      </p:sp>
      <p:cxnSp>
        <p:nvCxnSpPr>
          <p:cNvPr id="14" name="肘形连接符 13"/>
          <p:cNvCxnSpPr>
            <a:stCxn id="13" idx="0"/>
          </p:cNvCxnSpPr>
          <p:nvPr/>
        </p:nvCxnSpPr>
        <p:spPr>
          <a:xfrm rot="5400000" flipH="1" flipV="1">
            <a:off x="1624605" y="2865650"/>
            <a:ext cx="1823865" cy="1751107"/>
          </a:xfrm>
          <a:prstGeom prst="bentConnector3">
            <a:avLst>
              <a:gd name="adj1" fmla="val 100135"/>
            </a:avLst>
          </a:prstGeom>
          <a:ln>
            <a:tailEnd type="arrow"/>
          </a:ln>
        </p:spPr>
        <p:style>
          <a:lnRef idx="2">
            <a:schemeClr val="dk1"/>
          </a:lnRef>
          <a:fillRef idx="0">
            <a:schemeClr val="dk1"/>
          </a:fillRef>
          <a:effectRef idx="1">
            <a:schemeClr val="dk1"/>
          </a:effectRef>
          <a:fontRef idx="minor">
            <a:schemeClr val="tx1"/>
          </a:fontRef>
        </p:style>
      </p:cxnSp>
      <p:sp>
        <p:nvSpPr>
          <p:cNvPr id="15" name="流程图: 可选过程 14"/>
          <p:cNvSpPr/>
          <p:nvPr/>
        </p:nvSpPr>
        <p:spPr>
          <a:xfrm>
            <a:off x="3223955" y="5301208"/>
            <a:ext cx="2368294"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计算概率与</a:t>
            </a:r>
            <a:r>
              <a:rPr lang="en-US" altLang="zh-CN" dirty="0">
                <a:solidFill>
                  <a:srgbClr val="000000"/>
                </a:solidFill>
              </a:rPr>
              <a:t>[</a:t>
            </a:r>
            <a:r>
              <a:rPr lang="en-US" altLang="zh-CN" dirty="0" smtClean="0">
                <a:solidFill>
                  <a:srgbClr val="000000"/>
                </a:solidFill>
              </a:rPr>
              <a:t>0,1)</a:t>
            </a:r>
            <a:r>
              <a:rPr lang="zh-CN" altLang="en-US" dirty="0" smtClean="0">
                <a:solidFill>
                  <a:srgbClr val="000000"/>
                </a:solidFill>
              </a:rPr>
              <a:t>随机数之间</a:t>
            </a:r>
            <a:r>
              <a:rPr lang="zh-CN" altLang="en-US" dirty="0">
                <a:solidFill>
                  <a:srgbClr val="000000"/>
                </a:solidFill>
              </a:rPr>
              <a:t>的差值</a:t>
            </a:r>
          </a:p>
        </p:txBody>
      </p:sp>
      <p:sp>
        <p:nvSpPr>
          <p:cNvPr id="16" name="流程图: 决策 15"/>
          <p:cNvSpPr/>
          <p:nvPr/>
        </p:nvSpPr>
        <p:spPr>
          <a:xfrm>
            <a:off x="3183417" y="6021289"/>
            <a:ext cx="2449370" cy="7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差值大于</a:t>
            </a:r>
            <a:r>
              <a:rPr lang="en-US" altLang="zh-CN" dirty="0" smtClean="0">
                <a:solidFill>
                  <a:srgbClr val="000000"/>
                </a:solidFill>
              </a:rPr>
              <a:t>0</a:t>
            </a:r>
            <a:endParaRPr lang="zh-CN" altLang="en-US" dirty="0">
              <a:solidFill>
                <a:srgbClr val="000000"/>
              </a:solidFill>
            </a:endParaRPr>
          </a:p>
        </p:txBody>
      </p:sp>
      <p:cxnSp>
        <p:nvCxnSpPr>
          <p:cNvPr id="17" name="肘形连接符 16"/>
          <p:cNvCxnSpPr>
            <a:stCxn id="16" idx="1"/>
            <a:endCxn id="13" idx="2"/>
          </p:cNvCxnSpPr>
          <p:nvPr/>
        </p:nvCxnSpPr>
        <p:spPr>
          <a:xfrm rot="10800000">
            <a:off x="1660985" y="5204741"/>
            <a:ext cx="1522433" cy="1176589"/>
          </a:xfrm>
          <a:prstGeom prst="bentConnector2">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流程图: 决策 4"/>
              <p:cNvSpPr/>
              <p:nvPr/>
            </p:nvSpPr>
            <p:spPr>
              <a:xfrm>
                <a:off x="3444543" y="1189544"/>
                <a:ext cx="192711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b="0" i="1" smtClean="0">
                        <a:solidFill>
                          <a:srgbClr val="000000"/>
                        </a:solidFill>
                        <a:latin typeface="Cambria Math"/>
                      </a:rPr>
                      <m:t>𝑇</m:t>
                    </m:r>
                  </m:oMath>
                </a14:m>
                <a:r>
                  <a:rPr lang="en-US" altLang="zh-CN" dirty="0" smtClean="0">
                    <a:solidFill>
                      <a:srgbClr val="000000"/>
                    </a:solidFill>
                  </a:rPr>
                  <a:t> &gt;</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 </m:t>
                        </m:r>
                        <m:r>
                          <a:rPr lang="en-US" altLang="zh-CN" b="0" i="1" smtClean="0">
                            <a:solidFill>
                              <a:srgbClr val="000000"/>
                            </a:solidFill>
                            <a:latin typeface="Cambria Math"/>
                          </a:rPr>
                          <m:t>𝑇</m:t>
                        </m:r>
                      </m:e>
                      <m:sub>
                        <m:r>
                          <a:rPr lang="en-US" altLang="zh-CN" b="0" i="1" smtClean="0">
                            <a:solidFill>
                              <a:srgbClr val="000000"/>
                            </a:solidFill>
                            <a:latin typeface="Cambria Math"/>
                          </a:rPr>
                          <m:t>𝑓</m:t>
                        </m:r>
                      </m:sub>
                    </m:sSub>
                  </m:oMath>
                </a14:m>
                <a:endParaRPr lang="zh-CN" altLang="en-US" dirty="0">
                  <a:solidFill>
                    <a:srgbClr val="000000"/>
                  </a:solidFill>
                </a:endParaRPr>
              </a:p>
            </p:txBody>
          </p:sp>
        </mc:Choice>
        <mc:Fallback xmlns="">
          <p:sp>
            <p:nvSpPr>
              <p:cNvPr id="5" name="流程图: 决策 4"/>
              <p:cNvSpPr>
                <a:spLocks noRot="1" noChangeAspect="1" noMove="1" noResize="1" noEditPoints="1" noAdjustHandles="1" noChangeArrowheads="1" noChangeShapeType="1" noTextEdit="1"/>
              </p:cNvSpPr>
              <p:nvPr/>
            </p:nvSpPr>
            <p:spPr>
              <a:xfrm>
                <a:off x="3444543" y="1189544"/>
                <a:ext cx="1927118" cy="432048"/>
              </a:xfrm>
              <a:prstGeom prst="flowChartDecision">
                <a:avLst/>
              </a:prstGeom>
              <a:blipFill rotWithShape="1">
                <a:blip r:embed="rId5"/>
                <a:stretch>
                  <a:fillRect b="-9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流程图: 可选过程 5"/>
              <p:cNvSpPr/>
              <p:nvPr/>
            </p:nvSpPr>
            <p:spPr>
              <a:xfrm>
                <a:off x="3780847" y="1772816"/>
                <a:ext cx="1254506"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当前解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sub>
                    </m:sSub>
                  </m:oMath>
                </a14:m>
                <a:endParaRPr lang="zh-CN" altLang="en-US" dirty="0">
                  <a:solidFill>
                    <a:srgbClr val="000000"/>
                  </a:solidFill>
                </a:endParaRPr>
              </a:p>
            </p:txBody>
          </p:sp>
        </mc:Choice>
        <mc:Fallback xmlns="">
          <p:sp>
            <p:nvSpPr>
              <p:cNvPr id="6" name="流程图: 可选过程 5"/>
              <p:cNvSpPr>
                <a:spLocks noRot="1" noChangeAspect="1" noMove="1" noResize="1" noEditPoints="1" noAdjustHandles="1" noChangeArrowheads="1" noChangeShapeType="1" noTextEdit="1"/>
              </p:cNvSpPr>
              <p:nvPr/>
            </p:nvSpPr>
            <p:spPr>
              <a:xfrm>
                <a:off x="3780847" y="1772816"/>
                <a:ext cx="1254506" cy="504056"/>
              </a:xfrm>
              <a:prstGeom prst="flowChartAlternateProcess">
                <a:avLst/>
              </a:prstGeom>
              <a:blipFill rotWithShape="1">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流程图: 决策 18"/>
              <p:cNvSpPr/>
              <p:nvPr/>
            </p:nvSpPr>
            <p:spPr>
              <a:xfrm>
                <a:off x="3412091" y="2454300"/>
                <a:ext cx="1992017" cy="69617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扰动次数</a:t>
                </a:r>
                <a:r>
                  <a:rPr lang="en-US" altLang="zh-CN" dirty="0" smtClean="0">
                    <a:solidFill>
                      <a:srgbClr val="000000"/>
                    </a:solidFill>
                  </a:rPr>
                  <a:t>&gt;</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𝐿</m:t>
                        </m:r>
                      </m:e>
                      <m:sub>
                        <m:r>
                          <a:rPr lang="en-US" altLang="zh-CN" b="0" i="1" smtClean="0">
                            <a:solidFill>
                              <a:srgbClr val="000000"/>
                            </a:solidFill>
                            <a:latin typeface="Cambria Math"/>
                          </a:rPr>
                          <m:t>𝑘</m:t>
                        </m:r>
                      </m:sub>
                    </m:sSub>
                  </m:oMath>
                </a14:m>
                <a:endParaRPr lang="zh-CN" altLang="en-US" dirty="0">
                  <a:solidFill>
                    <a:srgbClr val="000000"/>
                  </a:solidFill>
                </a:endParaRPr>
              </a:p>
            </p:txBody>
          </p:sp>
        </mc:Choice>
        <mc:Fallback xmlns="">
          <p:sp>
            <p:nvSpPr>
              <p:cNvPr id="19" name="流程图: 决策 18"/>
              <p:cNvSpPr>
                <a:spLocks noRot="1" noChangeAspect="1" noMove="1" noResize="1" noEditPoints="1" noAdjustHandles="1" noChangeArrowheads="1" noChangeShapeType="1" noTextEdit="1"/>
              </p:cNvSpPr>
              <p:nvPr/>
            </p:nvSpPr>
            <p:spPr>
              <a:xfrm>
                <a:off x="3412091" y="2454300"/>
                <a:ext cx="1992017" cy="696176"/>
              </a:xfrm>
              <a:prstGeom prst="flowChartDecision">
                <a:avLst/>
              </a:prstGeom>
              <a:blipFill rotWithShape="1">
                <a:blip r:embed="rId7"/>
                <a:stretch>
                  <a:fillRect b="-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362" name="流程图: 可选过程 14361"/>
              <p:cNvSpPr/>
              <p:nvPr/>
            </p:nvSpPr>
            <p:spPr>
              <a:xfrm>
                <a:off x="7208378" y="1741002"/>
                <a:ext cx="1368152"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r>
                            <a:rPr lang="en-US" altLang="zh-CN" b="0" i="1" smtClean="0">
                              <a:solidFill>
                                <a:srgbClr val="000000"/>
                              </a:solidFill>
                              <a:latin typeface="Cambria Math"/>
                            </a:rPr>
                            <m:t>+1</m:t>
                          </m:r>
                        </m:sub>
                      </m:sSub>
                      <m:r>
                        <a:rPr lang="en-US" altLang="zh-CN" b="0" i="1" smtClean="0">
                          <a:solidFill>
                            <a:srgbClr val="000000"/>
                          </a:solidFill>
                          <a:latin typeface="Cambria Math"/>
                        </a:rPr>
                        <m:t>=</m:t>
                      </m:r>
                      <m:r>
                        <a:rPr lang="zh-CN" altLang="en-US" b="0" i="1" smtClean="0">
                          <a:solidFill>
                            <a:srgbClr val="000000"/>
                          </a:solidFill>
                          <a:latin typeface="Cambria Math"/>
                        </a:rPr>
                        <m:t>𝛼</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sub>
                      </m:sSub>
                    </m:oMath>
                  </m:oMathPara>
                </a14:m>
                <a:endParaRPr lang="zh-CN" altLang="en-US" dirty="0"/>
              </a:p>
            </p:txBody>
          </p:sp>
        </mc:Choice>
        <mc:Fallback xmlns="">
          <p:sp>
            <p:nvSpPr>
              <p:cNvPr id="14362" name="流程图: 可选过程 14361"/>
              <p:cNvSpPr>
                <a:spLocks noRot="1" noChangeAspect="1" noMove="1" noResize="1" noEditPoints="1" noAdjustHandles="1" noChangeArrowheads="1" noChangeShapeType="1" noTextEdit="1"/>
              </p:cNvSpPr>
              <p:nvPr/>
            </p:nvSpPr>
            <p:spPr>
              <a:xfrm>
                <a:off x="7208378" y="1741002"/>
                <a:ext cx="1368152" cy="504056"/>
              </a:xfrm>
              <a:prstGeom prst="flowChartAlternateProcess">
                <a:avLst/>
              </a:prstGeom>
              <a:blipFill rotWithShape="1">
                <a:blip r:embed="rId8"/>
                <a:stretch>
                  <a:fillRect/>
                </a:stretch>
              </a:blipFill>
            </p:spPr>
            <p:txBody>
              <a:bodyPr/>
              <a:lstStyle/>
              <a:p>
                <a:r>
                  <a:rPr lang="zh-CN" altLang="en-US">
                    <a:noFill/>
                  </a:rPr>
                  <a:t> </a:t>
                </a:r>
              </a:p>
            </p:txBody>
          </p:sp>
        </mc:Fallback>
      </mc:AlternateContent>
      <p:cxnSp>
        <p:nvCxnSpPr>
          <p:cNvPr id="14364" name="肘形连接符 14363"/>
          <p:cNvCxnSpPr>
            <a:stCxn id="19" idx="3"/>
            <a:endCxn id="14362" idx="2"/>
          </p:cNvCxnSpPr>
          <p:nvPr/>
        </p:nvCxnSpPr>
        <p:spPr>
          <a:xfrm flipV="1">
            <a:off x="5404108" y="2245058"/>
            <a:ext cx="2488346" cy="557330"/>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4366" name="肘形连接符 14365"/>
          <p:cNvCxnSpPr>
            <a:stCxn id="14362" idx="0"/>
          </p:cNvCxnSpPr>
          <p:nvPr/>
        </p:nvCxnSpPr>
        <p:spPr>
          <a:xfrm rot="16200000" flipV="1">
            <a:off x="5815172" y="-336281"/>
            <a:ext cx="688962" cy="3465603"/>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14369" name="流程图: 可选过程 14368"/>
          <p:cNvSpPr/>
          <p:nvPr/>
        </p:nvSpPr>
        <p:spPr>
          <a:xfrm>
            <a:off x="5580112" y="1189544"/>
            <a:ext cx="1628266" cy="5514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结束，输出当前解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70" name="流程图: 可选过程 69"/>
              <p:cNvSpPr/>
              <p:nvPr/>
            </p:nvSpPr>
            <p:spPr>
              <a:xfrm>
                <a:off x="3236615" y="3284984"/>
                <a:ext cx="2342971" cy="56676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扰动，产生新解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r>
                          <a:rPr lang="en-US" altLang="zh-CN" b="0" i="1" smtClean="0">
                            <a:solidFill>
                              <a:srgbClr val="000000"/>
                            </a:solidFill>
                            <a:latin typeface="Cambria Math"/>
                          </a:rPr>
                          <m:t>+1</m:t>
                        </m:r>
                      </m:sub>
                    </m:sSub>
                  </m:oMath>
                </a14:m>
                <a:endParaRPr lang="zh-CN" altLang="en-US" dirty="0">
                  <a:solidFill>
                    <a:srgbClr val="000000"/>
                  </a:solidFill>
                </a:endParaRPr>
              </a:p>
            </p:txBody>
          </p:sp>
        </mc:Choice>
        <mc:Fallback xmlns="">
          <p:sp>
            <p:nvSpPr>
              <p:cNvPr id="70" name="流程图: 可选过程 69"/>
              <p:cNvSpPr>
                <a:spLocks noRot="1" noChangeAspect="1" noMove="1" noResize="1" noEditPoints="1" noAdjustHandles="1" noChangeArrowheads="1" noChangeShapeType="1" noTextEdit="1"/>
              </p:cNvSpPr>
              <p:nvPr/>
            </p:nvSpPr>
            <p:spPr>
              <a:xfrm>
                <a:off x="3236615" y="3284984"/>
                <a:ext cx="2342971" cy="566769"/>
              </a:xfrm>
              <a:prstGeom prst="flowChartAlternateProcess">
                <a:avLst/>
              </a:prstGeom>
              <a:blipFill rotWithShape="1">
                <a:blip r:embed="rId9"/>
                <a:stretch>
                  <a:fillRect/>
                </a:stretch>
              </a:blipFill>
            </p:spPr>
            <p:txBody>
              <a:bodyPr/>
              <a:lstStyle/>
              <a:p>
                <a:r>
                  <a:rPr lang="zh-CN" altLang="en-US">
                    <a:noFill/>
                  </a:rPr>
                  <a:t> </a:t>
                </a:r>
              </a:p>
            </p:txBody>
          </p:sp>
        </mc:Fallback>
      </mc:AlternateContent>
      <p:cxnSp>
        <p:nvCxnSpPr>
          <p:cNvPr id="14390" name="肘形连接符 14389"/>
          <p:cNvCxnSpPr>
            <a:stCxn id="16" idx="2"/>
            <a:endCxn id="6" idx="1"/>
          </p:cNvCxnSpPr>
          <p:nvPr/>
        </p:nvCxnSpPr>
        <p:spPr>
          <a:xfrm rot="5400000" flipH="1">
            <a:off x="1736212" y="4069480"/>
            <a:ext cx="4716525" cy="627255"/>
          </a:xfrm>
          <a:prstGeom prst="bentConnector4">
            <a:avLst>
              <a:gd name="adj1" fmla="val -1212"/>
              <a:gd name="adj2" fmla="val 625746"/>
            </a:avLst>
          </a:prstGeom>
          <a:ln>
            <a:tailEnd type="arrow"/>
          </a:ln>
        </p:spPr>
        <p:style>
          <a:lnRef idx="2">
            <a:schemeClr val="dk1"/>
          </a:lnRef>
          <a:fillRef idx="0">
            <a:schemeClr val="dk1"/>
          </a:fillRef>
          <a:effectRef idx="1">
            <a:schemeClr val="dk1"/>
          </a:effectRef>
          <a:fontRef idx="minor">
            <a:schemeClr val="tx1"/>
          </a:fontRef>
        </p:style>
      </p:cxnSp>
      <p:cxnSp>
        <p:nvCxnSpPr>
          <p:cNvPr id="14394" name="直接箭头连接符 14393"/>
          <p:cNvCxnSpPr>
            <a:stCxn id="5" idx="2"/>
            <a:endCxn id="6" idx="0"/>
          </p:cNvCxnSpPr>
          <p:nvPr/>
        </p:nvCxnSpPr>
        <p:spPr>
          <a:xfrm flipH="1">
            <a:off x="4408100" y="1621592"/>
            <a:ext cx="2" cy="1512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1" name="TextBox 70"/>
          <p:cNvSpPr txBox="1"/>
          <p:nvPr/>
        </p:nvSpPr>
        <p:spPr>
          <a:xfrm>
            <a:off x="4542408" y="1465273"/>
            <a:ext cx="338554" cy="369332"/>
          </a:xfrm>
          <a:prstGeom prst="rect">
            <a:avLst/>
          </a:prstGeom>
          <a:noFill/>
        </p:spPr>
        <p:txBody>
          <a:bodyPr wrap="none" rtlCol="0">
            <a:spAutoFit/>
          </a:bodyPr>
          <a:lstStyle/>
          <a:p>
            <a:r>
              <a:rPr lang="en-US" altLang="zh-CN" dirty="0" smtClean="0"/>
              <a:t>Y</a:t>
            </a:r>
            <a:endParaRPr lang="zh-CN" altLang="en-US" dirty="0"/>
          </a:p>
        </p:txBody>
      </p:sp>
      <p:cxnSp>
        <p:nvCxnSpPr>
          <p:cNvPr id="73" name="直接箭头连接符 72"/>
          <p:cNvCxnSpPr>
            <a:stCxn id="6" idx="2"/>
            <a:endCxn id="19" idx="0"/>
          </p:cNvCxnSpPr>
          <p:nvPr/>
        </p:nvCxnSpPr>
        <p:spPr>
          <a:xfrm>
            <a:off x="4408100" y="2276872"/>
            <a:ext cx="0" cy="1774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88" name="直接箭头连接符 87"/>
          <p:cNvCxnSpPr>
            <a:stCxn id="19" idx="2"/>
            <a:endCxn id="70" idx="0"/>
          </p:cNvCxnSpPr>
          <p:nvPr/>
        </p:nvCxnSpPr>
        <p:spPr>
          <a:xfrm>
            <a:off x="4408100" y="3150476"/>
            <a:ext cx="1" cy="13450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1" name="直接箭头连接符 90"/>
          <p:cNvCxnSpPr>
            <a:stCxn id="70" idx="2"/>
            <a:endCxn id="10" idx="0"/>
          </p:cNvCxnSpPr>
          <p:nvPr/>
        </p:nvCxnSpPr>
        <p:spPr>
          <a:xfrm flipH="1">
            <a:off x="4408099" y="3851753"/>
            <a:ext cx="2" cy="17206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95" name="直接箭头连接符 94"/>
          <p:cNvCxnSpPr>
            <a:stCxn id="10" idx="2"/>
            <a:endCxn id="12" idx="0"/>
          </p:cNvCxnSpPr>
          <p:nvPr/>
        </p:nvCxnSpPr>
        <p:spPr>
          <a:xfrm>
            <a:off x="4408099" y="4524207"/>
            <a:ext cx="3" cy="15270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405" name="直接箭头连接符 14404"/>
          <p:cNvCxnSpPr>
            <a:stCxn id="12" idx="2"/>
            <a:endCxn id="15" idx="0"/>
          </p:cNvCxnSpPr>
          <p:nvPr/>
        </p:nvCxnSpPr>
        <p:spPr>
          <a:xfrm>
            <a:off x="4408102" y="5180966"/>
            <a:ext cx="0" cy="1202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37" name="直接箭头连接符 136"/>
          <p:cNvCxnSpPr>
            <a:stCxn id="15" idx="2"/>
            <a:endCxn id="16" idx="0"/>
          </p:cNvCxnSpPr>
          <p:nvPr/>
        </p:nvCxnSpPr>
        <p:spPr>
          <a:xfrm>
            <a:off x="4408102" y="5852813"/>
            <a:ext cx="0" cy="1684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419" name="直接箭头连接符 14418"/>
          <p:cNvCxnSpPr>
            <a:stCxn id="5" idx="3"/>
          </p:cNvCxnSpPr>
          <p:nvPr/>
        </p:nvCxnSpPr>
        <p:spPr>
          <a:xfrm flipV="1">
            <a:off x="5371661" y="1396520"/>
            <a:ext cx="207925" cy="9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421" name="TextBox 14420"/>
          <p:cNvSpPr txBox="1"/>
          <p:nvPr/>
        </p:nvSpPr>
        <p:spPr>
          <a:xfrm>
            <a:off x="5277898" y="1052039"/>
            <a:ext cx="351378" cy="369332"/>
          </a:xfrm>
          <a:prstGeom prst="rect">
            <a:avLst/>
          </a:prstGeom>
          <a:noFill/>
        </p:spPr>
        <p:txBody>
          <a:bodyPr wrap="none" rtlCol="0">
            <a:spAutoFit/>
          </a:bodyPr>
          <a:lstStyle/>
          <a:p>
            <a:r>
              <a:rPr lang="en-US" altLang="zh-CN" dirty="0" smtClean="0"/>
              <a:t>N</a:t>
            </a:r>
            <a:endParaRPr lang="zh-CN" altLang="en-US" dirty="0"/>
          </a:p>
        </p:txBody>
      </p:sp>
      <p:sp>
        <p:nvSpPr>
          <p:cNvPr id="14422" name="TextBox 14421"/>
          <p:cNvSpPr txBox="1"/>
          <p:nvPr/>
        </p:nvSpPr>
        <p:spPr>
          <a:xfrm>
            <a:off x="5549365" y="2516512"/>
            <a:ext cx="338554" cy="369332"/>
          </a:xfrm>
          <a:prstGeom prst="rect">
            <a:avLst/>
          </a:prstGeom>
          <a:noFill/>
        </p:spPr>
        <p:txBody>
          <a:bodyPr wrap="none" rtlCol="0">
            <a:spAutoFit/>
          </a:bodyPr>
          <a:lstStyle/>
          <a:p>
            <a:r>
              <a:rPr lang="en-US" altLang="zh-CN" dirty="0" smtClean="0"/>
              <a:t>Y</a:t>
            </a:r>
            <a:endParaRPr lang="zh-CN" altLang="en-US" dirty="0"/>
          </a:p>
        </p:txBody>
      </p:sp>
      <p:sp>
        <p:nvSpPr>
          <p:cNvPr id="14423" name="TextBox 14422"/>
          <p:cNvSpPr txBox="1"/>
          <p:nvPr/>
        </p:nvSpPr>
        <p:spPr>
          <a:xfrm>
            <a:off x="4637057" y="2965810"/>
            <a:ext cx="351378" cy="369332"/>
          </a:xfrm>
          <a:prstGeom prst="rect">
            <a:avLst/>
          </a:prstGeom>
          <a:noFill/>
        </p:spPr>
        <p:txBody>
          <a:bodyPr wrap="none" rtlCol="0">
            <a:spAutoFit/>
          </a:bodyPr>
          <a:lstStyle/>
          <a:p>
            <a:r>
              <a:rPr lang="en-US" altLang="zh-CN" dirty="0" smtClean="0"/>
              <a:t>N</a:t>
            </a:r>
            <a:endParaRPr lang="zh-CN" altLang="en-US" dirty="0"/>
          </a:p>
        </p:txBody>
      </p:sp>
      <p:cxnSp>
        <p:nvCxnSpPr>
          <p:cNvPr id="14427" name="直接箭头连接符 14426"/>
          <p:cNvCxnSpPr>
            <a:stCxn id="12" idx="1"/>
            <a:endCxn id="13" idx="3"/>
          </p:cNvCxnSpPr>
          <p:nvPr/>
        </p:nvCxnSpPr>
        <p:spPr>
          <a:xfrm flipH="1">
            <a:off x="2566392" y="4928938"/>
            <a:ext cx="7962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141" name="TextBox 140"/>
          <p:cNvSpPr txBox="1"/>
          <p:nvPr/>
        </p:nvSpPr>
        <p:spPr>
          <a:xfrm>
            <a:off x="2955097" y="4600558"/>
            <a:ext cx="351378" cy="369332"/>
          </a:xfrm>
          <a:prstGeom prst="rect">
            <a:avLst/>
          </a:prstGeom>
          <a:noFill/>
        </p:spPr>
        <p:txBody>
          <a:bodyPr wrap="none" rtlCol="0">
            <a:spAutoFit/>
          </a:bodyPr>
          <a:lstStyle/>
          <a:p>
            <a:r>
              <a:rPr lang="en-US" altLang="zh-CN" dirty="0" smtClean="0"/>
              <a:t>N</a:t>
            </a:r>
            <a:endParaRPr lang="zh-CN" altLang="en-US" dirty="0"/>
          </a:p>
        </p:txBody>
      </p:sp>
      <p:sp>
        <p:nvSpPr>
          <p:cNvPr id="142" name="TextBox 141"/>
          <p:cNvSpPr txBox="1"/>
          <p:nvPr/>
        </p:nvSpPr>
        <p:spPr>
          <a:xfrm>
            <a:off x="4696799" y="5020074"/>
            <a:ext cx="338554" cy="369332"/>
          </a:xfrm>
          <a:prstGeom prst="rect">
            <a:avLst/>
          </a:prstGeom>
          <a:noFill/>
        </p:spPr>
        <p:txBody>
          <a:bodyPr wrap="none" rtlCol="0">
            <a:spAutoFit/>
          </a:bodyPr>
          <a:lstStyle/>
          <a:p>
            <a:r>
              <a:rPr lang="en-US" altLang="zh-CN" dirty="0" smtClean="0"/>
              <a:t>Y</a:t>
            </a:r>
            <a:endParaRPr lang="zh-CN" altLang="en-US" dirty="0"/>
          </a:p>
        </p:txBody>
      </p:sp>
      <p:sp>
        <p:nvSpPr>
          <p:cNvPr id="143" name="TextBox 142"/>
          <p:cNvSpPr txBox="1"/>
          <p:nvPr/>
        </p:nvSpPr>
        <p:spPr>
          <a:xfrm>
            <a:off x="2795227" y="6021997"/>
            <a:ext cx="338554" cy="369332"/>
          </a:xfrm>
          <a:prstGeom prst="rect">
            <a:avLst/>
          </a:prstGeom>
          <a:noFill/>
        </p:spPr>
        <p:txBody>
          <a:bodyPr wrap="none" rtlCol="0">
            <a:spAutoFit/>
          </a:bodyPr>
          <a:lstStyle/>
          <a:p>
            <a:r>
              <a:rPr lang="en-US" altLang="zh-CN" dirty="0" smtClean="0"/>
              <a:t>Y</a:t>
            </a:r>
            <a:endParaRPr lang="zh-CN" altLang="en-US" dirty="0"/>
          </a:p>
        </p:txBody>
      </p:sp>
      <p:sp>
        <p:nvSpPr>
          <p:cNvPr id="144" name="TextBox 143"/>
          <p:cNvSpPr txBox="1"/>
          <p:nvPr/>
        </p:nvSpPr>
        <p:spPr>
          <a:xfrm>
            <a:off x="3444543" y="6479197"/>
            <a:ext cx="351378" cy="369332"/>
          </a:xfrm>
          <a:prstGeom prst="rect">
            <a:avLst/>
          </a:prstGeom>
          <a:noFill/>
        </p:spPr>
        <p:txBody>
          <a:bodyPr wrap="none" rtlCol="0">
            <a:spAutoFit/>
          </a:bodyPr>
          <a:lstStyle/>
          <a:p>
            <a:r>
              <a:rPr lang="en-US" altLang="zh-CN" dirty="0" smtClean="0"/>
              <a:t>N</a:t>
            </a:r>
            <a:endParaRPr lang="zh-CN" altLang="en-US" dirty="0"/>
          </a:p>
        </p:txBody>
      </p:sp>
    </p:spTree>
    <p:extLst>
      <p:ext uri="{BB962C8B-B14F-4D97-AF65-F5344CB8AC3E}">
        <p14:creationId xmlns:p14="http://schemas.microsoft.com/office/powerpoint/2010/main" val="1679690360"/>
      </p:ext>
    </p:extLst>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5363"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四、算法基本步骤</a:t>
            </a:r>
          </a:p>
        </p:txBody>
      </p:sp>
      <p:sp>
        <p:nvSpPr>
          <p:cNvPr id="15364" name="TextBox 1"/>
          <p:cNvSpPr txBox="1">
            <a:spLocks noChangeArrowheads="1"/>
          </p:cNvSpPr>
          <p:nvPr/>
        </p:nvSpPr>
        <p:spPr bwMode="auto">
          <a:xfrm>
            <a:off x="684213" y="1844675"/>
            <a:ext cx="8186737"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sz="2400" dirty="0"/>
              <a:t>       算法实质分为两层循环，在任一温度下随机扰动产生 </a:t>
            </a:r>
            <a:endParaRPr lang="en-US" altLang="zh-CN" sz="2400" dirty="0"/>
          </a:p>
          <a:p>
            <a:pPr eaLnBrk="1" hangingPunct="1">
              <a:lnSpc>
                <a:spcPct val="125000"/>
              </a:lnSpc>
            </a:pPr>
            <a:r>
              <a:rPr lang="zh-CN" altLang="en-US" sz="2400" dirty="0"/>
              <a:t>新解，计算目标函数值的变化，决定是否接受。由于算法</a:t>
            </a:r>
            <a:endParaRPr lang="en-US" altLang="zh-CN" sz="2400" dirty="0"/>
          </a:p>
          <a:p>
            <a:pPr eaLnBrk="1" hangingPunct="1">
              <a:lnSpc>
                <a:spcPct val="125000"/>
              </a:lnSpc>
            </a:pPr>
            <a:r>
              <a:rPr lang="zh-CN" altLang="en-US" sz="2400" dirty="0"/>
              <a:t>初始温度比较高，这样使</a:t>
            </a:r>
            <a:r>
              <a:rPr lang="en-US" altLang="zh-CN" sz="2400" dirty="0"/>
              <a:t>E</a:t>
            </a:r>
            <a:r>
              <a:rPr lang="zh-CN" altLang="en-US" sz="2400" dirty="0"/>
              <a:t>增大的新解在初始时也可能被</a:t>
            </a:r>
            <a:endParaRPr lang="en-US" altLang="zh-CN" sz="2400" dirty="0"/>
          </a:p>
          <a:p>
            <a:pPr eaLnBrk="1" hangingPunct="1">
              <a:lnSpc>
                <a:spcPct val="125000"/>
              </a:lnSpc>
            </a:pPr>
            <a:r>
              <a:rPr lang="zh-CN" altLang="en-US" sz="2400" dirty="0"/>
              <a:t>接受，因此能跳出局部极小值，然后通过缓慢地降低温度，</a:t>
            </a:r>
            <a:endParaRPr lang="en-US" altLang="zh-CN" sz="2400" dirty="0"/>
          </a:p>
          <a:p>
            <a:pPr eaLnBrk="1" hangingPunct="1">
              <a:lnSpc>
                <a:spcPct val="125000"/>
              </a:lnSpc>
            </a:pPr>
            <a:r>
              <a:rPr lang="zh-CN" altLang="en-US" sz="2400" dirty="0"/>
              <a:t>算法可能收敛到全局最优解。</a:t>
            </a:r>
            <a:endParaRPr lang="en-US" altLang="zh-CN" sz="2400" dirty="0"/>
          </a:p>
          <a:p>
            <a:pPr eaLnBrk="1" hangingPunct="1">
              <a:lnSpc>
                <a:spcPct val="125000"/>
              </a:lnSpc>
            </a:pPr>
            <a:r>
              <a:rPr lang="zh-CN" altLang="en-US" sz="2400" dirty="0"/>
              <a:t>       虽然在低温时接受函数已经非常小了，但仍不排除有</a:t>
            </a:r>
            <a:endParaRPr lang="en-US" altLang="zh-CN" sz="2400" dirty="0"/>
          </a:p>
          <a:p>
            <a:pPr eaLnBrk="1" hangingPunct="1">
              <a:lnSpc>
                <a:spcPct val="125000"/>
              </a:lnSpc>
            </a:pPr>
            <a:r>
              <a:rPr lang="zh-CN" altLang="en-US" sz="2400" dirty="0"/>
              <a:t>接受更差解得可能，因此一般都会把退火过程中碰到的最</a:t>
            </a:r>
            <a:endParaRPr lang="en-US" altLang="zh-CN" sz="2400" dirty="0"/>
          </a:p>
          <a:p>
            <a:pPr eaLnBrk="1" hangingPunct="1">
              <a:lnSpc>
                <a:spcPct val="125000"/>
              </a:lnSpc>
            </a:pPr>
            <a:r>
              <a:rPr lang="zh-CN" altLang="en-US" sz="2400" dirty="0"/>
              <a:t>好的可行解（历史最优解）也记录下来，与终止算法前最</a:t>
            </a:r>
            <a:endParaRPr lang="en-US" altLang="zh-CN" sz="2400" dirty="0"/>
          </a:p>
          <a:p>
            <a:pPr eaLnBrk="1" hangingPunct="1">
              <a:lnSpc>
                <a:spcPct val="125000"/>
              </a:lnSpc>
            </a:pPr>
            <a:r>
              <a:rPr lang="zh-CN" altLang="en-US" sz="2400" dirty="0"/>
              <a:t>后被接受解一并输出。</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7411"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五、几点说明</a:t>
            </a:r>
          </a:p>
        </p:txBody>
      </p:sp>
      <p:sp>
        <p:nvSpPr>
          <p:cNvPr id="17412" name="TextBox 1"/>
          <p:cNvSpPr txBox="1">
            <a:spLocks noChangeArrowheads="1"/>
          </p:cNvSpPr>
          <p:nvPr/>
        </p:nvSpPr>
        <p:spPr bwMode="auto">
          <a:xfrm>
            <a:off x="684213" y="1844675"/>
            <a:ext cx="7878762"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800100" indent="-34290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en-US" altLang="zh-CN" sz="2400" dirty="0"/>
              <a:t>1</a:t>
            </a:r>
            <a:r>
              <a:rPr lang="zh-CN" altLang="en-US" sz="2400" dirty="0"/>
              <a:t>、新解的产生</a:t>
            </a:r>
            <a:endParaRPr lang="en-US" altLang="zh-CN" sz="2400" dirty="0"/>
          </a:p>
          <a:p>
            <a:pPr eaLnBrk="1" hangingPunct="1">
              <a:lnSpc>
                <a:spcPct val="125000"/>
              </a:lnSpc>
            </a:pPr>
            <a:r>
              <a:rPr lang="en-US" altLang="zh-CN" sz="2400" dirty="0"/>
              <a:t>      </a:t>
            </a:r>
            <a:r>
              <a:rPr lang="zh-CN" altLang="en-US" sz="2400" dirty="0"/>
              <a:t>要求尽可能地遍及解空间的各个区域，这样，在某一</a:t>
            </a:r>
            <a:endParaRPr lang="en-US" altLang="zh-CN" sz="2400" dirty="0"/>
          </a:p>
          <a:p>
            <a:pPr eaLnBrk="1" hangingPunct="1">
              <a:lnSpc>
                <a:spcPct val="125000"/>
              </a:lnSpc>
            </a:pPr>
            <a:r>
              <a:rPr lang="zh-CN" altLang="en-US" sz="2400" dirty="0"/>
              <a:t>恒定温度下，不断产生新解时，就可能跳出局部最优解。</a:t>
            </a:r>
            <a:endParaRPr lang="en-US" altLang="zh-CN" sz="2400" dirty="0"/>
          </a:p>
          <a:p>
            <a:pPr eaLnBrk="1" hangingPunct="1">
              <a:lnSpc>
                <a:spcPct val="125000"/>
              </a:lnSpc>
            </a:pPr>
            <a:r>
              <a:rPr lang="en-US" altLang="zh-CN" sz="2400" dirty="0"/>
              <a:t>2</a:t>
            </a:r>
            <a:r>
              <a:rPr lang="zh-CN" altLang="en-US" sz="2400" dirty="0"/>
              <a:t>、收敛的一般条件：</a:t>
            </a:r>
            <a:endParaRPr lang="en-US" altLang="zh-CN" sz="2400" dirty="0"/>
          </a:p>
          <a:p>
            <a:pPr lvl="1" eaLnBrk="1" hangingPunct="1">
              <a:lnSpc>
                <a:spcPct val="125000"/>
              </a:lnSpc>
              <a:buFont typeface="Arial" charset="0"/>
              <a:buChar char="•"/>
            </a:pPr>
            <a:r>
              <a:rPr lang="zh-CN" altLang="en-US" sz="2400" dirty="0"/>
              <a:t>初始温度足够高；</a:t>
            </a:r>
            <a:endParaRPr lang="en-US" altLang="zh-CN" sz="2400" dirty="0"/>
          </a:p>
          <a:p>
            <a:pPr lvl="1" eaLnBrk="1" hangingPunct="1">
              <a:lnSpc>
                <a:spcPct val="125000"/>
              </a:lnSpc>
              <a:buFont typeface="Arial" charset="0"/>
              <a:buChar char="•"/>
            </a:pPr>
            <a:r>
              <a:rPr lang="zh-CN" altLang="en-US" sz="2400" dirty="0"/>
              <a:t>热平衡时间足够长；</a:t>
            </a:r>
            <a:endParaRPr lang="en-US" altLang="zh-CN" sz="2400" dirty="0"/>
          </a:p>
          <a:p>
            <a:pPr lvl="1" eaLnBrk="1" hangingPunct="1">
              <a:lnSpc>
                <a:spcPct val="125000"/>
              </a:lnSpc>
              <a:buFont typeface="Arial" charset="0"/>
              <a:buChar char="•"/>
            </a:pPr>
            <a:r>
              <a:rPr lang="zh-CN" altLang="en-US" sz="2400" dirty="0"/>
              <a:t>终止温度足够低；</a:t>
            </a:r>
            <a:endParaRPr lang="en-US" altLang="zh-CN" sz="2400" dirty="0"/>
          </a:p>
          <a:p>
            <a:pPr lvl="1" eaLnBrk="1" hangingPunct="1">
              <a:lnSpc>
                <a:spcPct val="125000"/>
              </a:lnSpc>
              <a:buFont typeface="Arial" charset="0"/>
              <a:buChar char="•"/>
            </a:pPr>
            <a:r>
              <a:rPr lang="zh-CN" altLang="en-US" sz="2400" dirty="0"/>
              <a:t>降温过程足够缓慢；</a:t>
            </a:r>
            <a:r>
              <a:rPr lang="en-US" altLang="zh-CN" sz="2400" dirty="0"/>
              <a:t>   </a:t>
            </a:r>
            <a:endParaRPr lang="zh-CN" altLang="en-US" sz="2400" dirty="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8435"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五、几点说明</a:t>
            </a:r>
          </a:p>
        </p:txBody>
      </p:sp>
      <p:sp>
        <p:nvSpPr>
          <p:cNvPr id="2" name="TextBox 1"/>
          <p:cNvSpPr txBox="1">
            <a:spLocks noRot="1" noChangeAspect="1" noMove="1" noResize="1" noEditPoints="1" noAdjustHandles="1" noChangeArrowheads="1" noChangeShapeType="1" noTextEdit="1"/>
          </p:cNvSpPr>
          <p:nvPr/>
        </p:nvSpPr>
        <p:spPr>
          <a:xfrm>
            <a:off x="683568" y="1844824"/>
            <a:ext cx="8352479" cy="3785652"/>
          </a:xfrm>
          <a:prstGeom prst="rect">
            <a:avLst/>
          </a:prstGeom>
          <a:blipFill rotWithShape="1">
            <a:blip r:embed="rId3"/>
            <a:stretch>
              <a:fillRect l="-1095" t="-644" r="-219"/>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6.1 </a:t>
            </a:r>
            <a:r>
              <a:rPr lang="zh-CN" altLang="en-US" sz="3600" b="1" smtClean="0">
                <a:ea typeface="黑体" pitchFamily="49" charset="-122"/>
              </a:rPr>
              <a:t>算法基本理论　</a:t>
            </a:r>
          </a:p>
        </p:txBody>
      </p:sp>
      <p:sp>
        <p:nvSpPr>
          <p:cNvPr id="18435"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六、 算法优缺点</a:t>
            </a:r>
          </a:p>
        </p:txBody>
      </p:sp>
      <p:sp>
        <p:nvSpPr>
          <p:cNvPr id="3" name="TextBox 2"/>
          <p:cNvSpPr txBox="1"/>
          <p:nvPr/>
        </p:nvSpPr>
        <p:spPr>
          <a:xfrm>
            <a:off x="467544" y="1844824"/>
            <a:ext cx="8028160" cy="1261884"/>
          </a:xfrm>
          <a:prstGeom prst="rect">
            <a:avLst/>
          </a:prstGeom>
          <a:noFill/>
        </p:spPr>
        <p:txBody>
          <a:bodyPr wrap="none" rtlCol="0">
            <a:spAutoFit/>
          </a:bodyPr>
          <a:lstStyle/>
          <a:p>
            <a:r>
              <a:rPr lang="zh-CN" altLang="en-US" sz="2800" dirty="0" smtClean="0">
                <a:solidFill>
                  <a:srgbClr val="000000"/>
                </a:solidFill>
              </a:rPr>
              <a:t>优点：</a:t>
            </a:r>
            <a:endParaRPr lang="en-US" altLang="zh-CN" sz="2800" dirty="0" smtClean="0">
              <a:solidFill>
                <a:srgbClr val="000000"/>
              </a:solidFill>
            </a:endParaRPr>
          </a:p>
          <a:p>
            <a:r>
              <a:rPr lang="zh-CN" altLang="en-US" sz="2400" dirty="0" smtClean="0"/>
              <a:t>        计算</a:t>
            </a:r>
            <a:r>
              <a:rPr lang="zh-CN" altLang="en-US" sz="2400" dirty="0"/>
              <a:t>过程简单，通用，鲁棒性强，适用于并行处理</a:t>
            </a:r>
            <a:r>
              <a:rPr lang="zh-CN" altLang="en-US" sz="2400" dirty="0" smtClean="0"/>
              <a:t>，</a:t>
            </a:r>
            <a:endParaRPr lang="en-US" altLang="zh-CN" sz="2400" dirty="0" smtClean="0"/>
          </a:p>
          <a:p>
            <a:r>
              <a:rPr lang="zh-CN" altLang="en-US" sz="2400" dirty="0" smtClean="0"/>
              <a:t>可用</a:t>
            </a:r>
            <a:r>
              <a:rPr lang="zh-CN" altLang="en-US" sz="2400" dirty="0"/>
              <a:t>于求解复杂的非线性优化问题。</a:t>
            </a:r>
          </a:p>
        </p:txBody>
      </p:sp>
      <p:sp>
        <p:nvSpPr>
          <p:cNvPr id="6" name="TextBox 5"/>
          <p:cNvSpPr txBox="1"/>
          <p:nvPr/>
        </p:nvSpPr>
        <p:spPr>
          <a:xfrm>
            <a:off x="619944" y="3645024"/>
            <a:ext cx="7550465" cy="1261884"/>
          </a:xfrm>
          <a:prstGeom prst="rect">
            <a:avLst/>
          </a:prstGeom>
          <a:noFill/>
        </p:spPr>
        <p:txBody>
          <a:bodyPr wrap="none" rtlCol="0">
            <a:spAutoFit/>
          </a:bodyPr>
          <a:lstStyle/>
          <a:p>
            <a:r>
              <a:rPr lang="zh-CN" altLang="en-US" sz="2800" dirty="0">
                <a:solidFill>
                  <a:srgbClr val="000000"/>
                </a:solidFill>
              </a:rPr>
              <a:t>缺</a:t>
            </a:r>
            <a:r>
              <a:rPr lang="zh-CN" altLang="en-US" sz="2800" dirty="0" smtClean="0">
                <a:solidFill>
                  <a:srgbClr val="000000"/>
                </a:solidFill>
              </a:rPr>
              <a:t>点：</a:t>
            </a:r>
            <a:endParaRPr lang="en-US" altLang="zh-CN" sz="2800" dirty="0" smtClean="0">
              <a:solidFill>
                <a:srgbClr val="000000"/>
              </a:solidFill>
            </a:endParaRPr>
          </a:p>
          <a:p>
            <a:r>
              <a:rPr lang="zh-CN" altLang="en-US" sz="2400" dirty="0" smtClean="0"/>
              <a:t>       收敛</a:t>
            </a:r>
            <a:r>
              <a:rPr lang="zh-CN" altLang="en-US" sz="2400" dirty="0"/>
              <a:t>速度慢，执行时间长，算法性能与初始值</a:t>
            </a:r>
            <a:r>
              <a:rPr lang="zh-CN" altLang="en-US" sz="2400" dirty="0" smtClean="0"/>
              <a:t>有关</a:t>
            </a:r>
            <a:endParaRPr lang="en-US" altLang="zh-CN" sz="2400" dirty="0" smtClean="0"/>
          </a:p>
          <a:p>
            <a:r>
              <a:rPr lang="zh-CN" altLang="en-US" sz="2400" dirty="0" smtClean="0"/>
              <a:t>及</a:t>
            </a:r>
            <a:r>
              <a:rPr lang="zh-CN" altLang="en-US" sz="2400" dirty="0"/>
              <a:t>参数敏感等缺点。</a:t>
            </a:r>
          </a:p>
        </p:txBody>
      </p:sp>
    </p:spTree>
    <p:extLst>
      <p:ext uri="{BB962C8B-B14F-4D97-AF65-F5344CB8AC3E}">
        <p14:creationId xmlns:p14="http://schemas.microsoft.com/office/powerpoint/2010/main" val="4216930385"/>
      </p:ext>
    </p:extLst>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19459"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旅行商问题</a:t>
            </a:r>
          </a:p>
        </p:txBody>
      </p:sp>
      <p:sp>
        <p:nvSpPr>
          <p:cNvPr id="19460" name="TextBox 2"/>
          <p:cNvSpPr txBox="1">
            <a:spLocks noChangeArrowheads="1"/>
          </p:cNvSpPr>
          <p:nvPr/>
        </p:nvSpPr>
        <p:spPr bwMode="auto">
          <a:xfrm>
            <a:off x="1042988" y="1916832"/>
            <a:ext cx="6553200"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25000"/>
              </a:lnSpc>
            </a:pPr>
            <a:r>
              <a:rPr lang="zh-CN" altLang="en-US" sz="2400" dirty="0"/>
              <a:t>        一名商人要到</a:t>
            </a:r>
            <a:r>
              <a:rPr lang="en-US" altLang="zh-CN" sz="2400" i="1" dirty="0">
                <a:latin typeface="Cambria Math" pitchFamily="18" charset="0"/>
              </a:rPr>
              <a:t>n </a:t>
            </a:r>
            <a:r>
              <a:rPr lang="zh-CN" altLang="en-US" sz="2400" dirty="0"/>
              <a:t>个不同的城市去推销商品，每</a:t>
            </a:r>
            <a:r>
              <a:rPr lang="en-US" altLang="zh-CN" sz="2400" i="1" dirty="0">
                <a:latin typeface="Cambria Math" pitchFamily="18" charset="0"/>
              </a:rPr>
              <a:t>2 </a:t>
            </a:r>
            <a:r>
              <a:rPr lang="zh-CN" altLang="en-US" sz="2400" dirty="0"/>
              <a:t>个城市</a:t>
            </a:r>
            <a:r>
              <a:rPr lang="en-US" altLang="zh-CN" sz="2400" i="1" dirty="0"/>
              <a:t>I </a:t>
            </a:r>
            <a:r>
              <a:rPr lang="zh-CN" altLang="en-US" sz="2400" dirty="0"/>
              <a:t>和</a:t>
            </a:r>
            <a:r>
              <a:rPr lang="en-US" altLang="zh-CN" sz="2400" i="1" dirty="0"/>
              <a:t>j </a:t>
            </a:r>
            <a:r>
              <a:rPr lang="zh-CN" altLang="en-US" sz="2400" dirty="0"/>
              <a:t>之间的距离为</a:t>
            </a:r>
            <a:r>
              <a:rPr lang="en-US" altLang="zh-CN" sz="2400" i="1" dirty="0"/>
              <a:t>d</a:t>
            </a:r>
            <a:r>
              <a:rPr lang="zh-CN" altLang="en-US" sz="2400" dirty="0"/>
              <a:t>，如何选择一条路径使得商人每个城市走一遍后回到起点所走的路径最短。</a:t>
            </a:r>
          </a:p>
        </p:txBody>
      </p:sp>
      <p:sp>
        <p:nvSpPr>
          <p:cNvPr id="2" name="TextBox 1"/>
          <p:cNvSpPr txBox="1"/>
          <p:nvPr/>
        </p:nvSpPr>
        <p:spPr>
          <a:xfrm>
            <a:off x="755576" y="3872440"/>
            <a:ext cx="7385355" cy="1384995"/>
          </a:xfrm>
          <a:prstGeom prst="rect">
            <a:avLst/>
          </a:prstGeom>
          <a:noFill/>
        </p:spPr>
        <p:txBody>
          <a:bodyPr wrap="none" rtlCol="0">
            <a:spAutoFit/>
          </a:bodyPr>
          <a:lstStyle/>
          <a:p>
            <a:r>
              <a:rPr lang="zh-CN" altLang="en-US" sz="2800" dirty="0" smtClean="0">
                <a:solidFill>
                  <a:srgbClr val="000000"/>
                </a:solidFill>
              </a:rPr>
              <a:t>例</a:t>
            </a:r>
            <a:r>
              <a:rPr lang="zh-CN" altLang="en-US" sz="2800" dirty="0" smtClean="0"/>
              <a:t>：</a:t>
            </a:r>
            <a:endParaRPr lang="en-US" altLang="zh-CN" sz="2800" dirty="0" smtClean="0"/>
          </a:p>
          <a:p>
            <a:r>
              <a:rPr lang="zh-CN" altLang="en-US" sz="2800" dirty="0" smtClean="0"/>
              <a:t>       有</a:t>
            </a:r>
            <a:r>
              <a:rPr lang="en-US" altLang="zh-CN" sz="2800" dirty="0" smtClean="0"/>
              <a:t>52</a:t>
            </a:r>
            <a:r>
              <a:rPr lang="zh-CN" altLang="en-US" sz="2800" dirty="0" smtClean="0"/>
              <a:t>座城市，已知每座城市的坐标，求每</a:t>
            </a:r>
            <a:endParaRPr lang="en-US" altLang="zh-CN" sz="2800" dirty="0" smtClean="0"/>
          </a:p>
          <a:p>
            <a:r>
              <a:rPr lang="zh-CN" altLang="en-US" sz="2800" dirty="0" smtClean="0"/>
              <a:t>个城市走一遍后回到起点，所走的路径最短。</a:t>
            </a:r>
            <a:endParaRPr lang="zh-CN" altLang="en-US" sz="2800" dirty="0"/>
          </a:p>
        </p:txBody>
      </p:sp>
    </p:spTree>
  </p:cSld>
  <p:clrMapOvr>
    <a:masterClrMapping/>
  </p:clrMapOvr>
  <p:transition>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 name="流程图: 可选过程 47"/>
          <p:cNvSpPr/>
          <p:nvPr/>
        </p:nvSpPr>
        <p:spPr>
          <a:xfrm>
            <a:off x="3020621" y="14515"/>
            <a:ext cx="2147705" cy="91453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初始温度</a:t>
            </a:r>
            <a:r>
              <a:rPr lang="en-US" altLang="zh-CN" dirty="0" smtClean="0">
                <a:solidFill>
                  <a:srgbClr val="000000"/>
                </a:solidFill>
              </a:rPr>
              <a:t>(93)</a:t>
            </a:r>
            <a:r>
              <a:rPr lang="zh-CN" altLang="en-US" dirty="0" smtClean="0">
                <a:solidFill>
                  <a:srgbClr val="000000"/>
                </a:solidFill>
              </a:rPr>
              <a:t>，随机产生初始解</a:t>
            </a:r>
            <a:r>
              <a:rPr lang="en-US" altLang="zh-CN" dirty="0" smtClean="0">
                <a:solidFill>
                  <a:srgbClr val="000000"/>
                </a:solidFill>
              </a:rPr>
              <a:t>(1</a:t>
            </a:r>
            <a:r>
              <a:rPr lang="zh-CN" altLang="en-US" dirty="0" smtClean="0">
                <a:solidFill>
                  <a:srgbClr val="000000"/>
                </a:solidFill>
              </a:rPr>
              <a:t>到</a:t>
            </a:r>
            <a:r>
              <a:rPr lang="en-US" altLang="zh-CN" dirty="0" smtClean="0">
                <a:solidFill>
                  <a:srgbClr val="000000"/>
                </a:solidFill>
              </a:rPr>
              <a:t>52</a:t>
            </a:r>
            <a:r>
              <a:rPr lang="zh-CN" altLang="en-US" dirty="0" smtClean="0">
                <a:solidFill>
                  <a:srgbClr val="000000"/>
                </a:solidFill>
              </a:rPr>
              <a:t>的随机排列</a:t>
            </a:r>
            <a:r>
              <a:rPr lang="en-US" altLang="zh-CN" dirty="0" smtClean="0">
                <a:solidFill>
                  <a:srgbClr val="000000"/>
                </a:solidFill>
              </a:rPr>
              <a:t>)</a:t>
            </a:r>
            <a:r>
              <a:rPr lang="zh-CN" altLang="en-US" dirty="0" smtClean="0">
                <a:solidFill>
                  <a:srgbClr val="000000"/>
                </a:solidFill>
              </a:rPr>
              <a:t>。</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49" name="圆角矩形 48"/>
              <p:cNvSpPr/>
              <p:nvPr/>
            </p:nvSpPr>
            <p:spPr>
              <a:xfrm>
                <a:off x="2156206" y="4007301"/>
                <a:ext cx="3930742" cy="50038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计算两解的目标函数差值</a:t>
                </a:r>
                <a14:m>
                  <m:oMath xmlns:m="http://schemas.openxmlformats.org/officeDocument/2006/math">
                    <m:r>
                      <a:rPr lang="zh-CN" altLang="en-US" i="1" smtClean="0">
                        <a:solidFill>
                          <a:srgbClr val="000000"/>
                        </a:solidFill>
                        <a:latin typeface="Cambria Math"/>
                      </a:rPr>
                      <m:t>∆</m:t>
                    </m:r>
                    <m:r>
                      <a:rPr lang="en-US" altLang="zh-CN" b="0" i="1" smtClean="0">
                        <a:solidFill>
                          <a:srgbClr val="000000"/>
                        </a:solidFill>
                        <a:latin typeface="Cambria Math"/>
                      </a:rPr>
                      <m:t>𝑦</m:t>
                    </m:r>
                    <m:r>
                      <a:rPr lang="en-US" altLang="zh-CN" b="0" i="1" smtClean="0">
                        <a:solidFill>
                          <a:srgbClr val="000000"/>
                        </a:solidFill>
                        <a:latin typeface="Cambria Math"/>
                      </a:rPr>
                      <m:t>(</m:t>
                    </m:r>
                    <m:r>
                      <a:rPr lang="zh-CN" altLang="en-US" i="1">
                        <a:solidFill>
                          <a:srgbClr val="000000"/>
                        </a:solidFill>
                        <a:latin typeface="Cambria Math"/>
                      </a:rPr>
                      <m:t>两条</m:t>
                    </m:r>
                    <m:r>
                      <a:rPr lang="zh-CN" altLang="en-US" i="1" smtClean="0">
                        <a:solidFill>
                          <a:srgbClr val="000000"/>
                        </a:solidFill>
                        <a:latin typeface="Cambria Math"/>
                      </a:rPr>
                      <m:t>路径</m:t>
                    </m:r>
                    <m:r>
                      <a:rPr lang="zh-CN" altLang="en-US" b="0" i="1" smtClean="0">
                        <a:solidFill>
                          <a:srgbClr val="000000"/>
                        </a:solidFill>
                        <a:latin typeface="Cambria Math"/>
                      </a:rPr>
                      <m:t>之差</m:t>
                    </m:r>
                    <m:r>
                      <a:rPr lang="en-US" altLang="zh-CN" b="0" i="1" smtClean="0">
                        <a:solidFill>
                          <a:srgbClr val="000000"/>
                        </a:solidFill>
                        <a:latin typeface="Cambria Math"/>
                      </a:rPr>
                      <m:t>)</m:t>
                    </m:r>
                  </m:oMath>
                </a14:m>
                <a:endParaRPr lang="zh-CN" altLang="en-US" dirty="0">
                  <a:solidFill>
                    <a:srgbClr val="000000"/>
                  </a:solidFill>
                </a:endParaRPr>
              </a:p>
            </p:txBody>
          </p:sp>
        </mc:Choice>
        <mc:Fallback xmlns="">
          <p:sp>
            <p:nvSpPr>
              <p:cNvPr id="49" name="圆角矩形 48"/>
              <p:cNvSpPr>
                <a:spLocks noRot="1" noChangeAspect="1" noMove="1" noResize="1" noEditPoints="1" noAdjustHandles="1" noChangeArrowheads="1" noChangeShapeType="1" noTextEdit="1"/>
              </p:cNvSpPr>
              <p:nvPr/>
            </p:nvSpPr>
            <p:spPr>
              <a:xfrm>
                <a:off x="2156206" y="4007301"/>
                <a:ext cx="3930742" cy="500386"/>
              </a:xfrm>
              <a:prstGeom prst="roundRect">
                <a:avLst/>
              </a:prstGeom>
              <a:blipFill rotWithShape="1">
                <a:blip r:embed="rId3"/>
                <a:stretch>
                  <a:fillRect t="-16279" b="-22093"/>
                </a:stretch>
              </a:blipFill>
            </p:spPr>
            <p:txBody>
              <a:bodyPr/>
              <a:lstStyle/>
              <a:p>
                <a:r>
                  <a:rPr lang="zh-CN" altLang="en-US">
                    <a:noFill/>
                  </a:rPr>
                  <a:t> </a:t>
                </a:r>
              </a:p>
            </p:txBody>
          </p:sp>
        </mc:Fallback>
      </mc:AlternateContent>
      <p:cxnSp>
        <p:nvCxnSpPr>
          <p:cNvPr id="50" name="直接箭头连接符 49"/>
          <p:cNvCxnSpPr>
            <a:stCxn id="48" idx="2"/>
            <a:endCxn id="57" idx="0"/>
          </p:cNvCxnSpPr>
          <p:nvPr/>
        </p:nvCxnSpPr>
        <p:spPr>
          <a:xfrm>
            <a:off x="4094474" y="929053"/>
            <a:ext cx="6331" cy="26049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1" name="流程图: 决策 50"/>
              <p:cNvSpPr/>
              <p:nvPr/>
            </p:nvSpPr>
            <p:spPr>
              <a:xfrm>
                <a:off x="3055320" y="4676910"/>
                <a:ext cx="2090970" cy="50405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zh-CN" altLang="en-US" i="1" smtClean="0">
                        <a:solidFill>
                          <a:srgbClr val="000000"/>
                        </a:solidFill>
                        <a:latin typeface="Cambria Math"/>
                      </a:rPr>
                      <m:t>∆</m:t>
                    </m:r>
                    <m:r>
                      <a:rPr lang="en-US" altLang="zh-CN" i="1">
                        <a:solidFill>
                          <a:srgbClr val="000000"/>
                        </a:solidFill>
                        <a:latin typeface="Cambria Math"/>
                      </a:rPr>
                      <m:t>𝑦</m:t>
                    </m:r>
                    <m:r>
                      <a:rPr lang="en-US" altLang="zh-CN" b="0" i="0" smtClean="0">
                        <a:solidFill>
                          <a:srgbClr val="000000"/>
                        </a:solidFill>
                        <a:latin typeface="Cambria Math"/>
                      </a:rPr>
                      <m:t>&gt;</m:t>
                    </m:r>
                  </m:oMath>
                </a14:m>
                <a:r>
                  <a:rPr lang="en-US" altLang="zh-CN" dirty="0" smtClean="0">
                    <a:solidFill>
                      <a:srgbClr val="000000"/>
                    </a:solidFill>
                  </a:rPr>
                  <a:t>0</a:t>
                </a:r>
                <a:endParaRPr lang="zh-CN" altLang="en-US" dirty="0">
                  <a:solidFill>
                    <a:srgbClr val="000000"/>
                  </a:solidFill>
                </a:endParaRPr>
              </a:p>
            </p:txBody>
          </p:sp>
        </mc:Choice>
        <mc:Fallback xmlns="">
          <p:sp>
            <p:nvSpPr>
              <p:cNvPr id="51" name="流程图: 决策 50"/>
              <p:cNvSpPr>
                <a:spLocks noRot="1" noChangeAspect="1" noMove="1" noResize="1" noEditPoints="1" noAdjustHandles="1" noChangeArrowheads="1" noChangeShapeType="1" noTextEdit="1"/>
              </p:cNvSpPr>
              <p:nvPr/>
            </p:nvSpPr>
            <p:spPr>
              <a:xfrm>
                <a:off x="3055320" y="4676910"/>
                <a:ext cx="2090970" cy="504056"/>
              </a:xfrm>
              <a:prstGeom prst="flowChartDecision">
                <a:avLst/>
              </a:prstGeom>
              <a:blipFill rotWithShape="1">
                <a:blip r:embed="rId4"/>
                <a:stretch>
                  <a:fillRect b="-3448"/>
                </a:stretch>
              </a:blipFill>
            </p:spPr>
            <p:txBody>
              <a:bodyPr/>
              <a:lstStyle/>
              <a:p>
                <a:r>
                  <a:rPr lang="zh-CN" altLang="en-US">
                    <a:noFill/>
                  </a:rPr>
                  <a:t> </a:t>
                </a:r>
              </a:p>
            </p:txBody>
          </p:sp>
        </mc:Fallback>
      </mc:AlternateContent>
      <p:sp>
        <p:nvSpPr>
          <p:cNvPr id="52" name="流程图: 可选过程 51"/>
          <p:cNvSpPr/>
          <p:nvPr/>
        </p:nvSpPr>
        <p:spPr>
          <a:xfrm>
            <a:off x="448278" y="4653135"/>
            <a:ext cx="1810817"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接受新解作为当前解</a:t>
            </a:r>
            <a:endParaRPr lang="zh-CN" altLang="en-US" dirty="0">
              <a:solidFill>
                <a:srgbClr val="000000"/>
              </a:solidFill>
            </a:endParaRPr>
          </a:p>
        </p:txBody>
      </p:sp>
      <p:cxnSp>
        <p:nvCxnSpPr>
          <p:cNvPr id="53" name="肘形连接符 52"/>
          <p:cNvCxnSpPr>
            <a:stCxn id="52" idx="0"/>
            <a:endCxn id="59" idx="1"/>
          </p:cNvCxnSpPr>
          <p:nvPr/>
        </p:nvCxnSpPr>
        <p:spPr>
          <a:xfrm rot="5400000" flipH="1" flipV="1">
            <a:off x="1183484" y="2972592"/>
            <a:ext cx="1850747" cy="1510341"/>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54" name="流程图: 可选过程 53"/>
          <p:cNvSpPr/>
          <p:nvPr/>
        </p:nvSpPr>
        <p:spPr>
          <a:xfrm>
            <a:off x="2916658" y="5301208"/>
            <a:ext cx="2368294" cy="551605"/>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00"/>
                </a:solidFill>
              </a:rPr>
              <a:t>计算概率与</a:t>
            </a:r>
            <a:r>
              <a:rPr lang="en-US" altLang="zh-CN" dirty="0">
                <a:solidFill>
                  <a:srgbClr val="000000"/>
                </a:solidFill>
              </a:rPr>
              <a:t>[</a:t>
            </a:r>
            <a:r>
              <a:rPr lang="en-US" altLang="zh-CN" dirty="0" smtClean="0">
                <a:solidFill>
                  <a:srgbClr val="000000"/>
                </a:solidFill>
              </a:rPr>
              <a:t>0,1)</a:t>
            </a:r>
            <a:r>
              <a:rPr lang="zh-CN" altLang="en-US" dirty="0" smtClean="0">
                <a:solidFill>
                  <a:srgbClr val="000000"/>
                </a:solidFill>
              </a:rPr>
              <a:t>随机数之间</a:t>
            </a:r>
            <a:r>
              <a:rPr lang="zh-CN" altLang="en-US" dirty="0">
                <a:solidFill>
                  <a:srgbClr val="000000"/>
                </a:solidFill>
              </a:rPr>
              <a:t>的差值</a:t>
            </a:r>
          </a:p>
        </p:txBody>
      </p:sp>
      <p:sp>
        <p:nvSpPr>
          <p:cNvPr id="55" name="流程图: 决策 54"/>
          <p:cNvSpPr/>
          <p:nvPr/>
        </p:nvSpPr>
        <p:spPr>
          <a:xfrm>
            <a:off x="2876120" y="6021289"/>
            <a:ext cx="2449370" cy="720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差值大于</a:t>
            </a:r>
            <a:r>
              <a:rPr lang="en-US" altLang="zh-CN" dirty="0" smtClean="0">
                <a:solidFill>
                  <a:srgbClr val="000000"/>
                </a:solidFill>
              </a:rPr>
              <a:t>0</a:t>
            </a:r>
            <a:endParaRPr lang="zh-CN" altLang="en-US" dirty="0">
              <a:solidFill>
                <a:srgbClr val="000000"/>
              </a:solidFill>
            </a:endParaRPr>
          </a:p>
        </p:txBody>
      </p:sp>
      <p:cxnSp>
        <p:nvCxnSpPr>
          <p:cNvPr id="56" name="肘形连接符 55"/>
          <p:cNvCxnSpPr>
            <a:stCxn id="55" idx="1"/>
            <a:endCxn id="52" idx="2"/>
          </p:cNvCxnSpPr>
          <p:nvPr/>
        </p:nvCxnSpPr>
        <p:spPr>
          <a:xfrm rot="10800000">
            <a:off x="1353688" y="5204741"/>
            <a:ext cx="1522433" cy="1176589"/>
          </a:xfrm>
          <a:prstGeom prst="bentConnector2">
            <a:avLst/>
          </a:prstGeom>
          <a:ln>
            <a:tailEnd type="arrow"/>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7" name="流程图: 决策 56"/>
              <p:cNvSpPr/>
              <p:nvPr/>
            </p:nvSpPr>
            <p:spPr>
              <a:xfrm>
                <a:off x="3137246" y="1189544"/>
                <a:ext cx="1927118" cy="43204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altLang="zh-CN" b="0" i="1" smtClean="0">
                        <a:solidFill>
                          <a:srgbClr val="000000"/>
                        </a:solidFill>
                        <a:latin typeface="Cambria Math"/>
                      </a:rPr>
                      <m:t>𝑇</m:t>
                    </m:r>
                  </m:oMath>
                </a14:m>
                <a:r>
                  <a:rPr lang="en-US" altLang="zh-CN" dirty="0" smtClean="0">
                    <a:solidFill>
                      <a:srgbClr val="000000"/>
                    </a:solidFill>
                  </a:rPr>
                  <a:t> &gt;3</a:t>
                </a:r>
                <a:endParaRPr lang="zh-CN" altLang="en-US" dirty="0">
                  <a:solidFill>
                    <a:srgbClr val="000000"/>
                  </a:solidFill>
                </a:endParaRPr>
              </a:p>
            </p:txBody>
          </p:sp>
        </mc:Choice>
        <mc:Fallback xmlns="">
          <p:sp>
            <p:nvSpPr>
              <p:cNvPr id="57" name="流程图: 决策 56"/>
              <p:cNvSpPr>
                <a:spLocks noRot="1" noChangeAspect="1" noMove="1" noResize="1" noEditPoints="1" noAdjustHandles="1" noChangeArrowheads="1" noChangeShapeType="1" noTextEdit="1"/>
              </p:cNvSpPr>
              <p:nvPr/>
            </p:nvSpPr>
            <p:spPr>
              <a:xfrm>
                <a:off x="3137246" y="1189544"/>
                <a:ext cx="1927118" cy="432048"/>
              </a:xfrm>
              <a:prstGeom prst="flowChartDecision">
                <a:avLst/>
              </a:prstGeom>
              <a:blipFill rotWithShape="1">
                <a:blip r:embed="rId5"/>
                <a:stretch>
                  <a:fillRect b="-1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流程图: 可选过程 57"/>
              <p:cNvSpPr/>
              <p:nvPr/>
            </p:nvSpPr>
            <p:spPr>
              <a:xfrm>
                <a:off x="3473550" y="1772816"/>
                <a:ext cx="1254506" cy="50405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当前解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sub>
                    </m:sSub>
                  </m:oMath>
                </a14:m>
                <a:endParaRPr lang="zh-CN" altLang="en-US" dirty="0">
                  <a:solidFill>
                    <a:srgbClr val="000000"/>
                  </a:solidFill>
                </a:endParaRPr>
              </a:p>
            </p:txBody>
          </p:sp>
        </mc:Choice>
        <mc:Fallback xmlns="">
          <p:sp>
            <p:nvSpPr>
              <p:cNvPr id="58" name="流程图: 可选过程 57"/>
              <p:cNvSpPr>
                <a:spLocks noRot="1" noChangeAspect="1" noMove="1" noResize="1" noEditPoints="1" noAdjustHandles="1" noChangeArrowheads="1" noChangeShapeType="1" noTextEdit="1"/>
              </p:cNvSpPr>
              <p:nvPr/>
            </p:nvSpPr>
            <p:spPr>
              <a:xfrm>
                <a:off x="3473550" y="1772816"/>
                <a:ext cx="1254506" cy="504056"/>
              </a:xfrm>
              <a:prstGeom prst="flowChartAlternateProcess">
                <a:avLst/>
              </a:prstGeom>
              <a:blipFill rotWithShape="1">
                <a:blip r:embed="rId6"/>
                <a:stretch>
                  <a:fillRect/>
                </a:stretch>
              </a:blipFill>
            </p:spPr>
            <p:txBody>
              <a:bodyPr/>
              <a:lstStyle/>
              <a:p>
                <a:r>
                  <a:rPr lang="zh-CN" altLang="en-US">
                    <a:noFill/>
                  </a:rPr>
                  <a:t> </a:t>
                </a:r>
              </a:p>
            </p:txBody>
          </p:sp>
        </mc:Fallback>
      </mc:AlternateContent>
      <p:sp>
        <p:nvSpPr>
          <p:cNvPr id="59" name="流程图: 决策 58"/>
          <p:cNvSpPr/>
          <p:nvPr/>
        </p:nvSpPr>
        <p:spPr>
          <a:xfrm>
            <a:off x="2864028" y="2454300"/>
            <a:ext cx="2461462" cy="696176"/>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扰动次数</a:t>
            </a:r>
            <a:r>
              <a:rPr lang="en-US" altLang="zh-CN" dirty="0" smtClean="0">
                <a:solidFill>
                  <a:srgbClr val="000000"/>
                </a:solidFill>
              </a:rPr>
              <a:t>&gt;10000</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60" name="流程图: 可选过程 59"/>
              <p:cNvSpPr/>
              <p:nvPr/>
            </p:nvSpPr>
            <p:spPr>
              <a:xfrm>
                <a:off x="6712975" y="1741002"/>
                <a:ext cx="1728192" cy="53587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r>
                            <a:rPr lang="en-US" altLang="zh-CN" b="0" i="1" smtClean="0">
                              <a:solidFill>
                                <a:srgbClr val="000000"/>
                              </a:solidFill>
                              <a:latin typeface="Cambria Math"/>
                            </a:rPr>
                            <m:t>+1</m:t>
                          </m:r>
                        </m:sub>
                      </m:sSub>
                      <m:r>
                        <a:rPr lang="en-US" altLang="zh-CN" b="0" i="1" smtClean="0">
                          <a:solidFill>
                            <a:srgbClr val="000000"/>
                          </a:solidFill>
                          <a:latin typeface="Cambria Math"/>
                        </a:rPr>
                        <m:t>=0.99</m:t>
                      </m:r>
                      <m:sSub>
                        <m:sSubPr>
                          <m:ctrlPr>
                            <a:rPr lang="en-US" altLang="zh-CN" b="0" i="1" smtClean="0">
                              <a:solidFill>
                                <a:srgbClr val="000000"/>
                              </a:solidFill>
                              <a:latin typeface="Cambria Math"/>
                            </a:rPr>
                          </m:ctrlPr>
                        </m:sSubPr>
                        <m:e>
                          <m:r>
                            <a:rPr lang="en-US" altLang="zh-CN" b="0" i="1" smtClean="0">
                              <a:solidFill>
                                <a:srgbClr val="000000"/>
                              </a:solidFill>
                              <a:latin typeface="Cambria Math"/>
                            </a:rPr>
                            <m:t>𝑇</m:t>
                          </m:r>
                        </m:e>
                        <m:sub>
                          <m:r>
                            <a:rPr lang="en-US" altLang="zh-CN" b="0" i="1" smtClean="0">
                              <a:solidFill>
                                <a:srgbClr val="000000"/>
                              </a:solidFill>
                              <a:latin typeface="Cambria Math"/>
                            </a:rPr>
                            <m:t>𝑘</m:t>
                          </m:r>
                        </m:sub>
                      </m:sSub>
                    </m:oMath>
                  </m:oMathPara>
                </a14:m>
                <a:endParaRPr lang="zh-CN" altLang="en-US" dirty="0"/>
              </a:p>
            </p:txBody>
          </p:sp>
        </mc:Choice>
        <mc:Fallback xmlns="">
          <p:sp>
            <p:nvSpPr>
              <p:cNvPr id="60" name="流程图: 可选过程 59"/>
              <p:cNvSpPr>
                <a:spLocks noRot="1" noChangeAspect="1" noMove="1" noResize="1" noEditPoints="1" noAdjustHandles="1" noChangeArrowheads="1" noChangeShapeType="1" noTextEdit="1"/>
              </p:cNvSpPr>
              <p:nvPr/>
            </p:nvSpPr>
            <p:spPr>
              <a:xfrm>
                <a:off x="6712975" y="1741002"/>
                <a:ext cx="1728192" cy="535870"/>
              </a:xfrm>
              <a:prstGeom prst="flowChartAlternateProcess">
                <a:avLst/>
              </a:prstGeom>
              <a:blipFill rotWithShape="1">
                <a:blip r:embed="rId7"/>
                <a:stretch>
                  <a:fillRect/>
                </a:stretch>
              </a:blipFill>
            </p:spPr>
            <p:txBody>
              <a:bodyPr/>
              <a:lstStyle/>
              <a:p>
                <a:r>
                  <a:rPr lang="zh-CN" altLang="en-US">
                    <a:noFill/>
                  </a:rPr>
                  <a:t> </a:t>
                </a:r>
              </a:p>
            </p:txBody>
          </p:sp>
        </mc:Fallback>
      </mc:AlternateContent>
      <p:cxnSp>
        <p:nvCxnSpPr>
          <p:cNvPr id="61" name="肘形连接符 60"/>
          <p:cNvCxnSpPr>
            <a:stCxn id="59" idx="3"/>
            <a:endCxn id="60" idx="2"/>
          </p:cNvCxnSpPr>
          <p:nvPr/>
        </p:nvCxnSpPr>
        <p:spPr>
          <a:xfrm flipV="1">
            <a:off x="5325490" y="2276872"/>
            <a:ext cx="2251581" cy="525516"/>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62" name="肘形连接符 61"/>
          <p:cNvCxnSpPr>
            <a:stCxn id="60" idx="0"/>
          </p:cNvCxnSpPr>
          <p:nvPr/>
        </p:nvCxnSpPr>
        <p:spPr>
          <a:xfrm rot="16200000" flipV="1">
            <a:off x="5503833" y="-332236"/>
            <a:ext cx="688962" cy="3457514"/>
          </a:xfrm>
          <a:prstGeom prst="bentConnector2">
            <a:avLst/>
          </a:prstGeom>
          <a:ln>
            <a:tailEnd type="arrow"/>
          </a:ln>
        </p:spPr>
        <p:style>
          <a:lnRef idx="2">
            <a:schemeClr val="dk1"/>
          </a:lnRef>
          <a:fillRef idx="0">
            <a:schemeClr val="dk1"/>
          </a:fillRef>
          <a:effectRef idx="1">
            <a:schemeClr val="dk1"/>
          </a:effectRef>
          <a:fontRef idx="minor">
            <a:schemeClr val="tx1"/>
          </a:fontRef>
        </p:style>
      </p:cxnSp>
      <p:sp>
        <p:nvSpPr>
          <p:cNvPr id="63" name="流程图: 可选过程 62"/>
          <p:cNvSpPr/>
          <p:nvPr/>
        </p:nvSpPr>
        <p:spPr>
          <a:xfrm>
            <a:off x="5272815" y="1189544"/>
            <a:ext cx="1628266" cy="55145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结束，输出当前解</a:t>
            </a:r>
            <a:endParaRPr lang="zh-CN" altLang="en-US" dirty="0">
              <a:solidFill>
                <a:srgbClr val="000000"/>
              </a:solidFill>
            </a:endParaRPr>
          </a:p>
        </p:txBody>
      </p:sp>
      <mc:AlternateContent xmlns:mc="http://schemas.openxmlformats.org/markup-compatibility/2006" xmlns:a14="http://schemas.microsoft.com/office/drawing/2010/main">
        <mc:Choice Requires="a14">
          <p:sp>
            <p:nvSpPr>
              <p:cNvPr id="64" name="流程图: 可选过程 63"/>
              <p:cNvSpPr/>
              <p:nvPr/>
            </p:nvSpPr>
            <p:spPr>
              <a:xfrm>
                <a:off x="2929318" y="3284984"/>
                <a:ext cx="2342971" cy="566769"/>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扰动，产生新解</a:t>
                </a:r>
                <a14:m>
                  <m:oMath xmlns:m="http://schemas.openxmlformats.org/officeDocument/2006/math">
                    <m:sSub>
                      <m:sSubPr>
                        <m:ctrlPr>
                          <a:rPr lang="en-US" altLang="zh-CN" i="1" smtClean="0">
                            <a:solidFill>
                              <a:srgbClr val="000000"/>
                            </a:solidFill>
                            <a:latin typeface="Cambria Math"/>
                          </a:rPr>
                        </m:ctrlPr>
                      </m:sSubPr>
                      <m:e>
                        <m:r>
                          <a:rPr lang="en-US" altLang="zh-CN" b="0" i="1" smtClean="0">
                            <a:solidFill>
                              <a:srgbClr val="000000"/>
                            </a:solidFill>
                            <a:latin typeface="Cambria Math"/>
                          </a:rPr>
                          <m:t>𝑥</m:t>
                        </m:r>
                      </m:e>
                      <m:sub>
                        <m:r>
                          <a:rPr lang="en-US" altLang="zh-CN" b="0" i="1" smtClean="0">
                            <a:solidFill>
                              <a:srgbClr val="000000"/>
                            </a:solidFill>
                            <a:latin typeface="Cambria Math"/>
                          </a:rPr>
                          <m:t>𝑖</m:t>
                        </m:r>
                        <m:r>
                          <a:rPr lang="en-US" altLang="zh-CN" b="0" i="1" smtClean="0">
                            <a:solidFill>
                              <a:srgbClr val="000000"/>
                            </a:solidFill>
                            <a:latin typeface="Cambria Math"/>
                          </a:rPr>
                          <m:t>+1</m:t>
                        </m:r>
                      </m:sub>
                    </m:sSub>
                  </m:oMath>
                </a14:m>
                <a:endParaRPr lang="zh-CN" altLang="en-US" dirty="0">
                  <a:solidFill>
                    <a:srgbClr val="000000"/>
                  </a:solidFill>
                </a:endParaRPr>
              </a:p>
            </p:txBody>
          </p:sp>
        </mc:Choice>
        <mc:Fallback xmlns="">
          <p:sp>
            <p:nvSpPr>
              <p:cNvPr id="64" name="流程图: 可选过程 63"/>
              <p:cNvSpPr>
                <a:spLocks noRot="1" noChangeAspect="1" noMove="1" noResize="1" noEditPoints="1" noAdjustHandles="1" noChangeArrowheads="1" noChangeShapeType="1" noTextEdit="1"/>
              </p:cNvSpPr>
              <p:nvPr/>
            </p:nvSpPr>
            <p:spPr>
              <a:xfrm>
                <a:off x="2929318" y="3284984"/>
                <a:ext cx="2342971" cy="566769"/>
              </a:xfrm>
              <a:prstGeom prst="flowChartAlternateProcess">
                <a:avLst/>
              </a:prstGeom>
              <a:blipFill rotWithShape="1">
                <a:blip r:embed="rId8"/>
                <a:stretch>
                  <a:fillRect/>
                </a:stretch>
              </a:blipFill>
            </p:spPr>
            <p:txBody>
              <a:bodyPr/>
              <a:lstStyle/>
              <a:p>
                <a:r>
                  <a:rPr lang="zh-CN" altLang="en-US">
                    <a:noFill/>
                  </a:rPr>
                  <a:t> </a:t>
                </a:r>
              </a:p>
            </p:txBody>
          </p:sp>
        </mc:Fallback>
      </mc:AlternateContent>
      <p:cxnSp>
        <p:nvCxnSpPr>
          <p:cNvPr id="65" name="肘形连接符 64"/>
          <p:cNvCxnSpPr>
            <a:stCxn id="55" idx="2"/>
            <a:endCxn id="58" idx="1"/>
          </p:cNvCxnSpPr>
          <p:nvPr/>
        </p:nvCxnSpPr>
        <p:spPr>
          <a:xfrm rot="5400000" flipH="1">
            <a:off x="1428915" y="4069480"/>
            <a:ext cx="4716525" cy="627255"/>
          </a:xfrm>
          <a:prstGeom prst="bentConnector4">
            <a:avLst>
              <a:gd name="adj1" fmla="val -1212"/>
              <a:gd name="adj2" fmla="val 625746"/>
            </a:avLst>
          </a:prstGeom>
          <a:ln>
            <a:tailEnd type="arrow"/>
          </a:ln>
        </p:spPr>
        <p:style>
          <a:lnRef idx="2">
            <a:schemeClr val="dk1"/>
          </a:lnRef>
          <a:fillRef idx="0">
            <a:schemeClr val="dk1"/>
          </a:fillRef>
          <a:effectRef idx="1">
            <a:schemeClr val="dk1"/>
          </a:effectRef>
          <a:fontRef idx="minor">
            <a:schemeClr val="tx1"/>
          </a:fontRef>
        </p:style>
      </p:cxnSp>
      <p:cxnSp>
        <p:nvCxnSpPr>
          <p:cNvPr id="66" name="直接箭头连接符 65"/>
          <p:cNvCxnSpPr>
            <a:stCxn id="57" idx="2"/>
            <a:endCxn id="58" idx="0"/>
          </p:cNvCxnSpPr>
          <p:nvPr/>
        </p:nvCxnSpPr>
        <p:spPr>
          <a:xfrm flipH="1">
            <a:off x="4100803" y="1621592"/>
            <a:ext cx="2" cy="151224"/>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67" name="TextBox 66"/>
          <p:cNvSpPr txBox="1"/>
          <p:nvPr/>
        </p:nvSpPr>
        <p:spPr>
          <a:xfrm>
            <a:off x="4235111" y="1465273"/>
            <a:ext cx="338554" cy="369332"/>
          </a:xfrm>
          <a:prstGeom prst="rect">
            <a:avLst/>
          </a:prstGeom>
          <a:noFill/>
        </p:spPr>
        <p:txBody>
          <a:bodyPr wrap="none" rtlCol="0">
            <a:spAutoFit/>
          </a:bodyPr>
          <a:lstStyle/>
          <a:p>
            <a:r>
              <a:rPr lang="en-US" altLang="zh-CN" dirty="0" smtClean="0"/>
              <a:t>Y</a:t>
            </a:r>
            <a:endParaRPr lang="zh-CN" altLang="en-US" dirty="0"/>
          </a:p>
        </p:txBody>
      </p:sp>
      <p:cxnSp>
        <p:nvCxnSpPr>
          <p:cNvPr id="68" name="直接箭头连接符 67"/>
          <p:cNvCxnSpPr>
            <a:stCxn id="58" idx="2"/>
            <a:endCxn id="59" idx="0"/>
          </p:cNvCxnSpPr>
          <p:nvPr/>
        </p:nvCxnSpPr>
        <p:spPr>
          <a:xfrm flipH="1">
            <a:off x="4094759" y="2276872"/>
            <a:ext cx="6044" cy="17742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69" name="直接箭头连接符 68"/>
          <p:cNvCxnSpPr>
            <a:stCxn id="59" idx="2"/>
            <a:endCxn id="64" idx="0"/>
          </p:cNvCxnSpPr>
          <p:nvPr/>
        </p:nvCxnSpPr>
        <p:spPr>
          <a:xfrm>
            <a:off x="4094759" y="3150476"/>
            <a:ext cx="6045" cy="13450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0" name="直接箭头连接符 69"/>
          <p:cNvCxnSpPr>
            <a:stCxn id="64" idx="2"/>
            <a:endCxn id="49" idx="0"/>
          </p:cNvCxnSpPr>
          <p:nvPr/>
        </p:nvCxnSpPr>
        <p:spPr>
          <a:xfrm>
            <a:off x="4100804" y="3851753"/>
            <a:ext cx="20773" cy="1555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1" name="直接箭头连接符 70"/>
          <p:cNvCxnSpPr>
            <a:stCxn id="49" idx="2"/>
            <a:endCxn id="51" idx="0"/>
          </p:cNvCxnSpPr>
          <p:nvPr/>
        </p:nvCxnSpPr>
        <p:spPr>
          <a:xfrm flipH="1">
            <a:off x="4100805" y="4507687"/>
            <a:ext cx="20772" cy="16922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2" name="直接箭头连接符 71"/>
          <p:cNvCxnSpPr>
            <a:stCxn id="51" idx="2"/>
            <a:endCxn id="54" idx="0"/>
          </p:cNvCxnSpPr>
          <p:nvPr/>
        </p:nvCxnSpPr>
        <p:spPr>
          <a:xfrm>
            <a:off x="4100805" y="5180966"/>
            <a:ext cx="0" cy="12024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3" name="直接箭头连接符 72"/>
          <p:cNvCxnSpPr>
            <a:stCxn id="54" idx="2"/>
            <a:endCxn id="55" idx="0"/>
          </p:cNvCxnSpPr>
          <p:nvPr/>
        </p:nvCxnSpPr>
        <p:spPr>
          <a:xfrm>
            <a:off x="4100805" y="5852813"/>
            <a:ext cx="0" cy="16847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4" name="直接箭头连接符 73"/>
          <p:cNvCxnSpPr>
            <a:stCxn id="57" idx="3"/>
          </p:cNvCxnSpPr>
          <p:nvPr/>
        </p:nvCxnSpPr>
        <p:spPr>
          <a:xfrm flipV="1">
            <a:off x="5064364" y="1396520"/>
            <a:ext cx="207925" cy="904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5" name="TextBox 74"/>
          <p:cNvSpPr txBox="1"/>
          <p:nvPr/>
        </p:nvSpPr>
        <p:spPr>
          <a:xfrm>
            <a:off x="4970601" y="1052039"/>
            <a:ext cx="351378" cy="369332"/>
          </a:xfrm>
          <a:prstGeom prst="rect">
            <a:avLst/>
          </a:prstGeom>
          <a:noFill/>
        </p:spPr>
        <p:txBody>
          <a:bodyPr wrap="none" rtlCol="0">
            <a:spAutoFit/>
          </a:bodyPr>
          <a:lstStyle/>
          <a:p>
            <a:r>
              <a:rPr lang="en-US" altLang="zh-CN" dirty="0" smtClean="0"/>
              <a:t>N</a:t>
            </a:r>
            <a:endParaRPr lang="zh-CN" altLang="en-US" dirty="0"/>
          </a:p>
        </p:txBody>
      </p:sp>
      <p:sp>
        <p:nvSpPr>
          <p:cNvPr id="76" name="TextBox 75"/>
          <p:cNvSpPr txBox="1"/>
          <p:nvPr/>
        </p:nvSpPr>
        <p:spPr>
          <a:xfrm>
            <a:off x="5242068" y="2516512"/>
            <a:ext cx="338554" cy="369332"/>
          </a:xfrm>
          <a:prstGeom prst="rect">
            <a:avLst/>
          </a:prstGeom>
          <a:noFill/>
        </p:spPr>
        <p:txBody>
          <a:bodyPr wrap="none" rtlCol="0">
            <a:spAutoFit/>
          </a:bodyPr>
          <a:lstStyle/>
          <a:p>
            <a:r>
              <a:rPr lang="en-US" altLang="zh-CN" dirty="0" smtClean="0"/>
              <a:t>Y</a:t>
            </a:r>
            <a:endParaRPr lang="zh-CN" altLang="en-US" dirty="0"/>
          </a:p>
        </p:txBody>
      </p:sp>
      <p:sp>
        <p:nvSpPr>
          <p:cNvPr id="77" name="TextBox 76"/>
          <p:cNvSpPr txBox="1"/>
          <p:nvPr/>
        </p:nvSpPr>
        <p:spPr>
          <a:xfrm>
            <a:off x="4329760" y="2965810"/>
            <a:ext cx="351378" cy="369332"/>
          </a:xfrm>
          <a:prstGeom prst="rect">
            <a:avLst/>
          </a:prstGeom>
          <a:noFill/>
        </p:spPr>
        <p:txBody>
          <a:bodyPr wrap="none" rtlCol="0">
            <a:spAutoFit/>
          </a:bodyPr>
          <a:lstStyle/>
          <a:p>
            <a:r>
              <a:rPr lang="en-US" altLang="zh-CN" dirty="0" smtClean="0"/>
              <a:t>N</a:t>
            </a:r>
            <a:endParaRPr lang="zh-CN" altLang="en-US" dirty="0"/>
          </a:p>
        </p:txBody>
      </p:sp>
      <p:cxnSp>
        <p:nvCxnSpPr>
          <p:cNvPr id="78" name="直接箭头连接符 77"/>
          <p:cNvCxnSpPr>
            <a:stCxn id="51" idx="1"/>
            <a:endCxn id="52" idx="3"/>
          </p:cNvCxnSpPr>
          <p:nvPr/>
        </p:nvCxnSpPr>
        <p:spPr>
          <a:xfrm flipH="1">
            <a:off x="2259095" y="4928938"/>
            <a:ext cx="796225"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79" name="TextBox 78"/>
          <p:cNvSpPr txBox="1"/>
          <p:nvPr/>
        </p:nvSpPr>
        <p:spPr>
          <a:xfrm>
            <a:off x="2647800" y="4600558"/>
            <a:ext cx="351378" cy="369332"/>
          </a:xfrm>
          <a:prstGeom prst="rect">
            <a:avLst/>
          </a:prstGeom>
          <a:noFill/>
        </p:spPr>
        <p:txBody>
          <a:bodyPr wrap="none" rtlCol="0">
            <a:spAutoFit/>
          </a:bodyPr>
          <a:lstStyle/>
          <a:p>
            <a:r>
              <a:rPr lang="en-US" altLang="zh-CN" dirty="0" smtClean="0"/>
              <a:t>N</a:t>
            </a:r>
            <a:endParaRPr lang="zh-CN" altLang="en-US" dirty="0"/>
          </a:p>
        </p:txBody>
      </p:sp>
      <p:sp>
        <p:nvSpPr>
          <p:cNvPr id="80" name="TextBox 79"/>
          <p:cNvSpPr txBox="1"/>
          <p:nvPr/>
        </p:nvSpPr>
        <p:spPr>
          <a:xfrm>
            <a:off x="4389502" y="5020074"/>
            <a:ext cx="338554" cy="369332"/>
          </a:xfrm>
          <a:prstGeom prst="rect">
            <a:avLst/>
          </a:prstGeom>
          <a:noFill/>
        </p:spPr>
        <p:txBody>
          <a:bodyPr wrap="none" rtlCol="0">
            <a:spAutoFit/>
          </a:bodyPr>
          <a:lstStyle/>
          <a:p>
            <a:r>
              <a:rPr lang="en-US" altLang="zh-CN" dirty="0" smtClean="0"/>
              <a:t>Y</a:t>
            </a:r>
            <a:endParaRPr lang="zh-CN" altLang="en-US" dirty="0"/>
          </a:p>
        </p:txBody>
      </p:sp>
      <p:sp>
        <p:nvSpPr>
          <p:cNvPr id="81" name="TextBox 80"/>
          <p:cNvSpPr txBox="1"/>
          <p:nvPr/>
        </p:nvSpPr>
        <p:spPr>
          <a:xfrm>
            <a:off x="2487930" y="6021997"/>
            <a:ext cx="338554" cy="369332"/>
          </a:xfrm>
          <a:prstGeom prst="rect">
            <a:avLst/>
          </a:prstGeom>
          <a:noFill/>
        </p:spPr>
        <p:txBody>
          <a:bodyPr wrap="none" rtlCol="0">
            <a:spAutoFit/>
          </a:bodyPr>
          <a:lstStyle/>
          <a:p>
            <a:r>
              <a:rPr lang="en-US" altLang="zh-CN" dirty="0" smtClean="0"/>
              <a:t>Y</a:t>
            </a:r>
            <a:endParaRPr lang="zh-CN" altLang="en-US" dirty="0"/>
          </a:p>
        </p:txBody>
      </p:sp>
      <p:sp>
        <p:nvSpPr>
          <p:cNvPr id="82" name="TextBox 81"/>
          <p:cNvSpPr txBox="1"/>
          <p:nvPr/>
        </p:nvSpPr>
        <p:spPr>
          <a:xfrm>
            <a:off x="3137246" y="6479197"/>
            <a:ext cx="351378" cy="369332"/>
          </a:xfrm>
          <a:prstGeom prst="rect">
            <a:avLst/>
          </a:prstGeom>
          <a:noFill/>
        </p:spPr>
        <p:txBody>
          <a:bodyPr wrap="none" rtlCol="0">
            <a:spAutoFit/>
          </a:bodyPr>
          <a:lstStyle/>
          <a:p>
            <a:r>
              <a:rPr lang="en-US" altLang="zh-CN" dirty="0" smtClean="0"/>
              <a:t>N</a:t>
            </a:r>
            <a:endParaRPr lang="zh-CN" altLang="en-US" dirty="0"/>
          </a:p>
        </p:txBody>
      </p:sp>
      <p:sp>
        <p:nvSpPr>
          <p:cNvPr id="19476" name="TextBox 19475"/>
          <p:cNvSpPr txBox="1"/>
          <p:nvPr/>
        </p:nvSpPr>
        <p:spPr>
          <a:xfrm>
            <a:off x="6451279" y="3185558"/>
            <a:ext cx="877163" cy="369332"/>
          </a:xfrm>
          <a:prstGeom prst="rect">
            <a:avLst/>
          </a:prstGeom>
          <a:noFill/>
        </p:spPr>
        <p:txBody>
          <a:bodyPr wrap="none" rtlCol="0">
            <a:spAutoFit/>
          </a:bodyPr>
          <a:lstStyle/>
          <a:p>
            <a:r>
              <a:rPr lang="zh-CN" altLang="en-US" dirty="0" smtClean="0">
                <a:solidFill>
                  <a:srgbClr val="000000"/>
                </a:solidFill>
              </a:rPr>
              <a:t>扰动：</a:t>
            </a:r>
            <a:endParaRPr lang="zh-CN" altLang="en-US" dirty="0">
              <a:solidFill>
                <a:srgbClr val="000000"/>
              </a:solidFill>
            </a:endParaRPr>
          </a:p>
        </p:txBody>
      </p:sp>
      <p:sp>
        <p:nvSpPr>
          <p:cNvPr id="19477" name="流程图: 决策 19476"/>
          <p:cNvSpPr/>
          <p:nvPr/>
        </p:nvSpPr>
        <p:spPr>
          <a:xfrm>
            <a:off x="6712974" y="4257494"/>
            <a:ext cx="1935622" cy="53135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数</a:t>
            </a:r>
            <a:r>
              <a:rPr lang="en-US" altLang="zh-CN" dirty="0" smtClean="0">
                <a:solidFill>
                  <a:srgbClr val="000000"/>
                </a:solidFill>
              </a:rPr>
              <a:t>&gt;0.5</a:t>
            </a:r>
            <a:endParaRPr lang="zh-CN" altLang="en-US" dirty="0">
              <a:solidFill>
                <a:srgbClr val="000000"/>
              </a:solidFill>
            </a:endParaRPr>
          </a:p>
        </p:txBody>
      </p:sp>
      <p:sp>
        <p:nvSpPr>
          <p:cNvPr id="19478" name="流程图: 可选过程 19477"/>
          <p:cNvSpPr/>
          <p:nvPr/>
        </p:nvSpPr>
        <p:spPr>
          <a:xfrm>
            <a:off x="7020289" y="3537193"/>
            <a:ext cx="1320993" cy="571401"/>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随机产生</a:t>
            </a:r>
            <a:r>
              <a:rPr lang="en-US" altLang="zh-CN" dirty="0" smtClean="0">
                <a:solidFill>
                  <a:srgbClr val="000000"/>
                </a:solidFill>
              </a:rPr>
              <a:t>0~1</a:t>
            </a:r>
            <a:r>
              <a:rPr lang="zh-CN" altLang="en-US" dirty="0" smtClean="0">
                <a:solidFill>
                  <a:srgbClr val="000000"/>
                </a:solidFill>
              </a:rPr>
              <a:t>的数</a:t>
            </a:r>
            <a:endParaRPr lang="zh-CN" altLang="en-US" dirty="0">
              <a:solidFill>
                <a:srgbClr val="000000"/>
              </a:solidFill>
            </a:endParaRPr>
          </a:p>
        </p:txBody>
      </p:sp>
      <p:sp>
        <p:nvSpPr>
          <p:cNvPr id="19479" name="流程图: 可选过程 19478"/>
          <p:cNvSpPr/>
          <p:nvPr/>
        </p:nvSpPr>
        <p:spPr>
          <a:xfrm>
            <a:off x="6086948" y="4969890"/>
            <a:ext cx="1241494" cy="60712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二变换法</a:t>
            </a:r>
            <a:endParaRPr lang="zh-CN" altLang="en-US" dirty="0">
              <a:solidFill>
                <a:srgbClr val="000000"/>
              </a:solidFill>
            </a:endParaRPr>
          </a:p>
        </p:txBody>
      </p:sp>
      <p:sp>
        <p:nvSpPr>
          <p:cNvPr id="19480" name="流程图: 可选过程 19479"/>
          <p:cNvSpPr/>
          <p:nvPr/>
        </p:nvSpPr>
        <p:spPr>
          <a:xfrm>
            <a:off x="7800074" y="4945635"/>
            <a:ext cx="1282186" cy="63137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rgbClr val="000000"/>
                </a:solidFill>
              </a:rPr>
              <a:t>三变换法</a:t>
            </a:r>
            <a:endParaRPr lang="zh-CN" altLang="en-US" dirty="0">
              <a:solidFill>
                <a:srgbClr val="000000"/>
              </a:solidFill>
            </a:endParaRPr>
          </a:p>
        </p:txBody>
      </p:sp>
      <p:cxnSp>
        <p:nvCxnSpPr>
          <p:cNvPr id="19482" name="直接箭头连接符 19481"/>
          <p:cNvCxnSpPr>
            <a:stCxn id="19478" idx="2"/>
            <a:endCxn id="19477" idx="0"/>
          </p:cNvCxnSpPr>
          <p:nvPr/>
        </p:nvCxnSpPr>
        <p:spPr>
          <a:xfrm flipH="1">
            <a:off x="7680785" y="4108594"/>
            <a:ext cx="1" cy="14890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9485" name="肘形连接符 19484"/>
          <p:cNvCxnSpPr>
            <a:stCxn id="19477" idx="1"/>
            <a:endCxn id="19479" idx="0"/>
          </p:cNvCxnSpPr>
          <p:nvPr/>
        </p:nvCxnSpPr>
        <p:spPr>
          <a:xfrm rot="10800000" flipV="1">
            <a:off x="6707696" y="4523170"/>
            <a:ext cx="5279" cy="446719"/>
          </a:xfrm>
          <a:prstGeom prst="bentConnector2">
            <a:avLst/>
          </a:prstGeom>
          <a:ln>
            <a:tailEnd type="arrow"/>
          </a:ln>
        </p:spPr>
        <p:style>
          <a:lnRef idx="2">
            <a:schemeClr val="dk1"/>
          </a:lnRef>
          <a:fillRef idx="0">
            <a:schemeClr val="dk1"/>
          </a:fillRef>
          <a:effectRef idx="1">
            <a:schemeClr val="dk1"/>
          </a:effectRef>
          <a:fontRef idx="minor">
            <a:schemeClr val="tx1"/>
          </a:fontRef>
        </p:style>
      </p:cxnSp>
      <p:cxnSp>
        <p:nvCxnSpPr>
          <p:cNvPr id="19488" name="肘形连接符 19487"/>
          <p:cNvCxnSpPr>
            <a:stCxn id="19477" idx="3"/>
            <a:endCxn id="19480" idx="0"/>
          </p:cNvCxnSpPr>
          <p:nvPr/>
        </p:nvCxnSpPr>
        <p:spPr>
          <a:xfrm flipH="1">
            <a:off x="8441167" y="4523171"/>
            <a:ext cx="207429" cy="422464"/>
          </a:xfrm>
          <a:prstGeom prst="bentConnector4">
            <a:avLst>
              <a:gd name="adj1" fmla="val -110206"/>
              <a:gd name="adj2" fmla="val 47088"/>
            </a:avLst>
          </a:prstGeom>
          <a:ln>
            <a:tailEnd type="arrow"/>
          </a:ln>
        </p:spPr>
        <p:style>
          <a:lnRef idx="2">
            <a:schemeClr val="dk1"/>
          </a:lnRef>
          <a:fillRef idx="0">
            <a:schemeClr val="dk1"/>
          </a:fillRef>
          <a:effectRef idx="1">
            <a:schemeClr val="dk1"/>
          </a:effectRef>
          <a:fontRef idx="minor">
            <a:schemeClr val="tx1"/>
          </a:fontRef>
        </p:style>
      </p:cxnSp>
      <p:sp>
        <p:nvSpPr>
          <p:cNvPr id="19490" name="TextBox 19489"/>
          <p:cNvSpPr txBox="1"/>
          <p:nvPr/>
        </p:nvSpPr>
        <p:spPr>
          <a:xfrm>
            <a:off x="6276168" y="4610582"/>
            <a:ext cx="351378" cy="369332"/>
          </a:xfrm>
          <a:prstGeom prst="rect">
            <a:avLst/>
          </a:prstGeom>
          <a:noFill/>
        </p:spPr>
        <p:txBody>
          <a:bodyPr wrap="none" rtlCol="0">
            <a:spAutoFit/>
          </a:bodyPr>
          <a:lstStyle/>
          <a:p>
            <a:r>
              <a:rPr lang="en-US" altLang="zh-CN" dirty="0" smtClean="0"/>
              <a:t>N</a:t>
            </a:r>
            <a:endParaRPr lang="zh-CN" altLang="en-US" dirty="0"/>
          </a:p>
        </p:txBody>
      </p:sp>
      <p:sp>
        <p:nvSpPr>
          <p:cNvPr id="19491" name="TextBox 19490"/>
          <p:cNvSpPr txBox="1"/>
          <p:nvPr/>
        </p:nvSpPr>
        <p:spPr>
          <a:xfrm>
            <a:off x="8608344" y="4198441"/>
            <a:ext cx="338554" cy="369332"/>
          </a:xfrm>
          <a:prstGeom prst="rect">
            <a:avLst/>
          </a:prstGeom>
          <a:noFill/>
        </p:spPr>
        <p:txBody>
          <a:bodyPr wrap="none" rtlCol="0">
            <a:spAutoFit/>
          </a:bodyPr>
          <a:lstStyle/>
          <a:p>
            <a:r>
              <a:rPr lang="en-US" altLang="zh-CN" dirty="0" smtClean="0"/>
              <a:t>Y</a:t>
            </a:r>
            <a:endParaRPr lang="zh-CN" altLang="en-US" dirty="0"/>
          </a:p>
        </p:txBody>
      </p:sp>
    </p:spTree>
    <p:extLst>
      <p:ext uri="{BB962C8B-B14F-4D97-AF65-F5344CB8AC3E}">
        <p14:creationId xmlns:p14="http://schemas.microsoft.com/office/powerpoint/2010/main" val="3517082395"/>
      </p:ext>
    </p:extLst>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0483"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3" name="TextBox 2"/>
          <p:cNvSpPr txBox="1">
            <a:spLocks noRot="1" noChangeAspect="1" noMove="1" noResize="1" noEditPoints="1" noAdjustHandles="1" noChangeArrowheads="1" noChangeShapeType="1" noTextEdit="1"/>
          </p:cNvSpPr>
          <p:nvPr/>
        </p:nvSpPr>
        <p:spPr>
          <a:xfrm>
            <a:off x="683568" y="1484784"/>
            <a:ext cx="7848872" cy="4247317"/>
          </a:xfrm>
          <a:prstGeom prst="rect">
            <a:avLst/>
          </a:prstGeom>
          <a:blipFill rotWithShape="1">
            <a:blip r:embed="rId3"/>
            <a:stretch>
              <a:fillRect l="-1553" t="-575"/>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mc:AlternateContent xmlns:mc="http://schemas.openxmlformats.org/markup-compatibility/2006" xmlns:a14="http://schemas.microsoft.com/office/drawing/2010/main">
        <mc:Choice Requires="a14">
          <p:sp>
            <p:nvSpPr>
              <p:cNvPr id="5" name="TextBox 4"/>
              <p:cNvSpPr txBox="1"/>
              <p:nvPr/>
            </p:nvSpPr>
            <p:spPr>
              <a:xfrm>
                <a:off x="323528" y="2420888"/>
                <a:ext cx="8368766" cy="2428935"/>
              </a:xfrm>
              <a:prstGeom prst="rect">
                <a:avLst/>
              </a:prstGeom>
              <a:noFill/>
            </p:spPr>
            <p:txBody>
              <a:bodyPr wrap="none" rtlCol="0">
                <a:spAutoFit/>
              </a:bodyPr>
              <a:lstStyle/>
              <a:p>
                <a:pPr>
                  <a:lnSpc>
                    <a:spcPct val="125000"/>
                  </a:lnSpc>
                </a:pPr>
                <a:r>
                  <a:rPr lang="en-US" altLang="zh-CN" sz="2800" dirty="0" smtClean="0">
                    <a:solidFill>
                      <a:srgbClr val="000000"/>
                    </a:solidFill>
                  </a:rPr>
                  <a:t>2.</a:t>
                </a:r>
                <a:r>
                  <a:rPr lang="zh-CN" altLang="en-US" sz="2800" dirty="0" smtClean="0">
                    <a:solidFill>
                      <a:srgbClr val="000000"/>
                    </a:solidFill>
                  </a:rPr>
                  <a:t>新解的产生（扰动）</a:t>
                </a:r>
                <a:endParaRPr lang="en-US" altLang="zh-CN" sz="2800" dirty="0" smtClean="0">
                  <a:solidFill>
                    <a:srgbClr val="000000"/>
                  </a:solidFill>
                </a:endParaRPr>
              </a:p>
              <a:p>
                <a:pPr>
                  <a:lnSpc>
                    <a:spcPct val="125000"/>
                  </a:lnSpc>
                </a:pPr>
                <a:r>
                  <a:rPr lang="zh-CN" altLang="en-US" sz="2400" dirty="0" smtClean="0"/>
                  <a:t>（</a:t>
                </a:r>
                <a:r>
                  <a:rPr lang="en-US" altLang="zh-CN" sz="2400" dirty="0" smtClean="0"/>
                  <a:t>1</a:t>
                </a:r>
                <a:r>
                  <a:rPr lang="zh-CN" altLang="en-US" sz="2400" dirty="0" smtClean="0"/>
                  <a:t>）二变换法：任选序号</a:t>
                </a:r>
                <a14:m>
                  <m:oMath xmlns:m="http://schemas.openxmlformats.org/officeDocument/2006/math">
                    <m:r>
                      <a:rPr lang="en-US" altLang="zh-CN" sz="2400" b="0" i="1" smtClean="0">
                        <a:latin typeface="Cambria Math"/>
                      </a:rPr>
                      <m:t>𝑢</m:t>
                    </m:r>
                    <m:r>
                      <a:rPr lang="en-US" altLang="zh-CN" sz="2400" b="0" i="1" smtClean="0">
                        <a:latin typeface="Cambria Math"/>
                      </a:rPr>
                      <m:t>,</m:t>
                    </m:r>
                    <m:r>
                      <a:rPr lang="en-US" altLang="zh-CN" sz="2400" b="0" i="1" smtClean="0">
                        <a:latin typeface="Cambria Math"/>
                      </a:rPr>
                      <m:t>𝑣</m:t>
                    </m:r>
                    <m:r>
                      <a:rPr lang="en-US" altLang="zh-CN" sz="2400" b="0" i="1" smtClean="0">
                        <a:latin typeface="Cambria Math"/>
                      </a:rPr>
                      <m:t> </m:t>
                    </m:r>
                    <m:d>
                      <m:dPr>
                        <m:ctrlPr>
                          <a:rPr lang="en-US" altLang="zh-CN" sz="2400" b="0" i="1" smtClean="0">
                            <a:latin typeface="Cambria Math"/>
                          </a:rPr>
                        </m:ctrlPr>
                      </m:dPr>
                      <m:e>
                        <m:r>
                          <a:rPr lang="zh-CN" altLang="en-US" sz="2400" b="0" i="1" smtClean="0">
                            <a:latin typeface="Cambria Math"/>
                          </a:rPr>
                          <m:t>设</m:t>
                        </m:r>
                        <m:r>
                          <a:rPr lang="en-US" altLang="zh-CN" sz="2400" b="0" i="1" smtClean="0">
                            <a:latin typeface="Cambria Math"/>
                          </a:rPr>
                          <m:t>𝑢</m:t>
                        </m:r>
                        <m:r>
                          <a:rPr lang="en-US" altLang="zh-CN" sz="2400" b="0" i="1" smtClean="0">
                            <a:latin typeface="Cambria Math"/>
                          </a:rPr>
                          <m:t>&lt;</m:t>
                        </m:r>
                        <m:r>
                          <a:rPr lang="en-US" altLang="zh-CN" sz="2400" b="0" i="1" smtClean="0">
                            <a:latin typeface="Cambria Math"/>
                          </a:rPr>
                          <m:t>𝑣</m:t>
                        </m:r>
                        <m:r>
                          <a:rPr lang="en-US" altLang="zh-CN" sz="2400" b="0" i="1" smtClean="0">
                            <a:latin typeface="Cambria Math"/>
                          </a:rPr>
                          <m:t>&lt;</m:t>
                        </m:r>
                        <m:r>
                          <a:rPr lang="en-US" altLang="zh-CN" sz="2400" b="0" i="1" smtClean="0">
                            <a:latin typeface="Cambria Math"/>
                          </a:rPr>
                          <m:t>𝑛</m:t>
                        </m:r>
                      </m:e>
                    </m:d>
                    <m:r>
                      <a:rPr lang="zh-CN" altLang="en-US" sz="2400" b="0" i="1" smtClean="0">
                        <a:latin typeface="Cambria Math"/>
                      </a:rPr>
                      <m:t>，</m:t>
                    </m:r>
                  </m:oMath>
                </a14:m>
                <a:r>
                  <a:rPr lang="zh-CN" altLang="en-US" sz="2400" dirty="0" smtClean="0"/>
                  <a:t>交换</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oMath>
                </a14:m>
                <a:r>
                  <a:rPr lang="zh-CN" altLang="en-US" sz="2400" dirty="0" smtClean="0"/>
                  <a:t>之间</a:t>
                </a:r>
                <a:endParaRPr lang="en-US" altLang="zh-CN" sz="2400" dirty="0" smtClean="0"/>
              </a:p>
              <a:p>
                <a:pPr>
                  <a:lnSpc>
                    <a:spcPct val="125000"/>
                  </a:lnSpc>
                </a:pPr>
                <a:r>
                  <a:rPr lang="zh-CN" altLang="en-US" sz="2400" dirty="0" smtClean="0"/>
                  <a:t>的访问顺序。</a:t>
                </a:r>
                <a:endParaRPr lang="en-US" altLang="zh-CN" sz="2400" dirty="0" smtClean="0"/>
              </a:p>
              <a:p>
                <a:pPr>
                  <a:lnSpc>
                    <a:spcPct val="125000"/>
                  </a:lnSpc>
                </a:pPr>
                <a:r>
                  <a:rPr lang="zh-CN" altLang="en-US" sz="2400" dirty="0" smtClean="0"/>
                  <a:t>（</a:t>
                </a:r>
                <a:r>
                  <a:rPr lang="en-US" altLang="zh-CN" sz="2400" dirty="0" smtClean="0"/>
                  <a:t>2</a:t>
                </a:r>
                <a:r>
                  <a:rPr lang="zh-CN" altLang="en-US" sz="2400" dirty="0" smtClean="0"/>
                  <a:t>）三变换法：任选序号</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r>
                      <a:rPr lang="en-US" altLang="zh-CN" sz="2400" b="0" i="1" smtClean="0">
                        <a:latin typeface="Cambria Math"/>
                      </a:rPr>
                      <m:t>,</m:t>
                    </m:r>
                    <m:r>
                      <a:rPr lang="en-US" altLang="zh-CN" sz="2400" b="0" i="1" smtClean="0">
                        <a:latin typeface="Cambria Math"/>
                      </a:rPr>
                      <m:t>𝑤</m:t>
                    </m:r>
                    <m:r>
                      <a:rPr lang="en-US" altLang="zh-CN" sz="2400" b="0" i="1" smtClean="0">
                        <a:latin typeface="Cambria Math"/>
                      </a:rPr>
                      <m:t> </m:t>
                    </m:r>
                    <m:d>
                      <m:dPr>
                        <m:ctrlPr>
                          <a:rPr lang="en-US" altLang="zh-CN" sz="2400" i="1">
                            <a:latin typeface="Cambria Math"/>
                          </a:rPr>
                        </m:ctrlPr>
                      </m:dPr>
                      <m:e>
                        <m:r>
                          <a:rPr lang="zh-CN" altLang="en-US" sz="2400" i="1">
                            <a:latin typeface="Cambria Math"/>
                          </a:rPr>
                          <m:t>设</m:t>
                        </m:r>
                        <m:r>
                          <a:rPr lang="en-US" altLang="zh-CN" sz="2400" i="1">
                            <a:latin typeface="Cambria Math"/>
                          </a:rPr>
                          <m:t>𝑢</m:t>
                        </m:r>
                        <m:r>
                          <a:rPr lang="en-US" altLang="zh-CN" sz="2400" i="1" smtClean="0">
                            <a:latin typeface="Cambria Math"/>
                            <a:ea typeface="Cambria Math"/>
                          </a:rPr>
                          <m:t>≤</m:t>
                        </m:r>
                        <m:r>
                          <a:rPr lang="en-US" altLang="zh-CN" sz="2400" i="1">
                            <a:latin typeface="Cambria Math"/>
                          </a:rPr>
                          <m:t>𝑣</m:t>
                        </m:r>
                        <m:r>
                          <a:rPr lang="en-US" altLang="zh-CN" sz="2400" i="1">
                            <a:latin typeface="Cambria Math"/>
                          </a:rPr>
                          <m:t>&lt;</m:t>
                        </m:r>
                        <m:r>
                          <a:rPr lang="en-US" altLang="zh-CN" sz="2400" b="0" i="1" smtClean="0">
                            <a:latin typeface="Cambria Math"/>
                          </a:rPr>
                          <m:t>𝑤</m:t>
                        </m:r>
                      </m:e>
                    </m:d>
                    <m:r>
                      <a:rPr lang="zh-CN" altLang="en-US" sz="2400" i="1">
                        <a:latin typeface="Cambria Math"/>
                      </a:rPr>
                      <m:t>，</m:t>
                    </m:r>
                    <m:r>
                      <a:rPr lang="zh-CN" altLang="en-US" sz="2400" i="1">
                        <a:latin typeface="Cambria Math"/>
                      </a:rPr>
                      <m:t> </m:t>
                    </m:r>
                  </m:oMath>
                </a14:m>
                <a:r>
                  <a:rPr lang="zh-CN" altLang="en-US" sz="2400" dirty="0" smtClean="0"/>
                  <a:t>将</a:t>
                </a:r>
                <a14:m>
                  <m:oMath xmlns:m="http://schemas.openxmlformats.org/officeDocument/2006/math">
                    <m:r>
                      <a:rPr lang="en-US" altLang="zh-CN" sz="2400" i="1">
                        <a:latin typeface="Cambria Math"/>
                      </a:rPr>
                      <m:t>𝑢</m:t>
                    </m:r>
                    <m:r>
                      <a:rPr lang="en-US" altLang="zh-CN" sz="2400" i="1">
                        <a:latin typeface="Cambria Math"/>
                      </a:rPr>
                      <m:t>,</m:t>
                    </m:r>
                    <m:r>
                      <a:rPr lang="en-US" altLang="zh-CN" sz="2400" i="1">
                        <a:latin typeface="Cambria Math"/>
                      </a:rPr>
                      <m:t>𝑣</m:t>
                    </m:r>
                  </m:oMath>
                </a14:m>
                <a:r>
                  <a:rPr lang="zh-CN" altLang="en-US" sz="2400" dirty="0" smtClean="0"/>
                  <a:t>之间</a:t>
                </a:r>
                <a:endParaRPr lang="en-US" altLang="zh-CN" sz="2400" dirty="0" smtClean="0"/>
              </a:p>
              <a:p>
                <a:pPr>
                  <a:lnSpc>
                    <a:spcPct val="125000"/>
                  </a:lnSpc>
                </a:pPr>
                <a:r>
                  <a:rPr lang="zh-CN" altLang="en-US" sz="2400" dirty="0" smtClean="0"/>
                  <a:t>的路径插到</a:t>
                </a:r>
                <a14:m>
                  <m:oMath xmlns:m="http://schemas.openxmlformats.org/officeDocument/2006/math">
                    <m:r>
                      <a:rPr lang="en-US" altLang="zh-CN" sz="2400" i="1">
                        <a:latin typeface="Cambria Math"/>
                      </a:rPr>
                      <m:t>𝑤</m:t>
                    </m:r>
                  </m:oMath>
                </a14:m>
                <a:r>
                  <a:rPr lang="zh-CN" altLang="en-US" sz="2400" dirty="0" smtClean="0"/>
                  <a:t>之后访问</a:t>
                </a:r>
                <a:endParaRPr lang="zh-CN" alt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23528" y="2420888"/>
                <a:ext cx="8368766" cy="2428935"/>
              </a:xfrm>
              <a:prstGeom prst="rect">
                <a:avLst/>
              </a:prstGeom>
              <a:blipFill rotWithShape="1">
                <a:blip r:embed="rId3"/>
                <a:stretch>
                  <a:fillRect l="-1457" t="-1003" r="-218" b="-40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16126281"/>
      </p:ext>
    </p:extLst>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3" name="TextBox 2"/>
          <p:cNvSpPr txBox="1"/>
          <p:nvPr/>
        </p:nvSpPr>
        <p:spPr>
          <a:xfrm>
            <a:off x="0" y="2060848"/>
            <a:ext cx="4219425" cy="3485570"/>
          </a:xfrm>
          <a:prstGeom prst="rect">
            <a:avLst/>
          </a:prstGeom>
          <a:noFill/>
        </p:spPr>
        <p:txBody>
          <a:bodyPr wrap="none" rtlCol="0">
            <a:spAutoFit/>
          </a:bodyPr>
          <a:lstStyle/>
          <a:p>
            <a:r>
              <a:rPr lang="en-US" altLang="zh-CN" dirty="0"/>
              <a:t>while t&gt;=</a:t>
            </a:r>
            <a:r>
              <a:rPr lang="en-US" altLang="zh-CN" dirty="0" err="1"/>
              <a:t>tf</a:t>
            </a:r>
            <a:endParaRPr lang="en-US" altLang="zh-CN" dirty="0"/>
          </a:p>
          <a:p>
            <a:r>
              <a:rPr lang="en-US" altLang="zh-CN" dirty="0"/>
              <a:t> for r=1:Markov_length  </a:t>
            </a:r>
          </a:p>
          <a:p>
            <a:r>
              <a:rPr lang="en-US" altLang="zh-CN" dirty="0" smtClean="0"/>
              <a:t>        </a:t>
            </a:r>
            <a:r>
              <a:rPr lang="en-US" altLang="zh-CN" dirty="0"/>
              <a:t>if (rand &lt; 0.5) </a:t>
            </a:r>
            <a:endParaRPr lang="en-US" altLang="zh-CN" dirty="0" smtClean="0"/>
          </a:p>
          <a:p>
            <a:pPr>
              <a:lnSpc>
                <a:spcPct val="125000"/>
              </a:lnSpc>
            </a:pPr>
            <a:r>
              <a:rPr lang="en-US" altLang="zh-CN" dirty="0" smtClean="0">
                <a:solidFill>
                  <a:srgbClr val="000000"/>
                </a:solidFill>
              </a:rPr>
              <a:t>     </a:t>
            </a:r>
            <a:r>
              <a:rPr lang="en-US" altLang="zh-CN" sz="1400" dirty="0" smtClean="0">
                <a:solidFill>
                  <a:srgbClr val="000000"/>
                </a:solidFill>
              </a:rPr>
              <a:t>%</a:t>
            </a:r>
            <a:r>
              <a:rPr lang="zh-CN" altLang="en-US" sz="1400" dirty="0" smtClean="0">
                <a:solidFill>
                  <a:srgbClr val="000000"/>
                </a:solidFill>
              </a:rPr>
              <a:t>随机产生</a:t>
            </a:r>
            <a:r>
              <a:rPr lang="en-US" altLang="zh-CN" sz="1400" dirty="0" smtClean="0">
                <a:solidFill>
                  <a:srgbClr val="000000"/>
                </a:solidFill>
              </a:rPr>
              <a:t>0~1</a:t>
            </a:r>
            <a:r>
              <a:rPr lang="zh-CN" altLang="en-US" sz="1400" dirty="0" smtClean="0">
                <a:solidFill>
                  <a:srgbClr val="000000"/>
                </a:solidFill>
              </a:rPr>
              <a:t>的数，若小于</a:t>
            </a:r>
            <a:r>
              <a:rPr lang="en-US" altLang="zh-CN" sz="1400" dirty="0" smtClean="0">
                <a:solidFill>
                  <a:srgbClr val="000000"/>
                </a:solidFill>
              </a:rPr>
              <a:t>0.5</a:t>
            </a:r>
            <a:r>
              <a:rPr lang="zh-CN" altLang="en-US" sz="1400" dirty="0" smtClean="0">
                <a:solidFill>
                  <a:srgbClr val="000000"/>
                </a:solidFill>
              </a:rPr>
              <a:t>，则二变换</a:t>
            </a:r>
            <a:endParaRPr lang="en-US" altLang="zh-CN" sz="1400" dirty="0" smtClean="0">
              <a:solidFill>
                <a:srgbClr val="000000"/>
              </a:solidFill>
            </a:endParaRPr>
          </a:p>
          <a:p>
            <a:r>
              <a:rPr lang="en-US" altLang="zh-CN" dirty="0" smtClean="0"/>
              <a:t>            ind1 </a:t>
            </a:r>
            <a:r>
              <a:rPr lang="en-US" altLang="zh-CN" dirty="0"/>
              <a:t>= 0; ind2 = 0;</a:t>
            </a:r>
          </a:p>
          <a:p>
            <a:r>
              <a:rPr lang="en-US" altLang="zh-CN" dirty="0"/>
              <a:t>            while (ind1 == ind2)</a:t>
            </a:r>
          </a:p>
          <a:p>
            <a:r>
              <a:rPr lang="en-US" altLang="zh-CN" dirty="0"/>
              <a:t>                ind1 = ceil(rand.*amount</a:t>
            </a:r>
            <a:r>
              <a:rPr lang="en-US" altLang="zh-CN" dirty="0" smtClean="0"/>
              <a:t>);</a:t>
            </a:r>
            <a:endParaRPr lang="en-US" altLang="zh-CN" dirty="0"/>
          </a:p>
          <a:p>
            <a:r>
              <a:rPr lang="en-US" altLang="zh-CN" dirty="0"/>
              <a:t>                ind2 = ceil(rand.*amount);</a:t>
            </a:r>
          </a:p>
          <a:p>
            <a:r>
              <a:rPr lang="en-US" altLang="zh-CN" dirty="0"/>
              <a:t>            end</a:t>
            </a:r>
          </a:p>
          <a:p>
            <a:r>
              <a:rPr lang="en-US" altLang="zh-CN" dirty="0"/>
              <a:t>            tmp1 = </a:t>
            </a:r>
            <a:r>
              <a:rPr lang="en-US" altLang="zh-CN" dirty="0" err="1"/>
              <a:t>sol_new</a:t>
            </a:r>
            <a:r>
              <a:rPr lang="en-US" altLang="zh-CN" dirty="0"/>
              <a:t>(ind1);</a:t>
            </a:r>
          </a:p>
          <a:p>
            <a:r>
              <a:rPr lang="en-US" altLang="zh-CN" dirty="0"/>
              <a:t>            </a:t>
            </a:r>
            <a:r>
              <a:rPr lang="en-US" altLang="zh-CN" dirty="0" err="1"/>
              <a:t>sol_new</a:t>
            </a:r>
            <a:r>
              <a:rPr lang="en-US" altLang="zh-CN" dirty="0"/>
              <a:t>(ind1) = </a:t>
            </a:r>
            <a:r>
              <a:rPr lang="en-US" altLang="zh-CN" dirty="0" err="1"/>
              <a:t>sol_new</a:t>
            </a:r>
            <a:r>
              <a:rPr lang="en-US" altLang="zh-CN" dirty="0"/>
              <a:t>(ind2);</a:t>
            </a:r>
          </a:p>
          <a:p>
            <a:r>
              <a:rPr lang="en-US" altLang="zh-CN" dirty="0"/>
              <a:t>            </a:t>
            </a:r>
            <a:r>
              <a:rPr lang="en-US" altLang="zh-CN" dirty="0" err="1"/>
              <a:t>sol_new</a:t>
            </a:r>
            <a:r>
              <a:rPr lang="en-US" altLang="zh-CN" dirty="0"/>
              <a:t>(ind2) = tmp1</a:t>
            </a:r>
            <a:r>
              <a:rPr lang="en-US" altLang="zh-CN" dirty="0" smtClean="0"/>
              <a:t>;</a:t>
            </a:r>
            <a:endParaRPr lang="en-US" altLang="zh-CN" dirty="0"/>
          </a:p>
        </p:txBody>
      </p:sp>
      <p:sp>
        <p:nvSpPr>
          <p:cNvPr id="4" name="TextBox 3"/>
          <p:cNvSpPr txBox="1"/>
          <p:nvPr/>
        </p:nvSpPr>
        <p:spPr>
          <a:xfrm>
            <a:off x="4788024" y="2204864"/>
            <a:ext cx="184731" cy="369332"/>
          </a:xfrm>
          <a:prstGeom prst="rect">
            <a:avLst/>
          </a:prstGeom>
          <a:noFill/>
        </p:spPr>
        <p:txBody>
          <a:bodyPr wrap="none" rtlCol="0">
            <a:spAutoFit/>
          </a:bodyPr>
          <a:lstStyle/>
          <a:p>
            <a:endParaRPr lang="zh-CN" altLang="en-US" dirty="0"/>
          </a:p>
        </p:txBody>
      </p:sp>
      <p:sp>
        <p:nvSpPr>
          <p:cNvPr id="2" name="TextBox 1"/>
          <p:cNvSpPr txBox="1"/>
          <p:nvPr/>
        </p:nvSpPr>
        <p:spPr>
          <a:xfrm>
            <a:off x="3668035" y="2574196"/>
            <a:ext cx="5282215" cy="3139321"/>
          </a:xfrm>
          <a:prstGeom prst="rect">
            <a:avLst/>
          </a:prstGeom>
          <a:noFill/>
        </p:spPr>
        <p:txBody>
          <a:bodyPr wrap="none" rtlCol="0">
            <a:spAutoFit/>
          </a:bodyPr>
          <a:lstStyle/>
          <a:p>
            <a:r>
              <a:rPr lang="en-US" altLang="zh-CN" dirty="0"/>
              <a:t> </a:t>
            </a:r>
            <a:r>
              <a:rPr lang="en-US" altLang="zh-CN" dirty="0" smtClean="0"/>
              <a:t>     else    </a:t>
            </a:r>
          </a:p>
          <a:p>
            <a:r>
              <a:rPr lang="en-US" altLang="zh-CN" dirty="0"/>
              <a:t> </a:t>
            </a:r>
            <a:r>
              <a:rPr lang="en-US" altLang="zh-CN" dirty="0" smtClean="0"/>
              <a:t>         </a:t>
            </a:r>
            <a:r>
              <a:rPr lang="en-US" altLang="zh-CN" sz="1400" dirty="0" smtClean="0">
                <a:solidFill>
                  <a:srgbClr val="000000"/>
                </a:solidFill>
              </a:rPr>
              <a:t>%</a:t>
            </a:r>
            <a:r>
              <a:rPr lang="zh-CN" altLang="en-US" sz="1400" dirty="0" smtClean="0">
                <a:solidFill>
                  <a:srgbClr val="000000"/>
                </a:solidFill>
              </a:rPr>
              <a:t>否则，三变换</a:t>
            </a:r>
            <a:endParaRPr lang="en-US" altLang="zh-CN" sz="1400" dirty="0">
              <a:solidFill>
                <a:srgbClr val="000000"/>
              </a:solidFill>
            </a:endParaRPr>
          </a:p>
          <a:p>
            <a:r>
              <a:rPr lang="da-DK" altLang="zh-CN" dirty="0"/>
              <a:t>            ind1 = 0; ind2 = 0; ind3 = 0;</a:t>
            </a:r>
          </a:p>
          <a:p>
            <a:r>
              <a:rPr lang="da-DK" altLang="zh-CN" dirty="0"/>
              <a:t>            while (ind1 == ind2) || (ind1 == ind3) ...</a:t>
            </a:r>
          </a:p>
          <a:p>
            <a:r>
              <a:rPr lang="en-US" altLang="zh-CN" dirty="0"/>
              <a:t>                 || (ind2 == ind3) || (abs(ind1-ind2) == 1)</a:t>
            </a:r>
          </a:p>
          <a:p>
            <a:r>
              <a:rPr lang="en-US" altLang="zh-CN" dirty="0"/>
              <a:t>                ind1 = ceil(rand.*amount);</a:t>
            </a:r>
          </a:p>
          <a:p>
            <a:r>
              <a:rPr lang="en-US" altLang="zh-CN" dirty="0"/>
              <a:t>                ind2 = ceil(rand.*amount);</a:t>
            </a:r>
          </a:p>
          <a:p>
            <a:r>
              <a:rPr lang="en-US" altLang="zh-CN" dirty="0"/>
              <a:t>                ind3 = ceil(rand.*amount);</a:t>
            </a:r>
          </a:p>
          <a:p>
            <a:r>
              <a:rPr lang="en-US" altLang="zh-CN" dirty="0"/>
              <a:t>            end</a:t>
            </a:r>
          </a:p>
          <a:p>
            <a:r>
              <a:rPr lang="en-US" altLang="zh-CN" dirty="0"/>
              <a:t>            tmp1 = ind1;tmp2 = ind2;tmp3 = ind3;</a:t>
            </a:r>
          </a:p>
          <a:p>
            <a:r>
              <a:rPr lang="en-US" altLang="zh-CN" dirty="0"/>
              <a:t>            </a:t>
            </a:r>
            <a:endParaRPr lang="zh-CN" altLang="en-US" dirty="0"/>
          </a:p>
        </p:txBody>
      </p:sp>
    </p:spTree>
    <p:extLst>
      <p:ext uri="{BB962C8B-B14F-4D97-AF65-F5344CB8AC3E}">
        <p14:creationId xmlns:p14="http://schemas.microsoft.com/office/powerpoint/2010/main" val="2183226634"/>
      </p:ext>
    </p:extLst>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4" name="TextBox 3"/>
          <p:cNvSpPr txBox="1"/>
          <p:nvPr/>
        </p:nvSpPr>
        <p:spPr>
          <a:xfrm>
            <a:off x="4788024" y="2204864"/>
            <a:ext cx="184731" cy="369332"/>
          </a:xfrm>
          <a:prstGeom prst="rect">
            <a:avLst/>
          </a:prstGeom>
          <a:noFill/>
        </p:spPr>
        <p:txBody>
          <a:bodyPr wrap="none" rtlCol="0">
            <a:spAutoFit/>
          </a:bodyPr>
          <a:lstStyle/>
          <a:p>
            <a:endParaRPr lang="zh-CN" altLang="en-US" dirty="0"/>
          </a:p>
        </p:txBody>
      </p:sp>
      <p:sp>
        <p:nvSpPr>
          <p:cNvPr id="2" name="TextBox 1"/>
          <p:cNvSpPr txBox="1"/>
          <p:nvPr/>
        </p:nvSpPr>
        <p:spPr>
          <a:xfrm>
            <a:off x="971600" y="1484785"/>
            <a:ext cx="6984776" cy="5632311"/>
          </a:xfrm>
          <a:prstGeom prst="rect">
            <a:avLst/>
          </a:prstGeom>
          <a:noFill/>
        </p:spPr>
        <p:txBody>
          <a:bodyPr wrap="square" rtlCol="0">
            <a:spAutoFit/>
          </a:bodyPr>
          <a:lstStyle/>
          <a:p>
            <a:r>
              <a:rPr lang="da-DK" altLang="zh-CN" dirty="0" smtClean="0"/>
              <a:t>          if </a:t>
            </a:r>
            <a:r>
              <a:rPr lang="da-DK" altLang="zh-CN" dirty="0"/>
              <a:t>(ind1 &lt; ind2) &amp;&amp; (ind2 &lt; ind3)</a:t>
            </a:r>
          </a:p>
          <a:p>
            <a:r>
              <a:rPr lang="da-DK" altLang="zh-CN" dirty="0"/>
              <a:t>            elseif (ind1 &lt; ind3) &amp;&amp; (ind3 &lt; ind2)</a:t>
            </a:r>
          </a:p>
          <a:p>
            <a:r>
              <a:rPr lang="en-US" altLang="zh-CN" dirty="0"/>
              <a:t>                ind2 = tmp3;ind3 = tmp2;</a:t>
            </a:r>
          </a:p>
          <a:p>
            <a:r>
              <a:rPr lang="da-DK" altLang="zh-CN" dirty="0"/>
              <a:t>            elseif (ind2 &lt; ind1) &amp;&amp; (ind1 &lt; ind3)</a:t>
            </a:r>
          </a:p>
          <a:p>
            <a:r>
              <a:rPr lang="en-US" altLang="zh-CN" dirty="0"/>
              <a:t>                ind1 = tmp2;ind2 = tmp1;</a:t>
            </a:r>
          </a:p>
          <a:p>
            <a:r>
              <a:rPr lang="da-DK" altLang="zh-CN" dirty="0"/>
              <a:t>            elseif (ind2 &lt; ind3) &amp;&amp; (ind3 &lt; ind1)</a:t>
            </a:r>
          </a:p>
          <a:p>
            <a:r>
              <a:rPr lang="da-DK" altLang="zh-CN" dirty="0"/>
              <a:t>                ind1 = tmp2;ind2 = tmp3; ind3 = tmp1;</a:t>
            </a:r>
          </a:p>
          <a:p>
            <a:r>
              <a:rPr lang="da-DK" altLang="zh-CN" dirty="0"/>
              <a:t>            elseif (ind3 &lt; ind1) &amp;&amp; (ind1 &lt; ind2)</a:t>
            </a:r>
          </a:p>
          <a:p>
            <a:r>
              <a:rPr lang="da-DK" altLang="zh-CN" dirty="0"/>
              <a:t>                ind1 = tmp3;ind2 = tmp1; ind3 = tmp2;</a:t>
            </a:r>
          </a:p>
          <a:p>
            <a:r>
              <a:rPr lang="da-DK" altLang="zh-CN" dirty="0"/>
              <a:t>            elseif (ind3 &lt; ind2) &amp;&amp; (ind2 &lt; ind1)</a:t>
            </a:r>
          </a:p>
          <a:p>
            <a:r>
              <a:rPr lang="da-DK" altLang="zh-CN" dirty="0"/>
              <a:t>                ind1 = tmp3;ind2 = tmp2; ind3 = tmp1;</a:t>
            </a:r>
          </a:p>
          <a:p>
            <a:r>
              <a:rPr lang="en-US" altLang="zh-CN" dirty="0"/>
              <a:t>            end      </a:t>
            </a:r>
            <a:r>
              <a:rPr lang="en-US" altLang="zh-CN" sz="1400" dirty="0">
                <a:solidFill>
                  <a:srgbClr val="000000"/>
                </a:solidFill>
              </a:rPr>
              <a:t>% ind1 &lt; ind2 &lt; ind3</a:t>
            </a:r>
            <a:endParaRPr lang="zh-CN" altLang="en-US" sz="1400" dirty="0">
              <a:solidFill>
                <a:srgbClr val="000000"/>
              </a:solidFill>
            </a:endParaRPr>
          </a:p>
          <a:p>
            <a:endParaRPr lang="en-US" altLang="zh-CN" dirty="0" smtClean="0"/>
          </a:p>
          <a:p>
            <a:r>
              <a:rPr lang="en-US" altLang="zh-CN" dirty="0" smtClean="0"/>
              <a:t>            </a:t>
            </a:r>
            <a:r>
              <a:rPr lang="en-US" altLang="zh-CN" dirty="0"/>
              <a:t>tmplist1 = </a:t>
            </a:r>
            <a:r>
              <a:rPr lang="en-US" altLang="zh-CN" dirty="0" err="1"/>
              <a:t>sol_new</a:t>
            </a:r>
            <a:r>
              <a:rPr lang="en-US" altLang="zh-CN" dirty="0"/>
              <a:t>((ind1+1):(ind2-1</a:t>
            </a:r>
            <a:r>
              <a:rPr lang="en-US" altLang="zh-CN" dirty="0" smtClean="0"/>
              <a:t>));  </a:t>
            </a:r>
            <a:r>
              <a:rPr lang="en-US" altLang="zh-CN" sz="1400" dirty="0">
                <a:solidFill>
                  <a:srgbClr val="000000"/>
                </a:solidFill>
              </a:rPr>
              <a:t>%u</a:t>
            </a:r>
            <a:r>
              <a:rPr lang="zh-CN" altLang="en-US" sz="1400" dirty="0">
                <a:solidFill>
                  <a:srgbClr val="000000"/>
                </a:solidFill>
              </a:rPr>
              <a:t>、</a:t>
            </a:r>
            <a:r>
              <a:rPr lang="en-US" altLang="zh-CN" sz="1400" dirty="0">
                <a:solidFill>
                  <a:srgbClr val="000000"/>
                </a:solidFill>
              </a:rPr>
              <a:t>v</a:t>
            </a:r>
            <a:r>
              <a:rPr lang="zh-CN" altLang="en-US" sz="1400" dirty="0">
                <a:solidFill>
                  <a:srgbClr val="000000"/>
                </a:solidFill>
              </a:rPr>
              <a:t>之间的城市</a:t>
            </a:r>
            <a:endParaRPr lang="en-US" altLang="zh-CN" sz="1400" dirty="0">
              <a:solidFill>
                <a:srgbClr val="000000"/>
              </a:solidFill>
            </a:endParaRPr>
          </a:p>
          <a:p>
            <a:r>
              <a:rPr lang="en-US" altLang="zh-CN" dirty="0"/>
              <a:t>            </a:t>
            </a:r>
            <a:r>
              <a:rPr lang="en-US" altLang="zh-CN" dirty="0" err="1"/>
              <a:t>sol_new</a:t>
            </a:r>
            <a:r>
              <a:rPr lang="en-US" altLang="zh-CN" dirty="0"/>
              <a:t>((ind1+1):(ind1+ind3-ind2+1)) = ...</a:t>
            </a:r>
          </a:p>
          <a:p>
            <a:r>
              <a:rPr lang="en-US" altLang="zh-CN" dirty="0"/>
              <a:t>                </a:t>
            </a:r>
            <a:r>
              <a:rPr lang="en-US" altLang="zh-CN" dirty="0" err="1"/>
              <a:t>sol_new</a:t>
            </a:r>
            <a:r>
              <a:rPr lang="en-US" altLang="zh-CN" dirty="0"/>
              <a:t>((ind2):(ind3</a:t>
            </a:r>
            <a:r>
              <a:rPr lang="en-US" altLang="zh-CN" dirty="0" smtClean="0"/>
              <a:t>));   </a:t>
            </a:r>
            <a:r>
              <a:rPr lang="en-US" altLang="zh-CN" sz="1400" dirty="0">
                <a:solidFill>
                  <a:srgbClr val="000000"/>
                </a:solidFill>
              </a:rPr>
              <a:t>%</a:t>
            </a:r>
            <a:r>
              <a:rPr lang="zh-CN" altLang="en-US" sz="1400" dirty="0">
                <a:solidFill>
                  <a:srgbClr val="000000"/>
                </a:solidFill>
              </a:rPr>
              <a:t>将</a:t>
            </a:r>
            <a:r>
              <a:rPr lang="en-US" altLang="zh-CN" sz="1400" dirty="0">
                <a:solidFill>
                  <a:srgbClr val="000000"/>
                </a:solidFill>
              </a:rPr>
              <a:t>v</a:t>
            </a:r>
            <a:r>
              <a:rPr lang="zh-CN" altLang="en-US" sz="1400" dirty="0">
                <a:solidFill>
                  <a:srgbClr val="000000"/>
                </a:solidFill>
              </a:rPr>
              <a:t>到</a:t>
            </a:r>
            <a:r>
              <a:rPr lang="en-US" altLang="zh-CN" sz="1400" dirty="0">
                <a:solidFill>
                  <a:srgbClr val="000000"/>
                </a:solidFill>
              </a:rPr>
              <a:t>w</a:t>
            </a:r>
            <a:r>
              <a:rPr lang="zh-CN" altLang="en-US" sz="1400" dirty="0">
                <a:solidFill>
                  <a:srgbClr val="000000"/>
                </a:solidFill>
              </a:rPr>
              <a:t>的城市移到</a:t>
            </a:r>
            <a:r>
              <a:rPr lang="en-US" altLang="zh-CN" sz="1400" dirty="0">
                <a:solidFill>
                  <a:srgbClr val="000000"/>
                </a:solidFill>
              </a:rPr>
              <a:t>u</a:t>
            </a:r>
            <a:r>
              <a:rPr lang="zh-CN" altLang="en-US" sz="1400" dirty="0">
                <a:solidFill>
                  <a:srgbClr val="000000"/>
                </a:solidFill>
              </a:rPr>
              <a:t>后面</a:t>
            </a:r>
            <a:endParaRPr lang="en-US" altLang="zh-CN" sz="1400" dirty="0">
              <a:solidFill>
                <a:srgbClr val="000000"/>
              </a:solidFill>
            </a:endParaRPr>
          </a:p>
          <a:p>
            <a:r>
              <a:rPr lang="en-US" altLang="zh-CN" dirty="0"/>
              <a:t>            </a:t>
            </a:r>
            <a:r>
              <a:rPr lang="en-US" altLang="zh-CN" dirty="0" err="1"/>
              <a:t>sol_new</a:t>
            </a:r>
            <a:r>
              <a:rPr lang="en-US" altLang="zh-CN" dirty="0"/>
              <a:t>((ind1+ind3-ind2+2):ind3) = ...</a:t>
            </a:r>
          </a:p>
          <a:p>
            <a:r>
              <a:rPr lang="en-US" altLang="zh-CN" dirty="0"/>
              <a:t>                </a:t>
            </a:r>
            <a:r>
              <a:rPr lang="en-US" altLang="zh-CN" dirty="0" smtClean="0"/>
              <a:t>tmplist1;</a:t>
            </a:r>
            <a:r>
              <a:rPr lang="en-US" altLang="zh-CN" sz="1400" dirty="0" smtClean="0">
                <a:solidFill>
                  <a:srgbClr val="000000"/>
                </a:solidFill>
              </a:rPr>
              <a:t>     </a:t>
            </a:r>
            <a:r>
              <a:rPr lang="en-US" altLang="zh-CN" sz="1400" dirty="0">
                <a:solidFill>
                  <a:srgbClr val="000000"/>
                </a:solidFill>
              </a:rPr>
              <a:t>%u</a:t>
            </a:r>
            <a:r>
              <a:rPr lang="zh-CN" altLang="en-US" sz="1400" dirty="0">
                <a:solidFill>
                  <a:srgbClr val="000000"/>
                </a:solidFill>
              </a:rPr>
              <a:t>、</a:t>
            </a:r>
            <a:r>
              <a:rPr lang="en-US" altLang="zh-CN" sz="1400" dirty="0">
                <a:solidFill>
                  <a:srgbClr val="000000"/>
                </a:solidFill>
              </a:rPr>
              <a:t>v</a:t>
            </a:r>
            <a:r>
              <a:rPr lang="zh-CN" altLang="en-US" sz="1400" dirty="0">
                <a:solidFill>
                  <a:srgbClr val="000000"/>
                </a:solidFill>
              </a:rPr>
              <a:t>之间的</a:t>
            </a:r>
            <a:r>
              <a:rPr lang="zh-CN" altLang="en-US" sz="1400" dirty="0" smtClean="0">
                <a:solidFill>
                  <a:srgbClr val="000000"/>
                </a:solidFill>
              </a:rPr>
              <a:t>城市移</a:t>
            </a:r>
            <a:r>
              <a:rPr lang="zh-CN" altLang="en-US" sz="1400" dirty="0">
                <a:solidFill>
                  <a:srgbClr val="000000"/>
                </a:solidFill>
              </a:rPr>
              <a:t>到</a:t>
            </a:r>
            <a:r>
              <a:rPr lang="en-US" altLang="zh-CN" sz="1400" dirty="0">
                <a:solidFill>
                  <a:srgbClr val="000000"/>
                </a:solidFill>
              </a:rPr>
              <a:t>w</a:t>
            </a:r>
            <a:r>
              <a:rPr lang="zh-CN" altLang="en-US" sz="1400" dirty="0">
                <a:solidFill>
                  <a:srgbClr val="000000"/>
                </a:solidFill>
              </a:rPr>
              <a:t>后面</a:t>
            </a:r>
            <a:endParaRPr lang="en-US" altLang="zh-CN" sz="1400" dirty="0">
              <a:solidFill>
                <a:srgbClr val="000000"/>
              </a:solidFill>
            </a:endParaRPr>
          </a:p>
          <a:p>
            <a:r>
              <a:rPr lang="en-US" altLang="zh-CN" dirty="0"/>
              <a:t>        end</a:t>
            </a:r>
          </a:p>
          <a:p>
            <a:endParaRPr lang="zh-CN" altLang="en-US" dirty="0"/>
          </a:p>
        </p:txBody>
      </p:sp>
    </p:spTree>
    <p:extLst>
      <p:ext uri="{BB962C8B-B14F-4D97-AF65-F5344CB8AC3E}">
        <p14:creationId xmlns:p14="http://schemas.microsoft.com/office/powerpoint/2010/main" val="1200654535"/>
      </p:ext>
    </p:extLst>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mc:AlternateContent xmlns:mc="http://schemas.openxmlformats.org/markup-compatibility/2006" xmlns:a14="http://schemas.microsoft.com/office/drawing/2010/main">
        <mc:Choice Requires="a14">
          <p:sp>
            <p:nvSpPr>
              <p:cNvPr id="2" name="TextBox 1"/>
              <p:cNvSpPr txBox="1"/>
              <p:nvPr/>
            </p:nvSpPr>
            <p:spPr>
              <a:xfrm>
                <a:off x="611560" y="2204864"/>
                <a:ext cx="6484596" cy="2958887"/>
              </a:xfrm>
              <a:prstGeom prst="rect">
                <a:avLst/>
              </a:prstGeom>
              <a:noFill/>
            </p:spPr>
            <p:txBody>
              <a:bodyPr wrap="none" rtlCol="0">
                <a:spAutoFit/>
              </a:bodyPr>
              <a:lstStyle/>
              <a:p>
                <a:r>
                  <a:rPr lang="en-US" altLang="zh-CN" sz="3200" dirty="0" smtClean="0">
                    <a:solidFill>
                      <a:srgbClr val="000000"/>
                    </a:solidFill>
                  </a:rPr>
                  <a:t>3.</a:t>
                </a:r>
                <a:r>
                  <a:rPr lang="zh-CN" altLang="en-US" sz="3200" dirty="0" smtClean="0">
                    <a:solidFill>
                      <a:srgbClr val="000000"/>
                    </a:solidFill>
                  </a:rPr>
                  <a:t>目标函数</a:t>
                </a:r>
                <a:endParaRPr lang="en-US" altLang="zh-CN" sz="3200" dirty="0" smtClean="0">
                  <a:solidFill>
                    <a:srgbClr val="000000"/>
                  </a:solidFill>
                </a:endParaRPr>
              </a:p>
              <a:p>
                <a:pPr>
                  <a:lnSpc>
                    <a:spcPct val="125000"/>
                  </a:lnSpc>
                </a:pPr>
                <a:r>
                  <a:rPr lang="zh-CN" altLang="en-US" sz="2800" dirty="0" smtClean="0"/>
                  <a:t>访问所有城市的路径总长度：</a:t>
                </a:r>
                <a:endParaRPr lang="en-US" altLang="zh-CN" sz="2800" dirty="0" smtClean="0"/>
              </a:p>
              <a:p>
                <a:pPr>
                  <a:lnSpc>
                    <a:spcPct val="125000"/>
                  </a:lnSpc>
                </a:pPr>
                <a14:m>
                  <m:oMathPara xmlns:m="http://schemas.openxmlformats.org/officeDocument/2006/math">
                    <m:oMathParaPr>
                      <m:jc m:val="centerGroup"/>
                    </m:oMathParaPr>
                    <m:oMath xmlns:m="http://schemas.openxmlformats.org/officeDocument/2006/math">
                      <m:r>
                        <a:rPr lang="en-US" altLang="zh-CN" sz="2400" b="0" i="1" smtClean="0">
                          <a:latin typeface="Cambria Math"/>
                        </a:rPr>
                        <m:t>𝐶</m:t>
                      </m:r>
                      <m:d>
                        <m:dPr>
                          <m:ctrlPr>
                            <a:rPr lang="en-US" altLang="zh-CN" sz="2400" b="0" i="1" smtClean="0">
                              <a:latin typeface="Cambria Math"/>
                            </a:rPr>
                          </m:ctrlPr>
                        </m:dPr>
                        <m:e>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1</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2</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𝑛</m:t>
                              </m:r>
                            </m:sub>
                          </m:sSub>
                        </m:e>
                      </m:d>
                      <m:r>
                        <a:rPr lang="en-US" altLang="zh-CN" sz="2400" b="0" i="1" smtClean="0">
                          <a:latin typeface="Cambria Math"/>
                        </a:rPr>
                        <m:t>=</m:t>
                      </m:r>
                      <m:nary>
                        <m:naryPr>
                          <m:chr m:val="∑"/>
                          <m:ctrlPr>
                            <a:rPr lang="en-US" altLang="zh-CN" sz="2400" b="0" i="1" smtClean="0">
                              <a:latin typeface="Cambria Math"/>
                            </a:rPr>
                          </m:ctrlPr>
                        </m:naryPr>
                        <m:sub>
                          <m:r>
                            <m:rPr>
                              <m:brk m:alnAt="23"/>
                            </m:rPr>
                            <a:rPr lang="en-US" altLang="zh-CN" sz="2400" b="0" i="1" smtClean="0">
                              <a:latin typeface="Cambria Math"/>
                            </a:rPr>
                            <m:t>𝑖</m:t>
                          </m:r>
                          <m:r>
                            <a:rPr lang="en-US" altLang="zh-CN" sz="2400" b="0" i="1" smtClean="0">
                              <a:latin typeface="Cambria Math"/>
                            </a:rPr>
                            <m:t>=1</m:t>
                          </m:r>
                        </m:sub>
                        <m:sup>
                          <m:r>
                            <a:rPr lang="en-US" altLang="zh-CN" sz="2400" b="0" i="1" smtClean="0">
                              <a:latin typeface="Cambria Math"/>
                            </a:rPr>
                            <m:t>𝑛</m:t>
                          </m:r>
                          <m:r>
                            <a:rPr lang="en-US" altLang="zh-CN" sz="2400" b="0" i="1" smtClean="0">
                              <a:latin typeface="Cambria Math"/>
                            </a:rPr>
                            <m:t>−1</m:t>
                          </m:r>
                        </m:sup>
                        <m:e>
                          <m:r>
                            <a:rPr lang="en-US" altLang="zh-CN" sz="2400" b="0" i="1" smtClean="0">
                              <a:latin typeface="Cambria Math"/>
                            </a:rPr>
                            <m:t>𝑑</m:t>
                          </m:r>
                          <m:d>
                            <m:dPr>
                              <m:ctrlPr>
                                <a:rPr lang="en-US" altLang="zh-CN" sz="2400" b="0" i="1" smtClean="0">
                                  <a:latin typeface="Cambria Math"/>
                                </a:rPr>
                              </m:ctrlPr>
                            </m:dPr>
                            <m:e>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𝑖</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𝑖</m:t>
                                  </m:r>
                                  <m:r>
                                    <a:rPr lang="en-US" altLang="zh-CN" sz="2400" b="0" i="1" smtClean="0">
                                      <a:latin typeface="Cambria Math"/>
                                    </a:rPr>
                                    <m:t>+1</m:t>
                                  </m:r>
                                </m:sub>
                              </m:sSub>
                            </m:e>
                          </m:d>
                          <m:r>
                            <a:rPr lang="en-US" altLang="zh-CN" sz="2400" b="0" i="1" smtClean="0">
                              <a:latin typeface="Cambria Math"/>
                            </a:rPr>
                            <m:t>+</m:t>
                          </m:r>
                          <m:r>
                            <a:rPr lang="en-US" altLang="zh-CN" sz="2400" b="0" i="1" smtClean="0">
                              <a:latin typeface="Cambria Math"/>
                            </a:rPr>
                            <m:t>𝑑</m:t>
                          </m:r>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1</m:t>
                              </m:r>
                            </m:sub>
                          </m:sSub>
                          <m:r>
                            <a:rPr lang="en-US" altLang="zh-CN" sz="2400" b="0" i="1" smtClean="0">
                              <a:latin typeface="Cambria Math"/>
                            </a:rPr>
                            <m:t>,</m:t>
                          </m:r>
                          <m:sSub>
                            <m:sSubPr>
                              <m:ctrlPr>
                                <a:rPr lang="en-US" altLang="zh-CN" sz="2400" b="0" i="1" smtClean="0">
                                  <a:latin typeface="Cambria Math"/>
                                </a:rPr>
                              </m:ctrlPr>
                            </m:sSubPr>
                            <m:e>
                              <m:r>
                                <a:rPr lang="en-US" altLang="zh-CN" sz="2400" b="0" i="1" smtClean="0">
                                  <a:latin typeface="Cambria Math"/>
                                </a:rPr>
                                <m:t>𝑐</m:t>
                              </m:r>
                            </m:e>
                            <m:sub>
                              <m:r>
                                <a:rPr lang="en-US" altLang="zh-CN" sz="2400" b="0" i="1" smtClean="0">
                                  <a:latin typeface="Cambria Math"/>
                                </a:rPr>
                                <m:t>𝑛</m:t>
                              </m:r>
                            </m:sub>
                          </m:sSub>
                          <m:r>
                            <a:rPr lang="en-US" altLang="zh-CN" sz="2400" b="0" i="1" smtClean="0">
                              <a:latin typeface="Cambria Math"/>
                            </a:rPr>
                            <m:t>)</m:t>
                          </m:r>
                        </m:e>
                      </m:nary>
                    </m:oMath>
                  </m:oMathPara>
                </a14:m>
                <a:endParaRPr lang="en-US" altLang="zh-CN" sz="2400" b="0" dirty="0" smtClean="0"/>
              </a:p>
              <a:p>
                <a:pPr>
                  <a:lnSpc>
                    <a:spcPct val="125000"/>
                  </a:lnSpc>
                </a:pPr>
                <a:r>
                  <a:rPr lang="zh-CN" altLang="en-US" sz="2800" dirty="0" smtClean="0"/>
                  <a:t>模拟退火算法求出目标函数的最小值</a:t>
                </a:r>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611560" y="2204864"/>
                <a:ext cx="6484596" cy="2958887"/>
              </a:xfrm>
              <a:prstGeom prst="rect">
                <a:avLst/>
              </a:prstGeom>
              <a:blipFill rotWithShape="1">
                <a:blip r:embed="rId3"/>
                <a:stretch>
                  <a:fillRect l="-2350" t="-3299" b="-2474"/>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1507"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smtClean="0">
                <a:ea typeface="黑体" pitchFamily="49" charset="-122"/>
              </a:rPr>
              <a:t>一、算法设计步骤</a:t>
            </a:r>
          </a:p>
        </p:txBody>
      </p:sp>
      <p:sp>
        <p:nvSpPr>
          <p:cNvPr id="2" name="TextBox 1"/>
          <p:cNvSpPr txBox="1"/>
          <p:nvPr/>
        </p:nvSpPr>
        <p:spPr>
          <a:xfrm>
            <a:off x="1183950" y="2016561"/>
            <a:ext cx="5250155" cy="2862322"/>
          </a:xfrm>
          <a:prstGeom prst="rect">
            <a:avLst/>
          </a:prstGeom>
          <a:noFill/>
        </p:spPr>
        <p:txBody>
          <a:bodyPr wrap="none" rtlCol="0">
            <a:spAutoFit/>
          </a:bodyPr>
          <a:lstStyle/>
          <a:p>
            <a:r>
              <a:rPr lang="en-US" altLang="zh-CN" sz="1400" dirty="0" smtClean="0">
                <a:solidFill>
                  <a:srgbClr val="000000"/>
                </a:solidFill>
              </a:rPr>
              <a:t>       % </a:t>
            </a:r>
            <a:r>
              <a:rPr lang="zh-CN" altLang="en-US" sz="1400" dirty="0">
                <a:solidFill>
                  <a:srgbClr val="000000"/>
                </a:solidFill>
              </a:rPr>
              <a:t>计算目标函数即内能</a:t>
            </a:r>
            <a:endParaRPr lang="en-US" altLang="zh-CN" sz="1400" dirty="0">
              <a:solidFill>
                <a:srgbClr val="000000"/>
              </a:solidFill>
            </a:endParaRPr>
          </a:p>
          <a:p>
            <a:r>
              <a:rPr lang="en-US" altLang="zh-CN" dirty="0" smtClean="0"/>
              <a:t>        </a:t>
            </a:r>
            <a:r>
              <a:rPr lang="en-US" altLang="zh-CN" dirty="0" err="1"/>
              <a:t>E_new</a:t>
            </a:r>
            <a:r>
              <a:rPr lang="en-US" altLang="zh-CN" dirty="0"/>
              <a:t> = 0;</a:t>
            </a:r>
          </a:p>
          <a:p>
            <a:r>
              <a:rPr lang="en-US" altLang="zh-CN" dirty="0"/>
              <a:t>        for </a:t>
            </a:r>
            <a:r>
              <a:rPr lang="en-US" altLang="zh-CN" dirty="0" err="1"/>
              <a:t>i</a:t>
            </a:r>
            <a:r>
              <a:rPr lang="en-US" altLang="zh-CN" dirty="0"/>
              <a:t> = 1 : (amount-1)</a:t>
            </a:r>
          </a:p>
          <a:p>
            <a:r>
              <a:rPr lang="en-US" altLang="zh-CN" dirty="0"/>
              <a:t>            </a:t>
            </a:r>
            <a:r>
              <a:rPr lang="en-US" altLang="zh-CN" dirty="0" err="1"/>
              <a:t>E_new</a:t>
            </a:r>
            <a:r>
              <a:rPr lang="en-US" altLang="zh-CN" dirty="0"/>
              <a:t> = </a:t>
            </a:r>
            <a:r>
              <a:rPr lang="en-US" altLang="zh-CN" dirty="0" err="1"/>
              <a:t>E_new</a:t>
            </a:r>
            <a:r>
              <a:rPr lang="en-US" altLang="zh-CN" dirty="0"/>
              <a:t> + ...</a:t>
            </a:r>
          </a:p>
          <a:p>
            <a:r>
              <a:rPr lang="en-US" altLang="zh-CN" dirty="0"/>
              <a:t>                </a:t>
            </a:r>
            <a:r>
              <a:rPr lang="en-US" altLang="zh-CN" dirty="0" err="1"/>
              <a:t>dist_matrix</a:t>
            </a:r>
            <a:r>
              <a:rPr lang="en-US" altLang="zh-CN" dirty="0"/>
              <a:t>(</a:t>
            </a:r>
            <a:r>
              <a:rPr lang="en-US" altLang="zh-CN" dirty="0" err="1"/>
              <a:t>sol_new</a:t>
            </a:r>
            <a:r>
              <a:rPr lang="en-US" altLang="zh-CN" dirty="0"/>
              <a:t>(</a:t>
            </a:r>
            <a:r>
              <a:rPr lang="en-US" altLang="zh-CN" dirty="0" err="1"/>
              <a:t>i</a:t>
            </a:r>
            <a:r>
              <a:rPr lang="en-US" altLang="zh-CN" dirty="0"/>
              <a:t>),</a:t>
            </a:r>
            <a:r>
              <a:rPr lang="en-US" altLang="zh-CN" dirty="0" err="1"/>
              <a:t>sol_new</a:t>
            </a:r>
            <a:r>
              <a:rPr lang="en-US" altLang="zh-CN" dirty="0"/>
              <a:t>(i+1));</a:t>
            </a:r>
          </a:p>
          <a:p>
            <a:r>
              <a:rPr lang="en-US" altLang="zh-CN" dirty="0"/>
              <a:t>        end</a:t>
            </a:r>
          </a:p>
          <a:p>
            <a:r>
              <a:rPr lang="en-US" altLang="zh-CN" dirty="0"/>
              <a:t>        </a:t>
            </a:r>
            <a:r>
              <a:rPr lang="en-US" altLang="zh-CN" sz="1400" dirty="0" smtClean="0">
                <a:solidFill>
                  <a:srgbClr val="000000"/>
                </a:solidFill>
              </a:rPr>
              <a:t>%</a:t>
            </a:r>
            <a:r>
              <a:rPr lang="zh-CN" altLang="en-US" sz="1400" dirty="0" smtClean="0">
                <a:solidFill>
                  <a:srgbClr val="000000"/>
                </a:solidFill>
              </a:rPr>
              <a:t>从第一个城市到最后一个城市的距离</a:t>
            </a:r>
            <a:endParaRPr lang="en-US" altLang="zh-CN" sz="1400" dirty="0">
              <a:solidFill>
                <a:srgbClr val="000000"/>
              </a:solidFill>
            </a:endParaRPr>
          </a:p>
          <a:p>
            <a:r>
              <a:rPr lang="en-US" altLang="zh-CN" dirty="0"/>
              <a:t>        </a:t>
            </a:r>
            <a:r>
              <a:rPr lang="en-US" altLang="zh-CN" dirty="0" err="1"/>
              <a:t>E_new</a:t>
            </a:r>
            <a:r>
              <a:rPr lang="en-US" altLang="zh-CN" dirty="0"/>
              <a:t> = </a:t>
            </a:r>
            <a:r>
              <a:rPr lang="en-US" altLang="zh-CN" dirty="0" err="1"/>
              <a:t>E_new</a:t>
            </a:r>
            <a:r>
              <a:rPr lang="en-US" altLang="zh-CN" dirty="0"/>
              <a:t> + ...</a:t>
            </a:r>
          </a:p>
          <a:p>
            <a:r>
              <a:rPr lang="en-US" altLang="zh-CN" dirty="0"/>
              <a:t>            </a:t>
            </a:r>
            <a:r>
              <a:rPr lang="en-US" altLang="zh-CN" dirty="0" err="1"/>
              <a:t>dist_matrix</a:t>
            </a:r>
            <a:r>
              <a:rPr lang="en-US" altLang="zh-CN" dirty="0"/>
              <a:t>(</a:t>
            </a:r>
            <a:r>
              <a:rPr lang="en-US" altLang="zh-CN" dirty="0" err="1"/>
              <a:t>sol_new</a:t>
            </a:r>
            <a:r>
              <a:rPr lang="en-US" altLang="zh-CN" dirty="0"/>
              <a:t>(amount),</a:t>
            </a:r>
            <a:r>
              <a:rPr lang="en-US" altLang="zh-CN" dirty="0" err="1"/>
              <a:t>sol_new</a:t>
            </a:r>
            <a:r>
              <a:rPr lang="en-US" altLang="zh-CN" dirty="0"/>
              <a:t>(1));</a:t>
            </a:r>
          </a:p>
          <a:p>
            <a:endParaRPr lang="zh-CN" altLang="en-US" dirty="0"/>
          </a:p>
        </p:txBody>
      </p:sp>
    </p:spTree>
    <p:extLst>
      <p:ext uri="{BB962C8B-B14F-4D97-AF65-F5344CB8AC3E}">
        <p14:creationId xmlns:p14="http://schemas.microsoft.com/office/powerpoint/2010/main" val="352724449"/>
      </p:ext>
    </p:extLst>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2531"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一、算法设计步骤</a:t>
            </a:r>
          </a:p>
        </p:txBody>
      </p:sp>
      <p:sp>
        <p:nvSpPr>
          <p:cNvPr id="3" name="TextBox 2"/>
          <p:cNvSpPr txBox="1">
            <a:spLocks noRot="1" noChangeAspect="1" noMove="1" noResize="1" noEditPoints="1" noAdjustHandles="1" noChangeArrowheads="1" noChangeShapeType="1" noTextEdit="1"/>
          </p:cNvSpPr>
          <p:nvPr/>
        </p:nvSpPr>
        <p:spPr>
          <a:xfrm>
            <a:off x="683568" y="1458518"/>
            <a:ext cx="7848872" cy="1631216"/>
          </a:xfrm>
          <a:prstGeom prst="rect">
            <a:avLst/>
          </a:prstGeom>
          <a:blipFill rotWithShape="1">
            <a:blip r:embed="rId3"/>
            <a:stretch>
              <a:fillRect l="-1553" t="-1493"/>
            </a:stretch>
          </a:blipFill>
        </p:spPr>
        <p:txBody>
          <a:bodyPr/>
          <a:lstStyle/>
          <a:p>
            <a:r>
              <a:rPr lang="zh-CN" altLang="en-US">
                <a:noFill/>
              </a:rPr>
              <a:t> </a:t>
            </a:r>
          </a:p>
        </p:txBody>
      </p:sp>
      <p:sp>
        <p:nvSpPr>
          <p:cNvPr id="4" name="TextBox 3"/>
          <p:cNvSpPr txBox="1">
            <a:spLocks noRot="1" noChangeAspect="1" noMove="1" noResize="1" noEditPoints="1" noAdjustHandles="1" noChangeArrowheads="1" noChangeShapeType="1" noTextEdit="1"/>
          </p:cNvSpPr>
          <p:nvPr/>
        </p:nvSpPr>
        <p:spPr>
          <a:xfrm>
            <a:off x="683568" y="3573016"/>
            <a:ext cx="6120680" cy="2884764"/>
          </a:xfrm>
          <a:prstGeom prst="rect">
            <a:avLst/>
          </a:prstGeom>
          <a:blipFill rotWithShape="1">
            <a:blip r:embed="rId4"/>
            <a:stretch>
              <a:fillRect l="-1992" t="-846" r="-4183"/>
            </a:stretch>
          </a:blipFill>
        </p:spPr>
        <p:txBody>
          <a:bodyPr/>
          <a:lstStyle/>
          <a:p>
            <a:r>
              <a:rPr lang="zh-CN" altLang="en-US">
                <a:noFill/>
              </a:rPr>
              <a:t> </a:t>
            </a:r>
          </a:p>
        </p:txBody>
      </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smtClean="0">
                <a:ea typeface="黑体" pitchFamily="49" charset="-122"/>
              </a:rPr>
              <a:t>6.2 </a:t>
            </a:r>
            <a:r>
              <a:rPr lang="zh-CN" altLang="en-US" sz="3600" b="1" smtClean="0">
                <a:ea typeface="黑体" pitchFamily="49" charset="-122"/>
              </a:rPr>
              <a:t>算法的</a:t>
            </a:r>
            <a:r>
              <a:rPr lang="en-US" altLang="zh-CN" sz="3600" b="1" smtClean="0">
                <a:ea typeface="黑体" pitchFamily="49" charset="-122"/>
              </a:rPr>
              <a:t>MATLAB</a:t>
            </a:r>
            <a:r>
              <a:rPr lang="zh-CN" altLang="en-US" sz="3600" b="1" smtClean="0">
                <a:ea typeface="黑体" pitchFamily="49" charset="-122"/>
              </a:rPr>
              <a:t>实现　</a:t>
            </a:r>
          </a:p>
        </p:txBody>
      </p:sp>
      <p:sp>
        <p:nvSpPr>
          <p:cNvPr id="22531"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smtClean="0">
                <a:ea typeface="黑体" pitchFamily="49" charset="-122"/>
              </a:rPr>
              <a:t>一、算法设计步骤</a:t>
            </a:r>
          </a:p>
        </p:txBody>
      </p:sp>
      <p:sp>
        <p:nvSpPr>
          <p:cNvPr id="2" name="TextBox 1"/>
          <p:cNvSpPr txBox="1"/>
          <p:nvPr/>
        </p:nvSpPr>
        <p:spPr>
          <a:xfrm>
            <a:off x="1259632" y="1502688"/>
            <a:ext cx="4685898" cy="5293757"/>
          </a:xfrm>
          <a:prstGeom prst="rect">
            <a:avLst/>
          </a:prstGeom>
          <a:noFill/>
        </p:spPr>
        <p:txBody>
          <a:bodyPr wrap="none" rtlCol="0">
            <a:spAutoFit/>
          </a:bodyPr>
          <a:lstStyle/>
          <a:p>
            <a:r>
              <a:rPr lang="en-US" altLang="zh-CN" dirty="0"/>
              <a:t>if </a:t>
            </a:r>
            <a:r>
              <a:rPr lang="en-US" altLang="zh-CN" dirty="0" err="1"/>
              <a:t>E_new</a:t>
            </a:r>
            <a:r>
              <a:rPr lang="en-US" altLang="zh-CN" dirty="0"/>
              <a:t> &lt; </a:t>
            </a:r>
            <a:r>
              <a:rPr lang="en-US" altLang="zh-CN" dirty="0" err="1"/>
              <a:t>E_current</a:t>
            </a:r>
            <a:endParaRPr lang="en-US" altLang="zh-CN" dirty="0"/>
          </a:p>
          <a:p>
            <a:r>
              <a:rPr lang="en-US" altLang="zh-CN" dirty="0"/>
              <a:t>            </a:t>
            </a:r>
            <a:r>
              <a:rPr lang="en-US" altLang="zh-CN" dirty="0" err="1"/>
              <a:t>E_current</a:t>
            </a:r>
            <a:r>
              <a:rPr lang="en-US" altLang="zh-CN" dirty="0"/>
              <a:t> = </a:t>
            </a:r>
            <a:r>
              <a:rPr lang="en-US" altLang="zh-CN" dirty="0" err="1"/>
              <a:t>E_new</a:t>
            </a:r>
            <a:r>
              <a:rPr lang="en-US" altLang="zh-CN" dirty="0"/>
              <a:t>;</a:t>
            </a:r>
          </a:p>
          <a:p>
            <a:r>
              <a:rPr lang="en-US" altLang="zh-CN" dirty="0"/>
              <a:t>            </a:t>
            </a:r>
            <a:r>
              <a:rPr lang="en-US" altLang="zh-CN" dirty="0" err="1"/>
              <a:t>sol_current</a:t>
            </a:r>
            <a:r>
              <a:rPr lang="en-US" altLang="zh-CN" dirty="0"/>
              <a:t> = </a:t>
            </a:r>
            <a:r>
              <a:rPr lang="en-US" altLang="zh-CN" dirty="0" err="1"/>
              <a:t>sol_new</a:t>
            </a:r>
            <a:r>
              <a:rPr lang="en-US" altLang="zh-CN" dirty="0"/>
              <a:t>;</a:t>
            </a:r>
          </a:p>
          <a:p>
            <a:r>
              <a:rPr lang="en-US" altLang="zh-CN" dirty="0"/>
              <a:t>            if </a:t>
            </a:r>
            <a:r>
              <a:rPr lang="en-US" altLang="zh-CN" dirty="0" err="1"/>
              <a:t>E_new</a:t>
            </a:r>
            <a:r>
              <a:rPr lang="en-US" altLang="zh-CN" dirty="0"/>
              <a:t> &lt; </a:t>
            </a:r>
            <a:r>
              <a:rPr lang="en-US" altLang="zh-CN" dirty="0" err="1"/>
              <a:t>E_best</a:t>
            </a:r>
            <a:endParaRPr lang="en-US" altLang="zh-CN" dirty="0"/>
          </a:p>
          <a:p>
            <a:r>
              <a:rPr lang="en-US" altLang="zh-CN" sz="1400" dirty="0">
                <a:solidFill>
                  <a:srgbClr val="000000"/>
                </a:solidFill>
              </a:rPr>
              <a:t>                % </a:t>
            </a:r>
            <a:r>
              <a:rPr lang="zh-CN" altLang="en-US" sz="1400" dirty="0">
                <a:solidFill>
                  <a:srgbClr val="000000"/>
                </a:solidFill>
              </a:rPr>
              <a:t>冷却过程中最好的解保存下来</a:t>
            </a:r>
            <a:r>
              <a:rPr lang="en-US" altLang="zh-CN" sz="1400" dirty="0">
                <a:solidFill>
                  <a:srgbClr val="000000"/>
                </a:solidFill>
              </a:rPr>
              <a:t>´</a:t>
            </a:r>
          </a:p>
          <a:p>
            <a:r>
              <a:rPr lang="en-US" altLang="zh-CN" dirty="0"/>
              <a:t>                </a:t>
            </a:r>
            <a:r>
              <a:rPr lang="en-US" altLang="zh-CN" dirty="0" err="1"/>
              <a:t>E_best</a:t>
            </a:r>
            <a:r>
              <a:rPr lang="en-US" altLang="zh-CN" dirty="0"/>
              <a:t> = </a:t>
            </a:r>
            <a:r>
              <a:rPr lang="en-US" altLang="zh-CN" dirty="0" err="1"/>
              <a:t>E_new</a:t>
            </a:r>
            <a:r>
              <a:rPr lang="en-US" altLang="zh-CN" dirty="0"/>
              <a:t>;</a:t>
            </a:r>
          </a:p>
          <a:p>
            <a:r>
              <a:rPr lang="en-US" altLang="zh-CN" dirty="0"/>
              <a:t>                </a:t>
            </a:r>
            <a:r>
              <a:rPr lang="en-US" altLang="zh-CN" dirty="0" err="1"/>
              <a:t>sol_best</a:t>
            </a:r>
            <a:r>
              <a:rPr lang="en-US" altLang="zh-CN" dirty="0"/>
              <a:t> = </a:t>
            </a:r>
            <a:r>
              <a:rPr lang="en-US" altLang="zh-CN" dirty="0" err="1"/>
              <a:t>sol_new</a:t>
            </a:r>
            <a:r>
              <a:rPr lang="en-US" altLang="zh-CN" dirty="0"/>
              <a:t>;</a:t>
            </a:r>
          </a:p>
          <a:p>
            <a:r>
              <a:rPr lang="en-US" altLang="zh-CN" dirty="0"/>
              <a:t>            end</a:t>
            </a:r>
          </a:p>
          <a:p>
            <a:r>
              <a:rPr lang="en-US" altLang="zh-CN" dirty="0"/>
              <a:t>        else</a:t>
            </a:r>
          </a:p>
          <a:p>
            <a:r>
              <a:rPr lang="en-US" altLang="zh-CN" dirty="0"/>
              <a:t>            </a:t>
            </a:r>
            <a:r>
              <a:rPr lang="en-US" altLang="zh-CN" sz="1400" dirty="0">
                <a:solidFill>
                  <a:srgbClr val="000000"/>
                </a:solidFill>
              </a:rPr>
              <a:t>% </a:t>
            </a:r>
            <a:r>
              <a:rPr lang="zh-CN" altLang="en-US" sz="1400" dirty="0">
                <a:solidFill>
                  <a:srgbClr val="000000"/>
                </a:solidFill>
              </a:rPr>
              <a:t>若新解的</a:t>
            </a:r>
            <a:r>
              <a:rPr lang="zh-CN" altLang="en-US" sz="1400" dirty="0" smtClean="0">
                <a:solidFill>
                  <a:srgbClr val="000000"/>
                </a:solidFill>
              </a:rPr>
              <a:t>目标函数大于</a:t>
            </a:r>
            <a:r>
              <a:rPr lang="zh-CN" altLang="en-US" sz="1400" dirty="0">
                <a:solidFill>
                  <a:srgbClr val="000000"/>
                </a:solidFill>
              </a:rPr>
              <a:t>当前解的，</a:t>
            </a:r>
            <a:endParaRPr lang="en-US" altLang="zh-CN" sz="1400" dirty="0">
              <a:solidFill>
                <a:srgbClr val="000000"/>
              </a:solidFill>
            </a:endParaRPr>
          </a:p>
          <a:p>
            <a:r>
              <a:rPr lang="en-US" altLang="zh-CN" sz="1400" dirty="0">
                <a:solidFill>
                  <a:srgbClr val="000000"/>
                </a:solidFill>
              </a:rPr>
              <a:t>           </a:t>
            </a:r>
            <a:r>
              <a:rPr lang="en-US" altLang="zh-CN" sz="1400" dirty="0" smtClean="0">
                <a:solidFill>
                  <a:srgbClr val="000000"/>
                </a:solidFill>
              </a:rPr>
              <a:t>    </a:t>
            </a:r>
            <a:r>
              <a:rPr lang="en-US" altLang="zh-CN" sz="1400" dirty="0">
                <a:solidFill>
                  <a:srgbClr val="000000"/>
                </a:solidFill>
              </a:rPr>
              <a:t>% </a:t>
            </a:r>
            <a:r>
              <a:rPr lang="zh-CN" altLang="en-US" sz="1400" dirty="0">
                <a:solidFill>
                  <a:srgbClr val="000000"/>
                </a:solidFill>
              </a:rPr>
              <a:t>则以一定的概率接受新解</a:t>
            </a:r>
            <a:endParaRPr lang="en-US" altLang="zh-CN" sz="1400" dirty="0">
              <a:solidFill>
                <a:srgbClr val="000000"/>
              </a:solidFill>
            </a:endParaRPr>
          </a:p>
          <a:p>
            <a:r>
              <a:rPr lang="en-US" altLang="zh-CN" dirty="0" smtClean="0"/>
              <a:t>            </a:t>
            </a:r>
            <a:r>
              <a:rPr lang="en-US" altLang="zh-CN" dirty="0"/>
              <a:t>if rand &lt; </a:t>
            </a:r>
            <a:r>
              <a:rPr lang="en-US" altLang="zh-CN" dirty="0" err="1"/>
              <a:t>exp</a:t>
            </a:r>
            <a:r>
              <a:rPr lang="en-US" altLang="zh-CN" dirty="0"/>
              <a:t>(-(</a:t>
            </a:r>
            <a:r>
              <a:rPr lang="en-US" altLang="zh-CN" dirty="0" err="1"/>
              <a:t>E_new-E_current</a:t>
            </a:r>
            <a:r>
              <a:rPr lang="en-US" altLang="zh-CN" dirty="0"/>
              <a:t>)./t)</a:t>
            </a:r>
          </a:p>
          <a:p>
            <a:r>
              <a:rPr lang="en-US" altLang="zh-CN" dirty="0"/>
              <a:t>                </a:t>
            </a:r>
            <a:r>
              <a:rPr lang="en-US" altLang="zh-CN" dirty="0" err="1"/>
              <a:t>E_current</a:t>
            </a:r>
            <a:r>
              <a:rPr lang="en-US" altLang="zh-CN" dirty="0"/>
              <a:t> = </a:t>
            </a:r>
            <a:r>
              <a:rPr lang="en-US" altLang="zh-CN" dirty="0" err="1"/>
              <a:t>E_new</a:t>
            </a:r>
            <a:r>
              <a:rPr lang="en-US" altLang="zh-CN" dirty="0"/>
              <a:t>;</a:t>
            </a:r>
          </a:p>
          <a:p>
            <a:r>
              <a:rPr lang="en-US" altLang="zh-CN" dirty="0"/>
              <a:t>                </a:t>
            </a:r>
            <a:r>
              <a:rPr lang="en-US" altLang="zh-CN" dirty="0" err="1"/>
              <a:t>sol_current</a:t>
            </a:r>
            <a:r>
              <a:rPr lang="en-US" altLang="zh-CN" dirty="0"/>
              <a:t> = </a:t>
            </a:r>
            <a:r>
              <a:rPr lang="en-US" altLang="zh-CN" dirty="0" err="1"/>
              <a:t>sol_new</a:t>
            </a:r>
            <a:r>
              <a:rPr lang="en-US" altLang="zh-CN" dirty="0"/>
              <a:t>;</a:t>
            </a:r>
          </a:p>
          <a:p>
            <a:r>
              <a:rPr lang="en-US" altLang="zh-CN" dirty="0"/>
              <a:t>            else</a:t>
            </a:r>
          </a:p>
          <a:p>
            <a:r>
              <a:rPr lang="en-US" altLang="zh-CN" dirty="0"/>
              <a:t>                </a:t>
            </a:r>
            <a:r>
              <a:rPr lang="en-US" altLang="zh-CN" dirty="0" err="1"/>
              <a:t>sol_new</a:t>
            </a:r>
            <a:r>
              <a:rPr lang="en-US" altLang="zh-CN" dirty="0"/>
              <a:t> = </a:t>
            </a:r>
            <a:r>
              <a:rPr lang="en-US" altLang="zh-CN" dirty="0" err="1"/>
              <a:t>sol_current</a:t>
            </a:r>
            <a:r>
              <a:rPr lang="en-US" altLang="zh-CN" dirty="0"/>
              <a:t>;</a:t>
            </a:r>
          </a:p>
          <a:p>
            <a:r>
              <a:rPr lang="en-US" altLang="zh-CN" dirty="0"/>
              <a:t>            end</a:t>
            </a:r>
          </a:p>
          <a:p>
            <a:r>
              <a:rPr lang="en-US" altLang="zh-CN" dirty="0"/>
              <a:t>        end</a:t>
            </a:r>
          </a:p>
          <a:p>
            <a:endParaRPr lang="zh-CN" altLang="en-US" dirty="0"/>
          </a:p>
        </p:txBody>
      </p:sp>
    </p:spTree>
    <p:extLst>
      <p:ext uri="{BB962C8B-B14F-4D97-AF65-F5344CB8AC3E}">
        <p14:creationId xmlns:p14="http://schemas.microsoft.com/office/powerpoint/2010/main" val="73725934"/>
      </p:ext>
    </p:extLst>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0"/>
          <p:cNvSpPr>
            <a:spLocks noGrp="1" noChangeArrowheads="1"/>
          </p:cNvSpPr>
          <p:nvPr>
            <p:ph type="title"/>
          </p:nvPr>
        </p:nvSpPr>
        <p:spPr>
          <a:xfrm>
            <a:off x="685800" y="0"/>
            <a:ext cx="7772400" cy="762000"/>
          </a:xfrm>
          <a:solidFill>
            <a:schemeClr val="accent1"/>
          </a:solidFill>
          <a:effectLst>
            <a:outerShdw dist="107763" dir="2700000" algn="ctr" rotWithShape="0">
              <a:schemeClr val="bg2"/>
            </a:outerShdw>
          </a:effectLst>
        </p:spPr>
        <p:txBody>
          <a:bodyPr/>
          <a:lstStyle/>
          <a:p>
            <a:pPr eaLnBrk="1" hangingPunct="1"/>
            <a:r>
              <a:rPr lang="en-US" altLang="zh-CN" sz="3600" b="1" dirty="0" smtClean="0">
                <a:ea typeface="黑体" pitchFamily="49" charset="-122"/>
              </a:rPr>
              <a:t>6.3 </a:t>
            </a:r>
            <a:r>
              <a:rPr lang="zh-CN" altLang="en-US" sz="3600" b="1" dirty="0" smtClean="0">
                <a:ea typeface="黑体" pitchFamily="49" charset="-122"/>
              </a:rPr>
              <a:t>应用实例：背包问题的求解　</a:t>
            </a:r>
          </a:p>
        </p:txBody>
      </p:sp>
      <p:sp>
        <p:nvSpPr>
          <p:cNvPr id="23555" name="Rectangle 31"/>
          <p:cNvSpPr>
            <a:spLocks noGrp="1" noChangeArrowheads="1"/>
          </p:cNvSpPr>
          <p:nvPr>
            <p:ph idx="1"/>
          </p:nvPr>
        </p:nvSpPr>
        <p:spPr>
          <a:xfrm>
            <a:off x="41275" y="838200"/>
            <a:ext cx="3954463" cy="574675"/>
          </a:xfrm>
          <a:solidFill>
            <a:srgbClr val="33CCFF"/>
          </a:solidFill>
          <a:effectLst>
            <a:outerShdw dist="107763" dir="2700000" algn="ctr" rotWithShape="0">
              <a:schemeClr val="bg2"/>
            </a:outerShdw>
          </a:effectLst>
        </p:spPr>
        <p:txBody>
          <a:bodyPr/>
          <a:lstStyle/>
          <a:p>
            <a:pPr eaLnBrk="1" hangingPunct="1">
              <a:spcBef>
                <a:spcPct val="0"/>
              </a:spcBef>
              <a:buFont typeface="Wingdings" pitchFamily="2" charset="2"/>
              <a:buNone/>
            </a:pPr>
            <a:r>
              <a:rPr lang="zh-CN" altLang="en-US" b="1" dirty="0">
                <a:ea typeface="黑体" pitchFamily="49" charset="-122"/>
              </a:rPr>
              <a:t>一</a:t>
            </a:r>
            <a:r>
              <a:rPr lang="zh-CN" altLang="en-US" b="1" dirty="0" smtClean="0">
                <a:ea typeface="黑体" pitchFamily="49" charset="-122"/>
              </a:rPr>
              <a:t>、</a:t>
            </a:r>
            <a:r>
              <a:rPr lang="en-US" altLang="zh-CN" b="1" dirty="0" smtClean="0">
                <a:ea typeface="黑体" pitchFamily="49" charset="-122"/>
              </a:rPr>
              <a:t>0-1</a:t>
            </a:r>
            <a:r>
              <a:rPr lang="zh-CN" altLang="en-US" b="1" dirty="0" smtClean="0">
                <a:ea typeface="黑体" pitchFamily="49" charset="-122"/>
              </a:rPr>
              <a:t>背包问题</a:t>
            </a:r>
          </a:p>
        </p:txBody>
      </p:sp>
      <mc:AlternateContent xmlns:mc="http://schemas.openxmlformats.org/markup-compatibility/2006" xmlns:a14="http://schemas.microsoft.com/office/drawing/2010/main">
        <mc:Choice Requires="a14">
          <p:sp>
            <p:nvSpPr>
              <p:cNvPr id="3" name="TextBox 2"/>
              <p:cNvSpPr txBox="1"/>
              <p:nvPr/>
            </p:nvSpPr>
            <p:spPr>
              <a:xfrm>
                <a:off x="456251" y="1700808"/>
                <a:ext cx="8230138" cy="2400657"/>
              </a:xfrm>
              <a:prstGeom prst="rect">
                <a:avLst/>
              </a:prstGeom>
              <a:noFill/>
            </p:spPr>
            <p:txBody>
              <a:bodyPr wrap="none" rtlCol="0">
                <a:spAutoFit/>
              </a:bodyPr>
              <a:lstStyle/>
              <a:p>
                <a:pPr>
                  <a:lnSpc>
                    <a:spcPct val="125000"/>
                  </a:lnSpc>
                </a:pPr>
                <a:r>
                  <a:rPr lang="zh-CN" altLang="en-US" sz="2400" dirty="0" smtClean="0"/>
                  <a:t>       有一个贼在偷窃一家商店</a:t>
                </a:r>
                <a:r>
                  <a:rPr lang="zh-CN" altLang="en-US" sz="2400" dirty="0"/>
                  <a:t>时</a:t>
                </a:r>
                <a:r>
                  <a:rPr lang="zh-CN" altLang="en-US" sz="2400" dirty="0" smtClean="0"/>
                  <a:t>发现有</a:t>
                </a:r>
                <a:r>
                  <a:rPr lang="en-US" altLang="zh-CN" sz="2400" i="1" dirty="0" smtClean="0">
                    <a:latin typeface="Cambria Math"/>
                  </a:rPr>
                  <a:t>N </a:t>
                </a:r>
                <a:r>
                  <a:rPr lang="zh-CN" altLang="en-US" sz="2400" dirty="0" smtClean="0"/>
                  <a:t>件物品：第</a:t>
                </a:r>
                <a:r>
                  <a:rPr lang="en-US" altLang="zh-CN" sz="2400" dirty="0" err="1" smtClean="0"/>
                  <a:t>i</a:t>
                </a:r>
                <a:r>
                  <a:rPr lang="zh-CN" altLang="en-US" sz="2400" dirty="0" smtClean="0"/>
                  <a:t>件物</a:t>
                </a:r>
                <a:endParaRPr lang="en-US" altLang="zh-CN" sz="2400" dirty="0" smtClean="0"/>
              </a:p>
              <a:p>
                <a:pPr>
                  <a:lnSpc>
                    <a:spcPct val="125000"/>
                  </a:lnSpc>
                </a:pPr>
                <a:r>
                  <a:rPr lang="zh-CN" altLang="en-US" sz="2400" dirty="0" smtClean="0"/>
                  <a:t>品值</a:t>
                </a:r>
                <a14:m>
                  <m:oMath xmlns:m="http://schemas.openxmlformats.org/officeDocument/2006/math">
                    <m:sSub>
                      <m:sSubPr>
                        <m:ctrlPr>
                          <a:rPr lang="en-US" altLang="zh-CN" sz="2400" i="1" dirty="0" smtClean="0">
                            <a:latin typeface="Cambria Math"/>
                          </a:rPr>
                        </m:ctrlPr>
                      </m:sSubPr>
                      <m:e>
                        <m:r>
                          <a:rPr lang="en-US" altLang="zh-CN" sz="2400" b="0" i="1" dirty="0" smtClean="0">
                            <a:latin typeface="Cambria Math"/>
                          </a:rPr>
                          <m:t>𝑣</m:t>
                        </m:r>
                      </m:e>
                      <m:sub>
                        <m:r>
                          <a:rPr lang="en-US" altLang="zh-CN" sz="2400" b="0" i="1" dirty="0" smtClean="0">
                            <a:latin typeface="Cambria Math"/>
                          </a:rPr>
                          <m:t>𝑖</m:t>
                        </m:r>
                      </m:sub>
                    </m:sSub>
                  </m:oMath>
                </a14:m>
                <a:r>
                  <a:rPr lang="zh-CN" altLang="en-US" sz="2400" dirty="0" smtClean="0"/>
                  <a:t>元，重</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𝑤</m:t>
                        </m:r>
                      </m:e>
                      <m:sub>
                        <m:r>
                          <a:rPr lang="en-US" altLang="zh-CN" sz="2400" i="1" dirty="0">
                            <a:latin typeface="Cambria Math"/>
                          </a:rPr>
                          <m:t>𝑖</m:t>
                        </m:r>
                      </m:sub>
                    </m:sSub>
                  </m:oMath>
                </a14:m>
                <a:r>
                  <a:rPr lang="zh-CN" altLang="en-US" sz="2400" dirty="0" smtClean="0"/>
                  <a:t>磅</a:t>
                </a:r>
                <a:r>
                  <a:rPr lang="en-US" altLang="zh-CN" sz="2400" dirty="0" smtClean="0"/>
                  <a:t>(</a:t>
                </a:r>
                <a14:m>
                  <m:oMath xmlns:m="http://schemas.openxmlformats.org/officeDocument/2006/math">
                    <m:r>
                      <a:rPr lang="en-US" altLang="zh-CN" sz="2400" b="0" i="1" smtClean="0">
                        <a:latin typeface="Cambria Math"/>
                      </a:rPr>
                      <m:t>1</m:t>
                    </m:r>
                    <m:r>
                      <a:rPr lang="en-US" altLang="zh-CN" sz="2400" b="0" i="1" smtClean="0">
                        <a:latin typeface="Cambria Math"/>
                        <a:ea typeface="Cambria Math"/>
                      </a:rPr>
                      <m:t>≤</m:t>
                    </m:r>
                    <m:r>
                      <a:rPr lang="en-US" altLang="zh-CN" sz="2400" b="0" i="1" smtClean="0">
                        <a:latin typeface="Cambria Math"/>
                        <a:ea typeface="Cambria Math"/>
                      </a:rPr>
                      <m:t>𝑖</m:t>
                    </m:r>
                    <m:r>
                      <a:rPr lang="en-US" altLang="zh-CN" sz="2400" b="0" i="1" smtClean="0">
                        <a:latin typeface="Cambria Math"/>
                        <a:ea typeface="Cambria Math"/>
                      </a:rPr>
                      <m:t>≤</m:t>
                    </m:r>
                    <m:r>
                      <a:rPr lang="en-US" altLang="zh-CN" sz="2400" b="0" i="1" smtClean="0">
                        <a:latin typeface="Cambria Math"/>
                        <a:ea typeface="Cambria Math"/>
                      </a:rPr>
                      <m:t>𝑛</m:t>
                    </m:r>
                  </m:oMath>
                </a14:m>
                <a:r>
                  <a:rPr lang="en-US" altLang="zh-CN" sz="2400" dirty="0" smtClean="0"/>
                  <a:t>)</a:t>
                </a:r>
                <a:r>
                  <a:rPr lang="zh-CN" altLang="en-US" sz="2400" dirty="0" smtClean="0"/>
                  <a:t>，此处</a:t>
                </a:r>
                <a14:m>
                  <m:oMath xmlns:m="http://schemas.openxmlformats.org/officeDocument/2006/math">
                    <m:sSub>
                      <m:sSubPr>
                        <m:ctrlPr>
                          <a:rPr lang="en-US" altLang="zh-CN" sz="2400" i="1" dirty="0">
                            <a:latin typeface="Cambria Math"/>
                          </a:rPr>
                        </m:ctrlPr>
                      </m:sSubPr>
                      <m:e>
                        <m:r>
                          <a:rPr lang="en-US" altLang="zh-CN" sz="2400" i="1" dirty="0">
                            <a:latin typeface="Cambria Math"/>
                          </a:rPr>
                          <m:t>𝑣</m:t>
                        </m:r>
                      </m:e>
                      <m:sub>
                        <m:r>
                          <a:rPr lang="en-US" altLang="zh-CN" sz="2400" i="1" dirty="0">
                            <a:latin typeface="Cambria Math"/>
                          </a:rPr>
                          <m:t>𝑖</m:t>
                        </m:r>
                      </m:sub>
                    </m:sSub>
                  </m:oMath>
                </a14:m>
                <a:r>
                  <a:rPr lang="zh-CN" altLang="en-US" sz="2400" dirty="0" smtClean="0"/>
                  <a:t>和</a:t>
                </a:r>
                <a14:m>
                  <m:oMath xmlns:m="http://schemas.openxmlformats.org/officeDocument/2006/math">
                    <m:sSub>
                      <m:sSubPr>
                        <m:ctrlPr>
                          <a:rPr lang="en-US" altLang="zh-CN" sz="2400" i="1" dirty="0">
                            <a:latin typeface="Cambria Math"/>
                          </a:rPr>
                        </m:ctrlPr>
                      </m:sSubPr>
                      <m:e>
                        <m:r>
                          <a:rPr lang="en-US" altLang="zh-CN" sz="2400" b="0" i="1" dirty="0" smtClean="0">
                            <a:latin typeface="Cambria Math"/>
                          </a:rPr>
                          <m:t>𝑤</m:t>
                        </m:r>
                      </m:e>
                      <m:sub>
                        <m:r>
                          <a:rPr lang="en-US" altLang="zh-CN" sz="2400" i="1" dirty="0">
                            <a:latin typeface="Cambria Math"/>
                          </a:rPr>
                          <m:t>𝑖</m:t>
                        </m:r>
                      </m:sub>
                    </m:sSub>
                  </m:oMath>
                </a14:m>
                <a:r>
                  <a:rPr lang="zh-CN" altLang="en-US" sz="2400" dirty="0" smtClean="0"/>
                  <a:t>都是整数。他希</a:t>
                </a:r>
                <a:endParaRPr lang="en-US" altLang="zh-CN" sz="2400" dirty="0" smtClean="0"/>
              </a:p>
              <a:p>
                <a:pPr>
                  <a:lnSpc>
                    <a:spcPct val="125000"/>
                  </a:lnSpc>
                </a:pPr>
                <a:r>
                  <a:rPr lang="zh-CN" altLang="en-US" sz="2400" dirty="0" smtClean="0"/>
                  <a:t>望带走的东西越值钱越好，但他的背包小，最多只能装下</a:t>
                </a:r>
                <a:r>
                  <a:rPr lang="en-US" altLang="zh-CN" sz="2400" i="1" dirty="0" smtClean="0">
                    <a:latin typeface="Cambria Math"/>
                  </a:rPr>
                  <a:t>W </a:t>
                </a:r>
              </a:p>
              <a:p>
                <a:pPr>
                  <a:lnSpc>
                    <a:spcPct val="125000"/>
                  </a:lnSpc>
                </a:pPr>
                <a:r>
                  <a:rPr lang="zh-CN" altLang="en-US" sz="2400" dirty="0" smtClean="0"/>
                  <a:t>磅的东西（</a:t>
                </a:r>
                <a:r>
                  <a:rPr lang="en-US" altLang="zh-CN" sz="2400" i="1" dirty="0" smtClean="0">
                    <a:latin typeface="Cambria Math"/>
                  </a:rPr>
                  <a:t>W </a:t>
                </a:r>
                <a:r>
                  <a:rPr lang="zh-CN" altLang="en-US" sz="2400" dirty="0" smtClean="0"/>
                  <a:t>为整数）。如果每件物品或被带走或被留下，</a:t>
                </a:r>
                <a:endParaRPr lang="en-US" altLang="zh-CN" sz="2400" dirty="0" smtClean="0"/>
              </a:p>
              <a:p>
                <a:pPr>
                  <a:lnSpc>
                    <a:spcPct val="125000"/>
                  </a:lnSpc>
                </a:pPr>
                <a:r>
                  <a:rPr lang="zh-CN" altLang="en-US" sz="2400" dirty="0" smtClean="0"/>
                  <a:t>小偷应该带走哪几样东西？</a:t>
                </a:r>
                <a:endParaRPr lang="zh-CN" altLang="en-US"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456251" y="1700808"/>
                <a:ext cx="8230138" cy="2400657"/>
              </a:xfrm>
              <a:prstGeom prst="rect">
                <a:avLst/>
              </a:prstGeom>
              <a:blipFill rotWithShape="1">
                <a:blip r:embed="rId3"/>
                <a:stretch>
                  <a:fillRect l="-1185" t="-1015" r="-148" b="-2030"/>
                </a:stretch>
              </a:blipFill>
            </p:spPr>
            <p:txBody>
              <a:bodyPr/>
              <a:lstStyle/>
              <a:p>
                <a:r>
                  <a:rPr lang="zh-CN" altLang="en-US">
                    <a:noFill/>
                  </a:rPr>
                  <a:t> </a:t>
                </a:r>
              </a:p>
            </p:txBody>
          </p:sp>
        </mc:Fallback>
      </mc:AlternateContent>
      <p:sp>
        <p:nvSpPr>
          <p:cNvPr id="2" name="TextBox 1"/>
          <p:cNvSpPr txBox="1"/>
          <p:nvPr/>
        </p:nvSpPr>
        <p:spPr>
          <a:xfrm>
            <a:off x="485978" y="4131014"/>
            <a:ext cx="8073044" cy="2000548"/>
          </a:xfrm>
          <a:prstGeom prst="rect">
            <a:avLst/>
          </a:prstGeom>
          <a:noFill/>
        </p:spPr>
        <p:txBody>
          <a:bodyPr wrap="none" rtlCol="0">
            <a:spAutoFit/>
          </a:bodyPr>
          <a:lstStyle/>
          <a:p>
            <a:r>
              <a:rPr lang="zh-CN" altLang="en-US" sz="2400" dirty="0" smtClean="0">
                <a:solidFill>
                  <a:srgbClr val="000000"/>
                </a:solidFill>
              </a:rPr>
              <a:t>例：</a:t>
            </a:r>
            <a:endParaRPr lang="en-US" altLang="zh-CN" sz="2400" dirty="0" smtClean="0">
              <a:solidFill>
                <a:srgbClr val="000000"/>
              </a:solidFill>
            </a:endParaRPr>
          </a:p>
          <a:p>
            <a:pPr>
              <a:lnSpc>
                <a:spcPct val="125000"/>
              </a:lnSpc>
            </a:pPr>
            <a:r>
              <a:rPr lang="en-US" altLang="zh-CN" dirty="0"/>
              <a:t> </a:t>
            </a:r>
            <a:r>
              <a:rPr lang="en-US" altLang="zh-CN" dirty="0" smtClean="0"/>
              <a:t>      </a:t>
            </a:r>
            <a:r>
              <a:rPr lang="zh-CN" altLang="en-US" sz="2000" dirty="0"/>
              <a:t>假设有</a:t>
            </a:r>
            <a:r>
              <a:rPr lang="en-US" altLang="zh-CN" sz="2000" dirty="0"/>
              <a:t>12</a:t>
            </a:r>
            <a:r>
              <a:rPr lang="zh-CN" altLang="en-US" sz="2000" dirty="0"/>
              <a:t>件物品，质量分别为</a:t>
            </a:r>
            <a:r>
              <a:rPr lang="en-US" altLang="zh-CN" sz="2000" dirty="0"/>
              <a:t>2</a:t>
            </a:r>
            <a:r>
              <a:rPr lang="zh-CN" altLang="en-US" sz="2000" dirty="0"/>
              <a:t>磅、</a:t>
            </a:r>
            <a:r>
              <a:rPr lang="en-US" altLang="zh-CN" sz="2000" dirty="0"/>
              <a:t>5</a:t>
            </a:r>
            <a:r>
              <a:rPr lang="zh-CN" altLang="en-US" sz="2000" dirty="0"/>
              <a:t>磅、</a:t>
            </a:r>
            <a:r>
              <a:rPr lang="en-US" altLang="zh-CN" sz="2000" dirty="0"/>
              <a:t>18</a:t>
            </a:r>
            <a:r>
              <a:rPr lang="zh-CN" altLang="en-US" sz="2000" dirty="0"/>
              <a:t>磅、</a:t>
            </a:r>
            <a:r>
              <a:rPr lang="en-US" altLang="zh-CN" sz="2000" dirty="0"/>
              <a:t>3</a:t>
            </a:r>
            <a:r>
              <a:rPr lang="zh-CN" altLang="en-US" sz="2000" dirty="0"/>
              <a:t>磅</a:t>
            </a:r>
            <a:r>
              <a:rPr lang="zh-CN" altLang="en-US" sz="2000" dirty="0" smtClean="0"/>
              <a:t>、</a:t>
            </a:r>
            <a:r>
              <a:rPr lang="en-US" altLang="zh-CN" sz="2000" dirty="0" smtClean="0"/>
              <a:t>2</a:t>
            </a:r>
            <a:r>
              <a:rPr lang="zh-CN" altLang="en-US" sz="2000" dirty="0"/>
              <a:t>磅、</a:t>
            </a:r>
            <a:r>
              <a:rPr lang="en-US" altLang="zh-CN" sz="2000" dirty="0"/>
              <a:t>5</a:t>
            </a:r>
            <a:r>
              <a:rPr lang="zh-CN" altLang="en-US" sz="2000" dirty="0"/>
              <a:t>磅</a:t>
            </a:r>
            <a:r>
              <a:rPr lang="zh-CN" altLang="en-US" sz="2000" dirty="0" smtClean="0"/>
              <a:t>、</a:t>
            </a:r>
            <a:endParaRPr lang="en-US" altLang="zh-CN" sz="2000" dirty="0" smtClean="0"/>
          </a:p>
          <a:p>
            <a:pPr>
              <a:lnSpc>
                <a:spcPct val="125000"/>
              </a:lnSpc>
            </a:pPr>
            <a:r>
              <a:rPr lang="en-US" altLang="zh-CN" sz="2000" dirty="0" smtClean="0"/>
              <a:t>10</a:t>
            </a:r>
            <a:r>
              <a:rPr lang="zh-CN" altLang="en-US" sz="2000" dirty="0"/>
              <a:t>磅、</a:t>
            </a:r>
            <a:r>
              <a:rPr lang="en-US" altLang="zh-CN" sz="2000" dirty="0"/>
              <a:t>4</a:t>
            </a:r>
            <a:r>
              <a:rPr lang="zh-CN" altLang="en-US" sz="2000" dirty="0"/>
              <a:t>磅</a:t>
            </a:r>
            <a:r>
              <a:rPr lang="zh-CN" altLang="en-US" sz="2000" dirty="0" smtClean="0"/>
              <a:t>、</a:t>
            </a:r>
            <a:r>
              <a:rPr lang="en-US" altLang="zh-CN" sz="2000" dirty="0" smtClean="0"/>
              <a:t>11</a:t>
            </a:r>
            <a:r>
              <a:rPr lang="zh-CN" altLang="en-US" sz="2000" dirty="0"/>
              <a:t>磅、</a:t>
            </a:r>
            <a:r>
              <a:rPr lang="en-US" altLang="zh-CN" sz="2000" dirty="0"/>
              <a:t>7</a:t>
            </a:r>
            <a:r>
              <a:rPr lang="zh-CN" altLang="en-US" sz="2000" dirty="0"/>
              <a:t>磅、</a:t>
            </a:r>
            <a:r>
              <a:rPr lang="en-US" altLang="zh-CN" sz="2000" dirty="0"/>
              <a:t>14</a:t>
            </a:r>
            <a:r>
              <a:rPr lang="zh-CN" altLang="en-US" sz="2000" dirty="0"/>
              <a:t>磅、</a:t>
            </a:r>
            <a:r>
              <a:rPr lang="en-US" altLang="zh-CN" sz="2000" dirty="0"/>
              <a:t>6</a:t>
            </a:r>
            <a:r>
              <a:rPr lang="zh-CN" altLang="en-US" sz="2000" dirty="0"/>
              <a:t>磅，价值分别为</a:t>
            </a:r>
            <a:r>
              <a:rPr lang="en-US" altLang="zh-CN" sz="2000" dirty="0"/>
              <a:t>5</a:t>
            </a:r>
            <a:r>
              <a:rPr lang="zh-CN" altLang="en-US" sz="2000" dirty="0"/>
              <a:t>元、</a:t>
            </a:r>
            <a:r>
              <a:rPr lang="en-US" altLang="zh-CN" sz="2000" dirty="0"/>
              <a:t>10</a:t>
            </a:r>
            <a:r>
              <a:rPr lang="zh-CN" altLang="en-US" sz="2000" dirty="0"/>
              <a:t>元、</a:t>
            </a:r>
            <a:r>
              <a:rPr lang="en-US" altLang="zh-CN" sz="2000" dirty="0"/>
              <a:t>13</a:t>
            </a:r>
            <a:r>
              <a:rPr lang="zh-CN" altLang="en-US" sz="2000" dirty="0"/>
              <a:t>元</a:t>
            </a:r>
            <a:r>
              <a:rPr lang="zh-CN" altLang="en-US" sz="2000" dirty="0" smtClean="0"/>
              <a:t>、</a:t>
            </a:r>
            <a:endParaRPr lang="en-US" altLang="zh-CN" sz="2000" dirty="0" smtClean="0"/>
          </a:p>
          <a:p>
            <a:pPr>
              <a:lnSpc>
                <a:spcPct val="125000"/>
              </a:lnSpc>
            </a:pPr>
            <a:r>
              <a:rPr lang="en-US" altLang="zh-CN" sz="2000" dirty="0" smtClean="0"/>
              <a:t>4</a:t>
            </a:r>
            <a:r>
              <a:rPr lang="zh-CN" altLang="en-US" sz="2000" dirty="0"/>
              <a:t>元、</a:t>
            </a:r>
            <a:r>
              <a:rPr lang="en-US" altLang="zh-CN" sz="2000" dirty="0"/>
              <a:t>3</a:t>
            </a:r>
            <a:r>
              <a:rPr lang="zh-CN" altLang="en-US" sz="2000" dirty="0"/>
              <a:t>元、</a:t>
            </a:r>
            <a:r>
              <a:rPr lang="en-US" altLang="zh-CN" sz="2000" dirty="0"/>
              <a:t>11</a:t>
            </a:r>
            <a:r>
              <a:rPr lang="zh-CN" altLang="en-US" sz="2000" dirty="0"/>
              <a:t>元</a:t>
            </a:r>
            <a:r>
              <a:rPr lang="zh-CN" altLang="en-US" sz="2000" dirty="0" smtClean="0"/>
              <a:t>、</a:t>
            </a:r>
            <a:r>
              <a:rPr lang="en-US" altLang="zh-CN" sz="2000" dirty="0" smtClean="0"/>
              <a:t>13</a:t>
            </a:r>
            <a:r>
              <a:rPr lang="zh-CN" altLang="en-US" sz="2000" dirty="0"/>
              <a:t>元、</a:t>
            </a:r>
            <a:r>
              <a:rPr lang="en-US" altLang="zh-CN" sz="2000" dirty="0"/>
              <a:t>10</a:t>
            </a:r>
            <a:r>
              <a:rPr lang="zh-CN" altLang="en-US" sz="2000" dirty="0"/>
              <a:t>元、</a:t>
            </a:r>
            <a:r>
              <a:rPr lang="en-US" altLang="zh-CN" sz="2000" dirty="0"/>
              <a:t>8</a:t>
            </a:r>
            <a:r>
              <a:rPr lang="zh-CN" altLang="en-US" sz="2000" dirty="0"/>
              <a:t>元、</a:t>
            </a:r>
            <a:r>
              <a:rPr lang="en-US" altLang="zh-CN" sz="2000" dirty="0"/>
              <a:t>16</a:t>
            </a:r>
            <a:r>
              <a:rPr lang="zh-CN" altLang="en-US" sz="2000" dirty="0"/>
              <a:t>元、</a:t>
            </a:r>
            <a:r>
              <a:rPr lang="en-US" altLang="zh-CN" sz="2000" dirty="0"/>
              <a:t>7</a:t>
            </a:r>
            <a:r>
              <a:rPr lang="zh-CN" altLang="en-US" sz="2000" dirty="0"/>
              <a:t>元、</a:t>
            </a:r>
            <a:r>
              <a:rPr lang="en-US" altLang="zh-CN" sz="2000" dirty="0"/>
              <a:t>4</a:t>
            </a:r>
            <a:r>
              <a:rPr lang="zh-CN" altLang="en-US" sz="2000" dirty="0"/>
              <a:t>元，包的最大</a:t>
            </a:r>
            <a:r>
              <a:rPr lang="zh-CN" altLang="en-US" sz="2000" dirty="0" smtClean="0"/>
              <a:t>允</a:t>
            </a:r>
            <a:endParaRPr lang="en-US" altLang="zh-CN" sz="2000" dirty="0" smtClean="0"/>
          </a:p>
          <a:p>
            <a:pPr>
              <a:lnSpc>
                <a:spcPct val="125000"/>
              </a:lnSpc>
            </a:pPr>
            <a:r>
              <a:rPr lang="zh-CN" altLang="en-US" sz="2000" dirty="0" smtClean="0"/>
              <a:t>许</a:t>
            </a:r>
            <a:r>
              <a:rPr lang="zh-CN" altLang="en-US" sz="2000" dirty="0"/>
              <a:t>质量是</a:t>
            </a:r>
            <a:r>
              <a:rPr lang="en-US" altLang="zh-CN" sz="2000" dirty="0"/>
              <a:t>46</a:t>
            </a:r>
            <a:r>
              <a:rPr lang="zh-CN" altLang="en-US" sz="2000" dirty="0"/>
              <a:t>磅</a:t>
            </a:r>
          </a:p>
        </p:txBody>
      </p:sp>
    </p:spTree>
    <p:extLst>
      <p:ext uri="{BB962C8B-B14F-4D97-AF65-F5344CB8AC3E}">
        <p14:creationId xmlns:p14="http://schemas.microsoft.com/office/powerpoint/2010/main" val="644767569"/>
      </p:ext>
    </p:extLst>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Rot="1" noChangeArrowheads="1"/>
          </p:cNvSpPr>
          <p:nvPr>
            <p:ph type="ctrTitle"/>
          </p:nvPr>
        </p:nvSpPr>
        <p:spPr>
          <a:xfrm>
            <a:off x="3995936" y="908720"/>
            <a:ext cx="4786312" cy="1981200"/>
          </a:xfrm>
        </p:spPr>
        <p:txBody>
          <a:bodyPr/>
          <a:lstStyle/>
          <a:p>
            <a:pPr eaLnBrk="1" hangingPunct="1"/>
            <a:r>
              <a:rPr lang="zh-CN" altLang="en-US" dirty="0" smtClean="0"/>
              <a:t>模拟退火算法及其</a:t>
            </a:r>
            <a:r>
              <a:rPr lang="en-US" altLang="zh-CN" dirty="0" smtClean="0"/>
              <a:t>MATLAB</a:t>
            </a:r>
            <a:r>
              <a:rPr lang="zh-CN" altLang="en-US" dirty="0" smtClean="0"/>
              <a:t>实现</a:t>
            </a:r>
          </a:p>
        </p:txBody>
      </p:sp>
      <p:sp>
        <p:nvSpPr>
          <p:cNvPr id="2" name="副标题 1"/>
          <p:cNvSpPr>
            <a:spLocks noGrp="1"/>
          </p:cNvSpPr>
          <p:nvPr>
            <p:ph type="subTitle" idx="1"/>
          </p:nvPr>
        </p:nvSpPr>
        <p:spPr/>
        <p:txBody>
          <a:bodyPr/>
          <a:lstStyle/>
          <a:p>
            <a:r>
              <a:rPr lang="zh-CN" altLang="en-US" dirty="0" smtClean="0"/>
              <a:t>谢谢大家！</a:t>
            </a:r>
            <a:endParaRPr lang="zh-CN" altLang="en-US" dirty="0"/>
          </a:p>
        </p:txBody>
      </p:sp>
    </p:spTree>
    <p:extLst>
      <p:ext uri="{BB962C8B-B14F-4D97-AF65-F5344CB8AC3E}">
        <p14:creationId xmlns:p14="http://schemas.microsoft.com/office/powerpoint/2010/main" val="3271385020"/>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都市">
  <a:themeElements>
    <a:clrScheme name="都市">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都市">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都市">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7773</TotalTime>
  <Words>2730</Words>
  <Application>Microsoft Office PowerPoint</Application>
  <PresentationFormat>全屏显示(4:3)</PresentationFormat>
  <Paragraphs>325</Paragraphs>
  <Slides>30</Slides>
  <Notes>18</Notes>
  <HiddenSlides>0</HiddenSlides>
  <MMClips>0</MMClips>
  <ScaleCrop>false</ScaleCrop>
  <HeadingPairs>
    <vt:vector size="4" baseType="variant">
      <vt:variant>
        <vt:lpstr>主题</vt:lpstr>
      </vt:variant>
      <vt:variant>
        <vt:i4>1</vt:i4>
      </vt:variant>
      <vt:variant>
        <vt:lpstr>幻灯片标题</vt:lpstr>
      </vt:variant>
      <vt:variant>
        <vt:i4>30</vt:i4>
      </vt:variant>
    </vt:vector>
  </HeadingPairs>
  <TitlesOfParts>
    <vt:vector size="31" baseType="lpstr">
      <vt:lpstr>都市</vt:lpstr>
      <vt:lpstr>模拟退火算法及其MATLAB实现</vt:lpstr>
      <vt:lpstr>第6章  模拟退火算法及其MATLAB实现</vt:lpstr>
      <vt:lpstr>PowerPoint 演示文稿</vt:lpstr>
      <vt:lpstr>PowerPoint 演示文稿</vt:lpstr>
      <vt:lpstr>6.1 算法基本理论　</vt:lpstr>
      <vt:lpstr>6.1 算法基本理论　</vt:lpstr>
      <vt:lpstr>6.1 算法基本理论　</vt:lpstr>
      <vt:lpstr>PowerPoint 演示文稿</vt:lpstr>
      <vt:lpstr>6.1 算法基本理论　</vt:lpstr>
      <vt:lpstr>6.1 算法基本理论　</vt:lpstr>
      <vt:lpstr>6.1 算法基本理论　</vt:lpstr>
      <vt:lpstr>6.1 算法基本理论　</vt:lpstr>
      <vt:lpstr>6.1 算法基本理论　</vt:lpstr>
      <vt:lpstr>PowerPoint 演示文稿</vt:lpstr>
      <vt:lpstr>6.1 算法基本理论　</vt:lpstr>
      <vt:lpstr>6.1 算法基本理论　</vt:lpstr>
      <vt:lpstr>6.1 算法基本理论　</vt:lpstr>
      <vt:lpstr>6.1 算法基本理论　</vt:lpstr>
      <vt:lpstr>6.2 算法的MATLAB实现　</vt:lpstr>
      <vt:lpstr>PowerPoint 演示文稿</vt:lpstr>
      <vt:lpstr>6.2 算法的MATLAB实现　</vt:lpstr>
      <vt:lpstr>6.2 算法的MATLAB实现　</vt:lpstr>
      <vt:lpstr>6.2 算法的MATLAB实现　</vt:lpstr>
      <vt:lpstr>6.2 算法的MATLAB实现　</vt:lpstr>
      <vt:lpstr>6.2 算法的MATLAB实现　</vt:lpstr>
      <vt:lpstr>6.2 算法的MATLAB实现　</vt:lpstr>
      <vt:lpstr>6.2 算法的MATLAB实现　</vt:lpstr>
      <vt:lpstr>6.2 算法的MATLAB实现　</vt:lpstr>
      <vt:lpstr>6.3 应用实例：背包问题的求解　</vt:lpstr>
      <vt:lpstr>模拟退火算法及其MATLAB实现</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单片机原理及应用</dc:title>
  <dc:creator>周亮</dc:creator>
  <cp:lastModifiedBy>LYQ</cp:lastModifiedBy>
  <cp:revision>119</cp:revision>
  <dcterms:created xsi:type="dcterms:W3CDTF">2008-02-26T07:00:30Z</dcterms:created>
  <dcterms:modified xsi:type="dcterms:W3CDTF">2018-07-12T09:22:43Z</dcterms:modified>
</cp:coreProperties>
</file>