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3.xml" ContentType="application/vnd.openxmlformats-officedocument.them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ink/ink1.xml" ContentType="application/inkml+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73"/>
  </p:notesMasterIdLst>
  <p:sldIdLst>
    <p:sldId id="257" r:id="rId3"/>
    <p:sldId id="259" r:id="rId4"/>
    <p:sldId id="260" r:id="rId5"/>
    <p:sldId id="288" r:id="rId6"/>
    <p:sldId id="289" r:id="rId7"/>
    <p:sldId id="349" r:id="rId8"/>
    <p:sldId id="352" r:id="rId9"/>
    <p:sldId id="350" r:id="rId10"/>
    <p:sldId id="287" r:id="rId11"/>
    <p:sldId id="290" r:id="rId12"/>
    <p:sldId id="292" r:id="rId13"/>
    <p:sldId id="291" r:id="rId14"/>
    <p:sldId id="293" r:id="rId15"/>
    <p:sldId id="294" r:id="rId16"/>
    <p:sldId id="295" r:id="rId17"/>
    <p:sldId id="296" r:id="rId18"/>
    <p:sldId id="297" r:id="rId19"/>
    <p:sldId id="298" r:id="rId20"/>
    <p:sldId id="299" r:id="rId21"/>
    <p:sldId id="300" r:id="rId22"/>
    <p:sldId id="303" r:id="rId23"/>
    <p:sldId id="301" r:id="rId24"/>
    <p:sldId id="302" r:id="rId25"/>
    <p:sldId id="304" r:id="rId26"/>
    <p:sldId id="305" r:id="rId27"/>
    <p:sldId id="306" r:id="rId28"/>
    <p:sldId id="307" r:id="rId29"/>
    <p:sldId id="308" r:id="rId30"/>
    <p:sldId id="309" r:id="rId31"/>
    <p:sldId id="310" r:id="rId32"/>
    <p:sldId id="311" r:id="rId33"/>
    <p:sldId id="312" r:id="rId34"/>
    <p:sldId id="313" r:id="rId35"/>
    <p:sldId id="314" r:id="rId36"/>
    <p:sldId id="315"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33" r:id="rId55"/>
    <p:sldId id="334" r:id="rId56"/>
    <p:sldId id="335" r:id="rId57"/>
    <p:sldId id="336" r:id="rId58"/>
    <p:sldId id="337" r:id="rId59"/>
    <p:sldId id="338" r:id="rId60"/>
    <p:sldId id="339" r:id="rId61"/>
    <p:sldId id="340" r:id="rId62"/>
    <p:sldId id="341" r:id="rId63"/>
    <p:sldId id="342" r:id="rId64"/>
    <p:sldId id="343" r:id="rId65"/>
    <p:sldId id="344" r:id="rId66"/>
    <p:sldId id="345" r:id="rId67"/>
    <p:sldId id="346" r:id="rId68"/>
    <p:sldId id="347" r:id="rId69"/>
    <p:sldId id="348" r:id="rId70"/>
    <p:sldId id="285" r:id="rId71"/>
    <p:sldId id="286" r:id="rId72"/>
  </p:sldIdLst>
  <p:sldSz cx="12192000" cy="6858000"/>
  <p:notesSz cx="6858000" cy="9144000"/>
  <p:custDataLst>
    <p:tags r:id="rId7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9">
          <p15:clr>
            <a:srgbClr val="A4A3A4"/>
          </p15:clr>
        </p15:guide>
        <p15:guide id="2" pos="37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 id="2" name="HUAWEI" initials="H" lastIdx="1" clrIdx="1"/>
  <p:cmAuthor id="3" name="科研交流" initials="科" lastIdx="2"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945" autoAdjust="0"/>
    <p:restoredTop sz="94660"/>
  </p:normalViewPr>
  <p:slideViewPr>
    <p:cSldViewPr snapToGrid="0">
      <p:cViewPr varScale="1">
        <p:scale>
          <a:sx n="96" d="100"/>
          <a:sy n="96" d="100"/>
        </p:scale>
        <p:origin x="308" y="52"/>
      </p:cViewPr>
      <p:guideLst>
        <p:guide orient="horz" pos="2269"/>
        <p:guide pos="376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01-14T02:36:15.088"/>
    </inkml:context>
    <inkml:brush xml:id="br0">
      <inkml:brushProperty name="width" value="0.05292" units="cm"/>
      <inkml:brushProperty name="height" value="0.05292" units="cm"/>
      <inkml:brushProperty name="color" value="#FF0000"/>
    </inkml:brush>
  </inkml:definitions>
  <inkml:trace contextRef="#ctx0" brushRef="#br0">18556 11501 0,'18'0'47,"-18"-18"62,0 0-109,-18 18 16,18 18 109,0 0-109,18-18 62,-18-18-78,0 0 15,0 1 1,-18 34 78,18 1-79,18-18 157</inkml:trace>
  <inkml:trace contextRef="#ctx0" brushRef="#br0" timeOffset="1">18574 12912 0,'17'0'109,"1"0"-62,0-18-47,-1 0 16,-17 1-16,0-1 15,0-17 1,0 17 0,-17 18 31,-1 0-32,18 18 1,-18-1-16,18 1 15,0 0 17,18-18-32,0 0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slideMaster" Target="../slideMasters/slideMaster2.xml"/><Relationship Id="rId5" Type="http://schemas.openxmlformats.org/officeDocument/2006/relationships/tags" Target="../tags/tag73.xml"/><Relationship Id="rId4" Type="http://schemas.openxmlformats.org/officeDocument/2006/relationships/tags" Target="../tags/tag72.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6.xml"/><Relationship Id="rId7" Type="http://schemas.openxmlformats.org/officeDocument/2006/relationships/image" Target="../media/image1.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slideMaster" Target="../slideMasters/slideMaster2.xml"/><Relationship Id="rId5" Type="http://schemas.openxmlformats.org/officeDocument/2006/relationships/tags" Target="../tags/tag78.xml"/><Relationship Id="rId4" Type="http://schemas.openxmlformats.org/officeDocument/2006/relationships/tags" Target="../tags/tag77.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slideMaster" Target="../slideMasters/slideMaster2.xml"/><Relationship Id="rId5" Type="http://schemas.openxmlformats.org/officeDocument/2006/relationships/tags" Target="../tags/tag83.xml"/><Relationship Id="rId4" Type="http://schemas.openxmlformats.org/officeDocument/2006/relationships/tags" Target="../tags/tag8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9"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5" Type="http://schemas.openxmlformats.org/officeDocument/2006/relationships/slideMaster" Target="../slideMasters/slideMaster2.xml"/><Relationship Id="rId4" Type="http://schemas.openxmlformats.org/officeDocument/2006/relationships/tags" Target="../tags/tag10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07.xml"/><Relationship Id="rId7"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Master" Target="../slideMasters/slideMaster2.xml"/><Relationship Id="rId5" Type="http://schemas.openxmlformats.org/officeDocument/2006/relationships/tags" Target="../tags/tag115.xml"/><Relationship Id="rId4" Type="http://schemas.openxmlformats.org/officeDocument/2006/relationships/tags" Target="../tags/tag114.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5" Type="http://schemas.openxmlformats.org/officeDocument/2006/relationships/slideMaster" Target="../slideMasters/slideMaster2.xml"/><Relationship Id="rId4" Type="http://schemas.openxmlformats.org/officeDocument/2006/relationships/tags" Target="../tags/tag119.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slideMaster" Target="../slideMasters/slideMaster2.xml"/><Relationship Id="rId5" Type="http://schemas.openxmlformats.org/officeDocument/2006/relationships/tags" Target="../tags/tag124.xml"/><Relationship Id="rId4" Type="http://schemas.openxmlformats.org/officeDocument/2006/relationships/tags" Target="../tags/tag12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2023/1/14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2023/1/14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2023/1/14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2023/1/14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2023/1/14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2023/1/14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2023/1/14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2023/1/14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2023/1/14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12210" y="88018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12140" y="1757045"/>
            <a:ext cx="10968990" cy="455803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latin typeface="黑体" panose="02010609060101010101" charset="-122"/>
                <a:ea typeface="黑体" panose="02010609060101010101" charset="-122"/>
                <a:sym typeface="+mn-ea"/>
              </a:rPr>
              <a:t>      </a:t>
            </a:r>
            <a:r>
              <a:rPr lang="zh-CN" altLang="en-US" sz="2000">
                <a:latin typeface="黑体" panose="02010609060101010101" charset="-122"/>
                <a:ea typeface="黑体" panose="02010609060101010101" charset="-122"/>
                <a:sym typeface="+mn-ea"/>
              </a:rPr>
              <a:t>更多资料请关注公众号【老哥带你学数模】课件或代码请公众号回复</a:t>
            </a:r>
            <a:r>
              <a:rPr lang="en-US" altLang="zh-CN" sz="2000">
                <a:latin typeface="黑体" panose="02010609060101010101" charset="-122"/>
                <a:ea typeface="黑体" panose="02010609060101010101" charset="-122"/>
                <a:sym typeface="+mn-ea"/>
              </a:rPr>
              <a:t>“</a:t>
            </a:r>
            <a:r>
              <a:rPr lang="zh-CN" altLang="en-US" sz="2000">
                <a:latin typeface="黑体" panose="02010609060101010101" charset="-122"/>
                <a:ea typeface="黑体" panose="02010609060101010101" charset="-122"/>
                <a:sym typeface="+mn-ea"/>
              </a:rPr>
              <a:t>课件</a:t>
            </a:r>
            <a:r>
              <a:rPr lang="en-US" altLang="zh-CN" sz="2000">
                <a:latin typeface="黑体" panose="02010609060101010101" charset="-122"/>
                <a:ea typeface="黑体" panose="02010609060101010101" charset="-122"/>
                <a:sym typeface="+mn-ea"/>
              </a:rPr>
              <a:t>”</a:t>
            </a:r>
            <a:r>
              <a:rPr lang="zh-CN" altLang="en-US" sz="2000">
                <a:latin typeface="黑体" panose="02010609060101010101" charset="-122"/>
                <a:ea typeface="黑体" panose="02010609060101010101" charset="-122"/>
                <a:sym typeface="+mn-ea"/>
              </a:rPr>
              <a:t>，</a:t>
            </a:r>
            <a:r>
              <a:rPr lang="en-US" altLang="zh-CN" sz="2000">
                <a:latin typeface="黑体" panose="02010609060101010101" charset="-122"/>
                <a:ea typeface="黑体" panose="02010609060101010101" charset="-122"/>
                <a:sym typeface="+mn-ea"/>
              </a:rPr>
              <a:t>QQ</a:t>
            </a:r>
            <a:r>
              <a:rPr lang="zh-CN" altLang="en-US" sz="2000">
                <a:latin typeface="黑体" panose="02010609060101010101" charset="-122"/>
                <a:ea typeface="黑体" panose="02010609060101010101" charset="-122"/>
                <a:sym typeface="+mn-ea"/>
              </a:rPr>
              <a:t>群：</a:t>
            </a:r>
            <a:r>
              <a:rPr lang="en-US" altLang="zh-CN" sz="2000">
                <a:latin typeface="黑体" panose="02010609060101010101" charset="-122"/>
                <a:ea typeface="黑体" panose="02010609060101010101" charset="-122"/>
                <a:sym typeface="+mn-ea"/>
              </a:rPr>
              <a:t>720736320</a:t>
            </a:r>
            <a:endParaRPr lang="zh-CN" altLang="en-US" sz="2000">
              <a:latin typeface="黑体" panose="02010609060101010101" charset="-122"/>
              <a:ea typeface="黑体" panose="02010609060101010101" charset="-122"/>
              <a:sym typeface="+mn-ea"/>
            </a:endParaRPr>
          </a:p>
        </p:txBody>
      </p:sp>
      <p:pic>
        <p:nvPicPr>
          <p:cNvPr id="8" name="图片 7" descr="微信图片_20220302132228"/>
          <p:cNvPicPr>
            <a:picLocks noChangeAspect="1"/>
          </p:cNvPicPr>
          <p:nvPr userDrawn="1"/>
        </p:nvPicPr>
        <p:blipFill>
          <a:blip r:embed="rId7"/>
          <a:srcRect l="20216" t="15558" r="22709" b="38239"/>
          <a:stretch>
            <a:fillRect/>
          </a:stretch>
        </p:blipFill>
        <p:spPr>
          <a:xfrm>
            <a:off x="191135" y="-635"/>
            <a:ext cx="786765" cy="637540"/>
          </a:xfrm>
          <a:prstGeom prst="rect">
            <a:avLst/>
          </a:prstGeom>
        </p:spPr>
      </p:pic>
      <p:pic>
        <p:nvPicPr>
          <p:cNvPr id="9" name="图片 8" descr="微信图片_20220511160630"/>
          <p:cNvPicPr>
            <a:picLocks noChangeAspect="1"/>
          </p:cNvPicPr>
          <p:nvPr userDrawn="1"/>
        </p:nvPicPr>
        <p:blipFill>
          <a:blip r:embed="rId8"/>
          <a:srcRect l="19931" t="6829" r="26268" b="35046"/>
          <a:stretch>
            <a:fillRect/>
          </a:stretch>
        </p:blipFill>
        <p:spPr>
          <a:xfrm>
            <a:off x="-67310" y="6004560"/>
            <a:ext cx="680085" cy="734695"/>
          </a:xfrm>
          <a:prstGeom prst="rect">
            <a:avLst/>
          </a:prstGeom>
        </p:spPr>
      </p:pic>
      <p:sp>
        <p:nvSpPr>
          <p:cNvPr id="10" name="文本框 9"/>
          <p:cNvSpPr txBox="1"/>
          <p:nvPr userDrawn="1"/>
        </p:nvSpPr>
        <p:spPr>
          <a:xfrm>
            <a:off x="561340" y="6227445"/>
            <a:ext cx="2070100" cy="398780"/>
          </a:xfrm>
          <a:prstGeom prst="rect">
            <a:avLst/>
          </a:prstGeom>
          <a:noFill/>
        </p:spPr>
        <p:txBody>
          <a:bodyPr wrap="square" rtlCol="0">
            <a:spAutoFit/>
          </a:bodyPr>
          <a:lstStyle/>
          <a:p>
            <a:r>
              <a:rPr lang="zh-CN" altLang="en-US" sz="2000" b="1">
                <a:solidFill>
                  <a:srgbClr val="FF0000"/>
                </a:solidFill>
                <a:latin typeface="黑体" panose="02010609060101010101" charset="-122"/>
                <a:ea typeface="黑体" panose="02010609060101010101" charset="-122"/>
              </a:rPr>
              <a:t>数学建模老哥</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2023/1/14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2023/1/14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2023/1/14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2023/1/14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2023/1/14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2023/1/14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2023/1/14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67.xml"/><Relationship Id="rId2" Type="http://schemas.openxmlformats.org/officeDocument/2006/relationships/slideLayout" Target="../slideLayouts/slideLayout13.xml"/><Relationship Id="rId16" Type="http://schemas.openxmlformats.org/officeDocument/2006/relationships/tags" Target="../tags/tag6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65.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2023/1/14</a:t>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2023/1/14</a:t>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6.xml"/><Relationship Id="rId1" Type="http://schemas.openxmlformats.org/officeDocument/2006/relationships/tags" Target="../tags/tag12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slideLayout" Target="../slideLayouts/slideLayout18.xml"/><Relationship Id="rId2" Type="http://schemas.openxmlformats.org/officeDocument/2006/relationships/tags" Target="../tags/tag128.xml"/><Relationship Id="rId16" Type="http://schemas.openxmlformats.org/officeDocument/2006/relationships/tags" Target="../tags/tag142.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tags" Target="../tags/tag141.xml"/><Relationship Id="rId10" Type="http://schemas.openxmlformats.org/officeDocument/2006/relationships/tags" Target="../tags/tag136.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tags" Target="../tags/tag14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tags" Target="../tags/tag14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3.xml"/><Relationship Id="rId1" Type="http://schemas.openxmlformats.org/officeDocument/2006/relationships/tags" Target="../tags/tag145.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3.xml"/><Relationship Id="rId1" Type="http://schemas.openxmlformats.org/officeDocument/2006/relationships/tags" Target="../tags/tag146.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3.xml"/><Relationship Id="rId1" Type="http://schemas.openxmlformats.org/officeDocument/2006/relationships/tags" Target="../tags/tag14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3.xml"/><Relationship Id="rId1" Type="http://schemas.openxmlformats.org/officeDocument/2006/relationships/tags" Target="../tags/tag14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3.xml"/><Relationship Id="rId1" Type="http://schemas.openxmlformats.org/officeDocument/2006/relationships/tags" Target="../tags/tag14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3.xml"/><Relationship Id="rId1" Type="http://schemas.openxmlformats.org/officeDocument/2006/relationships/tags" Target="../tags/tag15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3.xml"/><Relationship Id="rId1" Type="http://schemas.openxmlformats.org/officeDocument/2006/relationships/tags" Target="../tags/tag15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153.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5.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156.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157.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wmf"/><Relationship Id="rId2" Type="http://schemas.openxmlformats.org/officeDocument/2006/relationships/slideLayout" Target="../slideLayouts/slideLayout13.xml"/><Relationship Id="rId1" Type="http://schemas.openxmlformats.org/officeDocument/2006/relationships/tags" Target="../tags/tag158.xml"/><Relationship Id="rId6" Type="http://schemas.openxmlformats.org/officeDocument/2006/relationships/oleObject" Target="../embeddings/oleObject2.bin"/><Relationship Id="rId5" Type="http://schemas.openxmlformats.org/officeDocument/2006/relationships/image" Target="../media/image22.w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wmf"/><Relationship Id="rId2" Type="http://schemas.openxmlformats.org/officeDocument/2006/relationships/slideLayout" Target="../slideLayouts/slideLayout13.xml"/><Relationship Id="rId1" Type="http://schemas.openxmlformats.org/officeDocument/2006/relationships/tags" Target="../tags/tag159.xml"/><Relationship Id="rId6" Type="http://schemas.openxmlformats.org/officeDocument/2006/relationships/oleObject" Target="../embeddings/oleObject3.bin"/><Relationship Id="rId5" Type="http://schemas.openxmlformats.org/officeDocument/2006/relationships/image" Target="../media/image22.w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3.xml"/><Relationship Id="rId1" Type="http://schemas.openxmlformats.org/officeDocument/2006/relationships/tags" Target="../tags/tag160.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3.xml"/><Relationship Id="rId1" Type="http://schemas.openxmlformats.org/officeDocument/2006/relationships/tags" Target="../tags/tag161.xml"/></Relationships>
</file>

<file path=ppt/slides/_rels/slide22.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30.wmf"/><Relationship Id="rId2" Type="http://schemas.openxmlformats.org/officeDocument/2006/relationships/slideLayout" Target="../slideLayouts/slideLayout13.xml"/><Relationship Id="rId1" Type="http://schemas.openxmlformats.org/officeDocument/2006/relationships/tags" Target="../tags/tag162.xml"/><Relationship Id="rId6" Type="http://schemas.openxmlformats.org/officeDocument/2006/relationships/image" Target="../media/image27.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29.wmf"/><Relationship Id="rId4" Type="http://schemas.openxmlformats.org/officeDocument/2006/relationships/image" Target="../media/image24.wmf"/><Relationship Id="rId9"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9.bin"/><Relationship Id="rId7"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tags" Target="../tags/tag163.xml"/><Relationship Id="rId6" Type="http://schemas.openxmlformats.org/officeDocument/2006/relationships/image" Target="../media/image32.wmf"/><Relationship Id="rId5" Type="http://schemas.openxmlformats.org/officeDocument/2006/relationships/oleObject" Target="../embeddings/oleObject10.bin"/><Relationship Id="rId10" Type="http://schemas.openxmlformats.org/officeDocument/2006/relationships/image" Target="../media/image30.wmf"/><Relationship Id="rId4" Type="http://schemas.openxmlformats.org/officeDocument/2006/relationships/image" Target="../media/image31.wmf"/><Relationship Id="rId9" Type="http://schemas.openxmlformats.org/officeDocument/2006/relationships/oleObject" Target="../embeddings/oleObject8.bin"/></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3.xml"/><Relationship Id="rId1" Type="http://schemas.openxmlformats.org/officeDocument/2006/relationships/tags" Target="../tags/tag165.xml"/><Relationship Id="rId6" Type="http://schemas.openxmlformats.org/officeDocument/2006/relationships/image" Target="../media/image32.wmf"/><Relationship Id="rId5" Type="http://schemas.openxmlformats.org/officeDocument/2006/relationships/oleObject" Target="../embeddings/oleObject12.bin"/><Relationship Id="rId4" Type="http://schemas.openxmlformats.org/officeDocument/2006/relationships/image" Target="../media/image31.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5.wmf"/><Relationship Id="rId12" Type="http://schemas.openxmlformats.org/officeDocument/2006/relationships/customXml" Target="../ink/ink1.xml"/><Relationship Id="rId2" Type="http://schemas.openxmlformats.org/officeDocument/2006/relationships/slideLayout" Target="../slideLayouts/slideLayout13.xml"/><Relationship Id="rId1" Type="http://schemas.openxmlformats.org/officeDocument/2006/relationships/tags" Target="../tags/tag166.xml"/><Relationship Id="rId6" Type="http://schemas.openxmlformats.org/officeDocument/2006/relationships/oleObject" Target="../embeddings/oleObject14.bin"/><Relationship Id="rId11" Type="http://schemas.openxmlformats.org/officeDocument/2006/relationships/image" Target="../media/image37.wmf"/><Relationship Id="rId5" Type="http://schemas.openxmlformats.org/officeDocument/2006/relationships/image" Target="../media/image34.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36.wmf"/></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9.wmf"/><Relationship Id="rId2" Type="http://schemas.openxmlformats.org/officeDocument/2006/relationships/slideLayout" Target="../slideLayouts/slideLayout13.xml"/><Relationship Id="rId1" Type="http://schemas.openxmlformats.org/officeDocument/2006/relationships/tags" Target="../tags/tag167.xml"/><Relationship Id="rId6" Type="http://schemas.openxmlformats.org/officeDocument/2006/relationships/oleObject" Target="../embeddings/oleObject18.bin"/><Relationship Id="rId5" Type="http://schemas.openxmlformats.org/officeDocument/2006/relationships/image" Target="../media/image38.wmf"/><Relationship Id="rId4" Type="http://schemas.openxmlformats.org/officeDocument/2006/relationships/oleObject" Target="../embeddings/oleObject17.bin"/></Relationships>
</file>

<file path=ppt/slides/_rels/slide28.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44.wmf"/><Relationship Id="rId2" Type="http://schemas.openxmlformats.org/officeDocument/2006/relationships/slideLayout" Target="../slideLayouts/slideLayout13.xml"/><Relationship Id="rId1" Type="http://schemas.openxmlformats.org/officeDocument/2006/relationships/tags" Target="../tags/tag168.xml"/><Relationship Id="rId6" Type="http://schemas.openxmlformats.org/officeDocument/2006/relationships/image" Target="../media/image41.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22.bin"/><Relationship Id="rId14" Type="http://schemas.openxmlformats.org/officeDocument/2006/relationships/image" Target="../media/image45.w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9.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170.xml"/><Relationship Id="rId4" Type="http://schemas.openxmlformats.org/officeDocument/2006/relationships/image" Target="../media/image21.jpe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3.xml"/><Relationship Id="rId1" Type="http://schemas.openxmlformats.org/officeDocument/2006/relationships/tags" Target="../tags/tag171.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13.xml"/><Relationship Id="rId1" Type="http://schemas.openxmlformats.org/officeDocument/2006/relationships/tags" Target="../tags/tag172.xml"/></Relationships>
</file>

<file path=ppt/slides/_rels/slide33.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13.xml"/><Relationship Id="rId1" Type="http://schemas.openxmlformats.org/officeDocument/2006/relationships/tags" Target="../tags/tag173.xml"/><Relationship Id="rId6" Type="http://schemas.openxmlformats.org/officeDocument/2006/relationships/image" Target="../media/image48.wmf"/><Relationship Id="rId5" Type="http://schemas.openxmlformats.org/officeDocument/2006/relationships/oleObject" Target="../embeddings/oleObject26.bin"/><Relationship Id="rId10" Type="http://schemas.openxmlformats.org/officeDocument/2006/relationships/image" Target="../media/image50.wmf"/><Relationship Id="rId4" Type="http://schemas.openxmlformats.org/officeDocument/2006/relationships/image" Target="../media/image47.wmf"/><Relationship Id="rId9" Type="http://schemas.openxmlformats.org/officeDocument/2006/relationships/oleObject" Target="../embeddings/oleObject28.bin"/></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7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3.xml"/><Relationship Id="rId1" Type="http://schemas.openxmlformats.org/officeDocument/2006/relationships/tags" Target="../tags/tag175.xml"/><Relationship Id="rId6" Type="http://schemas.openxmlformats.org/officeDocument/2006/relationships/image" Target="../media/image52.wmf"/><Relationship Id="rId5" Type="http://schemas.openxmlformats.org/officeDocument/2006/relationships/oleObject" Target="../embeddings/oleObject30.bin"/><Relationship Id="rId4" Type="http://schemas.openxmlformats.org/officeDocument/2006/relationships/image" Target="../media/image51.wmf"/></Relationships>
</file>

<file path=ppt/slides/_rels/slide36.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13.xml"/><Relationship Id="rId1" Type="http://schemas.openxmlformats.org/officeDocument/2006/relationships/tags" Target="../tags/tag176.xml"/><Relationship Id="rId6" Type="http://schemas.openxmlformats.org/officeDocument/2006/relationships/image" Target="../media/image54.wmf"/><Relationship Id="rId5" Type="http://schemas.openxmlformats.org/officeDocument/2006/relationships/oleObject" Target="../embeddings/oleObject32.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34.bin"/></Relationships>
</file>

<file path=ppt/slides/_rels/slide37.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40.bin"/><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57.wmf"/><Relationship Id="rId2" Type="http://schemas.openxmlformats.org/officeDocument/2006/relationships/slideLayout" Target="../slideLayouts/slideLayout13.xml"/><Relationship Id="rId16" Type="http://schemas.openxmlformats.org/officeDocument/2006/relationships/image" Target="../media/image59.wmf"/><Relationship Id="rId1" Type="http://schemas.openxmlformats.org/officeDocument/2006/relationships/tags" Target="../tags/tag177.xml"/><Relationship Id="rId6" Type="http://schemas.openxmlformats.org/officeDocument/2006/relationships/image" Target="../media/image54.wmf"/><Relationship Id="rId11" Type="http://schemas.openxmlformats.org/officeDocument/2006/relationships/oleObject" Target="../embeddings/oleObject39.bin"/><Relationship Id="rId5" Type="http://schemas.openxmlformats.org/officeDocument/2006/relationships/oleObject" Target="../embeddings/oleObject36.bin"/><Relationship Id="rId15" Type="http://schemas.openxmlformats.org/officeDocument/2006/relationships/oleObject" Target="../embeddings/oleObject41.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38.bin"/><Relationship Id="rId14" Type="http://schemas.openxmlformats.org/officeDocument/2006/relationships/image" Target="../media/image58.wmf"/></Relationships>
</file>

<file path=ppt/slides/_rels/slide38.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13.xml"/><Relationship Id="rId1" Type="http://schemas.openxmlformats.org/officeDocument/2006/relationships/tags" Target="../tags/tag178.xml"/><Relationship Id="rId6" Type="http://schemas.openxmlformats.org/officeDocument/2006/relationships/image" Target="../media/image52.wmf"/><Relationship Id="rId5" Type="http://schemas.openxmlformats.org/officeDocument/2006/relationships/oleObject" Target="../embeddings/oleObject43.bin"/><Relationship Id="rId4" Type="http://schemas.openxmlformats.org/officeDocument/2006/relationships/image" Target="../media/image51.wmf"/></Relationships>
</file>

<file path=ppt/slides/_rels/slide39.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13.xml"/><Relationship Id="rId1" Type="http://schemas.openxmlformats.org/officeDocument/2006/relationships/tags" Target="../tags/tag179.xml"/><Relationship Id="rId6" Type="http://schemas.openxmlformats.org/officeDocument/2006/relationships/image" Target="../media/image47.wmf"/><Relationship Id="rId5" Type="http://schemas.openxmlformats.org/officeDocument/2006/relationships/oleObject" Target="../embeddings/oleObject46.bin"/><Relationship Id="rId10" Type="http://schemas.openxmlformats.org/officeDocument/2006/relationships/image" Target="../media/image60.wmf"/><Relationship Id="rId4" Type="http://schemas.openxmlformats.org/officeDocument/2006/relationships/image" Target="../media/image52.wmf"/><Relationship Id="rId9" Type="http://schemas.openxmlformats.org/officeDocument/2006/relationships/oleObject" Target="../embeddings/oleObject48.bin"/></Relationships>
</file>

<file path=ppt/slides/_rels/slide40.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54.bin"/><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57.wmf"/><Relationship Id="rId2" Type="http://schemas.openxmlformats.org/officeDocument/2006/relationships/slideLayout" Target="../slideLayouts/slideLayout13.xml"/><Relationship Id="rId1" Type="http://schemas.openxmlformats.org/officeDocument/2006/relationships/tags" Target="../tags/tag180.xml"/><Relationship Id="rId6" Type="http://schemas.openxmlformats.org/officeDocument/2006/relationships/image" Target="../media/image54.wmf"/><Relationship Id="rId11" Type="http://schemas.openxmlformats.org/officeDocument/2006/relationships/oleObject" Target="../embeddings/oleObject53.bin"/><Relationship Id="rId5" Type="http://schemas.openxmlformats.org/officeDocument/2006/relationships/oleObject" Target="../embeddings/oleObject50.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52.bin"/><Relationship Id="rId14" Type="http://schemas.openxmlformats.org/officeDocument/2006/relationships/image" Target="../media/image61.wmf"/></Relationships>
</file>

<file path=ppt/slides/_rels/slide41.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60.bin"/><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58.wmf"/><Relationship Id="rId2" Type="http://schemas.openxmlformats.org/officeDocument/2006/relationships/slideLayout" Target="../slideLayouts/slideLayout13.xml"/><Relationship Id="rId1" Type="http://schemas.openxmlformats.org/officeDocument/2006/relationships/tags" Target="../tags/tag181.xml"/><Relationship Id="rId6" Type="http://schemas.openxmlformats.org/officeDocument/2006/relationships/image" Target="../media/image54.wmf"/><Relationship Id="rId11" Type="http://schemas.openxmlformats.org/officeDocument/2006/relationships/oleObject" Target="../embeddings/oleObject59.bin"/><Relationship Id="rId5" Type="http://schemas.openxmlformats.org/officeDocument/2006/relationships/oleObject" Target="../embeddings/oleObject56.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58.bin"/><Relationship Id="rId14" Type="http://schemas.openxmlformats.org/officeDocument/2006/relationships/image" Target="../media/image62.wmf"/></Relationships>
</file>

<file path=ppt/slides/_rels/slide42.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66.bin"/><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image" Target="../media/image59.wmf"/><Relationship Id="rId2" Type="http://schemas.openxmlformats.org/officeDocument/2006/relationships/slideLayout" Target="../slideLayouts/slideLayout13.xml"/><Relationship Id="rId1" Type="http://schemas.openxmlformats.org/officeDocument/2006/relationships/tags" Target="../tags/tag182.xml"/><Relationship Id="rId6" Type="http://schemas.openxmlformats.org/officeDocument/2006/relationships/image" Target="../media/image54.wmf"/><Relationship Id="rId11" Type="http://schemas.openxmlformats.org/officeDocument/2006/relationships/oleObject" Target="../embeddings/oleObject65.bin"/><Relationship Id="rId5" Type="http://schemas.openxmlformats.org/officeDocument/2006/relationships/oleObject" Target="../embeddings/oleObject62.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64.bin"/><Relationship Id="rId14" Type="http://schemas.openxmlformats.org/officeDocument/2006/relationships/image" Target="../media/image63.wmf"/></Relationships>
</file>

<file path=ppt/slides/_rels/slide43.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slideLayout" Target="../slideLayouts/slideLayout13.xml"/><Relationship Id="rId1" Type="http://schemas.openxmlformats.org/officeDocument/2006/relationships/tags" Target="../tags/tag183.xml"/><Relationship Id="rId6" Type="http://schemas.openxmlformats.org/officeDocument/2006/relationships/image" Target="../media/image64.wmf"/><Relationship Id="rId5" Type="http://schemas.openxmlformats.org/officeDocument/2006/relationships/oleObject" Target="../embeddings/oleObject68.bin"/><Relationship Id="rId4" Type="http://schemas.openxmlformats.org/officeDocument/2006/relationships/image" Target="../media/image60.wm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5.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3.xml"/><Relationship Id="rId1" Type="http://schemas.openxmlformats.org/officeDocument/2006/relationships/tags" Target="../tags/tag186.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8.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9.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0.xml"/></Relationships>
</file>

<file path=ppt/slides/_rels/slide5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13.xml"/><Relationship Id="rId1" Type="http://schemas.openxmlformats.org/officeDocument/2006/relationships/tags" Target="../tags/tag191.xml"/></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13.xml"/><Relationship Id="rId1" Type="http://schemas.openxmlformats.org/officeDocument/2006/relationships/tags" Target="../tags/tag19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3.xml"/></Relationships>
</file>

<file path=ppt/slides/_rels/slide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13.xml"/><Relationship Id="rId1" Type="http://schemas.openxmlformats.org/officeDocument/2006/relationships/tags" Target="../tags/tag194.xml"/><Relationship Id="rId4" Type="http://schemas.openxmlformats.org/officeDocument/2006/relationships/image" Target="../media/image71.png"/></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13.xml"/><Relationship Id="rId1" Type="http://schemas.openxmlformats.org/officeDocument/2006/relationships/tags" Target="../tags/tag195.xml"/><Relationship Id="rId4" Type="http://schemas.openxmlformats.org/officeDocument/2006/relationships/image" Target="../media/image73.png"/></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13.xml"/><Relationship Id="rId1" Type="http://schemas.openxmlformats.org/officeDocument/2006/relationships/tags" Target="../tags/tag196.xml"/><Relationship Id="rId5" Type="http://schemas.openxmlformats.org/officeDocument/2006/relationships/image" Target="../media/image67.png"/><Relationship Id="rId4" Type="http://schemas.openxmlformats.org/officeDocument/2006/relationships/image" Target="../media/image66.emf"/></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8.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9.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0.xml"/></Relationships>
</file>

<file path=ppt/slides/_rels/slide6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13.xml"/><Relationship Id="rId1" Type="http://schemas.openxmlformats.org/officeDocument/2006/relationships/tags" Target="../tags/tag201.xml"/></Relationships>
</file>

<file path=ppt/slides/_rels/slide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slideLayout" Target="../slideLayouts/slideLayout13.xml"/><Relationship Id="rId1" Type="http://schemas.openxmlformats.org/officeDocument/2006/relationships/tags" Target="../tags/tag202.xml"/></Relationships>
</file>

<file path=ppt/slides/_rels/slide6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slideLayout" Target="../slideLayouts/slideLayout13.xml"/><Relationship Id="rId1" Type="http://schemas.openxmlformats.org/officeDocument/2006/relationships/tags" Target="../tags/tag203.xml"/></Relationships>
</file>

<file path=ppt/slides/_rels/slide6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13.xml"/><Relationship Id="rId1" Type="http://schemas.openxmlformats.org/officeDocument/2006/relationships/tags" Target="../tags/tag204.xml"/></Relationships>
</file>

<file path=ppt/slides/_rels/slide6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13.xml"/><Relationship Id="rId1" Type="http://schemas.openxmlformats.org/officeDocument/2006/relationships/tags" Target="../tags/tag205.xml"/></Relationships>
</file>

<file path=ppt/slides/_rels/slide6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slideLayout" Target="../slideLayouts/slideLayout13.xml"/><Relationship Id="rId1" Type="http://schemas.openxmlformats.org/officeDocument/2006/relationships/tags" Target="../tags/tag206.xml"/></Relationships>
</file>

<file path=ppt/slides/_rels/slide6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13.xml"/><Relationship Id="rId1" Type="http://schemas.openxmlformats.org/officeDocument/2006/relationships/tags" Target="../tags/tag207.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8.xml"/></Relationships>
</file>

<file path=ppt/slides/_rels/slide6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slideLayout" Target="../slideLayouts/slideLayout18.xml"/><Relationship Id="rId1" Type="http://schemas.openxmlformats.org/officeDocument/2006/relationships/tags" Target="../tags/tag209.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ctrTitle" hasCustomPrompt="1"/>
            <p:custDataLst>
              <p:tags r:id="rId2"/>
            </p:custDataLst>
          </p:nvPr>
        </p:nvSpPr>
        <p:spPr>
          <a:xfrm>
            <a:off x="913758" y="1283970"/>
            <a:ext cx="10655314"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pPr algn="ctr"/>
            <a:r>
              <a:rPr lang="zh-CN" altLang="en-US" sz="5400" b="1" noProof="1">
                <a:effectLst>
                  <a:outerShdw blurRad="38100" dist="19050" dir="2700000" algn="tl" rotWithShape="0">
                    <a:schemeClr val="dk1">
                      <a:alpha val="40000"/>
                    </a:schemeClr>
                  </a:outerShdw>
                </a:effectLst>
                <a:latin typeface="Arial" panose="020B0604020202020204" pitchFamily="34" charset="0"/>
                <a:sym typeface="+mn-ea"/>
              </a:rPr>
              <a:t>预测类模型基本原理及编程实现</a:t>
            </a:r>
            <a:endParaRPr lang="zh-CN" altLang="en-US" sz="5400" b="1" noProof="1">
              <a:solidFill>
                <a:schemeClr val="tx1"/>
              </a:solidFill>
              <a:effectLst>
                <a:outerShdw blurRad="38100" dist="19050" dir="2700000" algn="tl" rotWithShape="0">
                  <a:schemeClr val="dk1">
                    <a:alpha val="40000"/>
                  </a:schemeClr>
                </a:outerShdw>
              </a:effectLst>
              <a:latin typeface="Arial" panose="020B0604020202020204" pitchFamily="34" charset="0"/>
              <a:ea typeface="宋体" panose="02010600030101010101" pitchFamily="2" charset="-122"/>
              <a:cs typeface="+mn-cs"/>
              <a:sym typeface="+mn-ea"/>
            </a:endParaRPr>
          </a:p>
        </p:txBody>
      </p:sp>
      <p:sp>
        <p:nvSpPr>
          <p:cNvPr id="10" name="圆角矩形 9"/>
          <p:cNvSpPr/>
          <p:nvPr userDrawn="1"/>
        </p:nvSpPr>
        <p:spPr>
          <a:xfrm>
            <a:off x="2025650" y="1512570"/>
            <a:ext cx="8431530" cy="882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500" dirty="0">
                <a:sym typeface="+mn-ea"/>
              </a:rPr>
              <a:t>2023</a:t>
            </a:r>
            <a:r>
              <a:rPr lang="zh-CN" altLang="en-US" sz="4500" dirty="0">
                <a:sym typeface="+mn-ea"/>
              </a:rPr>
              <a:t>数学建模美赛保奖培训班</a:t>
            </a:r>
            <a:endParaRPr lang="zh-CN" altLang="en-US" sz="4500" dirty="0">
              <a:latin typeface="黑体" panose="02010609060101010101" charset="-122"/>
              <a:ea typeface="黑体" panose="02010609060101010101" charset="-122"/>
              <a:sym typeface="+mn-ea"/>
            </a:endParaRPr>
          </a:p>
        </p:txBody>
      </p:sp>
      <p:sp>
        <p:nvSpPr>
          <p:cNvPr id="11" name="文本框 10"/>
          <p:cNvSpPr txBox="1"/>
          <p:nvPr userDrawn="1"/>
        </p:nvSpPr>
        <p:spPr>
          <a:xfrm>
            <a:off x="2550160" y="4935220"/>
            <a:ext cx="7382510" cy="398780"/>
          </a:xfrm>
          <a:prstGeom prst="rect">
            <a:avLst/>
          </a:prstGeom>
          <a:noFill/>
        </p:spPr>
        <p:txBody>
          <a:bodyPr wrap="square" rtlCol="0">
            <a:spAutoFit/>
          </a:bodyPr>
          <a:lstStyle/>
          <a:p>
            <a:pPr algn="ctr"/>
            <a:r>
              <a:rPr lang="zh-CN" altLang="en-US" sz="2000">
                <a:solidFill>
                  <a:srgbClr val="FF0000"/>
                </a:solidFill>
                <a:latin typeface="黑体" panose="02010609060101010101" charset="-122"/>
                <a:ea typeface="黑体" panose="02010609060101010101" charset="-122"/>
              </a:rPr>
              <a:t>微信公众号</a:t>
            </a:r>
            <a:r>
              <a:rPr lang="en-US" altLang="zh-CN" sz="2000">
                <a:solidFill>
                  <a:srgbClr val="FF0000"/>
                </a:solidFill>
                <a:latin typeface="黑体" panose="02010609060101010101" charset="-122"/>
                <a:ea typeface="黑体" panose="02010609060101010101" charset="-122"/>
              </a:rPr>
              <a:t> / B</a:t>
            </a:r>
            <a:r>
              <a:rPr lang="zh-CN" altLang="en-US" sz="2000">
                <a:solidFill>
                  <a:srgbClr val="FF0000"/>
                </a:solidFill>
                <a:latin typeface="黑体" panose="02010609060101010101" charset="-122"/>
                <a:ea typeface="黑体" panose="02010609060101010101" charset="-122"/>
              </a:rPr>
              <a:t>站号：数学建模老哥</a:t>
            </a:r>
          </a:p>
        </p:txBody>
      </p:sp>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黑体" panose="02010609060101010101" charset="-122"/>
                <a:ea typeface="黑体" panose="02010609060101010101" charset="-122"/>
                <a:sym typeface="+mn-ea"/>
              </a:rPr>
              <a:t>更多资料请关注公众号【数学建模老哥】课件或代码请公众号回复</a:t>
            </a:r>
            <a:r>
              <a:rPr lang="en-US" altLang="zh-CN" sz="2000">
                <a:latin typeface="黑体" panose="02010609060101010101" charset="-122"/>
                <a:ea typeface="黑体" panose="02010609060101010101" charset="-122"/>
                <a:sym typeface="+mn-ea"/>
              </a:rPr>
              <a:t>“</a:t>
            </a:r>
            <a:r>
              <a:rPr lang="zh-CN" altLang="en-US" sz="2000">
                <a:latin typeface="黑体" panose="02010609060101010101" charset="-122"/>
                <a:ea typeface="黑体" panose="02010609060101010101" charset="-122"/>
                <a:sym typeface="+mn-ea"/>
              </a:rPr>
              <a:t>课件</a:t>
            </a:r>
            <a:r>
              <a:rPr lang="en-US" altLang="zh-CN" sz="2000">
                <a:latin typeface="黑体" panose="02010609060101010101" charset="-122"/>
                <a:ea typeface="黑体" panose="02010609060101010101" charset="-122"/>
                <a:sym typeface="+mn-ea"/>
              </a:rPr>
              <a:t>”</a:t>
            </a:r>
            <a:r>
              <a:rPr lang="zh-CN" altLang="en-US" sz="2000">
                <a:latin typeface="黑体" panose="02010609060101010101" charset="-122"/>
                <a:ea typeface="黑体" panose="02010609060101010101" charset="-122"/>
                <a:sym typeface="+mn-ea"/>
              </a:rPr>
              <a:t>，粉丝</a:t>
            </a:r>
            <a:r>
              <a:rPr lang="en-US" altLang="zh-CN" sz="2000">
                <a:latin typeface="黑体" panose="02010609060101010101" charset="-122"/>
                <a:ea typeface="黑体" panose="02010609060101010101" charset="-122"/>
                <a:sym typeface="+mn-ea"/>
              </a:rPr>
              <a:t>QQ</a:t>
            </a:r>
            <a:r>
              <a:rPr lang="zh-CN" altLang="en-US" sz="2000">
                <a:latin typeface="黑体" panose="02010609060101010101" charset="-122"/>
                <a:ea typeface="黑体" panose="02010609060101010101" charset="-122"/>
                <a:sym typeface="+mn-ea"/>
              </a:rPr>
              <a:t>群：</a:t>
            </a:r>
            <a:r>
              <a:rPr lang="en-US" altLang="zh-CN" sz="2000">
                <a:latin typeface="黑体" panose="02010609060101010101" charset="-122"/>
                <a:ea typeface="黑体" panose="02010609060101010101" charset="-122"/>
                <a:sym typeface="+mn-ea"/>
              </a:rPr>
              <a:t>1077734962</a:t>
            </a:r>
            <a:endParaRPr lang="zh-CN" altLang="en-US" sz="2000">
              <a:latin typeface="黑体" panose="02010609060101010101" charset="-122"/>
              <a:ea typeface="黑体" panose="02010609060101010101" charset="-122"/>
              <a:sym typeface="+mn-ea"/>
            </a:endParaRPr>
          </a:p>
        </p:txBody>
      </p:sp>
      <p:pic>
        <p:nvPicPr>
          <p:cNvPr id="5" name="图片 4" descr="微信图片_20220511160630"/>
          <p:cNvPicPr>
            <a:picLocks noChangeAspect="1"/>
          </p:cNvPicPr>
          <p:nvPr/>
        </p:nvPicPr>
        <p:blipFill>
          <a:blip r:embed="rId4"/>
          <a:srcRect l="19931" t="6829" r="26268" b="35046"/>
          <a:stretch>
            <a:fillRect/>
          </a:stretch>
        </p:blipFill>
        <p:spPr>
          <a:xfrm>
            <a:off x="-67310" y="5801995"/>
            <a:ext cx="867410" cy="937260"/>
          </a:xfrm>
          <a:prstGeom prst="rect">
            <a:avLst/>
          </a:prstGeom>
        </p:spPr>
      </p:pic>
      <p:sp>
        <p:nvSpPr>
          <p:cNvPr id="4" name="文本框 3"/>
          <p:cNvSpPr txBox="1"/>
          <p:nvPr/>
        </p:nvSpPr>
        <p:spPr>
          <a:xfrm>
            <a:off x="772160" y="6121400"/>
            <a:ext cx="2019300" cy="460375"/>
          </a:xfrm>
          <a:prstGeom prst="rect">
            <a:avLst/>
          </a:prstGeom>
          <a:noFill/>
        </p:spPr>
        <p:txBody>
          <a:bodyPr wrap="none" rtlCol="0">
            <a:spAutoFit/>
          </a:bodyPr>
          <a:lstStyle/>
          <a:p>
            <a:r>
              <a:rPr lang="zh-CN" altLang="en-US" sz="2400" b="1">
                <a:solidFill>
                  <a:srgbClr val="FF0000"/>
                </a:solidFill>
                <a:latin typeface="黑体" panose="02010609060101010101" charset="-122"/>
                <a:ea typeface="黑体" panose="02010609060101010101" charset="-122"/>
              </a:rPr>
              <a:t>数学建模老哥</a:t>
            </a:r>
          </a:p>
        </p:txBody>
      </p:sp>
      <p:sp>
        <p:nvSpPr>
          <p:cNvPr id="6" name="文本框 5"/>
          <p:cNvSpPr txBox="1"/>
          <p:nvPr/>
        </p:nvSpPr>
        <p:spPr>
          <a:xfrm>
            <a:off x="3887470" y="4149090"/>
            <a:ext cx="4064000" cy="491490"/>
          </a:xfrm>
          <a:prstGeom prst="rect">
            <a:avLst/>
          </a:prstGeom>
          <a:noFill/>
        </p:spPr>
        <p:txBody>
          <a:bodyPr wrap="square" rtlCol="0">
            <a:spAutoFit/>
          </a:bodyPr>
          <a:lstStyle/>
          <a:p>
            <a:pPr algn="ctr"/>
            <a:r>
              <a:rPr lang="zh-CN" altLang="en-US" sz="2600" dirty="0">
                <a:latin typeface="黑体" panose="02010609060101010101" charset="-122"/>
                <a:ea typeface="黑体" panose="02010609060101010101" charset="-122"/>
                <a:cs typeface="黑体" panose="02010609060101010101" charset="-122"/>
              </a:rPr>
              <a:t>主讲人：韩老师</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887096" y="1393190"/>
            <a:ext cx="1851660" cy="768350"/>
          </a:xfrm>
          <a:prstGeom prst="rect">
            <a:avLst/>
          </a:prstGeom>
          <a:noFill/>
        </p:spPr>
        <p:txBody>
          <a:bodyPr wrap="square" rtlCol="0">
            <a:normAutofit fontScale="95000"/>
          </a:bodyPr>
          <a:lstStyle/>
          <a:p>
            <a:pPr algn="r"/>
            <a:r>
              <a:rPr lang="zh-CN" altLang="en-US" sz="4400" b="1" spc="300" dirty="0">
                <a:solidFill>
                  <a:schemeClr val="tx1">
                    <a:lumMod val="85000"/>
                    <a:lumOff val="15000"/>
                  </a:schemeClr>
                </a:solidFill>
                <a:latin typeface="Arial" panose="020B0604020202020204" pitchFamily="34" charset="0"/>
                <a:ea typeface="微软雅黑" panose="020B0503020204020204" charset="-122"/>
                <a:sym typeface="Arial" panose="020B0604020202020204" pitchFamily="34" charset="0"/>
              </a:rPr>
              <a:t>目录</a:t>
            </a:r>
          </a:p>
        </p:txBody>
      </p:sp>
      <p:sp>
        <p:nvSpPr>
          <p:cNvPr id="7" name="文本框 6"/>
          <p:cNvSpPr txBox="1"/>
          <p:nvPr>
            <p:custDataLst>
              <p:tags r:id="rId3"/>
            </p:custDataLst>
          </p:nvPr>
        </p:nvSpPr>
        <p:spPr>
          <a:xfrm>
            <a:off x="887095" y="2161540"/>
            <a:ext cx="1851660" cy="368300"/>
          </a:xfrm>
          <a:prstGeom prst="rect">
            <a:avLst/>
          </a:prstGeom>
          <a:noFill/>
        </p:spPr>
        <p:txBody>
          <a:bodyPr wrap="square" rtlCol="0">
            <a:normAutofit/>
          </a:bodyPr>
          <a:lstStyle/>
          <a:p>
            <a:pPr algn="r"/>
            <a:r>
              <a:rPr lang="en-US" altLang="zh-CN" spc="300" dirty="0">
                <a:solidFill>
                  <a:schemeClr val="tx1">
                    <a:lumMod val="65000"/>
                    <a:lumOff val="35000"/>
                  </a:schemeClr>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CONTENTS</a:t>
            </a:r>
          </a:p>
        </p:txBody>
      </p:sp>
      <p:sp>
        <p:nvSpPr>
          <p:cNvPr id="8" name="矩形 7"/>
          <p:cNvSpPr/>
          <p:nvPr>
            <p:custDataLst>
              <p:tags r:id="rId4"/>
            </p:custDataLst>
          </p:nvPr>
        </p:nvSpPr>
        <p:spPr>
          <a:xfrm>
            <a:off x="2897505" y="1515110"/>
            <a:ext cx="76200" cy="922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7" name="文本框 16"/>
          <p:cNvSpPr txBox="1"/>
          <p:nvPr>
            <p:custDataLst>
              <p:tags r:id="rId5"/>
            </p:custDataLst>
          </p:nvPr>
        </p:nvSpPr>
        <p:spPr>
          <a:xfrm>
            <a:off x="3728720" y="174751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charset="-122"/>
                <a:cs typeface="Arial" panose="020B0604020202020204" pitchFamily="34" charset="0"/>
                <a:sym typeface="Arial" panose="020B0604020202020204" pitchFamily="34" charset="0"/>
              </a:rPr>
              <a:t>01.</a:t>
            </a:r>
          </a:p>
        </p:txBody>
      </p:sp>
      <p:sp>
        <p:nvSpPr>
          <p:cNvPr id="18" name="文本框 17"/>
          <p:cNvSpPr txBox="1"/>
          <p:nvPr>
            <p:custDataLst>
              <p:tags r:id="rId6"/>
            </p:custDataLst>
          </p:nvPr>
        </p:nvSpPr>
        <p:spPr>
          <a:xfrm>
            <a:off x="4838700" y="1700315"/>
            <a:ext cx="5226050" cy="831850"/>
          </a:xfrm>
          <a:prstGeom prst="rect">
            <a:avLst/>
          </a:prstGeom>
          <a:noFill/>
        </p:spPr>
        <p:txBody>
          <a:bodyPr wrap="square" bIns="46990" rtlCol="0" anchor="ctr" anchorCtr="0">
            <a:noAutofit/>
          </a:bodyPr>
          <a:lstStyle/>
          <a:p>
            <a:pPr>
              <a:lnSpc>
                <a:spcPct val="120000"/>
              </a:lnSpc>
            </a:pPr>
            <a:r>
              <a:rPr lang="zh-CN" altLang="en-US" sz="3200" b="1" strike="noStrike" noProof="1">
                <a:effectLst>
                  <a:outerShdw blurRad="38100" dist="38100" dir="2700000">
                    <a:srgbClr val="C0C0C0"/>
                  </a:outerShdw>
                </a:effectLst>
                <a:latin typeface="Arial" panose="020B0604020202020204" pitchFamily="34" charset="0"/>
                <a:ea typeface="宋体" panose="02010600030101010101" pitchFamily="2" charset="-122"/>
                <a:cs typeface="+mn-cs"/>
              </a:rPr>
              <a:t>线性回归基本原理与应用</a:t>
            </a:r>
            <a:endParaRPr lang="en-US" altLang="zh-CN" sz="30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26" name="文本框 25"/>
          <p:cNvSpPr txBox="1"/>
          <p:nvPr>
            <p:custDataLst>
              <p:tags r:id="rId7"/>
            </p:custDataLst>
          </p:nvPr>
        </p:nvSpPr>
        <p:spPr>
          <a:xfrm>
            <a:off x="3728720" y="2647000"/>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charset="-122"/>
                <a:cs typeface="Arial" panose="020B0604020202020204" pitchFamily="34" charset="0"/>
                <a:sym typeface="Arial" panose="020B0604020202020204" pitchFamily="34" charset="0"/>
              </a:rPr>
              <a:t>02.</a:t>
            </a:r>
          </a:p>
        </p:txBody>
      </p:sp>
      <p:sp>
        <p:nvSpPr>
          <p:cNvPr id="27" name="文本框 26"/>
          <p:cNvSpPr txBox="1"/>
          <p:nvPr>
            <p:custDataLst>
              <p:tags r:id="rId8"/>
            </p:custDataLst>
          </p:nvPr>
        </p:nvSpPr>
        <p:spPr>
          <a:xfrm>
            <a:off x="4838700" y="2646999"/>
            <a:ext cx="4779010" cy="829945"/>
          </a:xfrm>
          <a:prstGeom prst="rect">
            <a:avLst/>
          </a:prstGeom>
          <a:noFill/>
        </p:spPr>
        <p:txBody>
          <a:bodyPr wrap="square" bIns="46990" rtlCol="0" anchor="ctr" anchorCtr="0">
            <a:normAutofit/>
          </a:bodyPr>
          <a:lstStyle/>
          <a:p>
            <a:pPr>
              <a:lnSpc>
                <a:spcPct val="120000"/>
              </a:lnSpc>
            </a:pPr>
            <a:r>
              <a:rPr lang="zh-CN" altLang="en-US" sz="3200" b="1" strike="noStrike" noProof="1">
                <a:effectLst>
                  <a:outerShdw blurRad="38100" dist="38100" dir="2700000">
                    <a:srgbClr val="C0C0C0"/>
                  </a:outerShdw>
                </a:effectLst>
                <a:latin typeface="Arial" panose="020B0604020202020204" pitchFamily="34" charset="0"/>
                <a:ea typeface="宋体" panose="02010600030101010101" pitchFamily="2" charset="-122"/>
                <a:cs typeface="+mn-cs"/>
              </a:rPr>
              <a:t>决策树基本原理与应用</a:t>
            </a:r>
            <a:endParaRPr lang="zh-CN" altLang="en-US" sz="3000" dirty="0">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29" name="文本框 28"/>
          <p:cNvSpPr txBox="1"/>
          <p:nvPr>
            <p:custDataLst>
              <p:tags r:id="rId9"/>
            </p:custDataLst>
          </p:nvPr>
        </p:nvSpPr>
        <p:spPr>
          <a:xfrm>
            <a:off x="3728720" y="354921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charset="-122"/>
                <a:cs typeface="Arial" panose="020B0604020202020204" pitchFamily="34" charset="0"/>
                <a:sym typeface="Arial" panose="020B0604020202020204" pitchFamily="34" charset="0"/>
              </a:rPr>
              <a:t>03.</a:t>
            </a:r>
          </a:p>
        </p:txBody>
      </p:sp>
      <p:sp>
        <p:nvSpPr>
          <p:cNvPr id="30" name="文本框 29"/>
          <p:cNvSpPr txBox="1"/>
          <p:nvPr>
            <p:custDataLst>
              <p:tags r:id="rId10"/>
            </p:custDataLst>
          </p:nvPr>
        </p:nvSpPr>
        <p:spPr>
          <a:xfrm>
            <a:off x="4838700" y="3404439"/>
            <a:ext cx="4779010" cy="974725"/>
          </a:xfrm>
          <a:prstGeom prst="rect">
            <a:avLst/>
          </a:prstGeom>
          <a:noFill/>
        </p:spPr>
        <p:txBody>
          <a:bodyPr wrap="square" bIns="46990" rtlCol="0" anchor="ctr" anchorCtr="0">
            <a:normAutofit fontScale="92500"/>
          </a:bodyPr>
          <a:lstStyle/>
          <a:p>
            <a:pPr>
              <a:lnSpc>
                <a:spcPct val="120000"/>
              </a:lnSpc>
            </a:pPr>
            <a:r>
              <a:rPr lang="zh-CN" altLang="en-US" sz="3200" b="1" strike="noStrike" noProof="1">
                <a:effectLst>
                  <a:outerShdw blurRad="38100" dist="38100" dir="2700000">
                    <a:srgbClr val="C0C0C0"/>
                  </a:outerShdw>
                </a:effectLst>
                <a:latin typeface="Arial" panose="020B0604020202020204" pitchFamily="34" charset="0"/>
                <a:ea typeface="宋体" panose="02010600030101010101" pitchFamily="2" charset="-122"/>
                <a:cs typeface="+mn-cs"/>
              </a:rPr>
              <a:t>朴素贝叶斯基本原理与应用</a:t>
            </a:r>
            <a:endParaRPr lang="zh-CN" altLang="en-US" sz="3000" dirty="0">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cxnSp>
        <p:nvCxnSpPr>
          <p:cNvPr id="38" name="直接连接符 37"/>
          <p:cNvCxnSpPr/>
          <p:nvPr>
            <p:custDataLst>
              <p:tags r:id="rId11"/>
            </p:custDataLst>
          </p:nvPr>
        </p:nvCxnSpPr>
        <p:spPr>
          <a:xfrm>
            <a:off x="4181475" y="1515110"/>
            <a:ext cx="5248275" cy="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黑体" panose="02010609060101010101" charset="-122"/>
                <a:ea typeface="黑体" panose="02010609060101010101" charset="-122"/>
                <a:sym typeface="+mn-ea"/>
              </a:rPr>
              <a:t>更多资料请关注公众号【数学建模老哥】课件或代码请公众号回复</a:t>
            </a:r>
            <a:r>
              <a:rPr lang="en-US" altLang="zh-CN" sz="2000">
                <a:latin typeface="黑体" panose="02010609060101010101" charset="-122"/>
                <a:ea typeface="黑体" panose="02010609060101010101" charset="-122"/>
                <a:sym typeface="+mn-ea"/>
              </a:rPr>
              <a:t>“</a:t>
            </a:r>
            <a:r>
              <a:rPr lang="zh-CN" altLang="en-US" sz="2000">
                <a:latin typeface="黑体" panose="02010609060101010101" charset="-122"/>
                <a:ea typeface="黑体" panose="02010609060101010101" charset="-122"/>
                <a:sym typeface="+mn-ea"/>
              </a:rPr>
              <a:t>课件</a:t>
            </a:r>
            <a:r>
              <a:rPr lang="en-US" altLang="zh-CN" sz="2000">
                <a:latin typeface="黑体" panose="02010609060101010101" charset="-122"/>
                <a:ea typeface="黑体" panose="02010609060101010101" charset="-122"/>
                <a:sym typeface="+mn-ea"/>
              </a:rPr>
              <a:t>”</a:t>
            </a:r>
            <a:r>
              <a:rPr lang="zh-CN" altLang="en-US" sz="2000">
                <a:latin typeface="黑体" panose="02010609060101010101" charset="-122"/>
                <a:ea typeface="黑体" panose="02010609060101010101" charset="-122"/>
                <a:sym typeface="+mn-ea"/>
              </a:rPr>
              <a:t>，粉丝</a:t>
            </a:r>
            <a:r>
              <a:rPr lang="en-US" altLang="zh-CN" sz="2000">
                <a:latin typeface="黑体" panose="02010609060101010101" charset="-122"/>
                <a:ea typeface="黑体" panose="02010609060101010101" charset="-122"/>
                <a:sym typeface="+mn-ea"/>
              </a:rPr>
              <a:t>QQ</a:t>
            </a:r>
            <a:r>
              <a:rPr lang="zh-CN" altLang="en-US" sz="2000">
                <a:latin typeface="黑体" panose="02010609060101010101" charset="-122"/>
                <a:ea typeface="黑体" panose="02010609060101010101" charset="-122"/>
                <a:sym typeface="+mn-ea"/>
              </a:rPr>
              <a:t>群：</a:t>
            </a:r>
            <a:r>
              <a:rPr lang="en-US" altLang="zh-CN" sz="2000">
                <a:latin typeface="黑体" panose="02010609060101010101" charset="-122"/>
                <a:ea typeface="黑体" panose="02010609060101010101" charset="-122"/>
                <a:sym typeface="+mn-ea"/>
              </a:rPr>
              <a:t>1077734962</a:t>
            </a:r>
            <a:endParaRPr lang="zh-CN" altLang="en-US" sz="2000">
              <a:latin typeface="黑体" panose="02010609060101010101" charset="-122"/>
              <a:ea typeface="黑体" panose="02010609060101010101" charset="-122"/>
              <a:sym typeface="+mn-ea"/>
            </a:endParaRPr>
          </a:p>
        </p:txBody>
      </p:sp>
      <p:sp>
        <p:nvSpPr>
          <p:cNvPr id="2" name="文本框 1"/>
          <p:cNvSpPr txBox="1"/>
          <p:nvPr>
            <p:custDataLst>
              <p:tags r:id="rId12"/>
            </p:custDataLst>
          </p:nvPr>
        </p:nvSpPr>
        <p:spPr>
          <a:xfrm>
            <a:off x="3728720" y="174751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charset="-122"/>
                <a:cs typeface="Arial" panose="020B0604020202020204" pitchFamily="34" charset="0"/>
                <a:sym typeface="Arial" panose="020B0604020202020204" pitchFamily="34" charset="0"/>
              </a:rPr>
              <a:t>01.</a:t>
            </a:r>
          </a:p>
        </p:txBody>
      </p:sp>
      <p:sp>
        <p:nvSpPr>
          <p:cNvPr id="3" name="圆角矩形标注 2"/>
          <p:cNvSpPr/>
          <p:nvPr/>
        </p:nvSpPr>
        <p:spPr>
          <a:xfrm>
            <a:off x="5512435" y="910590"/>
            <a:ext cx="3058795" cy="330835"/>
          </a:xfrm>
          <a:prstGeom prst="wedgeRoundRect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rgbClr val="FF0000"/>
                </a:solidFill>
              </a:rPr>
              <a:t>这里写本节课的内容目录</a:t>
            </a:r>
          </a:p>
        </p:txBody>
      </p:sp>
      <p:sp>
        <p:nvSpPr>
          <p:cNvPr id="5" name="文本框 4">
            <a:extLst>
              <a:ext uri="{FF2B5EF4-FFF2-40B4-BE49-F238E27FC236}">
                <a16:creationId xmlns:a16="http://schemas.microsoft.com/office/drawing/2014/main" id="{3A282B3E-A3AC-0D07-5710-4F855C7EE63F}"/>
              </a:ext>
            </a:extLst>
          </p:cNvPr>
          <p:cNvSpPr txBox="1"/>
          <p:nvPr>
            <p:custDataLst>
              <p:tags r:id="rId13"/>
            </p:custDataLst>
          </p:nvPr>
        </p:nvSpPr>
        <p:spPr>
          <a:xfrm>
            <a:off x="3728720" y="445143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charset="-122"/>
                <a:cs typeface="Arial" panose="020B0604020202020204" pitchFamily="34" charset="0"/>
                <a:sym typeface="Arial" panose="020B0604020202020204" pitchFamily="34" charset="0"/>
              </a:rPr>
              <a:t>04.</a:t>
            </a:r>
          </a:p>
        </p:txBody>
      </p:sp>
      <p:sp>
        <p:nvSpPr>
          <p:cNvPr id="9" name="文本框 8">
            <a:extLst>
              <a:ext uri="{FF2B5EF4-FFF2-40B4-BE49-F238E27FC236}">
                <a16:creationId xmlns:a16="http://schemas.microsoft.com/office/drawing/2014/main" id="{CFCEF62F-9126-FFA1-C18E-8C9985DF226F}"/>
              </a:ext>
            </a:extLst>
          </p:cNvPr>
          <p:cNvSpPr txBox="1"/>
          <p:nvPr>
            <p:custDataLst>
              <p:tags r:id="rId14"/>
            </p:custDataLst>
          </p:nvPr>
        </p:nvSpPr>
        <p:spPr>
          <a:xfrm>
            <a:off x="4838700" y="4451438"/>
            <a:ext cx="4779010" cy="829945"/>
          </a:xfrm>
          <a:prstGeom prst="rect">
            <a:avLst/>
          </a:prstGeom>
          <a:noFill/>
        </p:spPr>
        <p:txBody>
          <a:bodyPr wrap="square" bIns="46990" rtlCol="0" anchor="ctr" anchorCtr="0">
            <a:normAutofit/>
          </a:bodyPr>
          <a:lstStyle/>
          <a:p>
            <a:pPr>
              <a:lnSpc>
                <a:spcPct val="120000"/>
              </a:lnSpc>
            </a:pPr>
            <a:r>
              <a:rPr lang="zh-CN" altLang="en-US" sz="3200" b="1" strike="noStrike" noProof="1">
                <a:effectLst>
                  <a:outerShdw blurRad="38100" dist="38100" dir="2700000">
                    <a:srgbClr val="C0C0C0"/>
                  </a:outerShdw>
                </a:effectLst>
                <a:latin typeface="Arial" panose="020B0604020202020204" pitchFamily="34" charset="0"/>
                <a:ea typeface="宋体" panose="02010600030101010101" pitchFamily="2" charset="-122"/>
                <a:cs typeface="+mn-cs"/>
              </a:rPr>
              <a:t>神经网络基本原理与应用</a:t>
            </a:r>
            <a:endParaRPr lang="zh-CN" altLang="en-US" sz="3000" dirty="0">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10" name="文本框 9">
            <a:extLst>
              <a:ext uri="{FF2B5EF4-FFF2-40B4-BE49-F238E27FC236}">
                <a16:creationId xmlns:a16="http://schemas.microsoft.com/office/drawing/2014/main" id="{6E611E97-6DC6-8AB0-9D4E-761441523B71}"/>
              </a:ext>
            </a:extLst>
          </p:cNvPr>
          <p:cNvSpPr txBox="1"/>
          <p:nvPr>
            <p:custDataLst>
              <p:tags r:id="rId15"/>
            </p:custDataLst>
          </p:nvPr>
        </p:nvSpPr>
        <p:spPr>
          <a:xfrm>
            <a:off x="3728720" y="5353658"/>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charset="-122"/>
                <a:cs typeface="Arial" panose="020B0604020202020204" pitchFamily="34" charset="0"/>
                <a:sym typeface="Arial" panose="020B0604020202020204" pitchFamily="34" charset="0"/>
              </a:rPr>
              <a:t>03.</a:t>
            </a:r>
          </a:p>
        </p:txBody>
      </p:sp>
      <p:sp>
        <p:nvSpPr>
          <p:cNvPr id="11" name="文本框 10">
            <a:extLst>
              <a:ext uri="{FF2B5EF4-FFF2-40B4-BE49-F238E27FC236}">
                <a16:creationId xmlns:a16="http://schemas.microsoft.com/office/drawing/2014/main" id="{BCA52825-57F2-6542-836E-26959FC03D60}"/>
              </a:ext>
            </a:extLst>
          </p:cNvPr>
          <p:cNvSpPr txBox="1"/>
          <p:nvPr>
            <p:custDataLst>
              <p:tags r:id="rId16"/>
            </p:custDataLst>
          </p:nvPr>
        </p:nvSpPr>
        <p:spPr>
          <a:xfrm>
            <a:off x="4838699" y="5208878"/>
            <a:ext cx="7238505" cy="974725"/>
          </a:xfrm>
          <a:prstGeom prst="rect">
            <a:avLst/>
          </a:prstGeom>
          <a:noFill/>
        </p:spPr>
        <p:txBody>
          <a:bodyPr wrap="square" bIns="46990" rtlCol="0" anchor="ctr" anchorCtr="0">
            <a:normAutofit fontScale="85000" lnSpcReduction="10000"/>
          </a:bodyPr>
          <a:lstStyle/>
          <a:p>
            <a:pPr>
              <a:lnSpc>
                <a:spcPct val="120000"/>
              </a:lnSpc>
            </a:pPr>
            <a:r>
              <a:rPr lang="zh-CN" altLang="en-US" sz="3200" b="1" strike="noStrike" noProof="1">
                <a:effectLst>
                  <a:outerShdw blurRad="38100" dist="38100" dir="2700000">
                    <a:srgbClr val="C0C0C0"/>
                  </a:outerShdw>
                </a:effectLst>
                <a:latin typeface="Arial" panose="020B0604020202020204" pitchFamily="34" charset="0"/>
                <a:ea typeface="宋体" panose="02010600030101010101" pitchFamily="2" charset="-122"/>
                <a:cs typeface="+mn-cs"/>
              </a:rPr>
              <a:t>分类工具箱、神经网络工具箱及实战案例分析</a:t>
            </a:r>
            <a:endParaRPr lang="zh-CN" altLang="en-US" sz="3000" dirty="0">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9" name="标题 447490">
            <a:extLst>
              <a:ext uri="{FF2B5EF4-FFF2-40B4-BE49-F238E27FC236}">
                <a16:creationId xmlns:a16="http://schemas.microsoft.com/office/drawing/2014/main" id="{D9F2A1A9-37A3-D67B-E903-A9AD11C9BD0F}"/>
              </a:ext>
            </a:extLst>
          </p:cNvPr>
          <p:cNvSpPr>
            <a:spLocks noGrp="1"/>
          </p:cNvSpPr>
          <p:nvPr>
            <p:ph type="title"/>
          </p:nvPr>
        </p:nvSpPr>
        <p:spPr>
          <a:xfrm>
            <a:off x="760021" y="1098334"/>
            <a:ext cx="2133664" cy="690939"/>
          </a:xfrm>
          <a:ln w="12700"/>
        </p:spPr>
        <p:txBody>
          <a:bodyPr wrap="square" lIns="90488" tIns="44450" rIns="90488" bIns="44450" rtlCol="0" anchor="ctr" anchorCtr="1">
            <a:normAutofit/>
          </a:bodyPr>
          <a:lstStyle/>
          <a:p>
            <a:pPr marL="0" marR="0" indent="0" defTabSz="685800" rtl="0" eaLnBrk="1" fontAlgn="auto" latinLnBrk="0" hangingPunct="1">
              <a:lnSpc>
                <a:spcPct val="100000"/>
              </a:lnSpc>
              <a:spcBef>
                <a:spcPct val="0"/>
              </a:spcBef>
              <a:spcAft>
                <a:spcPct val="0"/>
              </a:spcAft>
              <a:buClrTx/>
              <a:buSzTx/>
              <a:buFontTx/>
              <a:buNone/>
            </a:pPr>
            <a:r>
              <a:rPr kumimoji="0" lang="zh-CN" altLang="en-US" sz="2800" b="1" i="0" u="none" strike="noStrike" kern="1200" cap="none" spc="200" normalizeH="0" baseline="0" noProof="1">
                <a:solidFill>
                  <a:srgbClr val="000066"/>
                </a:solidFill>
                <a:uFillTx/>
                <a:latin typeface="黑体" panose="02010609060101010101" pitchFamily="2" charset="-122"/>
                <a:ea typeface="黑体" panose="02010609060101010101" pitchFamily="2" charset="-122"/>
                <a:cs typeface="+mj-cs"/>
                <a:sym typeface="微软雅黑" panose="020B0503020204020204" charset="-122"/>
              </a:rPr>
              <a:t>机器学习</a:t>
            </a:r>
          </a:p>
        </p:txBody>
      </p:sp>
      <p:pic>
        <p:nvPicPr>
          <p:cNvPr id="10" name="Picture 2" descr="How Machine Learning is changing the world nowadays! - Welcome to BSE  institute Ltd. | BSE Institute">
            <a:extLst>
              <a:ext uri="{FF2B5EF4-FFF2-40B4-BE49-F238E27FC236}">
                <a16:creationId xmlns:a16="http://schemas.microsoft.com/office/drawing/2014/main" id="{969B291E-E00B-6D87-CA92-EDDD2F8D8496}"/>
              </a:ext>
            </a:extLst>
          </p:cNvPr>
          <p:cNvPicPr>
            <a:picLocks noChangeAspect="1" noChangeArrowheads="1"/>
          </p:cNvPicPr>
          <p:nvPr/>
        </p:nvPicPr>
        <p:blipFill>
          <a:blip r:embed="rId3">
            <a:clrChange>
              <a:clrFrom>
                <a:srgbClr val="F5F9FB"/>
              </a:clrFrom>
              <a:clrTo>
                <a:srgbClr val="F5F9FB">
                  <a:alpha val="0"/>
                </a:srgbClr>
              </a:clrTo>
            </a:clrChange>
            <a:extLst>
              <a:ext uri="{28A0092B-C50C-407E-A947-70E740481C1C}">
                <a14:useLocalDpi xmlns:a14="http://schemas.microsoft.com/office/drawing/2010/main" val="0"/>
              </a:ext>
            </a:extLst>
          </a:blip>
          <a:srcRect/>
          <a:stretch>
            <a:fillRect/>
          </a:stretch>
        </p:blipFill>
        <p:spPr bwMode="auto">
          <a:xfrm>
            <a:off x="1113081" y="1274484"/>
            <a:ext cx="8191500" cy="4572000"/>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450578F0-20C8-5930-0179-AA5104CCA293}"/>
              </a:ext>
            </a:extLst>
          </p:cNvPr>
          <p:cNvSpPr txBox="1"/>
          <p:nvPr/>
        </p:nvSpPr>
        <p:spPr>
          <a:xfrm>
            <a:off x="5374313" y="5283734"/>
            <a:ext cx="6248296" cy="1200329"/>
          </a:xfrm>
          <a:prstGeom prst="rect">
            <a:avLst/>
          </a:prstGeom>
          <a:noFill/>
        </p:spPr>
        <p:txBody>
          <a:bodyPr wrap="square">
            <a:spAutoFit/>
          </a:bodyPr>
          <a:lstStyle/>
          <a:p>
            <a:r>
              <a:rPr lang="zh-CN" altLang="en-US" dirty="0"/>
              <a:t>机器学习是一门多领域交叉学科，涉及概率论、统计学、逼近论、凸分析、算法复杂度理论等多门学科。专门研究计算机怎样模拟或实现人类的学习行为，以获取新的知识或技能，重新组织已有的知识结构使之不断改善自身的性能。</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559B3B9C-FF1D-D654-45E7-BEDC95A64CB3}"/>
              </a:ext>
            </a:extLst>
          </p:cNvPr>
          <p:cNvPicPr>
            <a:picLocks noChangeAspect="1"/>
          </p:cNvPicPr>
          <p:nvPr/>
        </p:nvPicPr>
        <p:blipFill>
          <a:blip r:embed="rId3"/>
          <a:stretch>
            <a:fillRect/>
          </a:stretch>
        </p:blipFill>
        <p:spPr>
          <a:xfrm>
            <a:off x="1262670" y="965222"/>
            <a:ext cx="3520042" cy="5105356"/>
          </a:xfrm>
          <a:prstGeom prst="rect">
            <a:avLst/>
          </a:prstGeom>
        </p:spPr>
      </p:pic>
      <p:pic>
        <p:nvPicPr>
          <p:cNvPr id="3" name="图片 2">
            <a:extLst>
              <a:ext uri="{FF2B5EF4-FFF2-40B4-BE49-F238E27FC236}">
                <a16:creationId xmlns:a16="http://schemas.microsoft.com/office/drawing/2014/main" id="{13B19ACB-687E-9F40-412A-D8DECB431163}"/>
              </a:ext>
            </a:extLst>
          </p:cNvPr>
          <p:cNvPicPr>
            <a:picLocks noChangeAspect="1"/>
          </p:cNvPicPr>
          <p:nvPr/>
        </p:nvPicPr>
        <p:blipFill>
          <a:blip r:embed="rId4"/>
          <a:stretch>
            <a:fillRect/>
          </a:stretch>
        </p:blipFill>
        <p:spPr>
          <a:xfrm>
            <a:off x="2811145" y="1379156"/>
            <a:ext cx="3555908" cy="5127433"/>
          </a:xfrm>
          <a:prstGeom prst="rect">
            <a:avLst/>
          </a:prstGeom>
        </p:spPr>
      </p:pic>
      <p:pic>
        <p:nvPicPr>
          <p:cNvPr id="5" name="图片 4">
            <a:extLst>
              <a:ext uri="{FF2B5EF4-FFF2-40B4-BE49-F238E27FC236}">
                <a16:creationId xmlns:a16="http://schemas.microsoft.com/office/drawing/2014/main" id="{B52E093D-D763-C820-0B17-663EAF99EE4F}"/>
              </a:ext>
            </a:extLst>
          </p:cNvPr>
          <p:cNvPicPr>
            <a:picLocks noChangeAspect="1"/>
          </p:cNvPicPr>
          <p:nvPr/>
        </p:nvPicPr>
        <p:blipFill>
          <a:blip r:embed="rId5"/>
          <a:stretch>
            <a:fillRect/>
          </a:stretch>
        </p:blipFill>
        <p:spPr>
          <a:xfrm>
            <a:off x="4191046" y="1995402"/>
            <a:ext cx="3555908" cy="4817427"/>
          </a:xfrm>
          <a:prstGeom prst="rect">
            <a:avLst/>
          </a:prstGeom>
        </p:spPr>
      </p:pic>
    </p:spTree>
    <p:custDataLst>
      <p:tags r:id="rId1"/>
    </p:custDataLst>
    <p:extLst>
      <p:ext uri="{BB962C8B-B14F-4D97-AF65-F5344CB8AC3E}">
        <p14:creationId xmlns:p14="http://schemas.microsoft.com/office/powerpoint/2010/main" val="3223864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C945C470-21FF-B1EC-434A-21A24CEDE73C}"/>
              </a:ext>
            </a:extLst>
          </p:cNvPr>
          <p:cNvPicPr>
            <a:picLocks noChangeAspect="1"/>
          </p:cNvPicPr>
          <p:nvPr/>
        </p:nvPicPr>
        <p:blipFill>
          <a:blip r:embed="rId3"/>
          <a:stretch>
            <a:fillRect/>
          </a:stretch>
        </p:blipFill>
        <p:spPr>
          <a:xfrm>
            <a:off x="1420801" y="1154219"/>
            <a:ext cx="7235329" cy="2502218"/>
          </a:xfrm>
          <a:prstGeom prst="rect">
            <a:avLst/>
          </a:prstGeom>
        </p:spPr>
      </p:pic>
      <p:pic>
        <p:nvPicPr>
          <p:cNvPr id="3" name="图片 2">
            <a:extLst>
              <a:ext uri="{FF2B5EF4-FFF2-40B4-BE49-F238E27FC236}">
                <a16:creationId xmlns:a16="http://schemas.microsoft.com/office/drawing/2014/main" id="{39F5F6D1-2A73-7194-3EEE-4A48A6DE187F}"/>
              </a:ext>
            </a:extLst>
          </p:cNvPr>
          <p:cNvPicPr>
            <a:picLocks noChangeAspect="1"/>
          </p:cNvPicPr>
          <p:nvPr/>
        </p:nvPicPr>
        <p:blipFill>
          <a:blip r:embed="rId4"/>
          <a:stretch>
            <a:fillRect/>
          </a:stretch>
        </p:blipFill>
        <p:spPr>
          <a:xfrm>
            <a:off x="1917806" y="2177130"/>
            <a:ext cx="7238930" cy="2503463"/>
          </a:xfrm>
          <a:prstGeom prst="rect">
            <a:avLst/>
          </a:prstGeom>
        </p:spPr>
      </p:pic>
      <p:pic>
        <p:nvPicPr>
          <p:cNvPr id="4" name="图片 3">
            <a:extLst>
              <a:ext uri="{FF2B5EF4-FFF2-40B4-BE49-F238E27FC236}">
                <a16:creationId xmlns:a16="http://schemas.microsoft.com/office/drawing/2014/main" id="{2E75EDF1-B3E3-9356-53B0-5BE05E217518}"/>
              </a:ext>
            </a:extLst>
          </p:cNvPr>
          <p:cNvPicPr>
            <a:picLocks noChangeAspect="1"/>
          </p:cNvPicPr>
          <p:nvPr/>
        </p:nvPicPr>
        <p:blipFill>
          <a:blip r:embed="rId5"/>
          <a:stretch>
            <a:fillRect/>
          </a:stretch>
        </p:blipFill>
        <p:spPr>
          <a:xfrm>
            <a:off x="2908380" y="3605972"/>
            <a:ext cx="7238928" cy="2503462"/>
          </a:xfrm>
          <a:prstGeom prst="rect">
            <a:avLst/>
          </a:prstGeom>
        </p:spPr>
      </p:pic>
    </p:spTree>
    <p:custDataLst>
      <p:tags r:id="rId1"/>
    </p:custDataLst>
    <p:extLst>
      <p:ext uri="{BB962C8B-B14F-4D97-AF65-F5344CB8AC3E}">
        <p14:creationId xmlns:p14="http://schemas.microsoft.com/office/powerpoint/2010/main" val="2650054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5" name="图片 4">
            <a:extLst>
              <a:ext uri="{FF2B5EF4-FFF2-40B4-BE49-F238E27FC236}">
                <a16:creationId xmlns:a16="http://schemas.microsoft.com/office/drawing/2014/main" id="{BA0A69AC-0C40-25B2-17A2-940C62E35FD0}"/>
              </a:ext>
            </a:extLst>
          </p:cNvPr>
          <p:cNvPicPr>
            <a:picLocks noChangeAspect="1"/>
          </p:cNvPicPr>
          <p:nvPr/>
        </p:nvPicPr>
        <p:blipFill>
          <a:blip r:embed="rId3"/>
          <a:stretch>
            <a:fillRect/>
          </a:stretch>
        </p:blipFill>
        <p:spPr>
          <a:xfrm>
            <a:off x="290881" y="1028774"/>
            <a:ext cx="3626822" cy="5138487"/>
          </a:xfrm>
          <a:prstGeom prst="rect">
            <a:avLst/>
          </a:prstGeom>
          <a:ln>
            <a:solidFill>
              <a:schemeClr val="accent1"/>
            </a:solidFill>
          </a:ln>
        </p:spPr>
      </p:pic>
      <p:pic>
        <p:nvPicPr>
          <p:cNvPr id="6" name="图片 5">
            <a:extLst>
              <a:ext uri="{FF2B5EF4-FFF2-40B4-BE49-F238E27FC236}">
                <a16:creationId xmlns:a16="http://schemas.microsoft.com/office/drawing/2014/main" id="{70695452-F7AA-4B83-81DC-785B3B26735F}"/>
              </a:ext>
            </a:extLst>
          </p:cNvPr>
          <p:cNvPicPr>
            <a:picLocks noChangeAspect="1"/>
          </p:cNvPicPr>
          <p:nvPr/>
        </p:nvPicPr>
        <p:blipFill>
          <a:blip r:embed="rId4"/>
          <a:stretch>
            <a:fillRect/>
          </a:stretch>
        </p:blipFill>
        <p:spPr>
          <a:xfrm>
            <a:off x="4025525" y="1028774"/>
            <a:ext cx="3967693" cy="5138488"/>
          </a:xfrm>
          <a:prstGeom prst="rect">
            <a:avLst/>
          </a:prstGeom>
          <a:ln>
            <a:solidFill>
              <a:schemeClr val="accent1"/>
            </a:solidFill>
          </a:ln>
        </p:spPr>
      </p:pic>
      <p:pic>
        <p:nvPicPr>
          <p:cNvPr id="8" name="图片 7">
            <a:extLst>
              <a:ext uri="{FF2B5EF4-FFF2-40B4-BE49-F238E27FC236}">
                <a16:creationId xmlns:a16="http://schemas.microsoft.com/office/drawing/2014/main" id="{FB54034F-507A-5F0F-A745-4A01AEECDAA7}"/>
              </a:ext>
            </a:extLst>
          </p:cNvPr>
          <p:cNvPicPr>
            <a:picLocks noChangeAspect="1"/>
          </p:cNvPicPr>
          <p:nvPr/>
        </p:nvPicPr>
        <p:blipFill>
          <a:blip r:embed="rId5"/>
          <a:stretch>
            <a:fillRect/>
          </a:stretch>
        </p:blipFill>
        <p:spPr>
          <a:xfrm>
            <a:off x="8101039" y="1028773"/>
            <a:ext cx="3967693" cy="5139273"/>
          </a:xfrm>
          <a:prstGeom prst="rect">
            <a:avLst/>
          </a:prstGeom>
          <a:ln>
            <a:solidFill>
              <a:schemeClr val="accent1"/>
            </a:solidFill>
          </a:ln>
        </p:spPr>
      </p:pic>
    </p:spTree>
    <p:custDataLst>
      <p:tags r:id="rId1"/>
    </p:custDataLst>
    <p:extLst>
      <p:ext uri="{BB962C8B-B14F-4D97-AF65-F5344CB8AC3E}">
        <p14:creationId xmlns:p14="http://schemas.microsoft.com/office/powerpoint/2010/main" val="1451602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Picture 2" descr="图片">
            <a:extLst>
              <a:ext uri="{FF2B5EF4-FFF2-40B4-BE49-F238E27FC236}">
                <a16:creationId xmlns:a16="http://schemas.microsoft.com/office/drawing/2014/main" id="{FD6A6DD7-119D-A5E8-ACB6-86B2A1901C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7003" y="636905"/>
            <a:ext cx="4354319" cy="615532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6B0877B9-5145-AB7B-05AD-61B04F500DB7}"/>
              </a:ext>
            </a:extLst>
          </p:cNvPr>
          <p:cNvPicPr>
            <a:picLocks noChangeAspect="1"/>
          </p:cNvPicPr>
          <p:nvPr/>
        </p:nvPicPr>
        <p:blipFill>
          <a:blip r:embed="rId4"/>
          <a:stretch>
            <a:fillRect/>
          </a:stretch>
        </p:blipFill>
        <p:spPr>
          <a:xfrm>
            <a:off x="1738135" y="1273810"/>
            <a:ext cx="5338868" cy="1240159"/>
          </a:xfrm>
          <a:prstGeom prst="rect">
            <a:avLst/>
          </a:prstGeom>
        </p:spPr>
      </p:pic>
    </p:spTree>
    <p:custDataLst>
      <p:tags r:id="rId1"/>
    </p:custDataLst>
    <p:extLst>
      <p:ext uri="{BB962C8B-B14F-4D97-AF65-F5344CB8AC3E}">
        <p14:creationId xmlns:p14="http://schemas.microsoft.com/office/powerpoint/2010/main" val="241460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12ADE093-A3FB-E973-9023-CEC48BA2DC64}"/>
              </a:ext>
            </a:extLst>
          </p:cNvPr>
          <p:cNvPicPr>
            <a:picLocks noChangeAspect="1"/>
          </p:cNvPicPr>
          <p:nvPr/>
        </p:nvPicPr>
        <p:blipFill>
          <a:blip r:embed="rId3"/>
          <a:stretch>
            <a:fillRect/>
          </a:stretch>
        </p:blipFill>
        <p:spPr>
          <a:xfrm>
            <a:off x="3468681" y="714725"/>
            <a:ext cx="5254637" cy="6045998"/>
          </a:xfrm>
          <a:prstGeom prst="rect">
            <a:avLst/>
          </a:prstGeom>
        </p:spPr>
      </p:pic>
    </p:spTree>
    <p:custDataLst>
      <p:tags r:id="rId1"/>
    </p:custDataLst>
    <p:extLst>
      <p:ext uri="{BB962C8B-B14F-4D97-AF65-F5344CB8AC3E}">
        <p14:creationId xmlns:p14="http://schemas.microsoft.com/office/powerpoint/2010/main" val="3463763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Picture 2" descr="Introduction to Machine Learning. Machine learning uses computers to… | by  Vaani Rawatt | Medium">
            <a:extLst>
              <a:ext uri="{FF2B5EF4-FFF2-40B4-BE49-F238E27FC236}">
                <a16:creationId xmlns:a16="http://schemas.microsoft.com/office/drawing/2014/main" id="{3FA428E7-2A45-AADB-793A-151D2EB0B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7316" y="843709"/>
            <a:ext cx="8177368" cy="58490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89792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Picture 2" descr="Regression vs Classification in Machine Learning - Javatpoint">
            <a:extLst>
              <a:ext uri="{FF2B5EF4-FFF2-40B4-BE49-F238E27FC236}">
                <a16:creationId xmlns:a16="http://schemas.microsoft.com/office/drawing/2014/main" id="{E37111FA-EABD-CB15-BC47-0F3C915AEF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361" y="1077238"/>
            <a:ext cx="10181277" cy="542376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235233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1026" name="Picture 2" descr="一篇文章透彻解读聚类分析（附数据和R代码） - 知乎">
            <a:extLst>
              <a:ext uri="{FF2B5EF4-FFF2-40B4-BE49-F238E27FC236}">
                <a16:creationId xmlns:a16="http://schemas.microsoft.com/office/drawing/2014/main" id="{F9268F50-E349-E584-BED8-32EC87929E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834" y="1533525"/>
            <a:ext cx="5010150" cy="37909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3-6 强化学习">
            <a:extLst>
              <a:ext uri="{FF2B5EF4-FFF2-40B4-BE49-F238E27FC236}">
                <a16:creationId xmlns:a16="http://schemas.microsoft.com/office/drawing/2014/main" id="{61F3D0B0-0C80-434A-AB8C-75111ACF28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2018" y="1796082"/>
            <a:ext cx="4515372" cy="326583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415926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标题 445441">
            <a:extLst>
              <a:ext uri="{FF2B5EF4-FFF2-40B4-BE49-F238E27FC236}">
                <a16:creationId xmlns:a16="http://schemas.microsoft.com/office/drawing/2014/main" id="{9A421DA3-EFF3-6425-3D5D-123877758ED6}"/>
              </a:ext>
            </a:extLst>
          </p:cNvPr>
          <p:cNvSpPr txBox="1">
            <a:spLocks/>
          </p:cNvSpPr>
          <p:nvPr/>
        </p:nvSpPr>
        <p:spPr>
          <a:xfrm>
            <a:off x="404283" y="2588475"/>
            <a:ext cx="11383434" cy="1681050"/>
          </a:xfrm>
          <a:prstGeom prst="rect">
            <a:avLst/>
          </a:prstGeom>
          <a:ln w="12700"/>
        </p:spPr>
        <p:txBody>
          <a:bodyPr vert="horz" wrap="square" lIns="90488" tIns="44450" rIns="90488" bIns="44450" rtlCol="0" anchor="ctr" anchorCtr="0">
            <a:no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algn="ctr">
              <a:spcAft>
                <a:spcPct val="0"/>
              </a:spcAft>
            </a:pPr>
            <a:r>
              <a:rPr lang="zh-CN" altLang="en-US" sz="6600">
                <a:effectLst>
                  <a:outerShdw blurRad="38100" dist="38100" dir="2700000">
                    <a:srgbClr val="C0C0C0"/>
                  </a:outerShdw>
                </a:effectLst>
                <a:ea typeface="宋体" panose="02010600030101010101" pitchFamily="2" charset="-122"/>
                <a:cs typeface="+mn-cs"/>
              </a:rPr>
              <a:t>线性回归基本原理与应用</a:t>
            </a:r>
            <a:endParaRPr lang="zh-CN" altLang="en-US" sz="6000" spc="200">
              <a:solidFill>
                <a:schemeClr val="accent1"/>
              </a:solidFill>
              <a:latin typeface="Tahoma" panose="020B0604030504040204" pitchFamily="34" charset="0"/>
              <a:ea typeface="隶书" panose="02010509060101010101" pitchFamily="49" charset="-122"/>
            </a:endParaRPr>
          </a:p>
        </p:txBody>
      </p:sp>
    </p:spTree>
    <p:custDataLst>
      <p:tags r:id="rId1"/>
    </p:custDataLst>
    <p:extLst>
      <p:ext uri="{BB962C8B-B14F-4D97-AF65-F5344CB8AC3E}">
        <p14:creationId xmlns:p14="http://schemas.microsoft.com/office/powerpoint/2010/main" val="23995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B0E892E9-A294-A544-2234-4C47C5012CBF}"/>
              </a:ext>
            </a:extLst>
          </p:cNvPr>
          <p:cNvPicPr>
            <a:picLocks noChangeAspect="1"/>
          </p:cNvPicPr>
          <p:nvPr/>
        </p:nvPicPr>
        <p:blipFill>
          <a:blip r:embed="rId3"/>
          <a:stretch>
            <a:fillRect/>
          </a:stretch>
        </p:blipFill>
        <p:spPr>
          <a:xfrm>
            <a:off x="341123" y="1175253"/>
            <a:ext cx="7736078" cy="4651825"/>
          </a:xfrm>
          <a:prstGeom prst="rect">
            <a:avLst/>
          </a:prstGeom>
        </p:spPr>
      </p:pic>
      <p:pic>
        <p:nvPicPr>
          <p:cNvPr id="2050" name="Picture 2" descr="口袋妖怪神兽领域最新手机版下载安装-口袋妖怪神兽领域全神兽完整版下载v2.0 GBA移植版-乐游网手机下载站">
            <a:extLst>
              <a:ext uri="{FF2B5EF4-FFF2-40B4-BE49-F238E27FC236}">
                <a16:creationId xmlns:a16="http://schemas.microsoft.com/office/drawing/2014/main" id="{2C9F9524-E6CA-9422-3ED6-F4EF10EDFFA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6892"/>
          <a:stretch/>
        </p:blipFill>
        <p:spPr bwMode="auto">
          <a:xfrm>
            <a:off x="5830957" y="3429000"/>
            <a:ext cx="5960286" cy="304829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56661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0E05A081-1842-1E2F-36E5-D9D2BECFF9BE}"/>
              </a:ext>
            </a:extLst>
          </p:cNvPr>
          <p:cNvSpPr txBox="1">
            <a:spLocks noChangeArrowheads="1"/>
          </p:cNvSpPr>
          <p:nvPr/>
        </p:nvSpPr>
        <p:spPr bwMode="auto">
          <a:xfrm>
            <a:off x="1098219" y="1367802"/>
            <a:ext cx="10175206" cy="4122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30000"/>
              </a:lnSpc>
              <a:buFontTx/>
              <a:buNone/>
              <a:defRPr/>
            </a:pPr>
            <a:r>
              <a:rPr lang="en-US" altLang="zh-CN" dirty="0">
                <a:solidFill>
                  <a:schemeClr val="tx1"/>
                </a:solidFill>
                <a:latin typeface="+mn-ea"/>
                <a:ea typeface="+mn-ea"/>
                <a:sym typeface="+mn-ea"/>
              </a:rPr>
              <a:t>	</a:t>
            </a:r>
            <a:r>
              <a:rPr lang="zh-CN" altLang="en-US" b="1" dirty="0">
                <a:solidFill>
                  <a:schemeClr val="tx1"/>
                </a:solidFill>
                <a:latin typeface="+mn-ea"/>
                <a:ea typeface="+mn-ea"/>
                <a:sym typeface="+mn-ea"/>
              </a:rPr>
              <a:t>回归分析</a:t>
            </a:r>
            <a:r>
              <a:rPr lang="zh-CN" altLang="en-US" dirty="0">
                <a:solidFill>
                  <a:schemeClr val="tx1"/>
                </a:solidFill>
                <a:latin typeface="+mn-ea"/>
                <a:ea typeface="+mn-ea"/>
                <a:sym typeface="+mn-ea"/>
              </a:rPr>
              <a:t>（</a:t>
            </a:r>
            <a:r>
              <a:rPr lang="en-US" altLang="zh-CN" dirty="0">
                <a:solidFill>
                  <a:schemeClr val="tx1"/>
                </a:solidFill>
                <a:latin typeface="+mn-ea"/>
                <a:ea typeface="+mn-ea"/>
                <a:sym typeface="+mn-ea"/>
              </a:rPr>
              <a:t>Regression Analysis)</a:t>
            </a:r>
            <a:r>
              <a:rPr lang="zh-CN" altLang="en-US" dirty="0">
                <a:solidFill>
                  <a:schemeClr val="tx1"/>
                </a:solidFill>
                <a:latin typeface="+mn-ea"/>
                <a:ea typeface="+mn-ea"/>
                <a:sym typeface="+mn-ea"/>
              </a:rPr>
              <a:t>是确定两种或两种以上变量间相互依赖的定量关系的一种统计分析方法。</a:t>
            </a:r>
            <a:endParaRPr lang="en-US" altLang="zh-CN" dirty="0">
              <a:solidFill>
                <a:schemeClr val="tx1"/>
              </a:solidFill>
              <a:latin typeface="+mn-ea"/>
              <a:ea typeface="+mn-ea"/>
            </a:endParaRPr>
          </a:p>
          <a:p>
            <a:pPr lvl="1" eaLnBrk="1" hangingPunct="1">
              <a:lnSpc>
                <a:spcPct val="130000"/>
              </a:lnSpc>
              <a:defRPr/>
            </a:pPr>
            <a:r>
              <a:rPr lang="zh-CN" altLang="en-US" dirty="0">
                <a:solidFill>
                  <a:schemeClr val="tx1"/>
                </a:solidFill>
                <a:latin typeface="+mn-ea"/>
                <a:ea typeface="+mn-ea"/>
                <a:sym typeface="+mn-ea"/>
              </a:rPr>
              <a:t>按涉及变量个数划分</a:t>
            </a:r>
            <a:r>
              <a:rPr lang="zh-CN" altLang="en-US" sz="2000" dirty="0">
                <a:solidFill>
                  <a:schemeClr val="tx1"/>
                </a:solidFill>
                <a:latin typeface="+mn-ea"/>
                <a:ea typeface="+mn-ea"/>
                <a:sym typeface="+mn-ea"/>
              </a:rPr>
              <a:t>                                               </a:t>
            </a:r>
            <a:endParaRPr lang="en-US" altLang="zh-CN" sz="1400" dirty="0">
              <a:solidFill>
                <a:schemeClr val="tx1"/>
              </a:solidFill>
              <a:latin typeface="+mn-ea"/>
              <a:ea typeface="+mn-ea"/>
              <a:sym typeface="+mn-ea"/>
            </a:endParaRPr>
          </a:p>
          <a:p>
            <a:pPr lvl="2" eaLnBrk="1" hangingPunct="1">
              <a:lnSpc>
                <a:spcPct val="130000"/>
              </a:lnSpc>
              <a:defRPr/>
            </a:pPr>
            <a:r>
              <a:rPr lang="zh-CN" altLang="en-US" sz="2000" dirty="0">
                <a:latin typeface="+mn-ea"/>
                <a:ea typeface="+mn-ea"/>
                <a:sym typeface="+mn-ea"/>
              </a:rPr>
              <a:t>一元回归分析</a:t>
            </a:r>
            <a:endParaRPr lang="en-US" altLang="zh-CN" sz="2000" dirty="0">
              <a:latin typeface="+mn-ea"/>
              <a:ea typeface="+mn-ea"/>
              <a:sym typeface="+mn-ea"/>
            </a:endParaRPr>
          </a:p>
          <a:p>
            <a:pPr lvl="2" eaLnBrk="1" hangingPunct="1">
              <a:lnSpc>
                <a:spcPct val="130000"/>
              </a:lnSpc>
              <a:defRPr/>
            </a:pPr>
            <a:r>
              <a:rPr lang="zh-CN" altLang="en-US" sz="2000" dirty="0">
                <a:latin typeface="+mn-ea"/>
                <a:ea typeface="+mn-ea"/>
                <a:sym typeface="+mn-ea"/>
              </a:rPr>
              <a:t>多元回归分析</a:t>
            </a:r>
            <a:endParaRPr lang="en-US" altLang="zh-CN" sz="2000" dirty="0">
              <a:latin typeface="+mn-ea"/>
              <a:ea typeface="+mn-ea"/>
              <a:sym typeface="+mn-ea"/>
            </a:endParaRPr>
          </a:p>
          <a:p>
            <a:pPr lvl="1" eaLnBrk="1" hangingPunct="1">
              <a:lnSpc>
                <a:spcPct val="130000"/>
              </a:lnSpc>
              <a:defRPr/>
            </a:pPr>
            <a:r>
              <a:rPr lang="zh-CN" altLang="en-US" dirty="0">
                <a:solidFill>
                  <a:schemeClr val="tx1"/>
                </a:solidFill>
                <a:latin typeface="+mn-ea"/>
                <a:ea typeface="+mn-ea"/>
                <a:sym typeface="+mn-ea"/>
              </a:rPr>
              <a:t>按自变量和因变量之间关系划分</a:t>
            </a:r>
            <a:endParaRPr lang="zh-CN" altLang="en-US" sz="2000" dirty="0">
              <a:solidFill>
                <a:schemeClr val="tx1"/>
              </a:solidFill>
              <a:latin typeface="+mn-ea"/>
              <a:ea typeface="+mn-ea"/>
            </a:endParaRPr>
          </a:p>
          <a:p>
            <a:pPr lvl="2">
              <a:lnSpc>
                <a:spcPct val="130000"/>
              </a:lnSpc>
              <a:buFont typeface="Arial" panose="020B0604020202020204" pitchFamily="34" charset="0"/>
              <a:buChar char="•"/>
              <a:defRPr/>
            </a:pPr>
            <a:r>
              <a:rPr lang="zh-CN" altLang="en-US" sz="2000" dirty="0">
                <a:latin typeface="+mn-ea"/>
                <a:ea typeface="+mn-ea"/>
                <a:sym typeface="+mn-ea"/>
              </a:rPr>
              <a:t>线性回归分析</a:t>
            </a:r>
            <a:endParaRPr lang="en-US" altLang="zh-CN" sz="2000" dirty="0">
              <a:latin typeface="+mn-ea"/>
              <a:ea typeface="+mn-ea"/>
              <a:sym typeface="+mn-ea"/>
            </a:endParaRPr>
          </a:p>
          <a:p>
            <a:pPr lvl="2">
              <a:lnSpc>
                <a:spcPct val="130000"/>
              </a:lnSpc>
              <a:buFont typeface="Arial" panose="020B0604020202020204" pitchFamily="34" charset="0"/>
              <a:buChar char="•"/>
              <a:defRPr/>
            </a:pPr>
            <a:r>
              <a:rPr lang="zh-CN" altLang="en-US" sz="2000" dirty="0">
                <a:latin typeface="+mn-ea"/>
                <a:ea typeface="+mn-ea"/>
                <a:sym typeface="+mn-ea"/>
              </a:rPr>
              <a:t>非线性回归分析</a:t>
            </a:r>
            <a:endParaRPr lang="zh-CN" altLang="en-US" sz="2000" dirty="0">
              <a:latin typeface="+mn-ea"/>
              <a:ea typeface="+mn-ea"/>
            </a:endParaRPr>
          </a:p>
          <a:p>
            <a:pPr marL="0" lvl="2" indent="0" eaLnBrk="1" hangingPunct="1">
              <a:lnSpc>
                <a:spcPct val="130000"/>
              </a:lnSpc>
              <a:buNone/>
              <a:defRPr/>
            </a:pPr>
            <a:r>
              <a:rPr lang="en-US" altLang="zh-CN" sz="2000" dirty="0">
                <a:latin typeface="+mn-ea"/>
                <a:ea typeface="+mn-ea"/>
                <a:sym typeface="+mn-ea"/>
              </a:rPr>
              <a:t>	</a:t>
            </a:r>
            <a:endParaRPr lang="en-US" altLang="zh-CN" sz="2000" dirty="0">
              <a:latin typeface="+mn-ea"/>
              <a:ea typeface="+mn-ea"/>
            </a:endParaRPr>
          </a:p>
        </p:txBody>
      </p:sp>
    </p:spTree>
    <p:custDataLst>
      <p:tags r:id="rId1"/>
    </p:custDataLst>
    <p:extLst>
      <p:ext uri="{BB962C8B-B14F-4D97-AF65-F5344CB8AC3E}">
        <p14:creationId xmlns:p14="http://schemas.microsoft.com/office/powerpoint/2010/main" val="1641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2"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2">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9"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1" dur="80"/>
                                        <p:tgtEl>
                                          <p:spTgt spid="2">
                                            <p:txEl>
                                              <p:pRg st="2" end="2"/>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6"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8" dur="80"/>
                                        <p:tgtEl>
                                          <p:spTgt spid="2">
                                            <p:txEl>
                                              <p:pRg st="3" end="3"/>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nodeType="clickEffect">
                                  <p:stCondLst>
                                    <p:cond delay="0"/>
                                  </p:stCondLst>
                                  <p:iterate type="lt">
                                    <p:tmPct val="50000"/>
                                  </p:iterate>
                                  <p:childTnLst>
                                    <p:set>
                                      <p:cBhvr>
                                        <p:cTn id="32"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33"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35" dur="80"/>
                                        <p:tgtEl>
                                          <p:spTgt spid="2">
                                            <p:txEl>
                                              <p:pRg st="4" end="4"/>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7" presetClass="entr" presetSubtype="0" fill="hold" nodeType="clickEffect">
                                  <p:stCondLst>
                                    <p:cond delay="0"/>
                                  </p:stCondLst>
                                  <p:iterate type="lt">
                                    <p:tmPct val="50000"/>
                                  </p:iterate>
                                  <p:childTnLst>
                                    <p:set>
                                      <p:cBhvr>
                                        <p:cTn id="39"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40"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42" dur="80"/>
                                        <p:tgtEl>
                                          <p:spTgt spid="2">
                                            <p:txEl>
                                              <p:pRg st="5" end="5"/>
                                            </p:txEl>
                                          </p:spTgt>
                                        </p:tgtEl>
                                        <p:attrNameLst>
                                          <p:attrName>fill.type</p:attrName>
                                        </p:attrNameLst>
                                      </p:cBhvr>
                                      <p:to>
                                        <p:strVal val="solid"/>
                                      </p:to>
                                    </p:set>
                                  </p:childTnLst>
                                </p:cTn>
                              </p:par>
                            </p:childTnLst>
                          </p:cTn>
                        </p:par>
                      </p:childTnLst>
                    </p:cTn>
                  </p:par>
                  <p:par>
                    <p:cTn id="43" fill="hold">
                      <p:stCondLst>
                        <p:cond delay="indefinite"/>
                      </p:stCondLst>
                      <p:childTnLst>
                        <p:par>
                          <p:cTn id="44" fill="hold">
                            <p:stCondLst>
                              <p:cond delay="0"/>
                            </p:stCondLst>
                            <p:childTnLst>
                              <p:par>
                                <p:cTn id="45" presetID="27" presetClass="entr" presetSubtype="0" fill="hold" nodeType="clickEffect">
                                  <p:stCondLst>
                                    <p:cond delay="0"/>
                                  </p:stCondLst>
                                  <p:iterate type="lt">
                                    <p:tmPct val="50000"/>
                                  </p:iterate>
                                  <p:childTnLst>
                                    <p:set>
                                      <p:cBhvr>
                                        <p:cTn id="46" dur="1" fill="hold">
                                          <p:stCondLst>
                                            <p:cond delay="0"/>
                                          </p:stCondLst>
                                        </p:cTn>
                                        <p:tgtEl>
                                          <p:spTgt spid="2">
                                            <p:txEl>
                                              <p:pRg st="6" end="6"/>
                                            </p:txEl>
                                          </p:spTgt>
                                        </p:tgtEl>
                                        <p:attrNameLst>
                                          <p:attrName>style.visibility</p:attrName>
                                        </p:attrNameLst>
                                      </p:cBhvr>
                                      <p:to>
                                        <p:strVal val="visible"/>
                                      </p:to>
                                    </p:set>
                                    <p:anim calcmode="discrete" valueType="clr">
                                      <p:cBhvr override="childStyle">
                                        <p:cTn id="47" dur="80"/>
                                        <p:tgtEl>
                                          <p:spTgt spid="2">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8" dur="80"/>
                                        <p:tgtEl>
                                          <p:spTgt spid="2">
                                            <p:txEl>
                                              <p:pRg st="6" end="6"/>
                                            </p:txEl>
                                          </p:spTgt>
                                        </p:tgtEl>
                                        <p:attrNameLst>
                                          <p:attrName>fillcolor</p:attrName>
                                        </p:attrNameLst>
                                      </p:cBhvr>
                                      <p:tavLst>
                                        <p:tav tm="0">
                                          <p:val>
                                            <p:clrVal>
                                              <a:schemeClr val="accent2"/>
                                            </p:clrVal>
                                          </p:val>
                                        </p:tav>
                                        <p:tav tm="50000">
                                          <p:val>
                                            <p:clrVal>
                                              <a:schemeClr val="hlink"/>
                                            </p:clrVal>
                                          </p:val>
                                        </p:tav>
                                      </p:tavLst>
                                    </p:anim>
                                    <p:set>
                                      <p:cBhvr>
                                        <p:cTn id="49" dur="80"/>
                                        <p:tgtEl>
                                          <p:spTgt spid="2">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C8565F80-B495-32B8-D704-FFBFEAB7D485}"/>
              </a:ext>
            </a:extLst>
          </p:cNvPr>
          <p:cNvSpPr txBox="1">
            <a:spLocks noChangeArrowheads="1"/>
          </p:cNvSpPr>
          <p:nvPr/>
        </p:nvSpPr>
        <p:spPr bwMode="auto">
          <a:xfrm>
            <a:off x="450468" y="1862362"/>
            <a:ext cx="11291064" cy="3133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30000"/>
              </a:lnSpc>
              <a:buFontTx/>
              <a:buNone/>
              <a:defRPr/>
            </a:pPr>
            <a:r>
              <a:rPr lang="zh-CN" altLang="en-US" dirty="0">
                <a:solidFill>
                  <a:schemeClr val="tx1"/>
                </a:solidFill>
                <a:latin typeface="微软雅黑" panose="020B0503020204020204" pitchFamily="34" charset="-122"/>
                <a:sym typeface="+mn-ea"/>
              </a:rPr>
              <a:t>回归分析主要解决两个问题</a:t>
            </a:r>
            <a:endParaRPr lang="en-US" altLang="zh-CN" dirty="0">
              <a:solidFill>
                <a:schemeClr val="tx1"/>
              </a:solidFill>
              <a:latin typeface="微软雅黑" panose="020B0503020204020204" pitchFamily="34" charset="-122"/>
              <a:sym typeface="+mn-ea"/>
            </a:endParaRPr>
          </a:p>
          <a:p>
            <a:pPr marL="0" indent="0" eaLnBrk="1" hangingPunct="1">
              <a:lnSpc>
                <a:spcPct val="130000"/>
              </a:lnSpc>
              <a:buFontTx/>
              <a:buNone/>
              <a:defRPr/>
            </a:pPr>
            <a:endParaRPr lang="en-US" altLang="zh-CN" sz="2000" dirty="0">
              <a:solidFill>
                <a:schemeClr val="tx1"/>
              </a:solidFill>
              <a:latin typeface="微软雅黑" panose="020B0503020204020204" pitchFamily="34" charset="-122"/>
              <a:ea typeface="+mn-ea"/>
              <a:sym typeface="+mn-ea"/>
            </a:endParaRPr>
          </a:p>
          <a:p>
            <a:pPr lvl="2" eaLnBrk="1" hangingPunct="1">
              <a:lnSpc>
                <a:spcPct val="130000"/>
              </a:lnSpc>
              <a:buFontTx/>
              <a:buChar char="•"/>
              <a:defRPr/>
            </a:pPr>
            <a:r>
              <a:rPr lang="zh-CN" altLang="en-US" sz="2000" dirty="0">
                <a:latin typeface="+mn-ea"/>
                <a:ea typeface="+mn-ea"/>
                <a:sym typeface="+mn-ea"/>
              </a:rPr>
              <a:t>一是确定几个变量之间是否存在相关关系，如果存在，找出它们之间适当的数学表达式。</a:t>
            </a:r>
            <a:endParaRPr lang="en-US" altLang="zh-CN" sz="2000" dirty="0">
              <a:latin typeface="+mn-ea"/>
              <a:ea typeface="+mn-ea"/>
              <a:sym typeface="+mn-ea"/>
            </a:endParaRPr>
          </a:p>
          <a:p>
            <a:pPr lvl="2" eaLnBrk="1" hangingPunct="1">
              <a:lnSpc>
                <a:spcPct val="130000"/>
              </a:lnSpc>
              <a:buFontTx/>
              <a:buChar char="•"/>
              <a:defRPr/>
            </a:pPr>
            <a:r>
              <a:rPr lang="zh-CN" altLang="en-US" sz="2000" dirty="0">
                <a:latin typeface="+mn-ea"/>
                <a:ea typeface="+mn-ea"/>
                <a:sym typeface="+mn-ea"/>
              </a:rPr>
              <a:t>二是根据一个或几个变量的值，预测或控制另一个或几个变量的值。</a:t>
            </a:r>
          </a:p>
        </p:txBody>
      </p:sp>
    </p:spTree>
    <p:custDataLst>
      <p:tags r:id="rId1"/>
    </p:custDataLst>
    <p:extLst>
      <p:ext uri="{BB962C8B-B14F-4D97-AF65-F5344CB8AC3E}">
        <p14:creationId xmlns:p14="http://schemas.microsoft.com/office/powerpoint/2010/main" val="5057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1000"/>
                                        <p:tgtEl>
                                          <p:spTgt spid="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10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down)">
                                      <p:cBhvr>
                                        <p:cTn id="13" dur="1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3" name="图片 2">
            <a:extLst>
              <a:ext uri="{FF2B5EF4-FFF2-40B4-BE49-F238E27FC236}">
                <a16:creationId xmlns:a16="http://schemas.microsoft.com/office/drawing/2014/main" id="{84D1A472-715E-57B9-DB97-3594C32FCCE3}"/>
              </a:ext>
            </a:extLst>
          </p:cNvPr>
          <p:cNvPicPr>
            <a:picLocks noChangeAspect="1"/>
          </p:cNvPicPr>
          <p:nvPr/>
        </p:nvPicPr>
        <p:blipFill>
          <a:blip r:embed="rId3"/>
          <a:stretch>
            <a:fillRect/>
          </a:stretch>
        </p:blipFill>
        <p:spPr>
          <a:xfrm>
            <a:off x="897155" y="1219258"/>
            <a:ext cx="7349689" cy="4419484"/>
          </a:xfrm>
          <a:prstGeom prst="rect">
            <a:avLst/>
          </a:prstGeom>
        </p:spPr>
      </p:pic>
      <p:cxnSp>
        <p:nvCxnSpPr>
          <p:cNvPr id="4" name="直接连接符 3">
            <a:extLst>
              <a:ext uri="{FF2B5EF4-FFF2-40B4-BE49-F238E27FC236}">
                <a16:creationId xmlns:a16="http://schemas.microsoft.com/office/drawing/2014/main" id="{A3B67289-1512-6722-E2C8-D585FE099331}"/>
              </a:ext>
            </a:extLst>
          </p:cNvPr>
          <p:cNvCxnSpPr/>
          <p:nvPr/>
        </p:nvCxnSpPr>
        <p:spPr>
          <a:xfrm flipV="1">
            <a:off x="2209862" y="1943139"/>
            <a:ext cx="5029068" cy="297172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75D1C767-D118-41C3-708B-41EAD998A448}"/>
              </a:ext>
            </a:extLst>
          </p:cNvPr>
          <p:cNvCxnSpPr>
            <a:cxnSpLocks/>
          </p:cNvCxnSpPr>
          <p:nvPr/>
        </p:nvCxnSpPr>
        <p:spPr>
          <a:xfrm>
            <a:off x="2133664" y="3333754"/>
            <a:ext cx="5503794" cy="0"/>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18C62BC6-3F3F-91FC-DB59-C9799EE9B532}"/>
              </a:ext>
            </a:extLst>
          </p:cNvPr>
          <p:cNvCxnSpPr>
            <a:cxnSpLocks/>
          </p:cNvCxnSpPr>
          <p:nvPr/>
        </p:nvCxnSpPr>
        <p:spPr>
          <a:xfrm>
            <a:off x="2133664" y="2476525"/>
            <a:ext cx="5257662" cy="2171643"/>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pic>
        <p:nvPicPr>
          <p:cNvPr id="7" name="Picture 2" descr="口袋妖怪神兽领域最新手机版下载安装-口袋妖怪神兽领域全神兽完整版下载v2.0 GBA移植版-乐游网手机下载站">
            <a:extLst>
              <a:ext uri="{FF2B5EF4-FFF2-40B4-BE49-F238E27FC236}">
                <a16:creationId xmlns:a16="http://schemas.microsoft.com/office/drawing/2014/main" id="{BBE79D46-DF95-9026-699D-DD28DA4566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6892"/>
          <a:stretch/>
        </p:blipFill>
        <p:spPr bwMode="auto">
          <a:xfrm>
            <a:off x="7068867" y="4077278"/>
            <a:ext cx="4690818" cy="239904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76784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B44A52BF-5526-8C32-2789-0C11741A695D}"/>
              </a:ext>
            </a:extLst>
          </p:cNvPr>
          <p:cNvPicPr>
            <a:picLocks noChangeAspect="1"/>
          </p:cNvPicPr>
          <p:nvPr/>
        </p:nvPicPr>
        <p:blipFill>
          <a:blip r:embed="rId3"/>
          <a:stretch>
            <a:fillRect/>
          </a:stretch>
        </p:blipFill>
        <p:spPr>
          <a:xfrm>
            <a:off x="609704" y="917248"/>
            <a:ext cx="7725218" cy="4645295"/>
          </a:xfrm>
          <a:prstGeom prst="rect">
            <a:avLst/>
          </a:prstGeom>
        </p:spPr>
      </p:pic>
      <p:cxnSp>
        <p:nvCxnSpPr>
          <p:cNvPr id="3" name="直接连接符 2">
            <a:extLst>
              <a:ext uri="{FF2B5EF4-FFF2-40B4-BE49-F238E27FC236}">
                <a16:creationId xmlns:a16="http://schemas.microsoft.com/office/drawing/2014/main" id="{64031105-F5CD-1AB2-80EB-271FB825E2F5}"/>
              </a:ext>
            </a:extLst>
          </p:cNvPr>
          <p:cNvCxnSpPr/>
          <p:nvPr/>
        </p:nvCxnSpPr>
        <p:spPr>
          <a:xfrm flipV="1">
            <a:off x="1818728" y="1752644"/>
            <a:ext cx="5506544" cy="3200316"/>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4" name="直接连接符 3">
            <a:extLst>
              <a:ext uri="{FF2B5EF4-FFF2-40B4-BE49-F238E27FC236}">
                <a16:creationId xmlns:a16="http://schemas.microsoft.com/office/drawing/2014/main" id="{FA22D30F-459A-5BCB-6B79-479CBE82F2A0}"/>
              </a:ext>
            </a:extLst>
          </p:cNvPr>
          <p:cNvCxnSpPr>
            <a:cxnSpLocks/>
          </p:cNvCxnSpPr>
          <p:nvPr/>
        </p:nvCxnSpPr>
        <p:spPr>
          <a:xfrm flipV="1">
            <a:off x="1676476" y="2133634"/>
            <a:ext cx="6019642" cy="2347506"/>
          </a:xfrm>
          <a:prstGeom prst="line">
            <a:avLst/>
          </a:prstGeom>
          <a:ln w="76200">
            <a:solidFill>
              <a:schemeClr val="tx2">
                <a:lumMod val="90000"/>
              </a:schemeClr>
            </a:solidFill>
          </a:ln>
        </p:spPr>
        <p:style>
          <a:lnRef idx="3">
            <a:schemeClr val="accent1"/>
          </a:lnRef>
          <a:fillRef idx="0">
            <a:schemeClr val="accent1"/>
          </a:fillRef>
          <a:effectRef idx="2">
            <a:schemeClr val="accent1"/>
          </a:effectRef>
          <a:fontRef idx="minor">
            <a:schemeClr val="tx1"/>
          </a:fontRef>
        </p:style>
      </p:cxnSp>
      <p:cxnSp>
        <p:nvCxnSpPr>
          <p:cNvPr id="5" name="直接连接符 4">
            <a:extLst>
              <a:ext uri="{FF2B5EF4-FFF2-40B4-BE49-F238E27FC236}">
                <a16:creationId xmlns:a16="http://schemas.microsoft.com/office/drawing/2014/main" id="{6F4C442D-83F2-D314-1F20-C2D315AA9B33}"/>
              </a:ext>
            </a:extLst>
          </p:cNvPr>
          <p:cNvCxnSpPr>
            <a:cxnSpLocks/>
          </p:cNvCxnSpPr>
          <p:nvPr/>
        </p:nvCxnSpPr>
        <p:spPr>
          <a:xfrm flipV="1">
            <a:off x="1676476" y="2438426"/>
            <a:ext cx="6268644" cy="1485859"/>
          </a:xfrm>
          <a:prstGeom prst="line">
            <a:avLst/>
          </a:prstGeom>
          <a:ln w="76200">
            <a:solidFill>
              <a:schemeClr val="tx2">
                <a:lumMod val="75000"/>
              </a:schemeClr>
            </a:solidFill>
          </a:ln>
        </p:spPr>
        <p:style>
          <a:lnRef idx="3">
            <a:schemeClr val="accent1"/>
          </a:lnRef>
          <a:fillRef idx="0">
            <a:schemeClr val="accent1"/>
          </a:fillRef>
          <a:effectRef idx="2">
            <a:schemeClr val="accent1"/>
          </a:effectRef>
          <a:fontRef idx="minor">
            <a:schemeClr val="tx1"/>
          </a:fontRef>
        </p:style>
      </p:cxnSp>
      <p:pic>
        <p:nvPicPr>
          <p:cNvPr id="6" name="Picture 2" descr="口袋妖怪神兽领域最新手机版下载安装-口袋妖怪神兽领域全神兽完整版下载v2.0 GBA移植版-乐游网手机下载站">
            <a:extLst>
              <a:ext uri="{FF2B5EF4-FFF2-40B4-BE49-F238E27FC236}">
                <a16:creationId xmlns:a16="http://schemas.microsoft.com/office/drawing/2014/main" id="{EDC581E6-3877-F6A6-6DC6-A5A6F31B42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6892"/>
          <a:stretch/>
        </p:blipFill>
        <p:spPr bwMode="auto">
          <a:xfrm>
            <a:off x="7068867" y="4077278"/>
            <a:ext cx="4690818" cy="239904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946105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DF3F391C-D25B-DF4E-2722-BA427C60D220}"/>
              </a:ext>
            </a:extLst>
          </p:cNvPr>
          <p:cNvPicPr>
            <a:picLocks noChangeAspect="1"/>
          </p:cNvPicPr>
          <p:nvPr/>
        </p:nvPicPr>
        <p:blipFill>
          <a:blip r:embed="rId3"/>
          <a:stretch>
            <a:fillRect/>
          </a:stretch>
        </p:blipFill>
        <p:spPr>
          <a:xfrm>
            <a:off x="609704" y="917248"/>
            <a:ext cx="7632422" cy="4589495"/>
          </a:xfrm>
          <a:prstGeom prst="rect">
            <a:avLst/>
          </a:prstGeom>
        </p:spPr>
      </p:pic>
      <p:cxnSp>
        <p:nvCxnSpPr>
          <p:cNvPr id="3" name="直接连接符 2">
            <a:extLst>
              <a:ext uri="{FF2B5EF4-FFF2-40B4-BE49-F238E27FC236}">
                <a16:creationId xmlns:a16="http://schemas.microsoft.com/office/drawing/2014/main" id="{7B6AD639-D37E-8B44-6641-E6D754E4EE63}"/>
              </a:ext>
            </a:extLst>
          </p:cNvPr>
          <p:cNvCxnSpPr>
            <a:cxnSpLocks/>
          </p:cNvCxnSpPr>
          <p:nvPr/>
        </p:nvCxnSpPr>
        <p:spPr>
          <a:xfrm flipV="1">
            <a:off x="1718341" y="820851"/>
            <a:ext cx="5135671" cy="501455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aphicFrame>
        <p:nvGraphicFramePr>
          <p:cNvPr id="4" name="对象 3">
            <a:extLst>
              <a:ext uri="{FF2B5EF4-FFF2-40B4-BE49-F238E27FC236}">
                <a16:creationId xmlns:a16="http://schemas.microsoft.com/office/drawing/2014/main" id="{A6ECA19D-8280-BF86-0222-1CC9B999EC4A}"/>
              </a:ext>
            </a:extLst>
          </p:cNvPr>
          <p:cNvGraphicFramePr>
            <a:graphicFrameLocks noChangeAspect="1"/>
          </p:cNvGraphicFramePr>
          <p:nvPr>
            <p:extLst>
              <p:ext uri="{D42A27DB-BD31-4B8C-83A1-F6EECF244321}">
                <p14:modId xmlns:p14="http://schemas.microsoft.com/office/powerpoint/2010/main" val="1434696893"/>
              </p:ext>
            </p:extLst>
          </p:nvPr>
        </p:nvGraphicFramePr>
        <p:xfrm>
          <a:off x="6358843" y="2562704"/>
          <a:ext cx="1731443" cy="649291"/>
        </p:xfrm>
        <a:graphic>
          <a:graphicData uri="http://schemas.openxmlformats.org/presentationml/2006/ole">
            <mc:AlternateContent xmlns:mc="http://schemas.openxmlformats.org/markup-compatibility/2006">
              <mc:Choice xmlns:v="urn:schemas-microsoft-com:vml" Requires="v">
                <p:oleObj name="Equation" r:id="rId4" imgW="609480" imgH="228600" progId="Equation.DSMT4">
                  <p:embed/>
                </p:oleObj>
              </mc:Choice>
              <mc:Fallback>
                <p:oleObj name="Equation" r:id="rId4" imgW="609480" imgH="228600" progId="Equation.DSMT4">
                  <p:embed/>
                  <p:pic>
                    <p:nvPicPr>
                      <p:cNvPr id="11" name="对象 10">
                        <a:extLst>
                          <a:ext uri="{FF2B5EF4-FFF2-40B4-BE49-F238E27FC236}">
                            <a16:creationId xmlns:a16="http://schemas.microsoft.com/office/drawing/2014/main" id="{49F18E87-3B59-4473-86B0-446F3EF67561}"/>
                          </a:ext>
                        </a:extLst>
                      </p:cNvPr>
                      <p:cNvPicPr/>
                      <p:nvPr/>
                    </p:nvPicPr>
                    <p:blipFill>
                      <a:blip r:embed="rId5"/>
                      <a:stretch>
                        <a:fillRect/>
                      </a:stretch>
                    </p:blipFill>
                    <p:spPr>
                      <a:xfrm>
                        <a:off x="6358843" y="2562704"/>
                        <a:ext cx="1731443" cy="649291"/>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2408CA76-8FF1-2ECB-F49A-1936BAD1B429}"/>
              </a:ext>
            </a:extLst>
          </p:cNvPr>
          <p:cNvGraphicFramePr>
            <a:graphicFrameLocks noChangeAspect="1"/>
          </p:cNvGraphicFramePr>
          <p:nvPr>
            <p:extLst>
              <p:ext uri="{D42A27DB-BD31-4B8C-83A1-F6EECF244321}">
                <p14:modId xmlns:p14="http://schemas.microsoft.com/office/powerpoint/2010/main" val="852751631"/>
              </p:ext>
            </p:extLst>
          </p:nvPr>
        </p:nvGraphicFramePr>
        <p:xfrm>
          <a:off x="2865437" y="5690689"/>
          <a:ext cx="6461125" cy="685800"/>
        </p:xfrm>
        <a:graphic>
          <a:graphicData uri="http://schemas.openxmlformats.org/presentationml/2006/ole">
            <mc:AlternateContent xmlns:mc="http://schemas.openxmlformats.org/markup-compatibility/2006">
              <mc:Choice xmlns:v="urn:schemas-microsoft-com:vml" Requires="v">
                <p:oleObj name="Equation" r:id="rId6" imgW="2273040" imgH="241200" progId="Equation.DSMT4">
                  <p:embed/>
                </p:oleObj>
              </mc:Choice>
              <mc:Fallback>
                <p:oleObj name="Equation" r:id="rId6" imgW="2273040" imgH="241200" progId="Equation.DSMT4">
                  <p:embed/>
                  <p:pic>
                    <p:nvPicPr>
                      <p:cNvPr id="14" name="对象 13">
                        <a:extLst>
                          <a:ext uri="{FF2B5EF4-FFF2-40B4-BE49-F238E27FC236}">
                            <a16:creationId xmlns:a16="http://schemas.microsoft.com/office/drawing/2014/main" id="{208CC71F-8119-4884-8FC2-008304B8A7AB}"/>
                          </a:ext>
                        </a:extLst>
                      </p:cNvPr>
                      <p:cNvPicPr/>
                      <p:nvPr/>
                    </p:nvPicPr>
                    <p:blipFill>
                      <a:blip r:embed="rId7"/>
                      <a:stretch>
                        <a:fillRect/>
                      </a:stretch>
                    </p:blipFill>
                    <p:spPr>
                      <a:xfrm>
                        <a:off x="2865437" y="5690689"/>
                        <a:ext cx="6461125" cy="685800"/>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245623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CFD47604-3819-0650-9DEB-CCC7EF9CB035}"/>
              </a:ext>
            </a:extLst>
          </p:cNvPr>
          <p:cNvPicPr>
            <a:picLocks noChangeAspect="1"/>
          </p:cNvPicPr>
          <p:nvPr/>
        </p:nvPicPr>
        <p:blipFill>
          <a:blip r:embed="rId3"/>
          <a:stretch>
            <a:fillRect/>
          </a:stretch>
        </p:blipFill>
        <p:spPr>
          <a:xfrm>
            <a:off x="609704" y="917248"/>
            <a:ext cx="7632422" cy="4589495"/>
          </a:xfrm>
          <a:prstGeom prst="rect">
            <a:avLst/>
          </a:prstGeom>
        </p:spPr>
      </p:pic>
      <p:cxnSp>
        <p:nvCxnSpPr>
          <p:cNvPr id="3" name="直接连接符 2">
            <a:extLst>
              <a:ext uri="{FF2B5EF4-FFF2-40B4-BE49-F238E27FC236}">
                <a16:creationId xmlns:a16="http://schemas.microsoft.com/office/drawing/2014/main" id="{AA72EA29-BF61-53EA-CFE7-D0277B0B8023}"/>
              </a:ext>
            </a:extLst>
          </p:cNvPr>
          <p:cNvCxnSpPr>
            <a:cxnSpLocks/>
          </p:cNvCxnSpPr>
          <p:nvPr/>
        </p:nvCxnSpPr>
        <p:spPr>
          <a:xfrm flipV="1">
            <a:off x="1718341" y="820851"/>
            <a:ext cx="5135671" cy="501455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aphicFrame>
        <p:nvGraphicFramePr>
          <p:cNvPr id="4" name="对象 3">
            <a:extLst>
              <a:ext uri="{FF2B5EF4-FFF2-40B4-BE49-F238E27FC236}">
                <a16:creationId xmlns:a16="http://schemas.microsoft.com/office/drawing/2014/main" id="{ADAE6423-AA9E-F000-AA40-B450F37C2987}"/>
              </a:ext>
            </a:extLst>
          </p:cNvPr>
          <p:cNvGraphicFramePr>
            <a:graphicFrameLocks noChangeAspect="1"/>
          </p:cNvGraphicFramePr>
          <p:nvPr>
            <p:extLst>
              <p:ext uri="{D42A27DB-BD31-4B8C-83A1-F6EECF244321}">
                <p14:modId xmlns:p14="http://schemas.microsoft.com/office/powerpoint/2010/main" val="2334143749"/>
              </p:ext>
            </p:extLst>
          </p:nvPr>
        </p:nvGraphicFramePr>
        <p:xfrm>
          <a:off x="6358843" y="2562704"/>
          <a:ext cx="1731443" cy="649291"/>
        </p:xfrm>
        <a:graphic>
          <a:graphicData uri="http://schemas.openxmlformats.org/presentationml/2006/ole">
            <mc:AlternateContent xmlns:mc="http://schemas.openxmlformats.org/markup-compatibility/2006">
              <mc:Choice xmlns:v="urn:schemas-microsoft-com:vml" Requires="v">
                <p:oleObj name="Equation" r:id="rId4" imgW="609480" imgH="228600" progId="Equation.DSMT4">
                  <p:embed/>
                </p:oleObj>
              </mc:Choice>
              <mc:Fallback>
                <p:oleObj name="Equation" r:id="rId4" imgW="609480" imgH="228600" progId="Equation.DSMT4">
                  <p:embed/>
                  <p:pic>
                    <p:nvPicPr>
                      <p:cNvPr id="4" name="对象 3">
                        <a:extLst>
                          <a:ext uri="{FF2B5EF4-FFF2-40B4-BE49-F238E27FC236}">
                            <a16:creationId xmlns:a16="http://schemas.microsoft.com/office/drawing/2014/main" id="{A6ECA19D-8280-BF86-0222-1CC9B999EC4A}"/>
                          </a:ext>
                        </a:extLst>
                      </p:cNvPr>
                      <p:cNvPicPr/>
                      <p:nvPr/>
                    </p:nvPicPr>
                    <p:blipFill>
                      <a:blip r:embed="rId5"/>
                      <a:stretch>
                        <a:fillRect/>
                      </a:stretch>
                    </p:blipFill>
                    <p:spPr>
                      <a:xfrm>
                        <a:off x="6358843" y="2562704"/>
                        <a:ext cx="1731443" cy="649291"/>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920EF928-9297-4CF0-0C49-5B36BDE56D73}"/>
              </a:ext>
            </a:extLst>
          </p:cNvPr>
          <p:cNvGraphicFramePr>
            <a:graphicFrameLocks noChangeAspect="1"/>
          </p:cNvGraphicFramePr>
          <p:nvPr>
            <p:extLst>
              <p:ext uri="{D42A27DB-BD31-4B8C-83A1-F6EECF244321}">
                <p14:modId xmlns:p14="http://schemas.microsoft.com/office/powerpoint/2010/main" val="1727628241"/>
              </p:ext>
            </p:extLst>
          </p:nvPr>
        </p:nvGraphicFramePr>
        <p:xfrm>
          <a:off x="3148657" y="5526437"/>
          <a:ext cx="8151813" cy="985838"/>
        </p:xfrm>
        <a:graphic>
          <a:graphicData uri="http://schemas.openxmlformats.org/presentationml/2006/ole">
            <mc:AlternateContent xmlns:mc="http://schemas.openxmlformats.org/markup-compatibility/2006">
              <mc:Choice xmlns:v="urn:schemas-microsoft-com:vml" Requires="v">
                <p:oleObj name="Equation" r:id="rId6" imgW="3568680" imgH="431640" progId="Equation.DSMT4">
                  <p:embed/>
                </p:oleObj>
              </mc:Choice>
              <mc:Fallback>
                <p:oleObj name="Equation" r:id="rId6" imgW="3568680" imgH="431640" progId="Equation.DSMT4">
                  <p:embed/>
                  <p:pic>
                    <p:nvPicPr>
                      <p:cNvPr id="10" name="对象 9">
                        <a:extLst>
                          <a:ext uri="{FF2B5EF4-FFF2-40B4-BE49-F238E27FC236}">
                            <a16:creationId xmlns:a16="http://schemas.microsoft.com/office/drawing/2014/main" id="{3B5ED1C0-72B5-465E-9F7D-87AE82F60DB2}"/>
                          </a:ext>
                        </a:extLst>
                      </p:cNvPr>
                      <p:cNvPicPr/>
                      <p:nvPr/>
                    </p:nvPicPr>
                    <p:blipFill>
                      <a:blip r:embed="rId7"/>
                      <a:stretch>
                        <a:fillRect/>
                      </a:stretch>
                    </p:blipFill>
                    <p:spPr>
                      <a:xfrm>
                        <a:off x="3148657" y="5526437"/>
                        <a:ext cx="8151813" cy="985838"/>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78216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Picture 2" descr="导数- 维基百科，自由的百科全书">
            <a:extLst>
              <a:ext uri="{FF2B5EF4-FFF2-40B4-BE49-F238E27FC236}">
                <a16:creationId xmlns:a16="http://schemas.microsoft.com/office/drawing/2014/main" id="{E81A6D8B-9363-6E79-26EC-89428A568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9874" y="1097865"/>
            <a:ext cx="6692252" cy="466226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52108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Picture 6" descr="多元函数微分及其应用- Guoning Wu / Ph.D.">
            <a:extLst>
              <a:ext uri="{FF2B5EF4-FFF2-40B4-BE49-F238E27FC236}">
                <a16:creationId xmlns:a16="http://schemas.microsoft.com/office/drawing/2014/main" id="{4121BB0F-AB28-1218-A13E-49142065BA8D}"/>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3839" y="787411"/>
            <a:ext cx="7148486" cy="528317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08938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4" name="对象 3">
            <a:extLst>
              <a:ext uri="{FF2B5EF4-FFF2-40B4-BE49-F238E27FC236}">
                <a16:creationId xmlns:a16="http://schemas.microsoft.com/office/drawing/2014/main" id="{DED0B168-C335-B035-AFDF-C00FE753DA27}"/>
              </a:ext>
            </a:extLst>
          </p:cNvPr>
          <p:cNvGraphicFramePr>
            <a:graphicFrameLocks noChangeAspect="1"/>
          </p:cNvGraphicFramePr>
          <p:nvPr>
            <p:extLst>
              <p:ext uri="{D42A27DB-BD31-4B8C-83A1-F6EECF244321}">
                <p14:modId xmlns:p14="http://schemas.microsoft.com/office/powerpoint/2010/main" val="3833213012"/>
              </p:ext>
            </p:extLst>
          </p:nvPr>
        </p:nvGraphicFramePr>
        <p:xfrm>
          <a:off x="1016102" y="1111286"/>
          <a:ext cx="6553028" cy="792489"/>
        </p:xfrm>
        <a:graphic>
          <a:graphicData uri="http://schemas.openxmlformats.org/presentationml/2006/ole">
            <mc:AlternateContent xmlns:mc="http://schemas.openxmlformats.org/markup-compatibility/2006">
              <mc:Choice xmlns:v="urn:schemas-microsoft-com:vml" Requires="v">
                <p:oleObj name="Equation" r:id="rId3" imgW="3568680" imgH="431640" progId="Equation.DSMT4">
                  <p:embed/>
                </p:oleObj>
              </mc:Choice>
              <mc:Fallback>
                <p:oleObj name="Equation" r:id="rId3" imgW="3568680" imgH="431640" progId="Equation.DSMT4">
                  <p:embed/>
                  <p:pic>
                    <p:nvPicPr>
                      <p:cNvPr id="13" name="对象 12">
                        <a:extLst>
                          <a:ext uri="{FF2B5EF4-FFF2-40B4-BE49-F238E27FC236}">
                            <a16:creationId xmlns:a16="http://schemas.microsoft.com/office/drawing/2014/main" id="{17C19606-7B87-4562-9C2B-F0ACDECF5C27}"/>
                          </a:ext>
                        </a:extLst>
                      </p:cNvPr>
                      <p:cNvPicPr/>
                      <p:nvPr/>
                    </p:nvPicPr>
                    <p:blipFill>
                      <a:blip r:embed="rId4"/>
                      <a:stretch>
                        <a:fillRect/>
                      </a:stretch>
                    </p:blipFill>
                    <p:spPr>
                      <a:xfrm>
                        <a:off x="1016102" y="1111286"/>
                        <a:ext cx="6553028" cy="792489"/>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96A14A68-8632-3144-2977-A60286CE5772}"/>
              </a:ext>
            </a:extLst>
          </p:cNvPr>
          <p:cNvSpPr txBox="1"/>
          <p:nvPr/>
        </p:nvSpPr>
        <p:spPr>
          <a:xfrm>
            <a:off x="939813" y="1966826"/>
            <a:ext cx="7345092" cy="4524315"/>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求解过程：</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342900" indent="-342900">
              <a:buAutoNum type="arabicPeriod"/>
            </a:pPr>
            <a:r>
              <a:rPr lang="zh-CN" altLang="en-US" dirty="0">
                <a:latin typeface="微软雅黑" panose="020B0503020204020204" pitchFamily="34" charset="-122"/>
                <a:ea typeface="微软雅黑" panose="020B0503020204020204" pitchFamily="34" charset="-122"/>
              </a:rPr>
              <a:t>分别对     和     求一阶偏导，并令其一阶偏导值为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。即：</a:t>
            </a: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graphicFrame>
        <p:nvGraphicFramePr>
          <p:cNvPr id="6" name="对象 5">
            <a:extLst>
              <a:ext uri="{FF2B5EF4-FFF2-40B4-BE49-F238E27FC236}">
                <a16:creationId xmlns:a16="http://schemas.microsoft.com/office/drawing/2014/main" id="{2BDEE29D-00AD-5A83-389C-7629336CA7F1}"/>
              </a:ext>
            </a:extLst>
          </p:cNvPr>
          <p:cNvGraphicFramePr>
            <a:graphicFrameLocks noChangeAspect="1"/>
          </p:cNvGraphicFramePr>
          <p:nvPr>
            <p:extLst>
              <p:ext uri="{D42A27DB-BD31-4B8C-83A1-F6EECF244321}">
                <p14:modId xmlns:p14="http://schemas.microsoft.com/office/powerpoint/2010/main" val="1400113256"/>
              </p:ext>
            </p:extLst>
          </p:nvPr>
        </p:nvGraphicFramePr>
        <p:xfrm>
          <a:off x="2082874" y="2520824"/>
          <a:ext cx="349250" cy="420688"/>
        </p:xfrm>
        <a:graphic>
          <a:graphicData uri="http://schemas.openxmlformats.org/presentationml/2006/ole">
            <mc:AlternateContent xmlns:mc="http://schemas.openxmlformats.org/markup-compatibility/2006">
              <mc:Choice xmlns:v="urn:schemas-microsoft-com:vml" Requires="v">
                <p:oleObj name="Equation" r:id="rId5" imgW="190440" imgH="228600" progId="Equation.DSMT4">
                  <p:embed/>
                </p:oleObj>
              </mc:Choice>
              <mc:Fallback>
                <p:oleObj name="Equation" r:id="rId5" imgW="190440" imgH="228600" progId="Equation.DSMT4">
                  <p:embed/>
                  <p:pic>
                    <p:nvPicPr>
                      <p:cNvPr id="16" name="对象 15">
                        <a:extLst>
                          <a:ext uri="{FF2B5EF4-FFF2-40B4-BE49-F238E27FC236}">
                            <a16:creationId xmlns:a16="http://schemas.microsoft.com/office/drawing/2014/main" id="{382ADD57-7C5E-4FE9-A335-1D5DAD38920F}"/>
                          </a:ext>
                        </a:extLst>
                      </p:cNvPr>
                      <p:cNvPicPr/>
                      <p:nvPr/>
                    </p:nvPicPr>
                    <p:blipFill>
                      <a:blip r:embed="rId6"/>
                      <a:stretch>
                        <a:fillRect/>
                      </a:stretch>
                    </p:blipFill>
                    <p:spPr>
                      <a:xfrm>
                        <a:off x="2082874" y="2520824"/>
                        <a:ext cx="349250" cy="42068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E04756AD-B290-DB0C-ACFB-E3D47CAE0CB5}"/>
              </a:ext>
            </a:extLst>
          </p:cNvPr>
          <p:cNvGraphicFramePr>
            <a:graphicFrameLocks noChangeAspect="1"/>
          </p:cNvGraphicFramePr>
          <p:nvPr>
            <p:extLst>
              <p:ext uri="{D42A27DB-BD31-4B8C-83A1-F6EECF244321}">
                <p14:modId xmlns:p14="http://schemas.microsoft.com/office/powerpoint/2010/main" val="88672065"/>
              </p:ext>
            </p:extLst>
          </p:nvPr>
        </p:nvGraphicFramePr>
        <p:xfrm>
          <a:off x="2625136" y="2520824"/>
          <a:ext cx="325437" cy="420688"/>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17" name="对象 16">
                        <a:extLst>
                          <a:ext uri="{FF2B5EF4-FFF2-40B4-BE49-F238E27FC236}">
                            <a16:creationId xmlns:a16="http://schemas.microsoft.com/office/drawing/2014/main" id="{E9DBA9C2-3F2F-4DEC-B3EC-63FE8B40213B}"/>
                          </a:ext>
                        </a:extLst>
                      </p:cNvPr>
                      <p:cNvPicPr/>
                      <p:nvPr/>
                    </p:nvPicPr>
                    <p:blipFill>
                      <a:blip r:embed="rId8"/>
                      <a:stretch>
                        <a:fillRect/>
                      </a:stretch>
                    </p:blipFill>
                    <p:spPr>
                      <a:xfrm>
                        <a:off x="2625136" y="2520824"/>
                        <a:ext cx="325437" cy="42068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0D12DBD-E42B-C593-2296-3DB6008621B9}"/>
              </a:ext>
            </a:extLst>
          </p:cNvPr>
          <p:cNvGraphicFramePr>
            <a:graphicFrameLocks noChangeAspect="1"/>
          </p:cNvGraphicFramePr>
          <p:nvPr>
            <p:extLst>
              <p:ext uri="{D42A27DB-BD31-4B8C-83A1-F6EECF244321}">
                <p14:modId xmlns:p14="http://schemas.microsoft.com/office/powerpoint/2010/main" val="3911069310"/>
              </p:ext>
            </p:extLst>
          </p:nvPr>
        </p:nvGraphicFramePr>
        <p:xfrm>
          <a:off x="2782888" y="3032125"/>
          <a:ext cx="3987800" cy="815975"/>
        </p:xfrm>
        <a:graphic>
          <a:graphicData uri="http://schemas.openxmlformats.org/presentationml/2006/ole">
            <mc:AlternateContent xmlns:mc="http://schemas.openxmlformats.org/markup-compatibility/2006">
              <mc:Choice xmlns:v="urn:schemas-microsoft-com:vml" Requires="v">
                <p:oleObj name="Equation" r:id="rId9" imgW="2171520" imgH="444240" progId="Equation.DSMT4">
                  <p:embed/>
                </p:oleObj>
              </mc:Choice>
              <mc:Fallback>
                <p:oleObj name="Equation" r:id="rId9" imgW="2171520" imgH="444240" progId="Equation.DSMT4">
                  <p:embed/>
                  <p:pic>
                    <p:nvPicPr>
                      <p:cNvPr id="18" name="对象 17">
                        <a:extLst>
                          <a:ext uri="{FF2B5EF4-FFF2-40B4-BE49-F238E27FC236}">
                            <a16:creationId xmlns:a16="http://schemas.microsoft.com/office/drawing/2014/main" id="{B466B3E4-E111-4963-A550-4C2AC70193B2}"/>
                          </a:ext>
                        </a:extLst>
                      </p:cNvPr>
                      <p:cNvPicPr/>
                      <p:nvPr/>
                    </p:nvPicPr>
                    <p:blipFill>
                      <a:blip r:embed="rId10"/>
                      <a:stretch>
                        <a:fillRect/>
                      </a:stretch>
                    </p:blipFill>
                    <p:spPr>
                      <a:xfrm>
                        <a:off x="2782888" y="3032125"/>
                        <a:ext cx="3987800" cy="81597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73A9A73-6B54-F4D2-65B6-FB4D67668F83}"/>
              </a:ext>
            </a:extLst>
          </p:cNvPr>
          <p:cNvGraphicFramePr>
            <a:graphicFrameLocks noChangeAspect="1"/>
          </p:cNvGraphicFramePr>
          <p:nvPr>
            <p:extLst>
              <p:ext uri="{D42A27DB-BD31-4B8C-83A1-F6EECF244321}">
                <p14:modId xmlns:p14="http://schemas.microsoft.com/office/powerpoint/2010/main" val="2788594804"/>
              </p:ext>
            </p:extLst>
          </p:nvPr>
        </p:nvGraphicFramePr>
        <p:xfrm>
          <a:off x="2741613" y="3997325"/>
          <a:ext cx="4337050" cy="815975"/>
        </p:xfrm>
        <a:graphic>
          <a:graphicData uri="http://schemas.openxmlformats.org/presentationml/2006/ole">
            <mc:AlternateContent xmlns:mc="http://schemas.openxmlformats.org/markup-compatibility/2006">
              <mc:Choice xmlns:v="urn:schemas-microsoft-com:vml" Requires="v">
                <p:oleObj name="Equation" r:id="rId11" imgW="2361960" imgH="444240" progId="Equation.DSMT4">
                  <p:embed/>
                </p:oleObj>
              </mc:Choice>
              <mc:Fallback>
                <p:oleObj name="Equation" r:id="rId11" imgW="2361960" imgH="444240" progId="Equation.DSMT4">
                  <p:embed/>
                  <p:pic>
                    <p:nvPicPr>
                      <p:cNvPr id="19" name="对象 18">
                        <a:extLst>
                          <a:ext uri="{FF2B5EF4-FFF2-40B4-BE49-F238E27FC236}">
                            <a16:creationId xmlns:a16="http://schemas.microsoft.com/office/drawing/2014/main" id="{868433E0-EB3F-4B58-97B5-EC76D4296FCE}"/>
                          </a:ext>
                        </a:extLst>
                      </p:cNvPr>
                      <p:cNvPicPr/>
                      <p:nvPr/>
                    </p:nvPicPr>
                    <p:blipFill>
                      <a:blip r:embed="rId12"/>
                      <a:stretch>
                        <a:fillRect/>
                      </a:stretch>
                    </p:blipFill>
                    <p:spPr>
                      <a:xfrm>
                        <a:off x="2741613" y="3997325"/>
                        <a:ext cx="4337050" cy="815975"/>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3642440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文本框 1">
            <a:extLst>
              <a:ext uri="{FF2B5EF4-FFF2-40B4-BE49-F238E27FC236}">
                <a16:creationId xmlns:a16="http://schemas.microsoft.com/office/drawing/2014/main" id="{A46F31DC-1078-803F-6791-1227AE276DE6}"/>
              </a:ext>
            </a:extLst>
          </p:cNvPr>
          <p:cNvSpPr txBox="1"/>
          <p:nvPr/>
        </p:nvSpPr>
        <p:spPr>
          <a:xfrm>
            <a:off x="533506" y="742116"/>
            <a:ext cx="6553088"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根据上述两式即可求解得到     和    的值，即：</a:t>
            </a:r>
            <a:endParaRPr lang="en-US" altLang="zh-CN" dirty="0">
              <a:latin typeface="微软雅黑" panose="020B0503020204020204" pitchFamily="34" charset="-122"/>
              <a:ea typeface="微软雅黑" panose="020B0503020204020204" pitchFamily="34" charset="-122"/>
            </a:endParaRPr>
          </a:p>
        </p:txBody>
      </p:sp>
      <p:graphicFrame>
        <p:nvGraphicFramePr>
          <p:cNvPr id="3" name="对象 2">
            <a:extLst>
              <a:ext uri="{FF2B5EF4-FFF2-40B4-BE49-F238E27FC236}">
                <a16:creationId xmlns:a16="http://schemas.microsoft.com/office/drawing/2014/main" id="{94E54322-6077-2C64-930F-248B127A88A1}"/>
              </a:ext>
            </a:extLst>
          </p:cNvPr>
          <p:cNvGraphicFramePr>
            <a:graphicFrameLocks noChangeAspect="1"/>
          </p:cNvGraphicFramePr>
          <p:nvPr>
            <p:extLst>
              <p:ext uri="{D42A27DB-BD31-4B8C-83A1-F6EECF244321}">
                <p14:modId xmlns:p14="http://schemas.microsoft.com/office/powerpoint/2010/main" val="1456983981"/>
              </p:ext>
            </p:extLst>
          </p:nvPr>
        </p:nvGraphicFramePr>
        <p:xfrm>
          <a:off x="7773115" y="2483364"/>
          <a:ext cx="1432178" cy="404183"/>
        </p:xfrm>
        <a:graphic>
          <a:graphicData uri="http://schemas.openxmlformats.org/presentationml/2006/ole">
            <mc:AlternateContent xmlns:mc="http://schemas.openxmlformats.org/markup-compatibility/2006">
              <mc:Choice xmlns:v="urn:schemas-microsoft-com:vml" Requires="v">
                <p:oleObj name="Equation" r:id="rId3" imgW="812520" imgH="228600" progId="Equation.DSMT4">
                  <p:embed/>
                </p:oleObj>
              </mc:Choice>
              <mc:Fallback>
                <p:oleObj name="Equation" r:id="rId3" imgW="812520" imgH="228600" progId="Equation.DSMT4">
                  <p:embed/>
                  <p:pic>
                    <p:nvPicPr>
                      <p:cNvPr id="10" name="对象 9">
                        <a:extLst>
                          <a:ext uri="{FF2B5EF4-FFF2-40B4-BE49-F238E27FC236}">
                            <a16:creationId xmlns:a16="http://schemas.microsoft.com/office/drawing/2014/main" id="{F71416D8-40B5-4D45-81D0-49B3C701AC91}"/>
                          </a:ext>
                        </a:extLst>
                      </p:cNvPr>
                      <p:cNvPicPr/>
                      <p:nvPr/>
                    </p:nvPicPr>
                    <p:blipFill>
                      <a:blip r:embed="rId4"/>
                      <a:stretch>
                        <a:fillRect/>
                      </a:stretch>
                    </p:blipFill>
                    <p:spPr>
                      <a:xfrm>
                        <a:off x="7773115" y="2483364"/>
                        <a:ext cx="1432178" cy="404183"/>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D3E2DC5C-EE5A-8A8D-FF3F-6FCC2C719A7E}"/>
              </a:ext>
            </a:extLst>
          </p:cNvPr>
          <p:cNvGraphicFramePr>
            <a:graphicFrameLocks noChangeAspect="1"/>
          </p:cNvGraphicFramePr>
          <p:nvPr>
            <p:extLst>
              <p:ext uri="{D42A27DB-BD31-4B8C-83A1-F6EECF244321}">
                <p14:modId xmlns:p14="http://schemas.microsoft.com/office/powerpoint/2010/main" val="2444260428"/>
              </p:ext>
            </p:extLst>
          </p:nvPr>
        </p:nvGraphicFramePr>
        <p:xfrm>
          <a:off x="7706139" y="1312269"/>
          <a:ext cx="1566131" cy="808326"/>
        </p:xfrm>
        <a:graphic>
          <a:graphicData uri="http://schemas.openxmlformats.org/presentationml/2006/ole">
            <mc:AlternateContent xmlns:mc="http://schemas.openxmlformats.org/markup-compatibility/2006">
              <mc:Choice xmlns:v="urn:schemas-microsoft-com:vml" Requires="v">
                <p:oleObj name="Equation" r:id="rId5" imgW="888840" imgH="457200" progId="Equation.DSMT4">
                  <p:embed/>
                </p:oleObj>
              </mc:Choice>
              <mc:Fallback>
                <p:oleObj name="Equation" r:id="rId5" imgW="888840" imgH="457200" progId="Equation.DSMT4">
                  <p:embed/>
                  <p:pic>
                    <p:nvPicPr>
                      <p:cNvPr id="11" name="对象 10">
                        <a:extLst>
                          <a:ext uri="{FF2B5EF4-FFF2-40B4-BE49-F238E27FC236}">
                            <a16:creationId xmlns:a16="http://schemas.microsoft.com/office/drawing/2014/main" id="{5BACA527-FF42-4373-8B93-4E53F07FE073}"/>
                          </a:ext>
                        </a:extLst>
                      </p:cNvPr>
                      <p:cNvPicPr/>
                      <p:nvPr/>
                    </p:nvPicPr>
                    <p:blipFill>
                      <a:blip r:embed="rId6"/>
                      <a:stretch>
                        <a:fillRect/>
                      </a:stretch>
                    </p:blipFill>
                    <p:spPr>
                      <a:xfrm>
                        <a:off x="7706139" y="1312269"/>
                        <a:ext cx="1566131" cy="808326"/>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4CD742EF-4C38-C3A2-779C-DC3079D204F9}"/>
              </a:ext>
            </a:extLst>
          </p:cNvPr>
          <p:cNvGraphicFramePr>
            <a:graphicFrameLocks noChangeAspect="1"/>
          </p:cNvGraphicFramePr>
          <p:nvPr>
            <p:extLst>
              <p:ext uri="{D42A27DB-BD31-4B8C-83A1-F6EECF244321}">
                <p14:modId xmlns:p14="http://schemas.microsoft.com/office/powerpoint/2010/main" val="2176532327"/>
              </p:ext>
            </p:extLst>
          </p:nvPr>
        </p:nvGraphicFramePr>
        <p:xfrm>
          <a:off x="924164" y="1312269"/>
          <a:ext cx="3987800" cy="815975"/>
        </p:xfrm>
        <a:graphic>
          <a:graphicData uri="http://schemas.openxmlformats.org/presentationml/2006/ole">
            <mc:AlternateContent xmlns:mc="http://schemas.openxmlformats.org/markup-compatibility/2006">
              <mc:Choice xmlns:v="urn:schemas-microsoft-com:vml" Requires="v">
                <p:oleObj name="Equation" r:id="rId7" imgW="2171520" imgH="444240" progId="Equation.DSMT4">
                  <p:embed/>
                </p:oleObj>
              </mc:Choice>
              <mc:Fallback>
                <p:oleObj name="Equation" r:id="rId7" imgW="2171520" imgH="444240" progId="Equation.DSMT4">
                  <p:embed/>
                  <p:pic>
                    <p:nvPicPr>
                      <p:cNvPr id="8" name="对象 7">
                        <a:extLst>
                          <a:ext uri="{FF2B5EF4-FFF2-40B4-BE49-F238E27FC236}">
                            <a16:creationId xmlns:a16="http://schemas.microsoft.com/office/drawing/2014/main" id="{60D12DBD-E42B-C593-2296-3DB6008621B9}"/>
                          </a:ext>
                        </a:extLst>
                      </p:cNvPr>
                      <p:cNvPicPr/>
                      <p:nvPr/>
                    </p:nvPicPr>
                    <p:blipFill>
                      <a:blip r:embed="rId8"/>
                      <a:stretch>
                        <a:fillRect/>
                      </a:stretch>
                    </p:blipFill>
                    <p:spPr>
                      <a:xfrm>
                        <a:off x="924164" y="1312269"/>
                        <a:ext cx="3987800" cy="81597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18370E59-95AB-06D1-A6BE-C217827D65E9}"/>
              </a:ext>
            </a:extLst>
          </p:cNvPr>
          <p:cNvGraphicFramePr>
            <a:graphicFrameLocks noChangeAspect="1"/>
          </p:cNvGraphicFramePr>
          <p:nvPr>
            <p:extLst>
              <p:ext uri="{D42A27DB-BD31-4B8C-83A1-F6EECF244321}">
                <p14:modId xmlns:p14="http://schemas.microsoft.com/office/powerpoint/2010/main" val="2532361339"/>
              </p:ext>
            </p:extLst>
          </p:nvPr>
        </p:nvGraphicFramePr>
        <p:xfrm>
          <a:off x="882889" y="2277469"/>
          <a:ext cx="4337050" cy="815975"/>
        </p:xfrm>
        <a:graphic>
          <a:graphicData uri="http://schemas.openxmlformats.org/presentationml/2006/ole">
            <mc:AlternateContent xmlns:mc="http://schemas.openxmlformats.org/markup-compatibility/2006">
              <mc:Choice xmlns:v="urn:schemas-microsoft-com:vml" Requires="v">
                <p:oleObj name="Equation" r:id="rId9" imgW="2361960" imgH="444240" progId="Equation.DSMT4">
                  <p:embed/>
                </p:oleObj>
              </mc:Choice>
              <mc:Fallback>
                <p:oleObj name="Equation" r:id="rId9" imgW="2361960" imgH="444240" progId="Equation.DSMT4">
                  <p:embed/>
                  <p:pic>
                    <p:nvPicPr>
                      <p:cNvPr id="9" name="对象 8">
                        <a:extLst>
                          <a:ext uri="{FF2B5EF4-FFF2-40B4-BE49-F238E27FC236}">
                            <a16:creationId xmlns:a16="http://schemas.microsoft.com/office/drawing/2014/main" id="{D73A9A73-6B54-F4D2-65B6-FB4D67668F83}"/>
                          </a:ext>
                        </a:extLst>
                      </p:cNvPr>
                      <p:cNvPicPr/>
                      <p:nvPr/>
                    </p:nvPicPr>
                    <p:blipFill>
                      <a:blip r:embed="rId10"/>
                      <a:stretch>
                        <a:fillRect/>
                      </a:stretch>
                    </p:blipFill>
                    <p:spPr>
                      <a:xfrm>
                        <a:off x="882889" y="2277469"/>
                        <a:ext cx="4337050" cy="815975"/>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3712587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文本框 1">
            <a:extLst>
              <a:ext uri="{FF2B5EF4-FFF2-40B4-BE49-F238E27FC236}">
                <a16:creationId xmlns:a16="http://schemas.microsoft.com/office/drawing/2014/main" id="{86486107-EEA5-7869-6D2B-7CF6A98EF033}"/>
              </a:ext>
            </a:extLst>
          </p:cNvPr>
          <p:cNvSpPr txBox="1"/>
          <p:nvPr/>
        </p:nvSpPr>
        <p:spPr>
          <a:xfrm>
            <a:off x="319139" y="1143058"/>
            <a:ext cx="10829638" cy="1754326"/>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例： </a:t>
            </a:r>
            <a:r>
              <a:rPr lang="zh-CN" altLang="zh-CN" b="1" dirty="0">
                <a:latin typeface="微软雅黑" panose="020B0503020204020204" pitchFamily="34" charset="-122"/>
                <a:ea typeface="微软雅黑" panose="020B0503020204020204" pitchFamily="34" charset="-122"/>
              </a:rPr>
              <a:t>某种商品与家庭平均消费量的关系</a:t>
            </a:r>
            <a:endParaRPr lang="en-US" altLang="zh-CN" b="1" dirty="0">
              <a:latin typeface="微软雅黑" panose="020B0503020204020204" pitchFamily="34" charset="-122"/>
              <a:ea typeface="微软雅黑" panose="020B0503020204020204" pitchFamily="34" charset="-122"/>
            </a:endParaRPr>
          </a:p>
          <a:p>
            <a:endParaRPr lang="en-US" altLang="zh-CN" b="1"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以某家庭为调查单位，某种商品在某年各月的家庭平均月消费量</a:t>
            </a:r>
            <a:r>
              <a:rPr lang="en-US" altLang="zh-CN" i="1" dirty="0">
                <a:latin typeface="微软雅黑" panose="020B0503020204020204" pitchFamily="34" charset="-122"/>
                <a:ea typeface="微软雅黑" panose="020B0503020204020204" pitchFamily="34" charset="-122"/>
              </a:rPr>
              <a:t>Y</a:t>
            </a:r>
            <a:r>
              <a:rPr lang="en-US" altLang="zh-CN" dirty="0">
                <a:latin typeface="微软雅黑" panose="020B0503020204020204" pitchFamily="34" charset="-122"/>
                <a:ea typeface="微软雅黑" panose="020B0503020204020204" pitchFamily="34" charset="-122"/>
              </a:rPr>
              <a:t> (kg)</a:t>
            </a:r>
            <a:r>
              <a:rPr lang="zh-CN" altLang="zh-CN" dirty="0">
                <a:latin typeface="微软雅黑" panose="020B0503020204020204" pitchFamily="34" charset="-122"/>
                <a:ea typeface="微软雅黑" panose="020B0503020204020204" pitchFamily="34" charset="-122"/>
              </a:rPr>
              <a:t>与其价格</a:t>
            </a:r>
            <a:r>
              <a:rPr lang="en-US" altLang="zh-CN" i="1" dirty="0">
                <a:latin typeface="微软雅黑" panose="020B0503020204020204" pitchFamily="34" charset="-122"/>
                <a:ea typeface="微软雅黑" panose="020B0503020204020204" pitchFamily="34" charset="-122"/>
              </a:rPr>
              <a:t>X</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/kg) </a:t>
            </a:r>
            <a:r>
              <a:rPr lang="zh-CN" altLang="zh-CN" dirty="0">
                <a:latin typeface="微软雅黑" panose="020B0503020204020204" pitchFamily="34" charset="-122"/>
                <a:ea typeface="微软雅黑" panose="020B0503020204020204" pitchFamily="34" charset="-122"/>
              </a:rPr>
              <a:t>间的调查数据如表</a:t>
            </a:r>
            <a:r>
              <a:rPr lang="zh-CN" altLang="en-US" dirty="0">
                <a:latin typeface="微软雅黑" panose="020B0503020204020204" pitchFamily="34" charset="-122"/>
                <a:ea typeface="微软雅黑" panose="020B0503020204020204" pitchFamily="34" charset="-122"/>
              </a:rPr>
              <a:t>所示</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F69C2DB3-0A88-86F5-6785-694C95E274FF}"/>
              </a:ext>
            </a:extLst>
          </p:cNvPr>
          <p:cNvGraphicFramePr>
            <a:graphicFrameLocks noGrp="1"/>
          </p:cNvGraphicFramePr>
          <p:nvPr>
            <p:extLst>
              <p:ext uri="{D42A27DB-BD31-4B8C-83A1-F6EECF244321}">
                <p14:modId xmlns:p14="http://schemas.microsoft.com/office/powerpoint/2010/main" val="149362706"/>
              </p:ext>
            </p:extLst>
          </p:nvPr>
        </p:nvGraphicFramePr>
        <p:xfrm>
          <a:off x="319079" y="2742883"/>
          <a:ext cx="10653722" cy="2435468"/>
        </p:xfrm>
        <a:graphic>
          <a:graphicData uri="http://schemas.openxmlformats.org/drawingml/2006/table">
            <a:tbl>
              <a:tblPr firstRow="1" firstCol="1" bandRow="1">
                <a:tableStyleId>{5C22544A-7EE6-4342-B048-85BDC9FD1C3A}</a:tableStyleId>
              </a:tblPr>
              <a:tblGrid>
                <a:gridCol w="1340237">
                  <a:extLst>
                    <a:ext uri="{9D8B030D-6E8A-4147-A177-3AD203B41FA5}">
                      <a16:colId xmlns:a16="http://schemas.microsoft.com/office/drawing/2014/main" val="20000"/>
                    </a:ext>
                  </a:extLst>
                </a:gridCol>
                <a:gridCol w="786245">
                  <a:extLst>
                    <a:ext uri="{9D8B030D-6E8A-4147-A177-3AD203B41FA5}">
                      <a16:colId xmlns:a16="http://schemas.microsoft.com/office/drawing/2014/main" val="20001"/>
                    </a:ext>
                  </a:extLst>
                </a:gridCol>
                <a:gridCol w="786245">
                  <a:extLst>
                    <a:ext uri="{9D8B030D-6E8A-4147-A177-3AD203B41FA5}">
                      <a16:colId xmlns:a16="http://schemas.microsoft.com/office/drawing/2014/main" val="20002"/>
                    </a:ext>
                  </a:extLst>
                </a:gridCol>
                <a:gridCol w="786245">
                  <a:extLst>
                    <a:ext uri="{9D8B030D-6E8A-4147-A177-3AD203B41FA5}">
                      <a16:colId xmlns:a16="http://schemas.microsoft.com/office/drawing/2014/main" val="20003"/>
                    </a:ext>
                  </a:extLst>
                </a:gridCol>
                <a:gridCol w="786245">
                  <a:extLst>
                    <a:ext uri="{9D8B030D-6E8A-4147-A177-3AD203B41FA5}">
                      <a16:colId xmlns:a16="http://schemas.microsoft.com/office/drawing/2014/main" val="20004"/>
                    </a:ext>
                  </a:extLst>
                </a:gridCol>
                <a:gridCol w="784114">
                  <a:extLst>
                    <a:ext uri="{9D8B030D-6E8A-4147-A177-3AD203B41FA5}">
                      <a16:colId xmlns:a16="http://schemas.microsoft.com/office/drawing/2014/main" val="20005"/>
                    </a:ext>
                  </a:extLst>
                </a:gridCol>
                <a:gridCol w="784114">
                  <a:extLst>
                    <a:ext uri="{9D8B030D-6E8A-4147-A177-3AD203B41FA5}">
                      <a16:colId xmlns:a16="http://schemas.microsoft.com/office/drawing/2014/main" val="20006"/>
                    </a:ext>
                  </a:extLst>
                </a:gridCol>
                <a:gridCol w="784114">
                  <a:extLst>
                    <a:ext uri="{9D8B030D-6E8A-4147-A177-3AD203B41FA5}">
                      <a16:colId xmlns:a16="http://schemas.microsoft.com/office/drawing/2014/main" val="20007"/>
                    </a:ext>
                  </a:extLst>
                </a:gridCol>
                <a:gridCol w="784114">
                  <a:extLst>
                    <a:ext uri="{9D8B030D-6E8A-4147-A177-3AD203B41FA5}">
                      <a16:colId xmlns:a16="http://schemas.microsoft.com/office/drawing/2014/main" val="20008"/>
                    </a:ext>
                  </a:extLst>
                </a:gridCol>
                <a:gridCol w="784114">
                  <a:extLst>
                    <a:ext uri="{9D8B030D-6E8A-4147-A177-3AD203B41FA5}">
                      <a16:colId xmlns:a16="http://schemas.microsoft.com/office/drawing/2014/main" val="20009"/>
                    </a:ext>
                  </a:extLst>
                </a:gridCol>
                <a:gridCol w="688231">
                  <a:extLst>
                    <a:ext uri="{9D8B030D-6E8A-4147-A177-3AD203B41FA5}">
                      <a16:colId xmlns:a16="http://schemas.microsoft.com/office/drawing/2014/main" val="20010"/>
                    </a:ext>
                  </a:extLst>
                </a:gridCol>
                <a:gridCol w="830990">
                  <a:extLst>
                    <a:ext uri="{9D8B030D-6E8A-4147-A177-3AD203B41FA5}">
                      <a16:colId xmlns:a16="http://schemas.microsoft.com/office/drawing/2014/main" val="20011"/>
                    </a:ext>
                  </a:extLst>
                </a:gridCol>
                <a:gridCol w="728714">
                  <a:extLst>
                    <a:ext uri="{9D8B030D-6E8A-4147-A177-3AD203B41FA5}">
                      <a16:colId xmlns:a16="http://schemas.microsoft.com/office/drawing/2014/main" val="20012"/>
                    </a:ext>
                  </a:extLst>
                </a:gridCol>
              </a:tblGrid>
              <a:tr h="1217734">
                <a:tc>
                  <a:txBody>
                    <a:bodyPr/>
                    <a:lstStyle/>
                    <a:p>
                      <a:pPr algn="ctr">
                        <a:spcAft>
                          <a:spcPts val="0"/>
                        </a:spcAft>
                      </a:pPr>
                      <a:r>
                        <a:rPr lang="zh-CN" sz="1800" kern="100" dirty="0">
                          <a:effectLst/>
                        </a:rPr>
                        <a:t>价格</a:t>
                      </a:r>
                      <a:r>
                        <a:rPr lang="en-US" sz="1800" kern="100" dirty="0">
                          <a:effectLst/>
                        </a:rPr>
                        <a:t>X</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5.2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5.8</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6.4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8.0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8.7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9.0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11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1217734">
                <a:tc>
                  <a:txBody>
                    <a:bodyPr/>
                    <a:lstStyle/>
                    <a:p>
                      <a:pPr algn="ctr">
                        <a:spcAft>
                          <a:spcPts val="0"/>
                        </a:spcAft>
                      </a:pPr>
                      <a:r>
                        <a:rPr lang="zh-CN" sz="1800" kern="100">
                          <a:effectLst/>
                        </a:rPr>
                        <a:t>消费量</a:t>
                      </a:r>
                      <a:r>
                        <a:rPr lang="en-US" sz="1800" kern="100">
                          <a:effectLst/>
                        </a:rPr>
                        <a:t>Y</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4.0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2.9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2.9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2.5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2.6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2839789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41A9091E-A424-98AF-39A8-487923846377}"/>
              </a:ext>
            </a:extLst>
          </p:cNvPr>
          <p:cNvGraphicFramePr>
            <a:graphicFrameLocks noChangeAspect="1"/>
          </p:cNvGraphicFramePr>
          <p:nvPr>
            <p:extLst>
              <p:ext uri="{D42A27DB-BD31-4B8C-83A1-F6EECF244321}">
                <p14:modId xmlns:p14="http://schemas.microsoft.com/office/powerpoint/2010/main" val="2922617972"/>
              </p:ext>
            </p:extLst>
          </p:nvPr>
        </p:nvGraphicFramePr>
        <p:xfrm>
          <a:off x="533506" y="1178543"/>
          <a:ext cx="2430178" cy="685834"/>
        </p:xfrm>
        <a:graphic>
          <a:graphicData uri="http://schemas.openxmlformats.org/presentationml/2006/ole">
            <mc:AlternateContent xmlns:mc="http://schemas.openxmlformats.org/markup-compatibility/2006">
              <mc:Choice xmlns:v="urn:schemas-microsoft-com:vml" Requires="v">
                <p:oleObj name="Equation" r:id="rId3" imgW="812520" imgH="228600" progId="Equation.DSMT4">
                  <p:embed/>
                </p:oleObj>
              </mc:Choice>
              <mc:Fallback>
                <p:oleObj name="Equation" r:id="rId3" imgW="812520" imgH="228600" progId="Equation.DSMT4">
                  <p:embed/>
                  <p:pic>
                    <p:nvPicPr>
                      <p:cNvPr id="7" name="对象 6">
                        <a:extLst>
                          <a:ext uri="{FF2B5EF4-FFF2-40B4-BE49-F238E27FC236}">
                            <a16:creationId xmlns:a16="http://schemas.microsoft.com/office/drawing/2014/main" id="{EB21D3D7-B5CA-42A3-80AE-CD865DE1CF00}"/>
                          </a:ext>
                        </a:extLst>
                      </p:cNvPr>
                      <p:cNvPicPr/>
                      <p:nvPr/>
                    </p:nvPicPr>
                    <p:blipFill>
                      <a:blip r:embed="rId4"/>
                      <a:stretch>
                        <a:fillRect/>
                      </a:stretch>
                    </p:blipFill>
                    <p:spPr>
                      <a:xfrm>
                        <a:off x="533506" y="1178543"/>
                        <a:ext cx="2430178" cy="685834"/>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AA9391F6-A676-BAFE-97DD-FF05999DCC4D}"/>
              </a:ext>
            </a:extLst>
          </p:cNvPr>
          <p:cNvGraphicFramePr>
            <a:graphicFrameLocks noChangeAspect="1"/>
          </p:cNvGraphicFramePr>
          <p:nvPr>
            <p:extLst>
              <p:ext uri="{D42A27DB-BD31-4B8C-83A1-F6EECF244321}">
                <p14:modId xmlns:p14="http://schemas.microsoft.com/office/powerpoint/2010/main" val="3748260708"/>
              </p:ext>
            </p:extLst>
          </p:nvPr>
        </p:nvGraphicFramePr>
        <p:xfrm>
          <a:off x="3522843" y="835660"/>
          <a:ext cx="2657475" cy="1371600"/>
        </p:xfrm>
        <a:graphic>
          <a:graphicData uri="http://schemas.openxmlformats.org/presentationml/2006/ole">
            <mc:AlternateContent xmlns:mc="http://schemas.openxmlformats.org/markup-compatibility/2006">
              <mc:Choice xmlns:v="urn:schemas-microsoft-com:vml" Requires="v">
                <p:oleObj name="Equation" r:id="rId5" imgW="888840" imgH="457200" progId="Equation.DSMT4">
                  <p:embed/>
                </p:oleObj>
              </mc:Choice>
              <mc:Fallback>
                <p:oleObj name="Equation" r:id="rId5" imgW="888840" imgH="457200" progId="Equation.DSMT4">
                  <p:embed/>
                  <p:pic>
                    <p:nvPicPr>
                      <p:cNvPr id="8" name="对象 7">
                        <a:extLst>
                          <a:ext uri="{FF2B5EF4-FFF2-40B4-BE49-F238E27FC236}">
                            <a16:creationId xmlns:a16="http://schemas.microsoft.com/office/drawing/2014/main" id="{FBA4B6F8-B6EE-4BC0-B507-4CCDA0EB5FFA}"/>
                          </a:ext>
                        </a:extLst>
                      </p:cNvPr>
                      <p:cNvPicPr/>
                      <p:nvPr/>
                    </p:nvPicPr>
                    <p:blipFill>
                      <a:blip r:embed="rId6"/>
                      <a:stretch>
                        <a:fillRect/>
                      </a:stretch>
                    </p:blipFill>
                    <p:spPr>
                      <a:xfrm>
                        <a:off x="3522843" y="835660"/>
                        <a:ext cx="2657475" cy="1371600"/>
                      </a:xfrm>
                      <a:prstGeom prst="rect">
                        <a:avLst/>
                      </a:prstGeom>
                    </p:spPr>
                  </p:pic>
                </p:oleObj>
              </mc:Fallback>
            </mc:AlternateContent>
          </a:graphicData>
        </a:graphic>
      </p:graphicFrame>
      <p:graphicFrame>
        <p:nvGraphicFramePr>
          <p:cNvPr id="4" name="表格 3">
            <a:extLst>
              <a:ext uri="{FF2B5EF4-FFF2-40B4-BE49-F238E27FC236}">
                <a16:creationId xmlns:a16="http://schemas.microsoft.com/office/drawing/2014/main" id="{EDD55ACE-F0E7-5818-01C6-F500954D99EF}"/>
              </a:ext>
            </a:extLst>
          </p:cNvPr>
          <p:cNvGraphicFramePr>
            <a:graphicFrameLocks noGrp="1"/>
          </p:cNvGraphicFramePr>
          <p:nvPr>
            <p:extLst>
              <p:ext uri="{D42A27DB-BD31-4B8C-83A1-F6EECF244321}">
                <p14:modId xmlns:p14="http://schemas.microsoft.com/office/powerpoint/2010/main" val="1753394738"/>
              </p:ext>
            </p:extLst>
          </p:nvPr>
        </p:nvGraphicFramePr>
        <p:xfrm>
          <a:off x="533506" y="2406015"/>
          <a:ext cx="10653722" cy="927970"/>
        </p:xfrm>
        <a:graphic>
          <a:graphicData uri="http://schemas.openxmlformats.org/drawingml/2006/table">
            <a:tbl>
              <a:tblPr firstRow="1" firstCol="1" bandRow="1">
                <a:tableStyleId>{5C22544A-7EE6-4342-B048-85BDC9FD1C3A}</a:tableStyleId>
              </a:tblPr>
              <a:tblGrid>
                <a:gridCol w="1340237">
                  <a:extLst>
                    <a:ext uri="{9D8B030D-6E8A-4147-A177-3AD203B41FA5}">
                      <a16:colId xmlns:a16="http://schemas.microsoft.com/office/drawing/2014/main" val="20000"/>
                    </a:ext>
                  </a:extLst>
                </a:gridCol>
                <a:gridCol w="786245">
                  <a:extLst>
                    <a:ext uri="{9D8B030D-6E8A-4147-A177-3AD203B41FA5}">
                      <a16:colId xmlns:a16="http://schemas.microsoft.com/office/drawing/2014/main" val="20001"/>
                    </a:ext>
                  </a:extLst>
                </a:gridCol>
                <a:gridCol w="786245">
                  <a:extLst>
                    <a:ext uri="{9D8B030D-6E8A-4147-A177-3AD203B41FA5}">
                      <a16:colId xmlns:a16="http://schemas.microsoft.com/office/drawing/2014/main" val="20002"/>
                    </a:ext>
                  </a:extLst>
                </a:gridCol>
                <a:gridCol w="786245">
                  <a:extLst>
                    <a:ext uri="{9D8B030D-6E8A-4147-A177-3AD203B41FA5}">
                      <a16:colId xmlns:a16="http://schemas.microsoft.com/office/drawing/2014/main" val="20003"/>
                    </a:ext>
                  </a:extLst>
                </a:gridCol>
                <a:gridCol w="786245">
                  <a:extLst>
                    <a:ext uri="{9D8B030D-6E8A-4147-A177-3AD203B41FA5}">
                      <a16:colId xmlns:a16="http://schemas.microsoft.com/office/drawing/2014/main" val="20004"/>
                    </a:ext>
                  </a:extLst>
                </a:gridCol>
                <a:gridCol w="784114">
                  <a:extLst>
                    <a:ext uri="{9D8B030D-6E8A-4147-A177-3AD203B41FA5}">
                      <a16:colId xmlns:a16="http://schemas.microsoft.com/office/drawing/2014/main" val="20005"/>
                    </a:ext>
                  </a:extLst>
                </a:gridCol>
                <a:gridCol w="784114">
                  <a:extLst>
                    <a:ext uri="{9D8B030D-6E8A-4147-A177-3AD203B41FA5}">
                      <a16:colId xmlns:a16="http://schemas.microsoft.com/office/drawing/2014/main" val="20006"/>
                    </a:ext>
                  </a:extLst>
                </a:gridCol>
                <a:gridCol w="784114">
                  <a:extLst>
                    <a:ext uri="{9D8B030D-6E8A-4147-A177-3AD203B41FA5}">
                      <a16:colId xmlns:a16="http://schemas.microsoft.com/office/drawing/2014/main" val="20007"/>
                    </a:ext>
                  </a:extLst>
                </a:gridCol>
                <a:gridCol w="784114">
                  <a:extLst>
                    <a:ext uri="{9D8B030D-6E8A-4147-A177-3AD203B41FA5}">
                      <a16:colId xmlns:a16="http://schemas.microsoft.com/office/drawing/2014/main" val="20008"/>
                    </a:ext>
                  </a:extLst>
                </a:gridCol>
                <a:gridCol w="784114">
                  <a:extLst>
                    <a:ext uri="{9D8B030D-6E8A-4147-A177-3AD203B41FA5}">
                      <a16:colId xmlns:a16="http://schemas.microsoft.com/office/drawing/2014/main" val="20009"/>
                    </a:ext>
                  </a:extLst>
                </a:gridCol>
                <a:gridCol w="688231">
                  <a:extLst>
                    <a:ext uri="{9D8B030D-6E8A-4147-A177-3AD203B41FA5}">
                      <a16:colId xmlns:a16="http://schemas.microsoft.com/office/drawing/2014/main" val="20010"/>
                    </a:ext>
                  </a:extLst>
                </a:gridCol>
                <a:gridCol w="830990">
                  <a:extLst>
                    <a:ext uri="{9D8B030D-6E8A-4147-A177-3AD203B41FA5}">
                      <a16:colId xmlns:a16="http://schemas.microsoft.com/office/drawing/2014/main" val="20011"/>
                    </a:ext>
                  </a:extLst>
                </a:gridCol>
                <a:gridCol w="728714">
                  <a:extLst>
                    <a:ext uri="{9D8B030D-6E8A-4147-A177-3AD203B41FA5}">
                      <a16:colId xmlns:a16="http://schemas.microsoft.com/office/drawing/2014/main" val="20012"/>
                    </a:ext>
                  </a:extLst>
                </a:gridCol>
              </a:tblGrid>
              <a:tr h="463985">
                <a:tc>
                  <a:txBody>
                    <a:bodyPr/>
                    <a:lstStyle/>
                    <a:p>
                      <a:pPr algn="ctr">
                        <a:spcAft>
                          <a:spcPts val="0"/>
                        </a:spcAft>
                      </a:pPr>
                      <a:r>
                        <a:rPr lang="zh-CN" sz="1800" kern="100" dirty="0">
                          <a:effectLst/>
                        </a:rPr>
                        <a:t>价格</a:t>
                      </a:r>
                      <a:r>
                        <a:rPr lang="en-US" sz="1800" kern="100" dirty="0">
                          <a:effectLst/>
                        </a:rPr>
                        <a:t>X</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5.2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5.8</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6.4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8.0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8.7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9.0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11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63985">
                <a:tc>
                  <a:txBody>
                    <a:bodyPr/>
                    <a:lstStyle/>
                    <a:p>
                      <a:pPr algn="ctr">
                        <a:spcAft>
                          <a:spcPts val="0"/>
                        </a:spcAft>
                      </a:pPr>
                      <a:r>
                        <a:rPr lang="zh-CN" sz="1800" kern="100">
                          <a:effectLst/>
                        </a:rPr>
                        <a:t>消费量</a:t>
                      </a:r>
                      <a:r>
                        <a:rPr lang="en-US" sz="1800" kern="100">
                          <a:effectLst/>
                        </a:rPr>
                        <a:t>Y</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4.0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2.9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3.1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2.9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2.5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2.6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2429677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4" name="文本框 3">
            <a:extLst>
              <a:ext uri="{FF2B5EF4-FFF2-40B4-BE49-F238E27FC236}">
                <a16:creationId xmlns:a16="http://schemas.microsoft.com/office/drawing/2014/main" id="{9BC60B38-DFD3-3BE4-0F9A-100ED999E8B4}"/>
              </a:ext>
            </a:extLst>
          </p:cNvPr>
          <p:cNvSpPr txBox="1"/>
          <p:nvPr/>
        </p:nvSpPr>
        <p:spPr>
          <a:xfrm>
            <a:off x="1707704" y="939872"/>
            <a:ext cx="7700073" cy="2585323"/>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拟合优度指所求得的回归直线对观测值的拟合程度。</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离差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表示实际值与平均值之差</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回归差</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表示估计值与平均值之差</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残差</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表示实际值与估计值之差</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其中，</a:t>
            </a:r>
            <a:r>
              <a:rPr lang="zh-CN" altLang="zh-CN" dirty="0">
                <a:latin typeface="微软雅黑" panose="020B0503020204020204" pitchFamily="34" charset="-122"/>
                <a:ea typeface="微软雅黑" panose="020B0503020204020204" pitchFamily="34" charset="-122"/>
              </a:rPr>
              <a:t>离差</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回归差</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残差</a:t>
            </a:r>
            <a:r>
              <a:rPr lang="zh-CN" altLang="en-US" dirty="0">
                <a:latin typeface="微软雅黑" panose="020B0503020204020204" pitchFamily="34" charset="-122"/>
                <a:ea typeface="微软雅黑" panose="020B0503020204020204" pitchFamily="34" charset="-122"/>
              </a:rPr>
              <a:t>。三者关系如下：</a:t>
            </a:r>
            <a:endParaRPr lang="en-US" altLang="zh-CN"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F7A072FE-4F28-EA2F-B960-E7DEF53627B4}"/>
              </a:ext>
            </a:extLst>
          </p:cNvPr>
          <p:cNvPicPr>
            <a:picLocks noChangeAspect="1"/>
          </p:cNvPicPr>
          <p:nvPr/>
        </p:nvPicPr>
        <p:blipFill>
          <a:blip r:embed="rId3"/>
          <a:stretch>
            <a:fillRect/>
          </a:stretch>
        </p:blipFill>
        <p:spPr>
          <a:xfrm>
            <a:off x="6096000" y="3225812"/>
            <a:ext cx="4100768" cy="3190765"/>
          </a:xfrm>
          <a:prstGeom prst="rect">
            <a:avLst/>
          </a:prstGeom>
        </p:spPr>
      </p:pic>
      <p:graphicFrame>
        <p:nvGraphicFramePr>
          <p:cNvPr id="6" name="对象 5">
            <a:extLst>
              <a:ext uri="{FF2B5EF4-FFF2-40B4-BE49-F238E27FC236}">
                <a16:creationId xmlns:a16="http://schemas.microsoft.com/office/drawing/2014/main" id="{70F35C59-E857-48EA-F255-D64527084C9D}"/>
              </a:ext>
            </a:extLst>
          </p:cNvPr>
          <p:cNvGraphicFramePr>
            <a:graphicFrameLocks noChangeAspect="1"/>
          </p:cNvGraphicFramePr>
          <p:nvPr>
            <p:extLst>
              <p:ext uri="{D42A27DB-BD31-4B8C-83A1-F6EECF244321}">
                <p14:modId xmlns:p14="http://schemas.microsoft.com/office/powerpoint/2010/main" val="1496980545"/>
              </p:ext>
            </p:extLst>
          </p:nvPr>
        </p:nvGraphicFramePr>
        <p:xfrm>
          <a:off x="8786785" y="3878976"/>
          <a:ext cx="1409879" cy="410423"/>
        </p:xfrm>
        <a:graphic>
          <a:graphicData uri="http://schemas.openxmlformats.org/presentationml/2006/ole">
            <mc:AlternateContent xmlns:mc="http://schemas.openxmlformats.org/markup-compatibility/2006">
              <mc:Choice xmlns:v="urn:schemas-microsoft-com:vml" Requires="v">
                <p:oleObj name="Equation" r:id="rId4" imgW="787320" imgH="228600" progId="Equation.DSMT4">
                  <p:embed/>
                </p:oleObj>
              </mc:Choice>
              <mc:Fallback>
                <p:oleObj name="Equation" r:id="rId4" imgW="787320" imgH="228600" progId="Equation.DSMT4">
                  <p:embed/>
                  <p:pic>
                    <p:nvPicPr>
                      <p:cNvPr id="9" name="对象 8">
                        <a:extLst>
                          <a:ext uri="{FF2B5EF4-FFF2-40B4-BE49-F238E27FC236}">
                            <a16:creationId xmlns:a16="http://schemas.microsoft.com/office/drawing/2014/main" id="{DFF14B11-95CF-4A89-8472-E14F5006CA5A}"/>
                          </a:ext>
                        </a:extLst>
                      </p:cNvPr>
                      <p:cNvPicPr/>
                      <p:nvPr/>
                    </p:nvPicPr>
                    <p:blipFill>
                      <a:blip r:embed="rId5"/>
                      <a:stretch>
                        <a:fillRect/>
                      </a:stretch>
                    </p:blipFill>
                    <p:spPr>
                      <a:xfrm>
                        <a:off x="8786785" y="3878976"/>
                        <a:ext cx="1409879" cy="410423"/>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B304839D-A9CA-D075-CE6B-586AEA8BB4EC}"/>
              </a:ext>
            </a:extLst>
          </p:cNvPr>
          <p:cNvGraphicFramePr>
            <a:graphicFrameLocks noChangeAspect="1"/>
          </p:cNvGraphicFramePr>
          <p:nvPr>
            <p:extLst>
              <p:ext uri="{D42A27DB-BD31-4B8C-83A1-F6EECF244321}">
                <p14:modId xmlns:p14="http://schemas.microsoft.com/office/powerpoint/2010/main" val="963886903"/>
              </p:ext>
            </p:extLst>
          </p:nvPr>
        </p:nvGraphicFramePr>
        <p:xfrm>
          <a:off x="2469684" y="1397060"/>
          <a:ext cx="570127" cy="443432"/>
        </p:xfrm>
        <a:graphic>
          <a:graphicData uri="http://schemas.openxmlformats.org/presentationml/2006/ole">
            <mc:AlternateContent xmlns:mc="http://schemas.openxmlformats.org/markup-compatibility/2006">
              <mc:Choice xmlns:v="urn:schemas-microsoft-com:vml" Requires="v">
                <p:oleObj name="Equation" r:id="rId6" imgW="317500" imgH="254000" progId="Equation.DSMT4">
                  <p:embed/>
                </p:oleObj>
              </mc:Choice>
              <mc:Fallback>
                <p:oleObj name="Equation" r:id="rId6" imgW="317500" imgH="254000" progId="Equation.DSMT4">
                  <p:embed/>
                  <p:pic>
                    <p:nvPicPr>
                      <p:cNvPr id="10" name="对象 9">
                        <a:extLst>
                          <a:ext uri="{FF2B5EF4-FFF2-40B4-BE49-F238E27FC236}">
                            <a16:creationId xmlns:a16="http://schemas.microsoft.com/office/drawing/2014/main" id="{DD726D5C-30AE-4E30-88FD-33AAF0E422A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69684" y="1397060"/>
                        <a:ext cx="570127" cy="443432"/>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BDF3714F-6FA6-A662-B3E2-780442012ADF}"/>
              </a:ext>
            </a:extLst>
          </p:cNvPr>
          <p:cNvGraphicFramePr>
            <a:graphicFrameLocks noChangeAspect="1"/>
          </p:cNvGraphicFramePr>
          <p:nvPr>
            <p:extLst>
              <p:ext uri="{D42A27DB-BD31-4B8C-83A1-F6EECF244321}">
                <p14:modId xmlns:p14="http://schemas.microsoft.com/office/powerpoint/2010/main" val="2575232763"/>
              </p:ext>
            </p:extLst>
          </p:nvPr>
        </p:nvGraphicFramePr>
        <p:xfrm>
          <a:off x="2711173" y="1929724"/>
          <a:ext cx="686710" cy="534108"/>
        </p:xfrm>
        <a:graphic>
          <a:graphicData uri="http://schemas.openxmlformats.org/presentationml/2006/ole">
            <mc:AlternateContent xmlns:mc="http://schemas.openxmlformats.org/markup-compatibility/2006">
              <mc:Choice xmlns:v="urn:schemas-microsoft-com:vml" Requires="v">
                <p:oleObj name="Equation" r:id="rId8" imgW="317500" imgH="254000" progId="Equation.DSMT4">
                  <p:embed/>
                </p:oleObj>
              </mc:Choice>
              <mc:Fallback>
                <p:oleObj name="Equation" r:id="rId8" imgW="317500" imgH="254000" progId="Equation.DSMT4">
                  <p:embed/>
                  <p:pic>
                    <p:nvPicPr>
                      <p:cNvPr id="11" name="对象 10">
                        <a:extLst>
                          <a:ext uri="{FF2B5EF4-FFF2-40B4-BE49-F238E27FC236}">
                            <a16:creationId xmlns:a16="http://schemas.microsoft.com/office/drawing/2014/main" id="{115D616F-E8F6-4B5C-9E23-9F8503FA57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1173" y="1929724"/>
                        <a:ext cx="686710" cy="534108"/>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CFEF4AAB-8937-6BA0-A423-A9F61EC4364F}"/>
              </a:ext>
            </a:extLst>
          </p:cNvPr>
          <p:cNvGraphicFramePr>
            <a:graphicFrameLocks noChangeAspect="1"/>
          </p:cNvGraphicFramePr>
          <p:nvPr>
            <p:extLst>
              <p:ext uri="{D42A27DB-BD31-4B8C-83A1-F6EECF244321}">
                <p14:modId xmlns:p14="http://schemas.microsoft.com/office/powerpoint/2010/main" val="2513189881"/>
              </p:ext>
            </p:extLst>
          </p:nvPr>
        </p:nvGraphicFramePr>
        <p:xfrm>
          <a:off x="2469684" y="2522309"/>
          <a:ext cx="642136" cy="463765"/>
        </p:xfrm>
        <a:graphic>
          <a:graphicData uri="http://schemas.openxmlformats.org/presentationml/2006/ole">
            <mc:AlternateContent xmlns:mc="http://schemas.openxmlformats.org/markup-compatibility/2006">
              <mc:Choice xmlns:v="urn:schemas-microsoft-com:vml" Requires="v">
                <p:oleObj name="Equation" r:id="rId10" imgW="317500" imgH="228600" progId="Equation.DSMT4">
                  <p:embed/>
                </p:oleObj>
              </mc:Choice>
              <mc:Fallback>
                <p:oleObj name="Equation" r:id="rId10" imgW="317500" imgH="228600" progId="Equation.DSMT4">
                  <p:embed/>
                  <p:pic>
                    <p:nvPicPr>
                      <p:cNvPr id="12" name="对象 11">
                        <a:extLst>
                          <a:ext uri="{FF2B5EF4-FFF2-40B4-BE49-F238E27FC236}">
                            <a16:creationId xmlns:a16="http://schemas.microsoft.com/office/drawing/2014/main" id="{D75413F1-16B6-48B0-B9B2-5CBA5BA7D94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69684" y="2522309"/>
                        <a:ext cx="642136" cy="463765"/>
                      </a:xfrm>
                      <a:prstGeom prst="rect">
                        <a:avLst/>
                      </a:prstGeom>
                      <a:noFill/>
                    </p:spPr>
                  </p:pic>
                </p:oleObj>
              </mc:Fallback>
            </mc:AlternateContent>
          </a:graphicData>
        </a:graphic>
      </p:graphicFrame>
      <mc:AlternateContent xmlns:mc="http://schemas.openxmlformats.org/markup-compatibility/2006" xmlns:p14="http://schemas.microsoft.com/office/powerpoint/2010/main">
        <mc:Choice Requires="p14">
          <p:contentPart p14:bwMode="auto" r:id="rId12">
            <p14:nvContentPartPr>
              <p14:cNvPr id="10" name="墨迹 9">
                <a:extLst>
                  <a:ext uri="{FF2B5EF4-FFF2-40B4-BE49-F238E27FC236}">
                    <a16:creationId xmlns:a16="http://schemas.microsoft.com/office/drawing/2014/main" id="{84C9078A-94EA-CA99-EF4A-A7777D85ACFE}"/>
                  </a:ext>
                </a:extLst>
              </p14:cNvPr>
              <p14:cNvContentPartPr/>
              <p14:nvPr/>
            </p14:nvContentPartPr>
            <p14:xfrm>
              <a:off x="8006754" y="4375280"/>
              <a:ext cx="32040" cy="527400"/>
            </p14:xfrm>
          </p:contentPart>
        </mc:Choice>
        <mc:Fallback xmlns="">
          <p:pic>
            <p:nvPicPr>
              <p:cNvPr id="10" name="墨迹 9">
                <a:extLst>
                  <a:ext uri="{FF2B5EF4-FFF2-40B4-BE49-F238E27FC236}">
                    <a16:creationId xmlns:a16="http://schemas.microsoft.com/office/drawing/2014/main" id="{84C9078A-94EA-CA99-EF4A-A7777D85ACFE}"/>
                  </a:ext>
                </a:extLst>
              </p:cNvPr>
              <p:cNvPicPr/>
              <p:nvPr/>
            </p:nvPicPr>
            <p:blipFill>
              <a:blip r:embed="rId13"/>
              <a:stretch>
                <a:fillRect/>
              </a:stretch>
            </p:blipFill>
            <p:spPr>
              <a:xfrm>
                <a:off x="7997394" y="4365920"/>
                <a:ext cx="50760" cy="546120"/>
              </a:xfrm>
              <a:prstGeom prst="rect">
                <a:avLst/>
              </a:prstGeom>
            </p:spPr>
          </p:pic>
        </mc:Fallback>
      </mc:AlternateContent>
    </p:spTree>
    <p:custDataLst>
      <p:tags r:id="rId1"/>
    </p:custDataLst>
    <p:extLst>
      <p:ext uri="{BB962C8B-B14F-4D97-AF65-F5344CB8AC3E}">
        <p14:creationId xmlns:p14="http://schemas.microsoft.com/office/powerpoint/2010/main" val="3642282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文本框 1">
            <a:extLst>
              <a:ext uri="{FF2B5EF4-FFF2-40B4-BE49-F238E27FC236}">
                <a16:creationId xmlns:a16="http://schemas.microsoft.com/office/drawing/2014/main" id="{A7897A89-7A35-DF07-2686-E497F85C7C89}"/>
              </a:ext>
            </a:extLst>
          </p:cNvPr>
          <p:cNvSpPr txBox="1"/>
          <p:nvPr/>
        </p:nvSpPr>
        <p:spPr>
          <a:xfrm>
            <a:off x="2273408" y="1582737"/>
            <a:ext cx="8229384" cy="4247317"/>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总平方和</a:t>
            </a:r>
            <a:r>
              <a:rPr lang="en-US" altLang="zh-CN" dirty="0">
                <a:latin typeface="微软雅黑" panose="020B0503020204020204" pitchFamily="34" charset="-122"/>
                <a:ea typeface="微软雅黑" panose="020B0503020204020204" pitchFamily="34" charset="-122"/>
              </a:rPr>
              <a:t>TSS</a:t>
            </a:r>
            <a:r>
              <a:rPr lang="zh-CN" altLang="zh-CN" dirty="0">
                <a:latin typeface="微软雅黑" panose="020B0503020204020204" pitchFamily="34" charset="-122"/>
                <a:ea typeface="微软雅黑" panose="020B0503020204020204" pitchFamily="34" charset="-122"/>
              </a:rPr>
              <a:t>表示因变量的</a:t>
            </a:r>
            <a:r>
              <a:rPr lang="en-US" altLang="zh-CN" i="1" dirty="0">
                <a:latin typeface="微软雅黑" panose="020B0503020204020204" pitchFamily="34" charset="-122"/>
                <a:ea typeface="微软雅黑" panose="020B0503020204020204" pitchFamily="34" charset="-122"/>
              </a:rPr>
              <a:t>n</a:t>
            </a:r>
            <a:r>
              <a:rPr lang="zh-CN" altLang="zh-CN" dirty="0">
                <a:latin typeface="微软雅黑" panose="020B0503020204020204" pitchFamily="34" charset="-122"/>
                <a:ea typeface="微软雅黑" panose="020B0503020204020204" pitchFamily="34" charset="-122"/>
              </a:rPr>
              <a:t>个观察值与其均值的误差总和，</a:t>
            </a:r>
            <a:r>
              <a:rPr lang="en-US" altLang="zh-CN" i="1" dirty="0">
                <a:latin typeface="微软雅黑" panose="020B0503020204020204" pitchFamily="34" charset="-122"/>
                <a:ea typeface="微软雅黑" panose="020B0503020204020204" pitchFamily="34" charset="-122"/>
              </a:rPr>
              <a:t>TSS</a:t>
            </a:r>
            <a:r>
              <a:rPr lang="zh-CN" altLang="zh-CN" dirty="0">
                <a:latin typeface="微软雅黑" panose="020B0503020204020204" pitchFamily="34" charset="-122"/>
                <a:ea typeface="微软雅黑" panose="020B0503020204020204" pitchFamily="34" charset="-122"/>
              </a:rPr>
              <a:t>是各个数据离差的平方和</a:t>
            </a:r>
            <a:r>
              <a:rPr lang="zh-CN" altLang="en-US" dirty="0">
                <a:latin typeface="微软雅黑" panose="020B0503020204020204" pitchFamily="34" charset="-122"/>
                <a:ea typeface="微软雅黑" panose="020B0503020204020204" pitchFamily="34" charset="-122"/>
              </a:rPr>
              <a:t>，即：</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TSS=</a:t>
            </a: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回归平方和</a:t>
            </a:r>
            <a:r>
              <a:rPr lang="en-US" altLang="zh-CN" dirty="0">
                <a:latin typeface="微软雅黑" panose="020B0503020204020204" pitchFamily="34" charset="-122"/>
                <a:ea typeface="微软雅黑" panose="020B0503020204020204" pitchFamily="34" charset="-122"/>
              </a:rPr>
              <a:t>ESS</a:t>
            </a:r>
            <a:r>
              <a:rPr lang="zh-CN" altLang="en-US" dirty="0">
                <a:latin typeface="微软雅黑" panose="020B0503020204020204" pitchFamily="34" charset="-122"/>
                <a:ea typeface="微软雅黑" panose="020B0503020204020204" pitchFamily="34" charset="-122"/>
              </a:rPr>
              <a:t>表示自变量 </a:t>
            </a:r>
            <a:r>
              <a:rPr lang="en-US" altLang="zh-CN" dirty="0">
                <a:latin typeface="微软雅黑" panose="020B0503020204020204" pitchFamily="34" charset="-122"/>
                <a:ea typeface="微软雅黑" panose="020B0503020204020204" pitchFamily="34" charset="-122"/>
              </a:rPr>
              <a:t>x </a:t>
            </a:r>
            <a:r>
              <a:rPr lang="zh-CN" altLang="en-US" dirty="0">
                <a:latin typeface="微软雅黑" panose="020B0503020204020204" pitchFamily="34" charset="-122"/>
                <a:ea typeface="微软雅黑" panose="020B0503020204020204" pitchFamily="34" charset="-122"/>
              </a:rPr>
              <a:t>的变化对因变量 </a:t>
            </a:r>
            <a:r>
              <a:rPr lang="en-US" altLang="zh-CN" dirty="0">
                <a:latin typeface="微软雅黑" panose="020B0503020204020204" pitchFamily="34" charset="-122"/>
                <a:ea typeface="微软雅黑" panose="020B0503020204020204" pitchFamily="34" charset="-122"/>
              </a:rPr>
              <a:t>y </a:t>
            </a:r>
            <a:r>
              <a:rPr lang="zh-CN" altLang="en-US" dirty="0">
                <a:latin typeface="微软雅黑" panose="020B0503020204020204" pitchFamily="34" charset="-122"/>
                <a:ea typeface="微软雅黑" panose="020B0503020204020204" pitchFamily="34" charset="-122"/>
              </a:rPr>
              <a:t>取值变化的影响，</a:t>
            </a:r>
            <a:r>
              <a:rPr lang="en-US" altLang="zh-CN" dirty="0">
                <a:latin typeface="微软雅黑" panose="020B0503020204020204" pitchFamily="34" charset="-122"/>
                <a:ea typeface="微软雅黑" panose="020B0503020204020204" pitchFamily="34" charset="-122"/>
              </a:rPr>
              <a:t>ESS</a:t>
            </a:r>
            <a:r>
              <a:rPr lang="zh-CN" altLang="en-US" dirty="0">
                <a:latin typeface="微软雅黑" panose="020B0503020204020204" pitchFamily="34" charset="-122"/>
                <a:ea typeface="微软雅黑" panose="020B0503020204020204" pitchFamily="34" charset="-122"/>
              </a:rPr>
              <a:t>是各个数据回归差的平方和，即：</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ESS=</a:t>
            </a: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残差平方和</a:t>
            </a:r>
            <a:r>
              <a:rPr lang="en-US" altLang="zh-CN" dirty="0">
                <a:latin typeface="微软雅黑" panose="020B0503020204020204" pitchFamily="34" charset="-122"/>
                <a:ea typeface="微软雅黑" panose="020B0503020204020204" pitchFamily="34" charset="-122"/>
              </a:rPr>
              <a:t>RSS</a:t>
            </a:r>
            <a:r>
              <a:rPr lang="zh-CN" altLang="zh-CN" dirty="0">
                <a:latin typeface="微软雅黑" panose="020B0503020204020204" pitchFamily="34" charset="-122"/>
                <a:ea typeface="微软雅黑" panose="020B0503020204020204" pitchFamily="34" charset="-122"/>
              </a:rPr>
              <a:t>表示实际值与拟合值之间的差异程度，</a:t>
            </a:r>
            <a:r>
              <a:rPr lang="en-US" altLang="zh-CN" i="1" dirty="0">
                <a:latin typeface="微软雅黑" panose="020B0503020204020204" pitchFamily="34" charset="-122"/>
                <a:ea typeface="微软雅黑" panose="020B0503020204020204" pitchFamily="34" charset="-122"/>
              </a:rPr>
              <a:t>RSS</a:t>
            </a:r>
            <a:r>
              <a:rPr lang="zh-CN" altLang="zh-CN" dirty="0">
                <a:latin typeface="微软雅黑" panose="020B0503020204020204" pitchFamily="34" charset="-122"/>
                <a:ea typeface="微软雅黑" panose="020B0503020204020204" pitchFamily="34" charset="-122"/>
              </a:rPr>
              <a:t>是各个数据残差的平方和。即：</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RSS =</a:t>
            </a: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TSS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ESS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RSS</a:t>
            </a:r>
            <a:r>
              <a:rPr lang="zh-CN" altLang="en-US" dirty="0">
                <a:latin typeface="微软雅黑" panose="020B0503020204020204" pitchFamily="34" charset="-122"/>
                <a:ea typeface="微软雅黑" panose="020B0503020204020204" pitchFamily="34" charset="-122"/>
              </a:rPr>
              <a:t>三者之间关系为：</a:t>
            </a:r>
            <a:r>
              <a:rPr lang="en-US" altLang="zh-CN" dirty="0">
                <a:latin typeface="微软雅黑" panose="020B0503020204020204" pitchFamily="34" charset="-122"/>
                <a:ea typeface="微软雅黑" panose="020B0503020204020204" pitchFamily="34" charset="-122"/>
              </a:rPr>
              <a:t>TSS=ESS+RSS</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110E52E-BCDB-73E3-829D-225D09E03151}"/>
                  </a:ext>
                </a:extLst>
              </p:cNvPr>
              <p:cNvSpPr/>
              <p:nvPr/>
            </p:nvSpPr>
            <p:spPr>
              <a:xfrm>
                <a:off x="4749812" y="2199490"/>
                <a:ext cx="1468992" cy="8485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𝑛</m:t>
                          </m:r>
                        </m:sup>
                        <m:e>
                          <m:d>
                            <m:dPr>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𝑦</m:t>
                                  </m:r>
                                </m:e>
                              </m:acc>
                            </m:e>
                          </m:d>
                        </m:e>
                      </m:nary>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oMath>
                  </m:oMathPara>
                </a14:m>
                <a:endParaRPr lang="zh-CN" altLang="en-US" dirty="0"/>
              </a:p>
            </p:txBody>
          </p:sp>
        </mc:Choice>
        <mc:Fallback xmlns="">
          <p:sp>
            <p:nvSpPr>
              <p:cNvPr id="3" name="矩形 2">
                <a:extLst>
                  <a:ext uri="{FF2B5EF4-FFF2-40B4-BE49-F238E27FC236}">
                    <a16:creationId xmlns:a16="http://schemas.microsoft.com/office/drawing/2014/main" id="{E110E52E-BCDB-73E3-829D-225D09E03151}"/>
                  </a:ext>
                </a:extLst>
              </p:cNvPr>
              <p:cNvSpPr>
                <a:spLocks noRot="1" noChangeAspect="1" noMove="1" noResize="1" noEditPoints="1" noAdjustHandles="1" noChangeArrowheads="1" noChangeShapeType="1" noTextEdit="1"/>
              </p:cNvSpPr>
              <p:nvPr/>
            </p:nvSpPr>
            <p:spPr>
              <a:xfrm>
                <a:off x="4749812" y="2199490"/>
                <a:ext cx="1468992" cy="848566"/>
              </a:xfrm>
              <a:prstGeom prst="rect">
                <a:avLst/>
              </a:prstGeom>
              <a:blipFill>
                <a:blip r:embed="rId3"/>
                <a:stretch>
                  <a:fillRect/>
                </a:stretch>
              </a:blipFill>
            </p:spPr>
            <p:txBody>
              <a:bodyPr/>
              <a:lstStyle/>
              <a:p>
                <a:r>
                  <a:rPr lang="zh-CN" altLang="en-US">
                    <a:noFill/>
                  </a:rPr>
                  <a:t> </a:t>
                </a:r>
              </a:p>
            </p:txBody>
          </p:sp>
        </mc:Fallback>
      </mc:AlternateContent>
      <p:graphicFrame>
        <p:nvGraphicFramePr>
          <p:cNvPr id="4" name="对象 3">
            <a:extLst>
              <a:ext uri="{FF2B5EF4-FFF2-40B4-BE49-F238E27FC236}">
                <a16:creationId xmlns:a16="http://schemas.microsoft.com/office/drawing/2014/main" id="{5D47FF31-3D41-B4FA-818A-8CE5AFEB7D1D}"/>
              </a:ext>
            </a:extLst>
          </p:cNvPr>
          <p:cNvGraphicFramePr>
            <a:graphicFrameLocks noChangeAspect="1"/>
          </p:cNvGraphicFramePr>
          <p:nvPr>
            <p:extLst>
              <p:ext uri="{D42A27DB-BD31-4B8C-83A1-F6EECF244321}">
                <p14:modId xmlns:p14="http://schemas.microsoft.com/office/powerpoint/2010/main" val="254355892"/>
              </p:ext>
            </p:extLst>
          </p:nvPr>
        </p:nvGraphicFramePr>
        <p:xfrm>
          <a:off x="4846421" y="3350172"/>
          <a:ext cx="1275774" cy="712446"/>
        </p:xfrm>
        <a:graphic>
          <a:graphicData uri="http://schemas.openxmlformats.org/presentationml/2006/ole">
            <mc:AlternateContent xmlns:mc="http://schemas.openxmlformats.org/markup-compatibility/2006">
              <mc:Choice xmlns:v="urn:schemas-microsoft-com:vml" Requires="v">
                <p:oleObj name="Equation" r:id="rId4" imgW="736600" imgH="431800" progId="Equation.DSMT4">
                  <p:embed/>
                </p:oleObj>
              </mc:Choice>
              <mc:Fallback>
                <p:oleObj name="Equation" r:id="rId4" imgW="736600" imgH="431800" progId="Equation.DSMT4">
                  <p:embed/>
                  <p:pic>
                    <p:nvPicPr>
                      <p:cNvPr id="16" name="对象 15">
                        <a:extLst>
                          <a:ext uri="{FF2B5EF4-FFF2-40B4-BE49-F238E27FC236}">
                            <a16:creationId xmlns:a16="http://schemas.microsoft.com/office/drawing/2014/main" id="{AF49787B-B03E-4B01-9F26-DA6CD9503C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6421" y="3350172"/>
                        <a:ext cx="1275774" cy="712446"/>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DE0128C6-3EAB-5363-F8F8-0A49B386F69C}"/>
              </a:ext>
            </a:extLst>
          </p:cNvPr>
          <p:cNvGraphicFramePr>
            <a:graphicFrameLocks noChangeAspect="1"/>
          </p:cNvGraphicFramePr>
          <p:nvPr>
            <p:extLst>
              <p:ext uri="{D42A27DB-BD31-4B8C-83A1-F6EECF244321}">
                <p14:modId xmlns:p14="http://schemas.microsoft.com/office/powerpoint/2010/main" val="4632872"/>
              </p:ext>
            </p:extLst>
          </p:nvPr>
        </p:nvGraphicFramePr>
        <p:xfrm>
          <a:off x="4846421" y="4550766"/>
          <a:ext cx="1386404" cy="816649"/>
        </p:xfrm>
        <a:graphic>
          <a:graphicData uri="http://schemas.openxmlformats.org/presentationml/2006/ole">
            <mc:AlternateContent xmlns:mc="http://schemas.openxmlformats.org/markup-compatibility/2006">
              <mc:Choice xmlns:v="urn:schemas-microsoft-com:vml" Requires="v">
                <p:oleObj name="Equation" r:id="rId6" imgW="673100" imgH="431800" progId="Equation.DSMT4">
                  <p:embed/>
                </p:oleObj>
              </mc:Choice>
              <mc:Fallback>
                <p:oleObj name="Equation" r:id="rId6" imgW="673100" imgH="431800" progId="Equation.DSMT4">
                  <p:embed/>
                  <p:pic>
                    <p:nvPicPr>
                      <p:cNvPr id="17" name="对象 16">
                        <a:extLst>
                          <a:ext uri="{FF2B5EF4-FFF2-40B4-BE49-F238E27FC236}">
                            <a16:creationId xmlns:a16="http://schemas.microsoft.com/office/drawing/2014/main" id="{B7355CDF-ACCF-4DB8-A383-3D0E4D4E4D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6421" y="4550766"/>
                        <a:ext cx="1386404" cy="816649"/>
                      </a:xfrm>
                      <a:prstGeom prst="rect">
                        <a:avLst/>
                      </a:prstGeom>
                      <a:noFill/>
                    </p:spPr>
                  </p:pic>
                </p:oleObj>
              </mc:Fallback>
            </mc:AlternateContent>
          </a:graphicData>
        </a:graphic>
      </p:graphicFrame>
    </p:spTree>
    <p:custDataLst>
      <p:tags r:id="rId1"/>
    </p:custDataLst>
    <p:extLst>
      <p:ext uri="{BB962C8B-B14F-4D97-AF65-F5344CB8AC3E}">
        <p14:creationId xmlns:p14="http://schemas.microsoft.com/office/powerpoint/2010/main" val="1706052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文本框 1">
            <a:extLst>
              <a:ext uri="{FF2B5EF4-FFF2-40B4-BE49-F238E27FC236}">
                <a16:creationId xmlns:a16="http://schemas.microsoft.com/office/drawing/2014/main" id="{19393E56-A966-1629-58A6-42DC3F4503D1}"/>
              </a:ext>
            </a:extLst>
          </p:cNvPr>
          <p:cNvSpPr txBox="1"/>
          <p:nvPr/>
        </p:nvSpPr>
        <p:spPr>
          <a:xfrm>
            <a:off x="1828912" y="1859339"/>
            <a:ext cx="8534176" cy="3139321"/>
          </a:xfrm>
          <a:prstGeom prst="rect">
            <a:avLst/>
          </a:prstGeom>
          <a:noFill/>
        </p:spPr>
        <p:txBody>
          <a:bodyPr wrap="square">
            <a:spAutoFit/>
          </a:bodyPr>
          <a:lstStyle/>
          <a:p>
            <a:r>
              <a:rPr lang="zh-CN" altLang="zh-CN" dirty="0">
                <a:latin typeface="微软雅黑" panose="020B0503020204020204" pitchFamily="34" charset="-122"/>
                <a:ea typeface="微软雅黑" panose="020B0503020204020204" pitchFamily="34" charset="-122"/>
              </a:rPr>
              <a:t>拟合优度（</a:t>
            </a:r>
            <a:r>
              <a:rPr lang="en-US" altLang="zh-CN" dirty="0">
                <a:latin typeface="微软雅黑" panose="020B0503020204020204" pitchFamily="34" charset="-122"/>
                <a:ea typeface="微软雅黑" panose="020B0503020204020204" pitchFamily="34" charset="-122"/>
              </a:rPr>
              <a:t>Goodness of Fit</a:t>
            </a:r>
            <a:r>
              <a:rPr lang="zh-CN" altLang="zh-CN" dirty="0">
                <a:latin typeface="微软雅黑" panose="020B0503020204020204" pitchFamily="34" charset="-122"/>
                <a:ea typeface="微软雅黑" panose="020B0503020204020204" pitchFamily="34" charset="-122"/>
              </a:rPr>
              <a:t>）是指回归直线对观测值的拟合程度。度量拟合优度的统计量是决定系数（亦称确定系数）</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，计算公式为：</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其中，              ，    越接近于</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，说明回归曲线拟合度越好；   越小，说明回归曲线拟合度越差。        </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时，表示自变量 与因变量 没有线性关系。        时，表示回归曲线与样本点重合。</a:t>
            </a:r>
            <a:r>
              <a:rPr lang="en-US" altLang="zh-CN" dirty="0">
                <a:latin typeface="微软雅黑" panose="020B0503020204020204" pitchFamily="34" charset="-122"/>
                <a:ea typeface="微软雅黑" panose="020B0503020204020204" pitchFamily="34" charset="-122"/>
              </a:rPr>
              <a:t>  </a:t>
            </a:r>
          </a:p>
        </p:txBody>
      </p:sp>
      <p:graphicFrame>
        <p:nvGraphicFramePr>
          <p:cNvPr id="3" name="对象 2">
            <a:extLst>
              <a:ext uri="{FF2B5EF4-FFF2-40B4-BE49-F238E27FC236}">
                <a16:creationId xmlns:a16="http://schemas.microsoft.com/office/drawing/2014/main" id="{FA6A1DCF-75A9-D9ED-17A7-412709832659}"/>
              </a:ext>
            </a:extLst>
          </p:cNvPr>
          <p:cNvGraphicFramePr>
            <a:graphicFrameLocks noChangeAspect="1"/>
          </p:cNvGraphicFramePr>
          <p:nvPr>
            <p:extLst>
              <p:ext uri="{D42A27DB-BD31-4B8C-83A1-F6EECF244321}">
                <p14:modId xmlns:p14="http://schemas.microsoft.com/office/powerpoint/2010/main" val="1151557673"/>
              </p:ext>
            </p:extLst>
          </p:nvPr>
        </p:nvGraphicFramePr>
        <p:xfrm>
          <a:off x="5562614" y="2138997"/>
          <a:ext cx="364056" cy="346720"/>
        </p:xfrm>
        <a:graphic>
          <a:graphicData uri="http://schemas.openxmlformats.org/presentationml/2006/ole">
            <mc:AlternateContent xmlns:mc="http://schemas.openxmlformats.org/markup-compatibility/2006">
              <mc:Choice xmlns:v="urn:schemas-microsoft-com:vml" Requires="v">
                <p:oleObj name="Equation" r:id="rId3" imgW="203200" imgH="190500" progId="Equation.DSMT4">
                  <p:embed/>
                </p:oleObj>
              </mc:Choice>
              <mc:Fallback>
                <p:oleObj name="Equation" r:id="rId3" imgW="203200" imgH="190500" progId="Equation.DSMT4">
                  <p:embed/>
                  <p:pic>
                    <p:nvPicPr>
                      <p:cNvPr id="8" name="对象 7">
                        <a:extLst>
                          <a:ext uri="{FF2B5EF4-FFF2-40B4-BE49-F238E27FC236}">
                            <a16:creationId xmlns:a16="http://schemas.microsoft.com/office/drawing/2014/main" id="{7BD66A33-6340-4BC4-A149-C792D2E04F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14" y="2138997"/>
                        <a:ext cx="364056" cy="346720"/>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A3EDE79B-9C43-1A4B-4502-CE6E8079D2A3}"/>
              </a:ext>
            </a:extLst>
          </p:cNvPr>
          <p:cNvGraphicFramePr>
            <a:graphicFrameLocks noChangeAspect="1"/>
          </p:cNvGraphicFramePr>
          <p:nvPr>
            <p:extLst>
              <p:ext uri="{D42A27DB-BD31-4B8C-83A1-F6EECF244321}">
                <p14:modId xmlns:p14="http://schemas.microsoft.com/office/powerpoint/2010/main" val="1641899781"/>
              </p:ext>
            </p:extLst>
          </p:nvPr>
        </p:nvGraphicFramePr>
        <p:xfrm>
          <a:off x="4495842" y="2651307"/>
          <a:ext cx="3756791" cy="703326"/>
        </p:xfrm>
        <a:graphic>
          <a:graphicData uri="http://schemas.openxmlformats.org/presentationml/2006/ole">
            <mc:AlternateContent xmlns:mc="http://schemas.openxmlformats.org/markup-compatibility/2006">
              <mc:Choice xmlns:v="urn:schemas-microsoft-com:vml" Requires="v">
                <p:oleObj name="Equation" r:id="rId5" imgW="2095500" imgH="393700" progId="Equation.DSMT4">
                  <p:embed/>
                </p:oleObj>
              </mc:Choice>
              <mc:Fallback>
                <p:oleObj name="Equation" r:id="rId5" imgW="2095500" imgH="393700" progId="Equation.DSMT4">
                  <p:embed/>
                  <p:pic>
                    <p:nvPicPr>
                      <p:cNvPr id="9" name="对象 8">
                        <a:extLst>
                          <a:ext uri="{FF2B5EF4-FFF2-40B4-BE49-F238E27FC236}">
                            <a16:creationId xmlns:a16="http://schemas.microsoft.com/office/drawing/2014/main" id="{BA1F315C-F9AA-4FCA-B4AD-C98D0C03B8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42" y="2651307"/>
                        <a:ext cx="3756791" cy="703326"/>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8317AAAC-731F-DA7B-3B26-9D73DDB95F8D}"/>
              </a:ext>
            </a:extLst>
          </p:cNvPr>
          <p:cNvGraphicFramePr>
            <a:graphicFrameLocks noChangeAspect="1"/>
          </p:cNvGraphicFramePr>
          <p:nvPr>
            <p:extLst>
              <p:ext uri="{D42A27DB-BD31-4B8C-83A1-F6EECF244321}">
                <p14:modId xmlns:p14="http://schemas.microsoft.com/office/powerpoint/2010/main" val="1505915938"/>
              </p:ext>
            </p:extLst>
          </p:nvPr>
        </p:nvGraphicFramePr>
        <p:xfrm>
          <a:off x="2514694" y="3470935"/>
          <a:ext cx="1008112" cy="384043"/>
        </p:xfrm>
        <a:graphic>
          <a:graphicData uri="http://schemas.openxmlformats.org/presentationml/2006/ole">
            <mc:AlternateContent xmlns:mc="http://schemas.openxmlformats.org/markup-compatibility/2006">
              <mc:Choice xmlns:v="urn:schemas-microsoft-com:vml" Requires="v">
                <p:oleObj name="Equation" r:id="rId7" imgW="14935200" imgH="5486400" progId="Equation.DSMT4">
                  <p:embed/>
                </p:oleObj>
              </mc:Choice>
              <mc:Fallback>
                <p:oleObj name="Equation" r:id="rId7" imgW="14935200" imgH="5486400" progId="Equation.DSMT4">
                  <p:embed/>
                  <p:pic>
                    <p:nvPicPr>
                      <p:cNvPr id="10" name="对象 9">
                        <a:extLst>
                          <a:ext uri="{FF2B5EF4-FFF2-40B4-BE49-F238E27FC236}">
                            <a16:creationId xmlns:a16="http://schemas.microsoft.com/office/drawing/2014/main" id="{DC23E977-8882-4DD1-9F07-763C3764A8E1}"/>
                          </a:ext>
                        </a:extLst>
                      </p:cNvPr>
                      <p:cNvPicPr>
                        <a:picLocks noChangeAspect="1" noChangeArrowheads="1"/>
                      </p:cNvPicPr>
                      <p:nvPr/>
                    </p:nvPicPr>
                    <p:blipFill>
                      <a:blip r:embed="rId8"/>
                      <a:srcRect/>
                      <a:stretch>
                        <a:fillRect/>
                      </a:stretch>
                    </p:blipFill>
                    <p:spPr bwMode="auto">
                      <a:xfrm>
                        <a:off x="2514694" y="3470935"/>
                        <a:ext cx="1008112" cy="384043"/>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1DAF2FAC-7483-9599-926A-9C5A43FAED1A}"/>
              </a:ext>
            </a:extLst>
          </p:cNvPr>
          <p:cNvGraphicFramePr>
            <a:graphicFrameLocks noChangeAspect="1"/>
          </p:cNvGraphicFramePr>
          <p:nvPr>
            <p:extLst>
              <p:ext uri="{D42A27DB-BD31-4B8C-83A1-F6EECF244321}">
                <p14:modId xmlns:p14="http://schemas.microsoft.com/office/powerpoint/2010/main" val="527961815"/>
              </p:ext>
            </p:extLst>
          </p:nvPr>
        </p:nvGraphicFramePr>
        <p:xfrm>
          <a:off x="3733862" y="3489596"/>
          <a:ext cx="364056" cy="346720"/>
        </p:xfrm>
        <a:graphic>
          <a:graphicData uri="http://schemas.openxmlformats.org/presentationml/2006/ole">
            <mc:AlternateContent xmlns:mc="http://schemas.openxmlformats.org/markup-compatibility/2006">
              <mc:Choice xmlns:v="urn:schemas-microsoft-com:vml" Requires="v">
                <p:oleObj name="Equation" r:id="rId9" imgW="4876800" imgH="4572000" progId="Equation.DSMT4">
                  <p:embed/>
                </p:oleObj>
              </mc:Choice>
              <mc:Fallback>
                <p:oleObj name="Equation" r:id="rId9" imgW="4876800" imgH="4572000" progId="Equation.DSMT4">
                  <p:embed/>
                  <p:pic>
                    <p:nvPicPr>
                      <p:cNvPr id="11" name="对象 10">
                        <a:extLst>
                          <a:ext uri="{FF2B5EF4-FFF2-40B4-BE49-F238E27FC236}">
                            <a16:creationId xmlns:a16="http://schemas.microsoft.com/office/drawing/2014/main" id="{0FC2516F-0E44-40F1-90A5-1E9EA7063E4E}"/>
                          </a:ext>
                        </a:extLst>
                      </p:cNvPr>
                      <p:cNvPicPr>
                        <a:picLocks noChangeAspect="1" noChangeArrowheads="1"/>
                      </p:cNvPicPr>
                      <p:nvPr/>
                    </p:nvPicPr>
                    <p:blipFill>
                      <a:blip r:embed="rId10"/>
                      <a:srcRect/>
                      <a:stretch>
                        <a:fillRect/>
                      </a:stretch>
                    </p:blipFill>
                    <p:spPr bwMode="auto">
                      <a:xfrm>
                        <a:off x="3733862" y="3489596"/>
                        <a:ext cx="364056" cy="346720"/>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B5D237D5-CD70-2C54-8AF9-2D3400DE9A3B}"/>
              </a:ext>
            </a:extLst>
          </p:cNvPr>
          <p:cNvGraphicFramePr>
            <a:graphicFrameLocks noChangeAspect="1"/>
          </p:cNvGraphicFramePr>
          <p:nvPr>
            <p:extLst>
              <p:ext uri="{D42A27DB-BD31-4B8C-83A1-F6EECF244321}">
                <p14:modId xmlns:p14="http://schemas.microsoft.com/office/powerpoint/2010/main" val="2721434670"/>
              </p:ext>
            </p:extLst>
          </p:nvPr>
        </p:nvGraphicFramePr>
        <p:xfrm>
          <a:off x="1981308" y="4267502"/>
          <a:ext cx="633372" cy="341046"/>
        </p:xfrm>
        <a:graphic>
          <a:graphicData uri="http://schemas.openxmlformats.org/presentationml/2006/ole">
            <mc:AlternateContent xmlns:mc="http://schemas.openxmlformats.org/markup-compatibility/2006">
              <mc:Choice xmlns:v="urn:schemas-microsoft-com:vml" Requires="v">
                <p:oleObj name="Equation" r:id="rId11" imgW="381000" imgH="203200" progId="Equation.DSMT4">
                  <p:embed/>
                </p:oleObj>
              </mc:Choice>
              <mc:Fallback>
                <p:oleObj name="Equation" r:id="rId11" imgW="381000" imgH="203200" progId="Equation.DSMT4">
                  <p:embed/>
                  <p:pic>
                    <p:nvPicPr>
                      <p:cNvPr id="12" name="对象 11">
                        <a:extLst>
                          <a:ext uri="{FF2B5EF4-FFF2-40B4-BE49-F238E27FC236}">
                            <a16:creationId xmlns:a16="http://schemas.microsoft.com/office/drawing/2014/main" id="{4254F6BD-8C09-4E17-A2E0-F8AB80CE8B9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81308" y="4267502"/>
                        <a:ext cx="633372" cy="341046"/>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DCB395EE-67C0-8BBB-4E1B-3E2EC81B7AC0}"/>
              </a:ext>
            </a:extLst>
          </p:cNvPr>
          <p:cNvGraphicFramePr>
            <a:graphicFrameLocks noChangeAspect="1"/>
          </p:cNvGraphicFramePr>
          <p:nvPr>
            <p:extLst>
              <p:ext uri="{D42A27DB-BD31-4B8C-83A1-F6EECF244321}">
                <p14:modId xmlns:p14="http://schemas.microsoft.com/office/powerpoint/2010/main" val="3766211391"/>
              </p:ext>
            </p:extLst>
          </p:nvPr>
        </p:nvGraphicFramePr>
        <p:xfrm>
          <a:off x="6810138" y="4286080"/>
          <a:ext cx="537053" cy="298363"/>
        </p:xfrm>
        <a:graphic>
          <a:graphicData uri="http://schemas.openxmlformats.org/presentationml/2006/ole">
            <mc:AlternateContent xmlns:mc="http://schemas.openxmlformats.org/markup-compatibility/2006">
              <mc:Choice xmlns:v="urn:schemas-microsoft-com:vml" Requires="v">
                <p:oleObj name="Equation" r:id="rId13" imgW="355600" imgH="190500" progId="Equation.DSMT4">
                  <p:embed/>
                </p:oleObj>
              </mc:Choice>
              <mc:Fallback>
                <p:oleObj name="Equation" r:id="rId13" imgW="355600" imgH="190500" progId="Equation.DSMT4">
                  <p:embed/>
                  <p:pic>
                    <p:nvPicPr>
                      <p:cNvPr id="13" name="对象 12">
                        <a:extLst>
                          <a:ext uri="{FF2B5EF4-FFF2-40B4-BE49-F238E27FC236}">
                            <a16:creationId xmlns:a16="http://schemas.microsoft.com/office/drawing/2014/main" id="{7C1A6AA4-0647-4234-AC7B-1F59D7869BC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10138" y="4286080"/>
                        <a:ext cx="537053" cy="298363"/>
                      </a:xfrm>
                      <a:prstGeom prst="rect">
                        <a:avLst/>
                      </a:prstGeom>
                      <a:noFill/>
                    </p:spPr>
                  </p:pic>
                </p:oleObj>
              </mc:Fallback>
            </mc:AlternateContent>
          </a:graphicData>
        </a:graphic>
      </p:graphicFrame>
    </p:spTree>
    <p:custDataLst>
      <p:tags r:id="rId1"/>
    </p:custDataLst>
    <p:extLst>
      <p:ext uri="{BB962C8B-B14F-4D97-AF65-F5344CB8AC3E}">
        <p14:creationId xmlns:p14="http://schemas.microsoft.com/office/powerpoint/2010/main" val="1391743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FB621280-7886-BB75-C584-126F99C1145A}"/>
              </a:ext>
            </a:extLst>
          </p:cNvPr>
          <p:cNvSpPr txBox="1">
            <a:spLocks noChangeArrowheads="1"/>
          </p:cNvSpPr>
          <p:nvPr/>
        </p:nvSpPr>
        <p:spPr bwMode="auto">
          <a:xfrm>
            <a:off x="1524000" y="1371654"/>
            <a:ext cx="9144000" cy="4799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5720" rIns="92075" bIns="45720" numCol="1" anchor="t">
            <a:noAutofit/>
          </a:bodyPr>
          <a:lstStyle/>
          <a:p>
            <a:pPr marL="0" indent="0" algn="l" defTabSz="914400" fontAlgn="base" latinLnBrk="0">
              <a:lnSpc>
                <a:spcPct val="130000"/>
              </a:lnSpc>
              <a:spcBef>
                <a:spcPts val="500"/>
              </a:spcBef>
              <a:spcAft>
                <a:spcPts val="0"/>
              </a:spcAft>
              <a:buFontTx/>
              <a:buNone/>
            </a:pPr>
            <a:r>
              <a:rPr lang="en-US" altLang="ko-KR" sz="2000" b="0" cap="none" dirty="0">
                <a:latin typeface="微软雅黑" panose="020B0503020204020204" pitchFamily="34" charset="-122"/>
                <a:ea typeface="微软雅黑" panose="020B0503020204020204" pitchFamily="34" charset="-122"/>
              </a:rPr>
              <a:t>回归分析的步骤</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r>
              <a:rPr lang="en-US" altLang="ko-KR" sz="2000" b="1" cap="none" dirty="0">
                <a:latin typeface="微软雅黑" panose="020B0503020204020204" pitchFamily="34" charset="-122"/>
                <a:ea typeface="微软雅黑" panose="020B0503020204020204" pitchFamily="34" charset="-122"/>
              </a:rPr>
              <a:t>确定变量</a:t>
            </a:r>
            <a:r>
              <a:rPr lang="en-US" altLang="ko-KR" sz="2000" b="0" cap="none" dirty="0">
                <a:latin typeface="微软雅黑" panose="020B0503020204020204" pitchFamily="34" charset="-122"/>
                <a:ea typeface="微软雅黑" panose="020B0503020204020204" pitchFamily="34" charset="-122"/>
              </a:rPr>
              <a:t>。寻找与预测目标的相关影响因素，即自变量，并从中选出主要的影响因素。</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r>
              <a:rPr lang="en-US" altLang="ko-KR" sz="2000" b="1" cap="none" dirty="0">
                <a:latin typeface="微软雅黑" panose="020B0503020204020204" pitchFamily="34" charset="-122"/>
                <a:ea typeface="微软雅黑" panose="020B0503020204020204" pitchFamily="34" charset="-122"/>
              </a:rPr>
              <a:t>建立预测模型</a:t>
            </a:r>
            <a:r>
              <a:rPr lang="en-US" altLang="ko-KR" sz="2000" b="0" cap="none" dirty="0">
                <a:latin typeface="微软雅黑" panose="020B0503020204020204" pitchFamily="34" charset="-122"/>
                <a:ea typeface="微软雅黑" panose="020B0503020204020204" pitchFamily="34" charset="-122"/>
              </a:rPr>
              <a:t>。依据自变量和因变量的历史统计资料进行计算，在此基础上建立回归分析预测模型。</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r>
              <a:rPr lang="en-US" altLang="ko-KR" sz="2000" b="1" cap="none" dirty="0" err="1">
                <a:latin typeface="微软雅黑" panose="020B0503020204020204" pitchFamily="34" charset="-122"/>
                <a:ea typeface="微软雅黑" panose="020B0503020204020204" pitchFamily="34" charset="-122"/>
              </a:rPr>
              <a:t>计算预测误差</a:t>
            </a:r>
            <a:r>
              <a:rPr lang="en-US" altLang="ko-KR" sz="2000" b="0" cap="none" dirty="0" err="1">
                <a:latin typeface="微软雅黑" panose="020B0503020204020204" pitchFamily="34" charset="-122"/>
                <a:ea typeface="微软雅黑" panose="020B0503020204020204" pitchFamily="34" charset="-122"/>
              </a:rPr>
              <a:t>。回归预测模型是否可用于实际预测，取决于对回归预测模型的检验和对预测误差的计算</a:t>
            </a:r>
            <a:r>
              <a:rPr lang="en-US" altLang="ko-KR" sz="2000" b="0" cap="none" dirty="0">
                <a:latin typeface="微软雅黑" panose="020B0503020204020204" pitchFamily="34" charset="-122"/>
                <a:ea typeface="微软雅黑" panose="020B0503020204020204" pitchFamily="34" charset="-122"/>
              </a:rPr>
              <a:t>。</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r>
              <a:rPr lang="en-US" altLang="ko-KR" sz="2000" b="1" cap="none" dirty="0">
                <a:latin typeface="微软雅黑" panose="020B0503020204020204" pitchFamily="34" charset="-122"/>
                <a:ea typeface="微软雅黑" panose="020B0503020204020204" pitchFamily="34" charset="-122"/>
              </a:rPr>
              <a:t>确定预测值</a:t>
            </a:r>
            <a:r>
              <a:rPr lang="en-US" altLang="ko-KR" sz="2000" b="0" cap="none" dirty="0">
                <a:latin typeface="微软雅黑" panose="020B0503020204020204" pitchFamily="34" charset="-122"/>
                <a:ea typeface="微软雅黑" panose="020B0503020204020204" pitchFamily="34" charset="-122"/>
              </a:rPr>
              <a:t>。利用回归预测模型计算预测值，并对预测值进行综合分析，确定最后的预测值。</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endParaRPr lang="ko-KR" altLang="en-US" sz="2000" b="0" cap="none"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03299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boolVal val="0"/>
                                          </p:val>
                                        </p:tav>
                                      </p:tavLst>
                                    </p:anim>
                                    <p:anim calcmode="discrete" valueType="clr">
                                      <p:cBhvr>
                                        <p:cTn id="8" dur="80"/>
                                        <p:tgtEl>
                                          <p:spTgt spid="2">
                                            <p:txEl>
                                              <p:pRg st="0" end="0"/>
                                            </p:txEl>
                                          </p:spTgt>
                                        </p:tgtEl>
                                        <p:attrNameLst>
                                          <p:attrName>fillcolor</p:attrName>
                                        </p:attrNameLst>
                                      </p:cBhvr>
                                      <p:tavLst>
                                        <p:tav tm="0">
                                          <p:val>
                                            <p:boolVal val="0"/>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barn(inVertical))">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barn(inVertical))">
                                      <p:cBhvr>
                                        <p:cTn id="19" dur="500"/>
                                        <p:tgtEl>
                                          <p:spTgt spid="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animEffect transition="in" filter="barn(inVertical))">
                                      <p:cBhvr>
                                        <p:cTn id="24" dur="500"/>
                                        <p:tgtEl>
                                          <p:spTgt spid="2">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Effect transition="in" filter="barn(inVertical))">
                                      <p:cBhvr>
                                        <p:cTn id="2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A48523B7-528E-0D82-B85A-F90C1FB7FED9}"/>
              </a:ext>
            </a:extLst>
          </p:cNvPr>
          <p:cNvPicPr>
            <a:picLocks noChangeAspect="1"/>
          </p:cNvPicPr>
          <p:nvPr/>
        </p:nvPicPr>
        <p:blipFill>
          <a:blip r:embed="rId3"/>
          <a:stretch>
            <a:fillRect/>
          </a:stretch>
        </p:blipFill>
        <p:spPr>
          <a:xfrm>
            <a:off x="341123" y="1175253"/>
            <a:ext cx="7736078" cy="4651825"/>
          </a:xfrm>
          <a:prstGeom prst="rect">
            <a:avLst/>
          </a:prstGeom>
        </p:spPr>
      </p:pic>
      <p:pic>
        <p:nvPicPr>
          <p:cNvPr id="3" name="Picture 2" descr="口袋妖怪神兽领域最新手机版下载安装-口袋妖怪神兽领域全神兽完整版下载v2.0 GBA移植版-乐游网手机下载站">
            <a:extLst>
              <a:ext uri="{FF2B5EF4-FFF2-40B4-BE49-F238E27FC236}">
                <a16:creationId xmlns:a16="http://schemas.microsoft.com/office/drawing/2014/main" id="{A9E7774C-C70A-3F7A-A875-D9D6BD1BF3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6892"/>
          <a:stretch/>
        </p:blipFill>
        <p:spPr bwMode="auto">
          <a:xfrm>
            <a:off x="5830957" y="3429000"/>
            <a:ext cx="5960286" cy="304829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227098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Picture 2" descr="图片">
            <a:extLst>
              <a:ext uri="{FF2B5EF4-FFF2-40B4-BE49-F238E27FC236}">
                <a16:creationId xmlns:a16="http://schemas.microsoft.com/office/drawing/2014/main" id="{C1CEDA8D-E982-FC01-DB0E-B56BFAF9F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352" y="695794"/>
            <a:ext cx="3866980" cy="5466411"/>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09A9240A-BCAA-4892-FAFB-1A8B6D722425}"/>
              </a:ext>
            </a:extLst>
          </p:cNvPr>
          <p:cNvPicPr>
            <a:picLocks noChangeAspect="1"/>
          </p:cNvPicPr>
          <p:nvPr/>
        </p:nvPicPr>
        <p:blipFill>
          <a:blip r:embed="rId4"/>
          <a:stretch>
            <a:fillRect/>
          </a:stretch>
        </p:blipFill>
        <p:spPr>
          <a:xfrm>
            <a:off x="5121976" y="1613211"/>
            <a:ext cx="5338868" cy="1240159"/>
          </a:xfrm>
          <a:prstGeom prst="rect">
            <a:avLst/>
          </a:prstGeom>
        </p:spPr>
      </p:pic>
    </p:spTree>
    <p:custDataLst>
      <p:tags r:id="rId1"/>
    </p:custDataLst>
    <p:extLst>
      <p:ext uri="{BB962C8B-B14F-4D97-AF65-F5344CB8AC3E}">
        <p14:creationId xmlns:p14="http://schemas.microsoft.com/office/powerpoint/2010/main" val="34446146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2" name="图片 1">
            <a:extLst>
              <a:ext uri="{FF2B5EF4-FFF2-40B4-BE49-F238E27FC236}">
                <a16:creationId xmlns:a16="http://schemas.microsoft.com/office/drawing/2014/main" id="{F995FEAF-4751-CE5C-EAC5-1BBD6528E301}"/>
              </a:ext>
            </a:extLst>
          </p:cNvPr>
          <p:cNvPicPr>
            <a:picLocks noChangeAspect="1"/>
          </p:cNvPicPr>
          <p:nvPr/>
        </p:nvPicPr>
        <p:blipFill>
          <a:blip r:embed="rId3"/>
          <a:stretch>
            <a:fillRect/>
          </a:stretch>
        </p:blipFill>
        <p:spPr>
          <a:xfrm>
            <a:off x="369943" y="1603699"/>
            <a:ext cx="11452113" cy="3960523"/>
          </a:xfrm>
          <a:prstGeom prst="rect">
            <a:avLst/>
          </a:prstGeom>
        </p:spPr>
      </p:pic>
    </p:spTree>
    <p:custDataLst>
      <p:tags r:id="rId1"/>
    </p:custDataLst>
    <p:extLst>
      <p:ext uri="{BB962C8B-B14F-4D97-AF65-F5344CB8AC3E}">
        <p14:creationId xmlns:p14="http://schemas.microsoft.com/office/powerpoint/2010/main" val="512150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A803EE20-6C50-4BF0-EE21-029583EC49DE}"/>
              </a:ext>
            </a:extLst>
          </p:cNvPr>
          <p:cNvGraphicFramePr>
            <a:graphicFrameLocks noChangeAspect="1"/>
          </p:cNvGraphicFramePr>
          <p:nvPr>
            <p:extLst>
              <p:ext uri="{D42A27DB-BD31-4B8C-83A1-F6EECF244321}">
                <p14:modId xmlns:p14="http://schemas.microsoft.com/office/powerpoint/2010/main" val="4229588129"/>
              </p:ext>
            </p:extLst>
          </p:nvPr>
        </p:nvGraphicFramePr>
        <p:xfrm>
          <a:off x="865870" y="1090334"/>
          <a:ext cx="3321050" cy="685800"/>
        </p:xfrm>
        <a:graphic>
          <a:graphicData uri="http://schemas.openxmlformats.org/presentationml/2006/ole">
            <mc:AlternateContent xmlns:mc="http://schemas.openxmlformats.org/markup-compatibility/2006">
              <mc:Choice xmlns:v="urn:schemas-microsoft-com:vml" Requires="v">
                <p:oleObj name="Equation" r:id="rId3" imgW="1168200" imgH="241200" progId="Equation.DSMT4">
                  <p:embed/>
                </p:oleObj>
              </mc:Choice>
              <mc:Fallback>
                <p:oleObj name="Equation" r:id="rId3" imgW="1168200" imgH="241200" progId="Equation.DSMT4">
                  <p:embed/>
                  <p:pic>
                    <p:nvPicPr>
                      <p:cNvPr id="7" name="对象 6">
                        <a:extLst>
                          <a:ext uri="{FF2B5EF4-FFF2-40B4-BE49-F238E27FC236}">
                            <a16:creationId xmlns:a16="http://schemas.microsoft.com/office/drawing/2014/main" id="{808853D1-AF05-4FCA-886E-846DACF6D1E7}"/>
                          </a:ext>
                        </a:extLst>
                      </p:cNvPr>
                      <p:cNvPicPr/>
                      <p:nvPr/>
                    </p:nvPicPr>
                    <p:blipFill>
                      <a:blip r:embed="rId4"/>
                      <a:stretch>
                        <a:fillRect/>
                      </a:stretch>
                    </p:blipFill>
                    <p:spPr>
                      <a:xfrm>
                        <a:off x="865870" y="1090334"/>
                        <a:ext cx="3321050" cy="68580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614F05C2-FF97-C08F-402D-F4CAA4C1EDC4}"/>
              </a:ext>
            </a:extLst>
          </p:cNvPr>
          <p:cNvGraphicFramePr>
            <a:graphicFrameLocks noChangeAspect="1"/>
          </p:cNvGraphicFramePr>
          <p:nvPr>
            <p:extLst>
              <p:ext uri="{D42A27DB-BD31-4B8C-83A1-F6EECF244321}">
                <p14:modId xmlns:p14="http://schemas.microsoft.com/office/powerpoint/2010/main" val="1466772281"/>
              </p:ext>
            </p:extLst>
          </p:nvPr>
        </p:nvGraphicFramePr>
        <p:xfrm>
          <a:off x="865870" y="1901624"/>
          <a:ext cx="3956050" cy="914400"/>
        </p:xfrm>
        <a:graphic>
          <a:graphicData uri="http://schemas.openxmlformats.org/presentationml/2006/ole">
            <mc:AlternateContent xmlns:mc="http://schemas.openxmlformats.org/markup-compatibility/2006">
              <mc:Choice xmlns:v="urn:schemas-microsoft-com:vml" Requires="v">
                <p:oleObj name="Equation" r:id="rId5" imgW="1866600" imgH="431640" progId="Equation.DSMT4">
                  <p:embed/>
                </p:oleObj>
              </mc:Choice>
              <mc:Fallback>
                <p:oleObj name="Equation" r:id="rId5" imgW="1866600" imgH="431640" progId="Equation.DSMT4">
                  <p:embed/>
                  <p:pic>
                    <p:nvPicPr>
                      <p:cNvPr id="8" name="对象 7">
                        <a:extLst>
                          <a:ext uri="{FF2B5EF4-FFF2-40B4-BE49-F238E27FC236}">
                            <a16:creationId xmlns:a16="http://schemas.microsoft.com/office/drawing/2014/main" id="{A94A7006-F3F2-4D79-B749-62D703C58B56}"/>
                          </a:ext>
                        </a:extLst>
                      </p:cNvPr>
                      <p:cNvPicPr/>
                      <p:nvPr/>
                    </p:nvPicPr>
                    <p:blipFill>
                      <a:blip r:embed="rId6"/>
                      <a:stretch>
                        <a:fillRect/>
                      </a:stretch>
                    </p:blipFill>
                    <p:spPr>
                      <a:xfrm>
                        <a:off x="865870" y="1901624"/>
                        <a:ext cx="3956050" cy="9144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3BC41BED-E4F2-C220-F41B-F1694639B676}"/>
              </a:ext>
            </a:extLst>
          </p:cNvPr>
          <p:cNvGraphicFramePr>
            <a:graphicFrameLocks noChangeAspect="1"/>
          </p:cNvGraphicFramePr>
          <p:nvPr>
            <p:extLst>
              <p:ext uri="{D42A27DB-BD31-4B8C-83A1-F6EECF244321}">
                <p14:modId xmlns:p14="http://schemas.microsoft.com/office/powerpoint/2010/main" val="2164999553"/>
              </p:ext>
            </p:extLst>
          </p:nvPr>
        </p:nvGraphicFramePr>
        <p:xfrm>
          <a:off x="6818160" y="3269453"/>
          <a:ext cx="4190890" cy="1027214"/>
        </p:xfrm>
        <a:graphic>
          <a:graphicData uri="http://schemas.openxmlformats.org/presentationml/2006/ole">
            <mc:AlternateContent xmlns:mc="http://schemas.openxmlformats.org/markup-compatibility/2006">
              <mc:Choice xmlns:v="urn:schemas-microsoft-com:vml" Requires="v">
                <p:oleObj name="Equation" r:id="rId7" imgW="1968480" imgH="482400" progId="Equation.DSMT4">
                  <p:embed/>
                </p:oleObj>
              </mc:Choice>
              <mc:Fallback>
                <p:oleObj name="Equation" r:id="rId7" imgW="1968480" imgH="482400" progId="Equation.DSMT4">
                  <p:embed/>
                  <p:pic>
                    <p:nvPicPr>
                      <p:cNvPr id="9" name="对象 8">
                        <a:extLst>
                          <a:ext uri="{FF2B5EF4-FFF2-40B4-BE49-F238E27FC236}">
                            <a16:creationId xmlns:a16="http://schemas.microsoft.com/office/drawing/2014/main" id="{BF2AC454-0814-4644-BF50-2CE74240D386}"/>
                          </a:ext>
                        </a:extLst>
                      </p:cNvPr>
                      <p:cNvPicPr/>
                      <p:nvPr/>
                    </p:nvPicPr>
                    <p:blipFill>
                      <a:blip r:embed="rId8"/>
                      <a:stretch>
                        <a:fillRect/>
                      </a:stretch>
                    </p:blipFill>
                    <p:spPr>
                      <a:xfrm>
                        <a:off x="6818160" y="3269453"/>
                        <a:ext cx="4190890" cy="1027214"/>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70C78BCD-38E1-9048-FAD3-381C1E9EA7DC}"/>
              </a:ext>
            </a:extLst>
          </p:cNvPr>
          <p:cNvGraphicFramePr>
            <a:graphicFrameLocks noChangeAspect="1"/>
          </p:cNvGraphicFramePr>
          <p:nvPr>
            <p:extLst>
              <p:ext uri="{D42A27DB-BD31-4B8C-83A1-F6EECF244321}">
                <p14:modId xmlns:p14="http://schemas.microsoft.com/office/powerpoint/2010/main" val="3521147633"/>
              </p:ext>
            </p:extLst>
          </p:nvPr>
        </p:nvGraphicFramePr>
        <p:xfrm>
          <a:off x="6818160" y="4373165"/>
          <a:ext cx="5159375" cy="1368425"/>
        </p:xfrm>
        <a:graphic>
          <a:graphicData uri="http://schemas.openxmlformats.org/presentationml/2006/ole">
            <mc:AlternateContent xmlns:mc="http://schemas.openxmlformats.org/markup-compatibility/2006">
              <mc:Choice xmlns:v="urn:schemas-microsoft-com:vml" Requires="v">
                <p:oleObj name="Equation" r:id="rId9" imgW="3251160" imgH="863280" progId="Equation.DSMT4">
                  <p:embed/>
                </p:oleObj>
              </mc:Choice>
              <mc:Fallback>
                <p:oleObj name="Equation" r:id="rId9" imgW="3251160" imgH="863280" progId="Equation.DSMT4">
                  <p:embed/>
                  <p:pic>
                    <p:nvPicPr>
                      <p:cNvPr id="10" name="对象 9">
                        <a:extLst>
                          <a:ext uri="{FF2B5EF4-FFF2-40B4-BE49-F238E27FC236}">
                            <a16:creationId xmlns:a16="http://schemas.microsoft.com/office/drawing/2014/main" id="{D8AF6B3C-08A6-4A92-BDA1-E122E6DFB651}"/>
                          </a:ext>
                        </a:extLst>
                      </p:cNvPr>
                      <p:cNvPicPr/>
                      <p:nvPr/>
                    </p:nvPicPr>
                    <p:blipFill>
                      <a:blip r:embed="rId10"/>
                      <a:stretch>
                        <a:fillRect/>
                      </a:stretch>
                    </p:blipFill>
                    <p:spPr>
                      <a:xfrm>
                        <a:off x="6818160" y="4373165"/>
                        <a:ext cx="5159375" cy="1368425"/>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2842577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文本框 1">
            <a:extLst>
              <a:ext uri="{FF2B5EF4-FFF2-40B4-BE49-F238E27FC236}">
                <a16:creationId xmlns:a16="http://schemas.microsoft.com/office/drawing/2014/main" id="{4FF0D51D-D5FA-B217-B285-A784ECB3E630}"/>
              </a:ext>
            </a:extLst>
          </p:cNvPr>
          <p:cNvSpPr txBox="1"/>
          <p:nvPr/>
        </p:nvSpPr>
        <p:spPr>
          <a:xfrm>
            <a:off x="863714" y="1317988"/>
            <a:ext cx="10245488" cy="1477328"/>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例：某商品销售量与商品价格和人均月收入之间的关系</a:t>
            </a:r>
            <a:endParaRPr lang="en-US" altLang="zh-CN" b="1" dirty="0">
              <a:latin typeface="微软雅黑" panose="020B0503020204020204" pitchFamily="34" charset="-122"/>
              <a:ea typeface="微软雅黑" panose="020B0503020204020204" pitchFamily="34" charset="-122"/>
            </a:endParaRPr>
          </a:p>
          <a:p>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已知某商品的销售量受商品价格和人均月收入这两个因素的影响，下表是该商品在某年</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月至</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月间每个月的销售量情况。</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CB22AB53-9B0F-5584-A47F-45D9645C8095}"/>
              </a:ext>
            </a:extLst>
          </p:cNvPr>
          <p:cNvGraphicFramePr>
            <a:graphicFrameLocks noGrp="1"/>
          </p:cNvGraphicFramePr>
          <p:nvPr>
            <p:extLst>
              <p:ext uri="{D42A27DB-BD31-4B8C-83A1-F6EECF244321}">
                <p14:modId xmlns:p14="http://schemas.microsoft.com/office/powerpoint/2010/main" val="250100828"/>
              </p:ext>
            </p:extLst>
          </p:nvPr>
        </p:nvGraphicFramePr>
        <p:xfrm>
          <a:off x="838314" y="2960578"/>
          <a:ext cx="11099682" cy="2322621"/>
        </p:xfrm>
        <a:graphic>
          <a:graphicData uri="http://schemas.openxmlformats.org/drawingml/2006/table">
            <a:tbl>
              <a:tblPr firstRow="1" firstCol="1" bandRow="1">
                <a:tableStyleId>{5C22544A-7EE6-4342-B048-85BDC9FD1C3A}</a:tableStyleId>
              </a:tblPr>
              <a:tblGrid>
                <a:gridCol w="1009062">
                  <a:extLst>
                    <a:ext uri="{9D8B030D-6E8A-4147-A177-3AD203B41FA5}">
                      <a16:colId xmlns:a16="http://schemas.microsoft.com/office/drawing/2014/main" val="20000"/>
                    </a:ext>
                  </a:extLst>
                </a:gridCol>
                <a:gridCol w="1009062">
                  <a:extLst>
                    <a:ext uri="{9D8B030D-6E8A-4147-A177-3AD203B41FA5}">
                      <a16:colId xmlns:a16="http://schemas.microsoft.com/office/drawing/2014/main" val="20001"/>
                    </a:ext>
                  </a:extLst>
                </a:gridCol>
                <a:gridCol w="1009062">
                  <a:extLst>
                    <a:ext uri="{9D8B030D-6E8A-4147-A177-3AD203B41FA5}">
                      <a16:colId xmlns:a16="http://schemas.microsoft.com/office/drawing/2014/main" val="20002"/>
                    </a:ext>
                  </a:extLst>
                </a:gridCol>
                <a:gridCol w="1009062">
                  <a:extLst>
                    <a:ext uri="{9D8B030D-6E8A-4147-A177-3AD203B41FA5}">
                      <a16:colId xmlns:a16="http://schemas.microsoft.com/office/drawing/2014/main" val="20003"/>
                    </a:ext>
                  </a:extLst>
                </a:gridCol>
                <a:gridCol w="1009062">
                  <a:extLst>
                    <a:ext uri="{9D8B030D-6E8A-4147-A177-3AD203B41FA5}">
                      <a16:colId xmlns:a16="http://schemas.microsoft.com/office/drawing/2014/main" val="20004"/>
                    </a:ext>
                  </a:extLst>
                </a:gridCol>
                <a:gridCol w="1009062">
                  <a:extLst>
                    <a:ext uri="{9D8B030D-6E8A-4147-A177-3AD203B41FA5}">
                      <a16:colId xmlns:a16="http://schemas.microsoft.com/office/drawing/2014/main" val="20005"/>
                    </a:ext>
                  </a:extLst>
                </a:gridCol>
                <a:gridCol w="1009062">
                  <a:extLst>
                    <a:ext uri="{9D8B030D-6E8A-4147-A177-3AD203B41FA5}">
                      <a16:colId xmlns:a16="http://schemas.microsoft.com/office/drawing/2014/main" val="20006"/>
                    </a:ext>
                  </a:extLst>
                </a:gridCol>
                <a:gridCol w="1009062">
                  <a:extLst>
                    <a:ext uri="{9D8B030D-6E8A-4147-A177-3AD203B41FA5}">
                      <a16:colId xmlns:a16="http://schemas.microsoft.com/office/drawing/2014/main" val="20007"/>
                    </a:ext>
                  </a:extLst>
                </a:gridCol>
                <a:gridCol w="1009062">
                  <a:extLst>
                    <a:ext uri="{9D8B030D-6E8A-4147-A177-3AD203B41FA5}">
                      <a16:colId xmlns:a16="http://schemas.microsoft.com/office/drawing/2014/main" val="20008"/>
                    </a:ext>
                  </a:extLst>
                </a:gridCol>
                <a:gridCol w="1009062">
                  <a:extLst>
                    <a:ext uri="{9D8B030D-6E8A-4147-A177-3AD203B41FA5}">
                      <a16:colId xmlns:a16="http://schemas.microsoft.com/office/drawing/2014/main" val="20009"/>
                    </a:ext>
                  </a:extLst>
                </a:gridCol>
                <a:gridCol w="1009062">
                  <a:extLst>
                    <a:ext uri="{9D8B030D-6E8A-4147-A177-3AD203B41FA5}">
                      <a16:colId xmlns:a16="http://schemas.microsoft.com/office/drawing/2014/main" val="20010"/>
                    </a:ext>
                  </a:extLst>
                </a:gridCol>
              </a:tblGrid>
              <a:tr h="551580">
                <a:tc>
                  <a:txBody>
                    <a:bodyPr/>
                    <a:lstStyle/>
                    <a:p>
                      <a:pPr indent="179705" algn="ctr">
                        <a:spcAft>
                          <a:spcPts val="0"/>
                        </a:spcAft>
                      </a:pPr>
                      <a:r>
                        <a:rPr lang="zh-CN" sz="1200" kern="100">
                          <a:effectLst/>
                        </a:rPr>
                        <a:t>月份</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7</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10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590066">
                <a:tc>
                  <a:txBody>
                    <a:bodyPr/>
                    <a:lstStyle/>
                    <a:p>
                      <a:pPr algn="ctr">
                        <a:spcAft>
                          <a:spcPts val="0"/>
                        </a:spcAft>
                      </a:pPr>
                      <a:r>
                        <a:rPr lang="zh-CN" sz="1200" kern="100">
                          <a:effectLst/>
                        </a:rPr>
                        <a:t>商品价格（元</a:t>
                      </a:r>
                      <a:r>
                        <a:rPr lang="en-US" sz="1200" kern="100">
                          <a:effectLst/>
                        </a:rPr>
                        <a:t>/</a:t>
                      </a:r>
                      <a:r>
                        <a:rPr lang="zh-CN" sz="1200" kern="100">
                          <a:effectLst/>
                        </a:rPr>
                        <a:t>件）</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89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78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70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60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69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45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32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45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90066">
                <a:tc>
                  <a:txBody>
                    <a:bodyPr/>
                    <a:lstStyle/>
                    <a:p>
                      <a:pPr algn="ctr">
                        <a:spcAft>
                          <a:spcPts val="0"/>
                        </a:spcAft>
                      </a:pPr>
                      <a:r>
                        <a:rPr lang="zh-CN" sz="1200" kern="100">
                          <a:effectLst/>
                        </a:rPr>
                        <a:t>人均月收入（元）</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560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530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600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680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750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830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880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830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980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1100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90909">
                <a:tc>
                  <a:txBody>
                    <a:bodyPr/>
                    <a:lstStyle/>
                    <a:p>
                      <a:pPr algn="ctr">
                        <a:spcAft>
                          <a:spcPts val="0"/>
                        </a:spcAft>
                      </a:pPr>
                      <a:r>
                        <a:rPr lang="zh-CN" sz="1200" kern="100">
                          <a:effectLst/>
                        </a:rPr>
                        <a:t>商品销售量（件）</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5800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5890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6200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6800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7100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8900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9000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8100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9990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9800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4279626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F5388127-657E-C9FA-8FE9-3A13467E067A}"/>
              </a:ext>
            </a:extLst>
          </p:cNvPr>
          <p:cNvGraphicFramePr>
            <a:graphicFrameLocks noChangeAspect="1"/>
          </p:cNvGraphicFramePr>
          <p:nvPr>
            <p:extLst>
              <p:ext uri="{D42A27DB-BD31-4B8C-83A1-F6EECF244321}">
                <p14:modId xmlns:p14="http://schemas.microsoft.com/office/powerpoint/2010/main" val="1728708577"/>
              </p:ext>
            </p:extLst>
          </p:nvPr>
        </p:nvGraphicFramePr>
        <p:xfrm>
          <a:off x="1382238" y="1833712"/>
          <a:ext cx="9427523" cy="3769420"/>
        </p:xfrm>
        <a:graphic>
          <a:graphicData uri="http://schemas.openxmlformats.org/presentationml/2006/ole">
            <mc:AlternateContent xmlns:mc="http://schemas.openxmlformats.org/markup-compatibility/2006">
              <mc:Choice xmlns:v="urn:schemas-microsoft-com:vml" Requires="v">
                <p:oleObj name="Equation" r:id="rId3" imgW="3555720" imgH="1422360" progId="Equation.DSMT4">
                  <p:embed/>
                </p:oleObj>
              </mc:Choice>
              <mc:Fallback>
                <p:oleObj name="Equation" r:id="rId3" imgW="3555720" imgH="1422360" progId="Equation.DSMT4">
                  <p:embed/>
                  <p:pic>
                    <p:nvPicPr>
                      <p:cNvPr id="7" name="对象 6">
                        <a:extLst>
                          <a:ext uri="{FF2B5EF4-FFF2-40B4-BE49-F238E27FC236}">
                            <a16:creationId xmlns:a16="http://schemas.microsoft.com/office/drawing/2014/main" id="{B1FDAFA9-829E-426A-9CE3-86EA40313B3F}"/>
                          </a:ext>
                        </a:extLst>
                      </p:cNvPr>
                      <p:cNvPicPr/>
                      <p:nvPr/>
                    </p:nvPicPr>
                    <p:blipFill>
                      <a:blip r:embed="rId4"/>
                      <a:stretch>
                        <a:fillRect/>
                      </a:stretch>
                    </p:blipFill>
                    <p:spPr>
                      <a:xfrm>
                        <a:off x="1382238" y="1833712"/>
                        <a:ext cx="9427523" cy="376942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EFEBF9B6-E162-4016-8901-6B780464A3A4}"/>
              </a:ext>
            </a:extLst>
          </p:cNvPr>
          <p:cNvGraphicFramePr>
            <a:graphicFrameLocks noChangeAspect="1"/>
          </p:cNvGraphicFramePr>
          <p:nvPr>
            <p:extLst>
              <p:ext uri="{D42A27DB-BD31-4B8C-83A1-F6EECF244321}">
                <p14:modId xmlns:p14="http://schemas.microsoft.com/office/powerpoint/2010/main" val="2327573502"/>
              </p:ext>
            </p:extLst>
          </p:nvPr>
        </p:nvGraphicFramePr>
        <p:xfrm>
          <a:off x="1372714" y="987185"/>
          <a:ext cx="2528170" cy="722902"/>
        </p:xfrm>
        <a:graphic>
          <a:graphicData uri="http://schemas.openxmlformats.org/presentationml/2006/ole">
            <mc:AlternateContent xmlns:mc="http://schemas.openxmlformats.org/markup-compatibility/2006">
              <mc:Choice xmlns:v="urn:schemas-microsoft-com:vml" Requires="v">
                <p:oleObj name="Equation" r:id="rId5" imgW="711000" imgH="203040" progId="Equation.DSMT4">
                  <p:embed/>
                </p:oleObj>
              </mc:Choice>
              <mc:Fallback>
                <p:oleObj name="Equation" r:id="rId5" imgW="711000" imgH="203040" progId="Equation.DSMT4">
                  <p:embed/>
                  <p:pic>
                    <p:nvPicPr>
                      <p:cNvPr id="8" name="对象 7">
                        <a:extLst>
                          <a:ext uri="{FF2B5EF4-FFF2-40B4-BE49-F238E27FC236}">
                            <a16:creationId xmlns:a16="http://schemas.microsoft.com/office/drawing/2014/main" id="{EC1D8105-EE51-4B57-9254-CE8D6ACC6B27}"/>
                          </a:ext>
                        </a:extLst>
                      </p:cNvPr>
                      <p:cNvPicPr/>
                      <p:nvPr/>
                    </p:nvPicPr>
                    <p:blipFill>
                      <a:blip r:embed="rId6"/>
                      <a:stretch>
                        <a:fillRect/>
                      </a:stretch>
                    </p:blipFill>
                    <p:spPr>
                      <a:xfrm>
                        <a:off x="1372714" y="987185"/>
                        <a:ext cx="2528170" cy="722902"/>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1824379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6519547D-9666-CE27-85AC-B4F42D8EE06C}"/>
              </a:ext>
            </a:extLst>
          </p:cNvPr>
          <p:cNvGraphicFramePr>
            <a:graphicFrameLocks noChangeAspect="1"/>
          </p:cNvGraphicFramePr>
          <p:nvPr>
            <p:extLst>
              <p:ext uri="{D42A27DB-BD31-4B8C-83A1-F6EECF244321}">
                <p14:modId xmlns:p14="http://schemas.microsoft.com/office/powerpoint/2010/main" val="4004509485"/>
              </p:ext>
            </p:extLst>
          </p:nvPr>
        </p:nvGraphicFramePr>
        <p:xfrm>
          <a:off x="2815357" y="1271155"/>
          <a:ext cx="1550987" cy="2020887"/>
        </p:xfrm>
        <a:graphic>
          <a:graphicData uri="http://schemas.openxmlformats.org/presentationml/2006/ole">
            <mc:AlternateContent xmlns:mc="http://schemas.openxmlformats.org/markup-compatibility/2006">
              <mc:Choice xmlns:v="urn:schemas-microsoft-com:vml" Requires="v">
                <p:oleObj name="Equation" r:id="rId3" imgW="545760" imgH="711000" progId="Equation.DSMT4">
                  <p:embed/>
                </p:oleObj>
              </mc:Choice>
              <mc:Fallback>
                <p:oleObj name="Equation" r:id="rId3" imgW="545760" imgH="711000" progId="Equation.DSMT4">
                  <p:embed/>
                  <p:pic>
                    <p:nvPicPr>
                      <p:cNvPr id="7" name="对象 6">
                        <a:extLst>
                          <a:ext uri="{FF2B5EF4-FFF2-40B4-BE49-F238E27FC236}">
                            <a16:creationId xmlns:a16="http://schemas.microsoft.com/office/drawing/2014/main" id="{761057ED-BC48-48C8-BDA7-FFF904BA62AC}"/>
                          </a:ext>
                        </a:extLst>
                      </p:cNvPr>
                      <p:cNvPicPr/>
                      <p:nvPr/>
                    </p:nvPicPr>
                    <p:blipFill>
                      <a:blip r:embed="rId4"/>
                      <a:stretch>
                        <a:fillRect/>
                      </a:stretch>
                    </p:blipFill>
                    <p:spPr>
                      <a:xfrm>
                        <a:off x="2815357" y="1271155"/>
                        <a:ext cx="1550987" cy="2020887"/>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DABA4ABE-4C04-815F-FD0B-31E3F9300AD1}"/>
              </a:ext>
            </a:extLst>
          </p:cNvPr>
          <p:cNvGraphicFramePr>
            <a:graphicFrameLocks noChangeAspect="1"/>
          </p:cNvGraphicFramePr>
          <p:nvPr>
            <p:extLst>
              <p:ext uri="{D42A27DB-BD31-4B8C-83A1-F6EECF244321}">
                <p14:modId xmlns:p14="http://schemas.microsoft.com/office/powerpoint/2010/main" val="434585397"/>
              </p:ext>
            </p:extLst>
          </p:nvPr>
        </p:nvGraphicFramePr>
        <p:xfrm>
          <a:off x="4922336" y="1271154"/>
          <a:ext cx="1658938" cy="2020888"/>
        </p:xfrm>
        <a:graphic>
          <a:graphicData uri="http://schemas.openxmlformats.org/presentationml/2006/ole">
            <mc:AlternateContent xmlns:mc="http://schemas.openxmlformats.org/markup-compatibility/2006">
              <mc:Choice xmlns:v="urn:schemas-microsoft-com:vml" Requires="v">
                <p:oleObj name="Equation" r:id="rId5" imgW="583920" imgH="711000" progId="Equation.DSMT4">
                  <p:embed/>
                </p:oleObj>
              </mc:Choice>
              <mc:Fallback>
                <p:oleObj name="Equation" r:id="rId5" imgW="583920" imgH="711000" progId="Equation.DSMT4">
                  <p:embed/>
                  <p:pic>
                    <p:nvPicPr>
                      <p:cNvPr id="8" name="对象 7">
                        <a:extLst>
                          <a:ext uri="{FF2B5EF4-FFF2-40B4-BE49-F238E27FC236}">
                            <a16:creationId xmlns:a16="http://schemas.microsoft.com/office/drawing/2014/main" id="{BFAB4AA1-1B56-4B80-83A4-A3B7B271698D}"/>
                          </a:ext>
                        </a:extLst>
                      </p:cNvPr>
                      <p:cNvPicPr/>
                      <p:nvPr/>
                    </p:nvPicPr>
                    <p:blipFill>
                      <a:blip r:embed="rId6"/>
                      <a:stretch>
                        <a:fillRect/>
                      </a:stretch>
                    </p:blipFill>
                    <p:spPr>
                      <a:xfrm>
                        <a:off x="4922336" y="1271154"/>
                        <a:ext cx="1658938" cy="2020888"/>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D421D515-17E9-CAB3-237C-C32C28328E54}"/>
              </a:ext>
            </a:extLst>
          </p:cNvPr>
          <p:cNvGraphicFramePr>
            <a:graphicFrameLocks noChangeAspect="1"/>
          </p:cNvGraphicFramePr>
          <p:nvPr>
            <p:extLst>
              <p:ext uri="{D42A27DB-BD31-4B8C-83A1-F6EECF244321}">
                <p14:modId xmlns:p14="http://schemas.microsoft.com/office/powerpoint/2010/main" val="4187961192"/>
              </p:ext>
            </p:extLst>
          </p:nvPr>
        </p:nvGraphicFramePr>
        <p:xfrm>
          <a:off x="7213418" y="1271154"/>
          <a:ext cx="1550988" cy="2020888"/>
        </p:xfrm>
        <a:graphic>
          <a:graphicData uri="http://schemas.openxmlformats.org/presentationml/2006/ole">
            <mc:AlternateContent xmlns:mc="http://schemas.openxmlformats.org/markup-compatibility/2006">
              <mc:Choice xmlns:v="urn:schemas-microsoft-com:vml" Requires="v">
                <p:oleObj name="Equation" r:id="rId7" imgW="545760" imgH="711000" progId="Equation.DSMT4">
                  <p:embed/>
                </p:oleObj>
              </mc:Choice>
              <mc:Fallback>
                <p:oleObj name="Equation" r:id="rId7" imgW="545760" imgH="711000" progId="Equation.DSMT4">
                  <p:embed/>
                  <p:pic>
                    <p:nvPicPr>
                      <p:cNvPr id="9" name="对象 8">
                        <a:extLst>
                          <a:ext uri="{FF2B5EF4-FFF2-40B4-BE49-F238E27FC236}">
                            <a16:creationId xmlns:a16="http://schemas.microsoft.com/office/drawing/2014/main" id="{845B67D4-02EE-4BD4-B3AF-87509E57454C}"/>
                          </a:ext>
                        </a:extLst>
                      </p:cNvPr>
                      <p:cNvPicPr/>
                      <p:nvPr/>
                    </p:nvPicPr>
                    <p:blipFill>
                      <a:blip r:embed="rId8"/>
                      <a:stretch>
                        <a:fillRect/>
                      </a:stretch>
                    </p:blipFill>
                    <p:spPr>
                      <a:xfrm>
                        <a:off x="7213418" y="1271154"/>
                        <a:ext cx="1550988" cy="202088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3E76BDB8-8206-C453-33F0-A80518164A72}"/>
              </a:ext>
            </a:extLst>
          </p:cNvPr>
          <p:cNvGraphicFramePr>
            <a:graphicFrameLocks noChangeAspect="1"/>
          </p:cNvGraphicFramePr>
          <p:nvPr>
            <p:extLst>
              <p:ext uri="{D42A27DB-BD31-4B8C-83A1-F6EECF244321}">
                <p14:modId xmlns:p14="http://schemas.microsoft.com/office/powerpoint/2010/main" val="3117347723"/>
              </p:ext>
            </p:extLst>
          </p:nvPr>
        </p:nvGraphicFramePr>
        <p:xfrm>
          <a:off x="4328318" y="3878477"/>
          <a:ext cx="3535363" cy="2020888"/>
        </p:xfrm>
        <a:graphic>
          <a:graphicData uri="http://schemas.openxmlformats.org/presentationml/2006/ole">
            <mc:AlternateContent xmlns:mc="http://schemas.openxmlformats.org/markup-compatibility/2006">
              <mc:Choice xmlns:v="urn:schemas-microsoft-com:vml" Requires="v">
                <p:oleObj name="Equation" r:id="rId9" imgW="1244520" imgH="711000" progId="Equation.DSMT4">
                  <p:embed/>
                </p:oleObj>
              </mc:Choice>
              <mc:Fallback>
                <p:oleObj name="Equation" r:id="rId9" imgW="1244520" imgH="711000" progId="Equation.DSMT4">
                  <p:embed/>
                  <p:pic>
                    <p:nvPicPr>
                      <p:cNvPr id="10" name="对象 9">
                        <a:extLst>
                          <a:ext uri="{FF2B5EF4-FFF2-40B4-BE49-F238E27FC236}">
                            <a16:creationId xmlns:a16="http://schemas.microsoft.com/office/drawing/2014/main" id="{8008FC46-97B9-4ECB-A959-290ECEDC3606}"/>
                          </a:ext>
                        </a:extLst>
                      </p:cNvPr>
                      <p:cNvPicPr/>
                      <p:nvPr/>
                    </p:nvPicPr>
                    <p:blipFill>
                      <a:blip r:embed="rId10"/>
                      <a:stretch>
                        <a:fillRect/>
                      </a:stretch>
                    </p:blipFill>
                    <p:spPr>
                      <a:xfrm>
                        <a:off x="4328318" y="3878477"/>
                        <a:ext cx="3535363" cy="2020888"/>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40351042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D941C206-552D-84F0-DF70-8CAD0733A6C3}"/>
              </a:ext>
            </a:extLst>
          </p:cNvPr>
          <p:cNvGraphicFramePr>
            <a:graphicFrameLocks noChangeAspect="1"/>
          </p:cNvGraphicFramePr>
          <p:nvPr>
            <p:extLst>
              <p:ext uri="{D42A27DB-BD31-4B8C-83A1-F6EECF244321}">
                <p14:modId xmlns:p14="http://schemas.microsoft.com/office/powerpoint/2010/main" val="4251217314"/>
              </p:ext>
            </p:extLst>
          </p:nvPr>
        </p:nvGraphicFramePr>
        <p:xfrm>
          <a:off x="2539027" y="979326"/>
          <a:ext cx="912803" cy="1189354"/>
        </p:xfrm>
        <a:graphic>
          <a:graphicData uri="http://schemas.openxmlformats.org/presentationml/2006/ole">
            <mc:AlternateContent xmlns:mc="http://schemas.openxmlformats.org/markup-compatibility/2006">
              <mc:Choice xmlns:v="urn:schemas-microsoft-com:vml" Requires="v">
                <p:oleObj name="Equation" r:id="rId3" imgW="545760" imgH="711000" progId="Equation.DSMT4">
                  <p:embed/>
                </p:oleObj>
              </mc:Choice>
              <mc:Fallback>
                <p:oleObj name="Equation" r:id="rId3" imgW="545760" imgH="711000" progId="Equation.DSMT4">
                  <p:embed/>
                  <p:pic>
                    <p:nvPicPr>
                      <p:cNvPr id="7" name="对象 6">
                        <a:extLst>
                          <a:ext uri="{FF2B5EF4-FFF2-40B4-BE49-F238E27FC236}">
                            <a16:creationId xmlns:a16="http://schemas.microsoft.com/office/drawing/2014/main" id="{761057ED-BC48-48C8-BDA7-FFF904BA62AC}"/>
                          </a:ext>
                        </a:extLst>
                      </p:cNvPr>
                      <p:cNvPicPr/>
                      <p:nvPr/>
                    </p:nvPicPr>
                    <p:blipFill>
                      <a:blip r:embed="rId4"/>
                      <a:stretch>
                        <a:fillRect/>
                      </a:stretch>
                    </p:blipFill>
                    <p:spPr>
                      <a:xfrm>
                        <a:off x="2539027" y="979326"/>
                        <a:ext cx="912803" cy="1189354"/>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DEAAA622-1201-9194-81E1-806CAB88CDA0}"/>
              </a:ext>
            </a:extLst>
          </p:cNvPr>
          <p:cNvGraphicFramePr>
            <a:graphicFrameLocks noChangeAspect="1"/>
          </p:cNvGraphicFramePr>
          <p:nvPr>
            <p:extLst>
              <p:ext uri="{D42A27DB-BD31-4B8C-83A1-F6EECF244321}">
                <p14:modId xmlns:p14="http://schemas.microsoft.com/office/powerpoint/2010/main" val="1846643291"/>
              </p:ext>
            </p:extLst>
          </p:nvPr>
        </p:nvGraphicFramePr>
        <p:xfrm>
          <a:off x="4035256" y="979324"/>
          <a:ext cx="976336" cy="1189355"/>
        </p:xfrm>
        <a:graphic>
          <a:graphicData uri="http://schemas.openxmlformats.org/presentationml/2006/ole">
            <mc:AlternateContent xmlns:mc="http://schemas.openxmlformats.org/markup-compatibility/2006">
              <mc:Choice xmlns:v="urn:schemas-microsoft-com:vml" Requires="v">
                <p:oleObj name="Equation" r:id="rId5" imgW="583920" imgH="711000" progId="Equation.DSMT4">
                  <p:embed/>
                </p:oleObj>
              </mc:Choice>
              <mc:Fallback>
                <p:oleObj name="Equation" r:id="rId5" imgW="583920" imgH="711000" progId="Equation.DSMT4">
                  <p:embed/>
                  <p:pic>
                    <p:nvPicPr>
                      <p:cNvPr id="8" name="对象 7">
                        <a:extLst>
                          <a:ext uri="{FF2B5EF4-FFF2-40B4-BE49-F238E27FC236}">
                            <a16:creationId xmlns:a16="http://schemas.microsoft.com/office/drawing/2014/main" id="{BFAB4AA1-1B56-4B80-83A4-A3B7B271698D}"/>
                          </a:ext>
                        </a:extLst>
                      </p:cNvPr>
                      <p:cNvPicPr/>
                      <p:nvPr/>
                    </p:nvPicPr>
                    <p:blipFill>
                      <a:blip r:embed="rId6"/>
                      <a:stretch>
                        <a:fillRect/>
                      </a:stretch>
                    </p:blipFill>
                    <p:spPr>
                      <a:xfrm>
                        <a:off x="4035256" y="979324"/>
                        <a:ext cx="976336" cy="1189355"/>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CEFC4823-19BA-3D2D-10E4-38E2652CF72D}"/>
              </a:ext>
            </a:extLst>
          </p:cNvPr>
          <p:cNvGraphicFramePr>
            <a:graphicFrameLocks noChangeAspect="1"/>
          </p:cNvGraphicFramePr>
          <p:nvPr>
            <p:extLst>
              <p:ext uri="{D42A27DB-BD31-4B8C-83A1-F6EECF244321}">
                <p14:modId xmlns:p14="http://schemas.microsoft.com/office/powerpoint/2010/main" val="3648487851"/>
              </p:ext>
            </p:extLst>
          </p:nvPr>
        </p:nvGraphicFramePr>
        <p:xfrm>
          <a:off x="5595524" y="979324"/>
          <a:ext cx="912804" cy="1189355"/>
        </p:xfrm>
        <a:graphic>
          <a:graphicData uri="http://schemas.openxmlformats.org/presentationml/2006/ole">
            <mc:AlternateContent xmlns:mc="http://schemas.openxmlformats.org/markup-compatibility/2006">
              <mc:Choice xmlns:v="urn:schemas-microsoft-com:vml" Requires="v">
                <p:oleObj name="Equation" r:id="rId7" imgW="545760" imgH="711000" progId="Equation.DSMT4">
                  <p:embed/>
                </p:oleObj>
              </mc:Choice>
              <mc:Fallback>
                <p:oleObj name="Equation" r:id="rId7" imgW="545760" imgH="711000" progId="Equation.DSMT4">
                  <p:embed/>
                  <p:pic>
                    <p:nvPicPr>
                      <p:cNvPr id="9" name="对象 8">
                        <a:extLst>
                          <a:ext uri="{FF2B5EF4-FFF2-40B4-BE49-F238E27FC236}">
                            <a16:creationId xmlns:a16="http://schemas.microsoft.com/office/drawing/2014/main" id="{845B67D4-02EE-4BD4-B3AF-87509E57454C}"/>
                          </a:ext>
                        </a:extLst>
                      </p:cNvPr>
                      <p:cNvPicPr/>
                      <p:nvPr/>
                    </p:nvPicPr>
                    <p:blipFill>
                      <a:blip r:embed="rId8"/>
                      <a:stretch>
                        <a:fillRect/>
                      </a:stretch>
                    </p:blipFill>
                    <p:spPr>
                      <a:xfrm>
                        <a:off x="5595524" y="979324"/>
                        <a:ext cx="912804" cy="1189355"/>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82E617F8-1CB7-37A9-1C86-3C08FF89F5CC}"/>
              </a:ext>
            </a:extLst>
          </p:cNvPr>
          <p:cNvGraphicFramePr>
            <a:graphicFrameLocks noChangeAspect="1"/>
          </p:cNvGraphicFramePr>
          <p:nvPr>
            <p:extLst>
              <p:ext uri="{D42A27DB-BD31-4B8C-83A1-F6EECF244321}">
                <p14:modId xmlns:p14="http://schemas.microsoft.com/office/powerpoint/2010/main" val="1433681488"/>
              </p:ext>
            </p:extLst>
          </p:nvPr>
        </p:nvGraphicFramePr>
        <p:xfrm>
          <a:off x="7089312" y="979300"/>
          <a:ext cx="2080670" cy="1189355"/>
        </p:xfrm>
        <a:graphic>
          <a:graphicData uri="http://schemas.openxmlformats.org/presentationml/2006/ole">
            <mc:AlternateContent xmlns:mc="http://schemas.openxmlformats.org/markup-compatibility/2006">
              <mc:Choice xmlns:v="urn:schemas-microsoft-com:vml" Requires="v">
                <p:oleObj name="Equation" r:id="rId9" imgW="1244520" imgH="711000" progId="Equation.DSMT4">
                  <p:embed/>
                </p:oleObj>
              </mc:Choice>
              <mc:Fallback>
                <p:oleObj name="Equation" r:id="rId9" imgW="1244520" imgH="711000" progId="Equation.DSMT4">
                  <p:embed/>
                  <p:pic>
                    <p:nvPicPr>
                      <p:cNvPr id="10" name="对象 9">
                        <a:extLst>
                          <a:ext uri="{FF2B5EF4-FFF2-40B4-BE49-F238E27FC236}">
                            <a16:creationId xmlns:a16="http://schemas.microsoft.com/office/drawing/2014/main" id="{8008FC46-97B9-4ECB-A959-290ECEDC3606}"/>
                          </a:ext>
                        </a:extLst>
                      </p:cNvPr>
                      <p:cNvPicPr/>
                      <p:nvPr/>
                    </p:nvPicPr>
                    <p:blipFill>
                      <a:blip r:embed="rId10"/>
                      <a:stretch>
                        <a:fillRect/>
                      </a:stretch>
                    </p:blipFill>
                    <p:spPr>
                      <a:xfrm>
                        <a:off x="7089312" y="979300"/>
                        <a:ext cx="2080670" cy="118935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A813094-984D-9240-D528-B3A97EACE822}"/>
              </a:ext>
            </a:extLst>
          </p:cNvPr>
          <p:cNvGraphicFramePr>
            <a:graphicFrameLocks noChangeAspect="1"/>
          </p:cNvGraphicFramePr>
          <p:nvPr>
            <p:extLst>
              <p:ext uri="{D42A27DB-BD31-4B8C-83A1-F6EECF244321}">
                <p14:modId xmlns:p14="http://schemas.microsoft.com/office/powerpoint/2010/main" val="3355591019"/>
              </p:ext>
            </p:extLst>
          </p:nvPr>
        </p:nvGraphicFramePr>
        <p:xfrm>
          <a:off x="2539027" y="2737712"/>
          <a:ext cx="1739900" cy="722312"/>
        </p:xfrm>
        <a:graphic>
          <a:graphicData uri="http://schemas.openxmlformats.org/presentationml/2006/ole">
            <mc:AlternateContent xmlns:mc="http://schemas.openxmlformats.org/markup-compatibility/2006">
              <mc:Choice xmlns:v="urn:schemas-microsoft-com:vml" Requires="v">
                <p:oleObj name="Equation" r:id="rId11" imgW="1041120" imgH="431640" progId="Equation.DSMT4">
                  <p:embed/>
                </p:oleObj>
              </mc:Choice>
              <mc:Fallback>
                <p:oleObj name="Equation" r:id="rId11" imgW="1041120" imgH="431640" progId="Equation.DSMT4">
                  <p:embed/>
                  <p:pic>
                    <p:nvPicPr>
                      <p:cNvPr id="11" name="对象 10">
                        <a:extLst>
                          <a:ext uri="{FF2B5EF4-FFF2-40B4-BE49-F238E27FC236}">
                            <a16:creationId xmlns:a16="http://schemas.microsoft.com/office/drawing/2014/main" id="{2D2D5A59-FE85-40F9-922E-5E3B2CDA24ED}"/>
                          </a:ext>
                        </a:extLst>
                      </p:cNvPr>
                      <p:cNvPicPr/>
                      <p:nvPr/>
                    </p:nvPicPr>
                    <p:blipFill>
                      <a:blip r:embed="rId12"/>
                      <a:stretch>
                        <a:fillRect/>
                      </a:stretch>
                    </p:blipFill>
                    <p:spPr>
                      <a:xfrm>
                        <a:off x="2539027" y="2737712"/>
                        <a:ext cx="1739900" cy="722312"/>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1C202C7-8FB0-B4D2-65E1-0F860BA366AA}"/>
              </a:ext>
            </a:extLst>
          </p:cNvPr>
          <p:cNvGraphicFramePr>
            <a:graphicFrameLocks noChangeAspect="1"/>
          </p:cNvGraphicFramePr>
          <p:nvPr>
            <p:extLst>
              <p:ext uri="{D42A27DB-BD31-4B8C-83A1-F6EECF244321}">
                <p14:modId xmlns:p14="http://schemas.microsoft.com/office/powerpoint/2010/main" val="1384077851"/>
              </p:ext>
            </p:extLst>
          </p:nvPr>
        </p:nvGraphicFramePr>
        <p:xfrm>
          <a:off x="2539103" y="4025982"/>
          <a:ext cx="3586163" cy="806450"/>
        </p:xfrm>
        <a:graphic>
          <a:graphicData uri="http://schemas.openxmlformats.org/presentationml/2006/ole">
            <mc:AlternateContent xmlns:mc="http://schemas.openxmlformats.org/markup-compatibility/2006">
              <mc:Choice xmlns:v="urn:schemas-microsoft-com:vml" Requires="v">
                <p:oleObj name="Equation" r:id="rId13" imgW="2145960" imgH="482400" progId="Equation.DSMT4">
                  <p:embed/>
                </p:oleObj>
              </mc:Choice>
              <mc:Fallback>
                <p:oleObj name="Equation" r:id="rId13" imgW="2145960" imgH="482400" progId="Equation.DSMT4">
                  <p:embed/>
                  <p:pic>
                    <p:nvPicPr>
                      <p:cNvPr id="12" name="对象 11">
                        <a:extLst>
                          <a:ext uri="{FF2B5EF4-FFF2-40B4-BE49-F238E27FC236}">
                            <a16:creationId xmlns:a16="http://schemas.microsoft.com/office/drawing/2014/main" id="{83907E0D-2693-43A1-8094-4F4531DEE21D}"/>
                          </a:ext>
                        </a:extLst>
                      </p:cNvPr>
                      <p:cNvPicPr/>
                      <p:nvPr/>
                    </p:nvPicPr>
                    <p:blipFill>
                      <a:blip r:embed="rId14"/>
                      <a:stretch>
                        <a:fillRect/>
                      </a:stretch>
                    </p:blipFill>
                    <p:spPr>
                      <a:xfrm>
                        <a:off x="2539103" y="4025982"/>
                        <a:ext cx="3586163" cy="80645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098595E-B5A0-B7AF-FA68-49A00C5DE7B1}"/>
              </a:ext>
            </a:extLst>
          </p:cNvPr>
          <p:cNvGraphicFramePr>
            <a:graphicFrameLocks noChangeAspect="1"/>
          </p:cNvGraphicFramePr>
          <p:nvPr>
            <p:extLst>
              <p:ext uri="{D42A27DB-BD31-4B8C-83A1-F6EECF244321}">
                <p14:modId xmlns:p14="http://schemas.microsoft.com/office/powerpoint/2010/main" val="700300344"/>
              </p:ext>
            </p:extLst>
          </p:nvPr>
        </p:nvGraphicFramePr>
        <p:xfrm>
          <a:off x="2539027" y="5398390"/>
          <a:ext cx="2503487" cy="742950"/>
        </p:xfrm>
        <a:graphic>
          <a:graphicData uri="http://schemas.openxmlformats.org/presentationml/2006/ole">
            <mc:AlternateContent xmlns:mc="http://schemas.openxmlformats.org/markup-compatibility/2006">
              <mc:Choice xmlns:v="urn:schemas-microsoft-com:vml" Requires="v">
                <p:oleObj name="Equation" r:id="rId15" imgW="1498320" imgH="444240" progId="Equation.DSMT4">
                  <p:embed/>
                </p:oleObj>
              </mc:Choice>
              <mc:Fallback>
                <p:oleObj name="Equation" r:id="rId15" imgW="1498320" imgH="444240" progId="Equation.DSMT4">
                  <p:embed/>
                  <p:pic>
                    <p:nvPicPr>
                      <p:cNvPr id="13" name="对象 12">
                        <a:extLst>
                          <a:ext uri="{FF2B5EF4-FFF2-40B4-BE49-F238E27FC236}">
                            <a16:creationId xmlns:a16="http://schemas.microsoft.com/office/drawing/2014/main" id="{9FDC2043-495C-49C9-AF49-B83439D7797C}"/>
                          </a:ext>
                        </a:extLst>
                      </p:cNvPr>
                      <p:cNvPicPr/>
                      <p:nvPr/>
                    </p:nvPicPr>
                    <p:blipFill>
                      <a:blip r:embed="rId16"/>
                      <a:stretch>
                        <a:fillRect/>
                      </a:stretch>
                    </p:blipFill>
                    <p:spPr>
                      <a:xfrm>
                        <a:off x="2539027" y="5398390"/>
                        <a:ext cx="2503487" cy="742950"/>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474452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1C29EFA2-0D31-14E9-08B1-C4D5EECD1EDC}"/>
              </a:ext>
            </a:extLst>
          </p:cNvPr>
          <p:cNvGraphicFramePr>
            <a:graphicFrameLocks noChangeAspect="1"/>
          </p:cNvGraphicFramePr>
          <p:nvPr>
            <p:extLst>
              <p:ext uri="{D42A27DB-BD31-4B8C-83A1-F6EECF244321}">
                <p14:modId xmlns:p14="http://schemas.microsoft.com/office/powerpoint/2010/main" val="284879271"/>
              </p:ext>
            </p:extLst>
          </p:nvPr>
        </p:nvGraphicFramePr>
        <p:xfrm>
          <a:off x="2029753" y="2467211"/>
          <a:ext cx="7535863" cy="3013075"/>
        </p:xfrm>
        <a:graphic>
          <a:graphicData uri="http://schemas.openxmlformats.org/presentationml/2006/ole">
            <mc:AlternateContent xmlns:mc="http://schemas.openxmlformats.org/markup-compatibility/2006">
              <mc:Choice xmlns:v="urn:schemas-microsoft-com:vml" Requires="v">
                <p:oleObj name="Equation" r:id="rId3" imgW="3555720" imgH="1422360" progId="Equation.DSMT4">
                  <p:embed/>
                </p:oleObj>
              </mc:Choice>
              <mc:Fallback>
                <p:oleObj name="Equation" r:id="rId3" imgW="3555720" imgH="1422360" progId="Equation.DSMT4">
                  <p:embed/>
                  <p:pic>
                    <p:nvPicPr>
                      <p:cNvPr id="7" name="对象 6">
                        <a:extLst>
                          <a:ext uri="{FF2B5EF4-FFF2-40B4-BE49-F238E27FC236}">
                            <a16:creationId xmlns:a16="http://schemas.microsoft.com/office/drawing/2014/main" id="{B1FDAFA9-829E-426A-9CE3-86EA40313B3F}"/>
                          </a:ext>
                        </a:extLst>
                      </p:cNvPr>
                      <p:cNvPicPr/>
                      <p:nvPr/>
                    </p:nvPicPr>
                    <p:blipFill>
                      <a:blip r:embed="rId4"/>
                      <a:stretch>
                        <a:fillRect/>
                      </a:stretch>
                    </p:blipFill>
                    <p:spPr>
                      <a:xfrm>
                        <a:off x="2029753" y="2467211"/>
                        <a:ext cx="7535863" cy="3013075"/>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44AAB385-EB76-67E1-DDCF-ED9F33D05A97}"/>
              </a:ext>
            </a:extLst>
          </p:cNvPr>
          <p:cNvGraphicFramePr>
            <a:graphicFrameLocks noChangeAspect="1"/>
          </p:cNvGraphicFramePr>
          <p:nvPr>
            <p:extLst>
              <p:ext uri="{D42A27DB-BD31-4B8C-83A1-F6EECF244321}">
                <p14:modId xmlns:p14="http://schemas.microsoft.com/office/powerpoint/2010/main" val="1255552526"/>
              </p:ext>
            </p:extLst>
          </p:nvPr>
        </p:nvGraphicFramePr>
        <p:xfrm>
          <a:off x="4787240" y="5726303"/>
          <a:ext cx="2020887" cy="577850"/>
        </p:xfrm>
        <a:graphic>
          <a:graphicData uri="http://schemas.openxmlformats.org/presentationml/2006/ole">
            <mc:AlternateContent xmlns:mc="http://schemas.openxmlformats.org/markup-compatibility/2006">
              <mc:Choice xmlns:v="urn:schemas-microsoft-com:vml" Requires="v">
                <p:oleObj name="Equation" r:id="rId5" imgW="711000" imgH="203040" progId="Equation.DSMT4">
                  <p:embed/>
                </p:oleObj>
              </mc:Choice>
              <mc:Fallback>
                <p:oleObj name="Equation" r:id="rId5" imgW="711000" imgH="203040" progId="Equation.DSMT4">
                  <p:embed/>
                  <p:pic>
                    <p:nvPicPr>
                      <p:cNvPr id="8" name="对象 7">
                        <a:extLst>
                          <a:ext uri="{FF2B5EF4-FFF2-40B4-BE49-F238E27FC236}">
                            <a16:creationId xmlns:a16="http://schemas.microsoft.com/office/drawing/2014/main" id="{EC1D8105-EE51-4B57-9254-CE8D6ACC6B27}"/>
                          </a:ext>
                        </a:extLst>
                      </p:cNvPr>
                      <p:cNvPicPr/>
                      <p:nvPr/>
                    </p:nvPicPr>
                    <p:blipFill>
                      <a:blip r:embed="rId6"/>
                      <a:stretch>
                        <a:fillRect/>
                      </a:stretch>
                    </p:blipFill>
                    <p:spPr>
                      <a:xfrm>
                        <a:off x="4787240" y="5726303"/>
                        <a:ext cx="2020887" cy="57785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A8E8EA3E-B2D9-6941-C819-44CE489748B8}"/>
              </a:ext>
            </a:extLst>
          </p:cNvPr>
          <p:cNvGraphicFramePr>
            <a:graphicFrameLocks noChangeAspect="1"/>
          </p:cNvGraphicFramePr>
          <p:nvPr>
            <p:extLst>
              <p:ext uri="{D42A27DB-BD31-4B8C-83A1-F6EECF244321}">
                <p14:modId xmlns:p14="http://schemas.microsoft.com/office/powerpoint/2010/main" val="1468492026"/>
              </p:ext>
            </p:extLst>
          </p:nvPr>
        </p:nvGraphicFramePr>
        <p:xfrm>
          <a:off x="2029753" y="1038995"/>
          <a:ext cx="4190890" cy="1027214"/>
        </p:xfrm>
        <a:graphic>
          <a:graphicData uri="http://schemas.openxmlformats.org/presentationml/2006/ole">
            <mc:AlternateContent xmlns:mc="http://schemas.openxmlformats.org/markup-compatibility/2006">
              <mc:Choice xmlns:v="urn:schemas-microsoft-com:vml" Requires="v">
                <p:oleObj name="Equation" r:id="rId7" imgW="1968480" imgH="482400" progId="Equation.DSMT4">
                  <p:embed/>
                </p:oleObj>
              </mc:Choice>
              <mc:Fallback>
                <p:oleObj name="Equation" r:id="rId7" imgW="1968480" imgH="482400" progId="Equation.DSMT4">
                  <p:embed/>
                  <p:pic>
                    <p:nvPicPr>
                      <p:cNvPr id="9" name="对象 8">
                        <a:extLst>
                          <a:ext uri="{FF2B5EF4-FFF2-40B4-BE49-F238E27FC236}">
                            <a16:creationId xmlns:a16="http://schemas.microsoft.com/office/drawing/2014/main" id="{86861AA1-7A76-4E2A-8B11-F27FD7DE3196}"/>
                          </a:ext>
                        </a:extLst>
                      </p:cNvPr>
                      <p:cNvPicPr/>
                      <p:nvPr/>
                    </p:nvPicPr>
                    <p:blipFill>
                      <a:blip r:embed="rId8"/>
                      <a:stretch>
                        <a:fillRect/>
                      </a:stretch>
                    </p:blipFill>
                    <p:spPr>
                      <a:xfrm>
                        <a:off x="2029753" y="1038995"/>
                        <a:ext cx="4190890" cy="1027214"/>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909377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43FC16C6-8464-9B8F-D7EB-59A6E70B48FD}"/>
              </a:ext>
            </a:extLst>
          </p:cNvPr>
          <p:cNvGraphicFramePr>
            <a:graphicFrameLocks noChangeAspect="1"/>
          </p:cNvGraphicFramePr>
          <p:nvPr>
            <p:extLst>
              <p:ext uri="{D42A27DB-BD31-4B8C-83A1-F6EECF244321}">
                <p14:modId xmlns:p14="http://schemas.microsoft.com/office/powerpoint/2010/main" val="46703000"/>
              </p:ext>
            </p:extLst>
          </p:nvPr>
        </p:nvGraphicFramePr>
        <p:xfrm>
          <a:off x="2318544" y="4290955"/>
          <a:ext cx="2020887" cy="577850"/>
        </p:xfrm>
        <a:graphic>
          <a:graphicData uri="http://schemas.openxmlformats.org/presentationml/2006/ole">
            <mc:AlternateContent xmlns:mc="http://schemas.openxmlformats.org/markup-compatibility/2006">
              <mc:Choice xmlns:v="urn:schemas-microsoft-com:vml" Requires="v">
                <p:oleObj name="Equation" r:id="rId3" imgW="711000" imgH="203040" progId="Equation.DSMT4">
                  <p:embed/>
                </p:oleObj>
              </mc:Choice>
              <mc:Fallback>
                <p:oleObj name="Equation" r:id="rId3" imgW="711000" imgH="203040" progId="Equation.DSMT4">
                  <p:embed/>
                  <p:pic>
                    <p:nvPicPr>
                      <p:cNvPr id="7" name="对象 6">
                        <a:extLst>
                          <a:ext uri="{FF2B5EF4-FFF2-40B4-BE49-F238E27FC236}">
                            <a16:creationId xmlns:a16="http://schemas.microsoft.com/office/drawing/2014/main" id="{10EEBF65-F65F-4B04-93FA-CA197B04F223}"/>
                          </a:ext>
                        </a:extLst>
                      </p:cNvPr>
                      <p:cNvPicPr/>
                      <p:nvPr/>
                    </p:nvPicPr>
                    <p:blipFill>
                      <a:blip r:embed="rId4"/>
                      <a:stretch>
                        <a:fillRect/>
                      </a:stretch>
                    </p:blipFill>
                    <p:spPr>
                      <a:xfrm>
                        <a:off x="2318544" y="4290955"/>
                        <a:ext cx="2020887" cy="57785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8E3E3D30-F68A-E354-BC75-BC0AB5D44FAF}"/>
              </a:ext>
            </a:extLst>
          </p:cNvPr>
          <p:cNvGraphicFramePr>
            <a:graphicFrameLocks noChangeAspect="1"/>
          </p:cNvGraphicFramePr>
          <p:nvPr>
            <p:extLst>
              <p:ext uri="{D42A27DB-BD31-4B8C-83A1-F6EECF244321}">
                <p14:modId xmlns:p14="http://schemas.microsoft.com/office/powerpoint/2010/main" val="3208618441"/>
              </p:ext>
            </p:extLst>
          </p:nvPr>
        </p:nvGraphicFramePr>
        <p:xfrm>
          <a:off x="1828912" y="2127636"/>
          <a:ext cx="3321050" cy="685800"/>
        </p:xfrm>
        <a:graphic>
          <a:graphicData uri="http://schemas.openxmlformats.org/presentationml/2006/ole">
            <mc:AlternateContent xmlns:mc="http://schemas.openxmlformats.org/markup-compatibility/2006">
              <mc:Choice xmlns:v="urn:schemas-microsoft-com:vml" Requires="v">
                <p:oleObj name="Equation" r:id="rId5" imgW="1168200" imgH="241200" progId="Equation.DSMT4">
                  <p:embed/>
                </p:oleObj>
              </mc:Choice>
              <mc:Fallback>
                <p:oleObj name="Equation" r:id="rId5" imgW="1168200" imgH="241200" progId="Equation.DSMT4">
                  <p:embed/>
                  <p:pic>
                    <p:nvPicPr>
                      <p:cNvPr id="8" name="对象 7">
                        <a:extLst>
                          <a:ext uri="{FF2B5EF4-FFF2-40B4-BE49-F238E27FC236}">
                            <a16:creationId xmlns:a16="http://schemas.microsoft.com/office/drawing/2014/main" id="{85E346A2-8709-4627-8CE1-AD91E80BAD35}"/>
                          </a:ext>
                        </a:extLst>
                      </p:cNvPr>
                      <p:cNvPicPr/>
                      <p:nvPr/>
                    </p:nvPicPr>
                    <p:blipFill>
                      <a:blip r:embed="rId6"/>
                      <a:stretch>
                        <a:fillRect/>
                      </a:stretch>
                    </p:blipFill>
                    <p:spPr>
                      <a:xfrm>
                        <a:off x="1828912" y="2127636"/>
                        <a:ext cx="3321050" cy="6858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E7A41130-C82A-A5A5-B697-0757493D7F2E}"/>
              </a:ext>
            </a:extLst>
          </p:cNvPr>
          <p:cNvGraphicFramePr>
            <a:graphicFrameLocks noChangeAspect="1"/>
          </p:cNvGraphicFramePr>
          <p:nvPr>
            <p:extLst>
              <p:ext uri="{D42A27DB-BD31-4B8C-83A1-F6EECF244321}">
                <p14:modId xmlns:p14="http://schemas.microsoft.com/office/powerpoint/2010/main" val="1137515730"/>
              </p:ext>
            </p:extLst>
          </p:nvPr>
        </p:nvGraphicFramePr>
        <p:xfrm>
          <a:off x="6375376" y="2013336"/>
          <a:ext cx="3956050" cy="914400"/>
        </p:xfrm>
        <a:graphic>
          <a:graphicData uri="http://schemas.openxmlformats.org/presentationml/2006/ole">
            <mc:AlternateContent xmlns:mc="http://schemas.openxmlformats.org/markup-compatibility/2006">
              <mc:Choice xmlns:v="urn:schemas-microsoft-com:vml" Requires="v">
                <p:oleObj name="Equation" r:id="rId7" imgW="1866600" imgH="431640" progId="Equation.DSMT4">
                  <p:embed/>
                </p:oleObj>
              </mc:Choice>
              <mc:Fallback>
                <p:oleObj name="Equation" r:id="rId7" imgW="1866600" imgH="431640" progId="Equation.DSMT4">
                  <p:embed/>
                  <p:pic>
                    <p:nvPicPr>
                      <p:cNvPr id="9" name="对象 8">
                        <a:extLst>
                          <a:ext uri="{FF2B5EF4-FFF2-40B4-BE49-F238E27FC236}">
                            <a16:creationId xmlns:a16="http://schemas.microsoft.com/office/drawing/2014/main" id="{2F4376C7-F83B-4AC3-B8F3-6819FA4CCCA8}"/>
                          </a:ext>
                        </a:extLst>
                      </p:cNvPr>
                      <p:cNvPicPr/>
                      <p:nvPr/>
                    </p:nvPicPr>
                    <p:blipFill>
                      <a:blip r:embed="rId8"/>
                      <a:stretch>
                        <a:fillRect/>
                      </a:stretch>
                    </p:blipFill>
                    <p:spPr>
                      <a:xfrm>
                        <a:off x="6375376" y="2013336"/>
                        <a:ext cx="3956050" cy="91440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1FBE8362-3148-130D-3498-0439916EB45A}"/>
              </a:ext>
            </a:extLst>
          </p:cNvPr>
          <p:cNvGraphicFramePr>
            <a:graphicFrameLocks noChangeAspect="1"/>
          </p:cNvGraphicFramePr>
          <p:nvPr>
            <p:extLst>
              <p:ext uri="{D42A27DB-BD31-4B8C-83A1-F6EECF244321}">
                <p14:modId xmlns:p14="http://schemas.microsoft.com/office/powerpoint/2010/main" val="2511837280"/>
              </p:ext>
            </p:extLst>
          </p:nvPr>
        </p:nvGraphicFramePr>
        <p:xfrm>
          <a:off x="6096000" y="4159650"/>
          <a:ext cx="4369603" cy="709155"/>
        </p:xfrm>
        <a:graphic>
          <a:graphicData uri="http://schemas.openxmlformats.org/presentationml/2006/ole">
            <mc:AlternateContent xmlns:mc="http://schemas.openxmlformats.org/markup-compatibility/2006">
              <mc:Choice xmlns:v="urn:schemas-microsoft-com:vml" Requires="v">
                <p:oleObj name="Equation" r:id="rId9" imgW="2425680" imgH="393480" progId="Equation.DSMT4">
                  <p:embed/>
                </p:oleObj>
              </mc:Choice>
              <mc:Fallback>
                <p:oleObj name="Equation" r:id="rId9" imgW="2425680" imgH="393480" progId="Equation.DSMT4">
                  <p:embed/>
                  <p:pic>
                    <p:nvPicPr>
                      <p:cNvPr id="11" name="对象 10">
                        <a:extLst>
                          <a:ext uri="{FF2B5EF4-FFF2-40B4-BE49-F238E27FC236}">
                            <a16:creationId xmlns:a16="http://schemas.microsoft.com/office/drawing/2014/main" id="{22D34B96-F0C4-4B74-9DB8-138A015A4663}"/>
                          </a:ext>
                        </a:extLst>
                      </p:cNvPr>
                      <p:cNvPicPr/>
                      <p:nvPr/>
                    </p:nvPicPr>
                    <p:blipFill>
                      <a:blip r:embed="rId10"/>
                      <a:stretch>
                        <a:fillRect/>
                      </a:stretch>
                    </p:blipFill>
                    <p:spPr>
                      <a:xfrm>
                        <a:off x="6096000" y="4159650"/>
                        <a:ext cx="4369603" cy="709155"/>
                      </a:xfrm>
                      <a:prstGeom prst="rect">
                        <a:avLst/>
                      </a:prstGeom>
                    </p:spPr>
                  </p:pic>
                </p:oleObj>
              </mc:Fallback>
            </mc:AlternateContent>
          </a:graphicData>
        </a:graphic>
      </p:graphicFrame>
      <p:sp>
        <p:nvSpPr>
          <p:cNvPr id="6" name="箭头: 下 5">
            <a:extLst>
              <a:ext uri="{FF2B5EF4-FFF2-40B4-BE49-F238E27FC236}">
                <a16:creationId xmlns:a16="http://schemas.microsoft.com/office/drawing/2014/main" id="{FA53CFF3-EFC9-7BDD-71E6-A5C0A7E59BA9}"/>
              </a:ext>
            </a:extLst>
          </p:cNvPr>
          <p:cNvSpPr/>
          <p:nvPr/>
        </p:nvSpPr>
        <p:spPr>
          <a:xfrm>
            <a:off x="3328987" y="3244123"/>
            <a:ext cx="380990" cy="4571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下 6">
            <a:extLst>
              <a:ext uri="{FF2B5EF4-FFF2-40B4-BE49-F238E27FC236}">
                <a16:creationId xmlns:a16="http://schemas.microsoft.com/office/drawing/2014/main" id="{C5225223-4AC3-CA2E-23C0-459F78BB4CDD}"/>
              </a:ext>
            </a:extLst>
          </p:cNvPr>
          <p:cNvSpPr/>
          <p:nvPr/>
        </p:nvSpPr>
        <p:spPr>
          <a:xfrm>
            <a:off x="8162906" y="3244123"/>
            <a:ext cx="380990" cy="4571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4198628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0A7939ED-1B06-2D88-F91A-0ECAEB64195B}"/>
              </a:ext>
            </a:extLst>
          </p:cNvPr>
          <p:cNvGraphicFramePr>
            <a:graphicFrameLocks noChangeAspect="1"/>
          </p:cNvGraphicFramePr>
          <p:nvPr/>
        </p:nvGraphicFramePr>
        <p:xfrm>
          <a:off x="457308" y="609675"/>
          <a:ext cx="912803" cy="1189354"/>
        </p:xfrm>
        <a:graphic>
          <a:graphicData uri="http://schemas.openxmlformats.org/presentationml/2006/ole">
            <mc:AlternateContent xmlns:mc="http://schemas.openxmlformats.org/markup-compatibility/2006">
              <mc:Choice xmlns:v="urn:schemas-microsoft-com:vml" Requires="v">
                <p:oleObj name="Equation" r:id="rId3" imgW="545760" imgH="711000" progId="Equation.DSMT4">
                  <p:embed/>
                </p:oleObj>
              </mc:Choice>
              <mc:Fallback>
                <p:oleObj name="Equation" r:id="rId3" imgW="545760" imgH="711000" progId="Equation.DSMT4">
                  <p:embed/>
                  <p:pic>
                    <p:nvPicPr>
                      <p:cNvPr id="7" name="对象 6">
                        <a:extLst>
                          <a:ext uri="{FF2B5EF4-FFF2-40B4-BE49-F238E27FC236}">
                            <a16:creationId xmlns:a16="http://schemas.microsoft.com/office/drawing/2014/main" id="{761057ED-BC48-48C8-BDA7-FFF904BA62AC}"/>
                          </a:ext>
                        </a:extLst>
                      </p:cNvPr>
                      <p:cNvPicPr/>
                      <p:nvPr/>
                    </p:nvPicPr>
                    <p:blipFill>
                      <a:blip r:embed="rId4"/>
                      <a:stretch>
                        <a:fillRect/>
                      </a:stretch>
                    </p:blipFill>
                    <p:spPr>
                      <a:xfrm>
                        <a:off x="457308" y="609675"/>
                        <a:ext cx="912803" cy="1189354"/>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AEB66583-AB4F-2B72-6421-B900822D5DE6}"/>
              </a:ext>
            </a:extLst>
          </p:cNvPr>
          <p:cNvGraphicFramePr>
            <a:graphicFrameLocks noChangeAspect="1"/>
          </p:cNvGraphicFramePr>
          <p:nvPr/>
        </p:nvGraphicFramePr>
        <p:xfrm>
          <a:off x="1953537" y="609673"/>
          <a:ext cx="976336" cy="1189355"/>
        </p:xfrm>
        <a:graphic>
          <a:graphicData uri="http://schemas.openxmlformats.org/presentationml/2006/ole">
            <mc:AlternateContent xmlns:mc="http://schemas.openxmlformats.org/markup-compatibility/2006">
              <mc:Choice xmlns:v="urn:schemas-microsoft-com:vml" Requires="v">
                <p:oleObj name="Equation" r:id="rId5" imgW="583920" imgH="711000" progId="Equation.DSMT4">
                  <p:embed/>
                </p:oleObj>
              </mc:Choice>
              <mc:Fallback>
                <p:oleObj name="Equation" r:id="rId5" imgW="583920" imgH="711000" progId="Equation.DSMT4">
                  <p:embed/>
                  <p:pic>
                    <p:nvPicPr>
                      <p:cNvPr id="8" name="对象 7">
                        <a:extLst>
                          <a:ext uri="{FF2B5EF4-FFF2-40B4-BE49-F238E27FC236}">
                            <a16:creationId xmlns:a16="http://schemas.microsoft.com/office/drawing/2014/main" id="{BFAB4AA1-1B56-4B80-83A4-A3B7B271698D}"/>
                          </a:ext>
                        </a:extLst>
                      </p:cNvPr>
                      <p:cNvPicPr/>
                      <p:nvPr/>
                    </p:nvPicPr>
                    <p:blipFill>
                      <a:blip r:embed="rId6"/>
                      <a:stretch>
                        <a:fillRect/>
                      </a:stretch>
                    </p:blipFill>
                    <p:spPr>
                      <a:xfrm>
                        <a:off x="1953537" y="609673"/>
                        <a:ext cx="976336" cy="1189355"/>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0A6F0057-A188-BB5A-AEAF-ADDA1C71AD89}"/>
              </a:ext>
            </a:extLst>
          </p:cNvPr>
          <p:cNvGraphicFramePr>
            <a:graphicFrameLocks noChangeAspect="1"/>
          </p:cNvGraphicFramePr>
          <p:nvPr/>
        </p:nvGraphicFramePr>
        <p:xfrm>
          <a:off x="3513805" y="609673"/>
          <a:ext cx="912804" cy="1189355"/>
        </p:xfrm>
        <a:graphic>
          <a:graphicData uri="http://schemas.openxmlformats.org/presentationml/2006/ole">
            <mc:AlternateContent xmlns:mc="http://schemas.openxmlformats.org/markup-compatibility/2006">
              <mc:Choice xmlns:v="urn:schemas-microsoft-com:vml" Requires="v">
                <p:oleObj name="Equation" r:id="rId7" imgW="545760" imgH="711000" progId="Equation.DSMT4">
                  <p:embed/>
                </p:oleObj>
              </mc:Choice>
              <mc:Fallback>
                <p:oleObj name="Equation" r:id="rId7" imgW="545760" imgH="711000" progId="Equation.DSMT4">
                  <p:embed/>
                  <p:pic>
                    <p:nvPicPr>
                      <p:cNvPr id="9" name="对象 8">
                        <a:extLst>
                          <a:ext uri="{FF2B5EF4-FFF2-40B4-BE49-F238E27FC236}">
                            <a16:creationId xmlns:a16="http://schemas.microsoft.com/office/drawing/2014/main" id="{845B67D4-02EE-4BD4-B3AF-87509E57454C}"/>
                          </a:ext>
                        </a:extLst>
                      </p:cNvPr>
                      <p:cNvPicPr/>
                      <p:nvPr/>
                    </p:nvPicPr>
                    <p:blipFill>
                      <a:blip r:embed="rId8"/>
                      <a:stretch>
                        <a:fillRect/>
                      </a:stretch>
                    </p:blipFill>
                    <p:spPr>
                      <a:xfrm>
                        <a:off x="3513805" y="609673"/>
                        <a:ext cx="912804" cy="1189355"/>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33D60F92-9584-3325-2F8E-8C48A00D2833}"/>
              </a:ext>
            </a:extLst>
          </p:cNvPr>
          <p:cNvGraphicFramePr>
            <a:graphicFrameLocks noChangeAspect="1"/>
          </p:cNvGraphicFramePr>
          <p:nvPr/>
        </p:nvGraphicFramePr>
        <p:xfrm>
          <a:off x="5007593" y="609649"/>
          <a:ext cx="2080670" cy="1189355"/>
        </p:xfrm>
        <a:graphic>
          <a:graphicData uri="http://schemas.openxmlformats.org/presentationml/2006/ole">
            <mc:AlternateContent xmlns:mc="http://schemas.openxmlformats.org/markup-compatibility/2006">
              <mc:Choice xmlns:v="urn:schemas-microsoft-com:vml" Requires="v">
                <p:oleObj name="Equation" r:id="rId9" imgW="1244520" imgH="711000" progId="Equation.DSMT4">
                  <p:embed/>
                </p:oleObj>
              </mc:Choice>
              <mc:Fallback>
                <p:oleObj name="Equation" r:id="rId9" imgW="1244520" imgH="711000" progId="Equation.DSMT4">
                  <p:embed/>
                  <p:pic>
                    <p:nvPicPr>
                      <p:cNvPr id="10" name="对象 9">
                        <a:extLst>
                          <a:ext uri="{FF2B5EF4-FFF2-40B4-BE49-F238E27FC236}">
                            <a16:creationId xmlns:a16="http://schemas.microsoft.com/office/drawing/2014/main" id="{8008FC46-97B9-4ECB-A959-290ECEDC3606}"/>
                          </a:ext>
                        </a:extLst>
                      </p:cNvPr>
                      <p:cNvPicPr/>
                      <p:nvPr/>
                    </p:nvPicPr>
                    <p:blipFill>
                      <a:blip r:embed="rId10"/>
                      <a:stretch>
                        <a:fillRect/>
                      </a:stretch>
                    </p:blipFill>
                    <p:spPr>
                      <a:xfrm>
                        <a:off x="5007593" y="609649"/>
                        <a:ext cx="2080670" cy="118935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CCA75BC-1D8E-8A75-0174-CCE9139FB2EA}"/>
              </a:ext>
            </a:extLst>
          </p:cNvPr>
          <p:cNvGraphicFramePr>
            <a:graphicFrameLocks noChangeAspect="1"/>
          </p:cNvGraphicFramePr>
          <p:nvPr/>
        </p:nvGraphicFramePr>
        <p:xfrm>
          <a:off x="457308" y="2368061"/>
          <a:ext cx="1739900" cy="722312"/>
        </p:xfrm>
        <a:graphic>
          <a:graphicData uri="http://schemas.openxmlformats.org/presentationml/2006/ole">
            <mc:AlternateContent xmlns:mc="http://schemas.openxmlformats.org/markup-compatibility/2006">
              <mc:Choice xmlns:v="urn:schemas-microsoft-com:vml" Requires="v">
                <p:oleObj name="Equation" r:id="rId11" imgW="1041120" imgH="431640" progId="Equation.DSMT4">
                  <p:embed/>
                </p:oleObj>
              </mc:Choice>
              <mc:Fallback>
                <p:oleObj name="Equation" r:id="rId11" imgW="1041120" imgH="431640" progId="Equation.DSMT4">
                  <p:embed/>
                  <p:pic>
                    <p:nvPicPr>
                      <p:cNvPr id="11" name="对象 10">
                        <a:extLst>
                          <a:ext uri="{FF2B5EF4-FFF2-40B4-BE49-F238E27FC236}">
                            <a16:creationId xmlns:a16="http://schemas.microsoft.com/office/drawing/2014/main" id="{2D2D5A59-FE85-40F9-922E-5E3B2CDA24ED}"/>
                          </a:ext>
                        </a:extLst>
                      </p:cNvPr>
                      <p:cNvPicPr/>
                      <p:nvPr/>
                    </p:nvPicPr>
                    <p:blipFill>
                      <a:blip r:embed="rId12"/>
                      <a:stretch>
                        <a:fillRect/>
                      </a:stretch>
                    </p:blipFill>
                    <p:spPr>
                      <a:xfrm>
                        <a:off x="457308" y="2368061"/>
                        <a:ext cx="1739900" cy="722312"/>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41DD512F-EBDB-68FC-6870-AB431539EEC7}"/>
              </a:ext>
            </a:extLst>
          </p:cNvPr>
          <p:cNvGraphicFramePr>
            <a:graphicFrameLocks noChangeAspect="1"/>
          </p:cNvGraphicFramePr>
          <p:nvPr>
            <p:extLst>
              <p:ext uri="{D42A27DB-BD31-4B8C-83A1-F6EECF244321}">
                <p14:modId xmlns:p14="http://schemas.microsoft.com/office/powerpoint/2010/main" val="2957557573"/>
              </p:ext>
            </p:extLst>
          </p:nvPr>
        </p:nvGraphicFramePr>
        <p:xfrm>
          <a:off x="4210844" y="2400300"/>
          <a:ext cx="722312" cy="658813"/>
        </p:xfrm>
        <a:graphic>
          <a:graphicData uri="http://schemas.openxmlformats.org/presentationml/2006/ole">
            <mc:AlternateContent xmlns:mc="http://schemas.openxmlformats.org/markup-compatibility/2006">
              <mc:Choice xmlns:v="urn:schemas-microsoft-com:vml" Requires="v">
                <p:oleObj name="Equation" r:id="rId13" imgW="431640" imgH="393480" progId="Equation.DSMT4">
                  <p:embed/>
                </p:oleObj>
              </mc:Choice>
              <mc:Fallback>
                <p:oleObj name="Equation" r:id="rId13" imgW="431640" imgH="393480" progId="Equation.DSMT4">
                  <p:embed/>
                  <p:pic>
                    <p:nvPicPr>
                      <p:cNvPr id="14" name="对象 13">
                        <a:extLst>
                          <a:ext uri="{FF2B5EF4-FFF2-40B4-BE49-F238E27FC236}">
                            <a16:creationId xmlns:a16="http://schemas.microsoft.com/office/drawing/2014/main" id="{05A83C3D-A18D-4F73-81B5-92D8729888D9}"/>
                          </a:ext>
                        </a:extLst>
                      </p:cNvPr>
                      <p:cNvPicPr/>
                      <p:nvPr/>
                    </p:nvPicPr>
                    <p:blipFill>
                      <a:blip r:embed="rId14"/>
                      <a:stretch>
                        <a:fillRect/>
                      </a:stretch>
                    </p:blipFill>
                    <p:spPr>
                      <a:xfrm>
                        <a:off x="4210844" y="2400300"/>
                        <a:ext cx="722312" cy="658813"/>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42831154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E88E6305-DC13-88E1-C07F-A9AAA46575A7}"/>
              </a:ext>
            </a:extLst>
          </p:cNvPr>
          <p:cNvGraphicFramePr>
            <a:graphicFrameLocks noChangeAspect="1"/>
          </p:cNvGraphicFramePr>
          <p:nvPr/>
        </p:nvGraphicFramePr>
        <p:xfrm>
          <a:off x="457308" y="609675"/>
          <a:ext cx="912803" cy="1189354"/>
        </p:xfrm>
        <a:graphic>
          <a:graphicData uri="http://schemas.openxmlformats.org/presentationml/2006/ole">
            <mc:AlternateContent xmlns:mc="http://schemas.openxmlformats.org/markup-compatibility/2006">
              <mc:Choice xmlns:v="urn:schemas-microsoft-com:vml" Requires="v">
                <p:oleObj name="Equation" r:id="rId3" imgW="545760" imgH="711000" progId="Equation.DSMT4">
                  <p:embed/>
                </p:oleObj>
              </mc:Choice>
              <mc:Fallback>
                <p:oleObj name="Equation" r:id="rId3" imgW="545760" imgH="711000" progId="Equation.DSMT4">
                  <p:embed/>
                  <p:pic>
                    <p:nvPicPr>
                      <p:cNvPr id="7" name="对象 6">
                        <a:extLst>
                          <a:ext uri="{FF2B5EF4-FFF2-40B4-BE49-F238E27FC236}">
                            <a16:creationId xmlns:a16="http://schemas.microsoft.com/office/drawing/2014/main" id="{761057ED-BC48-48C8-BDA7-FFF904BA62AC}"/>
                          </a:ext>
                        </a:extLst>
                      </p:cNvPr>
                      <p:cNvPicPr/>
                      <p:nvPr/>
                    </p:nvPicPr>
                    <p:blipFill>
                      <a:blip r:embed="rId4"/>
                      <a:stretch>
                        <a:fillRect/>
                      </a:stretch>
                    </p:blipFill>
                    <p:spPr>
                      <a:xfrm>
                        <a:off x="457308" y="609675"/>
                        <a:ext cx="912803" cy="1189354"/>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58946867-5442-30BF-C0D9-F131FA609A17}"/>
              </a:ext>
            </a:extLst>
          </p:cNvPr>
          <p:cNvGraphicFramePr>
            <a:graphicFrameLocks noChangeAspect="1"/>
          </p:cNvGraphicFramePr>
          <p:nvPr/>
        </p:nvGraphicFramePr>
        <p:xfrm>
          <a:off x="1953537" y="609673"/>
          <a:ext cx="976336" cy="1189355"/>
        </p:xfrm>
        <a:graphic>
          <a:graphicData uri="http://schemas.openxmlformats.org/presentationml/2006/ole">
            <mc:AlternateContent xmlns:mc="http://schemas.openxmlformats.org/markup-compatibility/2006">
              <mc:Choice xmlns:v="urn:schemas-microsoft-com:vml" Requires="v">
                <p:oleObj name="Equation" r:id="rId5" imgW="583920" imgH="711000" progId="Equation.DSMT4">
                  <p:embed/>
                </p:oleObj>
              </mc:Choice>
              <mc:Fallback>
                <p:oleObj name="Equation" r:id="rId5" imgW="583920" imgH="711000" progId="Equation.DSMT4">
                  <p:embed/>
                  <p:pic>
                    <p:nvPicPr>
                      <p:cNvPr id="8" name="对象 7">
                        <a:extLst>
                          <a:ext uri="{FF2B5EF4-FFF2-40B4-BE49-F238E27FC236}">
                            <a16:creationId xmlns:a16="http://schemas.microsoft.com/office/drawing/2014/main" id="{BFAB4AA1-1B56-4B80-83A4-A3B7B271698D}"/>
                          </a:ext>
                        </a:extLst>
                      </p:cNvPr>
                      <p:cNvPicPr/>
                      <p:nvPr/>
                    </p:nvPicPr>
                    <p:blipFill>
                      <a:blip r:embed="rId6"/>
                      <a:stretch>
                        <a:fillRect/>
                      </a:stretch>
                    </p:blipFill>
                    <p:spPr>
                      <a:xfrm>
                        <a:off x="1953537" y="609673"/>
                        <a:ext cx="976336" cy="1189355"/>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E4F68EF6-0756-DD0B-C99D-AC3532F7C393}"/>
              </a:ext>
            </a:extLst>
          </p:cNvPr>
          <p:cNvGraphicFramePr>
            <a:graphicFrameLocks noChangeAspect="1"/>
          </p:cNvGraphicFramePr>
          <p:nvPr/>
        </p:nvGraphicFramePr>
        <p:xfrm>
          <a:off x="3513805" y="609673"/>
          <a:ext cx="912804" cy="1189355"/>
        </p:xfrm>
        <a:graphic>
          <a:graphicData uri="http://schemas.openxmlformats.org/presentationml/2006/ole">
            <mc:AlternateContent xmlns:mc="http://schemas.openxmlformats.org/markup-compatibility/2006">
              <mc:Choice xmlns:v="urn:schemas-microsoft-com:vml" Requires="v">
                <p:oleObj name="Equation" r:id="rId7" imgW="545760" imgH="711000" progId="Equation.DSMT4">
                  <p:embed/>
                </p:oleObj>
              </mc:Choice>
              <mc:Fallback>
                <p:oleObj name="Equation" r:id="rId7" imgW="545760" imgH="711000" progId="Equation.DSMT4">
                  <p:embed/>
                  <p:pic>
                    <p:nvPicPr>
                      <p:cNvPr id="9" name="对象 8">
                        <a:extLst>
                          <a:ext uri="{FF2B5EF4-FFF2-40B4-BE49-F238E27FC236}">
                            <a16:creationId xmlns:a16="http://schemas.microsoft.com/office/drawing/2014/main" id="{845B67D4-02EE-4BD4-B3AF-87509E57454C}"/>
                          </a:ext>
                        </a:extLst>
                      </p:cNvPr>
                      <p:cNvPicPr/>
                      <p:nvPr/>
                    </p:nvPicPr>
                    <p:blipFill>
                      <a:blip r:embed="rId8"/>
                      <a:stretch>
                        <a:fillRect/>
                      </a:stretch>
                    </p:blipFill>
                    <p:spPr>
                      <a:xfrm>
                        <a:off x="3513805" y="609673"/>
                        <a:ext cx="912804" cy="1189355"/>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66B48994-3FC7-C7DB-A7E3-72E083DD8EDB}"/>
              </a:ext>
            </a:extLst>
          </p:cNvPr>
          <p:cNvGraphicFramePr>
            <a:graphicFrameLocks noChangeAspect="1"/>
          </p:cNvGraphicFramePr>
          <p:nvPr/>
        </p:nvGraphicFramePr>
        <p:xfrm>
          <a:off x="5007593" y="609649"/>
          <a:ext cx="2080670" cy="1189355"/>
        </p:xfrm>
        <a:graphic>
          <a:graphicData uri="http://schemas.openxmlformats.org/presentationml/2006/ole">
            <mc:AlternateContent xmlns:mc="http://schemas.openxmlformats.org/markup-compatibility/2006">
              <mc:Choice xmlns:v="urn:schemas-microsoft-com:vml" Requires="v">
                <p:oleObj name="Equation" r:id="rId9" imgW="1244520" imgH="711000" progId="Equation.DSMT4">
                  <p:embed/>
                </p:oleObj>
              </mc:Choice>
              <mc:Fallback>
                <p:oleObj name="Equation" r:id="rId9" imgW="1244520" imgH="711000" progId="Equation.DSMT4">
                  <p:embed/>
                  <p:pic>
                    <p:nvPicPr>
                      <p:cNvPr id="10" name="对象 9">
                        <a:extLst>
                          <a:ext uri="{FF2B5EF4-FFF2-40B4-BE49-F238E27FC236}">
                            <a16:creationId xmlns:a16="http://schemas.microsoft.com/office/drawing/2014/main" id="{8008FC46-97B9-4ECB-A959-290ECEDC3606}"/>
                          </a:ext>
                        </a:extLst>
                      </p:cNvPr>
                      <p:cNvPicPr/>
                      <p:nvPr/>
                    </p:nvPicPr>
                    <p:blipFill>
                      <a:blip r:embed="rId10"/>
                      <a:stretch>
                        <a:fillRect/>
                      </a:stretch>
                    </p:blipFill>
                    <p:spPr>
                      <a:xfrm>
                        <a:off x="5007593" y="609649"/>
                        <a:ext cx="2080670" cy="118935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13FF659A-89E4-C910-7EF7-0EB5E29420DA}"/>
              </a:ext>
            </a:extLst>
          </p:cNvPr>
          <p:cNvGraphicFramePr>
            <a:graphicFrameLocks noChangeAspect="1"/>
          </p:cNvGraphicFramePr>
          <p:nvPr>
            <p:extLst>
              <p:ext uri="{D42A27DB-BD31-4B8C-83A1-F6EECF244321}">
                <p14:modId xmlns:p14="http://schemas.microsoft.com/office/powerpoint/2010/main" val="3129186328"/>
              </p:ext>
            </p:extLst>
          </p:nvPr>
        </p:nvGraphicFramePr>
        <p:xfrm>
          <a:off x="457384" y="2262664"/>
          <a:ext cx="3586163" cy="806450"/>
        </p:xfrm>
        <a:graphic>
          <a:graphicData uri="http://schemas.openxmlformats.org/presentationml/2006/ole">
            <mc:AlternateContent xmlns:mc="http://schemas.openxmlformats.org/markup-compatibility/2006">
              <mc:Choice xmlns:v="urn:schemas-microsoft-com:vml" Requires="v">
                <p:oleObj name="Equation" r:id="rId11" imgW="2145960" imgH="482400" progId="Equation.DSMT4">
                  <p:embed/>
                </p:oleObj>
              </mc:Choice>
              <mc:Fallback>
                <p:oleObj name="Equation" r:id="rId11" imgW="2145960" imgH="482400" progId="Equation.DSMT4">
                  <p:embed/>
                  <p:pic>
                    <p:nvPicPr>
                      <p:cNvPr id="12" name="对象 11">
                        <a:extLst>
                          <a:ext uri="{FF2B5EF4-FFF2-40B4-BE49-F238E27FC236}">
                            <a16:creationId xmlns:a16="http://schemas.microsoft.com/office/drawing/2014/main" id="{83907E0D-2693-43A1-8094-4F4531DEE21D}"/>
                          </a:ext>
                        </a:extLst>
                      </p:cNvPr>
                      <p:cNvPicPr/>
                      <p:nvPr/>
                    </p:nvPicPr>
                    <p:blipFill>
                      <a:blip r:embed="rId12"/>
                      <a:stretch>
                        <a:fillRect/>
                      </a:stretch>
                    </p:blipFill>
                    <p:spPr>
                      <a:xfrm>
                        <a:off x="457384" y="2262664"/>
                        <a:ext cx="3586163" cy="80645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089A6E93-B6C6-79A2-001D-AE012AA0672E}"/>
              </a:ext>
            </a:extLst>
          </p:cNvPr>
          <p:cNvGraphicFramePr>
            <a:graphicFrameLocks noChangeAspect="1"/>
          </p:cNvGraphicFramePr>
          <p:nvPr>
            <p:extLst>
              <p:ext uri="{D42A27DB-BD31-4B8C-83A1-F6EECF244321}">
                <p14:modId xmlns:p14="http://schemas.microsoft.com/office/powerpoint/2010/main" val="1382433142"/>
              </p:ext>
            </p:extLst>
          </p:nvPr>
        </p:nvGraphicFramePr>
        <p:xfrm>
          <a:off x="5016500" y="2336800"/>
          <a:ext cx="892175" cy="658813"/>
        </p:xfrm>
        <a:graphic>
          <a:graphicData uri="http://schemas.openxmlformats.org/presentationml/2006/ole">
            <mc:AlternateContent xmlns:mc="http://schemas.openxmlformats.org/markup-compatibility/2006">
              <mc:Choice xmlns:v="urn:schemas-microsoft-com:vml" Requires="v">
                <p:oleObj name="Equation" r:id="rId13" imgW="533160" imgH="393480" progId="Equation.DSMT4">
                  <p:embed/>
                </p:oleObj>
              </mc:Choice>
              <mc:Fallback>
                <p:oleObj name="Equation" r:id="rId13" imgW="533160" imgH="393480" progId="Equation.DSMT4">
                  <p:embed/>
                  <p:pic>
                    <p:nvPicPr>
                      <p:cNvPr id="15" name="对象 14">
                        <a:extLst>
                          <a:ext uri="{FF2B5EF4-FFF2-40B4-BE49-F238E27FC236}">
                            <a16:creationId xmlns:a16="http://schemas.microsoft.com/office/drawing/2014/main" id="{07C8EF52-013C-45C0-BE5C-0B3395C1B7D9}"/>
                          </a:ext>
                        </a:extLst>
                      </p:cNvPr>
                      <p:cNvPicPr/>
                      <p:nvPr/>
                    </p:nvPicPr>
                    <p:blipFill>
                      <a:blip r:embed="rId14"/>
                      <a:stretch>
                        <a:fillRect/>
                      </a:stretch>
                    </p:blipFill>
                    <p:spPr>
                      <a:xfrm>
                        <a:off x="5016500" y="2336800"/>
                        <a:ext cx="892175" cy="658813"/>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3803768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012CC3D9-85D9-FE1B-E0BD-0EAE0CE98197}"/>
              </a:ext>
            </a:extLst>
          </p:cNvPr>
          <p:cNvGraphicFramePr>
            <a:graphicFrameLocks noChangeAspect="1"/>
          </p:cNvGraphicFramePr>
          <p:nvPr/>
        </p:nvGraphicFramePr>
        <p:xfrm>
          <a:off x="457308" y="609675"/>
          <a:ext cx="912803" cy="1189354"/>
        </p:xfrm>
        <a:graphic>
          <a:graphicData uri="http://schemas.openxmlformats.org/presentationml/2006/ole">
            <mc:AlternateContent xmlns:mc="http://schemas.openxmlformats.org/markup-compatibility/2006">
              <mc:Choice xmlns:v="urn:schemas-microsoft-com:vml" Requires="v">
                <p:oleObj name="Equation" r:id="rId3" imgW="545760" imgH="711000" progId="Equation.DSMT4">
                  <p:embed/>
                </p:oleObj>
              </mc:Choice>
              <mc:Fallback>
                <p:oleObj name="Equation" r:id="rId3" imgW="545760" imgH="711000" progId="Equation.DSMT4">
                  <p:embed/>
                  <p:pic>
                    <p:nvPicPr>
                      <p:cNvPr id="7" name="对象 6">
                        <a:extLst>
                          <a:ext uri="{FF2B5EF4-FFF2-40B4-BE49-F238E27FC236}">
                            <a16:creationId xmlns:a16="http://schemas.microsoft.com/office/drawing/2014/main" id="{761057ED-BC48-48C8-BDA7-FFF904BA62AC}"/>
                          </a:ext>
                        </a:extLst>
                      </p:cNvPr>
                      <p:cNvPicPr/>
                      <p:nvPr/>
                    </p:nvPicPr>
                    <p:blipFill>
                      <a:blip r:embed="rId4"/>
                      <a:stretch>
                        <a:fillRect/>
                      </a:stretch>
                    </p:blipFill>
                    <p:spPr>
                      <a:xfrm>
                        <a:off x="457308" y="609675"/>
                        <a:ext cx="912803" cy="1189354"/>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07A92945-AFD9-CFDF-6B19-2820B5FBED75}"/>
              </a:ext>
            </a:extLst>
          </p:cNvPr>
          <p:cNvGraphicFramePr>
            <a:graphicFrameLocks noChangeAspect="1"/>
          </p:cNvGraphicFramePr>
          <p:nvPr/>
        </p:nvGraphicFramePr>
        <p:xfrm>
          <a:off x="1953537" y="609673"/>
          <a:ext cx="976336" cy="1189355"/>
        </p:xfrm>
        <a:graphic>
          <a:graphicData uri="http://schemas.openxmlformats.org/presentationml/2006/ole">
            <mc:AlternateContent xmlns:mc="http://schemas.openxmlformats.org/markup-compatibility/2006">
              <mc:Choice xmlns:v="urn:schemas-microsoft-com:vml" Requires="v">
                <p:oleObj name="Equation" r:id="rId5" imgW="583920" imgH="711000" progId="Equation.DSMT4">
                  <p:embed/>
                </p:oleObj>
              </mc:Choice>
              <mc:Fallback>
                <p:oleObj name="Equation" r:id="rId5" imgW="583920" imgH="711000" progId="Equation.DSMT4">
                  <p:embed/>
                  <p:pic>
                    <p:nvPicPr>
                      <p:cNvPr id="8" name="对象 7">
                        <a:extLst>
                          <a:ext uri="{FF2B5EF4-FFF2-40B4-BE49-F238E27FC236}">
                            <a16:creationId xmlns:a16="http://schemas.microsoft.com/office/drawing/2014/main" id="{BFAB4AA1-1B56-4B80-83A4-A3B7B271698D}"/>
                          </a:ext>
                        </a:extLst>
                      </p:cNvPr>
                      <p:cNvPicPr/>
                      <p:nvPr/>
                    </p:nvPicPr>
                    <p:blipFill>
                      <a:blip r:embed="rId6"/>
                      <a:stretch>
                        <a:fillRect/>
                      </a:stretch>
                    </p:blipFill>
                    <p:spPr>
                      <a:xfrm>
                        <a:off x="1953537" y="609673"/>
                        <a:ext cx="976336" cy="1189355"/>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94B54301-E211-DCA9-104B-A5AD6B085510}"/>
              </a:ext>
            </a:extLst>
          </p:cNvPr>
          <p:cNvGraphicFramePr>
            <a:graphicFrameLocks noChangeAspect="1"/>
          </p:cNvGraphicFramePr>
          <p:nvPr/>
        </p:nvGraphicFramePr>
        <p:xfrm>
          <a:off x="3513805" y="609673"/>
          <a:ext cx="912804" cy="1189355"/>
        </p:xfrm>
        <a:graphic>
          <a:graphicData uri="http://schemas.openxmlformats.org/presentationml/2006/ole">
            <mc:AlternateContent xmlns:mc="http://schemas.openxmlformats.org/markup-compatibility/2006">
              <mc:Choice xmlns:v="urn:schemas-microsoft-com:vml" Requires="v">
                <p:oleObj name="Equation" r:id="rId7" imgW="545760" imgH="711000" progId="Equation.DSMT4">
                  <p:embed/>
                </p:oleObj>
              </mc:Choice>
              <mc:Fallback>
                <p:oleObj name="Equation" r:id="rId7" imgW="545760" imgH="711000" progId="Equation.DSMT4">
                  <p:embed/>
                  <p:pic>
                    <p:nvPicPr>
                      <p:cNvPr id="9" name="对象 8">
                        <a:extLst>
                          <a:ext uri="{FF2B5EF4-FFF2-40B4-BE49-F238E27FC236}">
                            <a16:creationId xmlns:a16="http://schemas.microsoft.com/office/drawing/2014/main" id="{845B67D4-02EE-4BD4-B3AF-87509E57454C}"/>
                          </a:ext>
                        </a:extLst>
                      </p:cNvPr>
                      <p:cNvPicPr/>
                      <p:nvPr/>
                    </p:nvPicPr>
                    <p:blipFill>
                      <a:blip r:embed="rId8"/>
                      <a:stretch>
                        <a:fillRect/>
                      </a:stretch>
                    </p:blipFill>
                    <p:spPr>
                      <a:xfrm>
                        <a:off x="3513805" y="609673"/>
                        <a:ext cx="912804" cy="1189355"/>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2C074488-CE3B-811D-F3AE-52DBF568B227}"/>
              </a:ext>
            </a:extLst>
          </p:cNvPr>
          <p:cNvGraphicFramePr>
            <a:graphicFrameLocks noChangeAspect="1"/>
          </p:cNvGraphicFramePr>
          <p:nvPr/>
        </p:nvGraphicFramePr>
        <p:xfrm>
          <a:off x="5007593" y="609649"/>
          <a:ext cx="2080670" cy="1189355"/>
        </p:xfrm>
        <a:graphic>
          <a:graphicData uri="http://schemas.openxmlformats.org/presentationml/2006/ole">
            <mc:AlternateContent xmlns:mc="http://schemas.openxmlformats.org/markup-compatibility/2006">
              <mc:Choice xmlns:v="urn:schemas-microsoft-com:vml" Requires="v">
                <p:oleObj name="Equation" r:id="rId9" imgW="1244520" imgH="711000" progId="Equation.DSMT4">
                  <p:embed/>
                </p:oleObj>
              </mc:Choice>
              <mc:Fallback>
                <p:oleObj name="Equation" r:id="rId9" imgW="1244520" imgH="711000" progId="Equation.DSMT4">
                  <p:embed/>
                  <p:pic>
                    <p:nvPicPr>
                      <p:cNvPr id="10" name="对象 9">
                        <a:extLst>
                          <a:ext uri="{FF2B5EF4-FFF2-40B4-BE49-F238E27FC236}">
                            <a16:creationId xmlns:a16="http://schemas.microsoft.com/office/drawing/2014/main" id="{8008FC46-97B9-4ECB-A959-290ECEDC3606}"/>
                          </a:ext>
                        </a:extLst>
                      </p:cNvPr>
                      <p:cNvPicPr/>
                      <p:nvPr/>
                    </p:nvPicPr>
                    <p:blipFill>
                      <a:blip r:embed="rId10"/>
                      <a:stretch>
                        <a:fillRect/>
                      </a:stretch>
                    </p:blipFill>
                    <p:spPr>
                      <a:xfrm>
                        <a:off x="5007593" y="609649"/>
                        <a:ext cx="2080670" cy="118935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D4EE0567-B06A-AC69-5FCE-DD4FEC4E8B68}"/>
              </a:ext>
            </a:extLst>
          </p:cNvPr>
          <p:cNvGraphicFramePr>
            <a:graphicFrameLocks noChangeAspect="1"/>
          </p:cNvGraphicFramePr>
          <p:nvPr>
            <p:extLst>
              <p:ext uri="{D42A27DB-BD31-4B8C-83A1-F6EECF244321}">
                <p14:modId xmlns:p14="http://schemas.microsoft.com/office/powerpoint/2010/main" val="160253227"/>
              </p:ext>
            </p:extLst>
          </p:nvPr>
        </p:nvGraphicFramePr>
        <p:xfrm>
          <a:off x="457308" y="2209832"/>
          <a:ext cx="2503487" cy="742950"/>
        </p:xfrm>
        <a:graphic>
          <a:graphicData uri="http://schemas.openxmlformats.org/presentationml/2006/ole">
            <mc:AlternateContent xmlns:mc="http://schemas.openxmlformats.org/markup-compatibility/2006">
              <mc:Choice xmlns:v="urn:schemas-microsoft-com:vml" Requires="v">
                <p:oleObj name="Equation" r:id="rId11" imgW="1498320" imgH="444240" progId="Equation.DSMT4">
                  <p:embed/>
                </p:oleObj>
              </mc:Choice>
              <mc:Fallback>
                <p:oleObj name="Equation" r:id="rId11" imgW="1498320" imgH="444240" progId="Equation.DSMT4">
                  <p:embed/>
                  <p:pic>
                    <p:nvPicPr>
                      <p:cNvPr id="13" name="对象 12">
                        <a:extLst>
                          <a:ext uri="{FF2B5EF4-FFF2-40B4-BE49-F238E27FC236}">
                            <a16:creationId xmlns:a16="http://schemas.microsoft.com/office/drawing/2014/main" id="{9FDC2043-495C-49C9-AF49-B83439D7797C}"/>
                          </a:ext>
                        </a:extLst>
                      </p:cNvPr>
                      <p:cNvPicPr/>
                      <p:nvPr/>
                    </p:nvPicPr>
                    <p:blipFill>
                      <a:blip r:embed="rId12"/>
                      <a:stretch>
                        <a:fillRect/>
                      </a:stretch>
                    </p:blipFill>
                    <p:spPr>
                      <a:xfrm>
                        <a:off x="457308" y="2209832"/>
                        <a:ext cx="2503487" cy="74295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30F829F6-80CC-0688-9A50-5F8FD4486285}"/>
              </a:ext>
            </a:extLst>
          </p:cNvPr>
          <p:cNvGraphicFramePr>
            <a:graphicFrameLocks noChangeAspect="1"/>
          </p:cNvGraphicFramePr>
          <p:nvPr>
            <p:extLst>
              <p:ext uri="{D42A27DB-BD31-4B8C-83A1-F6EECF244321}">
                <p14:modId xmlns:p14="http://schemas.microsoft.com/office/powerpoint/2010/main" val="3502134866"/>
              </p:ext>
            </p:extLst>
          </p:nvPr>
        </p:nvGraphicFramePr>
        <p:xfrm>
          <a:off x="4675188" y="2252663"/>
          <a:ext cx="1614487" cy="658812"/>
        </p:xfrm>
        <a:graphic>
          <a:graphicData uri="http://schemas.openxmlformats.org/presentationml/2006/ole">
            <mc:AlternateContent xmlns:mc="http://schemas.openxmlformats.org/markup-compatibility/2006">
              <mc:Choice xmlns:v="urn:schemas-microsoft-com:vml" Requires="v">
                <p:oleObj name="Equation" r:id="rId13" imgW="965160" imgH="393480" progId="Equation.DSMT4">
                  <p:embed/>
                </p:oleObj>
              </mc:Choice>
              <mc:Fallback>
                <p:oleObj name="Equation" r:id="rId13" imgW="965160" imgH="393480" progId="Equation.DSMT4">
                  <p:embed/>
                  <p:pic>
                    <p:nvPicPr>
                      <p:cNvPr id="14" name="对象 13">
                        <a:extLst>
                          <a:ext uri="{FF2B5EF4-FFF2-40B4-BE49-F238E27FC236}">
                            <a16:creationId xmlns:a16="http://schemas.microsoft.com/office/drawing/2014/main" id="{70E7C8DC-5169-4EC2-94F3-ACF921478881}"/>
                          </a:ext>
                        </a:extLst>
                      </p:cNvPr>
                      <p:cNvPicPr/>
                      <p:nvPr/>
                    </p:nvPicPr>
                    <p:blipFill>
                      <a:blip r:embed="rId14"/>
                      <a:stretch>
                        <a:fillRect/>
                      </a:stretch>
                    </p:blipFill>
                    <p:spPr>
                      <a:xfrm>
                        <a:off x="4675188" y="2252663"/>
                        <a:ext cx="1614487" cy="658812"/>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4149041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对象 1">
            <a:extLst>
              <a:ext uri="{FF2B5EF4-FFF2-40B4-BE49-F238E27FC236}">
                <a16:creationId xmlns:a16="http://schemas.microsoft.com/office/drawing/2014/main" id="{0D215A5F-2E6F-79FB-7DB8-4B6340BC279A}"/>
              </a:ext>
            </a:extLst>
          </p:cNvPr>
          <p:cNvGraphicFramePr>
            <a:graphicFrameLocks noChangeAspect="1"/>
          </p:cNvGraphicFramePr>
          <p:nvPr>
            <p:extLst>
              <p:ext uri="{D42A27DB-BD31-4B8C-83A1-F6EECF244321}">
                <p14:modId xmlns:p14="http://schemas.microsoft.com/office/powerpoint/2010/main" val="1933923268"/>
              </p:ext>
            </p:extLst>
          </p:nvPr>
        </p:nvGraphicFramePr>
        <p:xfrm>
          <a:off x="457308" y="572204"/>
          <a:ext cx="4369603" cy="709155"/>
        </p:xfrm>
        <a:graphic>
          <a:graphicData uri="http://schemas.openxmlformats.org/presentationml/2006/ole">
            <mc:AlternateContent xmlns:mc="http://schemas.openxmlformats.org/markup-compatibility/2006">
              <mc:Choice xmlns:v="urn:schemas-microsoft-com:vml" Requires="v">
                <p:oleObj name="Equation" r:id="rId3" imgW="2425680" imgH="393480" progId="Equation.DSMT4">
                  <p:embed/>
                </p:oleObj>
              </mc:Choice>
              <mc:Fallback>
                <p:oleObj name="Equation" r:id="rId3" imgW="2425680" imgH="393480" progId="Equation.DSMT4">
                  <p:embed/>
                  <p:pic>
                    <p:nvPicPr>
                      <p:cNvPr id="7" name="对象 6">
                        <a:extLst>
                          <a:ext uri="{FF2B5EF4-FFF2-40B4-BE49-F238E27FC236}">
                            <a16:creationId xmlns:a16="http://schemas.microsoft.com/office/drawing/2014/main" id="{633FCE98-5C37-4B30-B36E-B037EC9F1F1F}"/>
                          </a:ext>
                        </a:extLst>
                      </p:cNvPr>
                      <p:cNvPicPr/>
                      <p:nvPr/>
                    </p:nvPicPr>
                    <p:blipFill>
                      <a:blip r:embed="rId4"/>
                      <a:stretch>
                        <a:fillRect/>
                      </a:stretch>
                    </p:blipFill>
                    <p:spPr>
                      <a:xfrm>
                        <a:off x="457308" y="572204"/>
                        <a:ext cx="4369603" cy="709155"/>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87718619-8021-3CAE-A204-7B827D18D1BC}"/>
              </a:ext>
            </a:extLst>
          </p:cNvPr>
          <p:cNvGraphicFramePr>
            <a:graphicFrameLocks noChangeAspect="1"/>
          </p:cNvGraphicFramePr>
          <p:nvPr>
            <p:extLst>
              <p:ext uri="{D42A27DB-BD31-4B8C-83A1-F6EECF244321}">
                <p14:modId xmlns:p14="http://schemas.microsoft.com/office/powerpoint/2010/main" val="2384777269"/>
              </p:ext>
            </p:extLst>
          </p:nvPr>
        </p:nvGraphicFramePr>
        <p:xfrm>
          <a:off x="457308" y="1483400"/>
          <a:ext cx="2287588" cy="709613"/>
        </p:xfrm>
        <a:graphic>
          <a:graphicData uri="http://schemas.openxmlformats.org/presentationml/2006/ole">
            <mc:AlternateContent xmlns:mc="http://schemas.openxmlformats.org/markup-compatibility/2006">
              <mc:Choice xmlns:v="urn:schemas-microsoft-com:vml" Requires="v">
                <p:oleObj name="Equation" r:id="rId5" imgW="1269720" imgH="393480" progId="Equation.DSMT4">
                  <p:embed/>
                </p:oleObj>
              </mc:Choice>
              <mc:Fallback>
                <p:oleObj name="Equation" r:id="rId5" imgW="1269720" imgH="393480" progId="Equation.DSMT4">
                  <p:embed/>
                  <p:pic>
                    <p:nvPicPr>
                      <p:cNvPr id="8" name="对象 7">
                        <a:extLst>
                          <a:ext uri="{FF2B5EF4-FFF2-40B4-BE49-F238E27FC236}">
                            <a16:creationId xmlns:a16="http://schemas.microsoft.com/office/drawing/2014/main" id="{2E4E65E9-A7E9-4E2F-886D-24AFD3FD67C8}"/>
                          </a:ext>
                        </a:extLst>
                      </p:cNvPr>
                      <p:cNvPicPr/>
                      <p:nvPr/>
                    </p:nvPicPr>
                    <p:blipFill>
                      <a:blip r:embed="rId6"/>
                      <a:stretch>
                        <a:fillRect/>
                      </a:stretch>
                    </p:blipFill>
                    <p:spPr>
                      <a:xfrm>
                        <a:off x="457308" y="1483400"/>
                        <a:ext cx="2287588" cy="709613"/>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142DC956-875A-051A-0ED5-449EDCA46865}"/>
              </a:ext>
            </a:extLst>
          </p:cNvPr>
          <p:cNvGraphicFramePr>
            <a:graphicFrameLocks noChangeAspect="1"/>
          </p:cNvGraphicFramePr>
          <p:nvPr>
            <p:extLst>
              <p:ext uri="{D42A27DB-BD31-4B8C-83A1-F6EECF244321}">
                <p14:modId xmlns:p14="http://schemas.microsoft.com/office/powerpoint/2010/main" val="3070483839"/>
              </p:ext>
            </p:extLst>
          </p:nvPr>
        </p:nvGraphicFramePr>
        <p:xfrm>
          <a:off x="4670425" y="1632624"/>
          <a:ext cx="1920875" cy="411163"/>
        </p:xfrm>
        <a:graphic>
          <a:graphicData uri="http://schemas.openxmlformats.org/presentationml/2006/ole">
            <mc:AlternateContent xmlns:mc="http://schemas.openxmlformats.org/markup-compatibility/2006">
              <mc:Choice xmlns:v="urn:schemas-microsoft-com:vml" Requires="v">
                <p:oleObj name="Equation" r:id="rId7" imgW="1066680" imgH="228600" progId="Equation.DSMT4">
                  <p:embed/>
                </p:oleObj>
              </mc:Choice>
              <mc:Fallback>
                <p:oleObj name="Equation" r:id="rId7" imgW="1066680" imgH="228600" progId="Equation.DSMT4">
                  <p:embed/>
                  <p:pic>
                    <p:nvPicPr>
                      <p:cNvPr id="9" name="对象 8">
                        <a:extLst>
                          <a:ext uri="{FF2B5EF4-FFF2-40B4-BE49-F238E27FC236}">
                            <a16:creationId xmlns:a16="http://schemas.microsoft.com/office/drawing/2014/main" id="{0B4988FC-697C-4A93-9C8E-99319986F772}"/>
                          </a:ext>
                        </a:extLst>
                      </p:cNvPr>
                      <p:cNvPicPr/>
                      <p:nvPr/>
                    </p:nvPicPr>
                    <p:blipFill>
                      <a:blip r:embed="rId8"/>
                      <a:stretch>
                        <a:fillRect/>
                      </a:stretch>
                    </p:blipFill>
                    <p:spPr>
                      <a:xfrm>
                        <a:off x="4670425" y="1632624"/>
                        <a:ext cx="1920875" cy="411163"/>
                      </a:xfrm>
                      <a:prstGeom prst="rect">
                        <a:avLst/>
                      </a:prstGeom>
                    </p:spPr>
                  </p:pic>
                </p:oleObj>
              </mc:Fallback>
            </mc:AlternateContent>
          </a:graphicData>
        </a:graphic>
      </p:graphicFrame>
      <p:sp>
        <p:nvSpPr>
          <p:cNvPr id="5" name="箭头: 右 4">
            <a:extLst>
              <a:ext uri="{FF2B5EF4-FFF2-40B4-BE49-F238E27FC236}">
                <a16:creationId xmlns:a16="http://schemas.microsoft.com/office/drawing/2014/main" id="{0DCA4827-3BE4-3121-F3B4-4A7DEB4D6590}"/>
              </a:ext>
            </a:extLst>
          </p:cNvPr>
          <p:cNvSpPr/>
          <p:nvPr/>
        </p:nvSpPr>
        <p:spPr>
          <a:xfrm>
            <a:off x="3491004" y="1632624"/>
            <a:ext cx="380990" cy="3673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699472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文本框 1">
            <a:extLst>
              <a:ext uri="{FF2B5EF4-FFF2-40B4-BE49-F238E27FC236}">
                <a16:creationId xmlns:a16="http://schemas.microsoft.com/office/drawing/2014/main" id="{FD03DD63-1E31-D27B-3C10-D81B89641491}"/>
              </a:ext>
            </a:extLst>
          </p:cNvPr>
          <p:cNvSpPr txBox="1"/>
          <p:nvPr/>
        </p:nvSpPr>
        <p:spPr>
          <a:xfrm>
            <a:off x="228714" y="911588"/>
            <a:ext cx="8183588" cy="1477328"/>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例：某商品销售量与商品价格和人均月收入之间的关系</a:t>
            </a:r>
            <a:endParaRPr lang="en-US" altLang="zh-CN" b="1" dirty="0">
              <a:latin typeface="微软雅黑" panose="020B0503020204020204" pitchFamily="34" charset="-122"/>
              <a:ea typeface="微软雅黑" panose="020B0503020204020204" pitchFamily="34" charset="-122"/>
            </a:endParaRPr>
          </a:p>
          <a:p>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已知某商品的销售量受商品价格和人均月收入这两个因素的影响，下表是该商品在某年</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月至</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月间每个月的销售量情况。</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93B437AF-1678-66AB-2EA0-82AEB86C1001}"/>
              </a:ext>
            </a:extLst>
          </p:cNvPr>
          <p:cNvGraphicFramePr>
            <a:graphicFrameLocks noGrp="1"/>
          </p:cNvGraphicFramePr>
          <p:nvPr/>
        </p:nvGraphicFramePr>
        <p:xfrm>
          <a:off x="203314" y="2554178"/>
          <a:ext cx="8865879" cy="1749643"/>
        </p:xfrm>
        <a:graphic>
          <a:graphicData uri="http://schemas.openxmlformats.org/drawingml/2006/table">
            <a:tbl>
              <a:tblPr firstRow="1" firstCol="1" bandRow="1">
                <a:tableStyleId>{5C22544A-7EE6-4342-B048-85BDC9FD1C3A}</a:tableStyleId>
              </a:tblPr>
              <a:tblGrid>
                <a:gridCol w="805989">
                  <a:extLst>
                    <a:ext uri="{9D8B030D-6E8A-4147-A177-3AD203B41FA5}">
                      <a16:colId xmlns:a16="http://schemas.microsoft.com/office/drawing/2014/main" val="20000"/>
                    </a:ext>
                  </a:extLst>
                </a:gridCol>
                <a:gridCol w="805989">
                  <a:extLst>
                    <a:ext uri="{9D8B030D-6E8A-4147-A177-3AD203B41FA5}">
                      <a16:colId xmlns:a16="http://schemas.microsoft.com/office/drawing/2014/main" val="20001"/>
                    </a:ext>
                  </a:extLst>
                </a:gridCol>
                <a:gridCol w="805989">
                  <a:extLst>
                    <a:ext uri="{9D8B030D-6E8A-4147-A177-3AD203B41FA5}">
                      <a16:colId xmlns:a16="http://schemas.microsoft.com/office/drawing/2014/main" val="20002"/>
                    </a:ext>
                  </a:extLst>
                </a:gridCol>
                <a:gridCol w="805989">
                  <a:extLst>
                    <a:ext uri="{9D8B030D-6E8A-4147-A177-3AD203B41FA5}">
                      <a16:colId xmlns:a16="http://schemas.microsoft.com/office/drawing/2014/main" val="20003"/>
                    </a:ext>
                  </a:extLst>
                </a:gridCol>
                <a:gridCol w="805989">
                  <a:extLst>
                    <a:ext uri="{9D8B030D-6E8A-4147-A177-3AD203B41FA5}">
                      <a16:colId xmlns:a16="http://schemas.microsoft.com/office/drawing/2014/main" val="20004"/>
                    </a:ext>
                  </a:extLst>
                </a:gridCol>
                <a:gridCol w="805989">
                  <a:extLst>
                    <a:ext uri="{9D8B030D-6E8A-4147-A177-3AD203B41FA5}">
                      <a16:colId xmlns:a16="http://schemas.microsoft.com/office/drawing/2014/main" val="20005"/>
                    </a:ext>
                  </a:extLst>
                </a:gridCol>
                <a:gridCol w="805989">
                  <a:extLst>
                    <a:ext uri="{9D8B030D-6E8A-4147-A177-3AD203B41FA5}">
                      <a16:colId xmlns:a16="http://schemas.microsoft.com/office/drawing/2014/main" val="20006"/>
                    </a:ext>
                  </a:extLst>
                </a:gridCol>
                <a:gridCol w="805989">
                  <a:extLst>
                    <a:ext uri="{9D8B030D-6E8A-4147-A177-3AD203B41FA5}">
                      <a16:colId xmlns:a16="http://schemas.microsoft.com/office/drawing/2014/main" val="20007"/>
                    </a:ext>
                  </a:extLst>
                </a:gridCol>
                <a:gridCol w="805989">
                  <a:extLst>
                    <a:ext uri="{9D8B030D-6E8A-4147-A177-3AD203B41FA5}">
                      <a16:colId xmlns:a16="http://schemas.microsoft.com/office/drawing/2014/main" val="20008"/>
                    </a:ext>
                  </a:extLst>
                </a:gridCol>
                <a:gridCol w="805989">
                  <a:extLst>
                    <a:ext uri="{9D8B030D-6E8A-4147-A177-3AD203B41FA5}">
                      <a16:colId xmlns:a16="http://schemas.microsoft.com/office/drawing/2014/main" val="20009"/>
                    </a:ext>
                  </a:extLst>
                </a:gridCol>
                <a:gridCol w="805989">
                  <a:extLst>
                    <a:ext uri="{9D8B030D-6E8A-4147-A177-3AD203B41FA5}">
                      <a16:colId xmlns:a16="http://schemas.microsoft.com/office/drawing/2014/main" val="20010"/>
                    </a:ext>
                  </a:extLst>
                </a:gridCol>
              </a:tblGrid>
              <a:tr h="415508">
                <a:tc>
                  <a:txBody>
                    <a:bodyPr/>
                    <a:lstStyle/>
                    <a:p>
                      <a:pPr indent="179705" algn="ctr">
                        <a:spcAft>
                          <a:spcPts val="0"/>
                        </a:spcAft>
                      </a:pPr>
                      <a:r>
                        <a:rPr lang="zh-CN" sz="1200" kern="100">
                          <a:effectLst/>
                        </a:rPr>
                        <a:t>月份</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7</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8</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10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44500">
                <a:tc>
                  <a:txBody>
                    <a:bodyPr/>
                    <a:lstStyle/>
                    <a:p>
                      <a:pPr algn="ctr">
                        <a:spcAft>
                          <a:spcPts val="0"/>
                        </a:spcAft>
                      </a:pPr>
                      <a:r>
                        <a:rPr lang="zh-CN" sz="1200" kern="100">
                          <a:effectLst/>
                        </a:rPr>
                        <a:t>商品价格（元</a:t>
                      </a:r>
                      <a:r>
                        <a:rPr lang="en-US" sz="1200" kern="100">
                          <a:effectLst/>
                        </a:rPr>
                        <a:t>/</a:t>
                      </a:r>
                      <a:r>
                        <a:rPr lang="zh-CN" sz="1200" kern="100">
                          <a:effectLst/>
                        </a:rPr>
                        <a:t>件）</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89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78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70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60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69</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45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56</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32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45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44500">
                <a:tc>
                  <a:txBody>
                    <a:bodyPr/>
                    <a:lstStyle/>
                    <a:p>
                      <a:pPr algn="ctr">
                        <a:spcAft>
                          <a:spcPts val="0"/>
                        </a:spcAft>
                      </a:pPr>
                      <a:r>
                        <a:rPr lang="zh-CN" sz="1200" kern="100">
                          <a:effectLst/>
                        </a:rPr>
                        <a:t>人均月收入（元）</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560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530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600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680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750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830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880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830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980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1100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45135">
                <a:tc>
                  <a:txBody>
                    <a:bodyPr/>
                    <a:lstStyle/>
                    <a:p>
                      <a:pPr algn="ctr">
                        <a:spcAft>
                          <a:spcPts val="0"/>
                        </a:spcAft>
                      </a:pPr>
                      <a:r>
                        <a:rPr lang="zh-CN" sz="1200" kern="100">
                          <a:effectLst/>
                        </a:rPr>
                        <a:t>商品销售量（件）</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5800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5890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6200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6800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7100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8900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a:effectLst/>
                        </a:rPr>
                        <a:t>9000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8100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9990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400" kern="100" dirty="0">
                          <a:effectLst/>
                        </a:rPr>
                        <a:t>9800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704187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FF4D4E4E-345A-AE54-7FEA-B12E9298C11A}"/>
              </a:ext>
            </a:extLst>
          </p:cNvPr>
          <p:cNvSpPr txBox="1">
            <a:spLocks noChangeArrowheads="1"/>
          </p:cNvSpPr>
          <p:nvPr/>
        </p:nvSpPr>
        <p:spPr bwMode="auto">
          <a:xfrm>
            <a:off x="431800" y="1473254"/>
            <a:ext cx="11328400" cy="4799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5720" rIns="92075" bIns="45720" numCol="1" anchor="t">
            <a:noAutofit/>
          </a:bodyPr>
          <a:lstStyle/>
          <a:p>
            <a:pPr marL="0" indent="0" algn="l" defTabSz="914400" fontAlgn="base" latinLnBrk="0">
              <a:lnSpc>
                <a:spcPct val="130000"/>
              </a:lnSpc>
              <a:spcBef>
                <a:spcPts val="500"/>
              </a:spcBef>
              <a:spcAft>
                <a:spcPts val="0"/>
              </a:spcAft>
              <a:buFontTx/>
              <a:buNone/>
            </a:pPr>
            <a:r>
              <a:rPr lang="en-US" altLang="ko-KR" sz="2000" b="0" cap="none" dirty="0">
                <a:latin typeface="微软雅黑" panose="020B0503020204020204" pitchFamily="34" charset="-122"/>
                <a:ea typeface="微软雅黑" panose="020B0503020204020204" pitchFamily="34" charset="-122"/>
              </a:rPr>
              <a:t>回归分析的步骤</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r>
              <a:rPr lang="en-US" altLang="ko-KR" sz="2000" b="1" cap="none" dirty="0">
                <a:latin typeface="微软雅黑" panose="020B0503020204020204" pitchFamily="34" charset="-122"/>
                <a:ea typeface="微软雅黑" panose="020B0503020204020204" pitchFamily="34" charset="-122"/>
              </a:rPr>
              <a:t>确定变量</a:t>
            </a:r>
            <a:r>
              <a:rPr lang="en-US" altLang="ko-KR" sz="2000" b="0" cap="none" dirty="0">
                <a:latin typeface="微软雅黑" panose="020B0503020204020204" pitchFamily="34" charset="-122"/>
                <a:ea typeface="微软雅黑" panose="020B0503020204020204" pitchFamily="34" charset="-122"/>
              </a:rPr>
              <a:t>。寻找与预测目标的相关影响因素，即自变量，并从中选出主要的影响因素。</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r>
              <a:rPr lang="en-US" altLang="ko-KR" sz="2000" b="1" cap="none" dirty="0">
                <a:latin typeface="微软雅黑" panose="020B0503020204020204" pitchFamily="34" charset="-122"/>
                <a:ea typeface="微软雅黑" panose="020B0503020204020204" pitchFamily="34" charset="-122"/>
              </a:rPr>
              <a:t>建立预测模型</a:t>
            </a:r>
            <a:r>
              <a:rPr lang="en-US" altLang="ko-KR" sz="2000" b="0" cap="none" dirty="0">
                <a:latin typeface="微软雅黑" panose="020B0503020204020204" pitchFamily="34" charset="-122"/>
                <a:ea typeface="微软雅黑" panose="020B0503020204020204" pitchFamily="34" charset="-122"/>
              </a:rPr>
              <a:t>。依据自变量和因变量的历史统计资料进行计算，在此基础上建立回归分析预测模型。</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r>
              <a:rPr lang="en-US" altLang="ko-KR" sz="2000" b="1" cap="none" dirty="0" err="1">
                <a:latin typeface="微软雅黑" panose="020B0503020204020204" pitchFamily="34" charset="-122"/>
                <a:ea typeface="微软雅黑" panose="020B0503020204020204" pitchFamily="34" charset="-122"/>
              </a:rPr>
              <a:t>计算预测误差</a:t>
            </a:r>
            <a:r>
              <a:rPr lang="en-US" altLang="ko-KR" sz="2000" b="0" cap="none" dirty="0" err="1">
                <a:latin typeface="微软雅黑" panose="020B0503020204020204" pitchFamily="34" charset="-122"/>
                <a:ea typeface="微软雅黑" panose="020B0503020204020204" pitchFamily="34" charset="-122"/>
              </a:rPr>
              <a:t>。回归预测模型是否可用于实际预测，取决于对回归预测模型的检验和对预测误差的计算</a:t>
            </a:r>
            <a:r>
              <a:rPr lang="en-US" altLang="ko-KR" sz="2000" b="0" cap="none" dirty="0">
                <a:latin typeface="微软雅黑" panose="020B0503020204020204" pitchFamily="34" charset="-122"/>
                <a:ea typeface="微软雅黑" panose="020B0503020204020204" pitchFamily="34" charset="-122"/>
              </a:rPr>
              <a:t>。</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r>
              <a:rPr lang="en-US" altLang="ko-KR" sz="2000" b="1" cap="none" dirty="0">
                <a:latin typeface="微软雅黑" panose="020B0503020204020204" pitchFamily="34" charset="-122"/>
                <a:ea typeface="微软雅黑" panose="020B0503020204020204" pitchFamily="34" charset="-122"/>
              </a:rPr>
              <a:t>确定预测值</a:t>
            </a:r>
            <a:r>
              <a:rPr lang="en-US" altLang="ko-KR" sz="2000" b="0" cap="none" dirty="0">
                <a:latin typeface="微软雅黑" panose="020B0503020204020204" pitchFamily="34" charset="-122"/>
                <a:ea typeface="微软雅黑" panose="020B0503020204020204" pitchFamily="34" charset="-122"/>
              </a:rPr>
              <a:t>。利用回归预测模型计算预测值，并对预测值进行综合分析，确定最后的预测值。</a:t>
            </a:r>
            <a:endParaRPr lang="ko-KR" altLang="en-US" sz="2000" b="0" cap="none" dirty="0">
              <a:latin typeface="微软雅黑" panose="020B0503020204020204" pitchFamily="34" charset="-122"/>
              <a:ea typeface="微软雅黑" panose="020B0503020204020204" pitchFamily="34" charset="-122"/>
            </a:endParaRPr>
          </a:p>
          <a:p>
            <a:pPr marL="1143000" indent="-228600" algn="l" defTabSz="914400" fontAlgn="base" latinLnBrk="0">
              <a:lnSpc>
                <a:spcPct val="130000"/>
              </a:lnSpc>
              <a:spcBef>
                <a:spcPts val="500"/>
              </a:spcBef>
              <a:spcAft>
                <a:spcPts val="0"/>
              </a:spcAft>
              <a:buClr>
                <a:srgbClr val="006794"/>
              </a:buClr>
              <a:buFont typeface="微软雅黑" panose="020B0503020204020204" pitchFamily="34" charset="-122"/>
              <a:buChar char="•"/>
            </a:pPr>
            <a:endParaRPr lang="ko-KR" altLang="en-US" sz="2000" b="0" cap="none"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48818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boolVal val="0"/>
                                          </p:val>
                                        </p:tav>
                                      </p:tavLst>
                                    </p:anim>
                                    <p:anim calcmode="discrete" valueType="clr">
                                      <p:cBhvr>
                                        <p:cTn id="8" dur="80"/>
                                        <p:tgtEl>
                                          <p:spTgt spid="2">
                                            <p:txEl>
                                              <p:pRg st="0" end="0"/>
                                            </p:txEl>
                                          </p:spTgt>
                                        </p:tgtEl>
                                        <p:attrNameLst>
                                          <p:attrName>fillcolor</p:attrName>
                                        </p:attrNameLst>
                                      </p:cBhvr>
                                      <p:tavLst>
                                        <p:tav tm="0">
                                          <p:val>
                                            <p:boolVal val="0"/>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barn(inVertical))">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barn(inVertical))">
                                      <p:cBhvr>
                                        <p:cTn id="19" dur="500"/>
                                        <p:tgtEl>
                                          <p:spTgt spid="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animEffect transition="in" filter="barn(inVertical))">
                                      <p:cBhvr>
                                        <p:cTn id="24" dur="500"/>
                                        <p:tgtEl>
                                          <p:spTgt spid="2">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Effect transition="in" filter="barn(inVertical))">
                                      <p:cBhvr>
                                        <p:cTn id="2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9C16AFBC-E894-5B49-ACB5-63A51EE63467}"/>
              </a:ext>
            </a:extLst>
          </p:cNvPr>
          <p:cNvSpPr txBox="1">
            <a:spLocks noChangeArrowheads="1"/>
          </p:cNvSpPr>
          <p:nvPr/>
        </p:nvSpPr>
        <p:spPr bwMode="auto">
          <a:xfrm>
            <a:off x="152516" y="685872"/>
            <a:ext cx="11544184" cy="181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lvl="1" indent="0" eaLnBrk="1" hangingPunct="1">
              <a:lnSpc>
                <a:spcPct val="130000"/>
              </a:lnSpc>
              <a:buNone/>
              <a:defRPr/>
            </a:pPr>
            <a:r>
              <a:rPr lang="zh-CN" altLang="en-US" dirty="0">
                <a:solidFill>
                  <a:srgbClr val="1F6684"/>
                </a:solidFill>
                <a:latin typeface="微软雅黑" panose="020B0503020204020204" pitchFamily="34" charset="-122"/>
                <a:ea typeface="微软雅黑" panose="020B0503020204020204" pitchFamily="34" charset="-122"/>
              </a:rPr>
              <a:t>什么是分类？</a:t>
            </a:r>
            <a:endParaRPr lang="en-US" altLang="zh-CN" dirty="0">
              <a:solidFill>
                <a:srgbClr val="1F6684"/>
              </a:solidFill>
              <a:latin typeface="微软雅黑" panose="020B0503020204020204" pitchFamily="34" charset="-122"/>
              <a:ea typeface="微软雅黑" panose="020B0503020204020204" pitchFamily="34" charset="-122"/>
            </a:endParaRPr>
          </a:p>
          <a:p>
            <a:pPr lvl="2" eaLnBrk="1" hangingPunct="1">
              <a:lnSpc>
                <a:spcPct val="130000"/>
              </a:lnSpc>
              <a:defRPr/>
            </a:pPr>
            <a:r>
              <a:rPr lang="zh-CN" altLang="zh-CN" sz="2000" dirty="0"/>
              <a:t>分类就是根据以往的数据和结果对另一部分数据进行结果的预测。</a:t>
            </a:r>
            <a:endParaRPr lang="en-US" altLang="zh-CN" sz="2000" dirty="0"/>
          </a:p>
          <a:p>
            <a:pPr lvl="2" eaLnBrk="1" hangingPunct="1">
              <a:lnSpc>
                <a:spcPct val="130000"/>
              </a:lnSpc>
              <a:defRPr/>
            </a:pPr>
            <a:r>
              <a:rPr lang="zh-CN" altLang="en-US" sz="2000" dirty="0">
                <a:sym typeface="+mn-ea"/>
              </a:rPr>
              <a:t>使用训练数据集中得到的规则进行新数据的分类</a:t>
            </a:r>
            <a:r>
              <a:rPr lang="zh-CN" altLang="en-US" sz="1999" dirty="0">
                <a:solidFill>
                  <a:srgbClr val="000000"/>
                </a:solidFill>
                <a:latin typeface="微软雅黑" panose="020B0503020204020204" pitchFamily="34" charset="-122"/>
                <a:ea typeface="微软雅黑" panose="020B0503020204020204" pitchFamily="34" charset="-122"/>
                <a:sym typeface="+mn-ea"/>
              </a:rPr>
              <a:t>。</a:t>
            </a:r>
            <a:endParaRPr lang="zh-CN" altLang="en-US" sz="2000" dirty="0">
              <a:sym typeface="+mn-ea"/>
            </a:endParaRPr>
          </a:p>
        </p:txBody>
      </p:sp>
      <p:pic>
        <p:nvPicPr>
          <p:cNvPr id="3" name="Picture 2" descr="Regression vs Classification in Machine Learning - Javatpoint">
            <a:extLst>
              <a:ext uri="{FF2B5EF4-FFF2-40B4-BE49-F238E27FC236}">
                <a16:creationId xmlns:a16="http://schemas.microsoft.com/office/drawing/2014/main" id="{AB8C8499-3331-D702-8192-2454FCF192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8121" y="2547076"/>
            <a:ext cx="7355758" cy="391855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23282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61579A96-41CF-9950-3CA0-94CE6D12A2B7}"/>
              </a:ext>
            </a:extLst>
          </p:cNvPr>
          <p:cNvSpPr txBox="1">
            <a:spLocks noChangeArrowheads="1"/>
          </p:cNvSpPr>
          <p:nvPr/>
        </p:nvSpPr>
        <p:spPr bwMode="auto">
          <a:xfrm>
            <a:off x="252036" y="1295456"/>
            <a:ext cx="11800264" cy="4540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lvl="1" indent="0" eaLnBrk="1" hangingPunct="1">
              <a:lnSpc>
                <a:spcPct val="130000"/>
              </a:lnSpc>
              <a:buNone/>
              <a:defRPr/>
            </a:pPr>
            <a:r>
              <a:rPr lang="zh-CN" altLang="en-US" dirty="0">
                <a:solidFill>
                  <a:schemeClr val="tx1"/>
                </a:solidFill>
                <a:latin typeface="微软雅黑" panose="020B0503020204020204" pitchFamily="34" charset="-122"/>
                <a:ea typeface="微软雅黑" panose="020B0503020204020204" pitchFamily="34" charset="-122"/>
              </a:rPr>
              <a:t>分类与预测</a:t>
            </a:r>
            <a:endParaRPr lang="en-US" altLang="zh-CN" dirty="0">
              <a:solidFill>
                <a:schemeClr val="tx1"/>
              </a:solidFill>
              <a:latin typeface="微软雅黑" panose="020B0503020204020204" pitchFamily="34" charset="-122"/>
              <a:ea typeface="微软雅黑" panose="020B0503020204020204" pitchFamily="34" charset="-122"/>
            </a:endParaRPr>
          </a:p>
          <a:p>
            <a:r>
              <a:rPr lang="zh-CN" altLang="en-US" dirty="0">
                <a:solidFill>
                  <a:schemeClr val="tx1"/>
                </a:solidFill>
                <a:latin typeface="Calibri" panose="020F0502020204030204" pitchFamily="34" charset="0"/>
                <a:ea typeface="宋体" panose="02010600030101010101" pitchFamily="2" charset="-122"/>
              </a:rPr>
              <a:t>不同点</a:t>
            </a:r>
            <a:endParaRPr lang="en-US" altLang="zh-CN" dirty="0">
              <a:solidFill>
                <a:schemeClr val="tx1"/>
              </a:solidFill>
              <a:latin typeface="Calibri" panose="020F0502020204030204" pitchFamily="34" charset="0"/>
              <a:ea typeface="宋体" panose="02010600030101010101" pitchFamily="2" charset="-122"/>
            </a:endParaRPr>
          </a:p>
          <a:p>
            <a:pPr lvl="1"/>
            <a:r>
              <a:rPr lang="zh-CN" altLang="zh-CN" dirty="0">
                <a:solidFill>
                  <a:schemeClr val="tx1"/>
                </a:solidFill>
                <a:latin typeface="Calibri" panose="020F0502020204030204" pitchFamily="34" charset="0"/>
                <a:ea typeface="宋体" panose="02010600030101010101" pitchFamily="2" charset="-122"/>
              </a:rPr>
              <a:t>分类是预测类对象的分类标号（或离散值），根据训练数据集和类标号属性，构建模型来分类现有数据，并用来分类新数据。</a:t>
            </a:r>
            <a:endParaRPr lang="en-US" altLang="zh-CN" dirty="0">
              <a:solidFill>
                <a:schemeClr val="tx1"/>
              </a:solidFill>
              <a:latin typeface="Calibri" panose="020F0502020204030204" pitchFamily="34" charset="0"/>
              <a:ea typeface="宋体" panose="02010600030101010101" pitchFamily="2" charset="-122"/>
            </a:endParaRPr>
          </a:p>
          <a:p>
            <a:pPr lvl="1"/>
            <a:r>
              <a:rPr lang="zh-CN" altLang="zh-CN" dirty="0">
                <a:solidFill>
                  <a:schemeClr val="tx1"/>
                </a:solidFill>
                <a:latin typeface="Calibri" panose="020F0502020204030204" pitchFamily="34" charset="0"/>
                <a:ea typeface="宋体" panose="02010600030101010101" pitchFamily="2" charset="-122"/>
              </a:rPr>
              <a:t>预测是建立连续函数值模型评估无标号样本类，或评估给定样本可能具有的属性值或值区间，即用来估计连续值或量化属性值，比如预测空缺值。</a:t>
            </a:r>
            <a:endParaRPr lang="en-US" altLang="zh-CN" dirty="0">
              <a:solidFill>
                <a:schemeClr val="tx1"/>
              </a:solidFill>
              <a:latin typeface="Calibri" panose="020F0502020204030204" pitchFamily="34" charset="0"/>
              <a:ea typeface="宋体" panose="02010600030101010101" pitchFamily="2" charset="-122"/>
            </a:endParaRPr>
          </a:p>
          <a:p>
            <a:r>
              <a:rPr lang="zh-CN" altLang="en-US" dirty="0">
                <a:solidFill>
                  <a:schemeClr val="tx1"/>
                </a:solidFill>
                <a:latin typeface="Calibri" panose="020F0502020204030204" pitchFamily="34" charset="0"/>
                <a:ea typeface="宋体" panose="02010600030101010101" pitchFamily="2" charset="-122"/>
              </a:rPr>
              <a:t>相同点</a:t>
            </a:r>
            <a:endParaRPr lang="en-US" altLang="zh-CN" dirty="0">
              <a:solidFill>
                <a:schemeClr val="tx1"/>
              </a:solidFill>
              <a:latin typeface="Calibri" panose="020F0502020204030204" pitchFamily="34" charset="0"/>
              <a:ea typeface="宋体" panose="02010600030101010101" pitchFamily="2" charset="-122"/>
            </a:endParaRPr>
          </a:p>
          <a:p>
            <a:pPr lvl="1"/>
            <a:r>
              <a:rPr lang="zh-CN" altLang="zh-CN" dirty="0">
                <a:solidFill>
                  <a:schemeClr val="tx1"/>
                </a:solidFill>
                <a:latin typeface="Calibri" panose="020F0502020204030204" pitchFamily="34" charset="0"/>
                <a:ea typeface="宋体" panose="02010600030101010101" pitchFamily="2" charset="-122"/>
              </a:rPr>
              <a:t>分类和预测的共同点是两者都需要构建模型，都用模型来估计未知值。预测中主要的估计方法是回归分析。</a:t>
            </a:r>
            <a:endParaRPr lang="en-US" altLang="zh-CN" dirty="0">
              <a:solidFill>
                <a:schemeClr val="tx1"/>
              </a:solidFill>
              <a:latin typeface="Calibri" panose="020F0502020204030204" pitchFamily="34" charset="0"/>
              <a:ea typeface="宋体" panose="02010600030101010101" pitchFamily="2" charset="-122"/>
            </a:endParaRPr>
          </a:p>
        </p:txBody>
      </p:sp>
    </p:spTree>
    <p:custDataLst>
      <p:tags r:id="rId1"/>
    </p:custDataLst>
    <p:extLst>
      <p:ext uri="{BB962C8B-B14F-4D97-AF65-F5344CB8AC3E}">
        <p14:creationId xmlns:p14="http://schemas.microsoft.com/office/powerpoint/2010/main" val="134860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表格 1">
            <a:extLst>
              <a:ext uri="{FF2B5EF4-FFF2-40B4-BE49-F238E27FC236}">
                <a16:creationId xmlns:a16="http://schemas.microsoft.com/office/drawing/2014/main" id="{57589159-98C6-5A07-D639-609CA9BD91CE}"/>
              </a:ext>
            </a:extLst>
          </p:cNvPr>
          <p:cNvGraphicFramePr>
            <a:graphicFrameLocks noGrp="1"/>
          </p:cNvGraphicFramePr>
          <p:nvPr>
            <p:extLst>
              <p:ext uri="{D42A27DB-BD31-4B8C-83A1-F6EECF244321}">
                <p14:modId xmlns:p14="http://schemas.microsoft.com/office/powerpoint/2010/main" val="1081141855"/>
              </p:ext>
            </p:extLst>
          </p:nvPr>
        </p:nvGraphicFramePr>
        <p:xfrm>
          <a:off x="1055751" y="1371651"/>
          <a:ext cx="4000395" cy="4419273"/>
        </p:xfrm>
        <a:graphic>
          <a:graphicData uri="http://schemas.openxmlformats.org/drawingml/2006/table">
            <a:tbl>
              <a:tblPr>
                <a:tableStyleId>{5C22544A-7EE6-4342-B048-85BDC9FD1C3A}</a:tableStyleId>
              </a:tblPr>
              <a:tblGrid>
                <a:gridCol w="1333465">
                  <a:extLst>
                    <a:ext uri="{9D8B030D-6E8A-4147-A177-3AD203B41FA5}">
                      <a16:colId xmlns:a16="http://schemas.microsoft.com/office/drawing/2014/main" val="4081094567"/>
                    </a:ext>
                  </a:extLst>
                </a:gridCol>
                <a:gridCol w="1333465">
                  <a:extLst>
                    <a:ext uri="{9D8B030D-6E8A-4147-A177-3AD203B41FA5}">
                      <a16:colId xmlns:a16="http://schemas.microsoft.com/office/drawing/2014/main" val="3353111814"/>
                    </a:ext>
                  </a:extLst>
                </a:gridCol>
                <a:gridCol w="1333465">
                  <a:extLst>
                    <a:ext uri="{9D8B030D-6E8A-4147-A177-3AD203B41FA5}">
                      <a16:colId xmlns:a16="http://schemas.microsoft.com/office/drawing/2014/main" val="2572302112"/>
                    </a:ext>
                  </a:extLst>
                </a:gridCol>
              </a:tblGrid>
              <a:tr h="723153">
                <a:tc>
                  <a:txBody>
                    <a:bodyPr/>
                    <a:lstStyle/>
                    <a:p>
                      <a:pPr algn="l" fontAlgn="ctr"/>
                      <a:r>
                        <a:rPr lang="zh-CN" altLang="en-US" sz="1100" u="none" strike="noStrike" dirty="0">
                          <a:effectLst/>
                        </a:rPr>
                        <a:t>商品价格（元</a:t>
                      </a:r>
                      <a:r>
                        <a:rPr lang="en-US" altLang="zh-CN" sz="1100" u="none" strike="noStrike" dirty="0">
                          <a:effectLst/>
                        </a:rPr>
                        <a:t>/</a:t>
                      </a:r>
                      <a:r>
                        <a:rPr lang="zh-CN" altLang="en-US" sz="1100" u="none" strike="noStrike" dirty="0">
                          <a:effectLst/>
                        </a:rPr>
                        <a:t>件）</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人均月收入（元）</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solidFill>
                            <a:schemeClr val="tx1"/>
                          </a:solidFill>
                          <a:effectLst/>
                        </a:rPr>
                        <a:t>商品销售量（件）</a:t>
                      </a:r>
                      <a:endParaRPr lang="zh-CN" altLang="en-US"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4046061487"/>
                  </a:ext>
                </a:extLst>
              </a:tr>
              <a:tr h="369612">
                <a:tc>
                  <a:txBody>
                    <a:bodyPr/>
                    <a:lstStyle/>
                    <a:p>
                      <a:pPr algn="r" fontAlgn="ctr"/>
                      <a:r>
                        <a:rPr lang="en-US" altLang="zh-CN" sz="1100" u="none" strike="noStrike" dirty="0">
                          <a:effectLst/>
                        </a:rPr>
                        <a:t>89</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dirty="0">
                          <a:effectLst/>
                        </a:rPr>
                        <a:t>560</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dirty="0">
                          <a:solidFill>
                            <a:schemeClr val="tx1"/>
                          </a:solidFill>
                          <a:effectLst/>
                        </a:rPr>
                        <a:t>5800</a:t>
                      </a:r>
                      <a:endParaRPr lang="en-US" altLang="zh-CN"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3748621902"/>
                  </a:ext>
                </a:extLst>
              </a:tr>
              <a:tr h="369612">
                <a:tc>
                  <a:txBody>
                    <a:bodyPr/>
                    <a:lstStyle/>
                    <a:p>
                      <a:pPr algn="r" fontAlgn="ctr"/>
                      <a:r>
                        <a:rPr lang="en-US" altLang="zh-CN" sz="1100" u="none" strike="noStrike">
                          <a:effectLst/>
                        </a:rPr>
                        <a:t>78</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530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dirty="0">
                          <a:solidFill>
                            <a:schemeClr val="tx1"/>
                          </a:solidFill>
                          <a:effectLst/>
                        </a:rPr>
                        <a:t>5890</a:t>
                      </a:r>
                      <a:endParaRPr lang="en-US" altLang="zh-CN"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1803632435"/>
                  </a:ext>
                </a:extLst>
              </a:tr>
              <a:tr h="369612">
                <a:tc>
                  <a:txBody>
                    <a:bodyPr/>
                    <a:lstStyle/>
                    <a:p>
                      <a:pPr algn="r" fontAlgn="ctr"/>
                      <a:r>
                        <a:rPr lang="en-US" altLang="zh-CN" sz="1100" u="none" strike="noStrike">
                          <a:effectLst/>
                        </a:rPr>
                        <a:t>70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600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dirty="0">
                          <a:solidFill>
                            <a:schemeClr val="tx1"/>
                          </a:solidFill>
                          <a:effectLst/>
                        </a:rPr>
                        <a:t>6200</a:t>
                      </a:r>
                      <a:endParaRPr lang="en-US" altLang="zh-CN"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3255178485"/>
                  </a:ext>
                </a:extLst>
              </a:tr>
              <a:tr h="369612">
                <a:tc>
                  <a:txBody>
                    <a:bodyPr/>
                    <a:lstStyle/>
                    <a:p>
                      <a:pPr algn="r" fontAlgn="ctr"/>
                      <a:r>
                        <a:rPr lang="en-US" altLang="zh-CN" sz="1100" u="none" strike="noStrike">
                          <a:effectLst/>
                        </a:rPr>
                        <a:t>60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680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dirty="0">
                          <a:solidFill>
                            <a:schemeClr val="tx1"/>
                          </a:solidFill>
                          <a:effectLst/>
                        </a:rPr>
                        <a:t>6800</a:t>
                      </a:r>
                      <a:endParaRPr lang="en-US" altLang="zh-CN"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2508941059"/>
                  </a:ext>
                </a:extLst>
              </a:tr>
              <a:tr h="369612">
                <a:tc>
                  <a:txBody>
                    <a:bodyPr/>
                    <a:lstStyle/>
                    <a:p>
                      <a:pPr algn="r" fontAlgn="ctr"/>
                      <a:r>
                        <a:rPr lang="en-US" altLang="zh-CN" sz="1100" u="none" strike="noStrike">
                          <a:effectLst/>
                        </a:rPr>
                        <a:t>69</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750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a:solidFill>
                            <a:schemeClr val="tx1"/>
                          </a:solidFill>
                          <a:effectLst/>
                        </a:rPr>
                        <a:t>7100</a:t>
                      </a:r>
                      <a:endParaRPr lang="en-US" altLang="zh-CN" sz="1400" b="1" i="0" u="none" strike="noStrike">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2713066839"/>
                  </a:ext>
                </a:extLst>
              </a:tr>
              <a:tr h="369612">
                <a:tc>
                  <a:txBody>
                    <a:bodyPr/>
                    <a:lstStyle/>
                    <a:p>
                      <a:pPr algn="r" fontAlgn="ctr"/>
                      <a:r>
                        <a:rPr lang="en-US" altLang="zh-CN" sz="1100" u="none" strike="noStrike">
                          <a:effectLst/>
                        </a:rPr>
                        <a:t>52</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830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a:solidFill>
                            <a:schemeClr val="tx1"/>
                          </a:solidFill>
                          <a:effectLst/>
                        </a:rPr>
                        <a:t>8900</a:t>
                      </a:r>
                      <a:endParaRPr lang="en-US" altLang="zh-CN" sz="1400" b="1" i="0" u="none" strike="noStrike">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1232951729"/>
                  </a:ext>
                </a:extLst>
              </a:tr>
              <a:tr h="369612">
                <a:tc>
                  <a:txBody>
                    <a:bodyPr/>
                    <a:lstStyle/>
                    <a:p>
                      <a:pPr algn="r" fontAlgn="ctr"/>
                      <a:r>
                        <a:rPr lang="en-US" altLang="zh-CN" sz="1100" u="none" strike="noStrike">
                          <a:effectLst/>
                        </a:rPr>
                        <a:t>45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880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dirty="0">
                          <a:solidFill>
                            <a:schemeClr val="tx1"/>
                          </a:solidFill>
                          <a:effectLst/>
                        </a:rPr>
                        <a:t>9000</a:t>
                      </a:r>
                      <a:endParaRPr lang="en-US" altLang="zh-CN"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176900866"/>
                  </a:ext>
                </a:extLst>
              </a:tr>
              <a:tr h="369612">
                <a:tc>
                  <a:txBody>
                    <a:bodyPr/>
                    <a:lstStyle/>
                    <a:p>
                      <a:pPr algn="r" fontAlgn="ctr"/>
                      <a:r>
                        <a:rPr lang="en-US" altLang="zh-CN" sz="1100" u="none" strike="noStrike">
                          <a:effectLst/>
                        </a:rPr>
                        <a:t>56</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830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dirty="0">
                          <a:solidFill>
                            <a:schemeClr val="tx1"/>
                          </a:solidFill>
                          <a:effectLst/>
                        </a:rPr>
                        <a:t>8100</a:t>
                      </a:r>
                      <a:endParaRPr lang="en-US" altLang="zh-CN"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1259054151"/>
                  </a:ext>
                </a:extLst>
              </a:tr>
              <a:tr h="369612">
                <a:tc>
                  <a:txBody>
                    <a:bodyPr/>
                    <a:lstStyle/>
                    <a:p>
                      <a:pPr algn="r" fontAlgn="ctr"/>
                      <a:r>
                        <a:rPr lang="en-US" altLang="zh-CN" sz="1100" u="none" strike="noStrike">
                          <a:effectLst/>
                        </a:rPr>
                        <a:t>32</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980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dirty="0">
                          <a:solidFill>
                            <a:schemeClr val="tx1"/>
                          </a:solidFill>
                          <a:effectLst/>
                        </a:rPr>
                        <a:t>9990</a:t>
                      </a:r>
                      <a:endParaRPr lang="en-US" altLang="zh-CN"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2465871598"/>
                  </a:ext>
                </a:extLst>
              </a:tr>
              <a:tr h="369612">
                <a:tc>
                  <a:txBody>
                    <a:bodyPr/>
                    <a:lstStyle/>
                    <a:p>
                      <a:pPr algn="r" fontAlgn="ctr"/>
                      <a:r>
                        <a:rPr lang="en-US" altLang="zh-CN" sz="1100" u="none" strike="noStrike" dirty="0">
                          <a:effectLst/>
                        </a:rPr>
                        <a:t>45</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100" u="none" strike="noStrike">
                          <a:effectLst/>
                        </a:rPr>
                        <a:t>1100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r" fontAlgn="ctr"/>
                      <a:r>
                        <a:rPr lang="en-US" altLang="zh-CN" sz="1400" b="1" u="none" strike="noStrike" dirty="0">
                          <a:solidFill>
                            <a:schemeClr val="tx1"/>
                          </a:solidFill>
                          <a:effectLst/>
                        </a:rPr>
                        <a:t>9800</a:t>
                      </a:r>
                      <a:endParaRPr lang="en-US" altLang="zh-CN" sz="1400" b="1" i="0" u="none" strike="noStrike" dirty="0">
                        <a:solidFill>
                          <a:schemeClr val="tx1"/>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2453216329"/>
                  </a:ext>
                </a:extLst>
              </a:tr>
            </a:tbl>
          </a:graphicData>
        </a:graphic>
      </p:graphicFrame>
      <p:graphicFrame>
        <p:nvGraphicFramePr>
          <p:cNvPr id="3" name="表格 2">
            <a:extLst>
              <a:ext uri="{FF2B5EF4-FFF2-40B4-BE49-F238E27FC236}">
                <a16:creationId xmlns:a16="http://schemas.microsoft.com/office/drawing/2014/main" id="{540CEF90-0853-17BC-CF57-18BF55FEBD91}"/>
              </a:ext>
            </a:extLst>
          </p:cNvPr>
          <p:cNvGraphicFramePr>
            <a:graphicFrameLocks noGrp="1"/>
          </p:cNvGraphicFramePr>
          <p:nvPr>
            <p:extLst>
              <p:ext uri="{D42A27DB-BD31-4B8C-83A1-F6EECF244321}">
                <p14:modId xmlns:p14="http://schemas.microsoft.com/office/powerpoint/2010/main" val="2604079430"/>
              </p:ext>
            </p:extLst>
          </p:nvPr>
        </p:nvGraphicFramePr>
        <p:xfrm>
          <a:off x="6426203" y="1371654"/>
          <a:ext cx="4000395" cy="4419270"/>
        </p:xfrm>
        <a:graphic>
          <a:graphicData uri="http://schemas.openxmlformats.org/drawingml/2006/table">
            <a:tbl>
              <a:tblPr>
                <a:tableStyleId>{5C22544A-7EE6-4342-B048-85BDC9FD1C3A}</a:tableStyleId>
              </a:tblPr>
              <a:tblGrid>
                <a:gridCol w="800079">
                  <a:extLst>
                    <a:ext uri="{9D8B030D-6E8A-4147-A177-3AD203B41FA5}">
                      <a16:colId xmlns:a16="http://schemas.microsoft.com/office/drawing/2014/main" val="2869452846"/>
                    </a:ext>
                  </a:extLst>
                </a:gridCol>
                <a:gridCol w="800079">
                  <a:extLst>
                    <a:ext uri="{9D8B030D-6E8A-4147-A177-3AD203B41FA5}">
                      <a16:colId xmlns:a16="http://schemas.microsoft.com/office/drawing/2014/main" val="1275166176"/>
                    </a:ext>
                  </a:extLst>
                </a:gridCol>
                <a:gridCol w="800079">
                  <a:extLst>
                    <a:ext uri="{9D8B030D-6E8A-4147-A177-3AD203B41FA5}">
                      <a16:colId xmlns:a16="http://schemas.microsoft.com/office/drawing/2014/main" val="2478321876"/>
                    </a:ext>
                  </a:extLst>
                </a:gridCol>
                <a:gridCol w="800079">
                  <a:extLst>
                    <a:ext uri="{9D8B030D-6E8A-4147-A177-3AD203B41FA5}">
                      <a16:colId xmlns:a16="http://schemas.microsoft.com/office/drawing/2014/main" val="3212837034"/>
                    </a:ext>
                  </a:extLst>
                </a:gridCol>
                <a:gridCol w="800079">
                  <a:extLst>
                    <a:ext uri="{9D8B030D-6E8A-4147-A177-3AD203B41FA5}">
                      <a16:colId xmlns:a16="http://schemas.microsoft.com/office/drawing/2014/main" val="115904574"/>
                    </a:ext>
                  </a:extLst>
                </a:gridCol>
              </a:tblGrid>
              <a:tr h="527526">
                <a:tc>
                  <a:txBody>
                    <a:bodyPr/>
                    <a:lstStyle/>
                    <a:p>
                      <a:pPr algn="l" fontAlgn="ctr"/>
                      <a:r>
                        <a:rPr lang="zh-CN" altLang="en-US" sz="1100" u="none" strike="noStrike" dirty="0">
                          <a:effectLst/>
                        </a:rPr>
                        <a:t>年龄</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dirty="0">
                          <a:effectLst/>
                        </a:rPr>
                        <a:t>吸烟史</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有无家族病史</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体重范围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患病与否</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3673957765"/>
                  </a:ext>
                </a:extLst>
              </a:tr>
              <a:tr h="268740">
                <a:tc>
                  <a:txBody>
                    <a:bodyPr/>
                    <a:lstStyle/>
                    <a:p>
                      <a:pPr algn="l" fontAlgn="ctr"/>
                      <a:r>
                        <a:rPr lang="zh-CN" altLang="en-US" sz="1100" u="none" strike="noStrike">
                          <a:effectLst/>
                        </a:rPr>
                        <a:t>青年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dirty="0">
                          <a:effectLst/>
                        </a:rPr>
                        <a:t>无</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dirty="0">
                          <a:effectLst/>
                        </a:rPr>
                        <a:t>无</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较低</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否</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966546596"/>
                  </a:ext>
                </a:extLst>
              </a:tr>
              <a:tr h="258786">
                <a:tc>
                  <a:txBody>
                    <a:bodyPr/>
                    <a:lstStyle/>
                    <a:p>
                      <a:pPr algn="l" fontAlgn="ctr"/>
                      <a:r>
                        <a:rPr lang="zh-CN" altLang="en-US" sz="1100" u="none" strike="noStrike">
                          <a:effectLst/>
                        </a:rPr>
                        <a:t>青年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中</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a:effectLst/>
                        </a:rPr>
                        <a:t>否</a:t>
                      </a:r>
                      <a:endParaRPr lang="zh-CN" altLang="en-US"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1331023369"/>
                  </a:ext>
                </a:extLst>
              </a:tr>
              <a:tr h="258786">
                <a:tc>
                  <a:txBody>
                    <a:bodyPr/>
                    <a:lstStyle/>
                    <a:p>
                      <a:pPr algn="l" fontAlgn="ctr"/>
                      <a:r>
                        <a:rPr lang="zh-CN" altLang="en-US" sz="1100" u="none" strike="noStrike">
                          <a:effectLst/>
                        </a:rPr>
                        <a:t>青年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en-US" altLang="zh-CN" sz="1100" u="none" strike="noStrike">
                          <a:effectLst/>
                        </a:rPr>
                        <a:t>0-5</a:t>
                      </a:r>
                      <a:r>
                        <a:rPr lang="zh-CN" altLang="en-US" sz="1100" u="none" strike="noStrike">
                          <a:effectLst/>
                        </a:rPr>
                        <a:t>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中</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a:effectLst/>
                        </a:rPr>
                        <a:t>否</a:t>
                      </a:r>
                      <a:endParaRPr lang="zh-CN" altLang="en-US"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4093381766"/>
                  </a:ext>
                </a:extLst>
              </a:tr>
              <a:tr h="258786">
                <a:tc>
                  <a:txBody>
                    <a:bodyPr/>
                    <a:lstStyle/>
                    <a:p>
                      <a:pPr algn="l" fontAlgn="ctr"/>
                      <a:r>
                        <a:rPr lang="zh-CN" altLang="en-US" sz="1100" u="none" strike="noStrike">
                          <a:effectLst/>
                        </a:rPr>
                        <a:t>青年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en-US" altLang="zh-CN" sz="1100" u="none" strike="noStrike">
                          <a:effectLst/>
                        </a:rPr>
                        <a:t>0-5</a:t>
                      </a:r>
                      <a:r>
                        <a:rPr lang="zh-CN" altLang="en-US" sz="1100" u="none" strike="noStrike">
                          <a:effectLst/>
                        </a:rPr>
                        <a:t>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有</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低</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是</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3707873718"/>
                  </a:ext>
                </a:extLst>
              </a:tr>
              <a:tr h="258786">
                <a:tc>
                  <a:txBody>
                    <a:bodyPr/>
                    <a:lstStyle/>
                    <a:p>
                      <a:pPr algn="l" fontAlgn="ctr"/>
                      <a:r>
                        <a:rPr lang="zh-CN" altLang="en-US" sz="1100" u="none" strike="noStrike">
                          <a:effectLst/>
                        </a:rPr>
                        <a:t>中年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较低</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a:effectLst/>
                        </a:rPr>
                        <a:t>否</a:t>
                      </a:r>
                      <a:endParaRPr lang="zh-CN" altLang="en-US"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467985820"/>
                  </a:ext>
                </a:extLst>
              </a:tr>
              <a:tr h="258786">
                <a:tc>
                  <a:txBody>
                    <a:bodyPr/>
                    <a:lstStyle/>
                    <a:p>
                      <a:pPr algn="l" fontAlgn="ctr"/>
                      <a:r>
                        <a:rPr lang="zh-CN" altLang="en-US" sz="1100" u="none" strike="noStrike">
                          <a:effectLst/>
                        </a:rPr>
                        <a:t>中年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dirty="0">
                          <a:effectLst/>
                        </a:rPr>
                        <a:t>低</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否</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4111810939"/>
                  </a:ext>
                </a:extLst>
              </a:tr>
              <a:tr h="258786">
                <a:tc>
                  <a:txBody>
                    <a:bodyPr/>
                    <a:lstStyle/>
                    <a:p>
                      <a:pPr algn="l" fontAlgn="ctr"/>
                      <a:r>
                        <a:rPr lang="zh-CN" altLang="en-US" sz="1100" u="none" strike="noStrike">
                          <a:effectLst/>
                        </a:rPr>
                        <a:t>中年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高</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a:effectLst/>
                        </a:rPr>
                        <a:t>否</a:t>
                      </a:r>
                      <a:endParaRPr lang="zh-CN" altLang="en-US"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567451698"/>
                  </a:ext>
                </a:extLst>
              </a:tr>
              <a:tr h="258786">
                <a:tc>
                  <a:txBody>
                    <a:bodyPr/>
                    <a:lstStyle/>
                    <a:p>
                      <a:pPr algn="l" fontAlgn="ctr"/>
                      <a:r>
                        <a:rPr lang="zh-CN" altLang="en-US" sz="1100" u="none" strike="noStrike">
                          <a:effectLst/>
                        </a:rPr>
                        <a:t>中年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en-US" altLang="zh-CN" sz="1100" u="none" strike="noStrike">
                          <a:effectLst/>
                        </a:rPr>
                        <a:t>5</a:t>
                      </a:r>
                      <a:r>
                        <a:rPr lang="zh-CN" altLang="en-US" sz="1100" u="none" strike="noStrike">
                          <a:effectLst/>
                        </a:rPr>
                        <a:t>年以上</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有</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高</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是</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469803679"/>
                  </a:ext>
                </a:extLst>
              </a:tr>
              <a:tr h="258786">
                <a:tc>
                  <a:txBody>
                    <a:bodyPr/>
                    <a:lstStyle/>
                    <a:p>
                      <a:pPr algn="l" fontAlgn="ctr"/>
                      <a:r>
                        <a:rPr lang="zh-CN" altLang="en-US" sz="1100" u="none" strike="noStrike">
                          <a:effectLst/>
                        </a:rPr>
                        <a:t>中年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有</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高</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a:effectLst/>
                        </a:rPr>
                        <a:t>是</a:t>
                      </a:r>
                      <a:endParaRPr lang="zh-CN" altLang="en-US"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434753666"/>
                  </a:ext>
                </a:extLst>
              </a:tr>
              <a:tr h="258786">
                <a:tc>
                  <a:txBody>
                    <a:bodyPr/>
                    <a:lstStyle/>
                    <a:p>
                      <a:pPr algn="l" fontAlgn="ctr"/>
                      <a:r>
                        <a:rPr lang="zh-CN" altLang="en-US" sz="1100" u="none" strike="noStrike">
                          <a:effectLst/>
                        </a:rPr>
                        <a:t>中年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有</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高</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是</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3159121029"/>
                  </a:ext>
                </a:extLst>
              </a:tr>
              <a:tr h="258786">
                <a:tc>
                  <a:txBody>
                    <a:bodyPr/>
                    <a:lstStyle/>
                    <a:p>
                      <a:pPr algn="l" fontAlgn="ctr"/>
                      <a:r>
                        <a:rPr lang="zh-CN" altLang="en-US" sz="1100" u="none" strike="noStrike">
                          <a:effectLst/>
                        </a:rPr>
                        <a:t>老年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有</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较高</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是</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497206037"/>
                  </a:ext>
                </a:extLst>
              </a:tr>
              <a:tr h="258786">
                <a:tc>
                  <a:txBody>
                    <a:bodyPr/>
                    <a:lstStyle/>
                    <a:p>
                      <a:pPr algn="l" fontAlgn="ctr"/>
                      <a:r>
                        <a:rPr lang="zh-CN" altLang="en-US" sz="1100" u="none" strike="noStrike">
                          <a:effectLst/>
                        </a:rPr>
                        <a:t>老年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有</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高</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是</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3212430885"/>
                  </a:ext>
                </a:extLst>
              </a:tr>
              <a:tr h="258786">
                <a:tc>
                  <a:txBody>
                    <a:bodyPr/>
                    <a:lstStyle/>
                    <a:p>
                      <a:pPr algn="l" fontAlgn="ctr"/>
                      <a:r>
                        <a:rPr lang="zh-CN" altLang="en-US" sz="1100" u="none" strike="noStrike">
                          <a:effectLst/>
                        </a:rPr>
                        <a:t>老年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en-US" altLang="zh-CN" sz="1100" u="none" strike="noStrike">
                          <a:effectLst/>
                        </a:rPr>
                        <a:t>5</a:t>
                      </a:r>
                      <a:r>
                        <a:rPr lang="zh-CN" altLang="en-US" sz="1100" u="none" strike="noStrike">
                          <a:effectLst/>
                        </a:rPr>
                        <a:t>年以上</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高</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是</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1217963100"/>
                  </a:ext>
                </a:extLst>
              </a:tr>
              <a:tr h="258786">
                <a:tc>
                  <a:txBody>
                    <a:bodyPr/>
                    <a:lstStyle/>
                    <a:p>
                      <a:pPr algn="l" fontAlgn="ctr"/>
                      <a:r>
                        <a:rPr lang="zh-CN" altLang="en-US" sz="1100" u="none" strike="noStrike">
                          <a:effectLst/>
                        </a:rPr>
                        <a:t>老年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en-US" altLang="zh-CN" sz="1100" u="none" strike="noStrike">
                          <a:effectLst/>
                        </a:rPr>
                        <a:t>5</a:t>
                      </a:r>
                      <a:r>
                        <a:rPr lang="zh-CN" altLang="en-US" sz="1100" u="none" strike="noStrike">
                          <a:effectLst/>
                        </a:rPr>
                        <a:t>年以上</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较高</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是</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1788183801"/>
                  </a:ext>
                </a:extLst>
              </a:tr>
              <a:tr h="258786">
                <a:tc>
                  <a:txBody>
                    <a:bodyPr/>
                    <a:lstStyle/>
                    <a:p>
                      <a:pPr algn="l" fontAlgn="ctr"/>
                      <a:r>
                        <a:rPr lang="zh-CN" altLang="en-US" sz="1100" u="none" strike="noStrike" dirty="0">
                          <a:effectLst/>
                        </a:rPr>
                        <a:t>老年</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en-US" altLang="zh-CN" sz="1100" u="none" strike="noStrike">
                          <a:effectLst/>
                        </a:rPr>
                        <a:t>0-5</a:t>
                      </a:r>
                      <a:r>
                        <a:rPr lang="zh-CN" altLang="en-US" sz="1100" u="none" strike="noStrike">
                          <a:effectLst/>
                        </a:rPr>
                        <a:t>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a:effectLst/>
                        </a:rPr>
                        <a:t>无</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100" u="none" strike="noStrike" dirty="0">
                          <a:effectLst/>
                        </a:rPr>
                        <a:t>中</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400" b="1" u="none" strike="noStrike" dirty="0">
                          <a:effectLst/>
                        </a:rPr>
                        <a:t>否</a:t>
                      </a:r>
                      <a:endParaRPr lang="zh-CN" alt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39381384"/>
                  </a:ext>
                </a:extLst>
              </a:tr>
            </a:tbl>
          </a:graphicData>
        </a:graphic>
      </p:graphicFrame>
      <p:sp>
        <p:nvSpPr>
          <p:cNvPr id="4" name="Rectangle 3">
            <a:extLst>
              <a:ext uri="{FF2B5EF4-FFF2-40B4-BE49-F238E27FC236}">
                <a16:creationId xmlns:a16="http://schemas.microsoft.com/office/drawing/2014/main" id="{E4B870FB-78E5-901C-60B3-584848E81E84}"/>
              </a:ext>
            </a:extLst>
          </p:cNvPr>
          <p:cNvSpPr txBox="1">
            <a:spLocks noChangeArrowheads="1"/>
          </p:cNvSpPr>
          <p:nvPr/>
        </p:nvSpPr>
        <p:spPr bwMode="auto">
          <a:xfrm>
            <a:off x="1055752" y="719588"/>
            <a:ext cx="838178" cy="60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lvl="1" indent="0" eaLnBrk="1" hangingPunct="1">
              <a:lnSpc>
                <a:spcPct val="130000"/>
              </a:lnSpc>
              <a:buNone/>
              <a:defRPr/>
            </a:pPr>
            <a:r>
              <a:rPr lang="zh-CN" altLang="en-US" dirty="0">
                <a:solidFill>
                  <a:srgbClr val="1F6684"/>
                </a:solidFill>
                <a:latin typeface="微软雅黑" panose="020B0503020204020204" pitchFamily="34" charset="-122"/>
                <a:ea typeface="微软雅黑" panose="020B0503020204020204" pitchFamily="34" charset="-122"/>
              </a:rPr>
              <a:t>回归</a:t>
            </a:r>
            <a:endParaRPr lang="en-US" altLang="zh-CN" dirty="0">
              <a:solidFill>
                <a:srgbClr val="1F6684"/>
              </a:solidFill>
              <a:latin typeface="微软雅黑" panose="020B0503020204020204" pitchFamily="34" charset="-122"/>
              <a:ea typeface="微软雅黑" panose="020B0503020204020204" pitchFamily="34" charset="-122"/>
            </a:endParaRPr>
          </a:p>
        </p:txBody>
      </p:sp>
      <p:sp>
        <p:nvSpPr>
          <p:cNvPr id="5" name="Rectangle 3">
            <a:extLst>
              <a:ext uri="{FF2B5EF4-FFF2-40B4-BE49-F238E27FC236}">
                <a16:creationId xmlns:a16="http://schemas.microsoft.com/office/drawing/2014/main" id="{07E4FCAC-CFDF-46A6-28F9-B052DC14864B}"/>
              </a:ext>
            </a:extLst>
          </p:cNvPr>
          <p:cNvSpPr txBox="1">
            <a:spLocks noChangeArrowheads="1"/>
          </p:cNvSpPr>
          <p:nvPr/>
        </p:nvSpPr>
        <p:spPr bwMode="auto">
          <a:xfrm>
            <a:off x="6437826" y="719588"/>
            <a:ext cx="838178" cy="60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lvl="1" indent="0" eaLnBrk="1" hangingPunct="1">
              <a:lnSpc>
                <a:spcPct val="130000"/>
              </a:lnSpc>
              <a:buNone/>
              <a:defRPr/>
            </a:pPr>
            <a:r>
              <a:rPr lang="zh-CN" altLang="en-US" dirty="0">
                <a:solidFill>
                  <a:srgbClr val="1F6684"/>
                </a:solidFill>
                <a:latin typeface="微软雅黑" panose="020B0503020204020204" pitchFamily="34" charset="-122"/>
                <a:ea typeface="微软雅黑" panose="020B0503020204020204" pitchFamily="34" charset="-122"/>
              </a:rPr>
              <a:t>分类</a:t>
            </a:r>
            <a:endParaRPr lang="en-US" altLang="zh-CN" dirty="0">
              <a:solidFill>
                <a:srgbClr val="1F6684"/>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34865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文本框 1">
            <a:extLst>
              <a:ext uri="{FF2B5EF4-FFF2-40B4-BE49-F238E27FC236}">
                <a16:creationId xmlns:a16="http://schemas.microsoft.com/office/drawing/2014/main" id="{8B4A4D08-0143-124E-8830-E0E016E26633}"/>
              </a:ext>
            </a:extLst>
          </p:cNvPr>
          <p:cNvSpPr txBox="1"/>
          <p:nvPr/>
        </p:nvSpPr>
        <p:spPr>
          <a:xfrm>
            <a:off x="457308" y="795743"/>
            <a:ext cx="2666930" cy="1754326"/>
          </a:xfrm>
          <a:prstGeom prst="rect">
            <a:avLst/>
          </a:prstGeom>
          <a:noFill/>
          <a:ln w="19050">
            <a:solidFill>
              <a:schemeClr val="tx1"/>
            </a:solidFill>
          </a:ln>
        </p:spPr>
        <p:txBody>
          <a:bodyPr wrap="square">
            <a:spAutoFit/>
          </a:bodyPr>
          <a:lstStyle/>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：给你介绍一位男士。</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：好看吗？</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：一般。</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：性格怎样？</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：不好。</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：不见！</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BCBB269B-38C4-44DC-7C2F-0138AC90A416}"/>
              </a:ext>
            </a:extLst>
          </p:cNvPr>
          <p:cNvSpPr txBox="1"/>
          <p:nvPr/>
        </p:nvSpPr>
        <p:spPr>
          <a:xfrm>
            <a:off x="5276117" y="792107"/>
            <a:ext cx="3113986" cy="1754326"/>
          </a:xfrm>
          <a:prstGeom prst="rect">
            <a:avLst/>
          </a:prstGeom>
          <a:noFill/>
          <a:ln w="19050">
            <a:solidFill>
              <a:schemeClr val="tx1"/>
            </a:solidFill>
          </a:ln>
        </p:spPr>
        <p:txBody>
          <a:bodyPr wrap="square">
            <a:spAutoFit/>
          </a:bodyPr>
          <a:lstStyle/>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：给你介绍一位男士。</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：好看吗？</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难看</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收入高吗</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latin typeface="Times New Roman" panose="02020603050405020304" pitchFamily="18" charset="0"/>
                <a:cs typeface="Times New Roman" panose="02020603050405020304" pitchFamily="18" charset="0"/>
              </a:rPr>
              <a:t>不高</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：不见！</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矩形: 圆角 3">
            <a:extLst>
              <a:ext uri="{FF2B5EF4-FFF2-40B4-BE49-F238E27FC236}">
                <a16:creationId xmlns:a16="http://schemas.microsoft.com/office/drawing/2014/main" id="{B1682E9A-E8B6-CDF7-B4A2-0071D064662C}"/>
              </a:ext>
            </a:extLst>
          </p:cNvPr>
          <p:cNvSpPr/>
          <p:nvPr/>
        </p:nvSpPr>
        <p:spPr>
          <a:xfrm>
            <a:off x="3581426" y="2514624"/>
            <a:ext cx="990574" cy="45718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树根</a:t>
            </a:r>
          </a:p>
        </p:txBody>
      </p:sp>
      <p:sp>
        <p:nvSpPr>
          <p:cNvPr id="5" name="菱形 4">
            <a:extLst>
              <a:ext uri="{FF2B5EF4-FFF2-40B4-BE49-F238E27FC236}">
                <a16:creationId xmlns:a16="http://schemas.microsoft.com/office/drawing/2014/main" id="{03475DF7-31EF-927F-9B8F-43702F0C1B62}"/>
              </a:ext>
            </a:extLst>
          </p:cNvPr>
          <p:cNvSpPr/>
          <p:nvPr/>
        </p:nvSpPr>
        <p:spPr>
          <a:xfrm>
            <a:off x="3352832" y="3152373"/>
            <a:ext cx="1447762" cy="45718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长相</a:t>
            </a:r>
          </a:p>
        </p:txBody>
      </p:sp>
      <p:sp>
        <p:nvSpPr>
          <p:cNvPr id="6" name="矩形 5">
            <a:extLst>
              <a:ext uri="{FF2B5EF4-FFF2-40B4-BE49-F238E27FC236}">
                <a16:creationId xmlns:a16="http://schemas.microsoft.com/office/drawing/2014/main" id="{D4D73839-0F54-940F-3E3A-2034604DCC86}"/>
              </a:ext>
            </a:extLst>
          </p:cNvPr>
          <p:cNvSpPr/>
          <p:nvPr/>
        </p:nvSpPr>
        <p:spPr>
          <a:xfrm>
            <a:off x="6724876" y="3152373"/>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难看</a:t>
            </a:r>
          </a:p>
        </p:txBody>
      </p:sp>
      <p:sp>
        <p:nvSpPr>
          <p:cNvPr id="7" name="矩形 6">
            <a:extLst>
              <a:ext uri="{FF2B5EF4-FFF2-40B4-BE49-F238E27FC236}">
                <a16:creationId xmlns:a16="http://schemas.microsoft.com/office/drawing/2014/main" id="{1B534D20-69AB-2122-7FCC-06BA9CC2B039}"/>
              </a:ext>
            </a:extLst>
          </p:cNvPr>
          <p:cNvSpPr/>
          <p:nvPr/>
        </p:nvSpPr>
        <p:spPr>
          <a:xfrm>
            <a:off x="3619525" y="3787695"/>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一般</a:t>
            </a:r>
          </a:p>
        </p:txBody>
      </p:sp>
      <p:sp>
        <p:nvSpPr>
          <p:cNvPr id="8" name="矩形 7">
            <a:extLst>
              <a:ext uri="{FF2B5EF4-FFF2-40B4-BE49-F238E27FC236}">
                <a16:creationId xmlns:a16="http://schemas.microsoft.com/office/drawing/2014/main" id="{F94060EE-2A52-1C56-2545-EE6F61E3CF3F}"/>
              </a:ext>
            </a:extLst>
          </p:cNvPr>
          <p:cNvSpPr/>
          <p:nvPr/>
        </p:nvSpPr>
        <p:spPr>
          <a:xfrm>
            <a:off x="1521149" y="3491004"/>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好看</a:t>
            </a:r>
          </a:p>
        </p:txBody>
      </p:sp>
      <p:sp>
        <p:nvSpPr>
          <p:cNvPr id="9" name="椭圆 8">
            <a:extLst>
              <a:ext uri="{FF2B5EF4-FFF2-40B4-BE49-F238E27FC236}">
                <a16:creationId xmlns:a16="http://schemas.microsoft.com/office/drawing/2014/main" id="{227C0E26-F139-92D1-958B-C818CDB60B31}"/>
              </a:ext>
            </a:extLst>
          </p:cNvPr>
          <p:cNvSpPr/>
          <p:nvPr/>
        </p:nvSpPr>
        <p:spPr>
          <a:xfrm>
            <a:off x="1654495" y="4115182"/>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800" b="1" dirty="0">
                <a:solidFill>
                  <a:schemeClr val="tx1"/>
                </a:solidFill>
              </a:rPr>
              <a:t>?</a:t>
            </a:r>
            <a:endParaRPr lang="zh-CN" altLang="en-US" b="1" dirty="0">
              <a:solidFill>
                <a:schemeClr val="tx1"/>
              </a:solidFill>
            </a:endParaRPr>
          </a:p>
        </p:txBody>
      </p:sp>
      <p:sp>
        <p:nvSpPr>
          <p:cNvPr id="10" name="菱形 9">
            <a:extLst>
              <a:ext uri="{FF2B5EF4-FFF2-40B4-BE49-F238E27FC236}">
                <a16:creationId xmlns:a16="http://schemas.microsoft.com/office/drawing/2014/main" id="{0815A07A-42D9-A17B-25F3-5B6230F62958}"/>
              </a:ext>
            </a:extLst>
          </p:cNvPr>
          <p:cNvSpPr/>
          <p:nvPr/>
        </p:nvSpPr>
        <p:spPr>
          <a:xfrm>
            <a:off x="3352832" y="4425445"/>
            <a:ext cx="1447762" cy="45718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性格</a:t>
            </a:r>
          </a:p>
        </p:txBody>
      </p:sp>
      <p:sp>
        <p:nvSpPr>
          <p:cNvPr id="11" name="矩形 10">
            <a:extLst>
              <a:ext uri="{FF2B5EF4-FFF2-40B4-BE49-F238E27FC236}">
                <a16:creationId xmlns:a16="http://schemas.microsoft.com/office/drawing/2014/main" id="{0639F0EB-952F-D60E-56F4-C8DC561EDB8E}"/>
              </a:ext>
            </a:extLst>
          </p:cNvPr>
          <p:cNvSpPr/>
          <p:nvPr/>
        </p:nvSpPr>
        <p:spPr>
          <a:xfrm>
            <a:off x="2487160" y="5060767"/>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好</a:t>
            </a:r>
          </a:p>
        </p:txBody>
      </p:sp>
      <p:sp>
        <p:nvSpPr>
          <p:cNvPr id="13" name="矩形 12">
            <a:extLst>
              <a:ext uri="{FF2B5EF4-FFF2-40B4-BE49-F238E27FC236}">
                <a16:creationId xmlns:a16="http://schemas.microsoft.com/office/drawing/2014/main" id="{5BF3652C-061A-4C77-5DCC-4D18BD6030F6}"/>
              </a:ext>
            </a:extLst>
          </p:cNvPr>
          <p:cNvSpPr/>
          <p:nvPr/>
        </p:nvSpPr>
        <p:spPr>
          <a:xfrm>
            <a:off x="4838736" y="5060767"/>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不好</a:t>
            </a:r>
          </a:p>
        </p:txBody>
      </p:sp>
      <p:sp>
        <p:nvSpPr>
          <p:cNvPr id="14" name="菱形 13">
            <a:extLst>
              <a:ext uri="{FF2B5EF4-FFF2-40B4-BE49-F238E27FC236}">
                <a16:creationId xmlns:a16="http://schemas.microsoft.com/office/drawing/2014/main" id="{0CC9A1E7-6CF2-FC5E-A63C-C6F739231C3D}"/>
              </a:ext>
            </a:extLst>
          </p:cNvPr>
          <p:cNvSpPr/>
          <p:nvPr/>
        </p:nvSpPr>
        <p:spPr>
          <a:xfrm>
            <a:off x="6458183" y="3785852"/>
            <a:ext cx="1447762" cy="45718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收入</a:t>
            </a:r>
          </a:p>
        </p:txBody>
      </p:sp>
      <p:sp>
        <p:nvSpPr>
          <p:cNvPr id="15" name="矩形 14">
            <a:extLst>
              <a:ext uri="{FF2B5EF4-FFF2-40B4-BE49-F238E27FC236}">
                <a16:creationId xmlns:a16="http://schemas.microsoft.com/office/drawing/2014/main" id="{377C1816-876A-6E49-C4E3-CC464E7898BE}"/>
              </a:ext>
            </a:extLst>
          </p:cNvPr>
          <p:cNvSpPr/>
          <p:nvPr/>
        </p:nvSpPr>
        <p:spPr>
          <a:xfrm>
            <a:off x="5742464" y="4425445"/>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高</a:t>
            </a:r>
          </a:p>
        </p:txBody>
      </p:sp>
      <p:sp>
        <p:nvSpPr>
          <p:cNvPr id="16" name="矩形 15">
            <a:extLst>
              <a:ext uri="{FF2B5EF4-FFF2-40B4-BE49-F238E27FC236}">
                <a16:creationId xmlns:a16="http://schemas.microsoft.com/office/drawing/2014/main" id="{4712E587-0B28-CC6D-06F0-ADFECA3DC3A7}"/>
              </a:ext>
            </a:extLst>
          </p:cNvPr>
          <p:cNvSpPr/>
          <p:nvPr/>
        </p:nvSpPr>
        <p:spPr>
          <a:xfrm>
            <a:off x="7609358" y="4425445"/>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低</a:t>
            </a:r>
          </a:p>
        </p:txBody>
      </p:sp>
      <p:cxnSp>
        <p:nvCxnSpPr>
          <p:cNvPr id="17" name="直接箭头连接符 16">
            <a:extLst>
              <a:ext uri="{FF2B5EF4-FFF2-40B4-BE49-F238E27FC236}">
                <a16:creationId xmlns:a16="http://schemas.microsoft.com/office/drawing/2014/main" id="{50341DF7-4C7D-BDFA-6369-6F47A8B569C3}"/>
              </a:ext>
            </a:extLst>
          </p:cNvPr>
          <p:cNvCxnSpPr>
            <a:stCxn id="4" idx="2"/>
            <a:endCxn id="5" idx="0"/>
          </p:cNvCxnSpPr>
          <p:nvPr/>
        </p:nvCxnSpPr>
        <p:spPr>
          <a:xfrm>
            <a:off x="4076713" y="2971812"/>
            <a:ext cx="0" cy="180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1A6B55FA-81DF-AF4F-0F6F-2D467A59BEBF}"/>
              </a:ext>
            </a:extLst>
          </p:cNvPr>
          <p:cNvCxnSpPr>
            <a:stCxn id="5" idx="3"/>
            <a:endCxn id="6" idx="0"/>
          </p:cNvCxnSpPr>
          <p:nvPr/>
        </p:nvCxnSpPr>
        <p:spPr>
          <a:xfrm flipV="1">
            <a:off x="4800594" y="3152373"/>
            <a:ext cx="2381470" cy="228594"/>
          </a:xfrm>
          <a:prstGeom prst="bentConnector4">
            <a:avLst>
              <a:gd name="adj1" fmla="val 40401"/>
              <a:gd name="adj2" fmla="val 20000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9E69E349-6AD1-2CA3-6C14-60BE6C66D163}"/>
              </a:ext>
            </a:extLst>
          </p:cNvPr>
          <p:cNvCxnSpPr>
            <a:stCxn id="5" idx="1"/>
            <a:endCxn id="8" idx="0"/>
          </p:cNvCxnSpPr>
          <p:nvPr/>
        </p:nvCxnSpPr>
        <p:spPr>
          <a:xfrm rot="10800000" flipV="1">
            <a:off x="1978338" y="3380966"/>
            <a:ext cx="1374495" cy="1100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631F6D2E-B2A2-9DED-D435-B578B85EE287}"/>
              </a:ext>
            </a:extLst>
          </p:cNvPr>
          <p:cNvCxnSpPr>
            <a:stCxn id="5" idx="2"/>
            <a:endCxn id="7" idx="0"/>
          </p:cNvCxnSpPr>
          <p:nvPr/>
        </p:nvCxnSpPr>
        <p:spPr>
          <a:xfrm>
            <a:off x="4076713" y="3609560"/>
            <a:ext cx="0" cy="178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38842C31-C5F4-745B-FAAB-D14C9E4BEB5E}"/>
              </a:ext>
            </a:extLst>
          </p:cNvPr>
          <p:cNvCxnSpPr>
            <a:stCxn id="7" idx="2"/>
            <a:endCxn id="10" idx="0"/>
          </p:cNvCxnSpPr>
          <p:nvPr/>
        </p:nvCxnSpPr>
        <p:spPr>
          <a:xfrm>
            <a:off x="4076713" y="4244882"/>
            <a:ext cx="0" cy="180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A7E3F549-F567-AC21-14CE-CFD4AFF06E40}"/>
              </a:ext>
            </a:extLst>
          </p:cNvPr>
          <p:cNvCxnSpPr>
            <a:stCxn id="10" idx="1"/>
            <a:endCxn id="11" idx="0"/>
          </p:cNvCxnSpPr>
          <p:nvPr/>
        </p:nvCxnSpPr>
        <p:spPr>
          <a:xfrm rot="10800000" flipV="1">
            <a:off x="2944348" y="4654039"/>
            <a:ext cx="408484" cy="4067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9F28ACDE-01AD-9EFE-D51F-1D23E6D12291}"/>
              </a:ext>
            </a:extLst>
          </p:cNvPr>
          <p:cNvCxnSpPr>
            <a:cxnSpLocks/>
            <a:stCxn id="10" idx="3"/>
            <a:endCxn id="13" idx="0"/>
          </p:cNvCxnSpPr>
          <p:nvPr/>
        </p:nvCxnSpPr>
        <p:spPr>
          <a:xfrm>
            <a:off x="4800594" y="4654039"/>
            <a:ext cx="495330" cy="4067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366A6205-8781-12DD-4A89-910D22F5041F}"/>
              </a:ext>
            </a:extLst>
          </p:cNvPr>
          <p:cNvCxnSpPr>
            <a:stCxn id="6" idx="2"/>
            <a:endCxn id="14" idx="0"/>
          </p:cNvCxnSpPr>
          <p:nvPr/>
        </p:nvCxnSpPr>
        <p:spPr>
          <a:xfrm>
            <a:off x="7182064" y="3609560"/>
            <a:ext cx="0" cy="176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90EABB2-67B9-1C46-6BFC-D30C60C38FBA}"/>
              </a:ext>
            </a:extLst>
          </p:cNvPr>
          <p:cNvCxnSpPr>
            <a:stCxn id="14" idx="1"/>
            <a:endCxn id="15" idx="0"/>
          </p:cNvCxnSpPr>
          <p:nvPr/>
        </p:nvCxnSpPr>
        <p:spPr>
          <a:xfrm rot="10800000" flipV="1">
            <a:off x="6199653" y="4014445"/>
            <a:ext cx="258531" cy="4109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3DFD4593-FF83-193E-E94B-DE217110ACFC}"/>
              </a:ext>
            </a:extLst>
          </p:cNvPr>
          <p:cNvCxnSpPr>
            <a:stCxn id="14" idx="3"/>
            <a:endCxn id="16" idx="0"/>
          </p:cNvCxnSpPr>
          <p:nvPr/>
        </p:nvCxnSpPr>
        <p:spPr>
          <a:xfrm>
            <a:off x="7905945" y="4014446"/>
            <a:ext cx="160601" cy="4109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8A4494F6-40B4-3173-9A50-049A9F8CB403}"/>
              </a:ext>
            </a:extLst>
          </p:cNvPr>
          <p:cNvSpPr/>
          <p:nvPr/>
        </p:nvSpPr>
        <p:spPr>
          <a:xfrm>
            <a:off x="2620505" y="5702887"/>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800" b="1" dirty="0">
                <a:solidFill>
                  <a:schemeClr val="tx1"/>
                </a:solidFill>
              </a:rPr>
              <a:t>?</a:t>
            </a:r>
            <a:endParaRPr lang="zh-CN" altLang="en-US" b="1" dirty="0">
              <a:solidFill>
                <a:schemeClr val="tx1"/>
              </a:solidFill>
            </a:endParaRPr>
          </a:p>
        </p:txBody>
      </p:sp>
      <p:sp>
        <p:nvSpPr>
          <p:cNvPr id="28" name="椭圆 27">
            <a:extLst>
              <a:ext uri="{FF2B5EF4-FFF2-40B4-BE49-F238E27FC236}">
                <a16:creationId xmlns:a16="http://schemas.microsoft.com/office/drawing/2014/main" id="{BA4B0057-D24B-EFBB-EA4B-353B641D1F21}"/>
              </a:ext>
            </a:extLst>
          </p:cNvPr>
          <p:cNvSpPr/>
          <p:nvPr/>
        </p:nvSpPr>
        <p:spPr>
          <a:xfrm>
            <a:off x="4972082" y="5698517"/>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800" b="1" dirty="0">
                <a:solidFill>
                  <a:schemeClr val="tx1"/>
                </a:solidFill>
              </a:rPr>
              <a:t>否</a:t>
            </a:r>
            <a:endParaRPr lang="zh-CN" altLang="en-US" b="1" dirty="0">
              <a:solidFill>
                <a:schemeClr val="tx1"/>
              </a:solidFill>
            </a:endParaRPr>
          </a:p>
        </p:txBody>
      </p:sp>
      <p:sp>
        <p:nvSpPr>
          <p:cNvPr id="29" name="椭圆 28">
            <a:extLst>
              <a:ext uri="{FF2B5EF4-FFF2-40B4-BE49-F238E27FC236}">
                <a16:creationId xmlns:a16="http://schemas.microsoft.com/office/drawing/2014/main" id="{19795B44-A38D-BA1E-66D0-3A567351912E}"/>
              </a:ext>
            </a:extLst>
          </p:cNvPr>
          <p:cNvSpPr/>
          <p:nvPr/>
        </p:nvSpPr>
        <p:spPr>
          <a:xfrm>
            <a:off x="5875810" y="4963675"/>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800" b="1" dirty="0">
                <a:solidFill>
                  <a:schemeClr val="tx1"/>
                </a:solidFill>
              </a:rPr>
              <a:t>?</a:t>
            </a:r>
            <a:endParaRPr lang="zh-CN" altLang="en-US" b="1" dirty="0">
              <a:solidFill>
                <a:schemeClr val="tx1"/>
              </a:solidFill>
            </a:endParaRPr>
          </a:p>
        </p:txBody>
      </p:sp>
      <p:sp>
        <p:nvSpPr>
          <p:cNvPr id="30" name="椭圆 29">
            <a:extLst>
              <a:ext uri="{FF2B5EF4-FFF2-40B4-BE49-F238E27FC236}">
                <a16:creationId xmlns:a16="http://schemas.microsoft.com/office/drawing/2014/main" id="{2B4B8B87-BC1C-1129-DA06-173795854390}"/>
              </a:ext>
            </a:extLst>
          </p:cNvPr>
          <p:cNvSpPr/>
          <p:nvPr/>
        </p:nvSpPr>
        <p:spPr>
          <a:xfrm>
            <a:off x="7742420" y="4963675"/>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800" b="1" dirty="0">
                <a:solidFill>
                  <a:schemeClr val="tx1"/>
                </a:solidFill>
              </a:rPr>
              <a:t>否</a:t>
            </a:r>
            <a:endParaRPr lang="zh-CN" altLang="en-US" b="1" dirty="0">
              <a:solidFill>
                <a:schemeClr val="tx1"/>
              </a:solidFill>
            </a:endParaRPr>
          </a:p>
        </p:txBody>
      </p:sp>
    </p:spTree>
    <p:custDataLst>
      <p:tags r:id="rId1"/>
    </p:custDataLst>
    <p:extLst>
      <p:ext uri="{BB962C8B-B14F-4D97-AF65-F5344CB8AC3E}">
        <p14:creationId xmlns:p14="http://schemas.microsoft.com/office/powerpoint/2010/main" val="30948294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矩形: 圆角 1">
            <a:extLst>
              <a:ext uri="{FF2B5EF4-FFF2-40B4-BE49-F238E27FC236}">
                <a16:creationId xmlns:a16="http://schemas.microsoft.com/office/drawing/2014/main" id="{EF734CA0-8EEF-8997-CE9C-AB3F005A3EE7}"/>
              </a:ext>
            </a:extLst>
          </p:cNvPr>
          <p:cNvSpPr/>
          <p:nvPr/>
        </p:nvSpPr>
        <p:spPr>
          <a:xfrm>
            <a:off x="5207026" y="2819424"/>
            <a:ext cx="990574" cy="45718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树根</a:t>
            </a:r>
          </a:p>
        </p:txBody>
      </p:sp>
      <p:sp>
        <p:nvSpPr>
          <p:cNvPr id="3" name="菱形 2">
            <a:extLst>
              <a:ext uri="{FF2B5EF4-FFF2-40B4-BE49-F238E27FC236}">
                <a16:creationId xmlns:a16="http://schemas.microsoft.com/office/drawing/2014/main" id="{22024740-EE53-8855-0EE7-B8D051D082B6}"/>
              </a:ext>
            </a:extLst>
          </p:cNvPr>
          <p:cNvSpPr/>
          <p:nvPr/>
        </p:nvSpPr>
        <p:spPr>
          <a:xfrm>
            <a:off x="4978432" y="3457173"/>
            <a:ext cx="1447762" cy="45718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长相</a:t>
            </a:r>
          </a:p>
        </p:txBody>
      </p:sp>
      <p:sp>
        <p:nvSpPr>
          <p:cNvPr id="4" name="矩形 3">
            <a:extLst>
              <a:ext uri="{FF2B5EF4-FFF2-40B4-BE49-F238E27FC236}">
                <a16:creationId xmlns:a16="http://schemas.microsoft.com/office/drawing/2014/main" id="{4C110F66-D2EE-2BF6-6FDD-6B7FD132E64C}"/>
              </a:ext>
            </a:extLst>
          </p:cNvPr>
          <p:cNvSpPr/>
          <p:nvPr/>
        </p:nvSpPr>
        <p:spPr>
          <a:xfrm>
            <a:off x="8350476" y="3457173"/>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难看</a:t>
            </a:r>
          </a:p>
        </p:txBody>
      </p:sp>
      <p:sp>
        <p:nvSpPr>
          <p:cNvPr id="5" name="矩形 4">
            <a:extLst>
              <a:ext uri="{FF2B5EF4-FFF2-40B4-BE49-F238E27FC236}">
                <a16:creationId xmlns:a16="http://schemas.microsoft.com/office/drawing/2014/main" id="{33E368A9-70E4-346D-6FEA-F0D64A7358FD}"/>
              </a:ext>
            </a:extLst>
          </p:cNvPr>
          <p:cNvSpPr/>
          <p:nvPr/>
        </p:nvSpPr>
        <p:spPr>
          <a:xfrm>
            <a:off x="5245125" y="4092495"/>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一般</a:t>
            </a:r>
          </a:p>
        </p:txBody>
      </p:sp>
      <p:sp>
        <p:nvSpPr>
          <p:cNvPr id="6" name="矩形 5">
            <a:extLst>
              <a:ext uri="{FF2B5EF4-FFF2-40B4-BE49-F238E27FC236}">
                <a16:creationId xmlns:a16="http://schemas.microsoft.com/office/drawing/2014/main" id="{7E945E08-2ADF-4968-363C-6758BCD8CBF1}"/>
              </a:ext>
            </a:extLst>
          </p:cNvPr>
          <p:cNvSpPr/>
          <p:nvPr/>
        </p:nvSpPr>
        <p:spPr>
          <a:xfrm>
            <a:off x="3146749" y="3795804"/>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好看</a:t>
            </a:r>
          </a:p>
        </p:txBody>
      </p:sp>
      <p:sp>
        <p:nvSpPr>
          <p:cNvPr id="7" name="椭圆 6">
            <a:extLst>
              <a:ext uri="{FF2B5EF4-FFF2-40B4-BE49-F238E27FC236}">
                <a16:creationId xmlns:a16="http://schemas.microsoft.com/office/drawing/2014/main" id="{3DE92AED-0E54-8D5A-2192-C644BAC29096}"/>
              </a:ext>
            </a:extLst>
          </p:cNvPr>
          <p:cNvSpPr/>
          <p:nvPr/>
        </p:nvSpPr>
        <p:spPr>
          <a:xfrm>
            <a:off x="3280095" y="4419982"/>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800" b="1" dirty="0">
                <a:solidFill>
                  <a:schemeClr val="tx1"/>
                </a:solidFill>
              </a:rPr>
              <a:t>是</a:t>
            </a:r>
            <a:endParaRPr lang="zh-CN" altLang="en-US" b="1" dirty="0">
              <a:solidFill>
                <a:schemeClr val="tx1"/>
              </a:solidFill>
            </a:endParaRPr>
          </a:p>
        </p:txBody>
      </p:sp>
      <p:sp>
        <p:nvSpPr>
          <p:cNvPr id="8" name="菱形 7">
            <a:extLst>
              <a:ext uri="{FF2B5EF4-FFF2-40B4-BE49-F238E27FC236}">
                <a16:creationId xmlns:a16="http://schemas.microsoft.com/office/drawing/2014/main" id="{C8896AAC-A1AF-B8F7-595F-8E7D73895694}"/>
              </a:ext>
            </a:extLst>
          </p:cNvPr>
          <p:cNvSpPr/>
          <p:nvPr/>
        </p:nvSpPr>
        <p:spPr>
          <a:xfrm>
            <a:off x="4978432" y="4730245"/>
            <a:ext cx="1447762" cy="45718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性格</a:t>
            </a:r>
          </a:p>
        </p:txBody>
      </p:sp>
      <p:sp>
        <p:nvSpPr>
          <p:cNvPr id="9" name="矩形 8">
            <a:extLst>
              <a:ext uri="{FF2B5EF4-FFF2-40B4-BE49-F238E27FC236}">
                <a16:creationId xmlns:a16="http://schemas.microsoft.com/office/drawing/2014/main" id="{96FF903C-0FD3-12B1-FDED-4EBF75488094}"/>
              </a:ext>
            </a:extLst>
          </p:cNvPr>
          <p:cNvSpPr/>
          <p:nvPr/>
        </p:nvSpPr>
        <p:spPr>
          <a:xfrm>
            <a:off x="4112760" y="5365567"/>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好</a:t>
            </a:r>
          </a:p>
        </p:txBody>
      </p:sp>
      <p:sp>
        <p:nvSpPr>
          <p:cNvPr id="10" name="矩形 9">
            <a:extLst>
              <a:ext uri="{FF2B5EF4-FFF2-40B4-BE49-F238E27FC236}">
                <a16:creationId xmlns:a16="http://schemas.microsoft.com/office/drawing/2014/main" id="{210D8E2E-E60E-4E2F-7C7A-CE29748D48AC}"/>
              </a:ext>
            </a:extLst>
          </p:cNvPr>
          <p:cNvSpPr/>
          <p:nvPr/>
        </p:nvSpPr>
        <p:spPr>
          <a:xfrm>
            <a:off x="6464336" y="5365567"/>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不好</a:t>
            </a:r>
          </a:p>
        </p:txBody>
      </p:sp>
      <p:sp>
        <p:nvSpPr>
          <p:cNvPr id="11" name="菱形 10">
            <a:extLst>
              <a:ext uri="{FF2B5EF4-FFF2-40B4-BE49-F238E27FC236}">
                <a16:creationId xmlns:a16="http://schemas.microsoft.com/office/drawing/2014/main" id="{89ABFB0C-95AE-7EC7-0584-7EEB909BD4F9}"/>
              </a:ext>
            </a:extLst>
          </p:cNvPr>
          <p:cNvSpPr/>
          <p:nvPr/>
        </p:nvSpPr>
        <p:spPr>
          <a:xfrm>
            <a:off x="8083783" y="4090652"/>
            <a:ext cx="1447762" cy="45718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收入</a:t>
            </a:r>
          </a:p>
        </p:txBody>
      </p:sp>
      <p:sp>
        <p:nvSpPr>
          <p:cNvPr id="13" name="矩形 12">
            <a:extLst>
              <a:ext uri="{FF2B5EF4-FFF2-40B4-BE49-F238E27FC236}">
                <a16:creationId xmlns:a16="http://schemas.microsoft.com/office/drawing/2014/main" id="{AFB5ADF1-D6E9-4638-F651-7EE11F510B0F}"/>
              </a:ext>
            </a:extLst>
          </p:cNvPr>
          <p:cNvSpPr/>
          <p:nvPr/>
        </p:nvSpPr>
        <p:spPr>
          <a:xfrm>
            <a:off x="7368064" y="4730245"/>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高</a:t>
            </a:r>
          </a:p>
        </p:txBody>
      </p:sp>
      <p:sp>
        <p:nvSpPr>
          <p:cNvPr id="14" name="矩形 13">
            <a:extLst>
              <a:ext uri="{FF2B5EF4-FFF2-40B4-BE49-F238E27FC236}">
                <a16:creationId xmlns:a16="http://schemas.microsoft.com/office/drawing/2014/main" id="{3545899B-E767-34E2-5F8C-109EDE6F6BEB}"/>
              </a:ext>
            </a:extLst>
          </p:cNvPr>
          <p:cNvSpPr/>
          <p:nvPr/>
        </p:nvSpPr>
        <p:spPr>
          <a:xfrm>
            <a:off x="9234958" y="4730245"/>
            <a:ext cx="914376" cy="4571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低</a:t>
            </a:r>
          </a:p>
        </p:txBody>
      </p:sp>
      <p:cxnSp>
        <p:nvCxnSpPr>
          <p:cNvPr id="15" name="直接箭头连接符 14">
            <a:extLst>
              <a:ext uri="{FF2B5EF4-FFF2-40B4-BE49-F238E27FC236}">
                <a16:creationId xmlns:a16="http://schemas.microsoft.com/office/drawing/2014/main" id="{EB659E44-6EE8-53C7-8DBD-E7FA031B5EE3}"/>
              </a:ext>
            </a:extLst>
          </p:cNvPr>
          <p:cNvCxnSpPr>
            <a:stCxn id="2" idx="2"/>
            <a:endCxn id="3" idx="0"/>
          </p:cNvCxnSpPr>
          <p:nvPr/>
        </p:nvCxnSpPr>
        <p:spPr>
          <a:xfrm>
            <a:off x="5702313" y="3276612"/>
            <a:ext cx="0" cy="180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B648A719-2694-75E9-45F5-274204A763AE}"/>
              </a:ext>
            </a:extLst>
          </p:cNvPr>
          <p:cNvCxnSpPr>
            <a:stCxn id="3" idx="3"/>
            <a:endCxn id="4" idx="0"/>
          </p:cNvCxnSpPr>
          <p:nvPr/>
        </p:nvCxnSpPr>
        <p:spPr>
          <a:xfrm flipV="1">
            <a:off x="6426194" y="3457173"/>
            <a:ext cx="2381470" cy="228594"/>
          </a:xfrm>
          <a:prstGeom prst="bentConnector4">
            <a:avLst>
              <a:gd name="adj1" fmla="val 40401"/>
              <a:gd name="adj2" fmla="val 20000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98261A52-6B9C-391B-50AA-F58988A7F050}"/>
              </a:ext>
            </a:extLst>
          </p:cNvPr>
          <p:cNvCxnSpPr>
            <a:stCxn id="3" idx="1"/>
            <a:endCxn id="6" idx="0"/>
          </p:cNvCxnSpPr>
          <p:nvPr/>
        </p:nvCxnSpPr>
        <p:spPr>
          <a:xfrm rot="10800000" flipV="1">
            <a:off x="3603938" y="3685766"/>
            <a:ext cx="1374495" cy="1100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92E1A0F2-1CCB-1004-F6A3-D107C729B582}"/>
              </a:ext>
            </a:extLst>
          </p:cNvPr>
          <p:cNvCxnSpPr>
            <a:stCxn id="3" idx="2"/>
            <a:endCxn id="5" idx="0"/>
          </p:cNvCxnSpPr>
          <p:nvPr/>
        </p:nvCxnSpPr>
        <p:spPr>
          <a:xfrm>
            <a:off x="5702313" y="3914360"/>
            <a:ext cx="0" cy="178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CDD39D07-CE2B-1E0A-C971-CCF3BCB7AA65}"/>
              </a:ext>
            </a:extLst>
          </p:cNvPr>
          <p:cNvCxnSpPr>
            <a:stCxn id="5" idx="2"/>
            <a:endCxn id="8" idx="0"/>
          </p:cNvCxnSpPr>
          <p:nvPr/>
        </p:nvCxnSpPr>
        <p:spPr>
          <a:xfrm>
            <a:off x="5702313" y="4549682"/>
            <a:ext cx="0" cy="180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ACA281D8-A5F5-12A8-3C9F-E78FA416477B}"/>
              </a:ext>
            </a:extLst>
          </p:cNvPr>
          <p:cNvCxnSpPr>
            <a:stCxn id="8" idx="1"/>
            <a:endCxn id="9" idx="0"/>
          </p:cNvCxnSpPr>
          <p:nvPr/>
        </p:nvCxnSpPr>
        <p:spPr>
          <a:xfrm rot="10800000" flipV="1">
            <a:off x="4569948" y="4958839"/>
            <a:ext cx="408484" cy="4067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266ACD57-D5B9-EBDB-3598-EFBF4BA054ED}"/>
              </a:ext>
            </a:extLst>
          </p:cNvPr>
          <p:cNvCxnSpPr>
            <a:cxnSpLocks/>
            <a:stCxn id="8" idx="3"/>
            <a:endCxn id="10" idx="0"/>
          </p:cNvCxnSpPr>
          <p:nvPr/>
        </p:nvCxnSpPr>
        <p:spPr>
          <a:xfrm>
            <a:off x="6426194" y="4958839"/>
            <a:ext cx="495330" cy="4067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561C4DF-D467-BEDD-6241-6094B6E3E5CF}"/>
              </a:ext>
            </a:extLst>
          </p:cNvPr>
          <p:cNvCxnSpPr>
            <a:stCxn id="4" idx="2"/>
            <a:endCxn id="11" idx="0"/>
          </p:cNvCxnSpPr>
          <p:nvPr/>
        </p:nvCxnSpPr>
        <p:spPr>
          <a:xfrm>
            <a:off x="8807664" y="3914360"/>
            <a:ext cx="0" cy="176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F8FA53E1-7E83-A20B-1442-5665A49C29C3}"/>
              </a:ext>
            </a:extLst>
          </p:cNvPr>
          <p:cNvCxnSpPr>
            <a:stCxn id="11" idx="1"/>
            <a:endCxn id="13" idx="0"/>
          </p:cNvCxnSpPr>
          <p:nvPr/>
        </p:nvCxnSpPr>
        <p:spPr>
          <a:xfrm rot="10800000" flipV="1">
            <a:off x="7825253" y="4319245"/>
            <a:ext cx="258531" cy="4109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9E20D57B-3284-B5CA-DCAC-AFC96B3EC7D1}"/>
              </a:ext>
            </a:extLst>
          </p:cNvPr>
          <p:cNvCxnSpPr>
            <a:stCxn id="11" idx="3"/>
            <a:endCxn id="14" idx="0"/>
          </p:cNvCxnSpPr>
          <p:nvPr/>
        </p:nvCxnSpPr>
        <p:spPr>
          <a:xfrm>
            <a:off x="9531545" y="4319246"/>
            <a:ext cx="160601" cy="4109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椭圆 24">
            <a:extLst>
              <a:ext uri="{FF2B5EF4-FFF2-40B4-BE49-F238E27FC236}">
                <a16:creationId xmlns:a16="http://schemas.microsoft.com/office/drawing/2014/main" id="{43C6568D-BE76-20FB-C4BB-13D2CAE78B3F}"/>
              </a:ext>
            </a:extLst>
          </p:cNvPr>
          <p:cNvSpPr/>
          <p:nvPr/>
        </p:nvSpPr>
        <p:spPr>
          <a:xfrm>
            <a:off x="4246105" y="6007687"/>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800" b="1" dirty="0">
                <a:solidFill>
                  <a:schemeClr val="tx1"/>
                </a:solidFill>
              </a:rPr>
              <a:t>是</a:t>
            </a:r>
            <a:endParaRPr lang="zh-CN" altLang="en-US" b="1" dirty="0">
              <a:solidFill>
                <a:schemeClr val="tx1"/>
              </a:solidFill>
            </a:endParaRPr>
          </a:p>
        </p:txBody>
      </p:sp>
      <p:sp>
        <p:nvSpPr>
          <p:cNvPr id="26" name="椭圆 25">
            <a:extLst>
              <a:ext uri="{FF2B5EF4-FFF2-40B4-BE49-F238E27FC236}">
                <a16:creationId xmlns:a16="http://schemas.microsoft.com/office/drawing/2014/main" id="{80FA4A26-A3EE-DBCA-2196-A2FBC282C8D2}"/>
              </a:ext>
            </a:extLst>
          </p:cNvPr>
          <p:cNvSpPr/>
          <p:nvPr/>
        </p:nvSpPr>
        <p:spPr>
          <a:xfrm>
            <a:off x="6597682" y="6003317"/>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800" b="1" dirty="0">
                <a:solidFill>
                  <a:schemeClr val="tx1"/>
                </a:solidFill>
              </a:rPr>
              <a:t>否</a:t>
            </a:r>
            <a:endParaRPr lang="zh-CN" altLang="en-US" b="1" dirty="0">
              <a:solidFill>
                <a:schemeClr val="tx1"/>
              </a:solidFill>
            </a:endParaRPr>
          </a:p>
        </p:txBody>
      </p:sp>
      <p:sp>
        <p:nvSpPr>
          <p:cNvPr id="27" name="椭圆 26">
            <a:extLst>
              <a:ext uri="{FF2B5EF4-FFF2-40B4-BE49-F238E27FC236}">
                <a16:creationId xmlns:a16="http://schemas.microsoft.com/office/drawing/2014/main" id="{735E1BF4-50FC-A431-57AD-1BF4D8817384}"/>
              </a:ext>
            </a:extLst>
          </p:cNvPr>
          <p:cNvSpPr/>
          <p:nvPr/>
        </p:nvSpPr>
        <p:spPr>
          <a:xfrm>
            <a:off x="7501410" y="5268475"/>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800" b="1" dirty="0">
                <a:solidFill>
                  <a:schemeClr val="tx1"/>
                </a:solidFill>
              </a:rPr>
              <a:t>是</a:t>
            </a:r>
            <a:endParaRPr lang="zh-CN" altLang="en-US" b="1" dirty="0">
              <a:solidFill>
                <a:schemeClr val="tx1"/>
              </a:solidFill>
            </a:endParaRPr>
          </a:p>
        </p:txBody>
      </p:sp>
      <p:sp>
        <p:nvSpPr>
          <p:cNvPr id="28" name="椭圆 27">
            <a:extLst>
              <a:ext uri="{FF2B5EF4-FFF2-40B4-BE49-F238E27FC236}">
                <a16:creationId xmlns:a16="http://schemas.microsoft.com/office/drawing/2014/main" id="{3535BD38-AD31-F65E-0115-8DA62E39475C}"/>
              </a:ext>
            </a:extLst>
          </p:cNvPr>
          <p:cNvSpPr/>
          <p:nvPr/>
        </p:nvSpPr>
        <p:spPr>
          <a:xfrm>
            <a:off x="9368020" y="5268475"/>
            <a:ext cx="647683" cy="647683"/>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800" b="1" dirty="0">
                <a:solidFill>
                  <a:schemeClr val="tx1"/>
                </a:solidFill>
              </a:rPr>
              <a:t>否</a:t>
            </a:r>
            <a:endParaRPr lang="zh-CN" altLang="en-US" b="1" dirty="0">
              <a:solidFill>
                <a:schemeClr val="tx1"/>
              </a:solidFill>
            </a:endParaRPr>
          </a:p>
        </p:txBody>
      </p:sp>
      <p:sp>
        <p:nvSpPr>
          <p:cNvPr id="29" name="文本框 28">
            <a:extLst>
              <a:ext uri="{FF2B5EF4-FFF2-40B4-BE49-F238E27FC236}">
                <a16:creationId xmlns:a16="http://schemas.microsoft.com/office/drawing/2014/main" id="{CB525018-2136-3E29-04F6-4DA8934F2421}"/>
              </a:ext>
            </a:extLst>
          </p:cNvPr>
          <p:cNvSpPr txBox="1"/>
          <p:nvPr/>
        </p:nvSpPr>
        <p:spPr>
          <a:xfrm>
            <a:off x="1774101" y="847100"/>
            <a:ext cx="2666930" cy="1200329"/>
          </a:xfrm>
          <a:prstGeom prst="rect">
            <a:avLst/>
          </a:prstGeom>
          <a:noFill/>
          <a:ln w="19050">
            <a:solidFill>
              <a:schemeClr val="tx1"/>
            </a:solidFill>
          </a:ln>
        </p:spPr>
        <p:txBody>
          <a:bodyPr wrap="square">
            <a:spAutoFit/>
          </a:bodyPr>
          <a:lstStyle/>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：给你介绍一位男士。</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：好看吗？</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latin typeface="Times New Roman" panose="02020603050405020304" pitchFamily="18" charset="0"/>
                <a:cs typeface="Times New Roman" panose="02020603050405020304" pitchFamily="18" charset="0"/>
              </a:rPr>
              <a:t>好看</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：见！</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4F67495A-CAA9-1820-0F84-B00DD4CA1309}"/>
              </a:ext>
            </a:extLst>
          </p:cNvPr>
          <p:cNvSpPr txBox="1"/>
          <p:nvPr/>
        </p:nvSpPr>
        <p:spPr>
          <a:xfrm>
            <a:off x="4893788" y="843464"/>
            <a:ext cx="2666930" cy="1754326"/>
          </a:xfrm>
          <a:prstGeom prst="rect">
            <a:avLst/>
          </a:prstGeom>
          <a:noFill/>
          <a:ln w="19050">
            <a:solidFill>
              <a:schemeClr val="tx1"/>
            </a:solidFill>
          </a:ln>
        </p:spPr>
        <p:txBody>
          <a:bodyPr wrap="square">
            <a:spAutoFit/>
          </a:bodyPr>
          <a:lstStyle/>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：给你介绍一位男士。</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：好看吗？</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一般</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性格好吗</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好</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：见！</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C8397ED7-80D8-F938-8912-7BC67A37BC10}"/>
              </a:ext>
            </a:extLst>
          </p:cNvPr>
          <p:cNvSpPr txBox="1"/>
          <p:nvPr/>
        </p:nvSpPr>
        <p:spPr>
          <a:xfrm>
            <a:off x="7931387" y="843464"/>
            <a:ext cx="2666930" cy="1754326"/>
          </a:xfrm>
          <a:prstGeom prst="rect">
            <a:avLst/>
          </a:prstGeom>
          <a:noFill/>
          <a:ln w="19050">
            <a:solidFill>
              <a:schemeClr val="tx1"/>
            </a:solidFill>
          </a:ln>
        </p:spPr>
        <p:txBody>
          <a:bodyPr wrap="square">
            <a:spAutoFit/>
          </a:bodyPr>
          <a:lstStyle/>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：给你介绍一位男士。</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：好看吗？</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难看</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收入高吗</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latin typeface="Times New Roman" panose="02020603050405020304" pitchFamily="18" charset="0"/>
                <a:cs typeface="Times New Roman" panose="02020603050405020304" pitchFamily="18" charset="0"/>
              </a:rPr>
              <a:t>高</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：见！</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6602491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3110BA28-D1CB-B8C9-25E4-A31DD16748AF}"/>
                  </a:ext>
                </a:extLst>
              </p:cNvPr>
              <p:cNvSpPr txBox="1">
                <a:spLocks noChangeArrowheads="1"/>
              </p:cNvSpPr>
              <p:nvPr/>
            </p:nvSpPr>
            <p:spPr bwMode="auto">
              <a:xfrm>
                <a:off x="1766288" y="1485650"/>
                <a:ext cx="8659424" cy="33623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lvl="1" indent="0" eaLnBrk="1" hangingPunct="1">
                  <a:lnSpc>
                    <a:spcPct val="130000"/>
                  </a:lnSpc>
                  <a:buNone/>
                  <a:defRPr/>
                </a:pPr>
                <a:r>
                  <a:rPr lang="zh-CN" altLang="en-US" dirty="0">
                    <a:solidFill>
                      <a:schemeClr val="tx1"/>
                    </a:solidFill>
                    <a:latin typeface="微软雅黑" panose="020B0503020204020204" pitchFamily="34" charset="-122"/>
                    <a:ea typeface="微软雅黑" panose="020B0503020204020204" pitchFamily="34" charset="-122"/>
                  </a:rPr>
                  <a:t>分类的相关知识：</a:t>
                </a:r>
                <a:endParaRPr lang="en-US" altLang="zh-CN" dirty="0">
                  <a:solidFill>
                    <a:schemeClr val="tx1"/>
                  </a:solidFill>
                  <a:latin typeface="微软雅黑" panose="020B0503020204020204" pitchFamily="34" charset="-122"/>
                  <a:ea typeface="微软雅黑" panose="020B0503020204020204" pitchFamily="34" charset="-122"/>
                </a:endParaRPr>
              </a:p>
              <a:p>
                <a:pPr lvl="1" eaLnBrk="1" hangingPunct="1">
                  <a:lnSpc>
                    <a:spcPct val="130000"/>
                  </a:lnSpc>
                  <a:defRPr/>
                </a:pPr>
                <a:r>
                  <a:rPr lang="en-US" altLang="zh-CN" b="1" dirty="0">
                    <a:solidFill>
                      <a:schemeClr val="tx1"/>
                    </a:solidFill>
                    <a:latin typeface="+mn-ea"/>
                    <a:ea typeface="+mn-ea"/>
                  </a:rPr>
                  <a:t>1</a:t>
                </a:r>
                <a:r>
                  <a:rPr lang="zh-CN" altLang="en-US" b="1" dirty="0">
                    <a:solidFill>
                      <a:schemeClr val="tx1"/>
                    </a:solidFill>
                    <a:latin typeface="+mn-ea"/>
                    <a:ea typeface="+mn-ea"/>
                  </a:rPr>
                  <a:t>、信息熵</a:t>
                </a:r>
                <a:endParaRPr lang="en-US" altLang="zh-CN" b="1" dirty="0">
                  <a:solidFill>
                    <a:schemeClr val="tx1"/>
                  </a:solidFill>
                  <a:latin typeface="+mn-ea"/>
                  <a:ea typeface="+mn-ea"/>
                </a:endParaRPr>
              </a:p>
              <a:p>
                <a:pPr marL="0" indent="0">
                  <a:buNone/>
                </a:pPr>
                <a:r>
                  <a:rPr lang="en-US" altLang="zh-CN" dirty="0">
                    <a:solidFill>
                      <a:schemeClr val="tx1"/>
                    </a:solidFill>
                  </a:rPr>
                  <a:t>	</a:t>
                </a:r>
                <a:r>
                  <a:rPr lang="zh-CN" altLang="zh-CN" dirty="0">
                    <a:solidFill>
                      <a:schemeClr val="tx1"/>
                    </a:solidFill>
                  </a:rPr>
                  <a:t>信息熵用来衡量事件的不确定性的大小，计算公式如</a:t>
                </a:r>
                <a:r>
                  <a:rPr lang="zh-CN" altLang="en-US" dirty="0">
                    <a:solidFill>
                      <a:schemeClr val="tx1"/>
                    </a:solidFill>
                  </a:rPr>
                  <a:t>下</a:t>
                </a:r>
                <a:r>
                  <a:rPr lang="zh-CN" altLang="zh-CN" dirty="0">
                    <a:solidFill>
                      <a:schemeClr val="tx1"/>
                    </a:solidFill>
                  </a:rPr>
                  <a:t>：</a:t>
                </a:r>
              </a:p>
              <a:p>
                <a:pPr marL="0" indent="0">
                  <a:buNone/>
                </a:pPr>
                <a:r>
                  <a:rPr lang="en-US" altLang="zh-CN" dirty="0">
                    <a:solidFill>
                      <a:schemeClr val="tx1"/>
                    </a:solidFill>
                  </a:rPr>
                  <a:t>			   </a:t>
                </a:r>
                <a14:m>
                  <m:oMath xmlns:m="http://schemas.openxmlformats.org/officeDocument/2006/math">
                    <m:r>
                      <a:rPr lang="en-US" altLang="zh-CN" i="1">
                        <a:solidFill>
                          <a:schemeClr val="tx1"/>
                        </a:solidFill>
                        <a:latin typeface="Cambria Math" panose="02040503050406030204" pitchFamily="18" charset="0"/>
                      </a:rPr>
                      <m:t>𝐼𝑛𝑓𝑜</m:t>
                    </m:r>
                    <m:r>
                      <a:rPr lang="en-US" altLang="zh-CN" b="0" i="1" smtClean="0">
                        <a:solidFill>
                          <a:schemeClr val="tx1"/>
                        </a:solidFill>
                        <a:latin typeface="Cambria Math" panose="02040503050406030204" pitchFamily="18" charset="0"/>
                      </a:rPr>
                      <m:t>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𝑥</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𝑝</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𝑥</m:t>
                        </m:r>
                      </m:e>
                    </m:d>
                    <m:r>
                      <a:rPr lang="zh-CN"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r>
                      <a:rPr lang="en-US" altLang="zh-CN" i="1">
                        <a:solidFill>
                          <a:schemeClr val="tx1"/>
                        </a:solidFill>
                        <a:latin typeface="Cambria Math" panose="02040503050406030204" pitchFamily="18" charset="0"/>
                      </a:rPr>
                      <m:t>𝑝</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𝑥</m:t>
                    </m:r>
                    <m:r>
                      <a:rPr lang="en-US" altLang="zh-CN" i="1">
                        <a:solidFill>
                          <a:schemeClr val="tx1"/>
                        </a:solidFill>
                        <a:latin typeface="Cambria Math" panose="02040503050406030204" pitchFamily="18" charset="0"/>
                      </a:rPr>
                      <m:t>)</m:t>
                    </m:r>
                  </m:oMath>
                </a14:m>
                <a:r>
                  <a:rPr lang="en-US" altLang="zh-CN" sz="1800" dirty="0">
                    <a:solidFill>
                      <a:schemeClr val="tx1"/>
                    </a:solidFill>
                  </a:rPr>
                  <a:t> </a:t>
                </a:r>
              </a:p>
              <a:p>
                <a:pPr marL="0" indent="0">
                  <a:buNone/>
                </a:pPr>
                <a:r>
                  <a:rPr lang="en-US" altLang="zh-CN" dirty="0">
                    <a:solidFill>
                      <a:schemeClr val="tx1"/>
                    </a:solidFill>
                  </a:rPr>
                  <a:t>	</a:t>
                </a:r>
                <a:r>
                  <a:rPr lang="zh-CN" altLang="zh-CN" dirty="0">
                    <a:solidFill>
                      <a:schemeClr val="tx1"/>
                    </a:solidFill>
                  </a:rPr>
                  <a:t>信息熵具有可加性，即多个期望信息，计算公式如</a:t>
                </a:r>
                <a:r>
                  <a:rPr lang="zh-CN" altLang="en-US" dirty="0">
                    <a:solidFill>
                      <a:schemeClr val="tx1"/>
                    </a:solidFill>
                  </a:rPr>
                  <a:t>下：</a:t>
                </a:r>
                <a:endParaRPr lang="en-US"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𝑋</m:t>
                          </m:r>
                        </m:e>
                      </m:d>
                      <m:r>
                        <a:rPr lang="en-US" altLang="zh-CN" i="1">
                          <a:solidFill>
                            <a:schemeClr val="tx1"/>
                          </a:solidFill>
                          <a:latin typeface="Cambria Math" panose="02040503050406030204" pitchFamily="18" charset="0"/>
                        </a:rPr>
                        <m:t>=−</m:t>
                      </m:r>
                      <m:nary>
                        <m:naryPr>
                          <m:chr m:val="∑"/>
                          <m:limLoc m:val="undOvr"/>
                          <m:ctrlPr>
                            <a:rPr lang="zh-CN" altLang="zh-CN" i="1">
                              <a:solidFill>
                                <a:schemeClr val="tx1"/>
                              </a:solidFill>
                              <a:latin typeface="Cambria Math" panose="02040503050406030204" pitchFamily="18" charset="0"/>
                            </a:rPr>
                          </m:ctrlPr>
                        </m:naryPr>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𝑚</m:t>
                          </m:r>
                        </m:sup>
                        <m:e>
                          <m:r>
                            <a:rPr lang="en-US" altLang="zh-CN" i="1">
                              <a:solidFill>
                                <a:schemeClr val="tx1"/>
                              </a:solidFill>
                              <a:latin typeface="Cambria Math" panose="02040503050406030204" pitchFamily="18" charset="0"/>
                            </a:rPr>
                            <m:t>𝑝</m:t>
                          </m:r>
                          <m:d>
                            <m:dPr>
                              <m:ctrlPr>
                                <a:rPr lang="zh-CN" altLang="zh-CN" i="1">
                                  <a:solidFill>
                                    <a:schemeClr val="tx1"/>
                                  </a:solidFill>
                                  <a:latin typeface="Cambria Math" panose="02040503050406030204" pitchFamily="18" charset="0"/>
                                </a:rPr>
                              </m:ctrlPr>
                            </m:dPr>
                            <m:e>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𝑥</m:t>
                                  </m:r>
                                </m:e>
                                <m:sub>
                                  <m:r>
                                    <a:rPr lang="en-US" altLang="zh-CN" i="1">
                                      <a:solidFill>
                                        <a:schemeClr val="tx1"/>
                                      </a:solidFill>
                                      <a:latin typeface="Cambria Math" panose="02040503050406030204" pitchFamily="18" charset="0"/>
                                    </a:rPr>
                                    <m:t>𝑖</m:t>
                                  </m:r>
                                </m:sub>
                              </m:sSub>
                            </m:e>
                          </m:d>
                          <m:r>
                            <a:rPr lang="zh-CN"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r>
                            <a:rPr lang="en-US" altLang="zh-CN" i="1">
                              <a:solidFill>
                                <a:schemeClr val="tx1"/>
                              </a:solidFill>
                              <a:latin typeface="Cambria Math" panose="02040503050406030204" pitchFamily="18" charset="0"/>
                            </a:rPr>
                            <m:t>𝑝</m:t>
                          </m:r>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𝑥</m:t>
                              </m:r>
                            </m:e>
                            <m:sub>
                              <m:r>
                                <a:rPr lang="en-US" altLang="zh-CN" i="1">
                                  <a:solidFill>
                                    <a:schemeClr val="tx1"/>
                                  </a:solidFill>
                                  <a:latin typeface="Cambria Math" panose="02040503050406030204" pitchFamily="18" charset="0"/>
                                </a:rPr>
                                <m:t>𝑖</m:t>
                              </m:r>
                            </m:sub>
                          </m:sSub>
                          <m:r>
                            <a:rPr lang="en-US" altLang="zh-CN" i="1">
                              <a:solidFill>
                                <a:schemeClr val="tx1"/>
                              </a:solidFill>
                              <a:latin typeface="Cambria Math" panose="02040503050406030204" pitchFamily="18" charset="0"/>
                            </a:rPr>
                            <m:t>)</m:t>
                          </m:r>
                        </m:e>
                      </m:nary>
                    </m:oMath>
                  </m:oMathPara>
                </a14:m>
                <a:endParaRPr lang="en-US" altLang="zh-CN" dirty="0">
                  <a:solidFill>
                    <a:schemeClr val="tx1"/>
                  </a:solidFill>
                </a:endParaRPr>
              </a:p>
            </p:txBody>
          </p:sp>
        </mc:Choice>
        <mc:Fallback xmlns="">
          <p:sp>
            <p:nvSpPr>
              <p:cNvPr id="2" name="Rectangle 3">
                <a:extLst>
                  <a:ext uri="{FF2B5EF4-FFF2-40B4-BE49-F238E27FC236}">
                    <a16:creationId xmlns:a16="http://schemas.microsoft.com/office/drawing/2014/main" id="{3110BA28-D1CB-B8C9-25E4-A31DD16748AF}"/>
                  </a:ext>
                </a:extLst>
              </p:cNvPr>
              <p:cNvSpPr txBox="1">
                <a:spLocks noRot="1" noChangeAspect="1" noMove="1" noResize="1" noEditPoints="1" noAdjustHandles="1" noChangeArrowheads="1" noChangeShapeType="1" noTextEdit="1"/>
              </p:cNvSpPr>
              <p:nvPr/>
            </p:nvSpPr>
            <p:spPr bwMode="auto">
              <a:xfrm>
                <a:off x="1766288" y="1485650"/>
                <a:ext cx="8659424" cy="3362303"/>
              </a:xfrm>
              <a:prstGeom prst="rect">
                <a:avLst/>
              </a:prstGeom>
              <a:blipFill>
                <a:blip r:embed="rId3"/>
                <a:stretch>
                  <a:fillRect l="-7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38576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C6B00E11-EF1B-0383-16CA-7BAC1CDEAB6E}"/>
                  </a:ext>
                </a:extLst>
              </p:cNvPr>
              <p:cNvSpPr txBox="1">
                <a:spLocks noChangeArrowheads="1"/>
              </p:cNvSpPr>
              <p:nvPr/>
            </p:nvSpPr>
            <p:spPr bwMode="auto">
              <a:xfrm>
                <a:off x="1943209" y="1021506"/>
                <a:ext cx="8305582" cy="583649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lvl="1" indent="0" eaLnBrk="1" hangingPunct="1">
                  <a:lnSpc>
                    <a:spcPct val="130000"/>
                  </a:lnSpc>
                  <a:buNone/>
                  <a:defRPr/>
                </a:pPr>
                <a:r>
                  <a:rPr lang="zh-CN" altLang="en-US" dirty="0">
                    <a:solidFill>
                      <a:schemeClr val="tx1"/>
                    </a:solidFill>
                    <a:latin typeface="微软雅黑" panose="020B0503020204020204" pitchFamily="34" charset="-122"/>
                    <a:ea typeface="微软雅黑" panose="020B0503020204020204" pitchFamily="34" charset="-122"/>
                  </a:rPr>
                  <a:t>分类的相关知识：</a:t>
                </a:r>
                <a:endParaRPr lang="en-US" altLang="zh-CN" dirty="0">
                  <a:solidFill>
                    <a:schemeClr val="tx1"/>
                  </a:solidFill>
                  <a:latin typeface="微软雅黑" panose="020B0503020204020204" pitchFamily="34" charset="-122"/>
                  <a:ea typeface="微软雅黑" panose="020B0503020204020204" pitchFamily="34" charset="-122"/>
                </a:endParaRPr>
              </a:p>
              <a:p>
                <a:pPr lvl="1" eaLnBrk="1" hangingPunct="1">
                  <a:lnSpc>
                    <a:spcPct val="130000"/>
                  </a:lnSpc>
                  <a:defRPr/>
                </a:pPr>
                <a:r>
                  <a:rPr lang="en-US" altLang="zh-CN" b="1" dirty="0">
                    <a:solidFill>
                      <a:schemeClr val="tx1"/>
                    </a:solidFill>
                    <a:latin typeface="+mn-ea"/>
                    <a:ea typeface="+mn-ea"/>
                  </a:rPr>
                  <a:t>2</a:t>
                </a:r>
                <a:r>
                  <a:rPr lang="zh-CN" altLang="en-US" b="1" dirty="0">
                    <a:solidFill>
                      <a:schemeClr val="tx1"/>
                    </a:solidFill>
                    <a:latin typeface="+mn-ea"/>
                    <a:ea typeface="+mn-ea"/>
                  </a:rPr>
                  <a:t>、</a:t>
                </a:r>
                <a:r>
                  <a:rPr lang="zh-CN" altLang="zh-CN" b="1" dirty="0">
                    <a:solidFill>
                      <a:schemeClr val="tx1"/>
                    </a:solidFill>
                    <a:latin typeface="+mn-ea"/>
                    <a:ea typeface="+mn-ea"/>
                  </a:rPr>
                  <a:t>信息增益</a:t>
                </a:r>
                <a:endParaRPr lang="en-US" altLang="zh-CN" b="1" dirty="0">
                  <a:solidFill>
                    <a:schemeClr val="tx1"/>
                  </a:solidFill>
                  <a:latin typeface="+mn-ea"/>
                  <a:ea typeface="+mn-ea"/>
                </a:endParaRPr>
              </a:p>
              <a:p>
                <a:pPr marL="457200" lvl="1" indent="0" eaLnBrk="1" hangingPunct="1">
                  <a:lnSpc>
                    <a:spcPct val="130000"/>
                  </a:lnSpc>
                  <a:buNone/>
                  <a:defRPr/>
                </a:pPr>
                <a:r>
                  <a:rPr lang="en-US" altLang="zh-CN" dirty="0">
                    <a:solidFill>
                      <a:schemeClr val="tx1"/>
                    </a:solidFill>
                    <a:ea typeface="微软雅黑" panose="020B0503020204020204" pitchFamily="34" charset="-122"/>
                  </a:rPr>
                  <a:t>	</a:t>
                </a:r>
                <a:r>
                  <a:rPr lang="zh-CN" altLang="zh-CN" dirty="0">
                    <a:solidFill>
                      <a:schemeClr val="tx1"/>
                    </a:solidFill>
                    <a:ea typeface="微软雅黑" panose="020B0503020204020204" pitchFamily="34" charset="-122"/>
                  </a:rPr>
                  <a:t>信息增益表示某一特征的信息对类标签的不确定性减少的程度。</a:t>
                </a:r>
                <a:endParaRPr lang="en-US" altLang="zh-CN" dirty="0">
                  <a:solidFill>
                    <a:schemeClr val="tx1"/>
                  </a:solidFill>
                  <a:ea typeface="微软雅黑" panose="020B0503020204020204" pitchFamily="34" charset="-122"/>
                </a:endParaRPr>
              </a:p>
              <a:p>
                <a:pPr marL="457200" lvl="1" indent="0" eaLnBrk="1" hangingPunct="1">
                  <a:lnSpc>
                    <a:spcPct val="130000"/>
                  </a:lnSpc>
                  <a:buNone/>
                  <a:defRPr/>
                </a:pPr>
                <a:r>
                  <a:rPr lang="en-US" altLang="zh-CN" dirty="0">
                    <a:solidFill>
                      <a:schemeClr val="tx1"/>
                    </a:solidFill>
                    <a:ea typeface="微软雅黑" panose="020B0503020204020204" pitchFamily="34" charset="-122"/>
                  </a:rPr>
                  <a:t>                    </a:t>
                </a:r>
                <a14:m>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e>
                        <m:r>
                          <a:rPr lang="en-US" altLang="zh-CN" i="1">
                            <a:solidFill>
                              <a:schemeClr val="tx1"/>
                            </a:solidFill>
                            <a:latin typeface="Cambria Math" panose="02040503050406030204" pitchFamily="18" charset="0"/>
                          </a:rPr>
                          <m:t>𝐴</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𝐴</m:t>
                        </m:r>
                      </m:e>
                    </m:d>
                  </m:oMath>
                </a14:m>
                <a:endParaRPr lang="zh-CN" altLang="zh-CN" dirty="0">
                  <a:solidFill>
                    <a:schemeClr val="tx1"/>
                  </a:solidFill>
                </a:endParaRPr>
              </a:p>
              <a:p>
                <a:pPr marL="0" indent="0">
                  <a:buNone/>
                </a:pPr>
                <a:r>
                  <a:rPr lang="zh-CN" altLang="zh-CN" sz="2400" dirty="0">
                    <a:solidFill>
                      <a:schemeClr val="tx1"/>
                    </a:solidFill>
                    <a:latin typeface="Calibri" panose="020F0502020204030204" pitchFamily="34" charset="0"/>
                    <a:ea typeface="宋体" panose="02010600030101010101" pitchFamily="2" charset="-122"/>
                  </a:rPr>
                  <a:t>其中</a:t>
                </a:r>
                <a14:m>
                  <m:oMath xmlns:m="http://schemas.openxmlformats.org/officeDocument/2006/math">
                    <m:r>
                      <a:rPr lang="en-US" altLang="zh-CN" sz="2400" i="1">
                        <a:solidFill>
                          <a:schemeClr val="tx1"/>
                        </a:solidFill>
                        <a:latin typeface="Cambria Math" panose="02040503050406030204" pitchFamily="18" charset="0"/>
                        <a:ea typeface="宋体" panose="02010600030101010101" pitchFamily="2" charset="-122"/>
                      </a:rPr>
                      <m:t>𝐼𝑛𝑓𝑜𝑟</m:t>
                    </m:r>
                    <m:d>
                      <m:dPr>
                        <m:ctrlPr>
                          <a:rPr lang="zh-CN" altLang="zh-CN" sz="2400" i="1">
                            <a:solidFill>
                              <a:schemeClr val="tx1"/>
                            </a:solidFill>
                            <a:latin typeface="Cambria Math" panose="02040503050406030204" pitchFamily="18" charset="0"/>
                            <a:ea typeface="宋体" panose="02010600030101010101" pitchFamily="2" charset="-122"/>
                          </a:rPr>
                        </m:ctrlPr>
                      </m:dPr>
                      <m:e>
                        <m:r>
                          <a:rPr lang="en-US" altLang="zh-CN" sz="2400" i="1">
                            <a:solidFill>
                              <a:schemeClr val="tx1"/>
                            </a:solidFill>
                            <a:latin typeface="Cambria Math" panose="02040503050406030204" pitchFamily="18" charset="0"/>
                            <a:ea typeface="宋体" panose="02010600030101010101" pitchFamily="2" charset="-122"/>
                          </a:rPr>
                          <m:t>𝐷</m:t>
                        </m:r>
                        <m:r>
                          <a:rPr lang="en-US" altLang="zh-CN" sz="2400" i="1">
                            <a:solidFill>
                              <a:schemeClr val="tx1"/>
                            </a:solidFill>
                            <a:latin typeface="Cambria Math" panose="02040503050406030204" pitchFamily="18" charset="0"/>
                            <a:ea typeface="宋体" panose="02010600030101010101" pitchFamily="2" charset="-122"/>
                          </a:rPr>
                          <m:t>|</m:t>
                        </m:r>
                        <m:r>
                          <a:rPr lang="en-US" altLang="zh-CN" sz="2400" i="1">
                            <a:solidFill>
                              <a:schemeClr val="tx1"/>
                            </a:solidFill>
                            <a:latin typeface="Cambria Math" panose="02040503050406030204" pitchFamily="18" charset="0"/>
                            <a:ea typeface="宋体" panose="02010600030101010101" pitchFamily="2" charset="-122"/>
                          </a:rPr>
                          <m:t>𝐴</m:t>
                        </m:r>
                      </m:e>
                    </m:d>
                  </m:oMath>
                </a14:m>
                <a:r>
                  <a:rPr lang="zh-CN" altLang="zh-CN" sz="2400" dirty="0">
                    <a:solidFill>
                      <a:schemeClr val="tx1"/>
                    </a:solidFill>
                    <a:latin typeface="Calibri" panose="020F0502020204030204" pitchFamily="34" charset="0"/>
                    <a:ea typeface="宋体" panose="02010600030101010101" pitchFamily="2" charset="-122"/>
                  </a:rPr>
                  <a:t>是在特征</a:t>
                </a:r>
                <a:r>
                  <a:rPr lang="en-US" altLang="zh-CN" sz="2400" i="1" dirty="0">
                    <a:solidFill>
                      <a:schemeClr val="tx1"/>
                    </a:solidFill>
                    <a:latin typeface="Calibri" panose="020F0502020204030204" pitchFamily="34" charset="0"/>
                    <a:ea typeface="宋体" panose="02010600030101010101" pitchFamily="2" charset="-122"/>
                  </a:rPr>
                  <a:t>A</a:t>
                </a:r>
                <a:r>
                  <a:rPr lang="zh-CN" altLang="zh-CN" sz="2400" dirty="0">
                    <a:solidFill>
                      <a:schemeClr val="tx1"/>
                    </a:solidFill>
                    <a:latin typeface="Calibri" panose="020F0502020204030204" pitchFamily="34" charset="0"/>
                    <a:ea typeface="宋体" panose="02010600030101010101" pitchFamily="2" charset="-122"/>
                  </a:rPr>
                  <a:t>给定条件下对数据集合</a:t>
                </a:r>
                <a:r>
                  <a:rPr lang="en-US" altLang="zh-CN" sz="2400" i="1" dirty="0">
                    <a:solidFill>
                      <a:schemeClr val="tx1"/>
                    </a:solidFill>
                    <a:latin typeface="Calibri" panose="020F0502020204030204" pitchFamily="34" charset="0"/>
                    <a:ea typeface="宋体" panose="02010600030101010101" pitchFamily="2" charset="-122"/>
                  </a:rPr>
                  <a:t>D</a:t>
                </a:r>
                <a:r>
                  <a:rPr lang="zh-CN" altLang="zh-CN" sz="2400" dirty="0">
                    <a:solidFill>
                      <a:schemeClr val="tx1"/>
                    </a:solidFill>
                    <a:latin typeface="Calibri" panose="020F0502020204030204" pitchFamily="34" charset="0"/>
                    <a:ea typeface="宋体" panose="02010600030101010101" pitchFamily="2" charset="-122"/>
                  </a:rPr>
                  <a:t>进行划分所需要的期望信息，它的值越小表示分区的纯度越高，计算公式如</a:t>
                </a:r>
                <a:r>
                  <a:rPr lang="zh-CN" altLang="en-US" sz="2400" dirty="0">
                    <a:solidFill>
                      <a:schemeClr val="tx1"/>
                    </a:solidFill>
                    <a:latin typeface="Calibri" panose="020F0502020204030204" pitchFamily="34" charset="0"/>
                    <a:ea typeface="宋体" panose="02010600030101010101" pitchFamily="2" charset="-122"/>
                  </a:rPr>
                  <a:t>下</a:t>
                </a:r>
                <a:r>
                  <a:rPr lang="zh-CN" altLang="zh-CN" sz="2400" dirty="0">
                    <a:solidFill>
                      <a:schemeClr val="tx1"/>
                    </a:solidFill>
                    <a:latin typeface="Calibri" panose="020F0502020204030204" pitchFamily="34" charset="0"/>
                    <a:ea typeface="宋体" panose="02010600030101010101" pitchFamily="2" charset="-122"/>
                  </a:rPr>
                  <a:t>所示。</a:t>
                </a:r>
              </a:p>
              <a:p>
                <a:pPr marL="0" indent="0" latinLnBrk="1">
                  <a:buNone/>
                </a:pPr>
                <a:r>
                  <a:rPr lang="en-US" altLang="zh-CN" sz="2400" dirty="0">
                    <a:solidFill>
                      <a:schemeClr val="tx1"/>
                    </a:solidFill>
                    <a:ea typeface="宋体" panose="02010600030101010101" pitchFamily="2" charset="-122"/>
                  </a:rPr>
                  <a:t>                   </a:t>
                </a:r>
                <a14:m>
                  <m:oMath xmlns:m="http://schemas.openxmlformats.org/officeDocument/2006/math">
                    <m:r>
                      <a:rPr lang="en-US" altLang="zh-CN" sz="2400" i="1">
                        <a:solidFill>
                          <a:schemeClr val="tx1"/>
                        </a:solidFill>
                        <a:latin typeface="Cambria Math" panose="02040503050406030204" pitchFamily="18" charset="0"/>
                        <a:ea typeface="宋体" panose="02010600030101010101" pitchFamily="2" charset="-122"/>
                      </a:rPr>
                      <m:t>𝐼𝑛𝑓𝑜𝑟</m:t>
                    </m:r>
                    <m:d>
                      <m:dPr>
                        <m:ctrlPr>
                          <a:rPr lang="zh-CN" altLang="zh-CN" sz="2400" i="1">
                            <a:solidFill>
                              <a:schemeClr val="tx1"/>
                            </a:solidFill>
                            <a:latin typeface="Cambria Math" panose="02040503050406030204" pitchFamily="18" charset="0"/>
                            <a:ea typeface="宋体" panose="02010600030101010101" pitchFamily="2" charset="-122"/>
                          </a:rPr>
                        </m:ctrlPr>
                      </m:dPr>
                      <m:e>
                        <m:r>
                          <a:rPr lang="en-US" altLang="zh-CN" sz="2400" i="1">
                            <a:solidFill>
                              <a:schemeClr val="tx1"/>
                            </a:solidFill>
                            <a:latin typeface="Cambria Math" panose="02040503050406030204" pitchFamily="18" charset="0"/>
                            <a:ea typeface="宋体" panose="02010600030101010101" pitchFamily="2" charset="-122"/>
                          </a:rPr>
                          <m:t>𝐷</m:t>
                        </m:r>
                        <m:r>
                          <a:rPr lang="en-US" altLang="zh-CN" sz="2400" i="1">
                            <a:solidFill>
                              <a:schemeClr val="tx1"/>
                            </a:solidFill>
                            <a:latin typeface="Cambria Math" panose="02040503050406030204" pitchFamily="18" charset="0"/>
                            <a:ea typeface="宋体" panose="02010600030101010101" pitchFamily="2" charset="-122"/>
                          </a:rPr>
                          <m:t>|</m:t>
                        </m:r>
                        <m:r>
                          <a:rPr lang="en-US" altLang="zh-CN" sz="2400" i="1">
                            <a:solidFill>
                              <a:schemeClr val="tx1"/>
                            </a:solidFill>
                            <a:latin typeface="Cambria Math" panose="02040503050406030204" pitchFamily="18" charset="0"/>
                            <a:ea typeface="宋体" panose="02010600030101010101" pitchFamily="2" charset="-122"/>
                          </a:rPr>
                          <m:t>𝐴</m:t>
                        </m:r>
                      </m:e>
                    </m:d>
                    <m:r>
                      <a:rPr lang="en-US" altLang="zh-CN" sz="2400" i="1">
                        <a:solidFill>
                          <a:schemeClr val="tx1"/>
                        </a:solidFill>
                        <a:latin typeface="Cambria Math" panose="02040503050406030204" pitchFamily="18" charset="0"/>
                        <a:ea typeface="宋体" panose="02010600030101010101" pitchFamily="2" charset="-122"/>
                      </a:rPr>
                      <m:t>=</m:t>
                    </m:r>
                    <m:nary>
                      <m:naryPr>
                        <m:chr m:val="∑"/>
                        <m:limLoc m:val="undOvr"/>
                        <m:ctrlPr>
                          <a:rPr lang="zh-CN" altLang="zh-CN" sz="2400" i="1">
                            <a:solidFill>
                              <a:schemeClr val="tx1"/>
                            </a:solidFill>
                            <a:latin typeface="Cambria Math" panose="02040503050406030204" pitchFamily="18" charset="0"/>
                            <a:ea typeface="宋体" panose="02010600030101010101" pitchFamily="2" charset="-122"/>
                          </a:rPr>
                        </m:ctrlPr>
                      </m:naryPr>
                      <m:sub>
                        <m:r>
                          <a:rPr lang="en-US" altLang="zh-CN" sz="2400" i="1">
                            <a:solidFill>
                              <a:schemeClr val="tx1"/>
                            </a:solidFill>
                            <a:latin typeface="Cambria Math" panose="02040503050406030204" pitchFamily="18" charset="0"/>
                            <a:ea typeface="宋体" panose="02010600030101010101" pitchFamily="2" charset="-122"/>
                          </a:rPr>
                          <m:t>𝑗</m:t>
                        </m:r>
                        <m:r>
                          <a:rPr lang="en-US" altLang="zh-CN" sz="2400" i="1">
                            <a:solidFill>
                              <a:schemeClr val="tx1"/>
                            </a:solidFill>
                            <a:latin typeface="Cambria Math" panose="02040503050406030204" pitchFamily="18" charset="0"/>
                            <a:ea typeface="宋体" panose="02010600030101010101" pitchFamily="2" charset="-122"/>
                          </a:rPr>
                          <m:t>=1</m:t>
                        </m:r>
                      </m:sub>
                      <m:sup>
                        <m:r>
                          <a:rPr lang="en-US" altLang="zh-CN" sz="2400" i="1">
                            <a:solidFill>
                              <a:schemeClr val="tx1"/>
                            </a:solidFill>
                            <a:latin typeface="Cambria Math" panose="02040503050406030204" pitchFamily="18" charset="0"/>
                            <a:ea typeface="宋体" panose="02010600030101010101" pitchFamily="2" charset="-122"/>
                          </a:rPr>
                          <m:t>𝑛</m:t>
                        </m:r>
                      </m:sup>
                      <m:e>
                        <m:f>
                          <m:fPr>
                            <m:ctrlPr>
                              <a:rPr lang="zh-CN" altLang="zh-CN" sz="2400" i="1">
                                <a:solidFill>
                                  <a:schemeClr val="tx1"/>
                                </a:solidFill>
                                <a:latin typeface="Cambria Math" panose="02040503050406030204" pitchFamily="18" charset="0"/>
                                <a:ea typeface="宋体" panose="02010600030101010101" pitchFamily="2" charset="-122"/>
                              </a:rPr>
                            </m:ctrlPr>
                          </m:fPr>
                          <m:num>
                            <m:r>
                              <a:rPr lang="en-US" altLang="zh-CN" sz="2400" i="1">
                                <a:solidFill>
                                  <a:schemeClr val="tx1"/>
                                </a:solidFill>
                                <a:latin typeface="Cambria Math" panose="02040503050406030204" pitchFamily="18" charset="0"/>
                                <a:ea typeface="宋体" panose="02010600030101010101" pitchFamily="2" charset="-122"/>
                              </a:rPr>
                              <m:t>|</m:t>
                            </m:r>
                            <m:sSub>
                              <m:sSubPr>
                                <m:ctrlPr>
                                  <a:rPr lang="zh-CN" altLang="zh-CN" sz="2400" i="1">
                                    <a:solidFill>
                                      <a:schemeClr val="tx1"/>
                                    </a:solidFill>
                                    <a:latin typeface="Cambria Math" panose="02040503050406030204" pitchFamily="18" charset="0"/>
                                    <a:ea typeface="宋体" panose="02010600030101010101" pitchFamily="2" charset="-122"/>
                                  </a:rPr>
                                </m:ctrlPr>
                              </m:sSubPr>
                              <m:e>
                                <m:r>
                                  <a:rPr lang="en-US" altLang="zh-CN" sz="2400" i="1">
                                    <a:solidFill>
                                      <a:schemeClr val="tx1"/>
                                    </a:solidFill>
                                    <a:latin typeface="Cambria Math" panose="02040503050406030204" pitchFamily="18" charset="0"/>
                                    <a:ea typeface="宋体" panose="02010600030101010101" pitchFamily="2" charset="-122"/>
                                  </a:rPr>
                                  <m:t>𝐷</m:t>
                                </m:r>
                              </m:e>
                              <m:sub>
                                <m:r>
                                  <a:rPr lang="en-US" altLang="zh-CN" sz="2400" i="1">
                                    <a:solidFill>
                                      <a:schemeClr val="tx1"/>
                                    </a:solidFill>
                                    <a:latin typeface="Cambria Math" panose="02040503050406030204" pitchFamily="18" charset="0"/>
                                    <a:ea typeface="宋体" panose="02010600030101010101" pitchFamily="2" charset="-122"/>
                                  </a:rPr>
                                  <m:t>𝑗</m:t>
                                </m:r>
                              </m:sub>
                            </m:sSub>
                            <m:r>
                              <a:rPr lang="en-US" altLang="zh-CN" sz="2400" i="1">
                                <a:solidFill>
                                  <a:schemeClr val="tx1"/>
                                </a:solidFill>
                                <a:latin typeface="Cambria Math" panose="02040503050406030204" pitchFamily="18" charset="0"/>
                                <a:ea typeface="宋体" panose="02010600030101010101" pitchFamily="2" charset="-122"/>
                              </a:rPr>
                              <m:t>|</m:t>
                            </m:r>
                          </m:num>
                          <m:den>
                            <m:r>
                              <a:rPr lang="en-US" altLang="zh-CN" sz="2400" i="1">
                                <a:solidFill>
                                  <a:schemeClr val="tx1"/>
                                </a:solidFill>
                                <a:latin typeface="Cambria Math" panose="02040503050406030204" pitchFamily="18" charset="0"/>
                                <a:ea typeface="宋体" panose="02010600030101010101" pitchFamily="2" charset="-122"/>
                              </a:rPr>
                              <m:t>|</m:t>
                            </m:r>
                            <m:r>
                              <a:rPr lang="en-US" altLang="zh-CN" sz="2400" i="1">
                                <a:solidFill>
                                  <a:schemeClr val="tx1"/>
                                </a:solidFill>
                                <a:latin typeface="Cambria Math" panose="02040503050406030204" pitchFamily="18" charset="0"/>
                                <a:ea typeface="宋体" panose="02010600030101010101" pitchFamily="2" charset="-122"/>
                              </a:rPr>
                              <m:t>𝐷</m:t>
                            </m:r>
                            <m:r>
                              <a:rPr lang="en-US" altLang="zh-CN" sz="2400" i="1">
                                <a:solidFill>
                                  <a:schemeClr val="tx1"/>
                                </a:solidFill>
                                <a:latin typeface="Cambria Math" panose="02040503050406030204" pitchFamily="18" charset="0"/>
                                <a:ea typeface="宋体" panose="02010600030101010101" pitchFamily="2" charset="-122"/>
                              </a:rPr>
                              <m:t>|</m:t>
                            </m:r>
                          </m:den>
                        </m:f>
                      </m:e>
                    </m:nary>
                    <m:r>
                      <a:rPr lang="zh-CN" altLang="zh-CN" sz="2400" i="1">
                        <a:solidFill>
                          <a:schemeClr val="tx1"/>
                        </a:solidFill>
                        <a:latin typeface="Cambria Math" panose="02040503050406030204" pitchFamily="18" charset="0"/>
                        <a:ea typeface="宋体" panose="02010600030101010101" pitchFamily="2" charset="-122"/>
                      </a:rPr>
                      <m:t>×</m:t>
                    </m:r>
                    <m:r>
                      <a:rPr lang="en-US" altLang="zh-CN" sz="2400" i="1">
                        <a:solidFill>
                          <a:schemeClr val="tx1"/>
                        </a:solidFill>
                        <a:latin typeface="Cambria Math" panose="02040503050406030204" pitchFamily="18" charset="0"/>
                        <a:ea typeface="宋体" panose="02010600030101010101" pitchFamily="2" charset="-122"/>
                      </a:rPr>
                      <m:t>𝐼𝑛𝑓𝑜</m:t>
                    </m:r>
                    <m:r>
                      <a:rPr lang="en-US" altLang="zh-CN" sz="2400" i="1">
                        <a:solidFill>
                          <a:schemeClr val="tx1"/>
                        </a:solidFill>
                        <a:latin typeface="Cambria Math" panose="02040503050406030204" pitchFamily="18" charset="0"/>
                        <a:ea typeface="宋体" panose="02010600030101010101" pitchFamily="2" charset="-122"/>
                      </a:rPr>
                      <m:t>(</m:t>
                    </m:r>
                    <m:sSub>
                      <m:sSubPr>
                        <m:ctrlPr>
                          <a:rPr lang="zh-CN" altLang="zh-CN" sz="2400" i="1">
                            <a:solidFill>
                              <a:schemeClr val="tx1"/>
                            </a:solidFill>
                            <a:latin typeface="Cambria Math" panose="02040503050406030204" pitchFamily="18" charset="0"/>
                            <a:ea typeface="宋体" panose="02010600030101010101" pitchFamily="2" charset="-122"/>
                          </a:rPr>
                        </m:ctrlPr>
                      </m:sSubPr>
                      <m:e>
                        <m:r>
                          <a:rPr lang="en-US" altLang="zh-CN" sz="2400" i="1">
                            <a:solidFill>
                              <a:schemeClr val="tx1"/>
                            </a:solidFill>
                            <a:latin typeface="Cambria Math" panose="02040503050406030204" pitchFamily="18" charset="0"/>
                            <a:ea typeface="宋体" panose="02010600030101010101" pitchFamily="2" charset="-122"/>
                          </a:rPr>
                          <m:t>𝐷</m:t>
                        </m:r>
                      </m:e>
                      <m:sub>
                        <m:r>
                          <a:rPr lang="en-US" altLang="zh-CN" sz="2400" i="1">
                            <a:solidFill>
                              <a:schemeClr val="tx1"/>
                            </a:solidFill>
                            <a:latin typeface="Cambria Math" panose="02040503050406030204" pitchFamily="18" charset="0"/>
                            <a:ea typeface="宋体" panose="02010600030101010101" pitchFamily="2" charset="-122"/>
                          </a:rPr>
                          <m:t>𝑗</m:t>
                        </m:r>
                      </m:sub>
                    </m:sSub>
                    <m:r>
                      <a:rPr lang="en-US" altLang="zh-CN" sz="2400" i="1">
                        <a:solidFill>
                          <a:schemeClr val="tx1"/>
                        </a:solidFill>
                        <a:latin typeface="Cambria Math" panose="02040503050406030204" pitchFamily="18" charset="0"/>
                        <a:ea typeface="宋体" panose="02010600030101010101" pitchFamily="2" charset="-122"/>
                      </a:rPr>
                      <m:t>)</m:t>
                    </m:r>
                  </m:oMath>
                </a14:m>
                <a:r>
                  <a:rPr lang="en-US" altLang="zh-CN" sz="2400" dirty="0">
                    <a:solidFill>
                      <a:schemeClr val="tx1"/>
                    </a:solidFill>
                    <a:latin typeface="Calibri" panose="020F0502020204030204" pitchFamily="34" charset="0"/>
                    <a:ea typeface="宋体" panose="02010600030101010101" pitchFamily="2" charset="-122"/>
                  </a:rPr>
                  <a:t> </a:t>
                </a:r>
                <a:endParaRPr lang="zh-CN" altLang="zh-CN" sz="2400" dirty="0">
                  <a:solidFill>
                    <a:schemeClr val="tx1"/>
                  </a:solidFill>
                  <a:latin typeface="Calibri" panose="020F0502020204030204" pitchFamily="34" charset="0"/>
                  <a:ea typeface="宋体" panose="02010600030101010101" pitchFamily="2" charset="-122"/>
                </a:endParaRPr>
              </a:p>
              <a:p>
                <a:pPr marL="0" indent="0">
                  <a:buNone/>
                </a:pPr>
                <a:r>
                  <a:rPr lang="zh-CN" altLang="zh-CN" sz="2400" dirty="0">
                    <a:solidFill>
                      <a:schemeClr val="tx1"/>
                    </a:solidFill>
                    <a:latin typeface="Calibri" panose="020F0502020204030204" pitchFamily="34" charset="0"/>
                    <a:ea typeface="宋体" panose="02010600030101010101" pitchFamily="2" charset="-122"/>
                  </a:rPr>
                  <a:t>其中</a:t>
                </a:r>
                <a:r>
                  <a:rPr lang="en-US" altLang="zh-CN" sz="2400" dirty="0">
                    <a:solidFill>
                      <a:schemeClr val="tx1"/>
                    </a:solidFill>
                    <a:latin typeface="Calibri" panose="020F0502020204030204" pitchFamily="34" charset="0"/>
                    <a:ea typeface="宋体" panose="02010600030101010101" pitchFamily="2" charset="-122"/>
                  </a:rPr>
                  <a:t>n</a:t>
                </a:r>
                <a:r>
                  <a:rPr lang="zh-CN" altLang="zh-CN" sz="2400" dirty="0">
                    <a:solidFill>
                      <a:schemeClr val="tx1"/>
                    </a:solidFill>
                    <a:latin typeface="Calibri" panose="020F0502020204030204" pitchFamily="34" charset="0"/>
                    <a:ea typeface="宋体" panose="02010600030101010101" pitchFamily="2" charset="-122"/>
                  </a:rPr>
                  <a:t>是数据分区数，</a:t>
                </a:r>
                <a14:m>
                  <m:oMath xmlns:m="http://schemas.openxmlformats.org/officeDocument/2006/math">
                    <m:sSub>
                      <m:sSubPr>
                        <m:ctrlPr>
                          <a:rPr lang="zh-CN" altLang="zh-CN" sz="2400" i="1">
                            <a:solidFill>
                              <a:schemeClr val="tx1"/>
                            </a:solidFill>
                            <a:latin typeface="Cambria Math" panose="02040503050406030204" pitchFamily="18" charset="0"/>
                            <a:ea typeface="宋体" panose="02010600030101010101" pitchFamily="2" charset="-122"/>
                          </a:rPr>
                        </m:ctrlPr>
                      </m:sSubPr>
                      <m:e>
                        <m:r>
                          <a:rPr lang="en-US" altLang="zh-CN" sz="2400">
                            <a:solidFill>
                              <a:schemeClr val="tx1"/>
                            </a:solidFill>
                            <a:latin typeface="Cambria Math" panose="02040503050406030204" pitchFamily="18" charset="0"/>
                            <a:ea typeface="宋体" panose="02010600030101010101" pitchFamily="2" charset="-122"/>
                          </a:rPr>
                          <m:t>|</m:t>
                        </m:r>
                        <m:r>
                          <a:rPr lang="en-US" altLang="zh-CN" sz="2400">
                            <a:solidFill>
                              <a:schemeClr val="tx1"/>
                            </a:solidFill>
                            <a:latin typeface="Cambria Math" panose="02040503050406030204" pitchFamily="18" charset="0"/>
                            <a:ea typeface="宋体" panose="02010600030101010101" pitchFamily="2" charset="-122"/>
                          </a:rPr>
                          <m:t>𝐷</m:t>
                        </m:r>
                      </m:e>
                      <m:sub>
                        <m:r>
                          <a:rPr lang="en-US" altLang="zh-CN" sz="2400">
                            <a:solidFill>
                              <a:schemeClr val="tx1"/>
                            </a:solidFill>
                            <a:latin typeface="Cambria Math" panose="02040503050406030204" pitchFamily="18" charset="0"/>
                            <a:ea typeface="宋体" panose="02010600030101010101" pitchFamily="2" charset="-122"/>
                          </a:rPr>
                          <m:t>𝑗</m:t>
                        </m:r>
                      </m:sub>
                    </m:sSub>
                    <m:r>
                      <a:rPr lang="en-US" altLang="zh-CN" sz="2400" i="1">
                        <a:solidFill>
                          <a:schemeClr val="tx1"/>
                        </a:solidFill>
                        <a:latin typeface="Cambria Math" panose="02040503050406030204" pitchFamily="18" charset="0"/>
                        <a:ea typeface="宋体" panose="02010600030101010101" pitchFamily="2" charset="-122"/>
                      </a:rPr>
                      <m:t>|</m:t>
                    </m:r>
                  </m:oMath>
                </a14:m>
                <a:r>
                  <a:rPr lang="zh-CN" altLang="zh-CN" sz="2400" dirty="0">
                    <a:solidFill>
                      <a:schemeClr val="tx1"/>
                    </a:solidFill>
                    <a:latin typeface="Calibri" panose="020F0502020204030204" pitchFamily="34" charset="0"/>
                    <a:ea typeface="宋体" panose="02010600030101010101" pitchFamily="2" charset="-122"/>
                  </a:rPr>
                  <a:t>表示第</a:t>
                </a:r>
                <a:r>
                  <a:rPr lang="en-US" altLang="zh-CN" sz="2400" dirty="0">
                    <a:solidFill>
                      <a:schemeClr val="tx1"/>
                    </a:solidFill>
                    <a:latin typeface="Calibri" panose="020F0502020204030204" pitchFamily="34" charset="0"/>
                    <a:ea typeface="宋体" panose="02010600030101010101" pitchFamily="2" charset="-122"/>
                  </a:rPr>
                  <a:t>j</a:t>
                </a:r>
                <a:r>
                  <a:rPr lang="zh-CN" altLang="zh-CN" sz="2400" dirty="0">
                    <a:solidFill>
                      <a:schemeClr val="tx1"/>
                    </a:solidFill>
                    <a:latin typeface="Calibri" panose="020F0502020204030204" pitchFamily="34" charset="0"/>
                    <a:ea typeface="宋体" panose="02010600030101010101" pitchFamily="2" charset="-122"/>
                  </a:rPr>
                  <a:t>个数据分区的长度，</a:t>
                </a:r>
                <a14:m>
                  <m:oMath xmlns:m="http://schemas.openxmlformats.org/officeDocument/2006/math">
                    <m:f>
                      <m:fPr>
                        <m:ctrlPr>
                          <a:rPr lang="zh-CN" altLang="zh-CN" sz="2400" i="1">
                            <a:solidFill>
                              <a:schemeClr val="tx1"/>
                            </a:solidFill>
                            <a:latin typeface="Cambria Math" panose="02040503050406030204" pitchFamily="18" charset="0"/>
                            <a:ea typeface="宋体" panose="02010600030101010101" pitchFamily="2" charset="-122"/>
                          </a:rPr>
                        </m:ctrlPr>
                      </m:fPr>
                      <m:num>
                        <m:r>
                          <a:rPr lang="en-US" altLang="zh-CN" sz="2400">
                            <a:solidFill>
                              <a:schemeClr val="tx1"/>
                            </a:solidFill>
                            <a:latin typeface="Cambria Math" panose="02040503050406030204" pitchFamily="18" charset="0"/>
                            <a:ea typeface="宋体" panose="02010600030101010101" pitchFamily="2" charset="-122"/>
                          </a:rPr>
                          <m:t>|</m:t>
                        </m:r>
                        <m:sSub>
                          <m:sSubPr>
                            <m:ctrlPr>
                              <a:rPr lang="zh-CN" altLang="zh-CN" sz="2400" i="1">
                                <a:solidFill>
                                  <a:schemeClr val="tx1"/>
                                </a:solidFill>
                                <a:latin typeface="Cambria Math" panose="02040503050406030204" pitchFamily="18" charset="0"/>
                                <a:ea typeface="宋体" panose="02010600030101010101" pitchFamily="2" charset="-122"/>
                              </a:rPr>
                            </m:ctrlPr>
                          </m:sSubPr>
                          <m:e>
                            <m:r>
                              <a:rPr lang="en-US" altLang="zh-CN" sz="2400" i="1">
                                <a:solidFill>
                                  <a:schemeClr val="tx1"/>
                                </a:solidFill>
                                <a:latin typeface="Cambria Math" panose="02040503050406030204" pitchFamily="18" charset="0"/>
                                <a:ea typeface="宋体" panose="02010600030101010101" pitchFamily="2" charset="-122"/>
                              </a:rPr>
                              <m:t>𝐷</m:t>
                            </m:r>
                          </m:e>
                          <m:sub>
                            <m:r>
                              <a:rPr lang="en-US" altLang="zh-CN" sz="2400" i="1">
                                <a:solidFill>
                                  <a:schemeClr val="tx1"/>
                                </a:solidFill>
                                <a:latin typeface="Cambria Math" panose="02040503050406030204" pitchFamily="18" charset="0"/>
                                <a:ea typeface="宋体" panose="02010600030101010101" pitchFamily="2" charset="-122"/>
                              </a:rPr>
                              <m:t>𝑗</m:t>
                            </m:r>
                          </m:sub>
                        </m:sSub>
                        <m:r>
                          <a:rPr lang="en-US" altLang="zh-CN" sz="2400">
                            <a:solidFill>
                              <a:schemeClr val="tx1"/>
                            </a:solidFill>
                            <a:latin typeface="Cambria Math" panose="02040503050406030204" pitchFamily="18" charset="0"/>
                            <a:ea typeface="宋体" panose="02010600030101010101" pitchFamily="2" charset="-122"/>
                          </a:rPr>
                          <m:t>|</m:t>
                        </m:r>
                      </m:num>
                      <m:den>
                        <m:r>
                          <a:rPr lang="en-US" altLang="zh-CN" sz="2400">
                            <a:solidFill>
                              <a:schemeClr val="tx1"/>
                            </a:solidFill>
                            <a:latin typeface="Cambria Math" panose="02040503050406030204" pitchFamily="18" charset="0"/>
                            <a:ea typeface="宋体" panose="02010600030101010101" pitchFamily="2" charset="-122"/>
                          </a:rPr>
                          <m:t>|</m:t>
                        </m:r>
                        <m:r>
                          <a:rPr lang="en-US" altLang="zh-CN" sz="2400" i="1">
                            <a:solidFill>
                              <a:schemeClr val="tx1"/>
                            </a:solidFill>
                            <a:latin typeface="Cambria Math" panose="02040503050406030204" pitchFamily="18" charset="0"/>
                            <a:ea typeface="宋体" panose="02010600030101010101" pitchFamily="2" charset="-122"/>
                          </a:rPr>
                          <m:t>𝐷</m:t>
                        </m:r>
                        <m:r>
                          <a:rPr lang="en-US" altLang="zh-CN" sz="2400">
                            <a:solidFill>
                              <a:schemeClr val="tx1"/>
                            </a:solidFill>
                            <a:latin typeface="Cambria Math" panose="02040503050406030204" pitchFamily="18" charset="0"/>
                            <a:ea typeface="宋体" panose="02010600030101010101" pitchFamily="2" charset="-122"/>
                          </a:rPr>
                          <m:t>|</m:t>
                        </m:r>
                      </m:den>
                    </m:f>
                  </m:oMath>
                </a14:m>
                <a:r>
                  <a:rPr lang="zh-CN" altLang="zh-CN" sz="2400" dirty="0">
                    <a:solidFill>
                      <a:schemeClr val="tx1"/>
                    </a:solidFill>
                    <a:latin typeface="Calibri" panose="020F0502020204030204" pitchFamily="34" charset="0"/>
                    <a:ea typeface="宋体" panose="02010600030101010101" pitchFamily="2" charset="-122"/>
                  </a:rPr>
                  <a:t>表示第</a:t>
                </a:r>
                <a:r>
                  <a:rPr lang="en-US" altLang="zh-CN" sz="2400" i="1" dirty="0">
                    <a:solidFill>
                      <a:schemeClr val="tx1"/>
                    </a:solidFill>
                    <a:latin typeface="Calibri" panose="020F0502020204030204" pitchFamily="34" charset="0"/>
                    <a:ea typeface="宋体" panose="02010600030101010101" pitchFamily="2" charset="-122"/>
                  </a:rPr>
                  <a:t>j</a:t>
                </a:r>
                <a:r>
                  <a:rPr lang="zh-CN" altLang="zh-CN" sz="2400" dirty="0">
                    <a:solidFill>
                      <a:schemeClr val="tx1"/>
                    </a:solidFill>
                    <a:latin typeface="Calibri" panose="020F0502020204030204" pitchFamily="34" charset="0"/>
                    <a:ea typeface="宋体" panose="02010600030101010101" pitchFamily="2" charset="-122"/>
                  </a:rPr>
                  <a:t>个数据分区的权重。</a:t>
                </a:r>
                <a:endParaRPr lang="zh-CN" altLang="en-US" sz="2400" dirty="0">
                  <a:solidFill>
                    <a:schemeClr val="tx1"/>
                  </a:solidFill>
                </a:endParaRPr>
              </a:p>
              <a:p>
                <a:pPr marL="0" indent="0">
                  <a:buNone/>
                </a:pPr>
                <a:endParaRPr lang="zh-CN" altLang="en-US" sz="40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 name="Rectangle 3">
                <a:extLst>
                  <a:ext uri="{FF2B5EF4-FFF2-40B4-BE49-F238E27FC236}">
                    <a16:creationId xmlns:a16="http://schemas.microsoft.com/office/drawing/2014/main" id="{C6B00E11-EF1B-0383-16CA-7BAC1CDEAB6E}"/>
                  </a:ext>
                </a:extLst>
              </p:cNvPr>
              <p:cNvSpPr txBox="1">
                <a:spLocks noRot="1" noChangeAspect="1" noMove="1" noResize="1" noEditPoints="1" noAdjustHandles="1" noChangeArrowheads="1" noChangeShapeType="1" noTextEdit="1"/>
              </p:cNvSpPr>
              <p:nvPr/>
            </p:nvSpPr>
            <p:spPr bwMode="auto">
              <a:xfrm>
                <a:off x="1943209" y="1021506"/>
                <a:ext cx="8305582" cy="5836494"/>
              </a:xfrm>
              <a:prstGeom prst="rect">
                <a:avLst/>
              </a:prstGeom>
              <a:blipFill>
                <a:blip r:embed="rId3"/>
                <a:stretch>
                  <a:fillRect l="-11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10815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3" name="Rectangle 3">
            <a:extLst>
              <a:ext uri="{FF2B5EF4-FFF2-40B4-BE49-F238E27FC236}">
                <a16:creationId xmlns:a16="http://schemas.microsoft.com/office/drawing/2014/main" id="{4110E420-5028-D48F-BE4B-0194C007D3A5}"/>
              </a:ext>
            </a:extLst>
          </p:cNvPr>
          <p:cNvSpPr txBox="1">
            <a:spLocks noChangeArrowheads="1"/>
          </p:cNvSpPr>
          <p:nvPr/>
        </p:nvSpPr>
        <p:spPr bwMode="auto">
          <a:xfrm>
            <a:off x="165100" y="797405"/>
            <a:ext cx="11861799" cy="152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r>
              <a:rPr lang="zh-CN" altLang="zh-CN" b="1" dirty="0">
                <a:solidFill>
                  <a:schemeClr val="tx1"/>
                </a:solidFill>
              </a:rPr>
              <a:t>例</a:t>
            </a:r>
            <a:r>
              <a:rPr lang="en-US" altLang="zh-CN" b="1" dirty="0">
                <a:solidFill>
                  <a:schemeClr val="tx1"/>
                </a:solidFill>
              </a:rPr>
              <a:t> </a:t>
            </a:r>
            <a:r>
              <a:rPr lang="zh-CN" altLang="zh-CN" b="1" dirty="0">
                <a:solidFill>
                  <a:schemeClr val="tx1"/>
                </a:solidFill>
              </a:rPr>
              <a:t>信息增益的计算</a:t>
            </a:r>
            <a:endParaRPr lang="zh-CN" altLang="zh-CN" dirty="0">
              <a:solidFill>
                <a:schemeClr val="tx1"/>
              </a:solidFill>
            </a:endParaRPr>
          </a:p>
          <a:p>
            <a:r>
              <a:rPr lang="zh-CN" altLang="en-US" dirty="0">
                <a:solidFill>
                  <a:schemeClr val="tx1"/>
                </a:solidFill>
              </a:rPr>
              <a:t>下表</a:t>
            </a:r>
            <a:r>
              <a:rPr lang="zh-CN" altLang="zh-CN" dirty="0">
                <a:solidFill>
                  <a:schemeClr val="tx1"/>
                </a:solidFill>
              </a:rPr>
              <a:t>是带有标记类的训练集</a:t>
            </a:r>
            <a:r>
              <a:rPr lang="en-US" altLang="zh-CN" i="1" dirty="0">
                <a:solidFill>
                  <a:schemeClr val="tx1"/>
                </a:solidFill>
              </a:rPr>
              <a:t>D</a:t>
            </a:r>
            <a:r>
              <a:rPr lang="zh-CN" altLang="zh-CN" dirty="0">
                <a:solidFill>
                  <a:schemeClr val="tx1"/>
                </a:solidFill>
              </a:rPr>
              <a:t>，训练集的列是一些特征，表中最后一列的类标号为是否提供贷款，有两个不同的取值，计算按照每个特征进行划分的信息增益。</a:t>
            </a:r>
          </a:p>
        </p:txBody>
      </p:sp>
      <p:graphicFrame>
        <p:nvGraphicFramePr>
          <p:cNvPr id="4" name="表格 3">
            <a:extLst>
              <a:ext uri="{FF2B5EF4-FFF2-40B4-BE49-F238E27FC236}">
                <a16:creationId xmlns:a16="http://schemas.microsoft.com/office/drawing/2014/main" id="{C89B74A7-F56B-66D4-B570-BD942166984C}"/>
              </a:ext>
            </a:extLst>
          </p:cNvPr>
          <p:cNvGraphicFramePr>
            <a:graphicFrameLocks noGrp="1"/>
          </p:cNvGraphicFramePr>
          <p:nvPr>
            <p:extLst>
              <p:ext uri="{D42A27DB-BD31-4B8C-83A1-F6EECF244321}">
                <p14:modId xmlns:p14="http://schemas.microsoft.com/office/powerpoint/2010/main" val="3415697474"/>
              </p:ext>
            </p:extLst>
          </p:nvPr>
        </p:nvGraphicFramePr>
        <p:xfrm>
          <a:off x="2775000" y="1955840"/>
          <a:ext cx="7200799" cy="4532663"/>
        </p:xfrm>
        <a:graphic>
          <a:graphicData uri="http://schemas.openxmlformats.org/drawingml/2006/table">
            <a:tbl>
              <a:tblPr firstRow="1" firstCol="1" bandRow="1">
                <a:tableStyleId>{5C22544A-7EE6-4342-B048-85BDC9FD1C3A}</a:tableStyleId>
              </a:tblPr>
              <a:tblGrid>
                <a:gridCol w="1209387">
                  <a:extLst>
                    <a:ext uri="{9D8B030D-6E8A-4147-A177-3AD203B41FA5}">
                      <a16:colId xmlns:a16="http://schemas.microsoft.com/office/drawing/2014/main" val="1778536834"/>
                    </a:ext>
                  </a:extLst>
                </a:gridCol>
                <a:gridCol w="1205917">
                  <a:extLst>
                    <a:ext uri="{9D8B030D-6E8A-4147-A177-3AD203B41FA5}">
                      <a16:colId xmlns:a16="http://schemas.microsoft.com/office/drawing/2014/main" val="2004611812"/>
                    </a:ext>
                  </a:extLst>
                </a:gridCol>
                <a:gridCol w="1205917">
                  <a:extLst>
                    <a:ext uri="{9D8B030D-6E8A-4147-A177-3AD203B41FA5}">
                      <a16:colId xmlns:a16="http://schemas.microsoft.com/office/drawing/2014/main" val="3777534196"/>
                    </a:ext>
                  </a:extLst>
                </a:gridCol>
                <a:gridCol w="1205917">
                  <a:extLst>
                    <a:ext uri="{9D8B030D-6E8A-4147-A177-3AD203B41FA5}">
                      <a16:colId xmlns:a16="http://schemas.microsoft.com/office/drawing/2014/main" val="1477200439"/>
                    </a:ext>
                  </a:extLst>
                </a:gridCol>
                <a:gridCol w="1167744">
                  <a:extLst>
                    <a:ext uri="{9D8B030D-6E8A-4147-A177-3AD203B41FA5}">
                      <a16:colId xmlns:a16="http://schemas.microsoft.com/office/drawing/2014/main" val="680043821"/>
                    </a:ext>
                  </a:extLst>
                </a:gridCol>
                <a:gridCol w="1205917">
                  <a:extLst>
                    <a:ext uri="{9D8B030D-6E8A-4147-A177-3AD203B41FA5}">
                      <a16:colId xmlns:a16="http://schemas.microsoft.com/office/drawing/2014/main" val="1162339842"/>
                    </a:ext>
                  </a:extLst>
                </a:gridCol>
              </a:tblGrid>
              <a:tr h="417863">
                <a:tc>
                  <a:txBody>
                    <a:bodyPr/>
                    <a:lstStyle/>
                    <a:p>
                      <a:pPr algn="ctr">
                        <a:spcAft>
                          <a:spcPts val="0"/>
                        </a:spcAft>
                      </a:pPr>
                      <a:r>
                        <a:rPr lang="en-US" sz="1800" kern="100">
                          <a:effectLst/>
                        </a:rPr>
                        <a:t>ID</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学历</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婚否</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是否有车</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收入水平</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类别</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08706224"/>
                  </a:ext>
                </a:extLst>
              </a:tr>
              <a:tr h="3902617">
                <a:tc>
                  <a:txBody>
                    <a:bodyPr/>
                    <a:lstStyle/>
                    <a:p>
                      <a:pPr algn="ctr">
                        <a:spcAft>
                          <a:spcPts val="0"/>
                        </a:spcAft>
                      </a:pPr>
                      <a:r>
                        <a:rPr lang="en-US" sz="1800" kern="100" dirty="0">
                          <a:effectLst/>
                        </a:rPr>
                        <a:t>1</a:t>
                      </a:r>
                      <a:endParaRPr lang="zh-CN" sz="1800" kern="100" dirty="0">
                        <a:effectLst/>
                      </a:endParaRPr>
                    </a:p>
                    <a:p>
                      <a:pPr algn="ctr">
                        <a:spcAft>
                          <a:spcPts val="0"/>
                        </a:spcAft>
                      </a:pPr>
                      <a:r>
                        <a:rPr lang="en-US" sz="1800" kern="100" dirty="0">
                          <a:effectLst/>
                        </a:rPr>
                        <a:t>2</a:t>
                      </a:r>
                      <a:endParaRPr lang="zh-CN" sz="1800" kern="100" dirty="0">
                        <a:effectLst/>
                      </a:endParaRPr>
                    </a:p>
                    <a:p>
                      <a:pPr algn="ctr">
                        <a:spcAft>
                          <a:spcPts val="0"/>
                        </a:spcAft>
                      </a:pPr>
                      <a:r>
                        <a:rPr lang="en-US" sz="1800" kern="100" dirty="0">
                          <a:effectLst/>
                        </a:rPr>
                        <a:t>3</a:t>
                      </a:r>
                      <a:endParaRPr lang="zh-CN" sz="1800" kern="100" dirty="0">
                        <a:effectLst/>
                      </a:endParaRPr>
                    </a:p>
                    <a:p>
                      <a:pPr algn="ctr">
                        <a:spcAft>
                          <a:spcPts val="0"/>
                        </a:spcAft>
                      </a:pPr>
                      <a:r>
                        <a:rPr lang="en-US" sz="1800" kern="100" dirty="0">
                          <a:effectLst/>
                        </a:rPr>
                        <a:t>4</a:t>
                      </a:r>
                      <a:endParaRPr lang="zh-CN" sz="1800" kern="100" dirty="0">
                        <a:effectLst/>
                      </a:endParaRPr>
                    </a:p>
                    <a:p>
                      <a:pPr algn="ctr">
                        <a:spcAft>
                          <a:spcPts val="0"/>
                        </a:spcAft>
                      </a:pPr>
                      <a:r>
                        <a:rPr lang="en-US" sz="1800" kern="100" dirty="0">
                          <a:effectLst/>
                        </a:rPr>
                        <a:t>5</a:t>
                      </a:r>
                      <a:endParaRPr lang="zh-CN" sz="1800" kern="100" dirty="0">
                        <a:effectLst/>
                      </a:endParaRPr>
                    </a:p>
                    <a:p>
                      <a:pPr algn="ctr">
                        <a:spcAft>
                          <a:spcPts val="0"/>
                        </a:spcAft>
                      </a:pPr>
                      <a:r>
                        <a:rPr lang="en-US" sz="1800" kern="100" dirty="0">
                          <a:effectLst/>
                        </a:rPr>
                        <a:t>6</a:t>
                      </a:r>
                      <a:endParaRPr lang="zh-CN" sz="1800" kern="100" dirty="0">
                        <a:effectLst/>
                      </a:endParaRPr>
                    </a:p>
                    <a:p>
                      <a:pPr algn="ctr">
                        <a:spcAft>
                          <a:spcPts val="0"/>
                        </a:spcAft>
                      </a:pPr>
                      <a:r>
                        <a:rPr lang="en-US" sz="1800" kern="100" dirty="0">
                          <a:effectLst/>
                        </a:rPr>
                        <a:t>7</a:t>
                      </a:r>
                      <a:endParaRPr lang="zh-CN" sz="1800" kern="100" dirty="0">
                        <a:effectLst/>
                      </a:endParaRPr>
                    </a:p>
                    <a:p>
                      <a:pPr algn="ctr">
                        <a:spcAft>
                          <a:spcPts val="0"/>
                        </a:spcAft>
                      </a:pPr>
                      <a:r>
                        <a:rPr lang="en-US" sz="1800" kern="100" dirty="0">
                          <a:effectLst/>
                        </a:rPr>
                        <a:t>8</a:t>
                      </a:r>
                      <a:endParaRPr lang="zh-CN" sz="1800" kern="100" dirty="0">
                        <a:effectLst/>
                      </a:endParaRPr>
                    </a:p>
                    <a:p>
                      <a:pPr algn="ctr">
                        <a:spcAft>
                          <a:spcPts val="0"/>
                        </a:spcAft>
                      </a:pPr>
                      <a:r>
                        <a:rPr lang="en-US" sz="1800" kern="100" dirty="0">
                          <a:effectLst/>
                        </a:rPr>
                        <a:t>9</a:t>
                      </a:r>
                      <a:endParaRPr lang="zh-CN" sz="1800" kern="100" dirty="0">
                        <a:effectLst/>
                      </a:endParaRPr>
                    </a:p>
                    <a:p>
                      <a:pPr algn="ctr">
                        <a:spcAft>
                          <a:spcPts val="0"/>
                        </a:spcAft>
                      </a:pPr>
                      <a:r>
                        <a:rPr lang="en-US" sz="1800" kern="100" dirty="0">
                          <a:effectLst/>
                        </a:rPr>
                        <a:t>10</a:t>
                      </a:r>
                      <a:endParaRPr lang="zh-CN" sz="1800" kern="100" dirty="0">
                        <a:effectLst/>
                      </a:endParaRPr>
                    </a:p>
                    <a:p>
                      <a:pPr algn="ctr">
                        <a:spcAft>
                          <a:spcPts val="0"/>
                        </a:spcAft>
                      </a:pPr>
                      <a:r>
                        <a:rPr lang="en-US" sz="1800" kern="100" dirty="0">
                          <a:effectLst/>
                        </a:rPr>
                        <a:t>11</a:t>
                      </a:r>
                      <a:endParaRPr lang="zh-CN" sz="1800" kern="100" dirty="0">
                        <a:effectLst/>
                      </a:endParaRPr>
                    </a:p>
                    <a:p>
                      <a:pPr algn="ctr">
                        <a:spcAft>
                          <a:spcPts val="0"/>
                        </a:spcAft>
                      </a:pPr>
                      <a:r>
                        <a:rPr lang="en-US" sz="1800" kern="100" dirty="0">
                          <a:effectLst/>
                        </a:rPr>
                        <a:t>12</a:t>
                      </a:r>
                      <a:endParaRPr lang="zh-CN" sz="1800" kern="100" dirty="0">
                        <a:effectLst/>
                      </a:endParaRPr>
                    </a:p>
                    <a:p>
                      <a:pPr algn="ctr">
                        <a:spcAft>
                          <a:spcPts val="0"/>
                        </a:spcAft>
                      </a:pPr>
                      <a:r>
                        <a:rPr lang="en-US" sz="1800" kern="100" dirty="0">
                          <a:effectLst/>
                        </a:rPr>
                        <a:t>13</a:t>
                      </a:r>
                      <a:endParaRPr lang="zh-CN" sz="1800" kern="100" dirty="0">
                        <a:effectLst/>
                      </a:endParaRPr>
                    </a:p>
                    <a:p>
                      <a:pPr algn="ctr">
                        <a:spcAft>
                          <a:spcPts val="0"/>
                        </a:spcAft>
                      </a:pPr>
                      <a:r>
                        <a:rPr lang="en-US" sz="1800" kern="100" dirty="0">
                          <a:effectLst/>
                        </a:rPr>
                        <a:t>14</a:t>
                      </a:r>
                      <a:endParaRPr lang="zh-CN" sz="1800" kern="100" dirty="0">
                        <a:effectLst/>
                      </a:endParaRPr>
                    </a:p>
                    <a:p>
                      <a:pPr algn="ctr">
                        <a:spcAft>
                          <a:spcPts val="0"/>
                        </a:spcAft>
                      </a:pPr>
                      <a:r>
                        <a:rPr lang="en-US" sz="1800" kern="100" dirty="0">
                          <a:effectLst/>
                        </a:rPr>
                        <a:t>15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专科</a:t>
                      </a:r>
                    </a:p>
                    <a:p>
                      <a:pPr algn="ctr">
                        <a:spcAft>
                          <a:spcPts val="0"/>
                        </a:spcAft>
                      </a:pPr>
                      <a:r>
                        <a:rPr lang="zh-CN" sz="1800" kern="100" dirty="0">
                          <a:effectLst/>
                        </a:rPr>
                        <a:t>专科</a:t>
                      </a:r>
                    </a:p>
                    <a:p>
                      <a:pPr algn="ctr">
                        <a:spcAft>
                          <a:spcPts val="0"/>
                        </a:spcAft>
                      </a:pPr>
                      <a:r>
                        <a:rPr lang="zh-CN" sz="1800" kern="100" dirty="0">
                          <a:effectLst/>
                        </a:rPr>
                        <a:t>专科</a:t>
                      </a:r>
                    </a:p>
                    <a:p>
                      <a:pPr algn="ctr">
                        <a:spcAft>
                          <a:spcPts val="0"/>
                        </a:spcAft>
                      </a:pPr>
                      <a:r>
                        <a:rPr lang="zh-CN" sz="1800" kern="100" dirty="0">
                          <a:effectLst/>
                        </a:rPr>
                        <a:t>专科</a:t>
                      </a:r>
                    </a:p>
                    <a:p>
                      <a:pPr algn="ctr">
                        <a:spcAft>
                          <a:spcPts val="0"/>
                        </a:spcAft>
                      </a:pPr>
                      <a:r>
                        <a:rPr lang="zh-CN" sz="1800" kern="100" dirty="0">
                          <a:effectLst/>
                        </a:rPr>
                        <a:t>专科</a:t>
                      </a:r>
                    </a:p>
                    <a:p>
                      <a:pPr algn="ctr">
                        <a:spcAft>
                          <a:spcPts val="0"/>
                        </a:spcAft>
                      </a:pPr>
                      <a:r>
                        <a:rPr lang="zh-CN" sz="1800" kern="100" dirty="0">
                          <a:effectLst/>
                        </a:rPr>
                        <a:t>本科</a:t>
                      </a:r>
                    </a:p>
                    <a:p>
                      <a:pPr algn="ctr">
                        <a:spcAft>
                          <a:spcPts val="0"/>
                        </a:spcAft>
                      </a:pPr>
                      <a:r>
                        <a:rPr lang="zh-CN" sz="1800" kern="100" dirty="0">
                          <a:effectLst/>
                        </a:rPr>
                        <a:t>本科</a:t>
                      </a:r>
                    </a:p>
                    <a:p>
                      <a:pPr algn="ctr">
                        <a:spcAft>
                          <a:spcPts val="0"/>
                        </a:spcAft>
                      </a:pPr>
                      <a:r>
                        <a:rPr lang="zh-CN" sz="1800" kern="100" dirty="0">
                          <a:effectLst/>
                        </a:rPr>
                        <a:t>本科</a:t>
                      </a:r>
                    </a:p>
                    <a:p>
                      <a:pPr algn="ctr">
                        <a:spcAft>
                          <a:spcPts val="0"/>
                        </a:spcAft>
                      </a:pPr>
                      <a:r>
                        <a:rPr lang="zh-CN" sz="1800" kern="100" dirty="0">
                          <a:effectLst/>
                        </a:rPr>
                        <a:t>本科</a:t>
                      </a:r>
                    </a:p>
                    <a:p>
                      <a:pPr algn="ctr">
                        <a:spcAft>
                          <a:spcPts val="0"/>
                        </a:spcAft>
                      </a:pPr>
                      <a:r>
                        <a:rPr lang="zh-CN" sz="1800" kern="100" dirty="0">
                          <a:effectLst/>
                        </a:rPr>
                        <a:t>本科</a:t>
                      </a:r>
                    </a:p>
                    <a:p>
                      <a:pPr algn="ctr">
                        <a:spcAft>
                          <a:spcPts val="0"/>
                        </a:spcAft>
                      </a:pPr>
                      <a:r>
                        <a:rPr lang="zh-CN" sz="1800" kern="100" dirty="0">
                          <a:effectLst/>
                        </a:rPr>
                        <a:t>研究生</a:t>
                      </a:r>
                    </a:p>
                    <a:p>
                      <a:pPr algn="ctr">
                        <a:spcAft>
                          <a:spcPts val="0"/>
                        </a:spcAft>
                      </a:pPr>
                      <a:r>
                        <a:rPr lang="zh-CN" sz="1800" kern="100" dirty="0">
                          <a:effectLst/>
                        </a:rPr>
                        <a:t>研究生</a:t>
                      </a:r>
                    </a:p>
                    <a:p>
                      <a:pPr algn="ctr">
                        <a:spcAft>
                          <a:spcPts val="0"/>
                        </a:spcAft>
                      </a:pPr>
                      <a:r>
                        <a:rPr lang="zh-CN" sz="1800" kern="100" dirty="0">
                          <a:effectLst/>
                        </a:rPr>
                        <a:t>研究生</a:t>
                      </a:r>
                    </a:p>
                    <a:p>
                      <a:pPr algn="ctr">
                        <a:spcAft>
                          <a:spcPts val="0"/>
                        </a:spcAft>
                      </a:pPr>
                      <a:r>
                        <a:rPr lang="zh-CN" sz="1800" kern="100" dirty="0">
                          <a:effectLst/>
                        </a:rPr>
                        <a:t>研究生</a:t>
                      </a:r>
                    </a:p>
                    <a:p>
                      <a:pPr algn="ctr">
                        <a:spcAft>
                          <a:spcPts val="0"/>
                        </a:spcAft>
                      </a:pPr>
                      <a:r>
                        <a:rPr lang="zh-CN" sz="1800" kern="100" dirty="0">
                          <a:effectLst/>
                        </a:rPr>
                        <a:t>研究生</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是</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否</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是</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否</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中</a:t>
                      </a:r>
                    </a:p>
                    <a:p>
                      <a:pPr algn="ctr">
                        <a:spcAft>
                          <a:spcPts val="0"/>
                        </a:spcAft>
                      </a:pPr>
                      <a:r>
                        <a:rPr lang="zh-CN" sz="1800" kern="100" dirty="0">
                          <a:effectLst/>
                        </a:rPr>
                        <a:t>高</a:t>
                      </a:r>
                    </a:p>
                    <a:p>
                      <a:pPr algn="ctr">
                        <a:spcAft>
                          <a:spcPts val="0"/>
                        </a:spcAft>
                      </a:pPr>
                      <a:r>
                        <a:rPr lang="zh-CN" sz="1800" kern="100" dirty="0">
                          <a:effectLst/>
                        </a:rPr>
                        <a:t>高</a:t>
                      </a:r>
                    </a:p>
                    <a:p>
                      <a:pPr algn="ctr">
                        <a:spcAft>
                          <a:spcPts val="0"/>
                        </a:spcAft>
                      </a:pPr>
                      <a:r>
                        <a:rPr lang="zh-CN" sz="1800" kern="100" dirty="0">
                          <a:effectLst/>
                        </a:rPr>
                        <a:t>中</a:t>
                      </a:r>
                    </a:p>
                    <a:p>
                      <a:pPr algn="ctr">
                        <a:spcAft>
                          <a:spcPts val="0"/>
                        </a:spcAft>
                      </a:pPr>
                      <a:r>
                        <a:rPr lang="zh-CN" sz="1800" kern="100" dirty="0">
                          <a:effectLst/>
                        </a:rPr>
                        <a:t>中</a:t>
                      </a:r>
                    </a:p>
                    <a:p>
                      <a:pPr algn="ctr">
                        <a:spcAft>
                          <a:spcPts val="0"/>
                        </a:spcAft>
                      </a:pPr>
                      <a:r>
                        <a:rPr lang="zh-CN" sz="1800" kern="100" dirty="0">
                          <a:effectLst/>
                        </a:rPr>
                        <a:t>中</a:t>
                      </a:r>
                    </a:p>
                    <a:p>
                      <a:pPr algn="ctr">
                        <a:spcAft>
                          <a:spcPts val="0"/>
                        </a:spcAft>
                      </a:pPr>
                      <a:r>
                        <a:rPr lang="zh-CN" sz="1800" kern="100" dirty="0">
                          <a:effectLst/>
                        </a:rPr>
                        <a:t>高</a:t>
                      </a:r>
                    </a:p>
                    <a:p>
                      <a:pPr algn="ctr">
                        <a:spcAft>
                          <a:spcPts val="0"/>
                        </a:spcAft>
                      </a:pPr>
                      <a:r>
                        <a:rPr lang="zh-CN" sz="1800" kern="100" dirty="0">
                          <a:effectLst/>
                        </a:rPr>
                        <a:t>高</a:t>
                      </a:r>
                    </a:p>
                    <a:p>
                      <a:pPr algn="ctr">
                        <a:spcAft>
                          <a:spcPts val="0"/>
                        </a:spcAft>
                      </a:pPr>
                      <a:r>
                        <a:rPr lang="zh-CN" sz="1800" kern="100" dirty="0">
                          <a:effectLst/>
                        </a:rPr>
                        <a:t>很高</a:t>
                      </a:r>
                    </a:p>
                    <a:p>
                      <a:pPr algn="ctr">
                        <a:spcAft>
                          <a:spcPts val="0"/>
                        </a:spcAft>
                      </a:pPr>
                      <a:r>
                        <a:rPr lang="zh-CN" sz="1800" kern="100" dirty="0">
                          <a:effectLst/>
                        </a:rPr>
                        <a:t>很高</a:t>
                      </a:r>
                    </a:p>
                    <a:p>
                      <a:pPr algn="ctr">
                        <a:spcAft>
                          <a:spcPts val="0"/>
                        </a:spcAft>
                      </a:pPr>
                      <a:r>
                        <a:rPr lang="zh-CN" sz="1800" kern="100" dirty="0">
                          <a:effectLst/>
                        </a:rPr>
                        <a:t>很高</a:t>
                      </a:r>
                    </a:p>
                    <a:p>
                      <a:pPr algn="ctr">
                        <a:spcAft>
                          <a:spcPts val="0"/>
                        </a:spcAft>
                      </a:pPr>
                      <a:r>
                        <a:rPr lang="zh-CN" sz="1800" kern="100" dirty="0">
                          <a:effectLst/>
                        </a:rPr>
                        <a:t>高</a:t>
                      </a:r>
                    </a:p>
                    <a:p>
                      <a:pPr algn="ctr">
                        <a:spcAft>
                          <a:spcPts val="0"/>
                        </a:spcAft>
                      </a:pPr>
                      <a:r>
                        <a:rPr lang="zh-CN" sz="1800" kern="100" dirty="0">
                          <a:effectLst/>
                        </a:rPr>
                        <a:t>高</a:t>
                      </a:r>
                    </a:p>
                    <a:p>
                      <a:pPr algn="ctr">
                        <a:spcAft>
                          <a:spcPts val="0"/>
                        </a:spcAft>
                      </a:pPr>
                      <a:r>
                        <a:rPr lang="zh-CN" sz="1800" kern="100" dirty="0">
                          <a:effectLst/>
                        </a:rPr>
                        <a:t>很高</a:t>
                      </a:r>
                    </a:p>
                    <a:p>
                      <a:pPr algn="ctr">
                        <a:spcAft>
                          <a:spcPts val="0"/>
                        </a:spcAft>
                      </a:pPr>
                      <a:r>
                        <a:rPr lang="zh-CN" sz="1800" kern="100" dirty="0">
                          <a:effectLst/>
                        </a:rPr>
                        <a:t>中</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否</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是</a:t>
                      </a:r>
                    </a:p>
                    <a:p>
                      <a:pPr algn="ctr">
                        <a:spcAft>
                          <a:spcPts val="0"/>
                        </a:spcAft>
                      </a:pPr>
                      <a:r>
                        <a:rPr lang="zh-CN" sz="1800" kern="100" dirty="0">
                          <a:effectLst/>
                        </a:rPr>
                        <a:t>否</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3455055"/>
                  </a:ext>
                </a:extLst>
              </a:tr>
            </a:tbl>
          </a:graphicData>
        </a:graphic>
      </p:graphicFrame>
    </p:spTree>
    <p:custDataLst>
      <p:tags r:id="rId1"/>
    </p:custDataLst>
    <p:extLst>
      <p:ext uri="{BB962C8B-B14F-4D97-AF65-F5344CB8AC3E}">
        <p14:creationId xmlns:p14="http://schemas.microsoft.com/office/powerpoint/2010/main" val="73353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B881B5C-F210-DD2F-5FE8-7350EE491E76}"/>
                  </a:ext>
                </a:extLst>
              </p:cNvPr>
              <p:cNvSpPr txBox="1"/>
              <p:nvPr/>
            </p:nvSpPr>
            <p:spPr>
              <a:xfrm>
                <a:off x="2273412" y="901770"/>
                <a:ext cx="7848394" cy="889795"/>
              </a:xfrm>
              <a:prstGeom prst="rect">
                <a:avLst/>
              </a:prstGeom>
              <a:noFill/>
            </p:spPr>
            <p:txBody>
              <a:bodyPr wrap="square">
                <a:spAutoFit/>
              </a:bodyPr>
              <a:lstStyle/>
              <a:p>
                <a:pPr marL="0" indent="0">
                  <a:buNone/>
                </a:pPr>
                <a:r>
                  <a:rPr lang="zh-CN" altLang="zh-CN" dirty="0">
                    <a:solidFill>
                      <a:schemeClr val="tx1"/>
                    </a:solidFill>
                  </a:rPr>
                  <a:t>①根据公式计算信息熵</a:t>
                </a:r>
                <a14:m>
                  <m:oMath xmlns:m="http://schemas.openxmlformats.org/officeDocument/2006/math">
                    <m:r>
                      <a:rPr lang="zh-CN" altLang="zh-CN">
                        <a:solidFill>
                          <a:schemeClr val="tx1"/>
                        </a:solidFill>
                        <a:latin typeface="Cambria Math" panose="02040503050406030204" pitchFamily="18" charset="0"/>
                      </a:rPr>
                      <m:t> </m:t>
                    </m:r>
                    <m:r>
                      <a:rPr lang="zh-CN" altLang="zh-CN" i="1">
                        <a:solidFill>
                          <a:schemeClr val="tx1"/>
                        </a:solidFill>
                        <a:latin typeface="Cambria Math" panose="02040503050406030204" pitchFamily="18" charset="0"/>
                      </a:rPr>
                      <m:t> </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d>
                    <m:r>
                      <a:rPr lang="zh-CN" altLang="zh-CN" i="1">
                        <a:solidFill>
                          <a:schemeClr val="tx1"/>
                        </a:solidFill>
                        <a:latin typeface="Cambria Math" panose="02040503050406030204" pitchFamily="18" charset="0"/>
                      </a:rPr>
                      <m:t>。</m:t>
                    </m:r>
                  </m:oMath>
                </a14:m>
                <a:endParaRPr lang="zh-CN"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9</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9</m:t>
                          </m:r>
                        </m:num>
                        <m:den>
                          <m:r>
                            <a:rPr lang="en-US" altLang="zh-CN" i="1">
                              <a:solidFill>
                                <a:schemeClr val="tx1"/>
                              </a:solidFill>
                              <a:latin typeface="Cambria Math" panose="02040503050406030204" pitchFamily="18" charset="0"/>
                            </a:rPr>
                            <m:t>15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15</m:t>
                          </m:r>
                        </m:den>
                      </m:f>
                      <m:r>
                        <a:rPr lang="en-US" altLang="zh-CN" i="1">
                          <a:solidFill>
                            <a:schemeClr val="tx1"/>
                          </a:solidFill>
                          <a:latin typeface="Cambria Math" panose="02040503050406030204" pitchFamily="18" charset="0"/>
                        </a:rPr>
                        <m:t>=0.971</m:t>
                      </m:r>
                    </m:oMath>
                  </m:oMathPara>
                </a14:m>
                <a:endParaRPr lang="zh-CN" altLang="zh-CN" dirty="0">
                  <a:solidFill>
                    <a:schemeClr val="tx1"/>
                  </a:solidFill>
                </a:endParaRPr>
              </a:p>
            </p:txBody>
          </p:sp>
        </mc:Choice>
        <mc:Fallback xmlns="">
          <p:sp>
            <p:nvSpPr>
              <p:cNvPr id="2" name="文本框 1">
                <a:extLst>
                  <a:ext uri="{FF2B5EF4-FFF2-40B4-BE49-F238E27FC236}">
                    <a16:creationId xmlns:a16="http://schemas.microsoft.com/office/drawing/2014/main" id="{2B881B5C-F210-DD2F-5FE8-7350EE491E76}"/>
                  </a:ext>
                </a:extLst>
              </p:cNvPr>
              <p:cNvSpPr txBox="1">
                <a:spLocks noRot="1" noChangeAspect="1" noMove="1" noResize="1" noEditPoints="1" noAdjustHandles="1" noChangeArrowheads="1" noChangeShapeType="1" noTextEdit="1"/>
              </p:cNvSpPr>
              <p:nvPr/>
            </p:nvSpPr>
            <p:spPr>
              <a:xfrm>
                <a:off x="2273412" y="901770"/>
                <a:ext cx="7848394" cy="889795"/>
              </a:xfrm>
              <a:prstGeom prst="rect">
                <a:avLst/>
              </a:prstGeom>
              <a:blipFill>
                <a:blip r:embed="rId3"/>
                <a:stretch>
                  <a:fillRect l="-699" t="-41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95A1910-4B4B-AF4E-EEA1-AA594004D30F}"/>
                  </a:ext>
                </a:extLst>
              </p:cNvPr>
              <p:cNvSpPr txBox="1"/>
              <p:nvPr/>
            </p:nvSpPr>
            <p:spPr>
              <a:xfrm>
                <a:off x="2214936" y="2221530"/>
                <a:ext cx="8651128" cy="4278607"/>
              </a:xfrm>
              <a:prstGeom prst="rect">
                <a:avLst/>
              </a:prstGeom>
              <a:noFill/>
            </p:spPr>
            <p:txBody>
              <a:bodyPr wrap="square">
                <a:spAutoFit/>
              </a:bodyPr>
              <a:lstStyle/>
              <a:p>
                <a:pPr marL="0" indent="0">
                  <a:buNone/>
                </a:pPr>
                <a:r>
                  <a:rPr lang="zh-CN" altLang="zh-CN" dirty="0">
                    <a:solidFill>
                      <a:schemeClr val="tx1"/>
                    </a:solidFill>
                  </a:rPr>
                  <a:t>②计算按照每个特征进行划分的期望信息，</a:t>
                </a:r>
                <a:r>
                  <a:rPr lang="en-US" altLang="zh-CN" i="1" dirty="0">
                    <a:solidFill>
                      <a:schemeClr val="tx1"/>
                    </a:solidFill>
                  </a:rPr>
                  <a:t>A</a:t>
                </a:r>
                <a:r>
                  <a:rPr lang="zh-CN" altLang="zh-CN" dirty="0">
                    <a:solidFill>
                      <a:schemeClr val="tx1"/>
                    </a:solidFill>
                  </a:rPr>
                  <a:t>代表特征“学历”，</a:t>
                </a:r>
                <a:r>
                  <a:rPr lang="en-US" altLang="zh-CN" i="1" dirty="0">
                    <a:solidFill>
                      <a:schemeClr val="tx1"/>
                    </a:solidFill>
                  </a:rPr>
                  <a:t>B</a:t>
                </a:r>
                <a:r>
                  <a:rPr lang="zh-CN" altLang="zh-CN" dirty="0">
                    <a:solidFill>
                      <a:schemeClr val="tx1"/>
                    </a:solidFill>
                  </a:rPr>
                  <a:t>代表特征“婚否”，</a:t>
                </a:r>
                <a:r>
                  <a:rPr lang="en-US" altLang="zh-CN" i="1" dirty="0">
                    <a:solidFill>
                      <a:schemeClr val="tx1"/>
                    </a:solidFill>
                  </a:rPr>
                  <a:t>C</a:t>
                </a:r>
                <a:r>
                  <a:rPr lang="zh-CN" altLang="zh-CN" dirty="0">
                    <a:solidFill>
                      <a:schemeClr val="tx1"/>
                    </a:solidFill>
                  </a:rPr>
                  <a:t>代表特征“是否有车”，</a:t>
                </a:r>
                <a:r>
                  <a:rPr lang="en-US" altLang="zh-CN" i="1" dirty="0">
                    <a:solidFill>
                      <a:schemeClr val="tx1"/>
                    </a:solidFill>
                  </a:rPr>
                  <a:t>E</a:t>
                </a:r>
                <a:r>
                  <a:rPr lang="zh-CN" altLang="zh-CN" dirty="0">
                    <a:solidFill>
                      <a:schemeClr val="tx1"/>
                    </a:solidFill>
                  </a:rPr>
                  <a:t>代表特征“收入水平”。</a:t>
                </a:r>
                <a:endParaRPr lang="en-US" altLang="zh-CN" dirty="0">
                  <a:solidFill>
                    <a:schemeClr val="tx1"/>
                  </a:solidFill>
                </a:endParaRPr>
              </a:p>
              <a:p>
                <a:pPr marL="0" indent="0">
                  <a:buNone/>
                </a:pPr>
                <a:endParaRPr lang="zh-CN" altLang="zh-CN"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𝐴</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5</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5</m:t>
                              </m:r>
                            </m:den>
                          </m:f>
                        </m:e>
                      </m:d>
                    </m:oMath>
                  </m:oMathPara>
                </a14:m>
                <a:endParaRPr lang="zh-CN"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)=0.888</m:t>
                      </m:r>
                    </m:oMath>
                  </m:oMathPara>
                </a14:m>
                <a:endParaRPr lang="zh-CN" altLang="zh-CN" dirty="0">
                  <a:solidFill>
                    <a:schemeClr val="tx1"/>
                  </a:solidFill>
                </a:endParaRPr>
              </a:p>
              <a:p>
                <a:pPr marL="0" indent="0">
                  <a:buNone/>
                </a:pPr>
                <a14:m>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𝐵</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10</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10</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10</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10</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10</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5</m:t>
                            </m:r>
                          </m:den>
                        </m:f>
                      </m:e>
                    </m:d>
                    <m:r>
                      <a:rPr lang="en-US" altLang="zh-CN" i="1">
                        <a:solidFill>
                          <a:schemeClr val="tx1"/>
                        </a:solidFill>
                        <a:latin typeface="Cambria Math" panose="02040503050406030204" pitchFamily="18" charset="0"/>
                      </a:rPr>
                      <m:t>=0</m:t>
                    </m:r>
                    <m:r>
                      <a:rPr lang="en-US" altLang="zh-CN">
                        <a:solidFill>
                          <a:schemeClr val="tx1"/>
                        </a:solidFill>
                        <a:latin typeface="Cambria Math" panose="02040503050406030204" pitchFamily="18" charset="0"/>
                      </a:rPr>
                      <m:t>.</m:t>
                    </m:r>
                  </m:oMath>
                </a14:m>
                <a:r>
                  <a:rPr lang="en-US" altLang="zh-CN" dirty="0">
                    <a:solidFill>
                      <a:schemeClr val="tx1"/>
                    </a:solidFill>
                  </a:rPr>
                  <a:t>667</a:t>
                </a:r>
                <a:endParaRPr lang="en-US" altLang="zh-CN" dirty="0"/>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𝐶</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9</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9</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9</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9</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9</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6</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6</m:t>
                              </m:r>
                            </m:den>
                          </m:f>
                        </m:e>
                      </m:d>
                      <m:r>
                        <a:rPr lang="en-US" altLang="zh-CN" i="1">
                          <a:solidFill>
                            <a:schemeClr val="tx1"/>
                          </a:solidFill>
                          <a:latin typeface="Cambria Math" panose="02040503050406030204" pitchFamily="18" charset="0"/>
                        </a:rPr>
                        <m:t>=0.951</m:t>
                      </m:r>
                    </m:oMath>
                  </m:oMathPara>
                </a14:m>
                <a:endParaRPr lang="zh-CN" altLang="zh-CN"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𝐸</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m:t>
                              </m:r>
                            </m:num>
                            <m:den>
                              <m:r>
                                <a:rPr lang="en-US" altLang="zh-CN" i="1">
                                  <a:solidFill>
                                    <a:schemeClr val="tx1"/>
                                  </a:solidFill>
                                  <a:latin typeface="Cambria Math" panose="02040503050406030204" pitchFamily="18" charset="0"/>
                                </a:rPr>
                                <m:t>5</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6</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6</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6</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6</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4</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4</m:t>
                          </m:r>
                        </m:den>
                      </m:f>
                      <m:r>
                        <a:rPr lang="en-US" altLang="zh-CN" i="1">
                          <a:solidFill>
                            <a:schemeClr val="tx1"/>
                          </a:solidFill>
                          <a:latin typeface="Cambria Math" panose="02040503050406030204" pitchFamily="18" charset="0"/>
                        </a:rPr>
                        <m:t>)=0.608</m:t>
                      </m:r>
                    </m:oMath>
                  </m:oMathPara>
                </a14:m>
                <a:endParaRPr lang="zh-CN" altLang="zh-CN" dirty="0">
                  <a:solidFill>
                    <a:schemeClr val="tx1"/>
                  </a:solidFill>
                </a:endParaRPr>
              </a:p>
            </p:txBody>
          </p:sp>
        </mc:Choice>
        <mc:Fallback xmlns="">
          <p:sp>
            <p:nvSpPr>
              <p:cNvPr id="3" name="文本框 2">
                <a:extLst>
                  <a:ext uri="{FF2B5EF4-FFF2-40B4-BE49-F238E27FC236}">
                    <a16:creationId xmlns:a16="http://schemas.microsoft.com/office/drawing/2014/main" id="{995A1910-4B4B-AF4E-EEA1-AA594004D30F}"/>
                  </a:ext>
                </a:extLst>
              </p:cNvPr>
              <p:cNvSpPr txBox="1">
                <a:spLocks noRot="1" noChangeAspect="1" noMove="1" noResize="1" noEditPoints="1" noAdjustHandles="1" noChangeArrowheads="1" noChangeShapeType="1" noTextEdit="1"/>
              </p:cNvSpPr>
              <p:nvPr/>
            </p:nvSpPr>
            <p:spPr>
              <a:xfrm>
                <a:off x="2214936" y="2221530"/>
                <a:ext cx="8651128" cy="4278607"/>
              </a:xfrm>
              <a:prstGeom prst="rect">
                <a:avLst/>
              </a:prstGeom>
              <a:blipFill>
                <a:blip r:embed="rId4"/>
                <a:stretch>
                  <a:fillRect l="-564" t="-71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7010654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8BDA977-B2E0-7BAD-CEDD-0EA6180B8C2C}"/>
                  </a:ext>
                </a:extLst>
              </p:cNvPr>
              <p:cNvSpPr txBox="1"/>
              <p:nvPr/>
            </p:nvSpPr>
            <p:spPr>
              <a:xfrm>
                <a:off x="1770436" y="800176"/>
                <a:ext cx="8651128" cy="4278607"/>
              </a:xfrm>
              <a:prstGeom prst="rect">
                <a:avLst/>
              </a:prstGeom>
              <a:noFill/>
            </p:spPr>
            <p:txBody>
              <a:bodyPr wrap="square">
                <a:spAutoFit/>
              </a:bodyPr>
              <a:lstStyle/>
              <a:p>
                <a:pPr marL="0" indent="0">
                  <a:buNone/>
                </a:pPr>
                <a:r>
                  <a:rPr lang="zh-CN" altLang="zh-CN" dirty="0">
                    <a:solidFill>
                      <a:schemeClr val="tx1"/>
                    </a:solidFill>
                  </a:rPr>
                  <a:t>②计算按照每个特征进行划分的期望信息，</a:t>
                </a:r>
                <a:r>
                  <a:rPr lang="en-US" altLang="zh-CN" i="1" dirty="0">
                    <a:solidFill>
                      <a:schemeClr val="tx1"/>
                    </a:solidFill>
                  </a:rPr>
                  <a:t>A</a:t>
                </a:r>
                <a:r>
                  <a:rPr lang="zh-CN" altLang="zh-CN" dirty="0">
                    <a:solidFill>
                      <a:schemeClr val="tx1"/>
                    </a:solidFill>
                  </a:rPr>
                  <a:t>代表特征“学历”，</a:t>
                </a:r>
                <a:r>
                  <a:rPr lang="en-US" altLang="zh-CN" i="1" dirty="0">
                    <a:solidFill>
                      <a:schemeClr val="tx1"/>
                    </a:solidFill>
                  </a:rPr>
                  <a:t>B</a:t>
                </a:r>
                <a:r>
                  <a:rPr lang="zh-CN" altLang="zh-CN" dirty="0">
                    <a:solidFill>
                      <a:schemeClr val="tx1"/>
                    </a:solidFill>
                  </a:rPr>
                  <a:t>代表特征“婚否”，</a:t>
                </a:r>
                <a:r>
                  <a:rPr lang="en-US" altLang="zh-CN" i="1" dirty="0">
                    <a:solidFill>
                      <a:schemeClr val="tx1"/>
                    </a:solidFill>
                  </a:rPr>
                  <a:t>C</a:t>
                </a:r>
                <a:r>
                  <a:rPr lang="zh-CN" altLang="zh-CN" dirty="0">
                    <a:solidFill>
                      <a:schemeClr val="tx1"/>
                    </a:solidFill>
                  </a:rPr>
                  <a:t>代表特征“是否有车”，</a:t>
                </a:r>
                <a:r>
                  <a:rPr lang="en-US" altLang="zh-CN" i="1" dirty="0">
                    <a:solidFill>
                      <a:schemeClr val="tx1"/>
                    </a:solidFill>
                  </a:rPr>
                  <a:t>E</a:t>
                </a:r>
                <a:r>
                  <a:rPr lang="zh-CN" altLang="zh-CN" dirty="0">
                    <a:solidFill>
                      <a:schemeClr val="tx1"/>
                    </a:solidFill>
                  </a:rPr>
                  <a:t>代表特征“收入水平”。</a:t>
                </a:r>
                <a:endParaRPr lang="en-US" altLang="zh-CN" dirty="0">
                  <a:solidFill>
                    <a:schemeClr val="tx1"/>
                  </a:solidFill>
                </a:endParaRPr>
              </a:p>
              <a:p>
                <a:pPr marL="0" indent="0">
                  <a:buNone/>
                </a:pPr>
                <a:endParaRPr lang="zh-CN" altLang="zh-CN"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𝐴</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5</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5</m:t>
                              </m:r>
                            </m:den>
                          </m:f>
                        </m:e>
                      </m:d>
                    </m:oMath>
                  </m:oMathPara>
                </a14:m>
                <a:endParaRPr lang="zh-CN"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)=0.888</m:t>
                      </m:r>
                    </m:oMath>
                  </m:oMathPara>
                </a14:m>
                <a:endParaRPr lang="zh-CN" altLang="zh-CN" dirty="0">
                  <a:solidFill>
                    <a:schemeClr val="tx1"/>
                  </a:solidFill>
                </a:endParaRPr>
              </a:p>
              <a:p>
                <a:pPr marL="0" indent="0">
                  <a:buNone/>
                </a:pPr>
                <a14:m>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𝐵</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10</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10</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10</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10</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10</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5</m:t>
                            </m:r>
                          </m:den>
                        </m:f>
                      </m:e>
                    </m:d>
                    <m:r>
                      <a:rPr lang="en-US" altLang="zh-CN" i="1">
                        <a:solidFill>
                          <a:schemeClr val="tx1"/>
                        </a:solidFill>
                        <a:latin typeface="Cambria Math" panose="02040503050406030204" pitchFamily="18" charset="0"/>
                      </a:rPr>
                      <m:t>=0</m:t>
                    </m:r>
                    <m:r>
                      <a:rPr lang="en-US" altLang="zh-CN">
                        <a:solidFill>
                          <a:schemeClr val="tx1"/>
                        </a:solidFill>
                        <a:latin typeface="Cambria Math" panose="02040503050406030204" pitchFamily="18" charset="0"/>
                      </a:rPr>
                      <m:t>.</m:t>
                    </m:r>
                  </m:oMath>
                </a14:m>
                <a:r>
                  <a:rPr lang="en-US" altLang="zh-CN" dirty="0">
                    <a:solidFill>
                      <a:schemeClr val="tx1"/>
                    </a:solidFill>
                  </a:rPr>
                  <a:t>667</a:t>
                </a:r>
                <a:endParaRPr lang="en-US" altLang="zh-CN" dirty="0"/>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𝐶</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9</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9</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9</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9</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3</m:t>
                              </m:r>
                            </m:num>
                            <m:den>
                              <m:r>
                                <a:rPr lang="en-US" altLang="zh-CN" i="1">
                                  <a:solidFill>
                                    <a:schemeClr val="tx1"/>
                                  </a:solidFill>
                                  <a:latin typeface="Cambria Math" panose="02040503050406030204" pitchFamily="18" charset="0"/>
                                </a:rPr>
                                <m:t>9</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6</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6</m:t>
                              </m:r>
                            </m:den>
                          </m:f>
                        </m:e>
                      </m:d>
                      <m:r>
                        <a:rPr lang="en-US" altLang="zh-CN" i="1">
                          <a:solidFill>
                            <a:schemeClr val="tx1"/>
                          </a:solidFill>
                          <a:latin typeface="Cambria Math" panose="02040503050406030204" pitchFamily="18" charset="0"/>
                        </a:rPr>
                        <m:t>=0.951</m:t>
                      </m:r>
                    </m:oMath>
                  </m:oMathPara>
                </a14:m>
                <a:endParaRPr lang="zh-CN" altLang="zh-CN"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𝐸</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5</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m:t>
                              </m:r>
                            </m:num>
                            <m:den>
                              <m:r>
                                <a:rPr lang="en-US" altLang="zh-CN" i="1">
                                  <a:solidFill>
                                    <a:schemeClr val="tx1"/>
                                  </a:solidFill>
                                  <a:latin typeface="Cambria Math" panose="02040503050406030204" pitchFamily="18" charset="0"/>
                                </a:rPr>
                                <m:t>5</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1</m:t>
                              </m:r>
                            </m:num>
                            <m:den>
                              <m:r>
                                <a:rPr lang="en-US" altLang="zh-CN" i="1">
                                  <a:solidFill>
                                    <a:schemeClr val="tx1"/>
                                  </a:solidFill>
                                  <a:latin typeface="Cambria Math" panose="02040503050406030204" pitchFamily="18" charset="0"/>
                                </a:rPr>
                                <m:t>5</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6</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6</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2</m:t>
                              </m:r>
                            </m:num>
                            <m:den>
                              <m:r>
                                <a:rPr lang="en-US" altLang="zh-CN" i="1">
                                  <a:solidFill>
                                    <a:schemeClr val="tx1"/>
                                  </a:solidFill>
                                  <a:latin typeface="Cambria Math" panose="02040503050406030204" pitchFamily="18" charset="0"/>
                                </a:rPr>
                                <m:t>6</m:t>
                              </m:r>
                            </m:den>
                          </m:f>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6</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6</m:t>
                              </m:r>
                            </m:den>
                          </m:f>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15</m:t>
                          </m:r>
                        </m:den>
                      </m:f>
                      <m:r>
                        <a:rPr lang="zh-CN"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4</m:t>
                          </m:r>
                        </m:den>
                      </m:f>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𝑙𝑜𝑔</m:t>
                          </m:r>
                        </m:e>
                        <m:sub>
                          <m:r>
                            <a:rPr lang="en-US" altLang="zh-CN" i="1">
                              <a:solidFill>
                                <a:schemeClr val="tx1"/>
                              </a:solidFill>
                              <a:latin typeface="Cambria Math" panose="02040503050406030204" pitchFamily="18" charset="0"/>
                            </a:rPr>
                            <m:t>2</m:t>
                          </m:r>
                        </m:sub>
                      </m:sSub>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4</m:t>
                          </m:r>
                        </m:den>
                      </m:f>
                      <m:r>
                        <a:rPr lang="en-US" altLang="zh-CN" i="1">
                          <a:solidFill>
                            <a:schemeClr val="tx1"/>
                          </a:solidFill>
                          <a:latin typeface="Cambria Math" panose="02040503050406030204" pitchFamily="18" charset="0"/>
                        </a:rPr>
                        <m:t>)=0.608</m:t>
                      </m:r>
                    </m:oMath>
                  </m:oMathPara>
                </a14:m>
                <a:endParaRPr lang="zh-CN" altLang="zh-CN" dirty="0">
                  <a:solidFill>
                    <a:schemeClr val="tx1"/>
                  </a:solidFill>
                </a:endParaRPr>
              </a:p>
            </p:txBody>
          </p:sp>
        </mc:Choice>
        <mc:Fallback xmlns="">
          <p:sp>
            <p:nvSpPr>
              <p:cNvPr id="2" name="文本框 1">
                <a:extLst>
                  <a:ext uri="{FF2B5EF4-FFF2-40B4-BE49-F238E27FC236}">
                    <a16:creationId xmlns:a16="http://schemas.microsoft.com/office/drawing/2014/main" id="{28BDA977-B2E0-7BAD-CEDD-0EA6180B8C2C}"/>
                  </a:ext>
                </a:extLst>
              </p:cNvPr>
              <p:cNvSpPr txBox="1">
                <a:spLocks noRot="1" noChangeAspect="1" noMove="1" noResize="1" noEditPoints="1" noAdjustHandles="1" noChangeArrowheads="1" noChangeShapeType="1" noTextEdit="1"/>
              </p:cNvSpPr>
              <p:nvPr/>
            </p:nvSpPr>
            <p:spPr>
              <a:xfrm>
                <a:off x="1770436" y="800176"/>
                <a:ext cx="8651128" cy="4278607"/>
              </a:xfrm>
              <a:prstGeom prst="rect">
                <a:avLst/>
              </a:prstGeom>
              <a:blipFill>
                <a:blip r:embed="rId3"/>
                <a:stretch>
                  <a:fillRect l="-563" t="-7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1E0F894-3641-7AD4-9EF3-BA694FE2D7BB}"/>
                  </a:ext>
                </a:extLst>
              </p:cNvPr>
              <p:cNvSpPr txBox="1"/>
              <p:nvPr/>
            </p:nvSpPr>
            <p:spPr>
              <a:xfrm>
                <a:off x="1770435" y="5144348"/>
                <a:ext cx="8516455" cy="1477328"/>
              </a:xfrm>
              <a:prstGeom prst="rect">
                <a:avLst/>
              </a:prstGeom>
              <a:noFill/>
            </p:spPr>
            <p:txBody>
              <a:bodyPr wrap="square">
                <a:spAutoFit/>
              </a:bodyPr>
              <a:lstStyle/>
              <a:p>
                <a:pPr marL="0" indent="0">
                  <a:buNone/>
                </a:pPr>
                <a:r>
                  <a:rPr lang="zh-CN" altLang="zh-CN" dirty="0">
                    <a:solidFill>
                      <a:schemeClr val="tx1"/>
                    </a:solidFill>
                  </a:rPr>
                  <a:t>③计算信息增益</a:t>
                </a:r>
              </a:p>
              <a:p>
                <a:pPr mar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e>
                          <m:r>
                            <a:rPr lang="en-US" altLang="zh-CN" i="1">
                              <a:solidFill>
                                <a:schemeClr val="tx1"/>
                              </a:solidFill>
                              <a:latin typeface="Cambria Math" panose="02040503050406030204" pitchFamily="18" charset="0"/>
                            </a:rPr>
                            <m:t>𝐴</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𝐴</m:t>
                          </m:r>
                        </m:e>
                      </m:d>
                      <m:r>
                        <a:rPr lang="en-US" altLang="zh-CN" i="1">
                          <a:solidFill>
                            <a:schemeClr val="tx1"/>
                          </a:solidFill>
                          <a:latin typeface="Cambria Math" panose="02040503050406030204" pitchFamily="18" charset="0"/>
                        </a:rPr>
                        <m:t>=0.083</m:t>
                      </m:r>
                    </m:oMath>
                  </m:oMathPara>
                </a14:m>
                <a:endParaRPr lang="zh-CN"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e>
                          <m:r>
                            <a:rPr lang="en-US" altLang="zh-CN" i="1">
                              <a:solidFill>
                                <a:schemeClr val="tx1"/>
                              </a:solidFill>
                              <a:latin typeface="Cambria Math" panose="02040503050406030204" pitchFamily="18" charset="0"/>
                            </a:rPr>
                            <m:t>𝐵</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𝐵</m:t>
                          </m:r>
                        </m:e>
                      </m:d>
                      <m:r>
                        <a:rPr lang="en-US" altLang="zh-CN" i="1">
                          <a:solidFill>
                            <a:schemeClr val="tx1"/>
                          </a:solidFill>
                          <a:latin typeface="Cambria Math" panose="02040503050406030204" pitchFamily="18" charset="0"/>
                        </a:rPr>
                        <m:t>=0.304</m:t>
                      </m:r>
                    </m:oMath>
                  </m:oMathPara>
                </a14:m>
                <a:endParaRPr lang="zh-CN"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e>
                          <m:r>
                            <a:rPr lang="en-US" altLang="zh-CN" i="1">
                              <a:solidFill>
                                <a:schemeClr val="tx1"/>
                              </a:solidFill>
                              <a:latin typeface="Cambria Math" panose="02040503050406030204" pitchFamily="18" charset="0"/>
                            </a:rPr>
                            <m:t>𝐶</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𝐶</m:t>
                          </m:r>
                        </m:e>
                      </m:d>
                      <m:r>
                        <a:rPr lang="en-US" altLang="zh-CN" i="1">
                          <a:solidFill>
                            <a:schemeClr val="tx1"/>
                          </a:solidFill>
                          <a:latin typeface="Cambria Math" panose="02040503050406030204" pitchFamily="18" charset="0"/>
                        </a:rPr>
                        <m:t>=0.019</m:t>
                      </m:r>
                    </m:oMath>
                  </m:oMathPara>
                </a14:m>
                <a:endParaRPr lang="zh-CN"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e>
                          <m:r>
                            <a:rPr lang="en-US" altLang="zh-CN" i="1">
                              <a:solidFill>
                                <a:schemeClr val="tx1"/>
                              </a:solidFill>
                              <a:latin typeface="Cambria Math" panose="02040503050406030204" pitchFamily="18" charset="0"/>
                            </a:rPr>
                            <m:t>𝐸</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𝐷</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𝐸</m:t>
                          </m:r>
                        </m:e>
                      </m:d>
                      <m:r>
                        <a:rPr lang="en-US" altLang="zh-CN" i="1">
                          <a:solidFill>
                            <a:schemeClr val="tx1"/>
                          </a:solidFill>
                          <a:latin typeface="Cambria Math" panose="02040503050406030204" pitchFamily="18" charset="0"/>
                        </a:rPr>
                        <m:t>=0.363</m:t>
                      </m:r>
                    </m:oMath>
                  </m:oMathPara>
                </a14:m>
                <a:endParaRPr lang="zh-CN" altLang="zh-CN" dirty="0">
                  <a:solidFill>
                    <a:schemeClr val="tx1"/>
                  </a:solidFill>
                </a:endParaRPr>
              </a:p>
            </p:txBody>
          </p:sp>
        </mc:Choice>
        <mc:Fallback xmlns="">
          <p:sp>
            <p:nvSpPr>
              <p:cNvPr id="3" name="文本框 2">
                <a:extLst>
                  <a:ext uri="{FF2B5EF4-FFF2-40B4-BE49-F238E27FC236}">
                    <a16:creationId xmlns:a16="http://schemas.microsoft.com/office/drawing/2014/main" id="{11E0F894-3641-7AD4-9EF3-BA694FE2D7BB}"/>
                  </a:ext>
                </a:extLst>
              </p:cNvPr>
              <p:cNvSpPr txBox="1">
                <a:spLocks noRot="1" noChangeAspect="1" noMove="1" noResize="1" noEditPoints="1" noAdjustHandles="1" noChangeArrowheads="1" noChangeShapeType="1" noTextEdit="1"/>
              </p:cNvSpPr>
              <p:nvPr/>
            </p:nvSpPr>
            <p:spPr>
              <a:xfrm>
                <a:off x="1770435" y="5144348"/>
                <a:ext cx="8516455" cy="1477328"/>
              </a:xfrm>
              <a:prstGeom prst="rect">
                <a:avLst/>
              </a:prstGeom>
              <a:blipFill>
                <a:blip r:embed="rId4"/>
                <a:stretch>
                  <a:fillRect l="-573" t="-2479" b="-289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6900843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35688507-7D02-D257-7B60-476DEB8C9400}"/>
              </a:ext>
            </a:extLst>
          </p:cNvPr>
          <p:cNvSpPr txBox="1">
            <a:spLocks noChangeArrowheads="1"/>
          </p:cNvSpPr>
          <p:nvPr/>
        </p:nvSpPr>
        <p:spPr bwMode="auto">
          <a:xfrm>
            <a:off x="1511412" y="1219260"/>
            <a:ext cx="8033267" cy="152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30000"/>
              </a:lnSpc>
              <a:spcBef>
                <a:spcPct val="0"/>
              </a:spcBef>
              <a:buNone/>
              <a:defRPr/>
            </a:pPr>
            <a:r>
              <a:rPr lang="zh-CN" altLang="en-US" b="1" dirty="0">
                <a:solidFill>
                  <a:srgbClr val="1F6684"/>
                </a:solidFill>
                <a:latin typeface="微软雅黑" panose="020B0503020204020204" pitchFamily="34" charset="-122"/>
              </a:rPr>
              <a:t>决策树基本概念：</a:t>
            </a:r>
            <a:endParaRPr lang="en-US" altLang="zh-CN" b="1" dirty="0">
              <a:solidFill>
                <a:srgbClr val="1F6684"/>
              </a:solidFill>
              <a:latin typeface="微软雅黑" panose="020B0503020204020204" pitchFamily="34" charset="-122"/>
            </a:endParaRPr>
          </a:p>
          <a:p>
            <a:pPr marL="0" indent="0" eaLnBrk="1" hangingPunct="1">
              <a:lnSpc>
                <a:spcPct val="130000"/>
              </a:lnSpc>
              <a:spcBef>
                <a:spcPct val="0"/>
              </a:spcBef>
              <a:buNone/>
              <a:defRPr/>
            </a:pPr>
            <a:r>
              <a:rPr lang="en-US" altLang="zh-CN" dirty="0">
                <a:solidFill>
                  <a:schemeClr val="tx1"/>
                </a:solidFill>
              </a:rPr>
              <a:t>	</a:t>
            </a:r>
            <a:r>
              <a:rPr lang="zh-CN" altLang="zh-CN" dirty="0">
                <a:solidFill>
                  <a:schemeClr val="tx1"/>
                </a:solidFill>
              </a:rPr>
              <a:t>决策树算法的基础是二叉树，但不是所有的决策树都是二叉树，还有可能是多叉树，如</a:t>
            </a:r>
            <a:r>
              <a:rPr lang="zh-CN" altLang="en-US" dirty="0">
                <a:solidFill>
                  <a:schemeClr val="tx1"/>
                </a:solidFill>
              </a:rPr>
              <a:t>下</a:t>
            </a:r>
            <a:r>
              <a:rPr lang="zh-CN" altLang="zh-CN" dirty="0">
                <a:solidFill>
                  <a:schemeClr val="tx1"/>
                </a:solidFill>
              </a:rPr>
              <a:t>图所示。</a:t>
            </a:r>
            <a:endParaRPr lang="en-US" altLang="zh-CN" b="1" dirty="0">
              <a:solidFill>
                <a:schemeClr val="tx1"/>
              </a:solidFill>
              <a:latin typeface="微软雅黑" panose="020B0503020204020204" pitchFamily="34" charset="-122"/>
            </a:endParaRPr>
          </a:p>
        </p:txBody>
      </p:sp>
      <p:graphicFrame>
        <p:nvGraphicFramePr>
          <p:cNvPr id="3" name="对象 2">
            <a:extLst>
              <a:ext uri="{FF2B5EF4-FFF2-40B4-BE49-F238E27FC236}">
                <a16:creationId xmlns:a16="http://schemas.microsoft.com/office/drawing/2014/main" id="{AD2624B1-5261-C5E3-865C-95E45FE93035}"/>
              </a:ext>
            </a:extLst>
          </p:cNvPr>
          <p:cNvGraphicFramePr>
            <a:graphicFrameLocks noChangeAspect="1"/>
          </p:cNvGraphicFramePr>
          <p:nvPr>
            <p:extLst>
              <p:ext uri="{D42A27DB-BD31-4B8C-83A1-F6EECF244321}">
                <p14:modId xmlns:p14="http://schemas.microsoft.com/office/powerpoint/2010/main" val="570689742"/>
              </p:ext>
            </p:extLst>
          </p:nvPr>
        </p:nvGraphicFramePr>
        <p:xfrm>
          <a:off x="1715032" y="3110952"/>
          <a:ext cx="3133523" cy="2485811"/>
        </p:xfrm>
        <a:graphic>
          <a:graphicData uri="http://schemas.openxmlformats.org/presentationml/2006/ole">
            <mc:AlternateContent xmlns:mc="http://schemas.openxmlformats.org/markup-compatibility/2006">
              <mc:Choice xmlns:v="urn:schemas-microsoft-com:vml" Requires="v">
                <p:oleObj name="Visio" r:id="rId3" imgW="1773974" imgH="1408321" progId="Visio.Drawing.11">
                  <p:embed/>
                </p:oleObj>
              </mc:Choice>
              <mc:Fallback>
                <p:oleObj name="Visio" r:id="rId3" imgW="1773974" imgH="1408321" progId="Visio.Drawing.11">
                  <p:embed/>
                  <p:pic>
                    <p:nvPicPr>
                      <p:cNvPr id="8" name="对象 7">
                        <a:extLst>
                          <a:ext uri="{FF2B5EF4-FFF2-40B4-BE49-F238E27FC236}">
                            <a16:creationId xmlns:a16="http://schemas.microsoft.com/office/drawing/2014/main" id="{93D4E1D4-1A35-4C92-91B4-5C447ACA68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5032" y="3110952"/>
                        <a:ext cx="3133523" cy="2485811"/>
                      </a:xfrm>
                      <a:prstGeom prst="rect">
                        <a:avLst/>
                      </a:prstGeom>
                      <a:noFill/>
                    </p:spPr>
                  </p:pic>
                </p:oleObj>
              </mc:Fallback>
            </mc:AlternateContent>
          </a:graphicData>
        </a:graphic>
      </p:graphicFrame>
      <p:pic>
        <p:nvPicPr>
          <p:cNvPr id="4" name="图片 3">
            <a:extLst>
              <a:ext uri="{FF2B5EF4-FFF2-40B4-BE49-F238E27FC236}">
                <a16:creationId xmlns:a16="http://schemas.microsoft.com/office/drawing/2014/main" id="{1530AAB3-3405-C2E7-9F6D-E94A7D4B120A}"/>
              </a:ext>
            </a:extLst>
          </p:cNvPr>
          <p:cNvPicPr>
            <a:picLocks noChangeAspect="1"/>
          </p:cNvPicPr>
          <p:nvPr/>
        </p:nvPicPr>
        <p:blipFill>
          <a:blip r:embed="rId5"/>
          <a:stretch>
            <a:fillRect/>
          </a:stretch>
        </p:blipFill>
        <p:spPr>
          <a:xfrm>
            <a:off x="5549906" y="3059783"/>
            <a:ext cx="4292140" cy="2414795"/>
          </a:xfrm>
          <a:prstGeom prst="rect">
            <a:avLst/>
          </a:prstGeom>
        </p:spPr>
      </p:pic>
    </p:spTree>
    <p:custDataLst>
      <p:tags r:id="rId1"/>
    </p:custDataLst>
    <p:extLst>
      <p:ext uri="{BB962C8B-B14F-4D97-AF65-F5344CB8AC3E}">
        <p14:creationId xmlns:p14="http://schemas.microsoft.com/office/powerpoint/2010/main" val="274598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BBC87BDA-8B3E-ED0E-4338-171FB867E426}"/>
              </a:ext>
            </a:extLst>
          </p:cNvPr>
          <p:cNvSpPr txBox="1">
            <a:spLocks noChangeArrowheads="1"/>
          </p:cNvSpPr>
          <p:nvPr/>
        </p:nvSpPr>
        <p:spPr bwMode="auto">
          <a:xfrm>
            <a:off x="2142472" y="906976"/>
            <a:ext cx="7907056" cy="5791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30000"/>
              </a:lnSpc>
              <a:spcBef>
                <a:spcPct val="0"/>
              </a:spcBef>
              <a:buNone/>
              <a:defRPr/>
            </a:pPr>
            <a:r>
              <a:rPr lang="zh-CN" altLang="en-US" sz="1800" b="1" dirty="0">
                <a:solidFill>
                  <a:schemeClr val="tx1"/>
                </a:solidFill>
                <a:latin typeface="微软雅黑" panose="020B0503020204020204" pitchFamily="34" charset="-122"/>
              </a:rPr>
              <a:t>（</a:t>
            </a:r>
            <a:r>
              <a:rPr lang="en-US" altLang="zh-CN" sz="1800" b="1" dirty="0">
                <a:solidFill>
                  <a:schemeClr val="tx1"/>
                </a:solidFill>
                <a:latin typeface="微软雅黑" panose="020B0503020204020204" pitchFamily="34" charset="-122"/>
              </a:rPr>
              <a:t>1</a:t>
            </a:r>
            <a:r>
              <a:rPr lang="zh-CN" altLang="en-US" sz="1800" b="1" dirty="0">
                <a:solidFill>
                  <a:schemeClr val="tx1"/>
                </a:solidFill>
                <a:latin typeface="微软雅黑" panose="020B0503020204020204" pitchFamily="34" charset="-122"/>
              </a:rPr>
              <a:t>）构造决策树</a:t>
            </a:r>
            <a:r>
              <a:rPr lang="zh-CN" altLang="en-US" sz="1800" dirty="0">
                <a:solidFill>
                  <a:schemeClr val="tx1"/>
                </a:solidFill>
                <a:latin typeface="微软雅黑" panose="020B0503020204020204" pitchFamily="34" charset="-122"/>
              </a:rPr>
              <a:t>。</a:t>
            </a:r>
            <a:endParaRPr lang="en-US" altLang="zh-CN" sz="1800" dirty="0">
              <a:solidFill>
                <a:schemeClr val="tx1"/>
              </a:solidFill>
              <a:latin typeface="微软雅黑" panose="020B0503020204020204" pitchFamily="34" charset="-122"/>
            </a:endParaRPr>
          </a:p>
          <a:p>
            <a:pPr marL="0" indent="0" eaLnBrk="1" hangingPunct="1">
              <a:lnSpc>
                <a:spcPct val="130000"/>
              </a:lnSpc>
              <a:spcBef>
                <a:spcPct val="0"/>
              </a:spcBef>
              <a:buNone/>
              <a:defRPr/>
            </a:pPr>
            <a:r>
              <a:rPr lang="zh-CN" altLang="en-US" sz="1800" dirty="0">
                <a:solidFill>
                  <a:schemeClr val="tx1"/>
                </a:solidFill>
                <a:latin typeface="微软雅黑" panose="020B0503020204020204" pitchFamily="34" charset="-122"/>
              </a:rPr>
              <a:t>决策树构造过程如下。</a:t>
            </a:r>
          </a:p>
          <a:p>
            <a:pPr marL="0" indent="0" eaLnBrk="1" hangingPunct="1">
              <a:lnSpc>
                <a:spcPct val="130000"/>
              </a:lnSpc>
              <a:spcBef>
                <a:spcPct val="0"/>
              </a:spcBef>
              <a:buNone/>
              <a:defRPr/>
            </a:pPr>
            <a:r>
              <a:rPr lang="zh-CN" altLang="en-US" sz="1800" dirty="0">
                <a:solidFill>
                  <a:schemeClr val="tx1"/>
                </a:solidFill>
                <a:latin typeface="微软雅黑" panose="020B0503020204020204" pitchFamily="34" charset="-122"/>
              </a:rPr>
              <a:t>①输入数据，主要包括训练集的特征和类标号。</a:t>
            </a:r>
          </a:p>
          <a:p>
            <a:pPr marL="0" indent="0" eaLnBrk="1" hangingPunct="1">
              <a:lnSpc>
                <a:spcPct val="130000"/>
              </a:lnSpc>
              <a:spcBef>
                <a:spcPct val="0"/>
              </a:spcBef>
              <a:buNone/>
              <a:defRPr/>
            </a:pPr>
            <a:r>
              <a:rPr lang="zh-CN" altLang="en-US" sz="1800" dirty="0">
                <a:solidFill>
                  <a:schemeClr val="tx1"/>
                </a:solidFill>
                <a:latin typeface="微软雅黑" panose="020B0503020204020204" pitchFamily="34" charset="-122"/>
              </a:rPr>
              <a:t>②选取一个属性作为根节点的分裂属性进行分裂。</a:t>
            </a:r>
          </a:p>
          <a:p>
            <a:pPr marL="0" indent="0" eaLnBrk="1" hangingPunct="1">
              <a:lnSpc>
                <a:spcPct val="130000"/>
              </a:lnSpc>
              <a:spcBef>
                <a:spcPct val="0"/>
              </a:spcBef>
              <a:buNone/>
              <a:defRPr/>
            </a:pPr>
            <a:r>
              <a:rPr lang="zh-CN" altLang="en-US" sz="1800" dirty="0">
                <a:solidFill>
                  <a:schemeClr val="tx1"/>
                </a:solidFill>
                <a:latin typeface="微软雅黑" panose="020B0503020204020204" pitchFamily="34" charset="-122"/>
              </a:rPr>
              <a:t>③对于分裂的每个分支，如果已经属于同一类就不再分了，如果不是同一类，依次选取不同的特征作为分裂属性进行分裂，同时删除已经选过的分列属性。</a:t>
            </a:r>
          </a:p>
          <a:p>
            <a:pPr marL="0" indent="0" eaLnBrk="1" hangingPunct="1">
              <a:lnSpc>
                <a:spcPct val="130000"/>
              </a:lnSpc>
              <a:spcBef>
                <a:spcPct val="0"/>
              </a:spcBef>
              <a:buNone/>
              <a:defRPr/>
            </a:pPr>
            <a:r>
              <a:rPr lang="zh-CN" altLang="en-US" sz="1800" dirty="0">
                <a:solidFill>
                  <a:schemeClr val="tx1"/>
                </a:solidFill>
                <a:latin typeface="微软雅黑" panose="020B0503020204020204" pitchFamily="34" charset="-122"/>
              </a:rPr>
              <a:t>④不断的重复③，直到到达叶子节点，也就是决策树的最后一层，这时这个节点下的数据都是一类了。</a:t>
            </a:r>
          </a:p>
          <a:p>
            <a:pPr marL="0" indent="0" eaLnBrk="1" hangingPunct="1">
              <a:lnSpc>
                <a:spcPct val="130000"/>
              </a:lnSpc>
              <a:spcBef>
                <a:spcPct val="0"/>
              </a:spcBef>
              <a:buNone/>
              <a:defRPr/>
            </a:pPr>
            <a:r>
              <a:rPr lang="zh-CN" altLang="en-US" sz="1800" dirty="0">
                <a:solidFill>
                  <a:schemeClr val="tx1"/>
                </a:solidFill>
                <a:latin typeface="微软雅黑" panose="020B0503020204020204" pitchFamily="34" charset="-122"/>
              </a:rPr>
              <a:t>⑤最后得到每个叶子节点对应的类标签以及到达这个叶子节点的路径。</a:t>
            </a:r>
            <a:endParaRPr lang="en-US" altLang="zh-CN" sz="1800" dirty="0">
              <a:solidFill>
                <a:schemeClr val="tx1"/>
              </a:solidFill>
              <a:latin typeface="微软雅黑" panose="020B0503020204020204" pitchFamily="34" charset="-122"/>
            </a:endParaRPr>
          </a:p>
          <a:p>
            <a:pPr marL="0" indent="0" eaLnBrk="1" hangingPunct="1">
              <a:lnSpc>
                <a:spcPct val="130000"/>
              </a:lnSpc>
              <a:spcBef>
                <a:spcPct val="0"/>
              </a:spcBef>
              <a:buNone/>
              <a:defRPr/>
            </a:pPr>
            <a:endParaRPr lang="zh-CN" altLang="en-US" sz="1800" dirty="0">
              <a:solidFill>
                <a:schemeClr val="tx1"/>
              </a:solidFill>
              <a:latin typeface="微软雅黑" panose="020B0503020204020204" pitchFamily="34" charset="-122"/>
            </a:endParaRPr>
          </a:p>
          <a:p>
            <a:pPr marL="0" indent="0" eaLnBrk="1" hangingPunct="1">
              <a:lnSpc>
                <a:spcPct val="130000"/>
              </a:lnSpc>
              <a:spcBef>
                <a:spcPct val="0"/>
              </a:spcBef>
              <a:buNone/>
              <a:defRPr/>
            </a:pPr>
            <a:r>
              <a:rPr lang="zh-CN" altLang="en-US" sz="1800" b="1" dirty="0">
                <a:solidFill>
                  <a:schemeClr val="tx1"/>
                </a:solidFill>
                <a:latin typeface="微软雅黑" panose="020B0503020204020204" pitchFamily="34" charset="-122"/>
              </a:rPr>
              <a:t>（</a:t>
            </a:r>
            <a:r>
              <a:rPr lang="en-US" altLang="zh-CN" sz="1800" b="1" dirty="0">
                <a:solidFill>
                  <a:schemeClr val="tx1"/>
                </a:solidFill>
                <a:latin typeface="微软雅黑" panose="020B0503020204020204" pitchFamily="34" charset="-122"/>
              </a:rPr>
              <a:t>2</a:t>
            </a:r>
            <a:r>
              <a:rPr lang="zh-CN" altLang="en-US" sz="1800" b="1" dirty="0">
                <a:solidFill>
                  <a:schemeClr val="tx1"/>
                </a:solidFill>
                <a:latin typeface="微软雅黑" panose="020B0503020204020204" pitchFamily="34" charset="-122"/>
              </a:rPr>
              <a:t>）决策树的预测</a:t>
            </a:r>
          </a:p>
          <a:p>
            <a:pPr marL="0" indent="0" eaLnBrk="1" hangingPunct="1">
              <a:lnSpc>
                <a:spcPct val="130000"/>
              </a:lnSpc>
              <a:spcBef>
                <a:spcPct val="0"/>
              </a:spcBef>
              <a:buNone/>
              <a:defRPr/>
            </a:pPr>
            <a:r>
              <a:rPr lang="zh-CN" altLang="en-US" sz="1800" dirty="0">
                <a:solidFill>
                  <a:schemeClr val="tx1"/>
                </a:solidFill>
                <a:latin typeface="微软雅黑" panose="020B0503020204020204" pitchFamily="34" charset="-122"/>
              </a:rPr>
              <a:t>得到由训练数据构造的决策树以后就可以进行预测了，当待预测的数据输入决策树的时候，根据分裂</a:t>
            </a:r>
            <a:r>
              <a:rPr lang="en-US" altLang="zh-CN" sz="1800" dirty="0">
                <a:solidFill>
                  <a:schemeClr val="tx1"/>
                </a:solidFill>
                <a:latin typeface="微软雅黑" panose="020B0503020204020204" pitchFamily="34" charset="-122"/>
              </a:rPr>
              <a:t>	</a:t>
            </a:r>
            <a:r>
              <a:rPr lang="zh-CN" altLang="en-US" sz="1800" dirty="0">
                <a:solidFill>
                  <a:schemeClr val="tx1"/>
                </a:solidFill>
                <a:latin typeface="微软雅黑" panose="020B0503020204020204" pitchFamily="34" charset="-122"/>
              </a:rPr>
              <a:t>属性以及分裂规则进行分裂，最后即可确定所属的类别。</a:t>
            </a:r>
          </a:p>
          <a:p>
            <a:pPr marL="0" indent="0" eaLnBrk="1" hangingPunct="1">
              <a:lnSpc>
                <a:spcPct val="200000"/>
              </a:lnSpc>
              <a:buNone/>
            </a:pPr>
            <a:endParaRPr lang="en-US" altLang="zh-CN" dirty="0">
              <a:ea typeface="宋体" panose="02010600030101010101" pitchFamily="2" charset="-122"/>
            </a:endParaRPr>
          </a:p>
          <a:p>
            <a:pPr eaLnBrk="1" hangingPunct="1">
              <a:lnSpc>
                <a:spcPct val="200000"/>
              </a:lnSpc>
            </a:pPr>
            <a:endParaRPr lang="zh-CN" altLang="en-US" dirty="0">
              <a:ea typeface="宋体" panose="02010600030101010101" pitchFamily="2" charset="-122"/>
            </a:endParaRPr>
          </a:p>
        </p:txBody>
      </p:sp>
    </p:spTree>
    <p:custDataLst>
      <p:tags r:id="rId1"/>
    </p:custDataLst>
    <p:extLst>
      <p:ext uri="{BB962C8B-B14F-4D97-AF65-F5344CB8AC3E}">
        <p14:creationId xmlns:p14="http://schemas.microsoft.com/office/powerpoint/2010/main" val="112487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表格 1">
            <a:extLst>
              <a:ext uri="{FF2B5EF4-FFF2-40B4-BE49-F238E27FC236}">
                <a16:creationId xmlns:a16="http://schemas.microsoft.com/office/drawing/2014/main" id="{C0AC19A0-4CC1-7D86-27D0-C631F640ACAB}"/>
              </a:ext>
            </a:extLst>
          </p:cNvPr>
          <p:cNvGraphicFramePr>
            <a:graphicFrameLocks noGrp="1"/>
          </p:cNvGraphicFramePr>
          <p:nvPr>
            <p:extLst>
              <p:ext uri="{D42A27DB-BD31-4B8C-83A1-F6EECF244321}">
                <p14:modId xmlns:p14="http://schemas.microsoft.com/office/powerpoint/2010/main" val="3734310614"/>
              </p:ext>
            </p:extLst>
          </p:nvPr>
        </p:nvGraphicFramePr>
        <p:xfrm>
          <a:off x="2222610" y="749372"/>
          <a:ext cx="6332644" cy="4145280"/>
        </p:xfrm>
        <a:graphic>
          <a:graphicData uri="http://schemas.openxmlformats.org/drawingml/2006/table">
            <a:tbl>
              <a:tblPr firstRow="1" firstCol="1" bandRow="1">
                <a:tableStyleId>{5C22544A-7EE6-4342-B048-85BDC9FD1C3A}</a:tableStyleId>
              </a:tblPr>
              <a:tblGrid>
                <a:gridCol w="901243">
                  <a:extLst>
                    <a:ext uri="{9D8B030D-6E8A-4147-A177-3AD203B41FA5}">
                      <a16:colId xmlns:a16="http://schemas.microsoft.com/office/drawing/2014/main" val="986178499"/>
                    </a:ext>
                  </a:extLst>
                </a:gridCol>
                <a:gridCol w="455011">
                  <a:extLst>
                    <a:ext uri="{9D8B030D-6E8A-4147-A177-3AD203B41FA5}">
                      <a16:colId xmlns:a16="http://schemas.microsoft.com/office/drawing/2014/main" val="2126985876"/>
                    </a:ext>
                  </a:extLst>
                </a:gridCol>
                <a:gridCol w="1243698">
                  <a:extLst>
                    <a:ext uri="{9D8B030D-6E8A-4147-A177-3AD203B41FA5}">
                      <a16:colId xmlns:a16="http://schemas.microsoft.com/office/drawing/2014/main" val="3793087105"/>
                    </a:ext>
                  </a:extLst>
                </a:gridCol>
                <a:gridCol w="1243698">
                  <a:extLst>
                    <a:ext uri="{9D8B030D-6E8A-4147-A177-3AD203B41FA5}">
                      <a16:colId xmlns:a16="http://schemas.microsoft.com/office/drawing/2014/main" val="2829451812"/>
                    </a:ext>
                  </a:extLst>
                </a:gridCol>
                <a:gridCol w="1244497">
                  <a:extLst>
                    <a:ext uri="{9D8B030D-6E8A-4147-A177-3AD203B41FA5}">
                      <a16:colId xmlns:a16="http://schemas.microsoft.com/office/drawing/2014/main" val="3167914808"/>
                    </a:ext>
                  </a:extLst>
                </a:gridCol>
                <a:gridCol w="1244497">
                  <a:extLst>
                    <a:ext uri="{9D8B030D-6E8A-4147-A177-3AD203B41FA5}">
                      <a16:colId xmlns:a16="http://schemas.microsoft.com/office/drawing/2014/main" val="4242214619"/>
                    </a:ext>
                  </a:extLst>
                </a:gridCol>
              </a:tblGrid>
              <a:tr h="0">
                <a:tc>
                  <a:txBody>
                    <a:bodyPr/>
                    <a:lstStyle/>
                    <a:p>
                      <a:pPr algn="ctr">
                        <a:spcAft>
                          <a:spcPts val="0"/>
                        </a:spcAft>
                      </a:pPr>
                      <a:r>
                        <a:rPr lang="en-US" sz="1600" kern="100">
                          <a:effectLst/>
                        </a:rPr>
                        <a:t>ID</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100">
                          <a:effectLst/>
                        </a:rPr>
                        <a:t>年龄</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100" dirty="0">
                          <a:effectLst/>
                        </a:rPr>
                        <a:t>吸烟史</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100">
                          <a:effectLst/>
                        </a:rPr>
                        <a:t>有无家族病史</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100">
                          <a:effectLst/>
                        </a:rPr>
                        <a:t>体重范围</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600" kern="100" dirty="0">
                          <a:effectLst/>
                        </a:rPr>
                        <a:t>患病与否</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40101296"/>
                  </a:ext>
                </a:extLst>
              </a:tr>
              <a:tr h="0">
                <a:tc>
                  <a:txBody>
                    <a:bodyPr/>
                    <a:lstStyle/>
                    <a:p>
                      <a:pPr algn="ctr">
                        <a:spcAft>
                          <a:spcPts val="0"/>
                        </a:spcAft>
                      </a:pPr>
                      <a:r>
                        <a:rPr lang="en-US" sz="1600" kern="100">
                          <a:effectLst/>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较低</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否</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48903442"/>
                  </a:ext>
                </a:extLst>
              </a:tr>
              <a:tr h="0">
                <a:tc>
                  <a:txBody>
                    <a:bodyPr/>
                    <a:lstStyle/>
                    <a:p>
                      <a:pPr algn="ctr">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25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中</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否</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03479997"/>
                  </a:ext>
                </a:extLst>
              </a:tr>
              <a:tr h="0">
                <a:tc>
                  <a:txBody>
                    <a:bodyPr/>
                    <a:lstStyle/>
                    <a:p>
                      <a:pPr algn="ctr">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27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0-5</a:t>
                      </a:r>
                      <a:r>
                        <a:rPr lang="zh-CN" sz="1600" kern="100">
                          <a:effectLst/>
                        </a:rPr>
                        <a:t>年</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中</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否</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46026604"/>
                  </a:ext>
                </a:extLst>
              </a:tr>
              <a:tr h="0">
                <a:tc>
                  <a:txBody>
                    <a:bodyPr/>
                    <a:lstStyle/>
                    <a:p>
                      <a:pPr algn="ctr">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30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0-5</a:t>
                      </a:r>
                      <a:r>
                        <a:rPr lang="zh-CN" sz="1600" kern="100">
                          <a:effectLst/>
                        </a:rPr>
                        <a:t>年</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有</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低</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21699148"/>
                  </a:ext>
                </a:extLst>
              </a:tr>
              <a:tr h="0">
                <a:tc>
                  <a:txBody>
                    <a:bodyPr/>
                    <a:lstStyle/>
                    <a:p>
                      <a:pPr algn="ctr">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39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较低</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否</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59779330"/>
                  </a:ext>
                </a:extLst>
              </a:tr>
              <a:tr h="0">
                <a:tc>
                  <a:txBody>
                    <a:bodyPr/>
                    <a:lstStyle/>
                    <a:p>
                      <a:pPr algn="ctr">
                        <a:spcAft>
                          <a:spcPts val="0"/>
                        </a:spcAft>
                      </a:pPr>
                      <a:r>
                        <a:rPr lang="en-US" sz="1600" kern="100">
                          <a:effectLst/>
                        </a:rPr>
                        <a:t>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41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低</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否</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8035565"/>
                  </a:ext>
                </a:extLst>
              </a:tr>
              <a:tr h="0">
                <a:tc>
                  <a:txBody>
                    <a:bodyPr/>
                    <a:lstStyle/>
                    <a:p>
                      <a:pPr algn="ctr">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43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高</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否</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02161207"/>
                  </a:ext>
                </a:extLst>
              </a:tr>
              <a:tr h="0">
                <a:tc>
                  <a:txBody>
                    <a:bodyPr/>
                    <a:lstStyle/>
                    <a:p>
                      <a:pPr algn="ctr">
                        <a:spcAft>
                          <a:spcPts val="0"/>
                        </a:spcAft>
                      </a:pPr>
                      <a:r>
                        <a:rPr lang="en-US" sz="1600" kern="100">
                          <a:effectLst/>
                        </a:rPr>
                        <a:t>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45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5</a:t>
                      </a:r>
                      <a:r>
                        <a:rPr lang="zh-CN" sz="1600" kern="100">
                          <a:effectLst/>
                        </a:rPr>
                        <a:t>年以上</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有</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高</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53875896"/>
                  </a:ext>
                </a:extLst>
              </a:tr>
              <a:tr h="0">
                <a:tc>
                  <a:txBody>
                    <a:bodyPr/>
                    <a:lstStyle/>
                    <a:p>
                      <a:pPr algn="ctr">
                        <a:spcAft>
                          <a:spcPts val="0"/>
                        </a:spcAft>
                      </a:pPr>
                      <a:r>
                        <a:rPr lang="en-US" sz="1600" kern="100">
                          <a:effectLst/>
                        </a:rPr>
                        <a:t>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46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有</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高</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10587561"/>
                  </a:ext>
                </a:extLst>
              </a:tr>
              <a:tr h="0">
                <a:tc>
                  <a:txBody>
                    <a:bodyPr/>
                    <a:lstStyle/>
                    <a:p>
                      <a:pPr algn="ctr">
                        <a:spcAft>
                          <a:spcPts val="0"/>
                        </a:spcAft>
                      </a:pPr>
                      <a:r>
                        <a:rPr lang="en-US" sz="1600" kern="100">
                          <a:effectLst/>
                        </a:rPr>
                        <a:t>10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47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有</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高</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55411798"/>
                  </a:ext>
                </a:extLst>
              </a:tr>
              <a:tr h="0">
                <a:tc>
                  <a:txBody>
                    <a:bodyPr/>
                    <a:lstStyle/>
                    <a:p>
                      <a:pPr algn="ctr">
                        <a:spcAft>
                          <a:spcPts val="0"/>
                        </a:spcAft>
                      </a:pPr>
                      <a:r>
                        <a:rPr lang="en-US" sz="1600" kern="100">
                          <a:effectLst/>
                        </a:rPr>
                        <a:t>11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62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有</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较高</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49383614"/>
                  </a:ext>
                </a:extLst>
              </a:tr>
              <a:tr h="0">
                <a:tc>
                  <a:txBody>
                    <a:bodyPr/>
                    <a:lstStyle/>
                    <a:p>
                      <a:pPr algn="ctr">
                        <a:spcAft>
                          <a:spcPts val="0"/>
                        </a:spcAft>
                      </a:pPr>
                      <a:r>
                        <a:rPr lang="en-US" sz="1600" kern="100">
                          <a:effectLst/>
                        </a:rPr>
                        <a:t>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有</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高</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15125684"/>
                  </a:ext>
                </a:extLst>
              </a:tr>
              <a:tr h="0">
                <a:tc>
                  <a:txBody>
                    <a:bodyPr/>
                    <a:lstStyle/>
                    <a:p>
                      <a:pPr algn="ctr">
                        <a:spcAft>
                          <a:spcPts val="0"/>
                        </a:spcAft>
                      </a:pPr>
                      <a:r>
                        <a:rPr lang="en-US" sz="1600" kern="100">
                          <a:effectLst/>
                        </a:rPr>
                        <a:t>13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66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5</a:t>
                      </a:r>
                      <a:r>
                        <a:rPr lang="zh-CN" sz="1600" kern="100">
                          <a:effectLst/>
                        </a:rPr>
                        <a:t>年以上</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高</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04570736"/>
                  </a:ext>
                </a:extLst>
              </a:tr>
              <a:tr h="0">
                <a:tc>
                  <a:txBody>
                    <a:bodyPr/>
                    <a:lstStyle/>
                    <a:p>
                      <a:pPr algn="ctr">
                        <a:spcAft>
                          <a:spcPts val="0"/>
                        </a:spcAft>
                      </a:pPr>
                      <a:r>
                        <a:rPr lang="en-US" sz="1600" kern="100">
                          <a:effectLst/>
                        </a:rPr>
                        <a:t>14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66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5</a:t>
                      </a:r>
                      <a:r>
                        <a:rPr lang="zh-CN" sz="1600" kern="100">
                          <a:effectLst/>
                        </a:rPr>
                        <a:t>年以上</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较高</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61943522"/>
                  </a:ext>
                </a:extLst>
              </a:tr>
              <a:tr h="0">
                <a:tc>
                  <a:txBody>
                    <a:bodyPr/>
                    <a:lstStyle/>
                    <a:p>
                      <a:pPr algn="ctr">
                        <a:spcAft>
                          <a:spcPts val="0"/>
                        </a:spcAft>
                      </a:pPr>
                      <a:r>
                        <a:rPr lang="en-US" sz="1600" kern="100">
                          <a:effectLst/>
                        </a:rPr>
                        <a:t>15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68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0-5</a:t>
                      </a:r>
                      <a:r>
                        <a:rPr lang="zh-CN" sz="1600" kern="100">
                          <a:effectLst/>
                        </a:rPr>
                        <a:t>年</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中</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dirty="0">
                          <a:effectLst/>
                        </a:rPr>
                        <a:t>否</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57700417"/>
                  </a:ext>
                </a:extLst>
              </a:tr>
            </a:tbl>
          </a:graphicData>
        </a:graphic>
      </p:graphicFrame>
      <p:graphicFrame>
        <p:nvGraphicFramePr>
          <p:cNvPr id="3" name="表格 2">
            <a:extLst>
              <a:ext uri="{FF2B5EF4-FFF2-40B4-BE49-F238E27FC236}">
                <a16:creationId xmlns:a16="http://schemas.microsoft.com/office/drawing/2014/main" id="{15635981-7149-EF6C-DF80-3E47722B1391}"/>
              </a:ext>
            </a:extLst>
          </p:cNvPr>
          <p:cNvGraphicFramePr>
            <a:graphicFrameLocks noGrp="1"/>
          </p:cNvGraphicFramePr>
          <p:nvPr>
            <p:extLst>
              <p:ext uri="{D42A27DB-BD31-4B8C-83A1-F6EECF244321}">
                <p14:modId xmlns:p14="http://schemas.microsoft.com/office/powerpoint/2010/main" val="2355444728"/>
              </p:ext>
            </p:extLst>
          </p:nvPr>
        </p:nvGraphicFramePr>
        <p:xfrm>
          <a:off x="3670372" y="5130151"/>
          <a:ext cx="7054417" cy="1371600"/>
        </p:xfrm>
        <a:graphic>
          <a:graphicData uri="http://schemas.openxmlformats.org/drawingml/2006/table">
            <a:tbl>
              <a:tblPr firstRow="1" firstCol="1" bandRow="1">
                <a:tableStyleId>{93296810-A885-4BE3-A3E7-6D5BEEA58F35}</a:tableStyleId>
              </a:tblPr>
              <a:tblGrid>
                <a:gridCol w="873952">
                  <a:extLst>
                    <a:ext uri="{9D8B030D-6E8A-4147-A177-3AD203B41FA5}">
                      <a16:colId xmlns:a16="http://schemas.microsoft.com/office/drawing/2014/main" val="1019179798"/>
                    </a:ext>
                  </a:extLst>
                </a:gridCol>
                <a:gridCol w="504202">
                  <a:extLst>
                    <a:ext uri="{9D8B030D-6E8A-4147-A177-3AD203B41FA5}">
                      <a16:colId xmlns:a16="http://schemas.microsoft.com/office/drawing/2014/main" val="1890550356"/>
                    </a:ext>
                  </a:extLst>
                </a:gridCol>
                <a:gridCol w="1363117">
                  <a:extLst>
                    <a:ext uri="{9D8B030D-6E8A-4147-A177-3AD203B41FA5}">
                      <a16:colId xmlns:a16="http://schemas.microsoft.com/office/drawing/2014/main" val="212861993"/>
                    </a:ext>
                  </a:extLst>
                </a:gridCol>
                <a:gridCol w="1436536">
                  <a:extLst>
                    <a:ext uri="{9D8B030D-6E8A-4147-A177-3AD203B41FA5}">
                      <a16:colId xmlns:a16="http://schemas.microsoft.com/office/drawing/2014/main" val="798496479"/>
                    </a:ext>
                  </a:extLst>
                </a:gridCol>
                <a:gridCol w="1363117">
                  <a:extLst>
                    <a:ext uri="{9D8B030D-6E8A-4147-A177-3AD203B41FA5}">
                      <a16:colId xmlns:a16="http://schemas.microsoft.com/office/drawing/2014/main" val="1246067779"/>
                    </a:ext>
                  </a:extLst>
                </a:gridCol>
                <a:gridCol w="1513493">
                  <a:extLst>
                    <a:ext uri="{9D8B030D-6E8A-4147-A177-3AD203B41FA5}">
                      <a16:colId xmlns:a16="http://schemas.microsoft.com/office/drawing/2014/main" val="388927217"/>
                    </a:ext>
                  </a:extLst>
                </a:gridCol>
              </a:tblGrid>
              <a:tr h="142240">
                <a:tc>
                  <a:txBody>
                    <a:bodyPr/>
                    <a:lstStyle/>
                    <a:p>
                      <a:pPr algn="ctr">
                        <a:spcAft>
                          <a:spcPts val="0"/>
                        </a:spcAft>
                      </a:pPr>
                      <a:r>
                        <a:rPr lang="en-US" sz="1800" kern="100">
                          <a:effectLst/>
                        </a:rPr>
                        <a:t>ID</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年龄</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吸烟史</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有无家族病史</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体重范围</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患病与否</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25549927"/>
                  </a:ext>
                </a:extLst>
              </a:tr>
              <a:tr h="163830">
                <a:tc>
                  <a:txBody>
                    <a:bodyPr/>
                    <a:lstStyle/>
                    <a:p>
                      <a:pPr algn="ctr">
                        <a:spcAft>
                          <a:spcPts val="0"/>
                        </a:spcAft>
                      </a:pPr>
                      <a:r>
                        <a:rPr lang="en-US" sz="1800" kern="100">
                          <a:effectLst/>
                        </a:rPr>
                        <a:t>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25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较低</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72450326"/>
                  </a:ext>
                </a:extLst>
              </a:tr>
              <a:tr h="151765">
                <a:tc>
                  <a:txBody>
                    <a:bodyPr/>
                    <a:lstStyle/>
                    <a:p>
                      <a:pPr algn="ctr">
                        <a:spcAft>
                          <a:spcPts val="0"/>
                        </a:spcAft>
                      </a:pPr>
                      <a:r>
                        <a:rPr lang="en-US" sz="1800" kern="100">
                          <a:effectLst/>
                        </a:rPr>
                        <a:t>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42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高</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18574140"/>
                  </a:ext>
                </a:extLst>
              </a:tr>
              <a:tr h="156210">
                <a:tc>
                  <a:txBody>
                    <a:bodyPr/>
                    <a:lstStyle/>
                    <a:p>
                      <a:pPr algn="ctr">
                        <a:spcAft>
                          <a:spcPts val="0"/>
                        </a:spcAft>
                      </a:pPr>
                      <a:r>
                        <a:rPr lang="en-US" sz="1800" kern="100">
                          <a:effectLst/>
                        </a:rPr>
                        <a:t>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5</a:t>
                      </a:r>
                      <a:r>
                        <a:rPr lang="zh-CN" sz="1800" kern="100">
                          <a:effectLst/>
                        </a:rPr>
                        <a:t>年以上</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dirty="0">
                          <a:effectLst/>
                        </a:rPr>
                        <a:t>无</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较高</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dirty="0">
                          <a:effectLst/>
                        </a:rPr>
                        <a:t>？</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30582732"/>
                  </a:ext>
                </a:extLst>
              </a:tr>
            </a:tbl>
          </a:graphicData>
        </a:graphic>
      </p:graphicFrame>
    </p:spTree>
    <p:custDataLst>
      <p:tags r:id="rId1"/>
    </p:custDataLst>
    <p:extLst>
      <p:ext uri="{BB962C8B-B14F-4D97-AF65-F5344CB8AC3E}">
        <p14:creationId xmlns:p14="http://schemas.microsoft.com/office/powerpoint/2010/main" val="2691269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CF714964-FE27-5D2D-DECB-51BB34249EDF}"/>
              </a:ext>
            </a:extLst>
          </p:cNvPr>
          <p:cNvSpPr txBox="1">
            <a:spLocks noChangeArrowheads="1"/>
          </p:cNvSpPr>
          <p:nvPr/>
        </p:nvSpPr>
        <p:spPr bwMode="auto">
          <a:xfrm>
            <a:off x="304912" y="764317"/>
            <a:ext cx="7315008" cy="37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buNone/>
            </a:pPr>
            <a:r>
              <a:rPr lang="zh-CN" altLang="zh-CN" b="1" dirty="0">
                <a:solidFill>
                  <a:schemeClr val="tx1"/>
                </a:solidFill>
                <a:latin typeface="Calibri" panose="020F0502020204030204" pitchFamily="34" charset="0"/>
                <a:ea typeface="宋体" panose="02010600030101010101" pitchFamily="2" charset="-122"/>
              </a:rPr>
              <a:t>解：①连续型数据的离散化。</a:t>
            </a:r>
            <a:r>
              <a:rPr lang="en-US" altLang="zh-CN" b="1" dirty="0">
                <a:solidFill>
                  <a:schemeClr val="tx1"/>
                </a:solidFill>
                <a:latin typeface="Calibri" panose="020F0502020204030204" pitchFamily="34" charset="0"/>
                <a:ea typeface="宋体" panose="02010600030101010101" pitchFamily="2" charset="-122"/>
              </a:rPr>
              <a:t>ID3</a:t>
            </a:r>
            <a:r>
              <a:rPr lang="zh-CN" altLang="zh-CN" b="1" dirty="0">
                <a:solidFill>
                  <a:schemeClr val="tx1"/>
                </a:solidFill>
                <a:latin typeface="Calibri" panose="020F0502020204030204" pitchFamily="34" charset="0"/>
                <a:ea typeface="宋体" panose="02010600030101010101" pitchFamily="2" charset="-122"/>
              </a:rPr>
              <a:t>算法不能直接处理连续型数据，只有通过离散化将连续型数据转化成离散型数据再进行处理。</a:t>
            </a:r>
            <a:endParaRPr lang="zh-CN" altLang="zh-CN" dirty="0">
              <a:solidFill>
                <a:schemeClr val="tx1"/>
              </a:solidFill>
              <a:latin typeface="Calibri" panose="020F0502020204030204" pitchFamily="34" charset="0"/>
              <a:ea typeface="宋体" panose="02010600030101010101" pitchFamily="2" charset="-122"/>
            </a:endParaRPr>
          </a:p>
          <a:p>
            <a:pPr marL="0" indent="0">
              <a:buNone/>
            </a:pPr>
            <a:r>
              <a:rPr lang="zh-CN" altLang="zh-CN" b="1" dirty="0">
                <a:solidFill>
                  <a:schemeClr val="tx1"/>
                </a:solidFill>
                <a:latin typeface="Calibri" panose="020F0502020204030204" pitchFamily="34" charset="0"/>
                <a:ea typeface="宋体" panose="02010600030101010101" pitchFamily="2" charset="-122"/>
              </a:rPr>
              <a:t>此例采用等宽分箱法对连续型特征“年龄”离散化：</a:t>
            </a:r>
            <a:endParaRPr lang="zh-CN" altLang="zh-CN" dirty="0">
              <a:solidFill>
                <a:schemeClr val="tx1"/>
              </a:solidFill>
              <a:latin typeface="Calibri" panose="020F0502020204030204" pitchFamily="34" charset="0"/>
              <a:ea typeface="宋体" panose="02010600030101010101" pitchFamily="2" charset="-122"/>
            </a:endParaRPr>
          </a:p>
          <a:p>
            <a:pPr marL="0" indent="0">
              <a:buNone/>
            </a:pPr>
            <a:r>
              <a:rPr lang="zh-CN" altLang="zh-CN" b="1" dirty="0">
                <a:solidFill>
                  <a:schemeClr val="tx1"/>
                </a:solidFill>
                <a:latin typeface="Calibri" panose="020F0502020204030204" pitchFamily="34" charset="0"/>
                <a:ea typeface="宋体" panose="02010600030101010101" pitchFamily="2" charset="-122"/>
              </a:rPr>
              <a:t>设定区域范围（设箱子数为</a:t>
            </a:r>
            <a:r>
              <a:rPr lang="en-US" altLang="zh-CN" b="1" dirty="0">
                <a:solidFill>
                  <a:schemeClr val="tx1"/>
                </a:solidFill>
                <a:latin typeface="Calibri" panose="020F0502020204030204" pitchFamily="34" charset="0"/>
                <a:ea typeface="宋体" panose="02010600030101010101" pitchFamily="2" charset="-122"/>
              </a:rPr>
              <a:t>3</a:t>
            </a:r>
            <a:r>
              <a:rPr lang="zh-CN" altLang="zh-CN" b="1" dirty="0">
                <a:solidFill>
                  <a:schemeClr val="tx1"/>
                </a:solidFill>
                <a:latin typeface="Calibri" panose="020F0502020204030204" pitchFamily="34" charset="0"/>
                <a:ea typeface="宋体" panose="02010600030101010101" pitchFamily="2" charset="-122"/>
              </a:rPr>
              <a:t>，箱子宽度为（</a:t>
            </a:r>
            <a:r>
              <a:rPr lang="en-US" altLang="zh-CN" b="1" dirty="0">
                <a:solidFill>
                  <a:schemeClr val="tx1"/>
                </a:solidFill>
                <a:latin typeface="Calibri" panose="020F0502020204030204" pitchFamily="34" charset="0"/>
                <a:ea typeface="宋体" panose="02010600030101010101" pitchFamily="2" charset="-122"/>
              </a:rPr>
              <a:t>68-23</a:t>
            </a:r>
            <a:r>
              <a:rPr lang="zh-CN" altLang="zh-CN" b="1" dirty="0">
                <a:solidFill>
                  <a:schemeClr val="tx1"/>
                </a:solidFill>
                <a:latin typeface="Calibri" panose="020F0502020204030204" pitchFamily="34" charset="0"/>
                <a:ea typeface="宋体" panose="02010600030101010101" pitchFamily="2" charset="-122"/>
              </a:rPr>
              <a:t>）</a:t>
            </a:r>
            <a:r>
              <a:rPr lang="en-US" altLang="zh-CN" b="1" dirty="0">
                <a:solidFill>
                  <a:schemeClr val="tx1"/>
                </a:solidFill>
                <a:latin typeface="Calibri" panose="020F0502020204030204" pitchFamily="34" charset="0"/>
                <a:ea typeface="宋体" panose="02010600030101010101" pitchFamily="2" charset="-122"/>
              </a:rPr>
              <a:t>/3=15</a:t>
            </a:r>
            <a:r>
              <a:rPr lang="zh-CN" altLang="zh-CN" b="1" dirty="0">
                <a:solidFill>
                  <a:schemeClr val="tx1"/>
                </a:solidFill>
                <a:latin typeface="Calibri" panose="020F0502020204030204" pitchFamily="34" charset="0"/>
                <a:ea typeface="宋体" panose="02010600030101010101" pitchFamily="2" charset="-122"/>
              </a:rPr>
              <a:t>），</a:t>
            </a:r>
            <a:endParaRPr lang="en-US" altLang="zh-CN" b="1" dirty="0">
              <a:solidFill>
                <a:schemeClr val="tx1"/>
              </a:solidFill>
              <a:latin typeface="Calibri" panose="020F0502020204030204" pitchFamily="34" charset="0"/>
              <a:ea typeface="宋体" panose="02010600030101010101" pitchFamily="2" charset="-122"/>
            </a:endParaRPr>
          </a:p>
          <a:p>
            <a:pPr marL="0" indent="0">
              <a:buNone/>
            </a:pPr>
            <a:endParaRPr lang="en-US" altLang="zh-CN" b="1" dirty="0">
              <a:solidFill>
                <a:schemeClr val="tx1"/>
              </a:solidFill>
              <a:latin typeface="Calibri" panose="020F0502020204030204" pitchFamily="34" charset="0"/>
              <a:ea typeface="宋体" panose="02010600030101010101" pitchFamily="2" charset="-122"/>
            </a:endParaRPr>
          </a:p>
          <a:p>
            <a:pPr marL="0" indent="0">
              <a:buNone/>
            </a:pPr>
            <a:r>
              <a:rPr lang="zh-CN" altLang="zh-CN" b="1" dirty="0">
                <a:solidFill>
                  <a:schemeClr val="tx1"/>
                </a:solidFill>
                <a:latin typeface="Calibri" panose="020F0502020204030204" pitchFamily="34" charset="0"/>
                <a:ea typeface="宋体" panose="02010600030101010101" pitchFamily="2" charset="-122"/>
              </a:rPr>
              <a:t>分箱结果为：</a:t>
            </a:r>
            <a:endParaRPr lang="zh-CN" altLang="zh-CN" dirty="0">
              <a:solidFill>
                <a:schemeClr val="tx1"/>
              </a:solidFill>
              <a:latin typeface="Calibri" panose="020F0502020204030204" pitchFamily="34" charset="0"/>
              <a:ea typeface="宋体" panose="02010600030101010101" pitchFamily="2" charset="-122"/>
            </a:endParaRPr>
          </a:p>
          <a:p>
            <a:pPr marL="0" indent="0">
              <a:buNone/>
            </a:pPr>
            <a:r>
              <a:rPr lang="zh-CN" altLang="zh-CN" b="1" dirty="0">
                <a:solidFill>
                  <a:schemeClr val="tx1"/>
                </a:solidFill>
                <a:latin typeface="Calibri" panose="020F0502020204030204" pitchFamily="34" charset="0"/>
                <a:ea typeface="宋体" panose="02010600030101010101" pitchFamily="2" charset="-122"/>
              </a:rPr>
              <a:t>箱</a:t>
            </a:r>
            <a:r>
              <a:rPr lang="en-US" altLang="zh-CN" b="1" dirty="0">
                <a:solidFill>
                  <a:schemeClr val="tx1"/>
                </a:solidFill>
                <a:latin typeface="Calibri" panose="020F0502020204030204" pitchFamily="34" charset="0"/>
                <a:ea typeface="宋体" panose="02010600030101010101" pitchFamily="2" charset="-122"/>
              </a:rPr>
              <a:t>1</a:t>
            </a:r>
            <a:r>
              <a:rPr lang="zh-CN" altLang="zh-CN" b="1" dirty="0">
                <a:solidFill>
                  <a:schemeClr val="tx1"/>
                </a:solidFill>
                <a:latin typeface="Calibri" panose="020F0502020204030204" pitchFamily="34" charset="0"/>
                <a:ea typeface="宋体" panose="02010600030101010101" pitchFamily="2" charset="-122"/>
              </a:rPr>
              <a:t>：</a:t>
            </a:r>
            <a:r>
              <a:rPr lang="en-US" altLang="zh-CN" b="1" dirty="0">
                <a:solidFill>
                  <a:schemeClr val="tx1"/>
                </a:solidFill>
                <a:latin typeface="Calibri" panose="020F0502020204030204" pitchFamily="34" charset="0"/>
                <a:ea typeface="宋体" panose="02010600030101010101" pitchFamily="2" charset="-122"/>
              </a:rPr>
              <a:t>23 25 27 30 </a:t>
            </a:r>
            <a:endParaRPr lang="zh-CN" altLang="zh-CN" dirty="0">
              <a:solidFill>
                <a:schemeClr val="tx1"/>
              </a:solidFill>
              <a:latin typeface="Calibri" panose="020F0502020204030204" pitchFamily="34" charset="0"/>
              <a:ea typeface="宋体" panose="02010600030101010101" pitchFamily="2" charset="-122"/>
            </a:endParaRPr>
          </a:p>
          <a:p>
            <a:pPr marL="0" indent="0">
              <a:buNone/>
            </a:pPr>
            <a:r>
              <a:rPr lang="zh-CN" altLang="zh-CN" b="1" dirty="0">
                <a:solidFill>
                  <a:schemeClr val="tx1"/>
                </a:solidFill>
                <a:latin typeface="Calibri" panose="020F0502020204030204" pitchFamily="34" charset="0"/>
                <a:ea typeface="宋体" panose="02010600030101010101" pitchFamily="2" charset="-122"/>
              </a:rPr>
              <a:t>箱</a:t>
            </a:r>
            <a:r>
              <a:rPr lang="en-US" altLang="zh-CN" b="1" dirty="0">
                <a:solidFill>
                  <a:schemeClr val="tx1"/>
                </a:solidFill>
                <a:latin typeface="Calibri" panose="020F0502020204030204" pitchFamily="34" charset="0"/>
                <a:ea typeface="宋体" panose="02010600030101010101" pitchFamily="2" charset="-122"/>
              </a:rPr>
              <a:t>2</a:t>
            </a:r>
            <a:r>
              <a:rPr lang="zh-CN" altLang="zh-CN" b="1" dirty="0">
                <a:solidFill>
                  <a:schemeClr val="tx1"/>
                </a:solidFill>
                <a:latin typeface="Calibri" panose="020F0502020204030204" pitchFamily="34" charset="0"/>
                <a:ea typeface="宋体" panose="02010600030101010101" pitchFamily="2" charset="-122"/>
              </a:rPr>
              <a:t>：</a:t>
            </a:r>
            <a:r>
              <a:rPr lang="en-US" altLang="zh-CN" b="1" dirty="0">
                <a:solidFill>
                  <a:schemeClr val="tx1"/>
                </a:solidFill>
                <a:latin typeface="Calibri" panose="020F0502020204030204" pitchFamily="34" charset="0"/>
                <a:ea typeface="宋体" panose="02010600030101010101" pitchFamily="2" charset="-122"/>
              </a:rPr>
              <a:t>39 41 43 45 46 47</a:t>
            </a:r>
            <a:endParaRPr lang="zh-CN" altLang="zh-CN" dirty="0">
              <a:solidFill>
                <a:schemeClr val="tx1"/>
              </a:solidFill>
              <a:latin typeface="Calibri" panose="020F0502020204030204" pitchFamily="34" charset="0"/>
              <a:ea typeface="宋体" panose="02010600030101010101" pitchFamily="2" charset="-122"/>
            </a:endParaRPr>
          </a:p>
          <a:p>
            <a:pPr marL="0" indent="0">
              <a:buNone/>
            </a:pPr>
            <a:r>
              <a:rPr lang="zh-CN" altLang="zh-CN" b="1" dirty="0">
                <a:solidFill>
                  <a:schemeClr val="tx1"/>
                </a:solidFill>
                <a:latin typeface="Calibri" panose="020F0502020204030204" pitchFamily="34" charset="0"/>
                <a:ea typeface="宋体" panose="02010600030101010101" pitchFamily="2" charset="-122"/>
              </a:rPr>
              <a:t>箱</a:t>
            </a:r>
            <a:r>
              <a:rPr lang="en-US" altLang="zh-CN" b="1" dirty="0">
                <a:solidFill>
                  <a:schemeClr val="tx1"/>
                </a:solidFill>
                <a:latin typeface="Calibri" panose="020F0502020204030204" pitchFamily="34" charset="0"/>
                <a:ea typeface="宋体" panose="02010600030101010101" pitchFamily="2" charset="-122"/>
              </a:rPr>
              <a:t>3</a:t>
            </a:r>
            <a:r>
              <a:rPr lang="zh-CN" altLang="zh-CN" b="1" dirty="0">
                <a:solidFill>
                  <a:schemeClr val="tx1"/>
                </a:solidFill>
                <a:latin typeface="Calibri" panose="020F0502020204030204" pitchFamily="34" charset="0"/>
                <a:ea typeface="宋体" panose="02010600030101010101" pitchFamily="2" charset="-122"/>
              </a:rPr>
              <a:t>：</a:t>
            </a:r>
            <a:r>
              <a:rPr lang="en-US" altLang="zh-CN" b="1" dirty="0">
                <a:solidFill>
                  <a:schemeClr val="tx1"/>
                </a:solidFill>
                <a:latin typeface="Calibri" panose="020F0502020204030204" pitchFamily="34" charset="0"/>
                <a:ea typeface="宋体" panose="02010600030101010101" pitchFamily="2" charset="-122"/>
              </a:rPr>
              <a:t>62 63 66 66 68</a:t>
            </a:r>
            <a:endParaRPr lang="zh-CN" altLang="zh-CN" dirty="0">
              <a:solidFill>
                <a:schemeClr val="tx1"/>
              </a:solidFill>
              <a:latin typeface="Calibri" panose="020F0502020204030204" pitchFamily="34" charset="0"/>
              <a:ea typeface="宋体" panose="02010600030101010101" pitchFamily="2" charset="-122"/>
            </a:endParaRPr>
          </a:p>
        </p:txBody>
      </p:sp>
      <p:grpSp>
        <p:nvGrpSpPr>
          <p:cNvPr id="3" name="组合 2">
            <a:extLst>
              <a:ext uri="{FF2B5EF4-FFF2-40B4-BE49-F238E27FC236}">
                <a16:creationId xmlns:a16="http://schemas.microsoft.com/office/drawing/2014/main" id="{F9EE9A01-9389-4A6F-C752-F7D7E133E175}"/>
              </a:ext>
            </a:extLst>
          </p:cNvPr>
          <p:cNvGrpSpPr/>
          <p:nvPr/>
        </p:nvGrpSpPr>
        <p:grpSpPr>
          <a:xfrm>
            <a:off x="2270079" y="3992856"/>
            <a:ext cx="6721568" cy="2131297"/>
            <a:chOff x="1746" y="9001"/>
            <a:chExt cx="6675" cy="2839"/>
          </a:xfrm>
        </p:grpSpPr>
        <p:sp>
          <p:nvSpPr>
            <p:cNvPr id="4" name="文本框 517">
              <a:extLst>
                <a:ext uri="{FF2B5EF4-FFF2-40B4-BE49-F238E27FC236}">
                  <a16:creationId xmlns:a16="http://schemas.microsoft.com/office/drawing/2014/main" id="{FDC47CBF-82DA-1BE2-18AC-D2E2AADF1003}"/>
                </a:ext>
              </a:extLst>
            </p:cNvPr>
            <p:cNvSpPr txBox="1"/>
            <p:nvPr/>
          </p:nvSpPr>
          <p:spPr>
            <a:xfrm>
              <a:off x="4222" y="9001"/>
              <a:ext cx="1060" cy="55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07000"/>
                </a:lnSpc>
                <a:spcAft>
                  <a:spcPts val="800"/>
                </a:spcAft>
              </a:pPr>
              <a:r>
                <a:rPr lang="zh-CN">
                  <a:effectLst/>
                  <a:ea typeface="等线" panose="02010600030101010101" pitchFamily="2" charset="-122"/>
                  <a:cs typeface="Times New Roman" panose="02020603050405020304" pitchFamily="18" charset="0"/>
                </a:rPr>
                <a:t>年龄</a:t>
              </a:r>
            </a:p>
          </p:txBody>
        </p:sp>
        <p:sp>
          <p:nvSpPr>
            <p:cNvPr id="5" name="文本框 518">
              <a:extLst>
                <a:ext uri="{FF2B5EF4-FFF2-40B4-BE49-F238E27FC236}">
                  <a16:creationId xmlns:a16="http://schemas.microsoft.com/office/drawing/2014/main" id="{D474A942-C22A-33AF-9975-B80F0A5693E3}"/>
                </a:ext>
              </a:extLst>
            </p:cNvPr>
            <p:cNvSpPr txBox="1"/>
            <p:nvPr/>
          </p:nvSpPr>
          <p:spPr>
            <a:xfrm>
              <a:off x="2089" y="9397"/>
              <a:ext cx="6332" cy="41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marL="279400" indent="266700" algn="l">
                <a:spcAft>
                  <a:spcPts val="0"/>
                </a:spcAft>
              </a:pPr>
              <a:r>
                <a:rPr lang="en-US"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23 25 27 30 39 </a:t>
              </a:r>
              <a:r>
                <a:rPr lang="en-US" kern="1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41 </a:t>
              </a:r>
              <a:r>
                <a:rPr lang="en-US"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43 45 46 47 62 63 66 66 68</a:t>
              </a:r>
              <a:endParaRPr lang="zh-CN"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lnSpc>
                  <a:spcPct val="107000"/>
                </a:lnSpc>
                <a:spcAft>
                  <a:spcPts val="800"/>
                </a:spcAft>
              </a:pPr>
              <a:r>
                <a:rPr lang="en-US" dirty="0">
                  <a:effectLst/>
                  <a:ea typeface="等线" panose="02010600030101010101" pitchFamily="2" charset="-122"/>
                  <a:cs typeface="Times New Roman" panose="02020603050405020304" pitchFamily="18" charset="0"/>
                </a:rPr>
                <a:t> </a:t>
              </a:r>
              <a:endParaRPr lang="zh-CN" dirty="0">
                <a:effectLst/>
                <a:ea typeface="等线" panose="02010600030101010101" pitchFamily="2" charset="-122"/>
                <a:cs typeface="Times New Roman" panose="02020603050405020304" pitchFamily="18" charset="0"/>
              </a:endParaRPr>
            </a:p>
          </p:txBody>
        </p:sp>
        <p:cxnSp>
          <p:nvCxnSpPr>
            <p:cNvPr id="6" name="直接箭头连接符 5">
              <a:extLst>
                <a:ext uri="{FF2B5EF4-FFF2-40B4-BE49-F238E27FC236}">
                  <a16:creationId xmlns:a16="http://schemas.microsoft.com/office/drawing/2014/main" id="{2C094EC4-12D4-6EB5-9FC7-6339810F60D8}"/>
                </a:ext>
              </a:extLst>
            </p:cNvPr>
            <p:cNvCxnSpPr/>
            <p:nvPr/>
          </p:nvCxnSpPr>
          <p:spPr>
            <a:xfrm flipH="1">
              <a:off x="2630" y="9949"/>
              <a:ext cx="905" cy="797"/>
            </a:xfrm>
            <a:prstGeom prst="straightConnector1">
              <a:avLst/>
            </a:prstGeom>
            <a:ln>
              <a:tailEnd type="arrow" w="med" len="med"/>
            </a:ln>
          </p:spPr>
          <p:style>
            <a:lnRef idx="2">
              <a:schemeClr val="dk1"/>
            </a:lnRef>
            <a:fillRef idx="0">
              <a:schemeClr val="dk1"/>
            </a:fillRef>
            <a:effectRef idx="1">
              <a:schemeClr val="dk1"/>
            </a:effectRef>
            <a:fontRef idx="minor">
              <a:schemeClr val="tx1"/>
            </a:fontRef>
          </p:style>
        </p:cxnSp>
        <p:cxnSp>
          <p:nvCxnSpPr>
            <p:cNvPr id="7" name="直接箭头连接符 6">
              <a:extLst>
                <a:ext uri="{FF2B5EF4-FFF2-40B4-BE49-F238E27FC236}">
                  <a16:creationId xmlns:a16="http://schemas.microsoft.com/office/drawing/2014/main" id="{DE62E216-8443-88A3-1612-898199E345BB}"/>
                </a:ext>
              </a:extLst>
            </p:cNvPr>
            <p:cNvCxnSpPr/>
            <p:nvPr/>
          </p:nvCxnSpPr>
          <p:spPr>
            <a:xfrm>
              <a:off x="4557" y="9932"/>
              <a:ext cx="7" cy="820"/>
            </a:xfrm>
            <a:prstGeom prst="straightConnector1">
              <a:avLst/>
            </a:prstGeom>
            <a:ln>
              <a:tailEnd type="arrow" w="med" len="med"/>
            </a:ln>
          </p:spPr>
          <p:style>
            <a:lnRef idx="2">
              <a:schemeClr val="dk1"/>
            </a:lnRef>
            <a:fillRef idx="0">
              <a:schemeClr val="dk1"/>
            </a:fillRef>
            <a:effectRef idx="1">
              <a:schemeClr val="dk1"/>
            </a:effectRef>
            <a:fontRef idx="minor">
              <a:schemeClr val="tx1"/>
            </a:fontRef>
          </p:style>
        </p:cxnSp>
        <p:cxnSp>
          <p:nvCxnSpPr>
            <p:cNvPr id="8" name="直接箭头连接符 7">
              <a:extLst>
                <a:ext uri="{FF2B5EF4-FFF2-40B4-BE49-F238E27FC236}">
                  <a16:creationId xmlns:a16="http://schemas.microsoft.com/office/drawing/2014/main" id="{46F0C0FD-7E72-3C74-18E2-6420994BD3EE}"/>
                </a:ext>
              </a:extLst>
            </p:cNvPr>
            <p:cNvCxnSpPr/>
            <p:nvPr/>
          </p:nvCxnSpPr>
          <p:spPr>
            <a:xfrm>
              <a:off x="5446" y="9953"/>
              <a:ext cx="1368" cy="847"/>
            </a:xfrm>
            <a:prstGeom prst="straightConnector1">
              <a:avLst/>
            </a:prstGeom>
            <a:ln>
              <a:tailEnd type="arrow" w="med" len="med"/>
            </a:ln>
          </p:spPr>
          <p:style>
            <a:lnRef idx="2">
              <a:schemeClr val="dk1"/>
            </a:lnRef>
            <a:fillRef idx="0">
              <a:schemeClr val="dk1"/>
            </a:fillRef>
            <a:effectRef idx="1">
              <a:schemeClr val="dk1"/>
            </a:effectRef>
            <a:fontRef idx="minor">
              <a:schemeClr val="tx1"/>
            </a:fontRef>
          </p:style>
        </p:cxnSp>
        <p:sp>
          <p:nvSpPr>
            <p:cNvPr id="9" name="文本框 522">
              <a:extLst>
                <a:ext uri="{FF2B5EF4-FFF2-40B4-BE49-F238E27FC236}">
                  <a16:creationId xmlns:a16="http://schemas.microsoft.com/office/drawing/2014/main" id="{3971CD28-EDB4-E85C-A603-109190580942}"/>
                </a:ext>
              </a:extLst>
            </p:cNvPr>
            <p:cNvSpPr txBox="1"/>
            <p:nvPr/>
          </p:nvSpPr>
          <p:spPr>
            <a:xfrm>
              <a:off x="6808" y="9906"/>
              <a:ext cx="1060" cy="55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07000"/>
                </a:lnSpc>
                <a:spcAft>
                  <a:spcPts val="800"/>
                </a:spcAft>
              </a:pPr>
              <a:r>
                <a:rPr lang="zh-CN" dirty="0">
                  <a:effectLst/>
                  <a:ea typeface="等线" panose="02010600030101010101" pitchFamily="2" charset="-122"/>
                  <a:cs typeface="Times New Roman" panose="02020603050405020304" pitchFamily="18" charset="0"/>
                </a:rPr>
                <a:t>离散化</a:t>
              </a:r>
            </a:p>
          </p:txBody>
        </p:sp>
        <p:sp>
          <p:nvSpPr>
            <p:cNvPr id="10" name="文本框 523">
              <a:extLst>
                <a:ext uri="{FF2B5EF4-FFF2-40B4-BE49-F238E27FC236}">
                  <a16:creationId xmlns:a16="http://schemas.microsoft.com/office/drawing/2014/main" id="{B726FFAA-C709-9051-4C56-030D6E8E06D6}"/>
                </a:ext>
              </a:extLst>
            </p:cNvPr>
            <p:cNvSpPr txBox="1"/>
            <p:nvPr/>
          </p:nvSpPr>
          <p:spPr>
            <a:xfrm>
              <a:off x="1746" y="10746"/>
              <a:ext cx="1767" cy="55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07000"/>
                </a:lnSpc>
                <a:spcAft>
                  <a:spcPts val="800"/>
                </a:spcAft>
              </a:pPr>
              <a:r>
                <a:rPr lang="en-US">
                  <a:solidFill>
                    <a:srgbClr val="000000"/>
                  </a:solidFill>
                  <a:effectLst/>
                  <a:ea typeface="黑体" panose="02010609060101010101" pitchFamily="49" charset="-122"/>
                  <a:cs typeface="Times New Roman" panose="02020603050405020304" pitchFamily="18" charset="0"/>
                </a:rPr>
                <a:t>23 25 27 30 </a:t>
              </a:r>
              <a:endParaRPr lang="zh-CN">
                <a:effectLst/>
                <a:ea typeface="等线" panose="02010600030101010101" pitchFamily="2" charset="-122"/>
                <a:cs typeface="Times New Roman" panose="02020603050405020304" pitchFamily="18" charset="0"/>
              </a:endParaRPr>
            </a:p>
          </p:txBody>
        </p:sp>
        <p:sp>
          <p:nvSpPr>
            <p:cNvPr id="11" name="文本框 524">
              <a:extLst>
                <a:ext uri="{FF2B5EF4-FFF2-40B4-BE49-F238E27FC236}">
                  <a16:creationId xmlns:a16="http://schemas.microsoft.com/office/drawing/2014/main" id="{A48771C9-E9B8-6408-8C49-14AD9551D807}"/>
                </a:ext>
              </a:extLst>
            </p:cNvPr>
            <p:cNvSpPr txBox="1"/>
            <p:nvPr/>
          </p:nvSpPr>
          <p:spPr>
            <a:xfrm>
              <a:off x="3492" y="10789"/>
              <a:ext cx="2065" cy="55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07000"/>
                </a:lnSpc>
                <a:spcAft>
                  <a:spcPts val="800"/>
                </a:spcAft>
              </a:pPr>
              <a:r>
                <a:rPr lang="en-US">
                  <a:solidFill>
                    <a:srgbClr val="000000"/>
                  </a:solidFill>
                  <a:effectLst/>
                  <a:ea typeface="黑体" panose="02010609060101010101" pitchFamily="49" charset="-122"/>
                  <a:cs typeface="Times New Roman" panose="02020603050405020304" pitchFamily="18" charset="0"/>
                </a:rPr>
                <a:t>39 41 43 45 46 47</a:t>
              </a:r>
              <a:endParaRPr lang="zh-CN">
                <a:effectLst/>
                <a:ea typeface="等线" panose="02010600030101010101" pitchFamily="2" charset="-122"/>
                <a:cs typeface="Times New Roman" panose="02020603050405020304" pitchFamily="18" charset="0"/>
              </a:endParaRPr>
            </a:p>
          </p:txBody>
        </p:sp>
        <p:sp>
          <p:nvSpPr>
            <p:cNvPr id="13" name="文本框 525">
              <a:extLst>
                <a:ext uri="{FF2B5EF4-FFF2-40B4-BE49-F238E27FC236}">
                  <a16:creationId xmlns:a16="http://schemas.microsoft.com/office/drawing/2014/main" id="{DB1A8872-1D24-B8F4-1C6F-103E1CD1E4B7}"/>
                </a:ext>
              </a:extLst>
            </p:cNvPr>
            <p:cNvSpPr txBox="1"/>
            <p:nvPr/>
          </p:nvSpPr>
          <p:spPr>
            <a:xfrm>
              <a:off x="5678" y="10800"/>
              <a:ext cx="2271" cy="55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07000"/>
                </a:lnSpc>
                <a:spcAft>
                  <a:spcPts val="800"/>
                </a:spcAft>
              </a:pPr>
              <a:r>
                <a:rPr lang="en-US">
                  <a:solidFill>
                    <a:srgbClr val="000000"/>
                  </a:solidFill>
                  <a:effectLst/>
                  <a:ea typeface="黑体" panose="02010609060101010101" pitchFamily="49" charset="-122"/>
                  <a:cs typeface="Times New Roman" panose="02020603050405020304" pitchFamily="18" charset="0"/>
                </a:rPr>
                <a:t>62 63 66 66 68</a:t>
              </a:r>
              <a:endParaRPr lang="zh-CN">
                <a:effectLst/>
                <a:ea typeface="等线" panose="02010600030101010101" pitchFamily="2" charset="-122"/>
                <a:cs typeface="Times New Roman" panose="02020603050405020304" pitchFamily="18" charset="0"/>
              </a:endParaRPr>
            </a:p>
          </p:txBody>
        </p:sp>
        <p:sp>
          <p:nvSpPr>
            <p:cNvPr id="14" name="文本框 526">
              <a:extLst>
                <a:ext uri="{FF2B5EF4-FFF2-40B4-BE49-F238E27FC236}">
                  <a16:creationId xmlns:a16="http://schemas.microsoft.com/office/drawing/2014/main" id="{0CD244CC-8AD6-5F64-EE90-BE005305C8DC}"/>
                </a:ext>
              </a:extLst>
            </p:cNvPr>
            <p:cNvSpPr txBox="1"/>
            <p:nvPr/>
          </p:nvSpPr>
          <p:spPr>
            <a:xfrm>
              <a:off x="2141" y="11282"/>
              <a:ext cx="1060" cy="55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07000"/>
                </a:lnSpc>
                <a:spcAft>
                  <a:spcPts val="800"/>
                </a:spcAft>
              </a:pPr>
              <a:r>
                <a:rPr lang="zh-CN">
                  <a:effectLst/>
                  <a:ea typeface="等线" panose="02010600030101010101" pitchFamily="2" charset="-122"/>
                  <a:cs typeface="Times New Roman" panose="02020603050405020304" pitchFamily="18" charset="0"/>
                </a:rPr>
                <a:t>青年</a:t>
              </a:r>
            </a:p>
          </p:txBody>
        </p:sp>
        <p:sp>
          <p:nvSpPr>
            <p:cNvPr id="15" name="文本框 527">
              <a:extLst>
                <a:ext uri="{FF2B5EF4-FFF2-40B4-BE49-F238E27FC236}">
                  <a16:creationId xmlns:a16="http://schemas.microsoft.com/office/drawing/2014/main" id="{210523BF-C864-12EE-384E-17582949A0AE}"/>
                </a:ext>
              </a:extLst>
            </p:cNvPr>
            <p:cNvSpPr txBox="1"/>
            <p:nvPr/>
          </p:nvSpPr>
          <p:spPr>
            <a:xfrm>
              <a:off x="6363" y="11228"/>
              <a:ext cx="1060" cy="55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07000"/>
                </a:lnSpc>
                <a:spcAft>
                  <a:spcPts val="800"/>
                </a:spcAft>
              </a:pPr>
              <a:r>
                <a:rPr lang="zh-CN">
                  <a:effectLst/>
                  <a:ea typeface="等线" panose="02010600030101010101" pitchFamily="2" charset="-122"/>
                  <a:cs typeface="Times New Roman" panose="02020603050405020304" pitchFamily="18" charset="0"/>
                </a:rPr>
                <a:t>老年</a:t>
              </a:r>
            </a:p>
          </p:txBody>
        </p:sp>
        <p:sp>
          <p:nvSpPr>
            <p:cNvPr id="16" name="文本框 528">
              <a:extLst>
                <a:ext uri="{FF2B5EF4-FFF2-40B4-BE49-F238E27FC236}">
                  <a16:creationId xmlns:a16="http://schemas.microsoft.com/office/drawing/2014/main" id="{2BFE2F4F-4849-9309-CF7B-22CC93412A98}"/>
                </a:ext>
              </a:extLst>
            </p:cNvPr>
            <p:cNvSpPr txBox="1"/>
            <p:nvPr/>
          </p:nvSpPr>
          <p:spPr>
            <a:xfrm>
              <a:off x="4245" y="11286"/>
              <a:ext cx="1060" cy="55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07000"/>
                </a:lnSpc>
                <a:spcAft>
                  <a:spcPts val="800"/>
                </a:spcAft>
              </a:pPr>
              <a:r>
                <a:rPr lang="zh-CN">
                  <a:effectLst/>
                  <a:ea typeface="等线" panose="02010600030101010101" pitchFamily="2" charset="-122"/>
                  <a:cs typeface="Times New Roman" panose="02020603050405020304" pitchFamily="18" charset="0"/>
                </a:rPr>
                <a:t>中年</a:t>
              </a:r>
            </a:p>
          </p:txBody>
        </p:sp>
      </p:grpSp>
    </p:spTree>
    <p:custDataLst>
      <p:tags r:id="rId1"/>
    </p:custDataLst>
    <p:extLst>
      <p:ext uri="{BB962C8B-B14F-4D97-AF65-F5344CB8AC3E}">
        <p14:creationId xmlns:p14="http://schemas.microsoft.com/office/powerpoint/2010/main" val="42221638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graphicFrame>
        <p:nvGraphicFramePr>
          <p:cNvPr id="2" name="表格 1">
            <a:extLst>
              <a:ext uri="{FF2B5EF4-FFF2-40B4-BE49-F238E27FC236}">
                <a16:creationId xmlns:a16="http://schemas.microsoft.com/office/drawing/2014/main" id="{4D33A54F-0539-F796-DA65-4BA9A9A82FA1}"/>
              </a:ext>
            </a:extLst>
          </p:cNvPr>
          <p:cNvGraphicFramePr>
            <a:graphicFrameLocks noGrp="1"/>
          </p:cNvGraphicFramePr>
          <p:nvPr>
            <p:extLst>
              <p:ext uri="{D42A27DB-BD31-4B8C-83A1-F6EECF244321}">
                <p14:modId xmlns:p14="http://schemas.microsoft.com/office/powerpoint/2010/main" val="1938577458"/>
              </p:ext>
            </p:extLst>
          </p:nvPr>
        </p:nvGraphicFramePr>
        <p:xfrm>
          <a:off x="533506" y="945868"/>
          <a:ext cx="7583478" cy="5169152"/>
        </p:xfrm>
        <a:graphic>
          <a:graphicData uri="http://schemas.openxmlformats.org/drawingml/2006/table">
            <a:tbl>
              <a:tblPr firstRow="1" firstCol="1" bandRow="1">
                <a:tableStyleId>{5C22544A-7EE6-4342-B048-85BDC9FD1C3A}</a:tableStyleId>
              </a:tblPr>
              <a:tblGrid>
                <a:gridCol w="1079257">
                  <a:extLst>
                    <a:ext uri="{9D8B030D-6E8A-4147-A177-3AD203B41FA5}">
                      <a16:colId xmlns:a16="http://schemas.microsoft.com/office/drawing/2014/main" val="3456073003"/>
                    </a:ext>
                  </a:extLst>
                </a:gridCol>
                <a:gridCol w="544885">
                  <a:extLst>
                    <a:ext uri="{9D8B030D-6E8A-4147-A177-3AD203B41FA5}">
                      <a16:colId xmlns:a16="http://schemas.microsoft.com/office/drawing/2014/main" val="3187013623"/>
                    </a:ext>
                  </a:extLst>
                </a:gridCol>
                <a:gridCol w="1489355">
                  <a:extLst>
                    <a:ext uri="{9D8B030D-6E8A-4147-A177-3AD203B41FA5}">
                      <a16:colId xmlns:a16="http://schemas.microsoft.com/office/drawing/2014/main" val="1083967752"/>
                    </a:ext>
                  </a:extLst>
                </a:gridCol>
                <a:gridCol w="1489355">
                  <a:extLst>
                    <a:ext uri="{9D8B030D-6E8A-4147-A177-3AD203B41FA5}">
                      <a16:colId xmlns:a16="http://schemas.microsoft.com/office/drawing/2014/main" val="2367789604"/>
                    </a:ext>
                  </a:extLst>
                </a:gridCol>
                <a:gridCol w="1490313">
                  <a:extLst>
                    <a:ext uri="{9D8B030D-6E8A-4147-A177-3AD203B41FA5}">
                      <a16:colId xmlns:a16="http://schemas.microsoft.com/office/drawing/2014/main" val="3769073717"/>
                    </a:ext>
                  </a:extLst>
                </a:gridCol>
                <a:gridCol w="1490313">
                  <a:extLst>
                    <a:ext uri="{9D8B030D-6E8A-4147-A177-3AD203B41FA5}">
                      <a16:colId xmlns:a16="http://schemas.microsoft.com/office/drawing/2014/main" val="3941514593"/>
                    </a:ext>
                  </a:extLst>
                </a:gridCol>
              </a:tblGrid>
              <a:tr h="323072">
                <a:tc>
                  <a:txBody>
                    <a:bodyPr/>
                    <a:lstStyle/>
                    <a:p>
                      <a:pPr algn="ctr">
                        <a:lnSpc>
                          <a:spcPct val="107000"/>
                        </a:lnSpc>
                        <a:spcAft>
                          <a:spcPts val="0"/>
                        </a:spcAft>
                      </a:pPr>
                      <a:r>
                        <a:rPr lang="en-US" sz="1400" kern="100">
                          <a:effectLst/>
                        </a:rPr>
                        <a:t>ID</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nchor="ctr"/>
                </a:tc>
                <a:tc>
                  <a:txBody>
                    <a:bodyPr/>
                    <a:lstStyle/>
                    <a:p>
                      <a:pPr algn="ctr">
                        <a:lnSpc>
                          <a:spcPct val="107000"/>
                        </a:lnSpc>
                        <a:spcAft>
                          <a:spcPts val="0"/>
                        </a:spcAft>
                      </a:pPr>
                      <a:r>
                        <a:rPr lang="zh-CN" sz="1400" kern="100">
                          <a:effectLst/>
                        </a:rPr>
                        <a:t>年龄</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nchor="ctr"/>
                </a:tc>
                <a:tc>
                  <a:txBody>
                    <a:bodyPr/>
                    <a:lstStyle/>
                    <a:p>
                      <a:pPr algn="ctr">
                        <a:lnSpc>
                          <a:spcPct val="107000"/>
                        </a:lnSpc>
                        <a:spcAft>
                          <a:spcPts val="0"/>
                        </a:spcAft>
                      </a:pPr>
                      <a:r>
                        <a:rPr lang="zh-CN" sz="1400" kern="100">
                          <a:effectLst/>
                        </a:rPr>
                        <a:t>吸烟史</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nchor="ctr"/>
                </a:tc>
                <a:tc>
                  <a:txBody>
                    <a:bodyPr/>
                    <a:lstStyle/>
                    <a:p>
                      <a:pPr algn="ctr">
                        <a:lnSpc>
                          <a:spcPct val="107000"/>
                        </a:lnSpc>
                        <a:spcAft>
                          <a:spcPts val="0"/>
                        </a:spcAft>
                      </a:pPr>
                      <a:r>
                        <a:rPr lang="zh-CN" sz="1400" kern="100">
                          <a:effectLst/>
                        </a:rPr>
                        <a:t>有无家族病史</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nchor="ctr"/>
                </a:tc>
                <a:tc>
                  <a:txBody>
                    <a:bodyPr/>
                    <a:lstStyle/>
                    <a:p>
                      <a:pPr algn="ctr">
                        <a:lnSpc>
                          <a:spcPct val="107000"/>
                        </a:lnSpc>
                        <a:spcAft>
                          <a:spcPts val="0"/>
                        </a:spcAft>
                      </a:pPr>
                      <a:r>
                        <a:rPr lang="zh-CN" sz="1400" kern="100">
                          <a:effectLst/>
                        </a:rPr>
                        <a:t>体重范围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nchor="ctr"/>
                </a:tc>
                <a:tc>
                  <a:txBody>
                    <a:bodyPr/>
                    <a:lstStyle/>
                    <a:p>
                      <a:pPr algn="ctr">
                        <a:lnSpc>
                          <a:spcPct val="107000"/>
                        </a:lnSpc>
                        <a:spcAft>
                          <a:spcPts val="0"/>
                        </a:spcAft>
                      </a:pPr>
                      <a:r>
                        <a:rPr lang="zh-CN" sz="1400" kern="100">
                          <a:effectLst/>
                        </a:rPr>
                        <a:t>患病与否</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nchor="ctr"/>
                </a:tc>
                <a:extLst>
                  <a:ext uri="{0D108BD9-81ED-4DB2-BD59-A6C34878D82A}">
                    <a16:rowId xmlns:a16="http://schemas.microsoft.com/office/drawing/2014/main" val="2539781413"/>
                  </a:ext>
                </a:extLst>
              </a:tr>
              <a:tr h="323072">
                <a:tc>
                  <a:txBody>
                    <a:bodyPr/>
                    <a:lstStyle/>
                    <a:p>
                      <a:pPr algn="ctr">
                        <a:lnSpc>
                          <a:spcPct val="107000"/>
                        </a:lnSpc>
                        <a:spcAft>
                          <a:spcPts val="0"/>
                        </a:spcAft>
                      </a:pPr>
                      <a:r>
                        <a:rPr lang="en-US" sz="1400" kern="100">
                          <a:effectLst/>
                        </a:rPr>
                        <a:t>1</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青年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dirty="0">
                          <a:effectLst/>
                        </a:rPr>
                        <a:t>较低</a:t>
                      </a:r>
                      <a:endParaRPr lang="zh-CN" sz="1600" kern="100" dirty="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否</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3914012024"/>
                  </a:ext>
                </a:extLst>
              </a:tr>
              <a:tr h="323072">
                <a:tc>
                  <a:txBody>
                    <a:bodyPr/>
                    <a:lstStyle/>
                    <a:p>
                      <a:pPr algn="ctr">
                        <a:lnSpc>
                          <a:spcPct val="107000"/>
                        </a:lnSpc>
                        <a:spcAft>
                          <a:spcPts val="0"/>
                        </a:spcAft>
                      </a:pPr>
                      <a:r>
                        <a:rPr lang="en-US" sz="1400" kern="100">
                          <a:effectLst/>
                        </a:rPr>
                        <a:t>2</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青年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dirty="0">
                          <a:effectLst/>
                        </a:rPr>
                        <a:t>否</a:t>
                      </a:r>
                      <a:endParaRPr lang="zh-CN" sz="1600" kern="100" dirty="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3640093460"/>
                  </a:ext>
                </a:extLst>
              </a:tr>
              <a:tr h="323072">
                <a:tc>
                  <a:txBody>
                    <a:bodyPr/>
                    <a:lstStyle/>
                    <a:p>
                      <a:pPr algn="ctr">
                        <a:lnSpc>
                          <a:spcPct val="107000"/>
                        </a:lnSpc>
                        <a:spcAft>
                          <a:spcPts val="0"/>
                        </a:spcAft>
                      </a:pPr>
                      <a:r>
                        <a:rPr lang="en-US" sz="1400" kern="100">
                          <a:effectLst/>
                        </a:rPr>
                        <a:t>3</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青年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en-US" sz="1400" kern="100">
                          <a:effectLst/>
                        </a:rPr>
                        <a:t>0-5</a:t>
                      </a:r>
                      <a:r>
                        <a:rPr lang="zh-CN" sz="1400" kern="100">
                          <a:effectLst/>
                        </a:rPr>
                        <a:t>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否</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2161320594"/>
                  </a:ext>
                </a:extLst>
              </a:tr>
              <a:tr h="323072">
                <a:tc>
                  <a:txBody>
                    <a:bodyPr/>
                    <a:lstStyle/>
                    <a:p>
                      <a:pPr algn="ctr">
                        <a:lnSpc>
                          <a:spcPct val="107000"/>
                        </a:lnSpc>
                        <a:spcAft>
                          <a:spcPts val="0"/>
                        </a:spcAft>
                      </a:pPr>
                      <a:r>
                        <a:rPr lang="en-US" sz="1400" kern="100">
                          <a:effectLst/>
                        </a:rPr>
                        <a:t>4</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青年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en-US" sz="1400" kern="100">
                          <a:effectLst/>
                        </a:rPr>
                        <a:t>0-5</a:t>
                      </a:r>
                      <a:r>
                        <a:rPr lang="zh-CN" sz="1400" kern="100">
                          <a:effectLst/>
                        </a:rPr>
                        <a:t>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有</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低</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是</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2248670899"/>
                  </a:ext>
                </a:extLst>
              </a:tr>
              <a:tr h="323072">
                <a:tc>
                  <a:txBody>
                    <a:bodyPr/>
                    <a:lstStyle/>
                    <a:p>
                      <a:pPr algn="ctr">
                        <a:lnSpc>
                          <a:spcPct val="107000"/>
                        </a:lnSpc>
                        <a:spcAft>
                          <a:spcPts val="0"/>
                        </a:spcAft>
                      </a:pPr>
                      <a:r>
                        <a:rPr lang="en-US" sz="1400" kern="100">
                          <a:effectLst/>
                        </a:rPr>
                        <a:t>5</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较低</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否</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1627289194"/>
                  </a:ext>
                </a:extLst>
              </a:tr>
              <a:tr h="323072">
                <a:tc>
                  <a:txBody>
                    <a:bodyPr/>
                    <a:lstStyle/>
                    <a:p>
                      <a:pPr algn="ctr">
                        <a:lnSpc>
                          <a:spcPct val="107000"/>
                        </a:lnSpc>
                        <a:spcAft>
                          <a:spcPts val="0"/>
                        </a:spcAft>
                      </a:pPr>
                      <a:r>
                        <a:rPr lang="en-US" sz="1400" kern="100">
                          <a:effectLst/>
                        </a:rPr>
                        <a:t>6</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低</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否</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3794875589"/>
                  </a:ext>
                </a:extLst>
              </a:tr>
              <a:tr h="323072">
                <a:tc>
                  <a:txBody>
                    <a:bodyPr/>
                    <a:lstStyle/>
                    <a:p>
                      <a:pPr algn="ctr">
                        <a:lnSpc>
                          <a:spcPct val="107000"/>
                        </a:lnSpc>
                        <a:spcAft>
                          <a:spcPts val="0"/>
                        </a:spcAft>
                      </a:pPr>
                      <a:r>
                        <a:rPr lang="en-US" sz="1400" kern="100">
                          <a:effectLst/>
                        </a:rPr>
                        <a:t>7</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高</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否</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886537440"/>
                  </a:ext>
                </a:extLst>
              </a:tr>
              <a:tr h="323072">
                <a:tc>
                  <a:txBody>
                    <a:bodyPr/>
                    <a:lstStyle/>
                    <a:p>
                      <a:pPr algn="ctr">
                        <a:lnSpc>
                          <a:spcPct val="107000"/>
                        </a:lnSpc>
                        <a:spcAft>
                          <a:spcPts val="0"/>
                        </a:spcAft>
                      </a:pPr>
                      <a:r>
                        <a:rPr lang="en-US" sz="1400" kern="100">
                          <a:effectLst/>
                        </a:rPr>
                        <a:t>8</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en-US" sz="1400" kern="100">
                          <a:effectLst/>
                        </a:rPr>
                        <a:t>5</a:t>
                      </a:r>
                      <a:r>
                        <a:rPr lang="zh-CN" sz="1400" kern="100">
                          <a:effectLst/>
                        </a:rPr>
                        <a:t>年以上</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有</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高</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是</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2757693434"/>
                  </a:ext>
                </a:extLst>
              </a:tr>
              <a:tr h="323072">
                <a:tc>
                  <a:txBody>
                    <a:bodyPr/>
                    <a:lstStyle/>
                    <a:p>
                      <a:pPr algn="ctr">
                        <a:lnSpc>
                          <a:spcPct val="107000"/>
                        </a:lnSpc>
                        <a:spcAft>
                          <a:spcPts val="0"/>
                        </a:spcAft>
                      </a:pPr>
                      <a:r>
                        <a:rPr lang="en-US" sz="1400" kern="100">
                          <a:effectLst/>
                        </a:rPr>
                        <a:t>9</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有</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高</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是</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343049313"/>
                  </a:ext>
                </a:extLst>
              </a:tr>
              <a:tr h="323072">
                <a:tc>
                  <a:txBody>
                    <a:bodyPr/>
                    <a:lstStyle/>
                    <a:p>
                      <a:pPr algn="ctr">
                        <a:lnSpc>
                          <a:spcPct val="107000"/>
                        </a:lnSpc>
                        <a:spcAft>
                          <a:spcPts val="0"/>
                        </a:spcAft>
                      </a:pPr>
                      <a:r>
                        <a:rPr lang="en-US" sz="1400" kern="100">
                          <a:effectLst/>
                        </a:rPr>
                        <a:t>10</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有</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高</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是</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3256053058"/>
                  </a:ext>
                </a:extLst>
              </a:tr>
              <a:tr h="323072">
                <a:tc>
                  <a:txBody>
                    <a:bodyPr/>
                    <a:lstStyle/>
                    <a:p>
                      <a:pPr algn="ctr">
                        <a:lnSpc>
                          <a:spcPct val="107000"/>
                        </a:lnSpc>
                        <a:spcAft>
                          <a:spcPts val="0"/>
                        </a:spcAft>
                      </a:pPr>
                      <a:r>
                        <a:rPr lang="en-US" sz="1400" kern="100">
                          <a:effectLst/>
                        </a:rPr>
                        <a:t>11</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老年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有</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较高</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是</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1052398961"/>
                  </a:ext>
                </a:extLst>
              </a:tr>
              <a:tr h="323072">
                <a:tc>
                  <a:txBody>
                    <a:bodyPr/>
                    <a:lstStyle/>
                    <a:p>
                      <a:pPr algn="ctr">
                        <a:lnSpc>
                          <a:spcPct val="107000"/>
                        </a:lnSpc>
                        <a:spcAft>
                          <a:spcPts val="0"/>
                        </a:spcAft>
                      </a:pPr>
                      <a:r>
                        <a:rPr lang="en-US" sz="1400" kern="100">
                          <a:effectLst/>
                        </a:rPr>
                        <a:t>12</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老年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有</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高</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是</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2832096556"/>
                  </a:ext>
                </a:extLst>
              </a:tr>
              <a:tr h="323072">
                <a:tc>
                  <a:txBody>
                    <a:bodyPr/>
                    <a:lstStyle/>
                    <a:p>
                      <a:pPr algn="ctr">
                        <a:lnSpc>
                          <a:spcPct val="107000"/>
                        </a:lnSpc>
                        <a:spcAft>
                          <a:spcPts val="0"/>
                        </a:spcAft>
                      </a:pPr>
                      <a:r>
                        <a:rPr lang="en-US" sz="1400" kern="100">
                          <a:effectLst/>
                        </a:rPr>
                        <a:t>13</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老年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en-US" sz="1400" kern="100">
                          <a:effectLst/>
                        </a:rPr>
                        <a:t>5</a:t>
                      </a:r>
                      <a:r>
                        <a:rPr lang="zh-CN" sz="1400" kern="100">
                          <a:effectLst/>
                        </a:rPr>
                        <a:t>年以上</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高</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是</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3465852262"/>
                  </a:ext>
                </a:extLst>
              </a:tr>
              <a:tr h="323072">
                <a:tc>
                  <a:txBody>
                    <a:bodyPr/>
                    <a:lstStyle/>
                    <a:p>
                      <a:pPr algn="ctr">
                        <a:lnSpc>
                          <a:spcPct val="107000"/>
                        </a:lnSpc>
                        <a:spcAft>
                          <a:spcPts val="0"/>
                        </a:spcAft>
                      </a:pPr>
                      <a:r>
                        <a:rPr lang="en-US" sz="1400" kern="100">
                          <a:effectLst/>
                        </a:rPr>
                        <a:t>14</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老年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en-US" sz="1400" kern="100">
                          <a:effectLst/>
                        </a:rPr>
                        <a:t>5</a:t>
                      </a:r>
                      <a:r>
                        <a:rPr lang="zh-CN" sz="1400" kern="100">
                          <a:effectLst/>
                        </a:rPr>
                        <a:t>年以上</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较高</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是</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2778495034"/>
                  </a:ext>
                </a:extLst>
              </a:tr>
              <a:tr h="323072">
                <a:tc>
                  <a:txBody>
                    <a:bodyPr/>
                    <a:lstStyle/>
                    <a:p>
                      <a:pPr algn="ctr">
                        <a:lnSpc>
                          <a:spcPct val="107000"/>
                        </a:lnSpc>
                        <a:spcAft>
                          <a:spcPts val="0"/>
                        </a:spcAft>
                      </a:pPr>
                      <a:r>
                        <a:rPr lang="en-US" sz="1400" kern="100">
                          <a:effectLst/>
                        </a:rPr>
                        <a:t>15</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老年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en-US" sz="1400" kern="100">
                          <a:effectLst/>
                        </a:rPr>
                        <a:t>0-5</a:t>
                      </a:r>
                      <a:r>
                        <a:rPr lang="zh-CN" sz="1400" kern="100">
                          <a:effectLst/>
                        </a:rPr>
                        <a:t>年</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无</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a:effectLst/>
                        </a:rPr>
                        <a:t>中</a:t>
                      </a:r>
                      <a:endParaRPr lang="zh-CN" sz="1600" kern="10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tc>
                  <a:txBody>
                    <a:bodyPr/>
                    <a:lstStyle/>
                    <a:p>
                      <a:pPr algn="ctr">
                        <a:lnSpc>
                          <a:spcPct val="107000"/>
                        </a:lnSpc>
                        <a:spcAft>
                          <a:spcPts val="0"/>
                        </a:spcAft>
                      </a:pPr>
                      <a:r>
                        <a:rPr lang="zh-CN" sz="1400" kern="100" dirty="0">
                          <a:effectLst/>
                        </a:rPr>
                        <a:t>否</a:t>
                      </a:r>
                      <a:endParaRPr lang="zh-CN" sz="1600" kern="100" dirty="0">
                        <a:effectLst/>
                        <a:latin typeface="Calibri" panose="020F0502020204030204" pitchFamily="34" charset="0"/>
                        <a:ea typeface="等线" panose="02010600030101010101" pitchFamily="2" charset="-122"/>
                        <a:cs typeface="Times New Roman" panose="02020603050405020304" pitchFamily="18" charset="0"/>
                      </a:endParaRPr>
                    </a:p>
                  </a:txBody>
                  <a:tcPr marL="54472" marR="54472" marT="0" marB="0"/>
                </a:tc>
                <a:extLst>
                  <a:ext uri="{0D108BD9-81ED-4DB2-BD59-A6C34878D82A}">
                    <a16:rowId xmlns:a16="http://schemas.microsoft.com/office/drawing/2014/main" val="2620545751"/>
                  </a:ext>
                </a:extLst>
              </a:tr>
            </a:tbl>
          </a:graphicData>
        </a:graphic>
      </p:graphicFrame>
    </p:spTree>
    <p:custDataLst>
      <p:tags r:id="rId1"/>
    </p:custDataLst>
    <p:extLst>
      <p:ext uri="{BB962C8B-B14F-4D97-AF65-F5344CB8AC3E}">
        <p14:creationId xmlns:p14="http://schemas.microsoft.com/office/powerpoint/2010/main" val="12908117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07601E8A-426C-B962-161C-B6D59D06E137}"/>
                  </a:ext>
                </a:extLst>
              </p:cNvPr>
              <p:cNvSpPr txBox="1">
                <a:spLocks noChangeArrowheads="1"/>
              </p:cNvSpPr>
              <p:nvPr/>
            </p:nvSpPr>
            <p:spPr bwMode="auto">
              <a:xfrm>
                <a:off x="429430" y="911612"/>
                <a:ext cx="6476830" cy="219322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buNone/>
                </a:pPr>
                <a:r>
                  <a:rPr lang="zh-CN" altLang="zh-CN" dirty="0">
                    <a:solidFill>
                      <a:schemeClr val="tx1"/>
                    </a:solidFill>
                  </a:rPr>
                  <a:t>②根据训练数据构造</a:t>
                </a:r>
                <a:r>
                  <a:rPr lang="en-US" altLang="zh-CN" dirty="0">
                    <a:solidFill>
                      <a:schemeClr val="tx1"/>
                    </a:solidFill>
                  </a:rPr>
                  <a:t>ID3</a:t>
                </a:r>
                <a:r>
                  <a:rPr lang="zh-CN" altLang="zh-CN" dirty="0">
                    <a:solidFill>
                      <a:schemeClr val="tx1"/>
                    </a:solidFill>
                  </a:rPr>
                  <a:t>算法的决策树，其中</a:t>
                </a:r>
                <a:r>
                  <a:rPr lang="en-US" altLang="zh-CN" i="1" dirty="0">
                    <a:solidFill>
                      <a:schemeClr val="tx1"/>
                    </a:solidFill>
                  </a:rPr>
                  <a:t>Z</a:t>
                </a:r>
                <a:r>
                  <a:rPr lang="zh-CN" altLang="zh-CN" dirty="0">
                    <a:solidFill>
                      <a:schemeClr val="tx1"/>
                    </a:solidFill>
                  </a:rPr>
                  <a:t>代表训练集，</a:t>
                </a:r>
                <a:r>
                  <a:rPr lang="en-US" altLang="zh-CN" i="1" dirty="0">
                    <a:solidFill>
                      <a:schemeClr val="tx1"/>
                    </a:solidFill>
                  </a:rPr>
                  <a:t>A</a:t>
                </a:r>
                <a:r>
                  <a:rPr lang="zh-CN" altLang="zh-CN" dirty="0">
                    <a:solidFill>
                      <a:schemeClr val="tx1"/>
                    </a:solidFill>
                  </a:rPr>
                  <a:t>、</a:t>
                </a:r>
                <a:r>
                  <a:rPr lang="en-US" altLang="zh-CN" i="1" dirty="0">
                    <a:solidFill>
                      <a:schemeClr val="tx1"/>
                    </a:solidFill>
                  </a:rPr>
                  <a:t>B</a:t>
                </a:r>
                <a:r>
                  <a:rPr lang="zh-CN" altLang="zh-CN" dirty="0">
                    <a:solidFill>
                      <a:schemeClr val="tx1"/>
                    </a:solidFill>
                  </a:rPr>
                  <a:t>、</a:t>
                </a:r>
                <a:r>
                  <a:rPr lang="en-US" altLang="zh-CN" i="1" dirty="0">
                    <a:solidFill>
                      <a:schemeClr val="tx1"/>
                    </a:solidFill>
                  </a:rPr>
                  <a:t>C</a:t>
                </a:r>
                <a:r>
                  <a:rPr lang="zh-CN" altLang="zh-CN" dirty="0">
                    <a:solidFill>
                      <a:schemeClr val="tx1"/>
                    </a:solidFill>
                  </a:rPr>
                  <a:t>、</a:t>
                </a:r>
                <a:r>
                  <a:rPr lang="en-US" altLang="zh-CN" i="1" dirty="0">
                    <a:solidFill>
                      <a:schemeClr val="tx1"/>
                    </a:solidFill>
                  </a:rPr>
                  <a:t>D</a:t>
                </a:r>
                <a:r>
                  <a:rPr lang="zh-CN" altLang="zh-CN" dirty="0">
                    <a:solidFill>
                      <a:schemeClr val="tx1"/>
                    </a:solidFill>
                  </a:rPr>
                  <a:t>分别代表特征“年龄”、“吸烟史”、“有无家族病史”、“体重范围”，按照每个特征计算其分裂的信息增益。</a:t>
                </a:r>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d>
                      <m:r>
                        <a:rPr lang="en-US" altLang="zh-CN"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8</m:t>
                          </m:r>
                        </m:num>
                        <m:den>
                          <m:r>
                            <a:rPr lang="en-US" altLang="zh-CN" i="1">
                              <a:solidFill>
                                <a:schemeClr val="tx1"/>
                              </a:solidFill>
                              <a:latin typeface="Cambria Math" panose="02040503050406030204" pitchFamily="18" charset="0"/>
                            </a:rPr>
                            <m:t>15</m:t>
                          </m:r>
                        </m:den>
                      </m:f>
                      <m:r>
                        <a:rPr lang="en-US" altLang="zh-CN" i="1">
                          <a:solidFill>
                            <a:schemeClr val="tx1"/>
                          </a:solidFill>
                          <a:latin typeface="Cambria Math" panose="02040503050406030204" pitchFamily="18" charset="0"/>
                        </a:rPr>
                        <m:t>×</m:t>
                      </m:r>
                      <m:func>
                        <m:funcPr>
                          <m:ctrlPr>
                            <a:rPr lang="zh-CN" altLang="zh-CN" i="1">
                              <a:solidFill>
                                <a:schemeClr val="tx1"/>
                              </a:solidFill>
                              <a:latin typeface="Cambria Math" panose="02040503050406030204" pitchFamily="18" charset="0"/>
                            </a:rPr>
                          </m:ctrlPr>
                        </m:funcPr>
                        <m:fName>
                          <m:sSub>
                            <m:sSubPr>
                              <m:ctrlPr>
                                <a:rPr lang="zh-CN"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log</m:t>
                              </m:r>
                            </m:e>
                            <m:sub>
                              <m:r>
                                <a:rPr lang="en-US" altLang="zh-CN" i="1">
                                  <a:solidFill>
                                    <a:schemeClr val="tx1"/>
                                  </a:solidFill>
                                  <a:latin typeface="Cambria Math" panose="02040503050406030204" pitchFamily="18" charset="0"/>
                                </a:rPr>
                                <m:t>2</m:t>
                              </m:r>
                            </m:sub>
                          </m:sSub>
                        </m:fName>
                        <m:e>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8</m:t>
                              </m:r>
                            </m:num>
                            <m:den>
                              <m:r>
                                <a:rPr lang="en-US" altLang="zh-CN" i="1">
                                  <a:solidFill>
                                    <a:schemeClr val="tx1"/>
                                  </a:solidFill>
                                  <a:latin typeface="Cambria Math" panose="02040503050406030204" pitchFamily="18" charset="0"/>
                                </a:rPr>
                                <m:t>15</m:t>
                              </m:r>
                            </m:den>
                          </m:f>
                        </m:e>
                      </m:func>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7</m:t>
                          </m:r>
                        </m:num>
                        <m:den>
                          <m:r>
                            <a:rPr lang="en-US" altLang="zh-CN" i="1">
                              <a:solidFill>
                                <a:schemeClr val="tx1"/>
                              </a:solidFill>
                              <a:latin typeface="Cambria Math" panose="02040503050406030204" pitchFamily="18" charset="0"/>
                            </a:rPr>
                            <m:t>15</m:t>
                          </m:r>
                        </m:den>
                      </m:f>
                      <m:r>
                        <a:rPr lang="en-US" altLang="zh-CN" i="1">
                          <a:solidFill>
                            <a:schemeClr val="tx1"/>
                          </a:solidFill>
                          <a:latin typeface="Cambria Math" panose="02040503050406030204" pitchFamily="18" charset="0"/>
                        </a:rPr>
                        <m:t>×</m:t>
                      </m:r>
                      <m:func>
                        <m:funcPr>
                          <m:ctrlPr>
                            <a:rPr lang="zh-CN" altLang="zh-CN" i="1">
                              <a:solidFill>
                                <a:schemeClr val="tx1"/>
                              </a:solidFill>
                              <a:latin typeface="Cambria Math" panose="02040503050406030204" pitchFamily="18" charset="0"/>
                            </a:rPr>
                          </m:ctrlPr>
                        </m:funcPr>
                        <m:fName>
                          <m:sSub>
                            <m:sSubPr>
                              <m:ctrlPr>
                                <a:rPr lang="zh-CN"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log</m:t>
                              </m:r>
                            </m:e>
                            <m:sub>
                              <m:r>
                                <a:rPr lang="en-US" altLang="zh-CN" i="1">
                                  <a:solidFill>
                                    <a:schemeClr val="tx1"/>
                                  </a:solidFill>
                                  <a:latin typeface="Cambria Math" panose="02040503050406030204" pitchFamily="18" charset="0"/>
                                </a:rPr>
                                <m:t>2</m:t>
                              </m:r>
                            </m:sub>
                          </m:sSub>
                        </m:fName>
                        <m:e>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7</m:t>
                              </m:r>
                            </m:num>
                            <m:den>
                              <m:r>
                                <a:rPr lang="en-US" altLang="zh-CN" i="1">
                                  <a:solidFill>
                                    <a:schemeClr val="tx1"/>
                                  </a:solidFill>
                                  <a:latin typeface="Cambria Math" panose="02040503050406030204" pitchFamily="18" charset="0"/>
                                </a:rPr>
                                <m:t>15</m:t>
                              </m:r>
                            </m:den>
                          </m:f>
                        </m:e>
                      </m:func>
                      <m:r>
                        <a:rPr lang="en-US" altLang="zh-CN" i="1">
                          <a:solidFill>
                            <a:schemeClr val="tx1"/>
                          </a:solidFill>
                          <a:latin typeface="Cambria Math" panose="02040503050406030204" pitchFamily="18" charset="0"/>
                        </a:rPr>
                        <m:t>=0.997</m:t>
                      </m:r>
                    </m:oMath>
                  </m:oMathPara>
                </a14:m>
                <a:endParaRPr lang="zh-CN" altLang="zh-CN" dirty="0">
                  <a:solidFill>
                    <a:schemeClr val="tx1"/>
                  </a:solidFill>
                </a:endParaRPr>
              </a:p>
            </p:txBody>
          </p:sp>
        </mc:Choice>
        <mc:Fallback xmlns="">
          <p:sp>
            <p:nvSpPr>
              <p:cNvPr id="2" name="Rectangle 3">
                <a:extLst>
                  <a:ext uri="{FF2B5EF4-FFF2-40B4-BE49-F238E27FC236}">
                    <a16:creationId xmlns:a16="http://schemas.microsoft.com/office/drawing/2014/main" id="{07601E8A-426C-B962-161C-B6D59D06E137}"/>
                  </a:ext>
                </a:extLst>
              </p:cNvPr>
              <p:cNvSpPr txBox="1">
                <a:spLocks noRot="1" noChangeAspect="1" noMove="1" noResize="1" noEditPoints="1" noAdjustHandles="1" noChangeArrowheads="1" noChangeShapeType="1" noTextEdit="1"/>
              </p:cNvSpPr>
              <p:nvPr/>
            </p:nvSpPr>
            <p:spPr bwMode="auto">
              <a:xfrm>
                <a:off x="429430" y="911612"/>
                <a:ext cx="6476830" cy="2193227"/>
              </a:xfrm>
              <a:prstGeom prst="rect">
                <a:avLst/>
              </a:prstGeom>
              <a:blipFill>
                <a:blip r:embed="rId3"/>
                <a:stretch>
                  <a:fillRect l="-941" t="-1671" r="-10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3751096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C850CEFC-B619-AA1A-96E4-43D892DA860C}"/>
                  </a:ext>
                </a:extLst>
              </p:cNvPr>
              <p:cNvSpPr txBox="1">
                <a:spLocks noChangeArrowheads="1"/>
              </p:cNvSpPr>
              <p:nvPr/>
            </p:nvSpPr>
            <p:spPr bwMode="auto">
              <a:xfrm>
                <a:off x="419216" y="901771"/>
                <a:ext cx="8153186" cy="52576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r>
                            <a:rPr lang="en-US" altLang="zh-CN" sz="1800" i="1">
                              <a:solidFill>
                                <a:schemeClr val="tx1"/>
                              </a:solidFill>
                              <a:latin typeface="Cambria Math" panose="02040503050406030204" pitchFamily="18" charset="0"/>
                            </a:rPr>
                            <m:t>𝑍</m:t>
                          </m:r>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4</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4</m:t>
                                  </m:r>
                                </m:den>
                              </m:f>
                            </m:e>
                          </m:func>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4</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4</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6</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6</m:t>
                                  </m:r>
                                </m:den>
                              </m:f>
                            </m:e>
                          </m:func>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6</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5</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5</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5</m:t>
                                  </m:r>
                                </m:den>
                              </m:f>
                            </m:e>
                          </m:func>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5</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5</m:t>
                                  </m:r>
                                </m:den>
                              </m:f>
                            </m:e>
                          </m:func>
                        </m:e>
                      </m:d>
                      <m:r>
                        <a:rPr lang="en-US" altLang="zh-CN" sz="1800" i="1">
                          <a:solidFill>
                            <a:schemeClr val="tx1"/>
                          </a:solidFill>
                          <a:latin typeface="Cambria Math" panose="02040503050406030204" pitchFamily="18" charset="0"/>
                        </a:rPr>
                        <m:t>=0.857</m:t>
                      </m:r>
                    </m:oMath>
                  </m:oMathPara>
                </a14:m>
                <a:endParaRPr lang="zh-CN" altLang="zh-CN" sz="1800"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r>
                            <a:rPr lang="en-US" altLang="zh-CN" sz="1800" i="1">
                              <a:solidFill>
                                <a:schemeClr val="tx1"/>
                              </a:solidFill>
                              <a:latin typeface="Cambria Math" panose="02040503050406030204" pitchFamily="18" charset="0"/>
                            </a:rPr>
                            <m:t>𝑍</m:t>
                          </m:r>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9</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5</m:t>
                              </m:r>
                            </m:num>
                            <m:den>
                              <m:r>
                                <a:rPr lang="en-US" altLang="zh-CN" sz="1800" i="1">
                                  <a:solidFill>
                                    <a:schemeClr val="tx1"/>
                                  </a:solidFill>
                                  <a:latin typeface="Cambria Math" panose="02040503050406030204" pitchFamily="18" charset="0"/>
                                </a:rPr>
                                <m:t>9</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5</m:t>
                                  </m:r>
                                </m:num>
                                <m:den>
                                  <m:r>
                                    <a:rPr lang="en-US" altLang="zh-CN" sz="1800" i="1">
                                      <a:solidFill>
                                        <a:schemeClr val="tx1"/>
                                      </a:solidFill>
                                      <a:latin typeface="Cambria Math" panose="02040503050406030204" pitchFamily="18" charset="0"/>
                                    </a:rPr>
                                    <m:t>9</m:t>
                                  </m:r>
                                </m:den>
                              </m:f>
                            </m:e>
                          </m:func>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9</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9</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3</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3</m:t>
                                  </m:r>
                                </m:den>
                              </m:f>
                            </m:e>
                          </m:func>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3</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3</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3</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3</m:t>
                                  </m:r>
                                </m:den>
                              </m:f>
                            </m:e>
                          </m:func>
                        </m:e>
                      </m:d>
                      <m:r>
                        <a:rPr lang="en-US" altLang="zh-CN" sz="1800" i="1">
                          <a:solidFill>
                            <a:schemeClr val="tx1"/>
                          </a:solidFill>
                          <a:latin typeface="Cambria Math" panose="02040503050406030204" pitchFamily="18" charset="0"/>
                        </a:rPr>
                        <m:t>=0.778</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r>
                            <a:rPr lang="en-US" altLang="zh-CN" sz="1800" i="1">
                              <a:solidFill>
                                <a:schemeClr val="tx1"/>
                              </a:solidFill>
                              <a:latin typeface="Cambria Math" panose="02040503050406030204" pitchFamily="18" charset="0"/>
                            </a:rPr>
                            <m:t>𝑍</m:t>
                          </m:r>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𝐶</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9</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7</m:t>
                              </m:r>
                            </m:num>
                            <m:den>
                              <m:r>
                                <a:rPr lang="en-US" altLang="zh-CN" sz="1800" i="1">
                                  <a:solidFill>
                                    <a:schemeClr val="tx1"/>
                                  </a:solidFill>
                                  <a:latin typeface="Cambria Math" panose="02040503050406030204" pitchFamily="18" charset="0"/>
                                </a:rPr>
                                <m:t>9</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7</m:t>
                                  </m:r>
                                </m:num>
                                <m:den>
                                  <m:r>
                                    <a:rPr lang="en-US" altLang="zh-CN" sz="1800" i="1">
                                      <a:solidFill>
                                        <a:schemeClr val="tx1"/>
                                      </a:solidFill>
                                      <a:latin typeface="Cambria Math" panose="02040503050406030204" pitchFamily="18" charset="0"/>
                                    </a:rPr>
                                    <m:t>9</m:t>
                                  </m:r>
                                </m:den>
                              </m:f>
                            </m:e>
                          </m:func>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9</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9</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6</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6</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6</m:t>
                                  </m:r>
                                </m:num>
                                <m:den>
                                  <m:r>
                                    <a:rPr lang="en-US" altLang="zh-CN" sz="1800" i="1">
                                      <a:solidFill>
                                        <a:schemeClr val="tx1"/>
                                      </a:solidFill>
                                      <a:latin typeface="Cambria Math" panose="02040503050406030204" pitchFamily="18" charset="0"/>
                                    </a:rPr>
                                    <m:t>6</m:t>
                                  </m:r>
                                </m:den>
                              </m:f>
                            </m:e>
                          </m:func>
                        </m:e>
                      </m:d>
                      <m:r>
                        <a:rPr lang="en-US" altLang="zh-CN" sz="1800" i="1">
                          <a:solidFill>
                            <a:schemeClr val="tx1"/>
                          </a:solidFill>
                          <a:latin typeface="Cambria Math" panose="02040503050406030204" pitchFamily="18" charset="0"/>
                        </a:rPr>
                        <m:t>=0.459</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r>
                            <a:rPr lang="en-US" altLang="zh-CN" sz="1800" i="1">
                              <a:solidFill>
                                <a:schemeClr val="tx1"/>
                              </a:solidFill>
                              <a:latin typeface="Cambria Math" panose="02040503050406030204" pitchFamily="18" charset="0"/>
                            </a:rPr>
                            <m:t>𝑍</m:t>
                          </m:r>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𝐷</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2</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e>
                          </m:func>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3</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3</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6</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5</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5</m:t>
                                  </m:r>
                                </m:num>
                                <m:den>
                                  <m:r>
                                    <a:rPr lang="en-US" altLang="zh-CN" sz="1800" i="1">
                                      <a:solidFill>
                                        <a:schemeClr val="tx1"/>
                                      </a:solidFill>
                                      <a:latin typeface="Cambria Math" panose="02040503050406030204" pitchFamily="18" charset="0"/>
                                    </a:rPr>
                                    <m:t>6</m:t>
                                  </m:r>
                                </m:den>
                              </m:f>
                            </m:e>
                          </m:func>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6</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15</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2</m:t>
                                  </m:r>
                                </m:den>
                              </m:f>
                            </m:e>
                          </m:func>
                        </m:e>
                      </m:d>
                      <m:r>
                        <a:rPr lang="en-US" altLang="zh-CN" sz="1800" i="1">
                          <a:solidFill>
                            <a:schemeClr val="tx1"/>
                          </a:solidFill>
                          <a:latin typeface="Cambria Math" panose="02040503050406030204" pitchFamily="18" charset="0"/>
                        </a:rPr>
                        <m:t>=0.393</m:t>
                      </m:r>
                    </m:oMath>
                  </m:oMathPara>
                </a14:m>
                <a:endParaRPr lang="zh-CN" altLang="zh-CN" sz="1800" dirty="0">
                  <a:solidFill>
                    <a:schemeClr val="tx1"/>
                  </a:solidFill>
                </a:endParaRPr>
              </a:p>
            </p:txBody>
          </p:sp>
        </mc:Choice>
        <mc:Fallback xmlns="">
          <p:sp>
            <p:nvSpPr>
              <p:cNvPr id="2" name="Rectangle 3">
                <a:extLst>
                  <a:ext uri="{FF2B5EF4-FFF2-40B4-BE49-F238E27FC236}">
                    <a16:creationId xmlns:a16="http://schemas.microsoft.com/office/drawing/2014/main" id="{C850CEFC-B619-AA1A-96E4-43D892DA860C}"/>
                  </a:ext>
                </a:extLst>
              </p:cNvPr>
              <p:cNvSpPr txBox="1">
                <a:spLocks noRot="1" noChangeAspect="1" noMove="1" noResize="1" noEditPoints="1" noAdjustHandles="1" noChangeArrowheads="1" noChangeShapeType="1" noTextEdit="1"/>
              </p:cNvSpPr>
              <p:nvPr/>
            </p:nvSpPr>
            <p:spPr bwMode="auto">
              <a:xfrm>
                <a:off x="419216" y="901771"/>
                <a:ext cx="8153186" cy="5257662"/>
              </a:xfrm>
              <a:prstGeom prst="rect">
                <a:avLst/>
              </a:prstGeom>
              <a:blipFill>
                <a:blip r:embed="rId3"/>
                <a:stretch>
                  <a:fillRect l="-2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2455704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58A4E740-34AF-DFF8-63E2-E9C66E086ADC}"/>
                  </a:ext>
                </a:extLst>
              </p:cNvPr>
              <p:cNvSpPr txBox="1">
                <a:spLocks noChangeArrowheads="1"/>
              </p:cNvSpPr>
              <p:nvPr/>
            </p:nvSpPr>
            <p:spPr bwMode="auto">
              <a:xfrm>
                <a:off x="549870" y="1562363"/>
                <a:ext cx="11092260" cy="373327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e>
                          <m:r>
                            <a:rPr lang="en-US" altLang="zh-CN" i="1">
                              <a:solidFill>
                                <a:schemeClr val="tx1"/>
                              </a:solidFill>
                              <a:latin typeface="Cambria Math" panose="02040503050406030204" pitchFamily="18" charset="0"/>
                            </a:rPr>
                            <m:t>𝐴</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𝐴</m:t>
                          </m:r>
                        </m:e>
                      </m:d>
                      <m:r>
                        <a:rPr lang="en-US" altLang="zh-CN" i="1">
                          <a:solidFill>
                            <a:schemeClr val="tx1"/>
                          </a:solidFill>
                          <a:latin typeface="Cambria Math" panose="02040503050406030204" pitchFamily="18" charset="0"/>
                        </a:rPr>
                        <m:t>=0.997−0.857=0.140</m:t>
                      </m:r>
                    </m:oMath>
                  </m:oMathPara>
                </a14:m>
                <a:endParaRPr lang="zh-CN" altLang="zh-CN"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e>
                          <m:r>
                            <a:rPr lang="en-US" altLang="zh-CN" i="1">
                              <a:solidFill>
                                <a:schemeClr val="tx1"/>
                              </a:solidFill>
                              <a:latin typeface="Cambria Math" panose="02040503050406030204" pitchFamily="18" charset="0"/>
                            </a:rPr>
                            <m:t>𝐵</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𝐵</m:t>
                          </m:r>
                        </m:e>
                      </m:d>
                      <m:r>
                        <a:rPr lang="en-US" altLang="zh-CN" i="1">
                          <a:solidFill>
                            <a:schemeClr val="tx1"/>
                          </a:solidFill>
                          <a:latin typeface="Cambria Math" panose="02040503050406030204" pitchFamily="18" charset="0"/>
                        </a:rPr>
                        <m:t>=0.997−0.778=0.219</m:t>
                      </m:r>
                    </m:oMath>
                  </m:oMathPara>
                </a14:m>
                <a:endParaRPr lang="zh-CN" altLang="zh-CN"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e>
                          <m:r>
                            <a:rPr lang="en-US" altLang="zh-CN" i="1">
                              <a:solidFill>
                                <a:schemeClr val="tx1"/>
                              </a:solidFill>
                              <a:latin typeface="Cambria Math" panose="02040503050406030204" pitchFamily="18" charset="0"/>
                            </a:rPr>
                            <m:t>𝐶</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𝐶</m:t>
                          </m:r>
                        </m:e>
                      </m:d>
                      <m:r>
                        <a:rPr lang="en-US" altLang="zh-CN" i="1">
                          <a:solidFill>
                            <a:schemeClr val="tx1"/>
                          </a:solidFill>
                          <a:latin typeface="Cambria Math" panose="02040503050406030204" pitchFamily="18" charset="0"/>
                        </a:rPr>
                        <m:t>=0.997−0.459=0.538</m:t>
                      </m:r>
                    </m:oMath>
                  </m:oMathPara>
                </a14:m>
                <a:endParaRPr lang="zh-CN" altLang="zh-CN"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i="1">
                          <a:solidFill>
                            <a:schemeClr val="tx1"/>
                          </a:solidFill>
                          <a:latin typeface="Cambria Math" panose="02040503050406030204" pitchFamily="18" charset="0"/>
                        </a:rPr>
                        <m:t>𝑔</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e>
                          <m:r>
                            <a:rPr lang="en-US" altLang="zh-CN" i="1">
                              <a:solidFill>
                                <a:schemeClr val="tx1"/>
                              </a:solidFill>
                              <a:latin typeface="Cambria Math" panose="02040503050406030204" pitchFamily="18" charset="0"/>
                            </a:rPr>
                            <m:t>𝐷</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𝐼𝑛𝑓𝑜𝑟</m:t>
                      </m:r>
                      <m:d>
                        <m:dPr>
                          <m:ctrlPr>
                            <a:rPr lang="zh-CN"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𝑍</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𝐷</m:t>
                          </m:r>
                        </m:e>
                      </m:d>
                      <m:r>
                        <a:rPr lang="en-US" altLang="zh-CN" i="1">
                          <a:solidFill>
                            <a:schemeClr val="tx1"/>
                          </a:solidFill>
                          <a:latin typeface="Cambria Math" panose="02040503050406030204" pitchFamily="18" charset="0"/>
                        </a:rPr>
                        <m:t>=0.997−0.393=0.604</m:t>
                      </m:r>
                    </m:oMath>
                  </m:oMathPara>
                </a14:m>
                <a:endParaRPr lang="en-US" altLang="zh-CN" dirty="0">
                  <a:solidFill>
                    <a:schemeClr val="tx1"/>
                  </a:solidFill>
                </a:endParaRPr>
              </a:p>
              <a:p>
                <a:pPr marL="0" indent="0">
                  <a:buNone/>
                </a:pPr>
                <a:endParaRPr lang="en-US" altLang="zh-CN" dirty="0">
                  <a:solidFill>
                    <a:schemeClr val="tx1"/>
                  </a:solidFill>
                </a:endParaRPr>
              </a:p>
              <a:p>
                <a:pPr marL="0" indent="0">
                  <a:buNone/>
                </a:pPr>
                <a:endParaRPr lang="zh-CN" altLang="zh-CN" dirty="0">
                  <a:solidFill>
                    <a:schemeClr val="tx1"/>
                  </a:solidFill>
                </a:endParaRPr>
              </a:p>
              <a:p>
                <a:pPr marL="0" indent="0">
                  <a:buNone/>
                </a:pPr>
                <a:r>
                  <a:rPr lang="zh-CN" altLang="zh-CN" dirty="0">
                    <a:solidFill>
                      <a:schemeClr val="tx1"/>
                    </a:solidFill>
                  </a:rPr>
                  <a:t>选择信息增益最大特征“体重范围”作为根结点的分裂属性，将训练集</a:t>
                </a:r>
                <a:r>
                  <a:rPr lang="en-US" altLang="zh-CN" dirty="0">
                    <a:solidFill>
                      <a:schemeClr val="tx1"/>
                    </a:solidFill>
                  </a:rPr>
                  <a:t>Z</a:t>
                </a:r>
                <a:r>
                  <a:rPr lang="zh-CN" altLang="zh-CN" dirty="0">
                    <a:solidFill>
                      <a:schemeClr val="tx1"/>
                    </a:solidFill>
                  </a:rPr>
                  <a:t>划分为</a:t>
                </a:r>
                <a:r>
                  <a:rPr lang="en-US" altLang="zh-CN" dirty="0">
                    <a:solidFill>
                      <a:schemeClr val="tx1"/>
                    </a:solidFill>
                  </a:rPr>
                  <a:t>5</a:t>
                </a:r>
                <a:r>
                  <a:rPr lang="zh-CN" altLang="zh-CN" dirty="0">
                    <a:solidFill>
                      <a:schemeClr val="tx1"/>
                    </a:solidFill>
                  </a:rPr>
                  <a:t>个子集</a:t>
                </a:r>
                <a14:m>
                  <m:oMath xmlns:m="http://schemas.openxmlformats.org/officeDocument/2006/math">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𝑍</m:t>
                        </m:r>
                      </m:e>
                      <m:sub>
                        <m:r>
                          <a:rPr lang="en-US" altLang="zh-CN">
                            <a:solidFill>
                              <a:schemeClr val="tx1"/>
                            </a:solidFill>
                            <a:latin typeface="Cambria Math" panose="02040503050406030204" pitchFamily="18" charset="0"/>
                          </a:rPr>
                          <m:t>1</m:t>
                        </m:r>
                      </m:sub>
                    </m:sSub>
                    <m:r>
                      <a:rPr lang="zh-CN" altLang="zh-CN" i="1">
                        <a:solidFill>
                          <a:schemeClr val="tx1"/>
                        </a:solidFill>
                        <a:latin typeface="Cambria Math" panose="02040503050406030204" pitchFamily="18" charset="0"/>
                      </a:rPr>
                      <m:t>、</m:t>
                    </m:r>
                    <m:r>
                      <a:rPr lang="zh-CN" altLang="zh-CN">
                        <a:solidFill>
                          <a:schemeClr val="tx1"/>
                        </a:solidFill>
                        <a:latin typeface="Cambria Math" panose="02040503050406030204" pitchFamily="18" charset="0"/>
                      </a:rPr>
                      <m:t> </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𝑍</m:t>
                        </m:r>
                      </m:e>
                      <m:sub>
                        <m:r>
                          <a:rPr lang="en-US" altLang="zh-CN">
                            <a:solidFill>
                              <a:schemeClr val="tx1"/>
                            </a:solidFill>
                            <a:latin typeface="Cambria Math" panose="02040503050406030204" pitchFamily="18" charset="0"/>
                          </a:rPr>
                          <m:t>2</m:t>
                        </m:r>
                      </m:sub>
                    </m:sSub>
                    <m:r>
                      <a:rPr lang="zh-CN"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𝑍</m:t>
                        </m:r>
                      </m:e>
                      <m:sub>
                        <m:r>
                          <a:rPr lang="en-US" altLang="zh-CN">
                            <a:solidFill>
                              <a:schemeClr val="tx1"/>
                            </a:solidFill>
                            <a:latin typeface="Cambria Math" panose="02040503050406030204" pitchFamily="18" charset="0"/>
                          </a:rPr>
                          <m:t>3</m:t>
                        </m:r>
                      </m:sub>
                    </m:sSub>
                    <m:r>
                      <a:rPr lang="zh-CN"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𝑍</m:t>
                        </m:r>
                      </m:e>
                      <m:sub>
                        <m:r>
                          <a:rPr lang="en-US" altLang="zh-CN">
                            <a:solidFill>
                              <a:schemeClr val="tx1"/>
                            </a:solidFill>
                            <a:latin typeface="Cambria Math" panose="02040503050406030204" pitchFamily="18" charset="0"/>
                          </a:rPr>
                          <m:t>4</m:t>
                        </m:r>
                      </m:sub>
                    </m:sSub>
                    <m:r>
                      <a:rPr lang="zh-CN" altLang="zh-CN">
                        <a:solidFill>
                          <a:schemeClr val="tx1"/>
                        </a:solidFill>
                        <a:latin typeface="Cambria Math" panose="02040503050406030204" pitchFamily="18" charset="0"/>
                      </a:rPr>
                      <m:t>和</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𝑍</m:t>
                        </m:r>
                      </m:e>
                      <m:sub>
                        <m:r>
                          <a:rPr lang="en-US" altLang="zh-CN">
                            <a:solidFill>
                              <a:schemeClr val="tx1"/>
                            </a:solidFill>
                            <a:latin typeface="Cambria Math" panose="02040503050406030204" pitchFamily="18" charset="0"/>
                          </a:rPr>
                          <m:t>5</m:t>
                        </m:r>
                      </m:sub>
                    </m:sSub>
                  </m:oMath>
                </a14:m>
                <a:r>
                  <a:rPr lang="zh-CN" altLang="zh-CN" dirty="0">
                    <a:solidFill>
                      <a:schemeClr val="tx1"/>
                    </a:solidFill>
                  </a:rPr>
                  <a:t>，对应的“体重范围”取值分别为“低”、“较低”、“中”、“较高”、“高”。由于</a:t>
                </a:r>
                <a14:m>
                  <m:oMath xmlns:m="http://schemas.openxmlformats.org/officeDocument/2006/math">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𝑍</m:t>
                        </m:r>
                      </m:e>
                      <m:sub>
                        <m:r>
                          <a:rPr lang="en-US" altLang="zh-CN">
                            <a:solidFill>
                              <a:schemeClr val="tx1"/>
                            </a:solidFill>
                            <a:latin typeface="Cambria Math" panose="02040503050406030204" pitchFamily="18" charset="0"/>
                          </a:rPr>
                          <m:t>2</m:t>
                        </m:r>
                      </m:sub>
                    </m:sSub>
                    <m:r>
                      <a:rPr lang="zh-CN"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𝑍</m:t>
                        </m:r>
                      </m:e>
                      <m:sub>
                        <m:r>
                          <a:rPr lang="en-US" altLang="zh-CN">
                            <a:solidFill>
                              <a:schemeClr val="tx1"/>
                            </a:solidFill>
                            <a:latin typeface="Cambria Math" panose="02040503050406030204" pitchFamily="18" charset="0"/>
                          </a:rPr>
                          <m:t>3</m:t>
                        </m:r>
                      </m:sub>
                    </m:sSub>
                    <m:r>
                      <a:rPr lang="zh-CN" altLang="zh-CN">
                        <a:solidFill>
                          <a:schemeClr val="tx1"/>
                        </a:solidFill>
                        <a:latin typeface="Cambria Math" panose="02040503050406030204" pitchFamily="18" charset="0"/>
                      </a:rPr>
                      <m:t>和</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𝑍</m:t>
                        </m:r>
                      </m:e>
                      <m:sub>
                        <m:r>
                          <a:rPr lang="en-US" altLang="zh-CN">
                            <a:solidFill>
                              <a:schemeClr val="tx1"/>
                            </a:solidFill>
                            <a:latin typeface="Cambria Math" panose="02040503050406030204" pitchFamily="18" charset="0"/>
                          </a:rPr>
                          <m:t>4</m:t>
                        </m:r>
                      </m:sub>
                    </m:sSub>
                  </m:oMath>
                </a14:m>
                <a:r>
                  <a:rPr lang="zh-CN" altLang="zh-CN" dirty="0">
                    <a:solidFill>
                      <a:schemeClr val="tx1"/>
                    </a:solidFill>
                  </a:rPr>
                  <a:t>只有一类数据，所以它们各自成为一个叶结点，三个结点的类标签分别为“否”、“否”、“是”。</a:t>
                </a:r>
                <a:endParaRPr lang="zh-CN" altLang="zh-CN" dirty="0">
                  <a:solidFill>
                    <a:schemeClr val="tx1"/>
                  </a:solidFill>
                  <a:latin typeface="Calibri" panose="020F0502020204030204" pitchFamily="34" charset="0"/>
                  <a:ea typeface="宋体" panose="02010600030101010101" pitchFamily="2" charset="-122"/>
                </a:endParaRPr>
              </a:p>
            </p:txBody>
          </p:sp>
        </mc:Choice>
        <mc:Fallback xmlns="">
          <p:sp>
            <p:nvSpPr>
              <p:cNvPr id="2" name="Rectangle 3">
                <a:extLst>
                  <a:ext uri="{FF2B5EF4-FFF2-40B4-BE49-F238E27FC236}">
                    <a16:creationId xmlns:a16="http://schemas.microsoft.com/office/drawing/2014/main" id="{58A4E740-34AF-DFF8-63E2-E9C66E086ADC}"/>
                  </a:ext>
                </a:extLst>
              </p:cNvPr>
              <p:cNvSpPr txBox="1">
                <a:spLocks noRot="1" noChangeAspect="1" noMove="1" noResize="1" noEditPoints="1" noAdjustHandles="1" noChangeArrowheads="1" noChangeShapeType="1" noTextEdit="1"/>
              </p:cNvSpPr>
              <p:nvPr/>
            </p:nvSpPr>
            <p:spPr bwMode="auto">
              <a:xfrm>
                <a:off x="549870" y="1562363"/>
                <a:ext cx="11092260" cy="3733273"/>
              </a:xfrm>
              <a:prstGeom prst="rect">
                <a:avLst/>
              </a:prstGeom>
              <a:blipFill>
                <a:blip r:embed="rId3"/>
                <a:stretch>
                  <a:fillRect l="-549" r="-28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7488875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4A362230-D4C7-C407-2C66-159487A83EFB}"/>
                  </a:ext>
                </a:extLst>
              </p:cNvPr>
              <p:cNvSpPr txBox="1">
                <a:spLocks noChangeArrowheads="1"/>
              </p:cNvSpPr>
              <p:nvPr/>
            </p:nvSpPr>
            <p:spPr bwMode="auto">
              <a:xfrm>
                <a:off x="428940" y="927174"/>
                <a:ext cx="11140760" cy="538580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buNone/>
                </a:pPr>
                <a:r>
                  <a:rPr lang="zh-CN" altLang="zh-CN" sz="1800" dirty="0">
                    <a:solidFill>
                      <a:schemeClr val="tx1"/>
                    </a:solidFill>
                  </a:rPr>
                  <a:t>③对于</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1</m:t>
                        </m:r>
                      </m:sub>
                    </m:sSub>
                  </m:oMath>
                </a14:m>
                <a:r>
                  <a:rPr lang="zh-CN" altLang="zh-CN" sz="1800" dirty="0">
                    <a:solidFill>
                      <a:schemeClr val="tx1"/>
                    </a:solidFill>
                  </a:rPr>
                  <a:t>继续进行分裂，选择剩余特征中信息增益最大的作为分裂属性。 </a:t>
                </a:r>
                <a14:m>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e>
                    </m:d>
                    <m:r>
                      <a:rPr lang="en-US" altLang="zh-CN" sz="1800" i="1">
                        <a:solidFill>
                          <a:schemeClr val="tx1"/>
                        </a:solidFill>
                        <a:latin typeface="Cambria Math" panose="02040503050406030204" pitchFamily="18" charset="0"/>
                      </a:rPr>
                      <m:t>=</m:t>
                    </m:r>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e>
                    </m:func>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e>
                    </m:func>
                    <m:r>
                      <a:rPr lang="en-US" altLang="zh-CN" sz="1800" i="1">
                        <a:solidFill>
                          <a:schemeClr val="tx1"/>
                        </a:solidFill>
                        <a:latin typeface="Cambria Math" panose="02040503050406030204" pitchFamily="18" charset="0"/>
                      </a:rPr>
                      <m:t>=1</m:t>
                    </m:r>
                  </m:oMath>
                </a14:m>
                <a:endParaRPr lang="en-US" altLang="zh-CN" sz="1800" i="1" dirty="0">
                  <a:solidFill>
                    <a:schemeClr val="tx1"/>
                  </a:solidFill>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=0</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=0</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𝐶</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=0</m:t>
                      </m:r>
                    </m:oMath>
                  </m:oMathPara>
                </a14:m>
                <a:endParaRPr lang="en-US" altLang="zh-CN" sz="1800" dirty="0">
                  <a:solidFill>
                    <a:schemeClr val="tx1"/>
                  </a:solidFill>
                </a:endParaRPr>
              </a:p>
              <a:p>
                <a:pPr marL="0" indent="0">
                  <a:buNone/>
                </a:pPr>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𝑔</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e>
                        <m:e>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=1−0=1</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𝑔</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e>
                        <m:e>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=1−0=1</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𝑔</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e>
                        <m:e>
                          <m:r>
                            <a:rPr lang="en-US" altLang="zh-CN" sz="1800" i="1">
                              <a:solidFill>
                                <a:schemeClr val="tx1"/>
                              </a:solidFill>
                              <a:latin typeface="Cambria Math" panose="02040503050406030204" pitchFamily="18" charset="0"/>
                            </a:rPr>
                            <m:t>𝐶</m:t>
                          </m:r>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𝐶</m:t>
                          </m:r>
                        </m:e>
                      </m:d>
                      <m:r>
                        <a:rPr lang="en-US" altLang="zh-CN" sz="1800" i="1">
                          <a:solidFill>
                            <a:schemeClr val="tx1"/>
                          </a:solidFill>
                          <a:latin typeface="Cambria Math" panose="02040503050406030204" pitchFamily="18" charset="0"/>
                        </a:rPr>
                        <m:t>=1−0=1</m:t>
                      </m:r>
                    </m:oMath>
                  </m:oMathPara>
                </a14:m>
                <a:endParaRPr lang="en-US" altLang="zh-CN" sz="1800" dirty="0">
                  <a:solidFill>
                    <a:schemeClr val="tx1"/>
                  </a:solidFill>
                </a:endParaRPr>
              </a:p>
              <a:p>
                <a:pPr marL="0" indent="0">
                  <a:buNone/>
                </a:pPr>
                <a:endParaRPr lang="zh-CN" altLang="zh-CN" sz="1800" dirty="0">
                  <a:solidFill>
                    <a:schemeClr val="tx1"/>
                  </a:solidFill>
                </a:endParaRPr>
              </a:p>
              <a:p>
                <a:pPr marL="0" indent="0">
                  <a:buNone/>
                </a:pPr>
                <a:r>
                  <a:rPr lang="zh-CN" altLang="zh-CN" sz="1800" dirty="0">
                    <a:solidFill>
                      <a:schemeClr val="tx1"/>
                    </a:solidFill>
                  </a:rPr>
                  <a:t>选择信息增益最大特征作为</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1</m:t>
                        </m:r>
                      </m:sub>
                    </m:sSub>
                  </m:oMath>
                </a14:m>
                <a:r>
                  <a:rPr lang="zh-CN" altLang="zh-CN" sz="1800" dirty="0">
                    <a:solidFill>
                      <a:schemeClr val="tx1"/>
                    </a:solidFill>
                  </a:rPr>
                  <a:t>结点的分裂属性，由于三个属性的信息增益相同，随机挑选一个作为分裂属性，此处选取“有无家族病史”作为分裂属性，它将数据集</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1</m:t>
                        </m:r>
                      </m:sub>
                    </m:sSub>
                  </m:oMath>
                </a14:m>
                <a:r>
                  <a:rPr lang="zh-CN" altLang="zh-CN" sz="1800" dirty="0">
                    <a:solidFill>
                      <a:schemeClr val="tx1"/>
                    </a:solidFill>
                  </a:rPr>
                  <a:t>分成</a:t>
                </a:r>
                <a:r>
                  <a:rPr lang="en-US" altLang="zh-CN" sz="1800" dirty="0">
                    <a:solidFill>
                      <a:schemeClr val="tx1"/>
                    </a:solidFill>
                  </a:rPr>
                  <a:t>2</a:t>
                </a:r>
                <a:r>
                  <a:rPr lang="zh-CN" altLang="zh-CN" sz="1800" dirty="0">
                    <a:solidFill>
                      <a:schemeClr val="tx1"/>
                    </a:solidFill>
                  </a:rPr>
                  <a:t>个子集</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21</m:t>
                        </m:r>
                      </m:sub>
                    </m:sSub>
                  </m:oMath>
                </a14:m>
                <a:r>
                  <a:rPr lang="zh-CN" altLang="zh-CN" sz="1800" dirty="0">
                    <a:solidFill>
                      <a:schemeClr val="tx1"/>
                    </a:solidFill>
                  </a:rPr>
                  <a:t>和</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22</m:t>
                        </m:r>
                      </m:sub>
                    </m:sSub>
                  </m:oMath>
                </a14:m>
                <a:r>
                  <a:rPr lang="zh-CN" altLang="zh-CN" sz="1800" dirty="0">
                    <a:solidFill>
                      <a:schemeClr val="tx1"/>
                    </a:solidFill>
                  </a:rPr>
                  <a:t>，对应的“有无家族病史”的取值分别为“有”和“无”，在这</a:t>
                </a:r>
                <a:r>
                  <a:rPr lang="en-US" altLang="zh-CN" sz="1800" dirty="0">
                    <a:solidFill>
                      <a:schemeClr val="tx1"/>
                    </a:solidFill>
                  </a:rPr>
                  <a:t>2</a:t>
                </a:r>
                <a:r>
                  <a:rPr lang="zh-CN" altLang="zh-CN" sz="1800" dirty="0">
                    <a:solidFill>
                      <a:schemeClr val="tx1"/>
                    </a:solidFill>
                  </a:rPr>
                  <a:t>个子集中的数据都各自属于同一类，于是就不需要再继续分裂。</a:t>
                </a:r>
              </a:p>
            </p:txBody>
          </p:sp>
        </mc:Choice>
        <mc:Fallback xmlns="">
          <p:sp>
            <p:nvSpPr>
              <p:cNvPr id="2" name="Rectangle 3">
                <a:extLst>
                  <a:ext uri="{FF2B5EF4-FFF2-40B4-BE49-F238E27FC236}">
                    <a16:creationId xmlns:a16="http://schemas.microsoft.com/office/drawing/2014/main" id="{4A362230-D4C7-C407-2C66-159487A83EFB}"/>
                  </a:ext>
                </a:extLst>
              </p:cNvPr>
              <p:cNvSpPr txBox="1">
                <a:spLocks noRot="1" noChangeAspect="1" noMove="1" noResize="1" noEditPoints="1" noAdjustHandles="1" noChangeArrowheads="1" noChangeShapeType="1" noTextEdit="1"/>
              </p:cNvSpPr>
              <p:nvPr/>
            </p:nvSpPr>
            <p:spPr bwMode="auto">
              <a:xfrm>
                <a:off x="428940" y="927174"/>
                <a:ext cx="11140760" cy="5385801"/>
              </a:xfrm>
              <a:prstGeom prst="rect">
                <a:avLst/>
              </a:prstGeom>
              <a:blipFill>
                <a:blip r:embed="rId3"/>
                <a:stretch>
                  <a:fillRect l="-438" r="-246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6464554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BC19390A-2B95-E664-E588-68FCEE099B53}"/>
                  </a:ext>
                </a:extLst>
              </p:cNvPr>
              <p:cNvSpPr txBox="1">
                <a:spLocks noChangeArrowheads="1"/>
              </p:cNvSpPr>
              <p:nvPr/>
            </p:nvSpPr>
            <p:spPr bwMode="auto">
              <a:xfrm>
                <a:off x="406456" y="927178"/>
                <a:ext cx="11379088" cy="538580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buNone/>
                </a:pPr>
                <a:r>
                  <a:rPr lang="zh-CN" altLang="zh-CN" sz="1800" dirty="0">
                    <a:solidFill>
                      <a:schemeClr val="tx1"/>
                    </a:solidFill>
                  </a:rPr>
                  <a:t>④对于</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m:t>
                        </m:r>
                      </m:sub>
                    </m:sSub>
                  </m:oMath>
                </a14:m>
                <a:r>
                  <a:rPr lang="zh-CN" altLang="zh-CN" sz="1800" dirty="0">
                    <a:solidFill>
                      <a:schemeClr val="tx1"/>
                    </a:solidFill>
                  </a:rPr>
                  <a:t>继续进行分裂，选择剩余特征中信息增益最大的作为分裂属性。</a:t>
                </a: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e>
                      </m:d>
                      <m:r>
                        <a:rPr lang="en-US" altLang="zh-CN" sz="1800" i="1">
                          <a:solidFill>
                            <a:schemeClr val="tx1"/>
                          </a:solidFill>
                          <a:latin typeface="Cambria Math" panose="02040503050406030204" pitchFamily="18" charset="0"/>
                        </a:rPr>
                        <m:t>=</m:t>
                      </m:r>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6</m:t>
                              </m:r>
                            </m:den>
                          </m:f>
                        </m:e>
                      </m:func>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5</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5</m:t>
                              </m:r>
                            </m:num>
                            <m:den>
                              <m:r>
                                <a:rPr lang="en-US" altLang="zh-CN" sz="1800" i="1">
                                  <a:solidFill>
                                    <a:schemeClr val="tx1"/>
                                  </a:solidFill>
                                  <a:latin typeface="Cambria Math" panose="02040503050406030204" pitchFamily="18" charset="0"/>
                                </a:rPr>
                                <m:t>6</m:t>
                              </m:r>
                            </m:den>
                          </m:f>
                        </m:e>
                      </m:func>
                      <m:r>
                        <a:rPr lang="en-US" altLang="zh-CN" sz="1800" i="1">
                          <a:solidFill>
                            <a:schemeClr val="tx1"/>
                          </a:solidFill>
                          <a:latin typeface="Cambria Math" panose="02040503050406030204" pitchFamily="18" charset="0"/>
                        </a:rPr>
                        <m:t>=0.650</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4</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4</m:t>
                                  </m:r>
                                </m:den>
                              </m:f>
                            </m:e>
                          </m:func>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4</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4</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2</m:t>
                                  </m:r>
                                </m:den>
                              </m:f>
                            </m:e>
                          </m:func>
                        </m:e>
                      </m:d>
                      <m:r>
                        <a:rPr lang="en-US" altLang="zh-CN" sz="1800" i="1">
                          <a:solidFill>
                            <a:schemeClr val="tx1"/>
                          </a:solidFill>
                          <a:latin typeface="Cambria Math" panose="02040503050406030204" pitchFamily="18" charset="0"/>
                        </a:rPr>
                        <m:t>=0.541</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4</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3</m:t>
                                  </m:r>
                                </m:num>
                                <m:den>
                                  <m:r>
                                    <a:rPr lang="en-US" altLang="zh-CN" sz="1800" i="1">
                                      <a:solidFill>
                                        <a:schemeClr val="tx1"/>
                                      </a:solidFill>
                                      <a:latin typeface="Cambria Math" panose="02040503050406030204" pitchFamily="18" charset="0"/>
                                    </a:rPr>
                                    <m:t>4</m:t>
                                  </m:r>
                                </m:den>
                              </m:f>
                            </m:e>
                          </m:func>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4</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4</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2</m:t>
                                  </m:r>
                                </m:den>
                              </m:f>
                            </m:e>
                          </m:func>
                        </m:e>
                      </m:d>
                      <m:r>
                        <a:rPr lang="en-US" altLang="zh-CN" sz="1800" i="1">
                          <a:solidFill>
                            <a:schemeClr val="tx1"/>
                          </a:solidFill>
                          <a:latin typeface="Cambria Math" panose="02040503050406030204" pitchFamily="18" charset="0"/>
                        </a:rPr>
                        <m:t>=0.541</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𝐶</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4</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4</m:t>
                                  </m:r>
                                </m:num>
                                <m:den>
                                  <m:r>
                                    <a:rPr lang="en-US" altLang="zh-CN" sz="1800" i="1">
                                      <a:solidFill>
                                        <a:schemeClr val="tx1"/>
                                      </a:solidFill>
                                      <a:latin typeface="Cambria Math" panose="02040503050406030204" pitchFamily="18" charset="0"/>
                                    </a:rPr>
                                    <m:t>4</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2</m:t>
                          </m:r>
                        </m:num>
                        <m:den>
                          <m:r>
                            <a:rPr lang="en-US" altLang="zh-CN" sz="1800" i="1">
                              <a:solidFill>
                                <a:schemeClr val="tx1"/>
                              </a:solidFill>
                              <a:latin typeface="Cambria Math" panose="02040503050406030204" pitchFamily="18" charset="0"/>
                            </a:rPr>
                            <m:t>6</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e>
                          </m:func>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e>
                          </m:func>
                        </m:e>
                      </m:d>
                      <m:r>
                        <a:rPr lang="en-US" altLang="zh-CN" sz="1800" i="1">
                          <a:solidFill>
                            <a:schemeClr val="tx1"/>
                          </a:solidFill>
                          <a:latin typeface="Cambria Math" panose="02040503050406030204" pitchFamily="18" charset="0"/>
                        </a:rPr>
                        <m:t>=0.333</m:t>
                      </m:r>
                    </m:oMath>
                  </m:oMathPara>
                </a14:m>
                <a:endParaRPr lang="en-US" altLang="zh-CN" sz="1800" dirty="0">
                  <a:solidFill>
                    <a:schemeClr val="tx1"/>
                  </a:solidFill>
                </a:endParaRPr>
              </a:p>
              <a:p>
                <a:pPr marL="0" indent="0">
                  <a:buNone/>
                </a:pPr>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𝑔</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e>
                        <m:e>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=0.650−0.541=0.109</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𝑔</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e>
                        <m:e>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=0.650−0.541=0.109</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𝑔</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e>
                        <m:e>
                          <m:r>
                            <a:rPr lang="en-US" altLang="zh-CN" sz="1800" i="1">
                              <a:solidFill>
                                <a:schemeClr val="tx1"/>
                              </a:solidFill>
                              <a:latin typeface="Cambria Math" panose="02040503050406030204" pitchFamily="18" charset="0"/>
                            </a:rPr>
                            <m:t>𝐶</m:t>
                          </m:r>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𝐶</m:t>
                          </m:r>
                        </m:e>
                      </m:d>
                      <m:r>
                        <a:rPr lang="en-US" altLang="zh-CN" sz="1800" i="1">
                          <a:solidFill>
                            <a:schemeClr val="tx1"/>
                          </a:solidFill>
                          <a:latin typeface="Cambria Math" panose="02040503050406030204" pitchFamily="18" charset="0"/>
                        </a:rPr>
                        <m:t>=0.650−0.333=0.317</m:t>
                      </m:r>
                    </m:oMath>
                  </m:oMathPara>
                </a14:m>
                <a:endParaRPr lang="en-US" altLang="zh-CN" sz="1800" dirty="0">
                  <a:solidFill>
                    <a:schemeClr val="tx1"/>
                  </a:solidFill>
                </a:endParaRPr>
              </a:p>
              <a:p>
                <a:pPr marL="0" indent="0">
                  <a:buNone/>
                </a:pPr>
                <a:endParaRPr lang="zh-CN" altLang="zh-CN" sz="1800" dirty="0">
                  <a:solidFill>
                    <a:schemeClr val="tx1"/>
                  </a:solidFill>
                </a:endParaRPr>
              </a:p>
              <a:p>
                <a:pPr marL="0" indent="0">
                  <a:buNone/>
                </a:pPr>
                <a:r>
                  <a:rPr lang="zh-CN" altLang="zh-CN" sz="1800" dirty="0">
                    <a:solidFill>
                      <a:schemeClr val="tx1"/>
                    </a:solidFill>
                  </a:rPr>
                  <a:t>选择信息增益最大特征“有无家族病史”作为</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m:t>
                        </m:r>
                      </m:sub>
                    </m:sSub>
                  </m:oMath>
                </a14:m>
                <a:r>
                  <a:rPr lang="zh-CN" altLang="zh-CN" sz="1800" dirty="0">
                    <a:solidFill>
                      <a:schemeClr val="tx1"/>
                    </a:solidFill>
                  </a:rPr>
                  <a:t>结点的分裂属性，将数据集</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m:t>
                        </m:r>
                      </m:sub>
                    </m:sSub>
                  </m:oMath>
                </a14:m>
                <a:r>
                  <a:rPr lang="zh-CN" altLang="zh-CN" sz="1800" dirty="0">
                    <a:solidFill>
                      <a:schemeClr val="tx1"/>
                    </a:solidFill>
                  </a:rPr>
                  <a:t>分成</a:t>
                </a:r>
                <a:r>
                  <a:rPr lang="en-US" altLang="zh-CN" sz="1800" dirty="0">
                    <a:solidFill>
                      <a:schemeClr val="tx1"/>
                    </a:solidFill>
                  </a:rPr>
                  <a:t>2</a:t>
                </a:r>
                <a:r>
                  <a:rPr lang="zh-CN" altLang="zh-CN" sz="1800" dirty="0">
                    <a:solidFill>
                      <a:schemeClr val="tx1"/>
                    </a:solidFill>
                  </a:rPr>
                  <a:t>个子集</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51</m:t>
                        </m:r>
                      </m:sub>
                    </m:sSub>
                  </m:oMath>
                </a14:m>
                <a:r>
                  <a:rPr lang="zh-CN" altLang="zh-CN" sz="1800" dirty="0">
                    <a:solidFill>
                      <a:schemeClr val="tx1"/>
                    </a:solidFill>
                  </a:rPr>
                  <a:t>和</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52</m:t>
                        </m:r>
                      </m:sub>
                    </m:sSub>
                  </m:oMath>
                </a14:m>
                <a:r>
                  <a:rPr lang="zh-CN" altLang="zh-CN" sz="1800" dirty="0">
                    <a:solidFill>
                      <a:schemeClr val="tx1"/>
                    </a:solidFill>
                  </a:rPr>
                  <a:t>，对应的“有无家族病史”的取值分别为“有”和“无”，“有”对应的</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51</m:t>
                        </m:r>
                      </m:sub>
                    </m:sSub>
                  </m:oMath>
                </a14:m>
                <a:r>
                  <a:rPr lang="zh-CN" altLang="zh-CN" sz="1800" dirty="0">
                    <a:solidFill>
                      <a:schemeClr val="tx1"/>
                    </a:solidFill>
                  </a:rPr>
                  <a:t>中的数据都属于同一类，不需要再继续分裂，“无”对应的</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52</m:t>
                        </m:r>
                      </m:sub>
                    </m:sSub>
                  </m:oMath>
                </a14:m>
                <a:r>
                  <a:rPr lang="zh-CN" altLang="zh-CN" sz="1800" dirty="0">
                    <a:solidFill>
                      <a:schemeClr val="tx1"/>
                    </a:solidFill>
                  </a:rPr>
                  <a:t>中的数据属于不同类，需要对其进行分裂。</a:t>
                </a:r>
              </a:p>
            </p:txBody>
          </p:sp>
        </mc:Choice>
        <mc:Fallback xmlns="">
          <p:sp>
            <p:nvSpPr>
              <p:cNvPr id="2" name="Rectangle 3">
                <a:extLst>
                  <a:ext uri="{FF2B5EF4-FFF2-40B4-BE49-F238E27FC236}">
                    <a16:creationId xmlns:a16="http://schemas.microsoft.com/office/drawing/2014/main" id="{BC19390A-2B95-E664-E588-68FCEE099B53}"/>
                  </a:ext>
                </a:extLst>
              </p:cNvPr>
              <p:cNvSpPr txBox="1">
                <a:spLocks noRot="1" noChangeAspect="1" noMove="1" noResize="1" noEditPoints="1" noAdjustHandles="1" noChangeArrowheads="1" noChangeShapeType="1" noTextEdit="1"/>
              </p:cNvSpPr>
              <p:nvPr/>
            </p:nvSpPr>
            <p:spPr bwMode="auto">
              <a:xfrm>
                <a:off x="406456" y="927178"/>
                <a:ext cx="11379088" cy="5385801"/>
              </a:xfrm>
              <a:prstGeom prst="rect">
                <a:avLst/>
              </a:prstGeom>
              <a:blipFill>
                <a:blip r:embed="rId3"/>
                <a:stretch>
                  <a:fillRect l="-482" t="-566" r="-24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3167477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CFFE57D9-F6F7-0E8C-2BAF-D215C7DA92C8}"/>
                  </a:ext>
                </a:extLst>
              </p:cNvPr>
              <p:cNvSpPr txBox="1">
                <a:spLocks noChangeArrowheads="1"/>
              </p:cNvSpPr>
              <p:nvPr/>
            </p:nvSpPr>
            <p:spPr bwMode="auto">
              <a:xfrm>
                <a:off x="381110" y="1140094"/>
                <a:ext cx="11429890" cy="538580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buNone/>
                </a:pPr>
                <a:r>
                  <a:rPr lang="zh-CN" altLang="zh-CN" sz="1800" dirty="0">
                    <a:solidFill>
                      <a:schemeClr val="tx1"/>
                    </a:solidFill>
                  </a:rPr>
                  <a:t>⑤对于</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52</m:t>
                        </m:r>
                      </m:sub>
                    </m:sSub>
                  </m:oMath>
                </a14:m>
                <a:r>
                  <a:rPr lang="zh-CN" altLang="zh-CN" sz="1800" dirty="0">
                    <a:solidFill>
                      <a:schemeClr val="tx1"/>
                    </a:solidFill>
                  </a:rPr>
                  <a:t>继续进行分裂，选择剩余特征中信息增益最大的作为分裂属性。</a:t>
                </a: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52</m:t>
                              </m:r>
                            </m:sub>
                          </m:sSub>
                        </m:e>
                      </m:d>
                      <m:r>
                        <a:rPr lang="en-US" altLang="zh-CN" sz="1800" i="1">
                          <a:solidFill>
                            <a:schemeClr val="tx1"/>
                          </a:solidFill>
                          <a:latin typeface="Cambria Math" panose="02040503050406030204" pitchFamily="18" charset="0"/>
                        </a:rPr>
                        <m:t>=</m:t>
                      </m:r>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e>
                      </m:func>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e>
                      </m:func>
                      <m:r>
                        <a:rPr lang="en-US" altLang="zh-CN" sz="1800" i="1">
                          <a:solidFill>
                            <a:schemeClr val="tx1"/>
                          </a:solidFill>
                          <a:latin typeface="Cambria Math" panose="02040503050406030204" pitchFamily="18" charset="0"/>
                        </a:rPr>
                        <m:t>=1</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52</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=0</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52</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2</m:t>
                          </m:r>
                        </m:den>
                      </m:f>
                      <m:r>
                        <a:rPr lang="en-US" altLang="zh-CN" sz="1800" i="1">
                          <a:solidFill>
                            <a:schemeClr val="tx1"/>
                          </a:solidFill>
                          <a:latin typeface="Cambria Math" panose="02040503050406030204" pitchFamily="18" charset="0"/>
                        </a:rPr>
                        <m:t>×</m:t>
                      </m:r>
                      <m:d>
                        <m:dPr>
                          <m:ctrlPr>
                            <a:rPr lang="zh-CN" altLang="zh-CN"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m:t>
                          </m:r>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r>
                            <a:rPr lang="en-US" altLang="zh-CN" sz="1800" i="1">
                              <a:solidFill>
                                <a:schemeClr val="tx1"/>
                              </a:solidFill>
                              <a:latin typeface="Cambria Math" panose="02040503050406030204" pitchFamily="18" charset="0"/>
                            </a:rPr>
                            <m:t>×</m:t>
                          </m:r>
                          <m:func>
                            <m:funcPr>
                              <m:ctrlPr>
                                <a:rPr lang="zh-CN" altLang="zh-CN" sz="1800" i="1">
                                  <a:solidFill>
                                    <a:schemeClr val="tx1"/>
                                  </a:solidFill>
                                  <a:latin typeface="Cambria Math" panose="02040503050406030204" pitchFamily="18" charset="0"/>
                                </a:rPr>
                              </m:ctrlPr>
                            </m:funcPr>
                            <m:fNa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log</m:t>
                                  </m:r>
                                </m:e>
                                <m:sub>
                                  <m:r>
                                    <a:rPr lang="en-US" altLang="zh-CN" sz="1800" i="1">
                                      <a:solidFill>
                                        <a:schemeClr val="tx1"/>
                                      </a:solidFill>
                                      <a:latin typeface="Cambria Math" panose="02040503050406030204" pitchFamily="18" charset="0"/>
                                    </a:rPr>
                                    <m:t>2</m:t>
                                  </m:r>
                                </m:sub>
                              </m:sSub>
                            </m:fName>
                            <m:e>
                              <m:f>
                                <m:fPr>
                                  <m:ctrlPr>
                                    <a:rPr lang="zh-CN" altLang="zh-CN" sz="1800" i="1">
                                      <a:solidFill>
                                        <a:schemeClr val="tx1"/>
                                      </a:solidFill>
                                      <a:latin typeface="Cambria Math" panose="02040503050406030204" pitchFamily="18" charset="0"/>
                                    </a:rPr>
                                  </m:ctrlPr>
                                </m:fPr>
                                <m:num>
                                  <m:r>
                                    <a:rPr lang="en-US" altLang="zh-CN" sz="1800" i="1">
                                      <a:solidFill>
                                        <a:schemeClr val="tx1"/>
                                      </a:solidFill>
                                      <a:latin typeface="Cambria Math" panose="02040503050406030204" pitchFamily="18" charset="0"/>
                                    </a:rPr>
                                    <m:t>1</m:t>
                                  </m:r>
                                </m:num>
                                <m:den>
                                  <m:r>
                                    <a:rPr lang="en-US" altLang="zh-CN" sz="1800" i="1">
                                      <a:solidFill>
                                        <a:schemeClr val="tx1"/>
                                      </a:solidFill>
                                      <a:latin typeface="Cambria Math" panose="02040503050406030204" pitchFamily="18" charset="0"/>
                                    </a:rPr>
                                    <m:t>1</m:t>
                                  </m:r>
                                </m:den>
                              </m:f>
                            </m:e>
                          </m:func>
                        </m:e>
                      </m:d>
                      <m:r>
                        <a:rPr lang="en-US" altLang="zh-CN" sz="1800" i="1">
                          <a:solidFill>
                            <a:schemeClr val="tx1"/>
                          </a:solidFill>
                          <a:latin typeface="Cambria Math" panose="02040503050406030204" pitchFamily="18" charset="0"/>
                        </a:rPr>
                        <m:t>=0</m:t>
                      </m:r>
                    </m:oMath>
                  </m:oMathPara>
                </a14:m>
                <a:endParaRPr lang="en-US" altLang="zh-CN" sz="1800" dirty="0">
                  <a:solidFill>
                    <a:schemeClr val="tx1"/>
                  </a:solidFill>
                </a:endParaRPr>
              </a:p>
              <a:p>
                <a:pPr marL="0" indent="0">
                  <a:buNone/>
                </a:pPr>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𝑔</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52</m:t>
                              </m:r>
                            </m:sub>
                          </m:sSub>
                        </m:e>
                        <m:e>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51</m:t>
                              </m:r>
                            </m:sub>
                          </m:sSub>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51</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𝐴</m:t>
                          </m:r>
                        </m:e>
                      </m:d>
                      <m:r>
                        <a:rPr lang="en-US" altLang="zh-CN" sz="1800" i="1">
                          <a:solidFill>
                            <a:schemeClr val="tx1"/>
                          </a:solidFill>
                          <a:latin typeface="Cambria Math" panose="02040503050406030204" pitchFamily="18" charset="0"/>
                        </a:rPr>
                        <m:t>=1−0=1</m:t>
                      </m:r>
                    </m:oMath>
                  </m:oMathPara>
                </a14:m>
                <a:endParaRPr lang="zh-CN" altLang="zh-CN" sz="180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altLang="zh-CN" sz="1800" i="1">
                          <a:solidFill>
                            <a:schemeClr val="tx1"/>
                          </a:solidFill>
                          <a:latin typeface="Cambria Math" panose="02040503050406030204" pitchFamily="18" charset="0"/>
                        </a:rPr>
                        <m:t>𝑔</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52</m:t>
                              </m:r>
                            </m:sub>
                          </m:sSub>
                        </m:e>
                        <m:e>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51</m:t>
                              </m:r>
                            </m:sub>
                          </m:sSub>
                        </m:e>
                      </m:d>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𝐼𝑛𝑓𝑜𝑟</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i="1">
                                  <a:solidFill>
                                    <a:schemeClr val="tx1"/>
                                  </a:solidFill>
                                  <a:latin typeface="Cambria Math" panose="02040503050406030204" pitchFamily="18" charset="0"/>
                                </a:rPr>
                                <m:t>51</m:t>
                              </m:r>
                            </m:sub>
                          </m:sSub>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𝐵</m:t>
                          </m:r>
                        </m:e>
                      </m:d>
                      <m:r>
                        <a:rPr lang="en-US" altLang="zh-CN" sz="1800" i="1">
                          <a:solidFill>
                            <a:schemeClr val="tx1"/>
                          </a:solidFill>
                          <a:latin typeface="Cambria Math" panose="02040503050406030204" pitchFamily="18" charset="0"/>
                        </a:rPr>
                        <m:t>=1−0=1</m:t>
                      </m:r>
                    </m:oMath>
                  </m:oMathPara>
                </a14:m>
                <a:endParaRPr lang="en-US" altLang="zh-CN" sz="1800" dirty="0">
                  <a:solidFill>
                    <a:schemeClr val="tx1"/>
                  </a:solidFill>
                </a:endParaRPr>
              </a:p>
              <a:p>
                <a:pPr marL="0" indent="0">
                  <a:buNone/>
                </a:pPr>
                <a:endParaRPr lang="zh-CN" altLang="zh-CN" sz="1800" dirty="0">
                  <a:solidFill>
                    <a:schemeClr val="tx1"/>
                  </a:solidFill>
                </a:endParaRPr>
              </a:p>
              <a:p>
                <a:pPr marL="0" indent="0">
                  <a:buNone/>
                </a:pPr>
                <a:r>
                  <a:rPr lang="zh-CN" altLang="zh-CN" sz="1800" dirty="0">
                    <a:solidFill>
                      <a:schemeClr val="tx1"/>
                    </a:solidFill>
                  </a:rPr>
                  <a:t>由于两个属性的信息增益相同，随机挑选一个作为分裂属性，此处选取“吸烟史”作为</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52</m:t>
                        </m:r>
                      </m:sub>
                    </m:sSub>
                  </m:oMath>
                </a14:m>
                <a:r>
                  <a:rPr lang="zh-CN" altLang="zh-CN" sz="1800" dirty="0">
                    <a:solidFill>
                      <a:schemeClr val="tx1"/>
                    </a:solidFill>
                  </a:rPr>
                  <a:t>结点的分裂属性，将数据集</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52</m:t>
                        </m:r>
                      </m:sub>
                    </m:sSub>
                  </m:oMath>
                </a14:m>
                <a:r>
                  <a:rPr lang="zh-CN" altLang="zh-CN" sz="1800" dirty="0">
                    <a:solidFill>
                      <a:schemeClr val="tx1"/>
                    </a:solidFill>
                  </a:rPr>
                  <a:t>分成</a:t>
                </a:r>
                <a:r>
                  <a:rPr lang="en-US" altLang="zh-CN" sz="1800" dirty="0">
                    <a:solidFill>
                      <a:schemeClr val="tx1"/>
                    </a:solidFill>
                  </a:rPr>
                  <a:t>2</a:t>
                </a:r>
                <a:r>
                  <a:rPr lang="zh-CN" altLang="zh-CN" sz="1800" dirty="0">
                    <a:solidFill>
                      <a:schemeClr val="tx1"/>
                    </a:solidFill>
                  </a:rPr>
                  <a:t>个子集</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521</m:t>
                        </m:r>
                      </m:sub>
                    </m:sSub>
                  </m:oMath>
                </a14:m>
                <a:r>
                  <a:rPr lang="zh-CN" altLang="zh-CN" sz="1800" dirty="0">
                    <a:solidFill>
                      <a:schemeClr val="tx1"/>
                    </a:solidFill>
                  </a:rPr>
                  <a:t>和</a:t>
                </a:r>
                <a14:m>
                  <m:oMath xmlns:m="http://schemas.openxmlformats.org/officeDocument/2006/math">
                    <m:sSub>
                      <m:sSubPr>
                        <m:ctrlPr>
                          <a:rPr lang="zh-CN"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𝑍</m:t>
                        </m:r>
                      </m:e>
                      <m:sub>
                        <m:r>
                          <a:rPr lang="en-US" altLang="zh-CN" sz="1800">
                            <a:solidFill>
                              <a:schemeClr val="tx1"/>
                            </a:solidFill>
                            <a:latin typeface="Cambria Math" panose="02040503050406030204" pitchFamily="18" charset="0"/>
                          </a:rPr>
                          <m:t>522</m:t>
                        </m:r>
                      </m:sub>
                    </m:sSub>
                  </m:oMath>
                </a14:m>
                <a:r>
                  <a:rPr lang="zh-CN" altLang="zh-CN" sz="1800" dirty="0">
                    <a:solidFill>
                      <a:schemeClr val="tx1"/>
                    </a:solidFill>
                  </a:rPr>
                  <a:t>，对应的“吸烟史”的取值分别为“无”和“</a:t>
                </a:r>
                <a:r>
                  <a:rPr lang="en-US" altLang="zh-CN" sz="1800" dirty="0">
                    <a:solidFill>
                      <a:schemeClr val="tx1"/>
                    </a:solidFill>
                  </a:rPr>
                  <a:t>5</a:t>
                </a:r>
                <a:r>
                  <a:rPr lang="zh-CN" altLang="zh-CN" sz="1800" dirty="0">
                    <a:solidFill>
                      <a:schemeClr val="tx1"/>
                    </a:solidFill>
                  </a:rPr>
                  <a:t>年以上”，在这两个子集中的数据都各自属于同一类，于是就不需要再继续分裂，决策树构造完毕。</a:t>
                </a:r>
              </a:p>
            </p:txBody>
          </p:sp>
        </mc:Choice>
        <mc:Fallback xmlns="">
          <p:sp>
            <p:nvSpPr>
              <p:cNvPr id="2" name="Rectangle 3">
                <a:extLst>
                  <a:ext uri="{FF2B5EF4-FFF2-40B4-BE49-F238E27FC236}">
                    <a16:creationId xmlns:a16="http://schemas.microsoft.com/office/drawing/2014/main" id="{CFFE57D9-F6F7-0E8C-2BAF-D215C7DA92C8}"/>
                  </a:ext>
                </a:extLst>
              </p:cNvPr>
              <p:cNvSpPr txBox="1">
                <a:spLocks noRot="1" noChangeAspect="1" noMove="1" noResize="1" noEditPoints="1" noAdjustHandles="1" noChangeArrowheads="1" noChangeShapeType="1" noTextEdit="1"/>
              </p:cNvSpPr>
              <p:nvPr/>
            </p:nvSpPr>
            <p:spPr bwMode="auto">
              <a:xfrm>
                <a:off x="381110" y="1140094"/>
                <a:ext cx="11429890" cy="5385801"/>
              </a:xfrm>
              <a:prstGeom prst="rect">
                <a:avLst/>
              </a:prstGeom>
              <a:blipFill>
                <a:blip r:embed="rId3"/>
                <a:stretch>
                  <a:fillRect l="-480" t="-56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5848186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pic>
        <p:nvPicPr>
          <p:cNvPr id="58" name="图片 57">
            <a:extLst>
              <a:ext uri="{FF2B5EF4-FFF2-40B4-BE49-F238E27FC236}">
                <a16:creationId xmlns:a16="http://schemas.microsoft.com/office/drawing/2014/main" id="{4F8E82B4-18FE-386D-61B2-D7E08AA54733}"/>
              </a:ext>
            </a:extLst>
          </p:cNvPr>
          <p:cNvPicPr>
            <a:picLocks noChangeAspect="1"/>
          </p:cNvPicPr>
          <p:nvPr/>
        </p:nvPicPr>
        <p:blipFill>
          <a:blip r:embed="rId3"/>
          <a:stretch>
            <a:fillRect/>
          </a:stretch>
        </p:blipFill>
        <p:spPr>
          <a:xfrm>
            <a:off x="585350" y="905672"/>
            <a:ext cx="11209368" cy="5469727"/>
          </a:xfrm>
          <a:prstGeom prst="rect">
            <a:avLst/>
          </a:prstGeom>
        </p:spPr>
      </p:pic>
    </p:spTree>
    <p:custDataLst>
      <p:tags r:id="rId1"/>
    </p:custDataLst>
    <p:extLst>
      <p:ext uri="{BB962C8B-B14F-4D97-AF65-F5344CB8AC3E}">
        <p14:creationId xmlns:p14="http://schemas.microsoft.com/office/powerpoint/2010/main" val="37696029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userDrawn="1"/>
        </p:nvSpPr>
        <p:spPr>
          <a:xfrm>
            <a:off x="635" y="0"/>
            <a:ext cx="12191365" cy="63690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charset="-122"/>
                <a:ea typeface="黑体" panose="02010609060101010101" charset="-122"/>
                <a:sym typeface="+mn-ea"/>
              </a:rPr>
              <a:t>更多资料请关注公众号【数学建模老哥】课件或代码请公众号回复</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课件</a:t>
            </a:r>
            <a:r>
              <a:rPr lang="en-US" altLang="zh-CN" sz="2000" dirty="0">
                <a:latin typeface="黑体" panose="02010609060101010101" charset="-122"/>
                <a:ea typeface="黑体" panose="02010609060101010101" charset="-122"/>
                <a:sym typeface="+mn-ea"/>
              </a:rPr>
              <a:t>”</a:t>
            </a:r>
            <a:r>
              <a:rPr lang="zh-CN" altLang="en-US" sz="2000" dirty="0">
                <a:latin typeface="黑体" panose="02010609060101010101" charset="-122"/>
                <a:ea typeface="黑体" panose="02010609060101010101" charset="-122"/>
                <a:sym typeface="+mn-ea"/>
              </a:rPr>
              <a:t>，粉丝</a:t>
            </a:r>
            <a:r>
              <a:rPr lang="en-US" altLang="zh-CN" sz="2000" dirty="0">
                <a:latin typeface="黑体" panose="02010609060101010101" charset="-122"/>
                <a:ea typeface="黑体" panose="02010609060101010101" charset="-122"/>
                <a:sym typeface="+mn-ea"/>
              </a:rPr>
              <a:t>QQ</a:t>
            </a:r>
            <a:r>
              <a:rPr lang="zh-CN" altLang="en-US" sz="2000" dirty="0">
                <a:latin typeface="黑体" panose="02010609060101010101" charset="-122"/>
                <a:ea typeface="黑体" panose="02010609060101010101" charset="-122"/>
                <a:sym typeface="+mn-ea"/>
              </a:rPr>
              <a:t>群：</a:t>
            </a:r>
            <a:r>
              <a:rPr lang="en-US" altLang="zh-CN" sz="2000" dirty="0">
                <a:latin typeface="黑体" panose="02010609060101010101" charset="-122"/>
                <a:ea typeface="黑体" panose="02010609060101010101" charset="-122"/>
                <a:sym typeface="+mn-ea"/>
              </a:rPr>
              <a:t>1077734962</a:t>
            </a:r>
            <a:endParaRPr lang="zh-CN" altLang="en-US" sz="2000" dirty="0">
              <a:latin typeface="黑体" panose="02010609060101010101" charset="-122"/>
              <a:ea typeface="黑体" panose="02010609060101010101" charset="-122"/>
              <a:sym typeface="+mn-ea"/>
            </a:endParaRPr>
          </a:p>
        </p:txBody>
      </p:sp>
      <p:sp>
        <p:nvSpPr>
          <p:cNvPr id="2" name="Rectangle 3">
            <a:extLst>
              <a:ext uri="{FF2B5EF4-FFF2-40B4-BE49-F238E27FC236}">
                <a16:creationId xmlns:a16="http://schemas.microsoft.com/office/drawing/2014/main" id="{F33BE849-6ADA-BCF0-5A50-CB5F470EE8FA}"/>
              </a:ext>
            </a:extLst>
          </p:cNvPr>
          <p:cNvSpPr txBox="1">
            <a:spLocks noChangeArrowheads="1"/>
          </p:cNvSpPr>
          <p:nvPr/>
        </p:nvSpPr>
        <p:spPr bwMode="auto">
          <a:xfrm>
            <a:off x="680641" y="1731890"/>
            <a:ext cx="10546159" cy="2606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buNone/>
            </a:pPr>
            <a:r>
              <a:rPr lang="zh-CN" altLang="zh-CN" sz="1400" dirty="0">
                <a:solidFill>
                  <a:schemeClr val="tx1"/>
                </a:solidFill>
              </a:rPr>
              <a:t>根据构建的决策树，可以提取分类规则如下。</a:t>
            </a:r>
          </a:p>
          <a:p>
            <a:pPr marL="0" indent="0">
              <a:buNone/>
            </a:pPr>
            <a:r>
              <a:rPr lang="zh-CN" altLang="zh-CN" sz="1400" dirty="0">
                <a:solidFill>
                  <a:schemeClr val="tx1"/>
                </a:solidFill>
              </a:rPr>
              <a:t>①</a:t>
            </a:r>
            <a:r>
              <a:rPr lang="en-US" altLang="zh-CN" sz="1400" dirty="0">
                <a:solidFill>
                  <a:schemeClr val="tx1"/>
                </a:solidFill>
              </a:rPr>
              <a:t>IF </a:t>
            </a:r>
            <a:r>
              <a:rPr lang="zh-CN" altLang="zh-CN" sz="1400" dirty="0">
                <a:solidFill>
                  <a:schemeClr val="tx1"/>
                </a:solidFill>
              </a:rPr>
              <a:t>“体重范围”</a:t>
            </a:r>
            <a:r>
              <a:rPr lang="en-US" altLang="zh-CN" sz="1400" dirty="0">
                <a:solidFill>
                  <a:schemeClr val="tx1"/>
                </a:solidFill>
              </a:rPr>
              <a:t>=</a:t>
            </a:r>
            <a:r>
              <a:rPr lang="zh-CN" altLang="zh-CN" sz="1400" dirty="0">
                <a:solidFill>
                  <a:schemeClr val="tx1"/>
                </a:solidFill>
              </a:rPr>
              <a:t>“低”</a:t>
            </a:r>
            <a:r>
              <a:rPr lang="en-US" altLang="zh-CN" sz="1400" dirty="0">
                <a:solidFill>
                  <a:schemeClr val="tx1"/>
                </a:solidFill>
              </a:rPr>
              <a:t> AND </a:t>
            </a:r>
            <a:r>
              <a:rPr lang="zh-CN" altLang="zh-CN" sz="1400" dirty="0">
                <a:solidFill>
                  <a:schemeClr val="tx1"/>
                </a:solidFill>
              </a:rPr>
              <a:t>“有无家族病史”</a:t>
            </a:r>
            <a:r>
              <a:rPr lang="en-US" altLang="zh-CN" sz="1400" dirty="0">
                <a:solidFill>
                  <a:schemeClr val="tx1"/>
                </a:solidFill>
              </a:rPr>
              <a:t>=</a:t>
            </a:r>
            <a:r>
              <a:rPr lang="zh-CN" altLang="zh-CN" sz="1400" dirty="0">
                <a:solidFill>
                  <a:schemeClr val="tx1"/>
                </a:solidFill>
              </a:rPr>
              <a:t>“有”</a:t>
            </a:r>
            <a:r>
              <a:rPr lang="en-US" altLang="zh-CN" sz="1400" dirty="0">
                <a:solidFill>
                  <a:schemeClr val="tx1"/>
                </a:solidFill>
              </a:rPr>
              <a:t> THEN </a:t>
            </a:r>
            <a:r>
              <a:rPr lang="zh-CN" altLang="zh-CN" sz="1400" dirty="0">
                <a:solidFill>
                  <a:schemeClr val="tx1"/>
                </a:solidFill>
              </a:rPr>
              <a:t>患病</a:t>
            </a:r>
          </a:p>
          <a:p>
            <a:pPr marL="0" indent="0">
              <a:buNone/>
            </a:pPr>
            <a:r>
              <a:rPr lang="zh-CN" altLang="zh-CN" sz="1400" dirty="0">
                <a:solidFill>
                  <a:schemeClr val="tx1"/>
                </a:solidFill>
              </a:rPr>
              <a:t>②</a:t>
            </a:r>
            <a:r>
              <a:rPr lang="en-US" altLang="zh-CN" sz="1400" dirty="0">
                <a:solidFill>
                  <a:schemeClr val="tx1"/>
                </a:solidFill>
              </a:rPr>
              <a:t>IF </a:t>
            </a:r>
            <a:r>
              <a:rPr lang="zh-CN" altLang="zh-CN" sz="1400" dirty="0">
                <a:solidFill>
                  <a:schemeClr val="tx1"/>
                </a:solidFill>
              </a:rPr>
              <a:t>“体重范围”</a:t>
            </a:r>
            <a:r>
              <a:rPr lang="en-US" altLang="zh-CN" sz="1400" dirty="0">
                <a:solidFill>
                  <a:schemeClr val="tx1"/>
                </a:solidFill>
              </a:rPr>
              <a:t>=</a:t>
            </a:r>
            <a:r>
              <a:rPr lang="zh-CN" altLang="zh-CN" sz="1400" dirty="0">
                <a:solidFill>
                  <a:schemeClr val="tx1"/>
                </a:solidFill>
              </a:rPr>
              <a:t>“低”</a:t>
            </a:r>
            <a:r>
              <a:rPr lang="en-US" altLang="zh-CN" sz="1400" dirty="0">
                <a:solidFill>
                  <a:schemeClr val="tx1"/>
                </a:solidFill>
              </a:rPr>
              <a:t> AND </a:t>
            </a:r>
            <a:r>
              <a:rPr lang="zh-CN" altLang="zh-CN" sz="1400" dirty="0">
                <a:solidFill>
                  <a:schemeClr val="tx1"/>
                </a:solidFill>
              </a:rPr>
              <a:t>“有无家族病史”</a:t>
            </a:r>
            <a:r>
              <a:rPr lang="en-US" altLang="zh-CN" sz="1400" dirty="0">
                <a:solidFill>
                  <a:schemeClr val="tx1"/>
                </a:solidFill>
              </a:rPr>
              <a:t>=</a:t>
            </a:r>
            <a:r>
              <a:rPr lang="zh-CN" altLang="zh-CN" sz="1400" dirty="0">
                <a:solidFill>
                  <a:schemeClr val="tx1"/>
                </a:solidFill>
              </a:rPr>
              <a:t>“无”</a:t>
            </a:r>
            <a:r>
              <a:rPr lang="en-US" altLang="zh-CN" sz="1400" dirty="0">
                <a:solidFill>
                  <a:schemeClr val="tx1"/>
                </a:solidFill>
              </a:rPr>
              <a:t>THEN </a:t>
            </a:r>
            <a:r>
              <a:rPr lang="zh-CN" altLang="zh-CN" sz="1400" dirty="0">
                <a:solidFill>
                  <a:schemeClr val="tx1"/>
                </a:solidFill>
              </a:rPr>
              <a:t>没有患病</a:t>
            </a:r>
          </a:p>
          <a:p>
            <a:pPr marL="0" indent="0">
              <a:buNone/>
            </a:pPr>
            <a:r>
              <a:rPr lang="zh-CN" altLang="zh-CN" sz="1400" dirty="0">
                <a:solidFill>
                  <a:schemeClr val="tx1"/>
                </a:solidFill>
              </a:rPr>
              <a:t>③</a:t>
            </a:r>
            <a:r>
              <a:rPr lang="en-US" altLang="zh-CN" sz="1400" dirty="0">
                <a:solidFill>
                  <a:schemeClr val="tx1"/>
                </a:solidFill>
              </a:rPr>
              <a:t>IF </a:t>
            </a:r>
            <a:r>
              <a:rPr lang="zh-CN" altLang="zh-CN" sz="1400" dirty="0">
                <a:solidFill>
                  <a:schemeClr val="tx1"/>
                </a:solidFill>
              </a:rPr>
              <a:t>“体重范围”</a:t>
            </a:r>
            <a:r>
              <a:rPr lang="en-US" altLang="zh-CN" sz="1400" dirty="0">
                <a:solidFill>
                  <a:schemeClr val="tx1"/>
                </a:solidFill>
              </a:rPr>
              <a:t>=</a:t>
            </a:r>
            <a:r>
              <a:rPr lang="zh-CN" altLang="zh-CN" sz="1400" dirty="0">
                <a:solidFill>
                  <a:schemeClr val="tx1"/>
                </a:solidFill>
              </a:rPr>
              <a:t>“较低”</a:t>
            </a:r>
            <a:r>
              <a:rPr lang="en-US" altLang="zh-CN" sz="1400" dirty="0">
                <a:solidFill>
                  <a:schemeClr val="tx1"/>
                </a:solidFill>
              </a:rPr>
              <a:t> THEN </a:t>
            </a:r>
            <a:r>
              <a:rPr lang="zh-CN" altLang="zh-CN" sz="1400" dirty="0">
                <a:solidFill>
                  <a:schemeClr val="tx1"/>
                </a:solidFill>
              </a:rPr>
              <a:t>没有患病</a:t>
            </a:r>
          </a:p>
          <a:p>
            <a:pPr marL="0" indent="0">
              <a:buNone/>
            </a:pPr>
            <a:r>
              <a:rPr lang="zh-CN" altLang="zh-CN" sz="1400" dirty="0">
                <a:solidFill>
                  <a:schemeClr val="tx1"/>
                </a:solidFill>
              </a:rPr>
              <a:t>④</a:t>
            </a:r>
            <a:r>
              <a:rPr lang="en-US" altLang="zh-CN" sz="1400" dirty="0">
                <a:solidFill>
                  <a:schemeClr val="tx1"/>
                </a:solidFill>
              </a:rPr>
              <a:t>IF </a:t>
            </a:r>
            <a:r>
              <a:rPr lang="zh-CN" altLang="zh-CN" sz="1400" dirty="0">
                <a:solidFill>
                  <a:schemeClr val="tx1"/>
                </a:solidFill>
              </a:rPr>
              <a:t>“体重范围”</a:t>
            </a:r>
            <a:r>
              <a:rPr lang="en-US" altLang="zh-CN" sz="1400" dirty="0">
                <a:solidFill>
                  <a:schemeClr val="tx1"/>
                </a:solidFill>
              </a:rPr>
              <a:t>=</a:t>
            </a:r>
            <a:r>
              <a:rPr lang="zh-CN" altLang="zh-CN" sz="1400" dirty="0">
                <a:solidFill>
                  <a:schemeClr val="tx1"/>
                </a:solidFill>
              </a:rPr>
              <a:t>“中”</a:t>
            </a:r>
            <a:r>
              <a:rPr lang="en-US" altLang="zh-CN" sz="1400" dirty="0">
                <a:solidFill>
                  <a:schemeClr val="tx1"/>
                </a:solidFill>
              </a:rPr>
              <a:t> THEN </a:t>
            </a:r>
            <a:r>
              <a:rPr lang="zh-CN" altLang="zh-CN" sz="1400" dirty="0">
                <a:solidFill>
                  <a:schemeClr val="tx1"/>
                </a:solidFill>
              </a:rPr>
              <a:t>没有患病</a:t>
            </a:r>
          </a:p>
          <a:p>
            <a:pPr marL="0" indent="0">
              <a:buNone/>
            </a:pPr>
            <a:r>
              <a:rPr lang="zh-CN" altLang="zh-CN" sz="1400" dirty="0">
                <a:solidFill>
                  <a:schemeClr val="tx1"/>
                </a:solidFill>
              </a:rPr>
              <a:t>⑤</a:t>
            </a:r>
            <a:r>
              <a:rPr lang="en-US" altLang="zh-CN" sz="1400" dirty="0">
                <a:solidFill>
                  <a:schemeClr val="tx1"/>
                </a:solidFill>
              </a:rPr>
              <a:t>IF </a:t>
            </a:r>
            <a:r>
              <a:rPr lang="zh-CN" altLang="zh-CN" sz="1400" dirty="0">
                <a:solidFill>
                  <a:schemeClr val="tx1"/>
                </a:solidFill>
              </a:rPr>
              <a:t>“体重范围”</a:t>
            </a:r>
            <a:r>
              <a:rPr lang="en-US" altLang="zh-CN" sz="1400" dirty="0">
                <a:solidFill>
                  <a:schemeClr val="tx1"/>
                </a:solidFill>
              </a:rPr>
              <a:t>=</a:t>
            </a:r>
            <a:r>
              <a:rPr lang="zh-CN" altLang="zh-CN" sz="1400" dirty="0">
                <a:solidFill>
                  <a:schemeClr val="tx1"/>
                </a:solidFill>
              </a:rPr>
              <a:t>“较高”</a:t>
            </a:r>
            <a:r>
              <a:rPr lang="en-US" altLang="zh-CN" sz="1400" dirty="0">
                <a:solidFill>
                  <a:schemeClr val="tx1"/>
                </a:solidFill>
              </a:rPr>
              <a:t> THEN </a:t>
            </a:r>
            <a:r>
              <a:rPr lang="zh-CN" altLang="zh-CN" sz="1400" dirty="0">
                <a:solidFill>
                  <a:schemeClr val="tx1"/>
                </a:solidFill>
              </a:rPr>
              <a:t>患病</a:t>
            </a:r>
          </a:p>
          <a:p>
            <a:pPr marL="0" indent="0">
              <a:buNone/>
            </a:pPr>
            <a:r>
              <a:rPr lang="zh-CN" altLang="zh-CN" sz="1400" dirty="0">
                <a:solidFill>
                  <a:schemeClr val="tx1"/>
                </a:solidFill>
              </a:rPr>
              <a:t>⑥</a:t>
            </a:r>
            <a:r>
              <a:rPr lang="en-US" altLang="zh-CN" sz="1400" dirty="0">
                <a:solidFill>
                  <a:schemeClr val="tx1"/>
                </a:solidFill>
              </a:rPr>
              <a:t>IF </a:t>
            </a:r>
            <a:r>
              <a:rPr lang="zh-CN" altLang="zh-CN" sz="1400" dirty="0">
                <a:solidFill>
                  <a:schemeClr val="tx1"/>
                </a:solidFill>
              </a:rPr>
              <a:t>“体重范围”</a:t>
            </a:r>
            <a:r>
              <a:rPr lang="en-US" altLang="zh-CN" sz="1400" dirty="0">
                <a:solidFill>
                  <a:schemeClr val="tx1"/>
                </a:solidFill>
              </a:rPr>
              <a:t>=</a:t>
            </a:r>
            <a:r>
              <a:rPr lang="zh-CN" altLang="zh-CN" sz="1400" dirty="0">
                <a:solidFill>
                  <a:schemeClr val="tx1"/>
                </a:solidFill>
              </a:rPr>
              <a:t>“高”</a:t>
            </a:r>
            <a:r>
              <a:rPr lang="en-US" altLang="zh-CN" sz="1400" dirty="0">
                <a:solidFill>
                  <a:schemeClr val="tx1"/>
                </a:solidFill>
              </a:rPr>
              <a:t> AND </a:t>
            </a:r>
            <a:r>
              <a:rPr lang="zh-CN" altLang="zh-CN" sz="1400" dirty="0">
                <a:solidFill>
                  <a:schemeClr val="tx1"/>
                </a:solidFill>
              </a:rPr>
              <a:t>“有无家族病史”</a:t>
            </a:r>
            <a:r>
              <a:rPr lang="en-US" altLang="zh-CN" sz="1400" dirty="0">
                <a:solidFill>
                  <a:schemeClr val="tx1"/>
                </a:solidFill>
              </a:rPr>
              <a:t>=</a:t>
            </a:r>
            <a:r>
              <a:rPr lang="zh-CN" altLang="zh-CN" sz="1400" dirty="0">
                <a:solidFill>
                  <a:schemeClr val="tx1"/>
                </a:solidFill>
              </a:rPr>
              <a:t>“有”</a:t>
            </a:r>
            <a:r>
              <a:rPr lang="en-US" altLang="zh-CN" sz="1400" dirty="0">
                <a:solidFill>
                  <a:schemeClr val="tx1"/>
                </a:solidFill>
              </a:rPr>
              <a:t> THEN </a:t>
            </a:r>
            <a:r>
              <a:rPr lang="zh-CN" altLang="zh-CN" sz="1400" dirty="0">
                <a:solidFill>
                  <a:schemeClr val="tx1"/>
                </a:solidFill>
              </a:rPr>
              <a:t>患病</a:t>
            </a:r>
          </a:p>
          <a:p>
            <a:pPr marL="0" indent="0">
              <a:buNone/>
            </a:pPr>
            <a:r>
              <a:rPr lang="zh-CN" altLang="zh-CN" sz="1400" dirty="0">
                <a:solidFill>
                  <a:schemeClr val="tx1"/>
                </a:solidFill>
              </a:rPr>
              <a:t>⑦</a:t>
            </a:r>
            <a:r>
              <a:rPr lang="en-US" altLang="zh-CN" sz="1400" dirty="0">
                <a:solidFill>
                  <a:schemeClr val="tx1"/>
                </a:solidFill>
              </a:rPr>
              <a:t>IF </a:t>
            </a:r>
            <a:r>
              <a:rPr lang="zh-CN" altLang="zh-CN" sz="1400" dirty="0">
                <a:solidFill>
                  <a:schemeClr val="tx1"/>
                </a:solidFill>
              </a:rPr>
              <a:t>“体重范围”</a:t>
            </a:r>
            <a:r>
              <a:rPr lang="en-US" altLang="zh-CN" sz="1400" dirty="0">
                <a:solidFill>
                  <a:schemeClr val="tx1"/>
                </a:solidFill>
              </a:rPr>
              <a:t>=</a:t>
            </a:r>
            <a:r>
              <a:rPr lang="zh-CN" altLang="zh-CN" sz="1400" dirty="0">
                <a:solidFill>
                  <a:schemeClr val="tx1"/>
                </a:solidFill>
              </a:rPr>
              <a:t>“高”</a:t>
            </a:r>
            <a:r>
              <a:rPr lang="en-US" altLang="zh-CN" sz="1400" dirty="0">
                <a:solidFill>
                  <a:schemeClr val="tx1"/>
                </a:solidFill>
              </a:rPr>
              <a:t> AND </a:t>
            </a:r>
            <a:r>
              <a:rPr lang="zh-CN" altLang="zh-CN" sz="1400" dirty="0">
                <a:solidFill>
                  <a:schemeClr val="tx1"/>
                </a:solidFill>
              </a:rPr>
              <a:t>“有无家族病史”</a:t>
            </a:r>
            <a:r>
              <a:rPr lang="en-US" altLang="zh-CN" sz="1400" dirty="0">
                <a:solidFill>
                  <a:schemeClr val="tx1"/>
                </a:solidFill>
              </a:rPr>
              <a:t>=</a:t>
            </a:r>
            <a:r>
              <a:rPr lang="zh-CN" altLang="zh-CN" sz="1400" dirty="0">
                <a:solidFill>
                  <a:schemeClr val="tx1"/>
                </a:solidFill>
              </a:rPr>
              <a:t>“无”</a:t>
            </a:r>
            <a:r>
              <a:rPr lang="en-US" altLang="zh-CN" sz="1400" dirty="0">
                <a:solidFill>
                  <a:schemeClr val="tx1"/>
                </a:solidFill>
              </a:rPr>
              <a:t> AND </a:t>
            </a:r>
            <a:r>
              <a:rPr lang="zh-CN" altLang="zh-CN" sz="1400" dirty="0">
                <a:solidFill>
                  <a:schemeClr val="tx1"/>
                </a:solidFill>
              </a:rPr>
              <a:t>“吸烟史”</a:t>
            </a:r>
            <a:r>
              <a:rPr lang="en-US" altLang="zh-CN" sz="1400" dirty="0">
                <a:solidFill>
                  <a:schemeClr val="tx1"/>
                </a:solidFill>
              </a:rPr>
              <a:t>=</a:t>
            </a:r>
            <a:r>
              <a:rPr lang="zh-CN" altLang="zh-CN" sz="1400" dirty="0">
                <a:solidFill>
                  <a:schemeClr val="tx1"/>
                </a:solidFill>
              </a:rPr>
              <a:t>“无”</a:t>
            </a:r>
            <a:r>
              <a:rPr lang="en-US" altLang="zh-CN" sz="1400" dirty="0">
                <a:solidFill>
                  <a:schemeClr val="tx1"/>
                </a:solidFill>
              </a:rPr>
              <a:t> THEN </a:t>
            </a:r>
            <a:r>
              <a:rPr lang="zh-CN" altLang="zh-CN" sz="1400" dirty="0">
                <a:solidFill>
                  <a:schemeClr val="tx1"/>
                </a:solidFill>
              </a:rPr>
              <a:t>没有患病</a:t>
            </a:r>
          </a:p>
          <a:p>
            <a:pPr marL="0" indent="0">
              <a:buNone/>
            </a:pPr>
            <a:r>
              <a:rPr lang="zh-CN" altLang="zh-CN" sz="1400" dirty="0">
                <a:solidFill>
                  <a:schemeClr val="tx1"/>
                </a:solidFill>
              </a:rPr>
              <a:t>⑧</a:t>
            </a:r>
            <a:r>
              <a:rPr lang="en-US" altLang="zh-CN" sz="1400" dirty="0">
                <a:solidFill>
                  <a:schemeClr val="tx1"/>
                </a:solidFill>
              </a:rPr>
              <a:t>IF </a:t>
            </a:r>
            <a:r>
              <a:rPr lang="zh-CN" altLang="zh-CN" sz="1400" dirty="0">
                <a:solidFill>
                  <a:schemeClr val="tx1"/>
                </a:solidFill>
              </a:rPr>
              <a:t>“体重范围”</a:t>
            </a:r>
            <a:r>
              <a:rPr lang="en-US" altLang="zh-CN" sz="1400" dirty="0">
                <a:solidFill>
                  <a:schemeClr val="tx1"/>
                </a:solidFill>
              </a:rPr>
              <a:t>=</a:t>
            </a:r>
            <a:r>
              <a:rPr lang="zh-CN" altLang="zh-CN" sz="1400" dirty="0">
                <a:solidFill>
                  <a:schemeClr val="tx1"/>
                </a:solidFill>
              </a:rPr>
              <a:t>“高”</a:t>
            </a:r>
            <a:r>
              <a:rPr lang="en-US" altLang="zh-CN" sz="1400" dirty="0">
                <a:solidFill>
                  <a:schemeClr val="tx1"/>
                </a:solidFill>
              </a:rPr>
              <a:t> AND </a:t>
            </a:r>
            <a:r>
              <a:rPr lang="zh-CN" altLang="zh-CN" sz="1400" dirty="0">
                <a:solidFill>
                  <a:schemeClr val="tx1"/>
                </a:solidFill>
              </a:rPr>
              <a:t>“有无家族病史”</a:t>
            </a:r>
            <a:r>
              <a:rPr lang="en-US" altLang="zh-CN" sz="1400" dirty="0">
                <a:solidFill>
                  <a:schemeClr val="tx1"/>
                </a:solidFill>
              </a:rPr>
              <a:t>=</a:t>
            </a:r>
            <a:r>
              <a:rPr lang="zh-CN" altLang="zh-CN" sz="1400" dirty="0">
                <a:solidFill>
                  <a:schemeClr val="tx1"/>
                </a:solidFill>
              </a:rPr>
              <a:t>“无”</a:t>
            </a:r>
            <a:r>
              <a:rPr lang="en-US" altLang="zh-CN" sz="1400" dirty="0">
                <a:solidFill>
                  <a:schemeClr val="tx1"/>
                </a:solidFill>
              </a:rPr>
              <a:t> AND </a:t>
            </a:r>
            <a:r>
              <a:rPr lang="zh-CN" altLang="zh-CN" sz="1400" dirty="0">
                <a:solidFill>
                  <a:schemeClr val="tx1"/>
                </a:solidFill>
              </a:rPr>
              <a:t>“吸烟史”</a:t>
            </a:r>
            <a:r>
              <a:rPr lang="en-US" altLang="zh-CN" sz="1400" dirty="0">
                <a:solidFill>
                  <a:schemeClr val="tx1"/>
                </a:solidFill>
              </a:rPr>
              <a:t>=</a:t>
            </a:r>
            <a:r>
              <a:rPr lang="zh-CN" altLang="zh-CN" sz="1400" dirty="0">
                <a:solidFill>
                  <a:schemeClr val="tx1"/>
                </a:solidFill>
              </a:rPr>
              <a:t>“</a:t>
            </a:r>
            <a:r>
              <a:rPr lang="en-US" altLang="zh-CN" sz="1400" dirty="0">
                <a:solidFill>
                  <a:schemeClr val="tx1"/>
                </a:solidFill>
              </a:rPr>
              <a:t>5</a:t>
            </a:r>
            <a:r>
              <a:rPr lang="zh-CN" altLang="zh-CN" sz="1400" dirty="0">
                <a:solidFill>
                  <a:schemeClr val="tx1"/>
                </a:solidFill>
              </a:rPr>
              <a:t>年以上”</a:t>
            </a:r>
            <a:r>
              <a:rPr lang="en-US" altLang="zh-CN" sz="1400" dirty="0">
                <a:solidFill>
                  <a:schemeClr val="tx1"/>
                </a:solidFill>
              </a:rPr>
              <a:t> THEN </a:t>
            </a:r>
            <a:r>
              <a:rPr lang="zh-CN" altLang="zh-CN" sz="1400" dirty="0">
                <a:solidFill>
                  <a:schemeClr val="tx1"/>
                </a:solidFill>
              </a:rPr>
              <a:t>患病</a:t>
            </a:r>
          </a:p>
        </p:txBody>
      </p:sp>
      <p:graphicFrame>
        <p:nvGraphicFramePr>
          <p:cNvPr id="3" name="表格 2">
            <a:extLst>
              <a:ext uri="{FF2B5EF4-FFF2-40B4-BE49-F238E27FC236}">
                <a16:creationId xmlns:a16="http://schemas.microsoft.com/office/drawing/2014/main" id="{D1D3E14B-D1BC-BFA2-3029-F063488EDB45}"/>
              </a:ext>
            </a:extLst>
          </p:cNvPr>
          <p:cNvGraphicFramePr>
            <a:graphicFrameLocks noGrp="1"/>
          </p:cNvGraphicFramePr>
          <p:nvPr>
            <p:extLst>
              <p:ext uri="{D42A27DB-BD31-4B8C-83A1-F6EECF244321}">
                <p14:modId xmlns:p14="http://schemas.microsoft.com/office/powerpoint/2010/main" val="3219862067"/>
              </p:ext>
            </p:extLst>
          </p:nvPr>
        </p:nvGraphicFramePr>
        <p:xfrm>
          <a:off x="1336891" y="4707009"/>
          <a:ext cx="8910941" cy="1097280"/>
        </p:xfrm>
        <a:graphic>
          <a:graphicData uri="http://schemas.openxmlformats.org/drawingml/2006/table">
            <a:tbl>
              <a:tblPr firstRow="1" firstCol="1" bandRow="1">
                <a:tableStyleId>{93296810-A885-4BE3-A3E7-6D5BEEA58F35}</a:tableStyleId>
              </a:tblPr>
              <a:tblGrid>
                <a:gridCol w="1103951">
                  <a:extLst>
                    <a:ext uri="{9D8B030D-6E8A-4147-A177-3AD203B41FA5}">
                      <a16:colId xmlns:a16="http://schemas.microsoft.com/office/drawing/2014/main" val="1019179798"/>
                    </a:ext>
                  </a:extLst>
                </a:gridCol>
                <a:gridCol w="636894">
                  <a:extLst>
                    <a:ext uri="{9D8B030D-6E8A-4147-A177-3AD203B41FA5}">
                      <a16:colId xmlns:a16="http://schemas.microsoft.com/office/drawing/2014/main" val="1890550356"/>
                    </a:ext>
                  </a:extLst>
                </a:gridCol>
                <a:gridCol w="1721851">
                  <a:extLst>
                    <a:ext uri="{9D8B030D-6E8A-4147-A177-3AD203B41FA5}">
                      <a16:colId xmlns:a16="http://schemas.microsoft.com/office/drawing/2014/main" val="212861993"/>
                    </a:ext>
                  </a:extLst>
                </a:gridCol>
                <a:gridCol w="1814592">
                  <a:extLst>
                    <a:ext uri="{9D8B030D-6E8A-4147-A177-3AD203B41FA5}">
                      <a16:colId xmlns:a16="http://schemas.microsoft.com/office/drawing/2014/main" val="798496479"/>
                    </a:ext>
                  </a:extLst>
                </a:gridCol>
                <a:gridCol w="1721851">
                  <a:extLst>
                    <a:ext uri="{9D8B030D-6E8A-4147-A177-3AD203B41FA5}">
                      <a16:colId xmlns:a16="http://schemas.microsoft.com/office/drawing/2014/main" val="1246067779"/>
                    </a:ext>
                  </a:extLst>
                </a:gridCol>
                <a:gridCol w="1911802">
                  <a:extLst>
                    <a:ext uri="{9D8B030D-6E8A-4147-A177-3AD203B41FA5}">
                      <a16:colId xmlns:a16="http://schemas.microsoft.com/office/drawing/2014/main" val="388927217"/>
                    </a:ext>
                  </a:extLst>
                </a:gridCol>
              </a:tblGrid>
              <a:tr h="142240">
                <a:tc>
                  <a:txBody>
                    <a:bodyPr/>
                    <a:lstStyle/>
                    <a:p>
                      <a:pPr algn="ctr">
                        <a:spcAft>
                          <a:spcPts val="0"/>
                        </a:spcAft>
                      </a:pPr>
                      <a:r>
                        <a:rPr lang="en-US" sz="1800" kern="100">
                          <a:effectLst/>
                        </a:rPr>
                        <a:t>ID</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年龄</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吸烟史</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有无家族病史</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体重范围</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患病与否</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25549927"/>
                  </a:ext>
                </a:extLst>
              </a:tr>
              <a:tr h="163830">
                <a:tc>
                  <a:txBody>
                    <a:bodyPr/>
                    <a:lstStyle/>
                    <a:p>
                      <a:pPr algn="ctr">
                        <a:spcAft>
                          <a:spcPts val="0"/>
                        </a:spcAft>
                      </a:pPr>
                      <a:r>
                        <a:rPr lang="en-US" sz="1800" kern="100">
                          <a:effectLst/>
                        </a:rPr>
                        <a:t>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25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较低</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72450326"/>
                  </a:ext>
                </a:extLst>
              </a:tr>
              <a:tr h="151765">
                <a:tc>
                  <a:txBody>
                    <a:bodyPr/>
                    <a:lstStyle/>
                    <a:p>
                      <a:pPr algn="ctr">
                        <a:spcAft>
                          <a:spcPts val="0"/>
                        </a:spcAft>
                      </a:pPr>
                      <a:r>
                        <a:rPr lang="en-US" sz="1800" kern="100">
                          <a:effectLst/>
                        </a:rPr>
                        <a:t>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42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高</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18574140"/>
                  </a:ext>
                </a:extLst>
              </a:tr>
              <a:tr h="156210">
                <a:tc>
                  <a:txBody>
                    <a:bodyPr/>
                    <a:lstStyle/>
                    <a:p>
                      <a:pPr algn="ctr">
                        <a:spcAft>
                          <a:spcPts val="0"/>
                        </a:spcAft>
                      </a:pPr>
                      <a:r>
                        <a:rPr lang="en-US" sz="1800" kern="100">
                          <a:effectLst/>
                        </a:rPr>
                        <a:t>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5</a:t>
                      </a:r>
                      <a:r>
                        <a:rPr lang="zh-CN" sz="1800" kern="100">
                          <a:effectLst/>
                        </a:rPr>
                        <a:t>年以上</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dirty="0">
                          <a:effectLst/>
                        </a:rPr>
                        <a:t>无</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a:effectLst/>
                        </a:rPr>
                        <a:t>较高</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800" kern="100" dirty="0">
                          <a:effectLst/>
                        </a:rPr>
                        <a:t>？</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30582732"/>
                  </a:ext>
                </a:extLst>
              </a:tr>
            </a:tbl>
          </a:graphicData>
        </a:graphic>
      </p:graphicFrame>
    </p:spTree>
    <p:custDataLst>
      <p:tags r:id="rId1"/>
    </p:custDataLst>
    <p:extLst>
      <p:ext uri="{BB962C8B-B14F-4D97-AF65-F5344CB8AC3E}">
        <p14:creationId xmlns:p14="http://schemas.microsoft.com/office/powerpoint/2010/main" val="17982949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2135188" y="333375"/>
            <a:ext cx="2592388" cy="647700"/>
          </a:xfrm>
          <a:prstGeom prst="roundRect">
            <a:avLst/>
          </a:prstGeom>
          <a:gradFill>
            <a:gsLst>
              <a:gs pos="10000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000" strike="noStrike" noProof="1"/>
              <a:t>课件代码下载地址</a:t>
            </a:r>
          </a:p>
        </p:txBody>
      </p:sp>
      <p:sp>
        <p:nvSpPr>
          <p:cNvPr id="6" name="圆角矩形 5"/>
          <p:cNvSpPr/>
          <p:nvPr/>
        </p:nvSpPr>
        <p:spPr>
          <a:xfrm>
            <a:off x="2870200" y="4681855"/>
            <a:ext cx="7266305" cy="719455"/>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91141" name="文本框 4"/>
          <p:cNvSpPr txBox="1"/>
          <p:nvPr/>
        </p:nvSpPr>
        <p:spPr>
          <a:xfrm>
            <a:off x="2981325" y="4842510"/>
            <a:ext cx="7280275" cy="398780"/>
          </a:xfrm>
          <a:prstGeom prst="rect">
            <a:avLst/>
          </a:prstGeom>
          <a:noFill/>
          <a:ln w="9525">
            <a:noFill/>
          </a:ln>
        </p:spPr>
        <p:txBody>
          <a:bodyPr wrap="square" anchor="t">
            <a:spAutoFit/>
          </a:bodyPr>
          <a:lstStyle/>
          <a:p>
            <a:r>
              <a:rPr lang="zh-CN" altLang="en-US" sz="2000" b="1">
                <a:latin typeface="黑体" panose="02010609060101010101" charset="-122"/>
                <a:ea typeface="黑体" panose="02010609060101010101" charset="-122"/>
              </a:rPr>
              <a:t>关注公众号：</a:t>
            </a:r>
            <a:r>
              <a:rPr lang="en-US" altLang="zh-CN" sz="2000" b="1">
                <a:latin typeface="黑体" panose="02010609060101010101" charset="-122"/>
                <a:ea typeface="黑体" panose="02010609060101010101" charset="-122"/>
              </a:rPr>
              <a:t>“</a:t>
            </a:r>
            <a:r>
              <a:rPr lang="zh-CN" altLang="en-US" sz="2000" b="1">
                <a:solidFill>
                  <a:srgbClr val="FF0000"/>
                </a:solidFill>
                <a:latin typeface="黑体" panose="02010609060101010101" charset="-122"/>
                <a:ea typeface="黑体" panose="02010609060101010101" charset="-122"/>
              </a:rPr>
              <a:t>数学建模老哥</a:t>
            </a:r>
            <a:r>
              <a:rPr lang="en-US" altLang="zh-CN" sz="2000" b="1">
                <a:latin typeface="黑体" panose="02010609060101010101" charset="-122"/>
                <a:ea typeface="黑体" panose="02010609060101010101" charset="-122"/>
              </a:rPr>
              <a:t>”</a:t>
            </a:r>
            <a:r>
              <a:rPr lang="zh-CN" altLang="en-US" sz="2000" b="1">
                <a:latin typeface="黑体" panose="02010609060101010101" charset="-122"/>
                <a:ea typeface="黑体" panose="02010609060101010101" charset="-122"/>
              </a:rPr>
              <a:t>回复</a:t>
            </a:r>
            <a:r>
              <a:rPr lang="en-US" altLang="zh-CN" sz="2000" b="1">
                <a:latin typeface="黑体" panose="02010609060101010101" charset="-122"/>
                <a:ea typeface="黑体" panose="02010609060101010101" charset="-122"/>
              </a:rPr>
              <a:t>“</a:t>
            </a:r>
            <a:r>
              <a:rPr lang="zh-CN" altLang="en-US" sz="2000" b="1">
                <a:solidFill>
                  <a:srgbClr val="FF0000"/>
                </a:solidFill>
                <a:latin typeface="黑体" panose="02010609060101010101" charset="-122"/>
                <a:ea typeface="黑体" panose="02010609060101010101" charset="-122"/>
              </a:rPr>
              <a:t>课件</a:t>
            </a:r>
            <a:r>
              <a:rPr lang="en-US" altLang="zh-CN" sz="2000" b="1">
                <a:latin typeface="黑体" panose="02010609060101010101" charset="-122"/>
                <a:ea typeface="黑体" panose="02010609060101010101" charset="-122"/>
              </a:rPr>
              <a:t>”</a:t>
            </a:r>
            <a:r>
              <a:rPr lang="zh-CN" altLang="en-US" sz="2000" b="1">
                <a:latin typeface="黑体" panose="02010609060101010101" charset="-122"/>
                <a:ea typeface="黑体" panose="02010609060101010101" charset="-122"/>
              </a:rPr>
              <a:t>即可免费获取</a:t>
            </a:r>
          </a:p>
        </p:txBody>
      </p:sp>
      <p:sp>
        <p:nvSpPr>
          <p:cNvPr id="91142" name="文本框 7"/>
          <p:cNvSpPr txBox="1"/>
          <p:nvPr/>
        </p:nvSpPr>
        <p:spPr>
          <a:xfrm>
            <a:off x="2870200" y="5564188"/>
            <a:ext cx="6553200" cy="737235"/>
          </a:xfrm>
          <a:prstGeom prst="rect">
            <a:avLst/>
          </a:prstGeom>
          <a:noFill/>
          <a:ln w="9525">
            <a:noFill/>
          </a:ln>
        </p:spPr>
        <p:txBody>
          <a:bodyPr wrap="square" anchor="t">
            <a:spAutoFit/>
          </a:bodyPr>
          <a:lstStyle/>
          <a:p>
            <a:pPr algn="ctr"/>
            <a:r>
              <a:rPr lang="zh-CN" altLang="en-US" sz="2000" b="1">
                <a:latin typeface="黑体" panose="02010609060101010101" charset="-122"/>
                <a:ea typeface="黑体" panose="02010609060101010101" charset="-122"/>
                <a:sym typeface="微软雅黑" panose="020B0503020204020204" charset="-122"/>
              </a:rPr>
              <a:t>更多模型、代码、优秀论文等请加</a:t>
            </a:r>
            <a:r>
              <a:rPr lang="en-US" altLang="zh-CN" sz="2000" b="1">
                <a:latin typeface="黑体" panose="02010609060101010101" charset="-122"/>
                <a:ea typeface="黑体" panose="02010609060101010101" charset="-122"/>
                <a:sym typeface="微软雅黑" panose="020B0503020204020204" charset="-122"/>
              </a:rPr>
              <a:t>QQ</a:t>
            </a:r>
            <a:r>
              <a:rPr lang="zh-CN" altLang="en-US" sz="2000" b="1">
                <a:latin typeface="黑体" panose="02010609060101010101" charset="-122"/>
                <a:ea typeface="黑体" panose="02010609060101010101" charset="-122"/>
                <a:sym typeface="微软雅黑" panose="020B0503020204020204" charset="-122"/>
              </a:rPr>
              <a:t>群：</a:t>
            </a:r>
            <a:r>
              <a:rPr lang="en-US" altLang="zh-CN" sz="2200" b="1">
                <a:solidFill>
                  <a:srgbClr val="FF0000"/>
                </a:solidFill>
                <a:latin typeface="黑体" panose="02010609060101010101" charset="-122"/>
                <a:ea typeface="黑体" panose="02010609060101010101" charset="-122"/>
                <a:sym typeface="微软雅黑" panose="020B0503020204020204" charset="-122"/>
              </a:rPr>
              <a:t>1077734962</a:t>
            </a:r>
          </a:p>
          <a:p>
            <a:pPr algn="ctr"/>
            <a:r>
              <a:rPr lang="zh-CN" altLang="en-US" sz="2000" b="1">
                <a:latin typeface="黑体" panose="02010609060101010101" charset="-122"/>
                <a:ea typeface="黑体" panose="02010609060101010101" charset="-122"/>
                <a:sym typeface="微软雅黑" panose="020B0503020204020204" charset="-122"/>
              </a:rPr>
              <a:t>更多资料请关注微信公众号：数学建模老哥</a:t>
            </a:r>
          </a:p>
        </p:txBody>
      </p:sp>
      <p:pic>
        <p:nvPicPr>
          <p:cNvPr id="3" name="图片 2" descr="QQ截图20220507131852"/>
          <p:cNvPicPr>
            <a:picLocks noChangeAspect="1"/>
          </p:cNvPicPr>
          <p:nvPr/>
        </p:nvPicPr>
        <p:blipFill>
          <a:blip r:embed="rId3"/>
          <a:stretch>
            <a:fillRect/>
          </a:stretch>
        </p:blipFill>
        <p:spPr>
          <a:xfrm>
            <a:off x="4657725" y="1473200"/>
            <a:ext cx="2876550" cy="2876550"/>
          </a:xfrm>
          <a:prstGeom prst="rect">
            <a:avLst/>
          </a:prstGeom>
        </p:spPr>
      </p:pic>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文本框 277505"/>
          <p:cNvSpPr txBox="1"/>
          <p:nvPr/>
        </p:nvSpPr>
        <p:spPr>
          <a:xfrm>
            <a:off x="3262948" y="2262188"/>
            <a:ext cx="5637530" cy="1568450"/>
          </a:xfrm>
          <a:prstGeom prst="rect">
            <a:avLst/>
          </a:prstGeom>
          <a:noFill/>
          <a:ln w="9525">
            <a:noFill/>
          </a:ln>
        </p:spPr>
        <p:txBody>
          <a:bodyPr wrap="none" anchor="t">
            <a:spAutoFit/>
          </a:bodyPr>
          <a:lstStyle/>
          <a:p>
            <a:pPr algn="ctr"/>
            <a:r>
              <a:rPr lang="en-US" altLang="zh-CN" sz="9600" b="1">
                <a:latin typeface="Times New Roman" panose="02020603050405020304" charset="0"/>
                <a:ea typeface="宋体" panose="02010600030101010101" pitchFamily="2" charset="-122"/>
              </a:rPr>
              <a:t>THE END</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46d8932b-1591-4d07-9ca1-5d7df389118f"/>
  <p:tag name="COMMONDATA" val="eyJoZGlkIjoiYzg5NDExNGNiZTI1NTFhNmRjOTkzOWY4ZjdmZDNhMGU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SLIDE_ID" val="custom20205176_3"/>
  <p:tag name="KSO_WM_TEMPLATE_SUBCATEGORY" val="19"/>
  <p:tag name="KSO_WM_TEMPLATE_MASTER_TYPE" val="0"/>
  <p:tag name="KSO_WM_TEMPLATE_COLOR_TYPE" val="1"/>
  <p:tag name="KSO_WM_SLIDE_TYPE" val="contents"/>
  <p:tag name="KSO_WM_SLIDE_SUBTYPE" val="diag"/>
  <p:tag name="KSO_WM_SLIDE_ITEM_CNT" val="3"/>
  <p:tag name="KSO_WM_SLIDE_INDEX" val="3"/>
  <p:tag name="KSO_WM_DIAGRAM_GROUP_CODE" val="l1-1"/>
  <p:tag name="KSO_WM_SLIDE_DIAGTYPE" val="l"/>
  <p:tag name="KSO_WM_TAG_VERSION" val="1.0"/>
  <p:tag name="KSO_WM_BEAUTIFY_FLAG" val="#wm#"/>
  <p:tag name="KSO_WM_TEMPLATE_CATEGORY" val="custom"/>
  <p:tag name="KSO_WM_TEMPLATE_INDEX" val="20205176"/>
  <p:tag name="KSO_WM_SLIDE_LAYOUT" val="a_b_l"/>
  <p:tag name="KSO_WM_SLIDE_LAYOUT_CNT" val="1_1_1"/>
  <p:tag name="KSO_WM_UNIT_SHOW_EDIT_AREA_INDICATION" val="1"/>
</p:tagLst>
</file>

<file path=ppt/tags/tag128.xml><?xml version="1.0" encoding="utf-8"?>
<p:tagLst xmlns:a="http://schemas.openxmlformats.org/drawingml/2006/main" xmlns:r="http://schemas.openxmlformats.org/officeDocument/2006/relationships" xmlns:p="http://schemas.openxmlformats.org/presentationml/2006/main">
  <p:tag name="KSO_WM_UNIT_ISCONTENTSTITLE" val="1"/>
  <p:tag name="KSO_WM_UNIT_PRESET_TEXT" val="目录"/>
  <p:tag name="KSO_WM_UNIT_NOCLEAR" val="1"/>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5176_3*a*1"/>
  <p:tag name="KSO_WM_TEMPLATE_CATEGORY" val="custom"/>
  <p:tag name="KSO_WM_TEMPLATE_INDEX" val="20205176"/>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CONTENTS"/>
  <p:tag name="KSO_WM_UNIT_NOCLEAR" val="1"/>
  <p:tag name="KSO_WM_UNIT_VALUE" val="7"/>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5176_3*b*1"/>
  <p:tag name="KSO_WM_TEMPLATE_CATEGORY" val="custom"/>
  <p:tag name="KSO_WM_TEMPLATE_INDEX" val="20205176"/>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5176_3*i*1"/>
  <p:tag name="KSO_WM_TEMPLATE_CATEGORY" val="custom"/>
  <p:tag name="KSO_WM_TEMPLATE_INDEX" val="20205176"/>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176_3*l_h_i*1_1_1"/>
  <p:tag name="KSO_WM_TEMPLATE_CATEGORY" val="custom"/>
  <p:tag name="KSO_WM_TEMPLATE_INDEX" val="2020517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32.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176_3*l_h_f*1_1_1"/>
  <p:tag name="KSO_WM_TEMPLATE_CATEGORY" val="custom"/>
  <p:tag name="KSO_WM_TEMPLATE_INDEX" val="20205176"/>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176_3*l_h_i*1_2_1"/>
  <p:tag name="KSO_WM_TEMPLATE_CATEGORY" val="custom"/>
  <p:tag name="KSO_WM_TEMPLATE_INDEX" val="2020517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3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176_3*l_h_f*1_2_1"/>
  <p:tag name="KSO_WM_TEMPLATE_CATEGORY" val="custom"/>
  <p:tag name="KSO_WM_TEMPLATE_INDEX" val="20205176"/>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176_3*l_h_i*1_3_1"/>
  <p:tag name="KSO_WM_TEMPLATE_CATEGORY" val="custom"/>
  <p:tag name="KSO_WM_TEMPLATE_INDEX" val="2020517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3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176_3*l_h_f*1_3_1"/>
  <p:tag name="KSO_WM_TEMPLATE_CATEGORY" val="custom"/>
  <p:tag name="KSO_WM_TEMPLATE_INDEX" val="20205176"/>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5176_3*i*2"/>
  <p:tag name="KSO_WM_TEMPLATE_CATEGORY" val="custom"/>
  <p:tag name="KSO_WM_TEMPLATE_INDEX" val="20205176"/>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176_3*l_h_i*1_1_1"/>
  <p:tag name="KSO_WM_TEMPLATE_CATEGORY" val="custom"/>
  <p:tag name="KSO_WM_TEMPLATE_INDEX" val="2020517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176_3*l_h_i*1_2_1"/>
  <p:tag name="KSO_WM_TEMPLATE_CATEGORY" val="custom"/>
  <p:tag name="KSO_WM_TEMPLATE_INDEX" val="2020517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176_3*l_h_f*1_2_1"/>
  <p:tag name="KSO_WM_TEMPLATE_CATEGORY" val="custom"/>
  <p:tag name="KSO_WM_TEMPLATE_INDEX" val="20205176"/>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176_3*l_h_i*1_3_1"/>
  <p:tag name="KSO_WM_TEMPLATE_CATEGORY" val="custom"/>
  <p:tag name="KSO_WM_TEMPLATE_INDEX" val="2020517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176_3*l_h_f*1_3_1"/>
  <p:tag name="KSO_WM_TEMPLATE_CATEGORY" val="custom"/>
  <p:tag name="KSO_WM_TEMPLATE_INDEX" val="20205176"/>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2601"/>
  <p:tag name="KSO_WM_SPECIAL_SOURCE" val="bdnull"/>
</p:tagLst>
</file>

<file path=ppt/tags/tag2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 name="KSO_WM_SPECIAL_SOURCE" val="bdnull"/>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5263</Words>
  <PresentationFormat>宽屏</PresentationFormat>
  <Paragraphs>954</Paragraphs>
  <Slides>70</Slides>
  <Notes>0</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vt:i4>
      </vt:variant>
      <vt:variant>
        <vt:lpstr>幻灯片标题</vt:lpstr>
      </vt:variant>
      <vt:variant>
        <vt:i4>70</vt:i4>
      </vt:variant>
    </vt:vector>
  </HeadingPairs>
  <TitlesOfParts>
    <vt:vector size="83" baseType="lpstr">
      <vt:lpstr>等线</vt:lpstr>
      <vt:lpstr>黑体</vt:lpstr>
      <vt:lpstr>微软雅黑</vt:lpstr>
      <vt:lpstr>Arial</vt:lpstr>
      <vt:lpstr>Calibri</vt:lpstr>
      <vt:lpstr>Cambria Math</vt:lpstr>
      <vt:lpstr>Tahoma</vt:lpstr>
      <vt:lpstr>Times New Roman</vt:lpstr>
      <vt:lpstr>Wingdings</vt:lpstr>
      <vt:lpstr>Office 主题​​</vt:lpstr>
      <vt:lpstr>1_Office 主题​​</vt:lpstr>
      <vt:lpstr>Equation</vt:lpstr>
      <vt:lpstr>Visio</vt:lpstr>
      <vt:lpstr>预测类模型基本原理及编程实现</vt:lpstr>
      <vt:lpstr>PowerPoint 演示文稿</vt:lpstr>
      <vt:lpstr>机器学习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terms:created xsi:type="dcterms:W3CDTF">2019-06-19T02:08:00Z</dcterms:created>
  <dcterms:modified xsi:type="dcterms:W3CDTF">2023-01-14T04:08:35Z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A6A071B89792428CBC7A69BB297C2543</vt:lpwstr>
  </property>
</Properties>
</file>