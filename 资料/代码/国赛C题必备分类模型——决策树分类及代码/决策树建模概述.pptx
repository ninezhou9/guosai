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3" r:id="rId1"/>
    <p:sldMasterId id="2147483692" r:id="rId2"/>
  </p:sldMasterIdLst>
  <p:notesMasterIdLst>
    <p:notesMasterId r:id="rId48"/>
  </p:notesMasterIdLst>
  <p:handoutMasterIdLst>
    <p:handoutMasterId r:id="rId49"/>
  </p:handoutMasterIdLst>
  <p:sldIdLst>
    <p:sldId id="256" r:id="rId3"/>
    <p:sldId id="257" r:id="rId4"/>
    <p:sldId id="289" r:id="rId5"/>
    <p:sldId id="290" r:id="rId6"/>
    <p:sldId id="295" r:id="rId7"/>
    <p:sldId id="296" r:id="rId8"/>
    <p:sldId id="291" r:id="rId9"/>
    <p:sldId id="292" r:id="rId10"/>
    <p:sldId id="327" r:id="rId11"/>
    <p:sldId id="326" r:id="rId12"/>
    <p:sldId id="325" r:id="rId13"/>
    <p:sldId id="297" r:id="rId14"/>
    <p:sldId id="298" r:id="rId15"/>
    <p:sldId id="299" r:id="rId16"/>
    <p:sldId id="301" r:id="rId17"/>
    <p:sldId id="302" r:id="rId18"/>
    <p:sldId id="300" r:id="rId19"/>
    <p:sldId id="303" r:id="rId20"/>
    <p:sldId id="304" r:id="rId21"/>
    <p:sldId id="305" r:id="rId22"/>
    <p:sldId id="293" r:id="rId23"/>
    <p:sldId id="307" r:id="rId24"/>
    <p:sldId id="309" r:id="rId25"/>
    <p:sldId id="308" r:id="rId26"/>
    <p:sldId id="310" r:id="rId27"/>
    <p:sldId id="316" r:id="rId28"/>
    <p:sldId id="317" r:id="rId29"/>
    <p:sldId id="318" r:id="rId30"/>
    <p:sldId id="312" r:id="rId31"/>
    <p:sldId id="259" r:id="rId32"/>
    <p:sldId id="261" r:id="rId33"/>
    <p:sldId id="262" r:id="rId34"/>
    <p:sldId id="319" r:id="rId35"/>
    <p:sldId id="320" r:id="rId36"/>
    <p:sldId id="321" r:id="rId37"/>
    <p:sldId id="265" r:id="rId38"/>
    <p:sldId id="266" r:id="rId39"/>
    <p:sldId id="274" r:id="rId40"/>
    <p:sldId id="275" r:id="rId41"/>
    <p:sldId id="276" r:id="rId42"/>
    <p:sldId id="323" r:id="rId43"/>
    <p:sldId id="324" r:id="rId44"/>
    <p:sldId id="267" r:id="rId45"/>
    <p:sldId id="328" r:id="rId46"/>
    <p:sldId id="334" r:id="rId47"/>
  </p:sldIdLst>
  <p:sldSz cx="9144000" cy="6858000" type="screen4x3"/>
  <p:notesSz cx="6858000" cy="9144000"/>
  <p:custDataLst>
    <p:tags r:id="rId50"/>
  </p:custDataLst>
  <p:defaultTextStyle>
    <a:defPPr algn="ctr" rtl="0" eaLnBrk="1" hangingPunct="1">
      <a:defRPr kumimoji="0" lang="zh-CN" altLang="en-US"/>
    </a:defPPr>
    <a:lvl1pPr marL="0" indent="0" algn="ctr" defTabSz="914400" rtl="0" eaLnBrk="0" fontAlgn="base" hangingPunct="0">
      <a:lnSpc>
        <a:spcPct val="100000"/>
      </a:lnSpc>
      <a:spcBef>
        <a:spcPct val="0"/>
      </a:spcBef>
      <a:spcAft>
        <a:spcPct val="0"/>
      </a:spcAft>
      <a:buClrTx/>
      <a:buSzTx/>
      <a:buFontTx/>
      <a:buNone/>
      <a:defRPr kumimoji="0"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sz="1800" b="0" i="0" u="none">
        <a:solidFill>
          <a:schemeClr val="tx1"/>
        </a:solidFill>
        <a:latin typeface="Arial"/>
        <a:ea typeface="宋体" pitchFamily="2" charset="-122"/>
      </a:defRPr>
    </a:lvl5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61" d="100"/>
          <a:sy n="61" d="100"/>
        </p:scale>
        <p:origin x="0" y="0"/>
      </p:cViewPr>
      <p:guideLst/>
    </p:cSldViewPr>
  </p:slide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l" eaLnBrk="1" hangingPunct="1"/>
            <a:endParaRPr lang="en-US" altLang="zh-CN" sz="1200"/>
          </a:p>
        </p:txBody>
      </p:sp>
      <p:sp>
        <p:nvSpPr>
          <p:cNvPr id="5632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endParaRPr lang="en-US" altLang="zh-CN" sz="1200"/>
          </a:p>
        </p:txBody>
      </p:sp>
      <p:sp>
        <p:nvSpPr>
          <p:cNvPr id="5632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anchor="b" anchorCtr="0"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l" eaLnBrk="1" hangingPunct="1"/>
            <a:endParaRPr lang="en-US" altLang="zh-CN" sz="1200"/>
          </a:p>
        </p:txBody>
      </p:sp>
      <p:sp>
        <p:nvSpPr>
          <p:cNvPr id="5632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anchor="b" anchorCtr="0"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CD0E71C4-3C1A-4AC9-806B-34B406DD1F5D}" type="slidenum">
              <a:rPr lang="en-US" altLang="zh-CN" sz="1200"/>
              <a:t>‹#›</a:t>
            </a:fld>
            <a:endParaRPr lang="en-US" altLang="zh-CN" sz="120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l" eaLnBrk="1" hangingPunct="1"/>
            <a:endParaRPr lang="en-US" altLang="zh-CN" sz="1200"/>
          </a:p>
        </p:txBody>
      </p:sp>
      <p:sp>
        <p:nvSpPr>
          <p:cNvPr id="4813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endParaRPr lang="en-US" altLang="zh-CN" sz="1200"/>
          </a:p>
        </p:txBody>
      </p:sp>
      <p:sp>
        <p:nvSpPr>
          <p:cNvPr id="48132" name="Rectangle 4"/>
          <p:cNvSpPr>
            <a:spLocks noGrp="1" noRot="1" noChangeAspect="1"/>
          </p:cNvSpPr>
          <p:nvPr>
            <p:ph type="sldImg" idx="2"/>
          </p:nvPr>
        </p:nvSpPr>
        <p:spPr>
          <a:xfrm>
            <a:off x="1143000" y="685800"/>
            <a:ext cx="4572000" cy="3429000"/>
          </a:xfrm>
          <a:prstGeom prst="rect">
            <a:avLst/>
          </a:prstGeom>
          <a:noFill/>
          <a:ln>
            <a:solidFill>
              <a:prstClr val="black"/>
            </a:solidFill>
            <a:miter lim="800000"/>
          </a:ln>
        </p:spPr>
      </p:sp>
      <p:sp>
        <p:nvSpPr>
          <p:cNvPr id="4813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compatLnSpc="1">
            <a:prstTxWarp prst="textNoShape">
              <a:avLst/>
            </a:prstTxWarp>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1pPr>
            <a:lvl2pPr marL="45720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2pPr>
            <a:lvl3pPr marL="91440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3pPr>
            <a:lvl4pPr marL="137160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4pPr>
            <a:lvl5pPr marL="182880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5pPr>
          </a:lstStyle>
          <a:p>
            <a:pPr lvl="0"/>
            <a:r>
              <a:t>单击此处编辑母版文本样式</a:t>
            </a:r>
          </a:p>
          <a:p>
            <a:pPr lvl="1"/>
            <a:r>
              <a:t>第二级</a:t>
            </a:r>
          </a:p>
          <a:p>
            <a:pPr lvl="2"/>
            <a:r>
              <a:t>第三级</a:t>
            </a:r>
          </a:p>
          <a:p>
            <a:pPr lvl="3"/>
            <a:r>
              <a:t>第四级</a:t>
            </a:r>
          </a:p>
          <a:p>
            <a:pPr lvl="4"/>
            <a:r>
              <a:t>第五级</a:t>
            </a:r>
          </a:p>
        </p:txBody>
      </p:sp>
      <p:sp>
        <p:nvSpPr>
          <p:cNvPr id="4813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anchor="b" anchorCtr="0"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l" eaLnBrk="1" hangingPunct="1"/>
            <a:endParaRPr lang="en-US" altLang="zh-CN" sz="1200"/>
          </a:p>
        </p:txBody>
      </p:sp>
      <p:sp>
        <p:nvSpPr>
          <p:cNvPr id="4813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anchor="b" anchorCtr="0"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BAAAD522-908D-467A-AAF0-012128C8E7CD}" type="slidenum">
              <a:rPr lang="en-US" altLang="zh-CN" sz="1200"/>
              <a:t>‹#›</a:t>
            </a:fld>
            <a:endParaRPr lang="en-US" altLang="zh-CN" sz="120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p:cNvSpPr>
          <p:nvPr>
            <p:ph type="sldNum"/>
          </p:nvPr>
        </p:nvSpPr>
        <p:spPr>
          <a:xfrm>
            <a:off x="3884612" y="8685212"/>
            <a:ext cx="2971800" cy="457200"/>
          </a:xfrm>
          <a:prstGeom prst="rect">
            <a:avLst/>
          </a:prstGeom>
          <a:noFill/>
          <a:ln>
            <a:noFill/>
            <a:miter lim="800000"/>
          </a:ln>
        </p:spPr>
        <p:txBody>
          <a:bodyPr anchor="b" anchorCtr="0">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7F8DD613-2D65-416B-8BF9-9B43F59E7755}" type="slidenum">
              <a:rPr lang="en-US" altLang="zh-CN" sz="1200"/>
              <a:t>4</a:t>
            </a:fld>
            <a:endParaRPr lang="en-US" altLang="zh-CN" sz="1200"/>
          </a:p>
        </p:txBody>
      </p:sp>
      <p:sp>
        <p:nvSpPr>
          <p:cNvPr id="49155" name="Rectangle 2"/>
          <p:cNvSpPr>
            <a:spLocks noGrp="1" noRot="1" noChangeAspect="1"/>
          </p:cNvSpPr>
          <p:nvPr>
            <p:ph type="sldImg"/>
          </p:nvPr>
        </p:nvSpPr>
        <p:spPr>
          <a:xfrm>
            <a:off x="1143000" y="685800"/>
            <a:ext cx="4572000" cy="3429000"/>
          </a:xfrm>
          <a:prstGeom prst="rect">
            <a:avLst/>
          </a:prstGeom>
          <a:noFill/>
          <a:ln>
            <a:miter lim="800000"/>
          </a:ln>
        </p:spPr>
      </p:sp>
      <p:sp>
        <p:nvSpPr>
          <p:cNvPr id="49156" name="Rectangle 3"/>
          <p:cNvSpPr>
            <a:spLocks noGrp="1"/>
          </p:cNvSpPr>
          <p:nvPr>
            <p:ph type="body" idx="1"/>
          </p:nvPr>
        </p:nvSpPr>
        <p:spPr>
          <a:xfrm>
            <a:off x="685800" y="4343400"/>
            <a:ext cx="5486400" cy="4114800"/>
          </a:xfrm>
          <a:prstGeom prst="rect">
            <a:avLst/>
          </a:prstGeom>
          <a:noFill/>
          <a:ln>
            <a:miter lim="800000"/>
          </a:ln>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5pPr>
          </a:lstStyle>
          <a:p>
            <a:pPr marL="0" lvl="0" indent="0" eaLnBrk="1" hangingPunct="1"/>
            <a:r>
              <a:rPr lang="en-US" altLang="zh-CN"/>
              <a:t>Holdout </a:t>
            </a:r>
            <a:r>
              <a:rPr lang="zh-CN" altLang="en-US"/>
              <a:t>方法：即记录集   中的一部分</a:t>
            </a:r>
            <a:r>
              <a:rPr lang="en-US" altLang="zh-CN"/>
              <a:t>(</a:t>
            </a:r>
            <a:r>
              <a:rPr lang="zh-CN" altLang="en-US"/>
              <a:t>通常是</a:t>
            </a:r>
            <a:r>
              <a:rPr lang="en-US" altLang="zh-CN"/>
              <a:t>2/3)</a:t>
            </a:r>
            <a:r>
              <a:rPr lang="zh-CN" altLang="en-US"/>
              <a:t>作为训练集</a:t>
            </a:r>
            <a:r>
              <a:rPr lang="en-US" altLang="zh-CN"/>
              <a:t>, </a:t>
            </a:r>
            <a:r>
              <a:rPr lang="zh-CN" altLang="en-US"/>
              <a:t>保留剩余的部分用作测试集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p:cNvSpPr>
          <p:nvPr>
            <p:ph type="sldNum"/>
          </p:nvPr>
        </p:nvSpPr>
        <p:spPr>
          <a:xfrm>
            <a:off x="3884612" y="8685212"/>
            <a:ext cx="2971800" cy="457200"/>
          </a:xfrm>
          <a:prstGeom prst="rect">
            <a:avLst/>
          </a:prstGeom>
          <a:noFill/>
          <a:ln>
            <a:noFill/>
            <a:miter lim="800000"/>
          </a:ln>
        </p:spPr>
        <p:txBody>
          <a:bodyPr anchor="b" anchorCtr="0">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61965E1F-0B6E-46D6-9B67-E60913F17065}" type="slidenum">
              <a:rPr lang="en-US" altLang="zh-CN" sz="1200"/>
              <a:t>5</a:t>
            </a:fld>
            <a:endParaRPr lang="en-US" altLang="zh-CN" sz="1200"/>
          </a:p>
        </p:txBody>
      </p:sp>
      <p:sp>
        <p:nvSpPr>
          <p:cNvPr id="50179" name="Rectangle 2"/>
          <p:cNvSpPr>
            <a:spLocks noGrp="1" noRot="1" noChangeAspect="1"/>
          </p:cNvSpPr>
          <p:nvPr>
            <p:ph type="sldImg"/>
          </p:nvPr>
        </p:nvSpPr>
        <p:spPr>
          <a:xfrm>
            <a:off x="1143000" y="685800"/>
            <a:ext cx="4572000" cy="3429000"/>
          </a:xfrm>
          <a:prstGeom prst="rect">
            <a:avLst/>
          </a:prstGeom>
          <a:noFill/>
          <a:ln>
            <a:miter lim="800000"/>
          </a:ln>
        </p:spPr>
      </p:sp>
      <p:sp>
        <p:nvSpPr>
          <p:cNvPr id="50180" name="Rectangle 3"/>
          <p:cNvSpPr>
            <a:spLocks noGrp="1"/>
          </p:cNvSpPr>
          <p:nvPr>
            <p:ph type="body" idx="1"/>
          </p:nvPr>
        </p:nvSpPr>
        <p:spPr>
          <a:xfrm>
            <a:off x="685800" y="4343400"/>
            <a:ext cx="5486400" cy="4114800"/>
          </a:xfrm>
          <a:prstGeom prst="rect">
            <a:avLst/>
          </a:prstGeom>
          <a:noFill/>
          <a:ln>
            <a:miter lim="800000"/>
          </a:ln>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5pPr>
          </a:lstStyle>
          <a:p>
            <a:pPr marL="0" lvl="0" indent="0" eaLnBrk="1" hangingPunct="1"/>
            <a:r>
              <a:rPr lang="en-US" altLang="zh-CN"/>
              <a:t>GTP: </a:t>
            </a:r>
            <a:r>
              <a:rPr lang="zh-CN" altLang="en-US"/>
              <a:t>由训练数据可知，结果属性的分类是已知的。分类规则就是要找到其它属性与结果属性（分类属性）间的关系，进而对于一般数据，由已知的或者容易测量的属性预测对象的结果属性归类。</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p:cNvSpPr>
          <p:nvPr>
            <p:ph type="sldNum"/>
          </p:nvPr>
        </p:nvSpPr>
        <p:spPr>
          <a:xfrm>
            <a:off x="3884612" y="8685212"/>
            <a:ext cx="2971800" cy="457200"/>
          </a:xfrm>
          <a:prstGeom prst="rect">
            <a:avLst/>
          </a:prstGeom>
          <a:noFill/>
          <a:ln>
            <a:noFill/>
            <a:miter lim="800000"/>
          </a:ln>
        </p:spPr>
        <p:txBody>
          <a:bodyPr anchor="b" anchorCtr="0">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03663612-822C-46A6-B126-507BF5FB741C}" type="slidenum">
              <a:rPr lang="en-US" altLang="zh-CN" sz="1200"/>
              <a:t>6</a:t>
            </a:fld>
            <a:endParaRPr lang="en-US" altLang="zh-CN" sz="1200"/>
          </a:p>
        </p:txBody>
      </p:sp>
      <p:sp>
        <p:nvSpPr>
          <p:cNvPr id="51203" name="Rectangle 2"/>
          <p:cNvSpPr>
            <a:spLocks noGrp="1" noRot="1" noChangeAspect="1"/>
          </p:cNvSpPr>
          <p:nvPr>
            <p:ph type="sldImg"/>
          </p:nvPr>
        </p:nvSpPr>
        <p:spPr>
          <a:xfrm>
            <a:off x="1143000" y="685800"/>
            <a:ext cx="4572000" cy="3429000"/>
          </a:xfrm>
          <a:prstGeom prst="rect">
            <a:avLst/>
          </a:prstGeom>
          <a:noFill/>
          <a:ln>
            <a:miter lim="800000"/>
          </a:ln>
        </p:spPr>
      </p:sp>
      <p:sp>
        <p:nvSpPr>
          <p:cNvPr id="51204" name="Rectangle 3"/>
          <p:cNvSpPr>
            <a:spLocks noGrp="1"/>
          </p:cNvSpPr>
          <p:nvPr>
            <p:ph type="body" idx="1"/>
          </p:nvPr>
        </p:nvSpPr>
        <p:spPr>
          <a:xfrm>
            <a:off x="685800" y="4343400"/>
            <a:ext cx="5486400" cy="4114800"/>
          </a:xfrm>
          <a:prstGeom prst="rect">
            <a:avLst/>
          </a:prstGeom>
          <a:noFill/>
          <a:ln>
            <a:miter lim="800000"/>
          </a:ln>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5pPr>
          </a:lstStyle>
          <a:p>
            <a:pPr marL="0" lvl="0" indent="0"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p:cNvSpPr>
          <p:nvPr>
            <p:ph type="sldNum"/>
          </p:nvPr>
        </p:nvSpPr>
        <p:spPr>
          <a:xfrm>
            <a:off x="3884612" y="8685212"/>
            <a:ext cx="2971800" cy="457200"/>
          </a:xfrm>
          <a:prstGeom prst="rect">
            <a:avLst/>
          </a:prstGeom>
          <a:noFill/>
          <a:ln>
            <a:noFill/>
            <a:miter lim="800000"/>
          </a:ln>
        </p:spPr>
        <p:txBody>
          <a:bodyPr anchor="b" anchorCtr="0">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4008AEDA-C884-4F47-97A0-6D1AF45B8A98}" type="slidenum">
              <a:rPr lang="en-US" altLang="zh-CN" sz="1200"/>
              <a:t>17</a:t>
            </a:fld>
            <a:endParaRPr lang="en-US" altLang="zh-CN" sz="1200"/>
          </a:p>
        </p:txBody>
      </p:sp>
      <p:sp>
        <p:nvSpPr>
          <p:cNvPr id="52227" name="Rectangle 2"/>
          <p:cNvSpPr>
            <a:spLocks noGrp="1" noRot="1" noChangeAspect="1"/>
          </p:cNvSpPr>
          <p:nvPr>
            <p:ph type="sldImg"/>
          </p:nvPr>
        </p:nvSpPr>
        <p:spPr>
          <a:xfrm>
            <a:off x="1143000" y="685800"/>
            <a:ext cx="4572000" cy="3429000"/>
          </a:xfrm>
          <a:prstGeom prst="rect">
            <a:avLst/>
          </a:prstGeom>
          <a:noFill/>
          <a:ln>
            <a:miter lim="800000"/>
          </a:ln>
        </p:spPr>
      </p:sp>
      <p:sp>
        <p:nvSpPr>
          <p:cNvPr id="52228" name="Rectangle 3"/>
          <p:cNvSpPr>
            <a:spLocks noGrp="1"/>
          </p:cNvSpPr>
          <p:nvPr>
            <p:ph type="body" idx="1"/>
          </p:nvPr>
        </p:nvSpPr>
        <p:spPr>
          <a:xfrm>
            <a:off x="685800" y="4343400"/>
            <a:ext cx="5486400" cy="4114800"/>
          </a:xfrm>
          <a:prstGeom prst="rect">
            <a:avLst/>
          </a:prstGeom>
          <a:noFill/>
          <a:ln>
            <a:miter lim="800000"/>
          </a:ln>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5pPr>
          </a:lstStyle>
          <a:p>
            <a:pPr marL="0" lvl="0" indent="0" eaLnBrk="1" hangingPunct="1"/>
            <a:r>
              <a:rPr lang="zh-CN" altLang="en-US"/>
              <a:t>数据库中的表就有这样的典型特征，所以最适合用来分析，不是复杂的树状结构或文本。</a:t>
            </a:r>
          </a:p>
          <a:p>
            <a:pPr marL="0" lvl="0" indent="0"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p:cNvSpPr>
          <p:nvPr>
            <p:ph type="sldNum"/>
          </p:nvPr>
        </p:nvSpPr>
        <p:spPr>
          <a:xfrm>
            <a:off x="3884612" y="8685212"/>
            <a:ext cx="2971800" cy="457200"/>
          </a:xfrm>
          <a:prstGeom prst="rect">
            <a:avLst/>
          </a:prstGeom>
          <a:noFill/>
          <a:ln>
            <a:noFill/>
            <a:miter lim="800000"/>
          </a:ln>
        </p:spPr>
        <p:txBody>
          <a:bodyPr anchor="b" anchorCtr="0">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FEB55057-0A3F-4532-87CE-6D470EA9BD3C}" type="slidenum">
              <a:rPr lang="en-US" altLang="zh-CN" sz="1200"/>
              <a:t>27</a:t>
            </a:fld>
            <a:endParaRPr lang="en-US" altLang="zh-CN" sz="1200"/>
          </a:p>
        </p:txBody>
      </p:sp>
      <p:sp>
        <p:nvSpPr>
          <p:cNvPr id="53251" name="Rectangle 2"/>
          <p:cNvSpPr>
            <a:spLocks noGrp="1" noRot="1" noChangeAspect="1"/>
          </p:cNvSpPr>
          <p:nvPr>
            <p:ph type="sldImg"/>
          </p:nvPr>
        </p:nvSpPr>
        <p:spPr>
          <a:xfrm>
            <a:off x="1143000" y="685800"/>
            <a:ext cx="4572000" cy="3429000"/>
          </a:xfrm>
          <a:prstGeom prst="rect">
            <a:avLst/>
          </a:prstGeom>
          <a:noFill/>
          <a:ln>
            <a:miter lim="800000"/>
          </a:ln>
        </p:spPr>
      </p:sp>
      <p:sp>
        <p:nvSpPr>
          <p:cNvPr id="53252" name="Rectangle 3"/>
          <p:cNvSpPr>
            <a:spLocks noGrp="1"/>
          </p:cNvSpPr>
          <p:nvPr>
            <p:ph type="body" idx="1"/>
          </p:nvPr>
        </p:nvSpPr>
        <p:spPr>
          <a:xfrm>
            <a:off x="685800" y="4343400"/>
            <a:ext cx="5486400" cy="4114800"/>
          </a:xfrm>
          <a:prstGeom prst="rect">
            <a:avLst/>
          </a:prstGeom>
          <a:noFill/>
          <a:ln>
            <a:miter lim="800000"/>
          </a:ln>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5pPr>
          </a:lstStyle>
          <a:p>
            <a:pPr marL="0" lvl="0" indent="0" eaLnBrk="1" hangingPunct="1"/>
            <a:r>
              <a:rPr lang="zh-CN" altLang="en-US"/>
              <a:t>磨刀不误砍材功，否则不如不磨。就象开车一样，稳定</a:t>
            </a:r>
            <a:r>
              <a:rPr lang="en-US" altLang="zh-CN"/>
              <a:t>90km</a:t>
            </a:r>
            <a:r>
              <a:rPr lang="zh-CN" altLang="en-US"/>
              <a:t>，比串来串去慢不了多少。</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p:cNvSpPr>
          <p:nvPr>
            <p:ph type="sldNum"/>
          </p:nvPr>
        </p:nvSpPr>
        <p:spPr>
          <a:xfrm>
            <a:off x="3884612" y="8685212"/>
            <a:ext cx="2971800" cy="457200"/>
          </a:xfrm>
          <a:prstGeom prst="rect">
            <a:avLst/>
          </a:prstGeom>
          <a:noFill/>
          <a:ln>
            <a:noFill/>
            <a:miter lim="800000"/>
          </a:ln>
        </p:spPr>
        <p:txBody>
          <a:bodyPr anchor="b" anchorCtr="0">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81E8214B-AEF5-44FB-9ADB-0F75878C6D45}" type="slidenum">
              <a:rPr lang="en-US" altLang="zh-CN" sz="1200"/>
              <a:t>35</a:t>
            </a:fld>
            <a:endParaRPr lang="en-US" altLang="zh-CN" sz="1200"/>
          </a:p>
        </p:txBody>
      </p:sp>
      <p:sp>
        <p:nvSpPr>
          <p:cNvPr id="54275" name="Rectangle 2"/>
          <p:cNvSpPr>
            <a:spLocks noGrp="1" noRot="1" noChangeAspect="1"/>
          </p:cNvSpPr>
          <p:nvPr>
            <p:ph type="sldImg"/>
          </p:nvPr>
        </p:nvSpPr>
        <p:spPr>
          <a:xfrm>
            <a:off x="1143000" y="685800"/>
            <a:ext cx="4572000" cy="3429000"/>
          </a:xfrm>
          <a:prstGeom prst="rect">
            <a:avLst/>
          </a:prstGeom>
          <a:noFill/>
          <a:ln>
            <a:miter lim="800000"/>
          </a:ln>
        </p:spPr>
      </p:sp>
      <p:sp>
        <p:nvSpPr>
          <p:cNvPr id="54276" name="Rectangle 3"/>
          <p:cNvSpPr>
            <a:spLocks noGrp="1"/>
          </p:cNvSpPr>
          <p:nvPr>
            <p:ph type="body" idx="1"/>
          </p:nvPr>
        </p:nvSpPr>
        <p:spPr>
          <a:xfrm>
            <a:off x="685800" y="4343400"/>
            <a:ext cx="5486400" cy="4114800"/>
          </a:xfrm>
          <a:prstGeom prst="rect">
            <a:avLst/>
          </a:prstGeom>
          <a:noFill/>
          <a:ln>
            <a:miter lim="800000"/>
          </a:ln>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5pPr>
          </a:lstStyle>
          <a:p>
            <a:pPr marL="0" lvl="0" indent="0" eaLnBrk="1" hangingPunct="1"/>
            <a:r>
              <a:rPr lang="zh-CN" altLang="en-US"/>
              <a:t>本形式算法应该是针对统计度量方法的，而不是针对模型的，针对模型的可能有别的算法。</a:t>
            </a:r>
          </a:p>
          <a:p>
            <a:pPr marL="0" lvl="0" indent="0" eaLnBrk="1" hangingPunct="1"/>
            <a:r>
              <a:rPr lang="en-US" altLang="zh-CN"/>
              <a:t>S  </a:t>
            </a:r>
            <a:r>
              <a:rPr lang="zh-CN" altLang="en-US"/>
              <a:t>训练数据集</a:t>
            </a:r>
          </a:p>
          <a:p>
            <a:pPr marL="0" lvl="0" indent="0" eaLnBrk="1" hangingPunct="1"/>
            <a:r>
              <a:rPr lang="zh-CN" altLang="en-US"/>
              <a:t>属性选择的统计度量</a:t>
            </a:r>
            <a:r>
              <a:rPr lang="en-US" altLang="zh-CN"/>
              <a:t>—</a:t>
            </a:r>
            <a:r>
              <a:rPr lang="zh-CN" altLang="en-US"/>
              <a:t>分枝指标</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p:cNvSpPr>
          <p:nvPr>
            <p:ph type="sldNum"/>
          </p:nvPr>
        </p:nvSpPr>
        <p:spPr>
          <a:xfrm>
            <a:off x="3884612" y="8685212"/>
            <a:ext cx="2971800" cy="457200"/>
          </a:xfrm>
          <a:prstGeom prst="rect">
            <a:avLst/>
          </a:prstGeom>
          <a:noFill/>
          <a:ln>
            <a:noFill/>
            <a:miter lim="800000"/>
          </a:ln>
        </p:spPr>
        <p:txBody>
          <a:bodyPr anchor="b" anchorCtr="0">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82BF2163-41E9-402D-A006-FF0768E435BF}" type="slidenum">
              <a:rPr lang="en-US" altLang="zh-CN" sz="1200"/>
              <a:t>43</a:t>
            </a:fld>
            <a:endParaRPr lang="en-US" altLang="zh-CN" sz="1200"/>
          </a:p>
        </p:txBody>
      </p:sp>
      <p:sp>
        <p:nvSpPr>
          <p:cNvPr id="55299" name="Rectangle 2"/>
          <p:cNvSpPr>
            <a:spLocks noGrp="1" noRot="1" noChangeAspect="1"/>
          </p:cNvSpPr>
          <p:nvPr>
            <p:ph type="sldImg"/>
          </p:nvPr>
        </p:nvSpPr>
        <p:spPr>
          <a:xfrm>
            <a:off x="1143000" y="685800"/>
            <a:ext cx="4572000" cy="3429000"/>
          </a:xfrm>
          <a:prstGeom prst="rect">
            <a:avLst/>
          </a:prstGeom>
          <a:noFill/>
          <a:ln>
            <a:miter lim="800000"/>
          </a:ln>
        </p:spPr>
      </p:sp>
      <p:sp>
        <p:nvSpPr>
          <p:cNvPr id="55300" name="Rectangle 3"/>
          <p:cNvSpPr>
            <a:spLocks noGrp="1"/>
          </p:cNvSpPr>
          <p:nvPr>
            <p:ph type="body" idx="1"/>
          </p:nvPr>
        </p:nvSpPr>
        <p:spPr>
          <a:xfrm>
            <a:off x="685800" y="4343400"/>
            <a:ext cx="5486400" cy="4114800"/>
          </a:xfrm>
          <a:prstGeom prst="rect">
            <a:avLst/>
          </a:prstGeom>
          <a:noFill/>
          <a:ln>
            <a:miter lim="800000"/>
          </a:ln>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latin typeface="Arial"/>
                <a:ea typeface="宋体" pitchFamily="2" charset="-122"/>
              </a:defRPr>
            </a:lvl5pPr>
          </a:lstStyle>
          <a:p>
            <a:pPr marL="0" lvl="0" indent="0" eaLnBrk="1" hangingPunct="1"/>
            <a:r>
              <a:rPr lang="zh-CN" altLang="en-US"/>
              <a:t>目的：根据度量如何对训练集分裂，以生成树。这是一个生成优化树的过程。</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96975"/>
            <a:ext cx="4038600" cy="4670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96975"/>
            <a:ext cx="4038600" cy="4670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20000"/>
              </a:lnSpc>
              <a:spcBef>
                <a:spcPct val="20000"/>
              </a:spcBef>
              <a:spcAft>
                <a:spcPct val="0"/>
              </a:spcAft>
              <a:buClr>
                <a:schemeClr val="bg2"/>
              </a:buClr>
              <a:buSzPct val="75000"/>
              <a:buFont typeface="Wingdings" pitchFamily="2" charset="2"/>
              <a:buNone/>
              <a:tabLst>
                <a:tab pos="630238" algn="l"/>
              </a:tabLst>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595313"/>
          </a:xfrm>
        </p:spPr>
        <p:txBody>
          <a:bodyPr/>
          <a:lstStyle/>
          <a:p>
            <a:r>
              <a:rPr lang="zh-CN" altLang="en-US"/>
              <a:t>单击此处编辑母版标题样式</a:t>
            </a:r>
          </a:p>
        </p:txBody>
      </p:sp>
      <p:sp>
        <p:nvSpPr>
          <p:cNvPr id="3" name="表格占位符 2"/>
          <p:cNvSpPr>
            <a:spLocks noGrp="1"/>
          </p:cNvSpPr>
          <p:nvPr>
            <p:ph type="tbl" idx="1"/>
          </p:nvPr>
        </p:nvSpPr>
        <p:spPr>
          <a:xfrm>
            <a:off x="457200" y="1196975"/>
            <a:ext cx="8229600" cy="4670425"/>
          </a:xfrm>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20000"/>
              </a:lnSpc>
              <a:spcBef>
                <a:spcPct val="20000"/>
              </a:spcBef>
              <a:spcAft>
                <a:spcPct val="0"/>
              </a:spcAft>
              <a:buClr>
                <a:schemeClr val="bg2"/>
              </a:buClr>
              <a:buSzPct val="75000"/>
              <a:buFont typeface="Wingdings" pitchFamily="2" charset="2"/>
              <a:buNone/>
              <a:tabLst>
                <a:tab pos="630238" algn="l"/>
              </a:tabLst>
              <a:defRPr/>
            </a:pPr>
            <a:endParaRPr kumimoji="0" lang="zh-CN" altLang="en-US" sz="2400" b="1"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39953" name="Rectangle 17"/>
          <p:cNvSpPr>
            <a:spLocks noGrp="1" noChangeArrowheads="1"/>
          </p:cNvSpPr>
          <p:nvPr>
            <p:ph type="ctrTitle"/>
          </p:nvPr>
        </p:nvSpPr>
        <p:spPr>
          <a:xfrm>
            <a:off x="2971800" y="1828800"/>
            <a:ext cx="6019800" cy="2209800"/>
          </a:xfrm>
        </p:spPr>
        <p:txBody>
          <a:bodyPr/>
          <a:lstStyle>
            <a:lvl1pPr>
              <a:defRPr sz="2900">
                <a:solidFill>
                  <a:srgbClr val="FFFFFF"/>
                </a:solidFill>
              </a:defRPr>
            </a:lvl1pPr>
          </a:lstStyle>
          <a:p>
            <a:pPr lvl="0"/>
            <a:r>
              <a:rPr lang="zh-CN" altLang="en-US" noProof="0"/>
              <a:t>单击此处编辑母版标题样式</a:t>
            </a:r>
          </a:p>
        </p:txBody>
      </p:sp>
      <p:sp>
        <p:nvSpPr>
          <p:cNvPr id="39954" name="Rectangle 18"/>
          <p:cNvSpPr>
            <a:spLocks noGrp="1" noChangeArrowheads="1"/>
          </p:cNvSpPr>
          <p:nvPr>
            <p:ph type="subTitle" idx="1"/>
          </p:nvPr>
        </p:nvSpPr>
        <p:spPr>
          <a:xfrm>
            <a:off x="2971800" y="4267200"/>
            <a:ext cx="6019800" cy="1752600"/>
          </a:xfrm>
        </p:spPr>
        <p:txBody>
          <a:bodyPr/>
          <a:lstStyle>
            <a:lvl1pPr>
              <a:defRPr sz="2600"/>
            </a:lvl1pPr>
          </a:lstStyle>
          <a:p>
            <a:pPr lvl="0"/>
            <a:r>
              <a:rPr lang="zh-CN" altLang="en-US" noProof="0"/>
              <a:t>单击此处编辑母版副标题样式</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anchor="b" anchorCtr="0"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eaLnBrk="1" hangingPunct="1"/>
            <a:endParaRPr lang="en-US" altLang="zh-CN" sz="1200"/>
          </a:p>
        </p:txBody>
      </p:sp>
      <p:sp>
        <p:nvSpPr>
          <p:cNvPr id="1027" name="Rectangle 4"/>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anchor="b" anchorCtr="0"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38850C8E-4DD1-472F-BC36-B5DD91EB8C36}" type="slidenum">
              <a:rPr lang="en-US" altLang="zh-CN" sz="1200">
                <a:latin typeface="Arial Black" pitchFamily="34" charset="0"/>
              </a:rPr>
              <a:t>‹#›</a:t>
            </a:fld>
            <a:endParaRPr lang="en-US" altLang="zh-CN" sz="1200">
              <a:latin typeface="Arial Black" pitchFamily="34" charset="0"/>
            </a:endParaRPr>
          </a:p>
        </p:txBody>
      </p:sp>
      <p:grpSp>
        <p:nvGrpSpPr>
          <p:cNvPr id="1028" name="Group 35"/>
          <p:cNvGrpSpPr/>
          <p:nvPr/>
        </p:nvGrpSpPr>
        <p:grpSpPr>
          <a:xfrm>
            <a:off x="0" y="0"/>
            <a:ext cx="9144000" cy="546100"/>
            <a:chOff x="0" y="0"/>
            <a:chExt cx="5760" cy="344"/>
          </a:xfrm>
        </p:grpSpPr>
        <p:sp>
          <p:nvSpPr>
            <p:cNvPr id="1032" name="Rectangle 5"/>
            <p:cNvSpPr/>
            <p:nvPr/>
          </p:nvSpPr>
          <p:spPr>
            <a:xfrm>
              <a:off x="0" y="0"/>
              <a:ext cx="180" cy="336"/>
            </a:xfrm>
            <a:prstGeom prst="rect">
              <a:avLst/>
            </a:prstGeom>
            <a:gradFill rotWithShape="0">
              <a:gsLst>
                <a:gs pos="0">
                  <a:schemeClr val="folHlink"/>
                </a:gs>
                <a:gs pos="100000">
                  <a:schemeClr val="bg1"/>
                </a:gs>
              </a:gsLst>
              <a:lin ang="0" scaled="1"/>
            </a:gradFill>
            <a:ln>
              <a:noFill/>
              <a:miter lim="800000"/>
            </a:ln>
          </p:spPr>
          <p:txBody>
            <a:bodyPr wrap="none"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eaLnBrk="1" hangingPunct="1"/>
              <a:endParaRPr lang="zh-CN" altLang="zh-CN" sz="2400">
                <a:latin typeface="Times New Roman" pitchFamily="18" charset="0"/>
              </a:endParaRPr>
            </a:p>
          </p:txBody>
        </p:sp>
        <p:sp>
          <p:nvSpPr>
            <p:cNvPr id="1033" name="Rectangle 6"/>
            <p:cNvSpPr/>
            <p:nvPr/>
          </p:nvSpPr>
          <p:spPr>
            <a:xfrm>
              <a:off x="260" y="85"/>
              <a:ext cx="5500" cy="173"/>
            </a:xfrm>
            <a:prstGeom prst="rect">
              <a:avLst/>
            </a:prstGeom>
            <a:gradFill rotWithShape="0">
              <a:gsLst>
                <a:gs pos="0">
                  <a:schemeClr val="bg2"/>
                </a:gs>
                <a:gs pos="100000">
                  <a:schemeClr val="bg1"/>
                </a:gs>
              </a:gsLst>
              <a:lin ang="0" scaled="1"/>
            </a:gra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1034" name="Rectangle 7"/>
            <p:cNvSpPr/>
            <p:nvPr/>
          </p:nvSpPr>
          <p:spPr>
            <a:xfrm>
              <a:off x="258" y="85"/>
              <a:ext cx="87" cy="89"/>
            </a:xfrm>
            <a:prstGeom prst="rect">
              <a:avLst/>
            </a:prstGeom>
            <a:solidFill>
              <a:schemeClr val="folHlink"/>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a:solidFill>
                  <a:schemeClr val="hlink"/>
                </a:solidFill>
              </a:endParaRPr>
            </a:p>
          </p:txBody>
        </p:sp>
        <p:sp>
          <p:nvSpPr>
            <p:cNvPr id="1035" name="Rectangle 8"/>
            <p:cNvSpPr/>
            <p:nvPr/>
          </p:nvSpPr>
          <p:spPr>
            <a:xfrm>
              <a:off x="345" y="0"/>
              <a:ext cx="88" cy="87"/>
            </a:xfrm>
            <a:prstGeom prst="rect">
              <a:avLst/>
            </a:prstGeom>
            <a:solidFill>
              <a:schemeClr val="folHlink"/>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a:solidFill>
                  <a:schemeClr val="hlink"/>
                </a:solidFill>
              </a:endParaRPr>
            </a:p>
          </p:txBody>
        </p:sp>
        <p:sp>
          <p:nvSpPr>
            <p:cNvPr id="1036" name="Rectangle 9"/>
            <p:cNvSpPr/>
            <p:nvPr/>
          </p:nvSpPr>
          <p:spPr>
            <a:xfrm>
              <a:off x="345" y="85"/>
              <a:ext cx="88" cy="89"/>
            </a:xfrm>
            <a:prstGeom prst="rect">
              <a:avLst/>
            </a:prstGeom>
            <a:solidFill>
              <a:schemeClr val="accent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a:solidFill>
                  <a:schemeClr val="accent2"/>
                </a:solidFill>
              </a:endParaRPr>
            </a:p>
          </p:txBody>
        </p:sp>
        <p:sp>
          <p:nvSpPr>
            <p:cNvPr id="1037" name="Rectangle 10"/>
            <p:cNvSpPr/>
            <p:nvPr/>
          </p:nvSpPr>
          <p:spPr>
            <a:xfrm>
              <a:off x="173" y="173"/>
              <a:ext cx="86" cy="87"/>
            </a:xfrm>
            <a:prstGeom prst="rect">
              <a:avLst/>
            </a:prstGeom>
            <a:solidFill>
              <a:schemeClr val="folHlink"/>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a:solidFill>
                  <a:schemeClr val="hlink"/>
                </a:solidFill>
              </a:endParaRPr>
            </a:p>
          </p:txBody>
        </p:sp>
        <p:sp>
          <p:nvSpPr>
            <p:cNvPr id="1038" name="Rectangle 11"/>
            <p:cNvSpPr/>
            <p:nvPr/>
          </p:nvSpPr>
          <p:spPr>
            <a:xfrm>
              <a:off x="83" y="86"/>
              <a:ext cx="89" cy="87"/>
            </a:xfrm>
            <a:prstGeom prst="rect">
              <a:avLst/>
            </a:prstGeom>
            <a:solidFill>
              <a:schemeClr val="bg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1039" name="Rectangle 12"/>
            <p:cNvSpPr/>
            <p:nvPr/>
          </p:nvSpPr>
          <p:spPr>
            <a:xfrm>
              <a:off x="258" y="171"/>
              <a:ext cx="87" cy="87"/>
            </a:xfrm>
            <a:prstGeom prst="rect">
              <a:avLst/>
            </a:prstGeom>
            <a:solidFill>
              <a:schemeClr val="accent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a:solidFill>
                  <a:schemeClr val="accent2"/>
                </a:solidFill>
              </a:endParaRPr>
            </a:p>
          </p:txBody>
        </p:sp>
        <p:sp>
          <p:nvSpPr>
            <p:cNvPr id="1040" name="Rectangle 13"/>
            <p:cNvSpPr/>
            <p:nvPr/>
          </p:nvSpPr>
          <p:spPr>
            <a:xfrm>
              <a:off x="173" y="258"/>
              <a:ext cx="86" cy="86"/>
            </a:xfrm>
            <a:prstGeom prst="rect">
              <a:avLst/>
            </a:prstGeom>
            <a:solidFill>
              <a:schemeClr val="accent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a:solidFill>
                  <a:schemeClr val="accent2"/>
                </a:solidFill>
              </a:endParaRPr>
            </a:p>
          </p:txBody>
        </p:sp>
      </p:grpSp>
      <p:sp>
        <p:nvSpPr>
          <p:cNvPr id="1029" name="Rectangle 14"/>
          <p:cNvSpPr>
            <a:spLocks noGrp="1"/>
          </p:cNvSpPr>
          <p:nvPr>
            <p:ph type="title"/>
          </p:nvPr>
        </p:nvSpPr>
        <p:spPr>
          <a:xfrm>
            <a:off x="457200" y="457200"/>
            <a:ext cx="8229600" cy="595312"/>
          </a:xfrm>
          <a:prstGeom prst="rect">
            <a:avLst/>
          </a:prstGeom>
          <a:noFill/>
          <a:ln>
            <a:noFill/>
            <a:miter lim="800000"/>
          </a:ln>
        </p:spPr>
        <p: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a:r>
              <a:t>单击此处编辑母版标题样式</a:t>
            </a:r>
          </a:p>
        </p:txBody>
      </p:sp>
      <p:sp>
        <p:nvSpPr>
          <p:cNvPr id="1030" name="Rectangle 15"/>
          <p:cNvSpPr>
            <a:spLocks noGrp="1"/>
          </p:cNvSpPr>
          <p:nvPr>
            <p:ph type="body" idx="1"/>
          </p:nvPr>
        </p:nvSpPr>
        <p:spPr>
          <a:xfrm>
            <a:off x="457200" y="1196975"/>
            <a:ext cx="8229600" cy="4670425"/>
          </a:xfrm>
          <a:prstGeom prst="rect">
            <a:avLst/>
          </a:prstGeom>
          <a:noFill/>
          <a:ln>
            <a:noFill/>
            <a:miter lim="800000"/>
          </a:ln>
        </p:spPr>
        <p:txBody>
          <a:bodyPr>
            <a:noAutofit/>
          </a:bodyPr>
          <a:lstStyle>
            <a:lvl1pPr marL="342900" indent="-342900" algn="l" defTabSz="914400" rtl="0" eaLnBrk="0" fontAlgn="base" hangingPunct="0">
              <a:lnSpc>
                <a:spcPct val="120000"/>
              </a:lnSpc>
              <a:spcBef>
                <a:spcPct val="20000"/>
              </a:spcBef>
              <a:spcAft>
                <a:spcPct val="0"/>
              </a:spcAft>
              <a:buClr>
                <a:schemeClr val="bg2"/>
              </a:buClr>
              <a:buSzPct val="75000"/>
              <a:buFont typeface="Wingdings" pitchFamily="2" charset="2"/>
              <a:buNone/>
              <a:tabLst>
                <a:tab pos="630238" algn="l"/>
                <a:tab pos="630238" algn="l"/>
              </a:tabLst>
              <a:defRPr kumimoji="0" lang="zh-CN" altLang="en-US" sz="2400" b="1" i="0" u="none">
                <a:solidFill>
                  <a:schemeClr val="tx1"/>
                </a:solidFill>
                <a:latin typeface="+mn-lt"/>
                <a:ea typeface="+mn-ea"/>
                <a:cs typeface="+mn-cs"/>
              </a:defRPr>
            </a:lvl1pPr>
            <a:lvl2pPr marL="820738" indent="-285750" algn="l" defTabSz="914400" rtl="0" eaLnBrk="0" fontAlgn="base" hangingPunct="0">
              <a:lnSpc>
                <a:spcPct val="100000"/>
              </a:lnSpc>
              <a:spcBef>
                <a:spcPct val="20000"/>
              </a:spcBef>
              <a:spcAft>
                <a:spcPct val="0"/>
              </a:spcAft>
              <a:buClr>
                <a:schemeClr val="accent2"/>
              </a:buClr>
              <a:buSzPct val="80000"/>
              <a:buFont typeface="Wingdings" pitchFamily="2" charset="2"/>
              <a:buChar char="¨"/>
              <a:tabLst>
                <a:tab pos="630238" algn="l"/>
                <a:tab pos="630238" algn="l"/>
              </a:tabLst>
              <a:defRPr kumimoji="0" lang="zh-CN" altLang="en-US" sz="2800" b="0" i="0" u="none">
                <a:solidFill>
                  <a:schemeClr val="tx1"/>
                </a:solidFill>
                <a:latin typeface="Arial"/>
                <a:ea typeface="宋体" pitchFamily="2" charset="-122"/>
              </a:defRPr>
            </a:lvl2pPr>
            <a:lvl3pPr marL="1228725" indent="-228600" algn="l" defTabSz="914400" rtl="0" eaLnBrk="0" fontAlgn="base" hangingPunct="0">
              <a:lnSpc>
                <a:spcPct val="100000"/>
              </a:lnSpc>
              <a:spcBef>
                <a:spcPct val="20000"/>
              </a:spcBef>
              <a:spcAft>
                <a:spcPct val="0"/>
              </a:spcAft>
              <a:buClr>
                <a:schemeClr val="bg2"/>
              </a:buClr>
              <a:buSzPct val="65000"/>
              <a:buFont typeface="Wingdings" pitchFamily="2" charset="2"/>
              <a:buChar char="n"/>
              <a:tabLst>
                <a:tab pos="630238" algn="l"/>
                <a:tab pos="630238" algn="l"/>
              </a:tabLst>
              <a:defRPr kumimoji="0" lang="zh-CN" altLang="en-US" sz="2400" b="0" i="0" u="none">
                <a:solidFill>
                  <a:schemeClr val="tx1"/>
                </a:solidFill>
                <a:latin typeface="Arial"/>
                <a:ea typeface="宋体" pitchFamily="2" charset="-122"/>
              </a:defRPr>
            </a:lvl3pPr>
            <a:lvl4pPr marL="1636713" indent="-228600" algn="l" defTabSz="914400" rtl="0" eaLnBrk="0" fontAlgn="base" hangingPunct="0">
              <a:lnSpc>
                <a:spcPct val="100000"/>
              </a:lnSpc>
              <a:spcBef>
                <a:spcPct val="20000"/>
              </a:spcBef>
              <a:spcAft>
                <a:spcPct val="0"/>
              </a:spcAft>
              <a:buClr>
                <a:schemeClr val="accent2"/>
              </a:buClr>
              <a:buSzPct val="70000"/>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lvl="0"/>
            <a:r>
              <a:t>单击此处编辑母版文本样式</a:t>
            </a:r>
          </a:p>
          <a:p>
            <a:pPr lvl="1"/>
            <a:r>
              <a:t>第二级</a:t>
            </a:r>
          </a:p>
          <a:p>
            <a:pPr lvl="2"/>
            <a:r>
              <a:t>第三级</a:t>
            </a:r>
          </a:p>
          <a:p>
            <a:pPr lvl="3"/>
            <a:r>
              <a:t>第四级</a:t>
            </a:r>
          </a:p>
          <a:p>
            <a:pPr lvl="4"/>
            <a:r>
              <a:t>第五级</a:t>
            </a:r>
          </a:p>
        </p:txBody>
      </p:sp>
      <p:sp>
        <p:nvSpPr>
          <p:cNvPr id="1031" name="Rectangle 17"/>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anchor="b" anchorCtr="0"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l" eaLnBrk="1" hangingPunct="1"/>
            <a:endParaRPr lang="en-US" altLang="zh-CN" sz="1200"/>
          </a:p>
        </p:txBody>
      </p:sp>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ransition/>
  <p:txStyles>
    <p:titleStyle>
      <a:lvl1pPr marL="0" indent="0" algn="l" defTabSz="914400" rtl="0" eaLnBrk="0" fontAlgn="base" hangingPunct="0">
        <a:lnSpc>
          <a:spcPct val="100000"/>
        </a:lnSpc>
        <a:spcBef>
          <a:spcPct val="0"/>
        </a:spcBef>
        <a:spcAft>
          <a:spcPct val="0"/>
        </a:spcAft>
        <a:buClrTx/>
        <a:buSzTx/>
        <a:buFontTx/>
        <a:buNone/>
        <a:defRPr kumimoji="0" sz="2400" b="1" i="0" u="none">
          <a:solidFill>
            <a:srgbClr val="CC0000"/>
          </a:solidFill>
          <a:latin typeface="+mj-lt"/>
          <a:ea typeface="+mj-ea"/>
          <a:cs typeface="+mj-cs"/>
        </a:defRPr>
      </a:lvl1pPr>
      <a:lvl2pPr algn="l" rtl="0" eaLnBrk="0" fontAlgn="base" hangingPunct="0">
        <a:spcBef>
          <a:spcPct val="0"/>
        </a:spcBef>
        <a:spcAft>
          <a:spcPct val="0"/>
        </a:spcAft>
        <a:defRPr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sz="2400" b="1">
          <a:solidFill>
            <a:srgbClr val="CC0000"/>
          </a:solidFill>
          <a:latin typeface="Times New Roman" pitchFamily="18" charset="0"/>
          <a:ea typeface="黑体" pitchFamily="2" charset="-122"/>
        </a:defRPr>
      </a:lvl5pPr>
      <a:lvl6pPr marL="457200" algn="l" rtl="0" fontAlgn="base">
        <a:spcBef>
          <a:spcPct val="0"/>
        </a:spcBef>
        <a:spcAft>
          <a:spcPct val="0"/>
        </a:spcAft>
        <a:defRPr sz="2400" b="1">
          <a:solidFill>
            <a:srgbClr val="CC0000"/>
          </a:solidFill>
          <a:latin typeface="Times New Roman" pitchFamily="18" charset="0"/>
          <a:ea typeface="黑体" pitchFamily="2" charset="-122"/>
        </a:defRPr>
      </a:lvl6pPr>
      <a:lvl7pPr marL="914400" algn="l" rtl="0" fontAlgn="base">
        <a:spcBef>
          <a:spcPct val="0"/>
        </a:spcBef>
        <a:spcAft>
          <a:spcPct val="0"/>
        </a:spcAft>
        <a:defRPr sz="2400" b="1">
          <a:solidFill>
            <a:srgbClr val="CC0000"/>
          </a:solidFill>
          <a:latin typeface="Times New Roman" pitchFamily="18" charset="0"/>
          <a:ea typeface="黑体" pitchFamily="2" charset="-122"/>
        </a:defRPr>
      </a:lvl7pPr>
      <a:lvl8pPr marL="1371600" algn="l" rtl="0" fontAlgn="base">
        <a:spcBef>
          <a:spcPct val="0"/>
        </a:spcBef>
        <a:spcAft>
          <a:spcPct val="0"/>
        </a:spcAft>
        <a:defRPr sz="2400" b="1">
          <a:solidFill>
            <a:srgbClr val="CC0000"/>
          </a:solidFill>
          <a:latin typeface="Times New Roman" pitchFamily="18" charset="0"/>
          <a:ea typeface="黑体" pitchFamily="2" charset="-122"/>
        </a:defRPr>
      </a:lvl8pPr>
      <a:lvl9pPr marL="1828800" algn="l" rtl="0" fontAlgn="base">
        <a:spcBef>
          <a:spcPct val="0"/>
        </a:spcBef>
        <a:spcAft>
          <a:spcPct val="0"/>
        </a:spcAft>
        <a:defRPr sz="2400" b="1">
          <a:solidFill>
            <a:srgbClr val="CC0000"/>
          </a:solidFill>
          <a:latin typeface="Times New Roman" pitchFamily="18" charset="0"/>
          <a:ea typeface="黑体" pitchFamily="2" charset="-122"/>
        </a:defRPr>
      </a:lvl9pPr>
    </p:titleStyle>
    <p:bodyStyle>
      <a:lvl1pPr marL="342900" indent="-342900" algn="l" defTabSz="914400" rtl="0" eaLnBrk="0" fontAlgn="base" hangingPunct="0">
        <a:lnSpc>
          <a:spcPct val="120000"/>
        </a:lnSpc>
        <a:spcBef>
          <a:spcPct val="20000"/>
        </a:spcBef>
        <a:spcAft>
          <a:spcPct val="0"/>
        </a:spcAft>
        <a:buClr>
          <a:schemeClr val="bg2"/>
        </a:buClr>
        <a:buSzPct val="75000"/>
        <a:buFont typeface="Wingdings" pitchFamily="2" charset="2"/>
        <a:buNone/>
        <a:tabLst>
          <a:tab pos="630238" algn="l"/>
          <a:tab pos="630238" algn="l"/>
        </a:tabLst>
        <a:defRPr kumimoji="0" sz="2400" b="1" i="0" u="none">
          <a:solidFill>
            <a:schemeClr val="tx1"/>
          </a:solidFill>
          <a:latin typeface="+mn-lt"/>
          <a:ea typeface="+mn-ea"/>
          <a:cs typeface="+mn-cs"/>
        </a:defRPr>
      </a:lvl1pPr>
      <a:lvl2pPr marL="820738" indent="-285750" algn="l" defTabSz="914400" rtl="0" eaLnBrk="0" fontAlgn="base" hangingPunct="0">
        <a:lnSpc>
          <a:spcPct val="100000"/>
        </a:lnSpc>
        <a:spcBef>
          <a:spcPct val="20000"/>
        </a:spcBef>
        <a:spcAft>
          <a:spcPct val="0"/>
        </a:spcAft>
        <a:buClr>
          <a:schemeClr val="accent2"/>
        </a:buClr>
        <a:buSzPct val="80000"/>
        <a:buFont typeface="Wingdings" pitchFamily="2" charset="2"/>
        <a:buChar char="¨"/>
        <a:tabLst>
          <a:tab pos="630238" algn="l"/>
          <a:tab pos="630238" algn="l"/>
        </a:tabLst>
        <a:defRPr kumimoji="0" sz="2800" b="0" i="0" u="none">
          <a:solidFill>
            <a:schemeClr val="tx1"/>
          </a:solidFill>
          <a:latin typeface="Arial"/>
          <a:ea typeface="宋体" pitchFamily="2" charset="-122"/>
        </a:defRPr>
      </a:lvl2pPr>
      <a:lvl3pPr marL="1228725" indent="-228600" algn="l" defTabSz="914400" rtl="0" eaLnBrk="0" fontAlgn="base" hangingPunct="0">
        <a:lnSpc>
          <a:spcPct val="100000"/>
        </a:lnSpc>
        <a:spcBef>
          <a:spcPct val="20000"/>
        </a:spcBef>
        <a:spcAft>
          <a:spcPct val="0"/>
        </a:spcAft>
        <a:buClr>
          <a:schemeClr val="bg2"/>
        </a:buClr>
        <a:buSzPct val="65000"/>
        <a:buFont typeface="Wingdings" pitchFamily="2" charset="2"/>
        <a:buChar char="n"/>
        <a:tabLst>
          <a:tab pos="630238" algn="l"/>
          <a:tab pos="630238" algn="l"/>
        </a:tabLst>
        <a:defRPr kumimoji="0" sz="2400" b="0" i="0" u="none">
          <a:solidFill>
            <a:schemeClr val="tx1"/>
          </a:solidFill>
          <a:latin typeface="Arial"/>
          <a:ea typeface="宋体" pitchFamily="2" charset="-122"/>
        </a:defRPr>
      </a:lvl3pPr>
      <a:lvl4pPr marL="1636713" indent="-228600" algn="l" defTabSz="914400" rtl="0" eaLnBrk="0" fontAlgn="base" hangingPunct="0">
        <a:lnSpc>
          <a:spcPct val="100000"/>
        </a:lnSpc>
        <a:spcBef>
          <a:spcPct val="20000"/>
        </a:spcBef>
        <a:spcAft>
          <a:spcPct val="0"/>
        </a:spcAft>
        <a:buClr>
          <a:schemeClr val="accent2"/>
        </a:buClr>
        <a:buSzPct val="70000"/>
        <a:buFont typeface="Wingdings" pitchFamily="2" charset="2"/>
        <a:buChar char="¨"/>
        <a:tabLst>
          <a:tab pos="630238" algn="l"/>
          <a:tab pos="630238" algn="l"/>
        </a:tabLst>
        <a:defRPr kumimoji="0"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sz="2000">
          <a:solidFill>
            <a:schemeClr val="tx1"/>
          </a:solidFill>
          <a:latin typeface="Arial"/>
          <a:ea typeface="宋体" pitchFamily="2" charset="-122"/>
        </a:defRPr>
      </a:lvl9pPr>
    </p:bodyStyle>
    <p:otherStyle>
      <a:defPPr>
        <a:defRPr lang="zh-CN"/>
      </a:defPPr>
      <a:lvl1pPr marL="0" indent="0" algn="l" defTabSz="914400" rtl="0" eaLnBrk="1" fontAlgn="base" latinLnBrk="0" hangingPunct="1">
        <a:lnSpc>
          <a:spcPct val="100000"/>
        </a:lnSpc>
        <a:spcBef>
          <a:spcPct val="0"/>
        </a:spcBef>
        <a:spcAft>
          <a:spcPct val="0"/>
        </a:spcAft>
        <a:buClrTx/>
        <a:buSzTx/>
        <a:buFontTx/>
        <a:buNone/>
        <a:defRPr kumimoji="0" sz="1800" b="0" i="0" u="none" kern="1200">
          <a:solidFill>
            <a:schemeClr val="tx1"/>
          </a:solidFill>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a:solidFill>
            <a:schemeClr val="tx1"/>
          </a:solidFill>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a:solidFill>
            <a:schemeClr val="tx1"/>
          </a:solidFill>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a:solidFill>
            <a:schemeClr val="tx1"/>
          </a:solidFill>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24"/>
          <p:cNvGrpSpPr/>
          <p:nvPr/>
        </p:nvGrpSpPr>
        <p:grpSpPr>
          <a:xfrm>
            <a:off x="0" y="0"/>
            <a:ext cx="9144000" cy="6858000"/>
            <a:chOff x="0" y="0"/>
            <a:chExt cx="5760" cy="4320"/>
          </a:xfrm>
        </p:grpSpPr>
        <p:sp>
          <p:nvSpPr>
            <p:cNvPr id="2056" name="Rectangle 2"/>
            <p:cNvSpPr/>
            <p:nvPr/>
          </p:nvSpPr>
          <p:spPr bwMode="hidden">
            <a:xfrm>
              <a:off x="0" y="0"/>
              <a:ext cx="2208" cy="4320"/>
            </a:xfrm>
            <a:prstGeom prst="rect">
              <a:avLst/>
            </a:prstGeom>
            <a:gradFill rotWithShape="0">
              <a:gsLst>
                <a:gs pos="0">
                  <a:schemeClr val="folHlink"/>
                </a:gs>
                <a:gs pos="100000">
                  <a:schemeClr val="bg1"/>
                </a:gs>
              </a:gsLst>
              <a:lin ang="0" scaled="1"/>
            </a:gradFill>
            <a:ln>
              <a:noFill/>
              <a:miter lim="800000"/>
            </a:ln>
          </p:spPr>
          <p:txBody>
            <a:bodyPr wrap="none"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eaLnBrk="1" hangingPunct="1"/>
              <a:endParaRPr lang="zh-CN" altLang="zh-CN" sz="2400">
                <a:latin typeface="Times New Roman" pitchFamily="18" charset="0"/>
              </a:endParaRPr>
            </a:p>
          </p:txBody>
        </p:sp>
        <p:sp>
          <p:nvSpPr>
            <p:cNvPr id="2057" name="Rectangle 6"/>
            <p:cNvSpPr/>
            <p:nvPr/>
          </p:nvSpPr>
          <p:spPr bwMode="hidden">
            <a:xfrm>
              <a:off x="1081" y="1065"/>
              <a:ext cx="4679" cy="1596"/>
            </a:xfrm>
            <a:prstGeom prst="rect">
              <a:avLst/>
            </a:prstGeom>
            <a:solidFill>
              <a:schemeClr val="bg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grpSp>
          <p:nvGrpSpPr>
            <p:cNvPr id="2058" name="Group 22"/>
            <p:cNvGrpSpPr/>
            <p:nvPr/>
          </p:nvGrpSpPr>
          <p:grpSpPr>
            <a:xfrm>
              <a:off x="0" y="672"/>
              <a:ext cx="1806" cy="1989"/>
              <a:chOff x="0" y="672"/>
              <a:chExt cx="1806" cy="1989"/>
            </a:xfrm>
          </p:grpSpPr>
          <p:sp>
            <p:nvSpPr>
              <p:cNvPr id="2059" name="Rectangle 7"/>
              <p:cNvSpPr/>
              <p:nvPr/>
            </p:nvSpPr>
            <p:spPr>
              <a:xfrm>
                <a:off x="361" y="2257"/>
                <a:ext cx="363" cy="404"/>
              </a:xfrm>
              <a:prstGeom prst="rect">
                <a:avLst/>
              </a:prstGeom>
              <a:solidFill>
                <a:schemeClr val="accent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2060" name="Rectangle 8"/>
              <p:cNvSpPr/>
              <p:nvPr/>
            </p:nvSpPr>
            <p:spPr>
              <a:xfrm>
                <a:off x="1081" y="1065"/>
                <a:ext cx="362" cy="405"/>
              </a:xfrm>
              <a:prstGeom prst="rect">
                <a:avLst/>
              </a:prstGeom>
              <a:solidFill>
                <a:schemeClr val="folHlink"/>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2061" name="Rectangle 9"/>
              <p:cNvSpPr/>
              <p:nvPr/>
            </p:nvSpPr>
            <p:spPr>
              <a:xfrm>
                <a:off x="1437" y="672"/>
                <a:ext cx="369" cy="400"/>
              </a:xfrm>
              <a:prstGeom prst="rect">
                <a:avLst/>
              </a:prstGeom>
              <a:solidFill>
                <a:schemeClr val="folHlink"/>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2062" name="Rectangle 10"/>
              <p:cNvSpPr/>
              <p:nvPr/>
            </p:nvSpPr>
            <p:spPr>
              <a:xfrm>
                <a:off x="719" y="2257"/>
                <a:ext cx="368" cy="404"/>
              </a:xfrm>
              <a:prstGeom prst="rect">
                <a:avLst/>
              </a:prstGeom>
              <a:solidFill>
                <a:schemeClr val="bg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2063" name="Rectangle 11"/>
              <p:cNvSpPr/>
              <p:nvPr/>
            </p:nvSpPr>
            <p:spPr>
              <a:xfrm>
                <a:off x="1437" y="1065"/>
                <a:ext cx="369" cy="405"/>
              </a:xfrm>
              <a:prstGeom prst="rect">
                <a:avLst/>
              </a:prstGeom>
              <a:solidFill>
                <a:schemeClr val="accent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2064" name="Rectangle 12"/>
              <p:cNvSpPr/>
              <p:nvPr/>
            </p:nvSpPr>
            <p:spPr>
              <a:xfrm>
                <a:off x="719" y="1464"/>
                <a:ext cx="368" cy="399"/>
              </a:xfrm>
              <a:prstGeom prst="rect">
                <a:avLst/>
              </a:prstGeom>
              <a:solidFill>
                <a:schemeClr val="folHlink"/>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2065" name="Rectangle 13"/>
              <p:cNvSpPr/>
              <p:nvPr/>
            </p:nvSpPr>
            <p:spPr>
              <a:xfrm>
                <a:off x="0" y="1464"/>
                <a:ext cx="367" cy="399"/>
              </a:xfrm>
              <a:prstGeom prst="rect">
                <a:avLst/>
              </a:prstGeom>
              <a:solidFill>
                <a:schemeClr val="bg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2066" name="Rectangle 14"/>
              <p:cNvSpPr/>
              <p:nvPr/>
            </p:nvSpPr>
            <p:spPr>
              <a:xfrm>
                <a:off x="1081" y="1464"/>
                <a:ext cx="362" cy="399"/>
              </a:xfrm>
              <a:prstGeom prst="rect">
                <a:avLst/>
              </a:prstGeom>
              <a:solidFill>
                <a:schemeClr val="accent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2067" name="Rectangle 15"/>
              <p:cNvSpPr/>
              <p:nvPr/>
            </p:nvSpPr>
            <p:spPr>
              <a:xfrm>
                <a:off x="361" y="1857"/>
                <a:ext cx="363" cy="406"/>
              </a:xfrm>
              <a:prstGeom prst="rect">
                <a:avLst/>
              </a:prstGeom>
              <a:solidFill>
                <a:schemeClr val="folHlink"/>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sp>
            <p:nvSpPr>
              <p:cNvPr id="2068" name="Rectangle 16"/>
              <p:cNvSpPr/>
              <p:nvPr/>
            </p:nvSpPr>
            <p:spPr>
              <a:xfrm>
                <a:off x="719" y="1857"/>
                <a:ext cx="368" cy="406"/>
              </a:xfrm>
              <a:prstGeom prst="rect">
                <a:avLst/>
              </a:prstGeom>
              <a:solidFill>
                <a:schemeClr val="accent2"/>
              </a:solidFill>
              <a:ln>
                <a:noFill/>
                <a:miter lim="800000"/>
              </a:ln>
            </p:spPr>
            <p:txBody>
              <a:bodyPr>
                <a:no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endParaRPr lang="zh-CN" altLang="zh-CN" sz="2400">
                  <a:latin typeface="Times New Roman" pitchFamily="18" charset="0"/>
                </a:endParaRPr>
              </a:p>
            </p:txBody>
          </p:sp>
        </p:grpSp>
      </p:grpSp>
      <p:sp>
        <p:nvSpPr>
          <p:cNvPr id="2051" name="Rectangle 14"/>
          <p:cNvSpPr>
            <a:spLocks noGrp="1"/>
          </p:cNvSpPr>
          <p:nvPr>
            <p:ph type="title"/>
          </p:nvPr>
        </p:nvSpPr>
        <p:spPr>
          <a:xfrm>
            <a:off x="457200" y="457200"/>
            <a:ext cx="8229600" cy="595312"/>
          </a:xfrm>
          <a:prstGeom prst="rect">
            <a:avLst/>
          </a:prstGeom>
          <a:noFill/>
          <a:ln>
            <a:noFill/>
            <a:miter lim="800000"/>
          </a:ln>
        </p:spPr>
        <p:txBody>
          <a:bodyPr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a:r>
              <a:t>单击此处编辑母版标题样式</a:t>
            </a:r>
          </a:p>
        </p:txBody>
      </p:sp>
      <p:sp>
        <p:nvSpPr>
          <p:cNvPr id="2052" name="Rectangle 15"/>
          <p:cNvSpPr>
            <a:spLocks noGrp="1"/>
          </p:cNvSpPr>
          <p:nvPr>
            <p:ph type="body" idx="1"/>
          </p:nvPr>
        </p:nvSpPr>
        <p:spPr>
          <a:xfrm>
            <a:off x="457200" y="1196975"/>
            <a:ext cx="8229600" cy="4670425"/>
          </a:xfrm>
          <a:prstGeom prst="rect">
            <a:avLst/>
          </a:prstGeom>
          <a:noFill/>
          <a:ln>
            <a:noFill/>
            <a:miter lim="800000"/>
          </a:ln>
        </p:spPr>
        <p:txBody>
          <a:bodyPr>
            <a:noAutofit/>
          </a:bodyPr>
          <a:lstStyle>
            <a:lvl1pPr marL="342900" indent="-342900" algn="l" defTabSz="914400" rtl="0" eaLnBrk="0" fontAlgn="base" hangingPunct="0">
              <a:lnSpc>
                <a:spcPct val="120000"/>
              </a:lnSpc>
              <a:spcBef>
                <a:spcPct val="20000"/>
              </a:spcBef>
              <a:spcAft>
                <a:spcPct val="0"/>
              </a:spcAft>
              <a:buClr>
                <a:schemeClr val="bg2"/>
              </a:buClr>
              <a:buSzPct val="75000"/>
              <a:buFont typeface="Wingdings" pitchFamily="2" charset="2"/>
              <a:buNone/>
              <a:tabLst>
                <a:tab pos="630238" algn="l"/>
                <a:tab pos="630238" algn="l"/>
              </a:tabLst>
              <a:defRPr kumimoji="0" lang="zh-CN" altLang="en-US" sz="2400" b="1" i="0" u="none">
                <a:solidFill>
                  <a:schemeClr val="tx1"/>
                </a:solidFill>
                <a:latin typeface="+mn-lt"/>
                <a:ea typeface="+mn-ea"/>
                <a:cs typeface="+mn-cs"/>
              </a:defRPr>
            </a:lvl1pPr>
            <a:lvl2pPr marL="820738" indent="-285750" algn="l" defTabSz="914400" rtl="0" eaLnBrk="0" fontAlgn="base" hangingPunct="0">
              <a:lnSpc>
                <a:spcPct val="100000"/>
              </a:lnSpc>
              <a:spcBef>
                <a:spcPct val="20000"/>
              </a:spcBef>
              <a:spcAft>
                <a:spcPct val="0"/>
              </a:spcAft>
              <a:buClr>
                <a:schemeClr val="accent2"/>
              </a:buClr>
              <a:buSzPct val="80000"/>
              <a:buFont typeface="Wingdings" pitchFamily="2" charset="2"/>
              <a:buChar char="¨"/>
              <a:tabLst>
                <a:tab pos="630238" algn="l"/>
                <a:tab pos="630238" algn="l"/>
              </a:tabLst>
              <a:defRPr kumimoji="0" lang="zh-CN" altLang="en-US" sz="2800" b="0" i="0" u="none">
                <a:solidFill>
                  <a:schemeClr val="tx1"/>
                </a:solidFill>
                <a:latin typeface="Arial"/>
                <a:ea typeface="宋体" pitchFamily="2" charset="-122"/>
              </a:defRPr>
            </a:lvl2pPr>
            <a:lvl3pPr marL="1228725" indent="-228600" algn="l" defTabSz="914400" rtl="0" eaLnBrk="0" fontAlgn="base" hangingPunct="0">
              <a:lnSpc>
                <a:spcPct val="100000"/>
              </a:lnSpc>
              <a:spcBef>
                <a:spcPct val="20000"/>
              </a:spcBef>
              <a:spcAft>
                <a:spcPct val="0"/>
              </a:spcAft>
              <a:buClr>
                <a:schemeClr val="bg2"/>
              </a:buClr>
              <a:buSzPct val="65000"/>
              <a:buFont typeface="Wingdings" pitchFamily="2" charset="2"/>
              <a:buChar char="n"/>
              <a:tabLst>
                <a:tab pos="630238" algn="l"/>
                <a:tab pos="630238" algn="l"/>
              </a:tabLst>
              <a:defRPr kumimoji="0" lang="zh-CN" altLang="en-US" sz="2400" b="0" i="0" u="none">
                <a:solidFill>
                  <a:schemeClr val="tx1"/>
                </a:solidFill>
                <a:latin typeface="Arial"/>
                <a:ea typeface="宋体" pitchFamily="2" charset="-122"/>
              </a:defRPr>
            </a:lvl3pPr>
            <a:lvl4pPr marL="1636713" indent="-228600" algn="l" defTabSz="914400" rtl="0" eaLnBrk="0" fontAlgn="base" hangingPunct="0">
              <a:lnSpc>
                <a:spcPct val="100000"/>
              </a:lnSpc>
              <a:spcBef>
                <a:spcPct val="20000"/>
              </a:spcBef>
              <a:spcAft>
                <a:spcPct val="0"/>
              </a:spcAft>
              <a:buClr>
                <a:schemeClr val="accent2"/>
              </a:buClr>
              <a:buSzPct val="70000"/>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lvl="0"/>
            <a:r>
              <a:t>单击此处编辑母版文本样式</a:t>
            </a:r>
          </a:p>
          <a:p>
            <a:pPr lvl="1"/>
            <a:r>
              <a:t>第二级</a:t>
            </a:r>
          </a:p>
          <a:p>
            <a:pPr lvl="2"/>
            <a:r>
              <a:t>第三级</a:t>
            </a:r>
          </a:p>
          <a:p>
            <a:pPr lvl="3"/>
            <a:r>
              <a:t>第四级</a:t>
            </a:r>
          </a:p>
          <a:p>
            <a:pPr lvl="4"/>
            <a:r>
              <a:t>第五级</a:t>
            </a:r>
          </a:p>
        </p:txBody>
      </p:sp>
      <p:sp>
        <p:nvSpPr>
          <p:cNvPr id="2053" name="Rectangle 3"/>
          <p:cNvSpPr>
            <a:spLocks noGrp="1" noChangeArrowheads="1"/>
          </p:cNvSpPr>
          <p:nvPr>
            <p:ph type="dt" sz="half" idx="2"/>
          </p:nvPr>
        </p:nvSpPr>
        <p:spPr bwMode="auto">
          <a:xfrm>
            <a:off x="457200" y="6248400"/>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anchor="b" anchorCtr="0"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l" eaLnBrk="1" hangingPunct="1"/>
            <a:endParaRPr lang="en-US" altLang="zh-CN" sz="1200"/>
          </a:p>
        </p:txBody>
      </p:sp>
      <p:sp>
        <p:nvSpPr>
          <p:cNvPr id="2054" name="Rectangle 4"/>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anchor="b" anchorCtr="0"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eaLnBrk="1" hangingPunct="1"/>
            <a:endParaRPr lang="en-US" altLang="zh-CN" sz="1200"/>
          </a:p>
        </p:txBody>
      </p:sp>
      <p:sp>
        <p:nvSpPr>
          <p:cNvPr id="2055" name="Rectangle 5"/>
          <p:cNvSpPr>
            <a:spLocks noGrp="1" noChangeArrowheads="1"/>
          </p:cNvSpPr>
          <p:nvPr>
            <p:ph type="sldNum" sz="quarter" idx="4"/>
          </p:nvPr>
        </p:nvSpPr>
        <p:spPr bwMode="auto">
          <a:xfrm>
            <a:off x="6553200" y="6248400"/>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1" anchor="b" anchorCtr="0" compatLnSpc="1">
            <a:prstTxWarp prst="textNoShape">
              <a:avLst/>
            </a:prstTxWarp>
            <a:noAutofit/>
          </a:bodyPr>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algn="r" eaLnBrk="1" hangingPunct="1"/>
            <a:fld id="{59C9F406-B907-4494-B4F5-FEA04F847596}" type="slidenum">
              <a:rPr lang="en-US" altLang="zh-CN" sz="1200">
                <a:latin typeface="Arial Black" pitchFamily="34" charset="0"/>
              </a:rPr>
              <a:t>‹#›</a:t>
            </a:fld>
            <a:endParaRPr lang="en-US" altLang="zh-CN" sz="1200">
              <a:latin typeface="Arial Black" pitchFamily="34" charset="0"/>
            </a:endParaRPr>
          </a:p>
        </p:txBody>
      </p:sp>
    </p:spTree>
  </p:cSld>
  <p:clrMap bg1="lt1" tx1="dk1" bg2="lt2" tx2="dk2" accent1="accent1" accent2="accent2" accent3="accent3" accent4="accent4" accent5="accent5" accent6="accent6" hlink="hlink" folHlink="folHlink"/>
  <p:sldLayoutIdLst>
    <p:sldLayoutId id="2147483693" r:id="rId1"/>
  </p:sldLayoutIdLst>
  <p:transition/>
  <p:txStyles>
    <p:titleStyle>
      <a:lvl1pPr marL="0" indent="0" algn="l" defTabSz="914400" rtl="0" eaLnBrk="0" fontAlgn="base" hangingPunct="0">
        <a:lnSpc>
          <a:spcPct val="100000"/>
        </a:lnSpc>
        <a:spcBef>
          <a:spcPct val="0"/>
        </a:spcBef>
        <a:spcAft>
          <a:spcPct val="0"/>
        </a:spcAft>
        <a:buClrTx/>
        <a:buSzTx/>
        <a:buFontTx/>
        <a:buNone/>
        <a:defRPr kumimoji="0" sz="2400" b="1" i="0" u="none">
          <a:solidFill>
            <a:srgbClr val="CC0000"/>
          </a:solidFill>
          <a:latin typeface="+mj-lt"/>
          <a:ea typeface="+mj-ea"/>
          <a:cs typeface="+mj-cs"/>
        </a:defRPr>
      </a:lvl1pPr>
      <a:lvl2pPr algn="l" rtl="0" eaLnBrk="0" fontAlgn="base" hangingPunct="0">
        <a:spcBef>
          <a:spcPct val="0"/>
        </a:spcBef>
        <a:spcAft>
          <a:spcPct val="0"/>
        </a:spcAft>
        <a:defRPr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sz="2400" b="1">
          <a:solidFill>
            <a:srgbClr val="CC0000"/>
          </a:solidFill>
          <a:latin typeface="Times New Roman" pitchFamily="18" charset="0"/>
          <a:ea typeface="黑体" pitchFamily="2" charset="-122"/>
        </a:defRPr>
      </a:lvl5pPr>
      <a:lvl6pPr marL="457200" algn="l" rtl="0" fontAlgn="base">
        <a:spcBef>
          <a:spcPct val="0"/>
        </a:spcBef>
        <a:spcAft>
          <a:spcPct val="0"/>
        </a:spcAft>
        <a:defRPr sz="2400" b="1">
          <a:solidFill>
            <a:srgbClr val="CC0000"/>
          </a:solidFill>
          <a:latin typeface="Times New Roman" pitchFamily="18" charset="0"/>
          <a:ea typeface="黑体" pitchFamily="2" charset="-122"/>
        </a:defRPr>
      </a:lvl6pPr>
      <a:lvl7pPr marL="914400" algn="l" rtl="0" fontAlgn="base">
        <a:spcBef>
          <a:spcPct val="0"/>
        </a:spcBef>
        <a:spcAft>
          <a:spcPct val="0"/>
        </a:spcAft>
        <a:defRPr sz="2400" b="1">
          <a:solidFill>
            <a:srgbClr val="CC0000"/>
          </a:solidFill>
          <a:latin typeface="Times New Roman" pitchFamily="18" charset="0"/>
          <a:ea typeface="黑体" pitchFamily="2" charset="-122"/>
        </a:defRPr>
      </a:lvl7pPr>
      <a:lvl8pPr marL="1371600" algn="l" rtl="0" fontAlgn="base">
        <a:spcBef>
          <a:spcPct val="0"/>
        </a:spcBef>
        <a:spcAft>
          <a:spcPct val="0"/>
        </a:spcAft>
        <a:defRPr sz="2400" b="1">
          <a:solidFill>
            <a:srgbClr val="CC0000"/>
          </a:solidFill>
          <a:latin typeface="Times New Roman" pitchFamily="18" charset="0"/>
          <a:ea typeface="黑体" pitchFamily="2" charset="-122"/>
        </a:defRPr>
      </a:lvl8pPr>
      <a:lvl9pPr marL="1828800" algn="l" rtl="0" fontAlgn="base">
        <a:spcBef>
          <a:spcPct val="0"/>
        </a:spcBef>
        <a:spcAft>
          <a:spcPct val="0"/>
        </a:spcAft>
        <a:defRPr sz="2400" b="1">
          <a:solidFill>
            <a:srgbClr val="CC0000"/>
          </a:solidFill>
          <a:latin typeface="Times New Roman" pitchFamily="18" charset="0"/>
          <a:ea typeface="黑体" pitchFamily="2" charset="-122"/>
        </a:defRPr>
      </a:lvl9pPr>
    </p:titleStyle>
    <p:bodyStyle>
      <a:lvl1pPr marL="342900" indent="-342900" algn="l" defTabSz="914400" rtl="0" eaLnBrk="0" fontAlgn="base" hangingPunct="0">
        <a:lnSpc>
          <a:spcPct val="120000"/>
        </a:lnSpc>
        <a:spcBef>
          <a:spcPct val="20000"/>
        </a:spcBef>
        <a:spcAft>
          <a:spcPct val="0"/>
        </a:spcAft>
        <a:buClr>
          <a:schemeClr val="bg2"/>
        </a:buClr>
        <a:buSzPct val="75000"/>
        <a:buFont typeface="Wingdings" pitchFamily="2" charset="2"/>
        <a:buNone/>
        <a:tabLst>
          <a:tab pos="630238" algn="l"/>
          <a:tab pos="630238" algn="l"/>
        </a:tabLst>
        <a:defRPr kumimoji="0" sz="2400" b="1" i="0" u="none">
          <a:solidFill>
            <a:schemeClr val="tx1"/>
          </a:solidFill>
          <a:latin typeface="+mn-lt"/>
          <a:ea typeface="+mn-ea"/>
          <a:cs typeface="+mn-cs"/>
        </a:defRPr>
      </a:lvl1pPr>
      <a:lvl2pPr marL="820738" indent="-285750" algn="l" defTabSz="914400" rtl="0" eaLnBrk="0" fontAlgn="base" hangingPunct="0">
        <a:lnSpc>
          <a:spcPct val="100000"/>
        </a:lnSpc>
        <a:spcBef>
          <a:spcPct val="20000"/>
        </a:spcBef>
        <a:spcAft>
          <a:spcPct val="0"/>
        </a:spcAft>
        <a:buClr>
          <a:schemeClr val="accent2"/>
        </a:buClr>
        <a:buSzPct val="80000"/>
        <a:buFont typeface="Wingdings" pitchFamily="2" charset="2"/>
        <a:buChar char="¨"/>
        <a:tabLst>
          <a:tab pos="630238" algn="l"/>
          <a:tab pos="630238" algn="l"/>
        </a:tabLst>
        <a:defRPr kumimoji="0" sz="2800" b="0" i="0" u="none">
          <a:solidFill>
            <a:schemeClr val="tx1"/>
          </a:solidFill>
          <a:latin typeface="Arial"/>
          <a:ea typeface="宋体" pitchFamily="2" charset="-122"/>
        </a:defRPr>
      </a:lvl2pPr>
      <a:lvl3pPr marL="1228725" indent="-228600" algn="l" defTabSz="914400" rtl="0" eaLnBrk="0" fontAlgn="base" hangingPunct="0">
        <a:lnSpc>
          <a:spcPct val="100000"/>
        </a:lnSpc>
        <a:spcBef>
          <a:spcPct val="20000"/>
        </a:spcBef>
        <a:spcAft>
          <a:spcPct val="0"/>
        </a:spcAft>
        <a:buClr>
          <a:schemeClr val="bg2"/>
        </a:buClr>
        <a:buSzPct val="65000"/>
        <a:buFont typeface="Wingdings" pitchFamily="2" charset="2"/>
        <a:buChar char="n"/>
        <a:tabLst>
          <a:tab pos="630238" algn="l"/>
          <a:tab pos="630238" algn="l"/>
        </a:tabLst>
        <a:defRPr kumimoji="0" sz="2400" b="0" i="0" u="none">
          <a:solidFill>
            <a:schemeClr val="tx1"/>
          </a:solidFill>
          <a:latin typeface="Arial"/>
          <a:ea typeface="宋体" pitchFamily="2" charset="-122"/>
        </a:defRPr>
      </a:lvl3pPr>
      <a:lvl4pPr marL="1636713" indent="-228600" algn="l" defTabSz="914400" rtl="0" eaLnBrk="0" fontAlgn="base" hangingPunct="0">
        <a:lnSpc>
          <a:spcPct val="100000"/>
        </a:lnSpc>
        <a:spcBef>
          <a:spcPct val="20000"/>
        </a:spcBef>
        <a:spcAft>
          <a:spcPct val="0"/>
        </a:spcAft>
        <a:buClr>
          <a:schemeClr val="accent2"/>
        </a:buClr>
        <a:buSzPct val="70000"/>
        <a:buFont typeface="Wingdings" pitchFamily="2" charset="2"/>
        <a:buChar char="¨"/>
        <a:tabLst>
          <a:tab pos="630238" algn="l"/>
          <a:tab pos="630238" algn="l"/>
        </a:tabLst>
        <a:defRPr kumimoji="0"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sz="2000">
          <a:solidFill>
            <a:schemeClr val="tx1"/>
          </a:solidFill>
          <a:latin typeface="Arial"/>
          <a:ea typeface="宋体" pitchFamily="2" charset="-122"/>
        </a:defRPr>
      </a:lvl9pPr>
    </p:bodyStyle>
    <p:otherStyle>
      <a:defPPr>
        <a:defRPr lang="zh-CN"/>
      </a:defPPr>
      <a:lvl1pPr marL="0" indent="0" algn="l" defTabSz="914400" rtl="0" eaLnBrk="1" fontAlgn="base" latinLnBrk="0" hangingPunct="1">
        <a:lnSpc>
          <a:spcPct val="100000"/>
        </a:lnSpc>
        <a:spcBef>
          <a:spcPct val="0"/>
        </a:spcBef>
        <a:spcAft>
          <a:spcPct val="0"/>
        </a:spcAft>
        <a:buClrTx/>
        <a:buSzTx/>
        <a:buFontTx/>
        <a:buNone/>
        <a:defRPr kumimoji="0" sz="1800" b="0" i="0" u="none" kern="1200">
          <a:solidFill>
            <a:schemeClr val="tx1"/>
          </a:solidFill>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a:solidFill>
            <a:schemeClr val="tx1"/>
          </a:solidFill>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a:solidFill>
            <a:schemeClr val="tx1"/>
          </a:solidFill>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a:solidFill>
            <a:schemeClr val="tx1"/>
          </a:solidFill>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idx="4294967295"/>
          </p:nvPr>
        </p:nvSpPr>
        <p:spPr>
          <a:xfrm>
            <a:off x="2971800" y="1828800"/>
            <a:ext cx="6019800" cy="2209800"/>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Times New Roman" pitchFamily="18" charset="0"/>
                <a:ea typeface="黑体" pitchFamily="2" charset="-122"/>
              </a:defRPr>
            </a:lvl1pPr>
          </a:lstStyle>
          <a:p>
            <a:pPr lvl="0" eaLnBrk="1" hangingPunct="1"/>
            <a:r>
              <a:rPr lang="zh-CN" altLang="en-US" sz="4100">
                <a:solidFill>
                  <a:srgbClr val="FFFF00"/>
                </a:solidFill>
              </a:rPr>
              <a:t>第四章  决策树建模</a:t>
            </a:r>
          </a:p>
        </p:txBody>
      </p:sp>
      <p:sp>
        <p:nvSpPr>
          <p:cNvPr id="3075" name="TextBox 1"/>
          <p:cNvSpPr/>
          <p:nvPr/>
        </p:nvSpPr>
        <p:spPr>
          <a:xfrm>
            <a:off x="2987675" y="4868862"/>
            <a:ext cx="6048375" cy="1200150"/>
          </a:xfrm>
          <a:prstGeom prst="rect">
            <a:avLst/>
          </a:prstGeom>
          <a:noFill/>
          <a:ln>
            <a:noFill/>
            <a:miter lim="800000"/>
          </a:ln>
        </p:spPr>
        <p:txBody>
          <a:bodyPr>
            <a:sp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r>
              <a:rPr lang="zh-CN" altLang="en-US" sz="2400">
                <a:latin typeface="隶书" pitchFamily="49" charset="-122"/>
                <a:ea typeface="隶书" pitchFamily="49" charset="-122"/>
              </a:rPr>
              <a:t>第十组：</a:t>
            </a:r>
            <a:endParaRPr lang="en-US" altLang="zh-CN" sz="2400">
              <a:latin typeface="隶书" pitchFamily="49" charset="-122"/>
              <a:ea typeface="隶书" pitchFamily="49" charset="-122"/>
            </a:endParaRPr>
          </a:p>
          <a:p>
            <a:pPr marL="0" lvl="0" indent="0" algn="l" eaLnBrk="1" hangingPunct="1"/>
            <a:r>
              <a:rPr lang="en-US" altLang="zh-CN" sz="2400">
                <a:latin typeface="隶书" pitchFamily="49" charset="-122"/>
                <a:ea typeface="隶书" pitchFamily="49" charset="-122"/>
              </a:rPr>
              <a:t>       </a:t>
            </a:r>
            <a:r>
              <a:rPr lang="zh-CN" altLang="en-US" sz="2400">
                <a:latin typeface="隶书" pitchFamily="49" charset="-122"/>
                <a:ea typeface="隶书" pitchFamily="49" charset="-122"/>
              </a:rPr>
              <a:t>郭浩    韩学成    何珺</a:t>
            </a:r>
            <a:endParaRPr lang="en-US" altLang="zh-CN" sz="2400">
              <a:latin typeface="隶书" pitchFamily="49" charset="-122"/>
              <a:ea typeface="隶书" pitchFamily="49" charset="-122"/>
            </a:endParaRPr>
          </a:p>
          <a:p>
            <a:pPr marL="0" lvl="0" indent="0" algn="l" eaLnBrk="1" hangingPunct="1"/>
            <a:r>
              <a:rPr lang="en-US" altLang="zh-CN" sz="2400">
                <a:latin typeface="隶书" pitchFamily="49" charset="-122"/>
                <a:ea typeface="隶书" pitchFamily="49" charset="-122"/>
              </a:rPr>
              <a:t>           </a:t>
            </a:r>
            <a:r>
              <a:rPr lang="zh-CN" altLang="en-US" sz="2400">
                <a:latin typeface="隶书" pitchFamily="49" charset="-122"/>
                <a:ea typeface="隶书" pitchFamily="49" charset="-122"/>
              </a:rPr>
              <a:t>何军     黄安迪</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idx="4294967295"/>
          </p:nvPr>
        </p:nvSpPr>
        <p:spPr>
          <a:xfrm>
            <a:off x="395288" y="69215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algn="ctr" eaLnBrk="1" hangingPunct="1"/>
            <a:r>
              <a:rPr lang="en-US" altLang="zh-CN" sz="3600"/>
              <a:t>§4.1  </a:t>
            </a:r>
            <a:r>
              <a:rPr lang="zh-CN" altLang="en-US" sz="3600"/>
              <a:t>数据分类介绍</a:t>
            </a:r>
          </a:p>
        </p:txBody>
      </p:sp>
      <p:sp>
        <p:nvSpPr>
          <p:cNvPr id="4099" name="Rectangle 3"/>
          <p:cNvSpPr>
            <a:spLocks noGrp="1"/>
          </p:cNvSpPr>
          <p:nvPr>
            <p:ph type="body" idx="4294967295"/>
          </p:nvPr>
        </p:nvSpPr>
        <p:spPr>
          <a:xfrm>
            <a:off x="457200" y="1628775"/>
            <a:ext cx="8229600" cy="42386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solidFill>
                  <a:srgbClr val="00B050"/>
                </a:solidFill>
              </a:rPr>
              <a:t>分类</a:t>
            </a:r>
            <a:r>
              <a:rPr lang="zh-CN" altLang="en-US"/>
              <a:t>是</a:t>
            </a:r>
            <a:r>
              <a:rPr lang="zh-CN" altLang="en-US">
                <a:solidFill>
                  <a:srgbClr val="00B050"/>
                </a:solidFill>
              </a:rPr>
              <a:t>数据挖掘</a:t>
            </a:r>
            <a:r>
              <a:rPr lang="zh-CN" altLang="en-US"/>
              <a:t>的一个重要课题</a:t>
            </a:r>
            <a:r>
              <a:rPr lang="en-US" altLang="zh-CN"/>
              <a:t>, </a:t>
            </a:r>
            <a:r>
              <a:rPr lang="zh-CN" altLang="en-US"/>
              <a:t>它的目的是：</a:t>
            </a:r>
          </a:p>
          <a:p>
            <a:pPr marL="0" lvl="0" indent="0" eaLnBrk="1" hangingPunct="1"/>
            <a:r>
              <a:rPr lang="zh-CN" altLang="en-US"/>
              <a:t>	</a:t>
            </a:r>
            <a:r>
              <a:rPr lang="zh-CN" altLang="en-US">
                <a:solidFill>
                  <a:srgbClr val="CC0000"/>
                </a:solidFill>
                <a:latin typeface="华文楷体" pitchFamily="2" charset="-122"/>
                <a:ea typeface="华文楷体" pitchFamily="2" charset="-122"/>
              </a:rPr>
              <a:t>构造一个分类函数或分类模型</a:t>
            </a:r>
            <a:r>
              <a:rPr lang="en-US" altLang="zh-CN">
                <a:solidFill>
                  <a:srgbClr val="CC0000"/>
                </a:solidFill>
                <a:latin typeface="华文楷体" pitchFamily="2" charset="-122"/>
                <a:ea typeface="华文楷体" pitchFamily="2" charset="-122"/>
              </a:rPr>
              <a:t>, </a:t>
            </a:r>
            <a:r>
              <a:rPr lang="zh-CN" altLang="en-US">
                <a:solidFill>
                  <a:srgbClr val="CC0000"/>
                </a:solidFill>
                <a:latin typeface="华文楷体" pitchFamily="2" charset="-122"/>
                <a:ea typeface="华文楷体" pitchFamily="2" charset="-122"/>
              </a:rPr>
              <a:t>该模型能把数据库中的数据项映射到给定类别中的某一个。</a:t>
            </a:r>
          </a:p>
          <a:p>
            <a:pPr marL="0" lvl="0" indent="0" eaLnBrk="1" hangingPunct="1"/>
            <a:endParaRPr lang="zh-CN" altLang="en-US"/>
          </a:p>
          <a:p>
            <a:pPr marL="0" lvl="0" indent="0" eaLnBrk="1" hangingPunct="1"/>
            <a:r>
              <a:rPr lang="zh-CN" altLang="en-US"/>
              <a:t>	数据分类的过程一般来说主要包含两个步骤</a:t>
            </a:r>
          </a:p>
          <a:p>
            <a:pPr marL="0" lvl="0" indent="0" eaLnBrk="1" hangingPunct="1"/>
            <a:r>
              <a:rPr lang="zh-CN" altLang="en-US"/>
              <a:t>	第一步</a:t>
            </a:r>
            <a:r>
              <a:rPr lang="en-US" altLang="zh-CN"/>
              <a:t>, </a:t>
            </a:r>
            <a:r>
              <a:rPr lang="zh-CN" altLang="en-US"/>
              <a:t>建立一个描述已知数据集类别或概念的模型</a:t>
            </a:r>
          </a:p>
          <a:p>
            <a:pPr marL="0" lvl="0" indent="0" eaLnBrk="1" hangingPunct="1"/>
            <a:r>
              <a:rPr lang="zh-CN" altLang="en-US"/>
              <a:t>	第二步</a:t>
            </a:r>
            <a:r>
              <a:rPr lang="en-US" altLang="zh-CN"/>
              <a:t>, </a:t>
            </a:r>
            <a:r>
              <a:rPr lang="zh-CN" altLang="en-US"/>
              <a:t>利用所获得的模型进行分类操作</a:t>
            </a:r>
          </a:p>
          <a:p>
            <a:pPr marL="0" lvl="0" indent="0" eaLnBrk="1" hangingPunct="1"/>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1" nodeType="clickEffect">
                                  <p:iterate type="lt">
                                    <p:tmPct val="0"/>
                                  </p:iterate>
                                  <p:childTnLst>
                                    <p:set>
                                      <p:cBhvr additive="base">
                                        <p:cTn id="6" dur="1" fill="hold">
                                          <p:stCondLst>
                                            <p:cond delay="0"/>
                                          </p:stCondLst>
                                        </p:cTn>
                                        <p:tgtEl>
                                          <p:spTgt spid="4099">
                                            <p:txEl>
                                              <p:pRg st="0" end="0"/>
                                            </p:txEl>
                                          </p:spTgt>
                                        </p:tgtEl>
                                        <p:attrNameLst>
                                          <p:attrName>style.visibility</p:attrName>
                                        </p:attrNameLst>
                                      </p:cBhvr>
                                      <p:to>
                                        <p:strVal val="visible"/>
                                      </p:to>
                                    </p:set>
                                    <p:animEffect transition="in" filter="wipe(left)">
                                      <p:cBhvr additive="base">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27" presetClass="entr" presetSubtype="0" fill="hold" grpId="1" nodeType="clickEffect">
                                  <p:iterate type="lt">
                                    <p:tmPct val="50000"/>
                                  </p:iterate>
                                  <p:childTnLst>
                                    <p:set>
                                      <p:cBhvr additive="base">
                                        <p:cTn id="12" dur="1" fill="hold">
                                          <p:stCondLst>
                                            <p:cond delay="0"/>
                                          </p:stCondLst>
                                        </p:cTn>
                                        <p:tgtEl>
                                          <p:spTgt spid="4099">
                                            <p:bg/>
                                          </p:spTgt>
                                        </p:tgtEl>
                                        <p:attrNameLst>
                                          <p:attrName>style.visibility</p:attrName>
                                        </p:attrNameLst>
                                      </p:cBhvr>
                                      <p:to>
                                        <p:strVal val="visible"/>
                                      </p:to>
                                    </p:set>
                                    <p:anim calcmode="discrete" valueType="clr">
                                      <p:cBhvr additive="base">
                                        <p:cTn id="13" dur="80" fill="hold"/>
                                        <p:tgtEl>
                                          <p:spTgt spid="4099">
                                            <p:bg/>
                                          </p:spTgt>
                                        </p:tgtEl>
                                        <p:attrNameLst>
                                          <p:attrName>style.color</p:attrName>
                                        </p:attrNameLst>
                                      </p:cBhvr>
                                      <p:tavLst>
                                        <p:tav tm="0">
                                          <p:val>
                                            <p:clrVal>
                                              <a:schemeClr val="accent2"/>
                                            </p:clrVal>
                                          </p:val>
                                        </p:tav>
                                        <p:tav tm="50000">
                                          <p:val>
                                            <p:clrVal>
                                              <a:schemeClr val="hlink"/>
                                            </p:clrVal>
                                          </p:val>
                                        </p:tav>
                                      </p:tavLst>
                                    </p:anim>
                                    <p:anim calcmode="discrete" valueType="clr">
                                      <p:cBhvr additive="base">
                                        <p:cTn id="14" dur="80" fill="hold"/>
                                        <p:tgtEl>
                                          <p:spTgt spid="4099">
                                            <p:bg/>
                                          </p:spTgt>
                                        </p:tgtEl>
                                        <p:attrNameLst>
                                          <p:attrName>fillcolor</p:attrName>
                                        </p:attrNameLst>
                                      </p:cBhvr>
                                      <p:tavLst>
                                        <p:tav tm="0">
                                          <p:val>
                                            <p:clrVal>
                                              <a:schemeClr val="accent2"/>
                                            </p:clrVal>
                                          </p:val>
                                        </p:tav>
                                        <p:tav tm="50000">
                                          <p:val>
                                            <p:clrVal>
                                              <a:schemeClr val="hlink"/>
                                            </p:clrVal>
                                          </p:val>
                                        </p:tav>
                                      </p:tavLst>
                                    </p:anim>
                                    <p:set>
                                      <p:cBhvr additive="base">
                                        <p:cTn id="15" dur="80" fill="hold"/>
                                        <p:tgtEl>
                                          <p:spTgt spid="4099">
                                            <p:bg/>
                                          </p:spTgt>
                                        </p:tgtEl>
                                        <p:attrNameLst>
                                          <p:attrName>fill.type</p:attrName>
                                        </p:attrNameLst>
                                      </p:cBhvr>
                                      <p:to>
                                        <p:strVal val="solid"/>
                                      </p:to>
                                    </p:set>
                                  </p:childTnLst>
                                </p:cTn>
                              </p:par>
                            </p:childTnLst>
                          </p:cTn>
                        </p:par>
                      </p:childTnLst>
                    </p:cTn>
                  </p:par>
                  <p:par>
                    <p:cTn id="16" fill="hold" nodeType="clickPar">
                      <p:stCondLst>
                        <p:cond delay="indefinite"/>
                      </p:stCondLst>
                      <p:childTnLst>
                        <p:par>
                          <p:cTn id="17" fill="hold" nodeType="withGroup">
                            <p:stCondLst>
                              <p:cond delay="indefinite"/>
                            </p:stCondLst>
                          </p:cTn>
                        </p:par>
                        <p:par>
                          <p:cTn id="18" fill="hold" nodeType="afterGroup">
                            <p:stCondLst>
                              <p:cond delay="0"/>
                            </p:stCondLst>
                            <p:childTnLst>
                              <p:par>
                                <p:cTn id="19" presetID="22" presetClass="entr" presetSubtype="8" fill="hold" grpId="1" nodeType="clickEffect">
                                  <p:iterate type="lt">
                                    <p:tmPct val="0"/>
                                  </p:iterate>
                                  <p:childTnLst>
                                    <p:set>
                                      <p:cBhvr additive="base">
                                        <p:cTn id="20" dur="1" fill="hold">
                                          <p:stCondLst>
                                            <p:cond delay="0"/>
                                          </p:stCondLst>
                                        </p:cTn>
                                        <p:tgtEl>
                                          <p:spTgt spid="4099">
                                            <p:txEl>
                                              <p:pRg st="3" end="3"/>
                                            </p:txEl>
                                          </p:spTgt>
                                        </p:tgtEl>
                                        <p:attrNameLst>
                                          <p:attrName>style.visibility</p:attrName>
                                        </p:attrNameLst>
                                      </p:cBhvr>
                                      <p:to>
                                        <p:strVal val="visible"/>
                                      </p:to>
                                    </p:set>
                                    <p:animEffect transition="in" filter="wipe(left)">
                                      <p:cBhvr additive="base">
                                        <p:cTn id="21" dur="500"/>
                                        <p:tgtEl>
                                          <p:spTgt spid="4099">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indefinite"/>
                            </p:stCondLst>
                          </p:cTn>
                        </p:par>
                        <p:par>
                          <p:cTn id="24" fill="hold" nodeType="afterGroup">
                            <p:stCondLst>
                              <p:cond delay="0"/>
                            </p:stCondLst>
                            <p:childTnLst>
                              <p:par>
                                <p:cTn id="25" presetID="22" presetClass="entr" presetSubtype="8" fill="hold" grpId="1" nodeType="clickEffect">
                                  <p:iterate type="lt">
                                    <p:tmPct val="0"/>
                                  </p:iterate>
                                  <p:childTnLst>
                                    <p:set>
                                      <p:cBhvr additive="base">
                                        <p:cTn id="26" dur="1" fill="hold">
                                          <p:stCondLst>
                                            <p:cond delay="0"/>
                                          </p:stCondLst>
                                        </p:cTn>
                                        <p:tgtEl>
                                          <p:spTgt spid="4099">
                                            <p:txEl>
                                              <p:pRg st="4" end="4"/>
                                            </p:txEl>
                                          </p:spTgt>
                                        </p:tgtEl>
                                        <p:attrNameLst>
                                          <p:attrName>style.visibility</p:attrName>
                                        </p:attrNameLst>
                                      </p:cBhvr>
                                      <p:to>
                                        <p:strVal val="visible"/>
                                      </p:to>
                                    </p:set>
                                    <p:animEffect transition="in" filter="wipe(left)">
                                      <p:cBhvr additive="base">
                                        <p:cTn id="27" dur="500"/>
                                        <p:tgtEl>
                                          <p:spTgt spid="40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indefinite"/>
                            </p:stCondLst>
                          </p:cTn>
                        </p:par>
                        <p:par>
                          <p:cTn id="30" fill="hold" nodeType="afterGroup">
                            <p:stCondLst>
                              <p:cond delay="0"/>
                            </p:stCondLst>
                            <p:childTnLst>
                              <p:par>
                                <p:cTn id="31" presetID="22" presetClass="entr" presetSubtype="8" fill="hold" grpId="1" nodeType="clickEffect">
                                  <p:iterate type="lt">
                                    <p:tmPct val="0"/>
                                  </p:iterate>
                                  <p:childTnLst>
                                    <p:set>
                                      <p:cBhvr additive="base">
                                        <p:cTn id="32" dur="1" fill="hold">
                                          <p:stCondLst>
                                            <p:cond delay="0"/>
                                          </p:stCondLst>
                                        </p:cTn>
                                        <p:tgtEl>
                                          <p:spTgt spid="4099">
                                            <p:txEl>
                                              <p:pRg st="5" end="5"/>
                                            </p:txEl>
                                          </p:spTgt>
                                        </p:tgtEl>
                                        <p:attrNameLst>
                                          <p:attrName>style.visibility</p:attrName>
                                        </p:attrNameLst>
                                      </p:cBhvr>
                                      <p:to>
                                        <p:strVal val="visible"/>
                                      </p:to>
                                    </p:set>
                                    <p:animEffect transition="in" filter="wipe(left)">
                                      <p:cBhvr additive="base">
                                        <p:cTn id="33" dur="500"/>
                                        <p:tgtEl>
                                          <p:spTgt spid="4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p:bldP spid="4099" grpId="1"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 	</a:t>
            </a:r>
            <a:r>
              <a:rPr lang="zh-CN" altLang="en-US"/>
              <a:t>数据分类介绍</a:t>
            </a:r>
            <a:r>
              <a:rPr lang="en-US" altLang="zh-CN" sz="800"/>
              <a:t>-2</a:t>
            </a:r>
          </a:p>
        </p:txBody>
      </p:sp>
      <p:sp>
        <p:nvSpPr>
          <p:cNvPr id="5123"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zh-CN" altLang="en-US"/>
              <a:t>第一步</a:t>
            </a:r>
            <a:r>
              <a:rPr lang="en-US" altLang="zh-CN"/>
              <a:t>, </a:t>
            </a:r>
            <a:r>
              <a:rPr lang="zh-CN" altLang="en-US"/>
              <a:t>建立一个描述已知数据集类别或概念的模型</a:t>
            </a:r>
          </a:p>
          <a:p>
            <a:pPr marL="0" lvl="0" indent="0" eaLnBrk="1" hangingPunct="1"/>
            <a:r>
              <a:rPr lang="zh-CN" altLang="en-US"/>
              <a:t>	该模型是通过对数据库中各数据进行内容的分析而获得的。</a:t>
            </a:r>
          </a:p>
          <a:p>
            <a:pPr marL="0" lvl="0" indent="0" eaLnBrk="1" hangingPunct="1"/>
            <a:r>
              <a:rPr lang="zh-CN" altLang="en-US"/>
              <a:t>	分类学习方法所使用的数据集称为</a:t>
            </a:r>
            <a:r>
              <a:rPr lang="zh-CN" altLang="en-US" u="sng">
                <a:solidFill>
                  <a:srgbClr val="CC0000"/>
                </a:solidFill>
              </a:rPr>
              <a:t>训练样本集合</a:t>
            </a:r>
            <a:r>
              <a:rPr lang="zh-CN" altLang="en-US"/>
              <a:t>，每一数据行都属于一个确定的数据类别，其类别值是由一个属性来描述的</a:t>
            </a:r>
            <a:r>
              <a:rPr lang="en-US" altLang="zh-CN"/>
              <a:t>(</a:t>
            </a:r>
            <a:r>
              <a:rPr lang="zh-CN" altLang="en-US"/>
              <a:t>被称为</a:t>
            </a:r>
            <a:r>
              <a:rPr lang="zh-CN" altLang="en-US">
                <a:solidFill>
                  <a:srgbClr val="0033CC"/>
                </a:solidFill>
              </a:rPr>
              <a:t>类别标记属性</a:t>
            </a:r>
            <a:r>
              <a:rPr lang="en-US" altLang="zh-CN"/>
              <a:t>)</a:t>
            </a:r>
            <a:r>
              <a:rPr lang="zh-CN" altLang="en-US"/>
              <a:t>。</a:t>
            </a:r>
          </a:p>
          <a:p>
            <a:pPr marL="0" lvl="0" indent="0" eaLnBrk="1" hangingPunct="1"/>
            <a:r>
              <a:rPr lang="zh-CN" altLang="en-US"/>
              <a:t>	因此分类学习又可称为</a:t>
            </a:r>
            <a:r>
              <a:rPr lang="zh-CN" altLang="en-US" u="sng">
                <a:solidFill>
                  <a:srgbClr val="0033CC"/>
                </a:solidFill>
              </a:rPr>
              <a:t>监督学习</a:t>
            </a:r>
            <a:r>
              <a:rPr lang="zh-CN" altLang="en-US"/>
              <a:t>，它是在</a:t>
            </a:r>
            <a:r>
              <a:rPr lang="zh-CN" altLang="en-US" u="sng"/>
              <a:t>已知训练样本类别</a:t>
            </a:r>
            <a:r>
              <a:rPr lang="zh-CN" altLang="en-US"/>
              <a:t>情况下，通过学习建立相应模型。而</a:t>
            </a:r>
            <a:r>
              <a:rPr lang="zh-CN" altLang="en-US" u="sng"/>
              <a:t>无监督学习</a:t>
            </a:r>
            <a:r>
              <a:rPr lang="zh-CN" altLang="en-US"/>
              <a:t>则是在训练样本的类别与类别个数均未知的情况下进行的，如聚类分析。</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childTnLst>
                                    <p:set>
                                      <p:cBhvr additive="base">
                                        <p:cTn id="6" dur="1" fill="hold">
                                          <p:stCondLst>
                                            <p:cond delay="0"/>
                                          </p:stCondLst>
                                        </p:cTn>
                                        <p:tgtEl>
                                          <p:spTgt spid="5123">
                                            <p:txEl>
                                              <p:pRg st="1" end="1"/>
                                            </p:txEl>
                                          </p:spTgt>
                                        </p:tgtEl>
                                        <p:attrNameLst>
                                          <p:attrName>style.visibility</p:attrName>
                                        </p:attrNameLst>
                                      </p:cBhvr>
                                      <p:to>
                                        <p:strVal val="visible"/>
                                      </p:to>
                                    </p:set>
                                    <p:animEffect transition="in" filter="wipe(left)">
                                      <p:cBhvr additive="base">
                                        <p:cTn id="7" dur="500"/>
                                        <p:tgtEl>
                                          <p:spTgt spid="51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22" presetClass="entr" presetSubtype="8" fill="hold" grpId="0" nodeType="clickEffect">
                                  <p:childTnLst>
                                    <p:set>
                                      <p:cBhvr additive="base">
                                        <p:cTn id="12" dur="1" fill="hold">
                                          <p:stCondLst>
                                            <p:cond delay="0"/>
                                          </p:stCondLst>
                                        </p:cTn>
                                        <p:tgtEl>
                                          <p:spTgt spid="5123">
                                            <p:txEl>
                                              <p:pRg st="2" end="2"/>
                                            </p:txEl>
                                          </p:spTgt>
                                        </p:tgtEl>
                                        <p:attrNameLst>
                                          <p:attrName>style.visibility</p:attrName>
                                        </p:attrNameLst>
                                      </p:cBhvr>
                                      <p:to>
                                        <p:strVal val="visible"/>
                                      </p:to>
                                    </p:set>
                                    <p:animEffect transition="in" filter="wipe(left)">
                                      <p:cBhvr additive="base">
                                        <p:cTn id="13" dur="500"/>
                                        <p:tgtEl>
                                          <p:spTgt spid="512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indefinite"/>
                            </p:stCondLst>
                          </p:cTn>
                        </p:par>
                        <p:par>
                          <p:cTn id="16" fill="hold" nodeType="afterGroup">
                            <p:stCondLst>
                              <p:cond delay="0"/>
                            </p:stCondLst>
                            <p:childTnLst>
                              <p:par>
                                <p:cTn id="17" presetID="22" presetClass="entr" presetSubtype="8" fill="hold" grpId="0" nodeType="clickEffect">
                                  <p:childTnLst>
                                    <p:set>
                                      <p:cBhvr additive="base">
                                        <p:cTn id="18" dur="1" fill="hold">
                                          <p:stCondLst>
                                            <p:cond delay="0"/>
                                          </p:stCondLst>
                                        </p:cTn>
                                        <p:tgtEl>
                                          <p:spTgt spid="5123">
                                            <p:txEl>
                                              <p:pRg st="3" end="3"/>
                                            </p:txEl>
                                          </p:spTgt>
                                        </p:tgtEl>
                                        <p:attrNameLst>
                                          <p:attrName>style.visibility</p:attrName>
                                        </p:attrNameLst>
                                      </p:cBhvr>
                                      <p:to>
                                        <p:strVal val="visible"/>
                                      </p:to>
                                    </p:set>
                                    <p:animEffect transition="in" filter="wipe(left)">
                                      <p:cBhvr additive="base">
                                        <p:cTn id="19" dur="500"/>
                                        <p:tgtEl>
                                          <p:spTgt spid="5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 	</a:t>
            </a:r>
            <a:r>
              <a:rPr lang="zh-CN" altLang="en-US"/>
              <a:t>数据分类介绍</a:t>
            </a:r>
            <a:r>
              <a:rPr lang="en-US" altLang="zh-CN" sz="800"/>
              <a:t>-2</a:t>
            </a:r>
          </a:p>
        </p:txBody>
      </p:sp>
      <p:sp>
        <p:nvSpPr>
          <p:cNvPr id="6147"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zh-CN" altLang="en-US"/>
              <a:t>第二步</a:t>
            </a:r>
            <a:r>
              <a:rPr lang="en-US" altLang="zh-CN"/>
              <a:t>, </a:t>
            </a:r>
            <a:r>
              <a:rPr lang="zh-CN" altLang="en-US"/>
              <a:t>利用所获得的模型进行分类操作</a:t>
            </a:r>
          </a:p>
          <a:p>
            <a:pPr marL="0" lvl="0" indent="0" eaLnBrk="1" hangingPunct="1"/>
            <a:r>
              <a:rPr lang="zh-CN" altLang="en-US"/>
              <a:t>	首先对模型分类准确率进行估计。</a:t>
            </a:r>
          </a:p>
          <a:p>
            <a:pPr marL="0" lvl="0" indent="0" eaLnBrk="1" hangingPunct="1"/>
            <a:r>
              <a:rPr lang="zh-CN" altLang="en-US"/>
              <a:t>	模型的准确性可以通过由该模型所正确分类的测试样本个数所占总测试样本的比例得到。即对于每一个测试样本，比较其已知的类别与学习所获模型的预测类别。</a:t>
            </a:r>
            <a:endParaRPr lang="en-US" altLang="zh-CN"/>
          </a:p>
          <a:p>
            <a:pPr marL="0" lvl="0" indent="0" eaLnBrk="1" hangingPunct="1"/>
            <a:r>
              <a:rPr lang="zh-CN" altLang="en-US"/>
              <a:t>         如果一个学习所获模型的准确率经测试被认为是可以</a:t>
            </a:r>
            <a:br>
              <a:rPr lang="zh-CN" altLang="en-US"/>
            </a:br>
            <a:r>
              <a:rPr lang="zh-CN" altLang="en-US"/>
              <a:t>接受的，那么就可以使用这一模型对未来数据行或对象</a:t>
            </a:r>
            <a:br>
              <a:rPr lang="zh-CN" altLang="en-US"/>
            </a:br>
            <a:r>
              <a:rPr lang="en-US" altLang="zh-CN"/>
              <a:t>(</a:t>
            </a:r>
            <a:r>
              <a:rPr lang="zh-CN" altLang="en-US"/>
              <a:t>其类别未知</a:t>
            </a:r>
            <a:r>
              <a:rPr lang="en-US" altLang="zh-CN"/>
              <a:t>)</a:t>
            </a:r>
            <a:r>
              <a:rPr lang="zh-CN" altLang="en-US"/>
              <a:t>进行分类，即利用学习所获得的模型</a:t>
            </a:r>
            <a:br>
              <a:rPr lang="zh-CN" altLang="en-US"/>
            </a:br>
            <a:r>
              <a:rPr lang="zh-CN" altLang="en-US" u="sng">
                <a:solidFill>
                  <a:srgbClr val="0033CC"/>
                </a:solidFill>
              </a:rPr>
              <a:t>进行预测</a:t>
            </a:r>
            <a:r>
              <a:rPr lang="zh-CN" altLang="en-US"/>
              <a:t>，对未知类别的数据行或对象判断其</a:t>
            </a:r>
            <a:br>
              <a:rPr lang="zh-CN" altLang="en-US"/>
            </a:br>
            <a:r>
              <a:rPr lang="zh-CN" altLang="en-US"/>
              <a:t>类别</a:t>
            </a:r>
            <a:r>
              <a:rPr lang="en-US" altLang="zh-CN"/>
              <a:t>(</a:t>
            </a:r>
            <a:r>
              <a:rPr lang="zh-CN" altLang="en-US"/>
              <a:t>属性</a:t>
            </a:r>
            <a:r>
              <a:rPr lang="en-US" altLang="zh-CN"/>
              <a:t>)</a:t>
            </a:r>
            <a:r>
              <a:rPr lang="zh-CN" altLang="en-US"/>
              <a:t>取值。</a:t>
            </a:r>
          </a:p>
          <a:p>
            <a:pPr marL="0" lvl="0" indent="0" eaLnBrk="1" hangingPunct="1"/>
            <a:r>
              <a:rPr lang="en-US" altLang="zh-CN"/>
              <a:t> </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childTnLst>
                                    <p:set>
                                      <p:cBhvr additive="base">
                                        <p:cTn id="6" dur="1" fill="hold">
                                          <p:stCondLst>
                                            <p:cond delay="0"/>
                                          </p:stCondLst>
                                        </p:cTn>
                                        <p:tgtEl>
                                          <p:spTgt spid="6147">
                                            <p:txEl>
                                              <p:pRg st="1" end="1"/>
                                            </p:txEl>
                                          </p:spTgt>
                                        </p:tgtEl>
                                        <p:attrNameLst>
                                          <p:attrName>style.visibility</p:attrName>
                                        </p:attrNameLst>
                                      </p:cBhvr>
                                      <p:to>
                                        <p:strVal val="visible"/>
                                      </p:to>
                                    </p:set>
                                    <p:animEffect transition="in" filter="wipe(left)">
                                      <p:cBhvr additive="base">
                                        <p:cTn id="7" dur="500"/>
                                        <p:tgtEl>
                                          <p:spTgt spid="61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22" presetClass="entr" presetSubtype="8" fill="hold" grpId="0" nodeType="clickEffect">
                                  <p:childTnLst>
                                    <p:set>
                                      <p:cBhvr additive="base">
                                        <p:cTn id="12" dur="1" fill="hold">
                                          <p:stCondLst>
                                            <p:cond delay="0"/>
                                          </p:stCondLst>
                                        </p:cTn>
                                        <p:tgtEl>
                                          <p:spTgt spid="6147">
                                            <p:txEl>
                                              <p:pRg st="2" end="2"/>
                                            </p:txEl>
                                          </p:spTgt>
                                        </p:tgtEl>
                                        <p:attrNameLst>
                                          <p:attrName>style.visibility</p:attrName>
                                        </p:attrNameLst>
                                      </p:cBhvr>
                                      <p:to>
                                        <p:strVal val="visible"/>
                                      </p:to>
                                    </p:set>
                                    <p:animEffect transition="in" filter="wipe(left)">
                                      <p:cBhvr additive="base">
                                        <p:cTn id="13" dur="500"/>
                                        <p:tgtEl>
                                          <p:spTgt spid="614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indefinite"/>
                            </p:stCondLst>
                          </p:cTn>
                        </p:par>
                        <p:par>
                          <p:cTn id="16" fill="hold" nodeType="afterGroup">
                            <p:stCondLst>
                              <p:cond delay="0"/>
                            </p:stCondLst>
                            <p:childTnLst>
                              <p:par>
                                <p:cTn id="17" presetID="22" presetClass="entr" presetSubtype="8" fill="hold" grpId="0" nodeType="clickEffect">
                                  <p:childTnLst>
                                    <p:set>
                                      <p:cBhvr additive="base">
                                        <p:cTn id="18" dur="1" fill="hold">
                                          <p:stCondLst>
                                            <p:cond delay="0"/>
                                          </p:stCondLst>
                                        </p:cTn>
                                        <p:tgtEl>
                                          <p:spTgt spid="6147">
                                            <p:txEl>
                                              <p:pRg st="3" end="3"/>
                                            </p:txEl>
                                          </p:spTgt>
                                        </p:tgtEl>
                                        <p:attrNameLst>
                                          <p:attrName>style.visibility</p:attrName>
                                        </p:attrNameLst>
                                      </p:cBhvr>
                                      <p:to>
                                        <p:strVal val="visible"/>
                                      </p:to>
                                    </p:set>
                                    <p:animEffect transition="in" filter="wipe(left)">
                                      <p:cBhvr additive="base">
                                        <p:cTn id="19" dur="500"/>
                                        <p:tgtEl>
                                          <p:spTgt spid="6147">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indefinite"/>
                            </p:stCondLst>
                          </p:cTn>
                        </p:par>
                        <p:par>
                          <p:cTn id="22" fill="hold" nodeType="afterGroup">
                            <p:stCondLst>
                              <p:cond delay="0"/>
                            </p:stCondLst>
                            <p:childTnLst>
                              <p:par>
                                <p:cTn id="23" presetID="22" presetClass="entr" presetSubtype="8" fill="hold" grpId="0" nodeType="clickEffect">
                                  <p:childTnLst>
                                    <p:set>
                                      <p:cBhvr additive="base">
                                        <p:cTn id="24" dur="1" fill="hold">
                                          <p:stCondLst>
                                            <p:cond delay="0"/>
                                          </p:stCondLst>
                                        </p:cTn>
                                        <p:tgtEl>
                                          <p:spTgt spid="6147">
                                            <p:txEl>
                                              <p:pRg st="4" end="4"/>
                                            </p:txEl>
                                          </p:spTgt>
                                        </p:tgtEl>
                                        <p:attrNameLst>
                                          <p:attrName>style.visibility</p:attrName>
                                        </p:attrNameLst>
                                      </p:cBhvr>
                                      <p:to>
                                        <p:strVal val="visible"/>
                                      </p:to>
                                    </p:set>
                                    <p:animEffect transition="in" filter="wipe(left)">
                                      <p:cBhvr additive="base">
                                        <p:cTn id="25" dur="500"/>
                                        <p:tgtEl>
                                          <p:spTgt spid="6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fig7_1a"/>
          <p:cNvPicPr/>
          <p:nvPr/>
        </p:nvPicPr>
        <p:blipFill>
          <a:blip r:embed="rId3"/>
          <a:srcRect b="48368"/>
          <a:stretch>
            <a:fillRect/>
          </a:stretch>
        </p:blipFill>
        <p:spPr>
          <a:xfrm>
            <a:off x="323850" y="404812"/>
            <a:ext cx="8616950" cy="5040312"/>
          </a:xfrm>
          <a:prstGeom prst="rect">
            <a:avLst/>
          </a:prstGeom>
          <a:noFill/>
          <a:ln>
            <a:noFill/>
            <a:miter lim="800000"/>
          </a:ln>
        </p:spPr>
      </p:pic>
      <p:sp>
        <p:nvSpPr>
          <p:cNvPr id="7171" name="Text Box 3"/>
          <p:cNvSpPr/>
          <p:nvPr/>
        </p:nvSpPr>
        <p:spPr>
          <a:xfrm>
            <a:off x="2987675" y="5661025"/>
            <a:ext cx="4484688" cy="457200"/>
          </a:xfrm>
          <a:prstGeom prst="rect">
            <a:avLst/>
          </a:prstGeom>
          <a:noFill/>
          <a:ln>
            <a:noFill/>
            <a:miter lim="800000"/>
          </a:ln>
        </p:spPr>
        <p:txBody>
          <a:bodyPr>
            <a:sp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r>
              <a:rPr kumimoji="1" lang="zh-CN" altLang="en-US" sz="2400" b="1">
                <a:latin typeface="Times New Roman" pitchFamily="18" charset="0"/>
              </a:rPr>
              <a:t>由训练数据产生分类规则</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fig7_1a"/>
          <p:cNvPicPr/>
          <p:nvPr/>
        </p:nvPicPr>
        <p:blipFill>
          <a:blip r:embed="rId3"/>
          <a:srcRect t="51131"/>
          <a:stretch>
            <a:fillRect/>
          </a:stretch>
        </p:blipFill>
        <p:spPr>
          <a:xfrm>
            <a:off x="20638" y="549275"/>
            <a:ext cx="9123362" cy="4651375"/>
          </a:xfrm>
          <a:prstGeom prst="rect">
            <a:avLst/>
          </a:prstGeom>
          <a:noFill/>
          <a:ln>
            <a:noFill/>
            <a:miter lim="800000"/>
          </a:ln>
        </p:spPr>
      </p:pic>
      <p:sp>
        <p:nvSpPr>
          <p:cNvPr id="8195" name="Text Box 3"/>
          <p:cNvSpPr/>
          <p:nvPr/>
        </p:nvSpPr>
        <p:spPr>
          <a:xfrm>
            <a:off x="2824162" y="5516562"/>
            <a:ext cx="5086350" cy="457200"/>
          </a:xfrm>
          <a:prstGeom prst="rect">
            <a:avLst/>
          </a:prstGeom>
          <a:noFill/>
          <a:ln>
            <a:noFill/>
            <a:miter lim="800000"/>
          </a:ln>
        </p:spPr>
        <p:txBody>
          <a:bodyPr wrap="none">
            <a:sp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lvl="0" indent="0" algn="l" eaLnBrk="1" hangingPunct="1"/>
            <a:r>
              <a:rPr kumimoji="1" lang="zh-CN" altLang="en-US" sz="2400" b="1">
                <a:latin typeface="Times New Roman" pitchFamily="18" charset="0"/>
              </a:rPr>
              <a:t>由分类规则对新的样本数据进行分类</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 	</a:t>
            </a:r>
            <a:r>
              <a:rPr lang="zh-CN" altLang="en-US"/>
              <a:t>决策树介绍</a:t>
            </a:r>
            <a:r>
              <a:rPr lang="en-US" altLang="zh-CN" sz="800"/>
              <a:t>-2</a:t>
            </a:r>
          </a:p>
        </p:txBody>
      </p:sp>
      <p:sp>
        <p:nvSpPr>
          <p:cNvPr id="9219" name="Rectangle 3"/>
          <p:cNvSpPr>
            <a:spLocks noGrp="1"/>
          </p:cNvSpPr>
          <p:nvPr>
            <p:ph type="body" idx="4294967295"/>
          </p:nvPr>
        </p:nvSpPr>
        <p:spPr>
          <a:xfrm>
            <a:off x="1116012" y="1196975"/>
            <a:ext cx="7570788"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zh-CN" altLang="en-US"/>
              <a:t>常用的分类预测算法：</a:t>
            </a:r>
          </a:p>
          <a:p>
            <a:pPr marL="0" lvl="0" indent="0" eaLnBrk="1" hangingPunct="1">
              <a:buSzPct val="65000"/>
              <a:buFont typeface="Wingdings" pitchFamily="2" charset="2"/>
              <a:buChar char="l"/>
            </a:pPr>
            <a:r>
              <a:rPr lang="zh-CN" altLang="en-US"/>
              <a:t>  决策树归纳分类</a:t>
            </a:r>
          </a:p>
          <a:p>
            <a:pPr marL="0" lvl="0" indent="0" eaLnBrk="1" hangingPunct="1">
              <a:buSzPct val="65000"/>
              <a:buFont typeface="Wingdings" pitchFamily="2" charset="2"/>
              <a:buChar char="l"/>
            </a:pPr>
            <a:r>
              <a:rPr lang="zh-CN" altLang="en-US"/>
              <a:t>  贝叶斯分类</a:t>
            </a:r>
          </a:p>
          <a:p>
            <a:pPr marL="0" lvl="0" indent="0" eaLnBrk="1" hangingPunct="1">
              <a:buSzPct val="65000"/>
              <a:buFont typeface="Wingdings" pitchFamily="2" charset="2"/>
              <a:buChar char="l"/>
            </a:pPr>
            <a:r>
              <a:rPr lang="zh-CN" altLang="en-US"/>
              <a:t>  基于规则的分类</a:t>
            </a:r>
          </a:p>
          <a:p>
            <a:pPr marL="0" lvl="0" indent="0" eaLnBrk="1" hangingPunct="1">
              <a:buSzPct val="65000"/>
              <a:buFont typeface="Wingdings" pitchFamily="2" charset="2"/>
              <a:buChar char="l"/>
            </a:pPr>
            <a:r>
              <a:rPr lang="zh-CN" altLang="en-US"/>
              <a:t>  用后向传播分类</a:t>
            </a:r>
          </a:p>
          <a:p>
            <a:pPr marL="0" lvl="0" indent="0" eaLnBrk="1" hangingPunct="1">
              <a:buSzPct val="65000"/>
              <a:buFont typeface="Wingdings" pitchFamily="2" charset="2"/>
              <a:buChar char="l"/>
            </a:pPr>
            <a:r>
              <a:rPr lang="zh-CN" altLang="en-US"/>
              <a:t>  遗传算法、粗糙集方法、模糊集方法</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 	</a:t>
            </a:r>
            <a:r>
              <a:rPr lang="zh-CN" altLang="en-US"/>
              <a:t>决策树介绍</a:t>
            </a:r>
            <a:r>
              <a:rPr lang="en-US" altLang="zh-CN" sz="800"/>
              <a:t>-2</a:t>
            </a:r>
          </a:p>
        </p:txBody>
      </p:sp>
      <p:sp>
        <p:nvSpPr>
          <p:cNvPr id="10243"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sz="2800">
                <a:solidFill>
                  <a:srgbClr val="0033CC"/>
                </a:solidFill>
              </a:rPr>
              <a:t>4.1.1 </a:t>
            </a:r>
            <a:r>
              <a:rPr lang="zh-CN" altLang="en-US" sz="2800">
                <a:solidFill>
                  <a:srgbClr val="0033CC"/>
                </a:solidFill>
              </a:rPr>
              <a:t>决策树的基本知识</a:t>
            </a:r>
          </a:p>
          <a:p>
            <a:pPr marL="0" lvl="0" indent="0" eaLnBrk="1" hangingPunct="1">
              <a:lnSpc>
                <a:spcPct val="140000"/>
              </a:lnSpc>
            </a:pPr>
            <a:r>
              <a:rPr lang="zh-CN" altLang="en-US" sz="2000"/>
              <a:t>        决策树方法最早产生于</a:t>
            </a:r>
            <a:r>
              <a:rPr lang="en-US" altLang="zh-CN" sz="2000"/>
              <a:t>20</a:t>
            </a:r>
            <a:r>
              <a:rPr lang="zh-CN" altLang="en-US" sz="2000"/>
              <a:t>世纪</a:t>
            </a:r>
            <a:r>
              <a:rPr lang="en-US" altLang="zh-CN" sz="2000"/>
              <a:t>60</a:t>
            </a:r>
            <a:r>
              <a:rPr lang="zh-CN" altLang="en-US" sz="2000"/>
              <a:t>年代，是由</a:t>
            </a:r>
            <a:r>
              <a:rPr lang="en-US" altLang="zh-CN" sz="2000"/>
              <a:t>Hunt</a:t>
            </a:r>
            <a:r>
              <a:rPr lang="zh-CN" altLang="en-US" sz="2000"/>
              <a:t>等人研究人类概念建模时建立的学习系统</a:t>
            </a:r>
            <a:r>
              <a:rPr lang="en-US" altLang="zh-CN" sz="2000"/>
              <a:t>CLS(concept learning system)</a:t>
            </a:r>
            <a:r>
              <a:rPr lang="zh-CN" altLang="en-US" sz="2000"/>
              <a:t>。到了</a:t>
            </a:r>
            <a:r>
              <a:rPr lang="en-US" altLang="zh-CN" sz="2000"/>
              <a:t>70</a:t>
            </a:r>
            <a:r>
              <a:rPr lang="zh-CN" altLang="en-US" sz="2000"/>
              <a:t>年代末，</a:t>
            </a:r>
            <a:br>
              <a:rPr lang="zh-CN" altLang="en-US" sz="2000"/>
            </a:br>
            <a:r>
              <a:rPr lang="en-US" altLang="zh-CN" sz="2000"/>
              <a:t>J. Ross Quinlan</a:t>
            </a:r>
            <a:r>
              <a:rPr lang="zh-CN" altLang="en-US" sz="2000"/>
              <a:t>提出</a:t>
            </a:r>
            <a:r>
              <a:rPr lang="en-US" altLang="zh-CN" sz="2000"/>
              <a:t>ID3</a:t>
            </a:r>
            <a:r>
              <a:rPr lang="zh-CN" altLang="en-US" sz="2000"/>
              <a:t>算法，引进信息论中的有关思想，提出用信息</a:t>
            </a:r>
            <a:br>
              <a:rPr lang="zh-CN" altLang="en-US" sz="2000"/>
            </a:br>
            <a:r>
              <a:rPr lang="zh-CN" altLang="en-US" sz="2000"/>
              <a:t>增益</a:t>
            </a:r>
            <a:r>
              <a:rPr lang="en-US" altLang="zh-CN" sz="2000"/>
              <a:t>(information gain)</a:t>
            </a:r>
            <a:r>
              <a:rPr lang="zh-CN" altLang="en-US" sz="2000"/>
              <a:t>作为特征判别能力的度量，来选择属性作为决策树的节点，并将建树的方法嵌在一个迭代的程序之中。当时他的主要目的在于减少树的深度，却忽略了叶子数目的研究。</a:t>
            </a:r>
            <a:r>
              <a:rPr lang="en-US" altLang="zh-CN" sz="2000"/>
              <a:t>1975</a:t>
            </a:r>
            <a:r>
              <a:rPr lang="zh-CN" altLang="en-US" sz="2000"/>
              <a:t>年和</a:t>
            </a:r>
            <a:r>
              <a:rPr lang="en-US" altLang="zh-CN" sz="2000"/>
              <a:t>1984</a:t>
            </a:r>
            <a:r>
              <a:rPr lang="zh-CN" altLang="en-US" sz="2000"/>
              <a:t>年，分别有人提出了</a:t>
            </a:r>
            <a:r>
              <a:rPr lang="en-US" altLang="zh-CN" sz="2000"/>
              <a:t>CHAID</a:t>
            </a:r>
            <a:r>
              <a:rPr lang="zh-CN" altLang="en-US" sz="2000"/>
              <a:t>和</a:t>
            </a:r>
            <a:r>
              <a:rPr lang="en-US" altLang="zh-CN" sz="2000"/>
              <a:t>CART</a:t>
            </a:r>
            <a:r>
              <a:rPr lang="zh-CN" altLang="en-US" sz="2000"/>
              <a:t>算法。</a:t>
            </a:r>
            <a:r>
              <a:rPr lang="en-US" altLang="zh-CN" sz="2000"/>
              <a:t>1986</a:t>
            </a:r>
            <a:r>
              <a:rPr lang="zh-CN" altLang="en-US" sz="2000"/>
              <a:t>年，</a:t>
            </a:r>
            <a:r>
              <a:rPr lang="en-US" altLang="zh-CN" sz="2000"/>
              <a:t>J. C. Schlinner</a:t>
            </a:r>
            <a:r>
              <a:rPr lang="zh-CN" altLang="en-US" sz="2000"/>
              <a:t>提出</a:t>
            </a:r>
            <a:r>
              <a:rPr lang="en-US" altLang="zh-CN" sz="2000"/>
              <a:t>ID4</a:t>
            </a:r>
            <a:r>
              <a:rPr lang="zh-CN" altLang="en-US" sz="2000"/>
              <a:t>算法。</a:t>
            </a:r>
            <a:r>
              <a:rPr lang="en-US" altLang="zh-CN" sz="2000"/>
              <a:t>1988</a:t>
            </a:r>
            <a:r>
              <a:rPr lang="zh-CN" altLang="en-US" sz="2000"/>
              <a:t>年，</a:t>
            </a:r>
            <a:r>
              <a:rPr lang="en-US" altLang="zh-CN" sz="2000"/>
              <a:t>P. E. Utgoff </a:t>
            </a:r>
            <a:r>
              <a:rPr lang="zh-CN" altLang="en-US" sz="2000"/>
              <a:t>提出</a:t>
            </a:r>
            <a:r>
              <a:rPr lang="en-US" altLang="zh-CN" sz="2000"/>
              <a:t>ID5R</a:t>
            </a:r>
            <a:r>
              <a:rPr lang="zh-CN" altLang="en-US" sz="2000"/>
              <a:t>算法。</a:t>
            </a:r>
            <a:r>
              <a:rPr lang="en-US" altLang="zh-CN" sz="2000"/>
              <a:t>1993</a:t>
            </a:r>
            <a:r>
              <a:rPr lang="zh-CN" altLang="en-US" sz="2000"/>
              <a:t>年，</a:t>
            </a:r>
            <a:r>
              <a:rPr lang="en-US" altLang="zh-CN" sz="2000"/>
              <a:t>Quinlan</a:t>
            </a:r>
            <a:r>
              <a:rPr lang="zh-CN" altLang="en-US" sz="2000"/>
              <a:t>本人以</a:t>
            </a:r>
            <a:r>
              <a:rPr lang="en-US" altLang="zh-CN" sz="2000"/>
              <a:t>ID3</a:t>
            </a:r>
            <a:r>
              <a:rPr lang="zh-CN" altLang="en-US" sz="2000"/>
              <a:t>算法为基础研究出</a:t>
            </a:r>
            <a:r>
              <a:rPr lang="en-US" altLang="zh-CN" sz="2000"/>
              <a:t>C4.5</a:t>
            </a:r>
            <a:r>
              <a:rPr lang="zh-CN" altLang="en-US" sz="2000"/>
              <a:t>算法。新算法在对预测变量的缺失值处理、剪枝技术、派生规则等方面作了较大的改进，</a:t>
            </a:r>
            <a:r>
              <a:rPr lang="en-US" altLang="zh-CN" sz="2000"/>
              <a:t>C5.0</a:t>
            </a:r>
            <a:r>
              <a:rPr lang="zh-CN" altLang="en-US" sz="2000"/>
              <a:t>是</a:t>
            </a:r>
            <a:r>
              <a:rPr lang="en-US" altLang="zh-CN" sz="2000"/>
              <a:t>C4.5</a:t>
            </a:r>
            <a:r>
              <a:rPr lang="zh-CN" altLang="en-US" sz="2000"/>
              <a:t>的商业改进版。</a:t>
            </a:r>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zh-CN" altLang="en-US"/>
              <a:t>例子</a:t>
            </a:r>
          </a:p>
        </p:txBody>
      </p:sp>
      <p:pic>
        <p:nvPicPr>
          <p:cNvPr id="11267" name="内容占位符 3"/>
          <p:cNvPicPr>
            <a:picLocks noGrp="1"/>
          </p:cNvPicPr>
          <p:nvPr>
            <p:ph idx="4294967295"/>
          </p:nvPr>
        </p:nvPicPr>
        <p:blipFill>
          <a:blip r:embed="rId2"/>
          <a:stretch>
            <a:fillRect/>
          </a:stretch>
        </p:blipFill>
        <p:spPr>
          <a:xfrm>
            <a:off x="1258888" y="1844675"/>
            <a:ext cx="6178550" cy="4670425"/>
          </a:xfrm>
          <a:prstGeom prst="rect">
            <a:avLst/>
          </a:prstGeom>
          <a:noFill/>
          <a:ln>
            <a:miter lim="800000"/>
          </a:ln>
        </p:spPr>
      </p:pic>
      <p:sp>
        <p:nvSpPr>
          <p:cNvPr id="11268" name="TextBox 4"/>
          <p:cNvSpPr txBox="1"/>
          <p:nvPr/>
        </p:nvSpPr>
        <p:spPr>
          <a:xfrm>
            <a:off x="1358900" y="1557338"/>
            <a:ext cx="5903913" cy="400050"/>
          </a:xfrm>
          <a:prstGeom prst="rect">
            <a:avLst/>
          </a:prstGeom>
          <a:noFill/>
        </p:spPr>
        <p:txBody>
          <a:bodyPr>
            <a:spAutoFit/>
          </a:bodyPr>
          <a:lstStyle>
            <a:lvl1pPr marL="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1pPr>
            <a:lvl2pPr marL="4572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2pPr>
            <a:lvl3pPr marL="9144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3pPr>
            <a:lvl4pPr marL="13716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4pPr>
            <a:lvl5pPr marL="1828800" indent="0" algn="ctr" defTabSz="914400" rtl="0" eaLnBrk="0" fontAlgn="base" hangingPunct="0">
              <a:lnSpc>
                <a:spcPct val="100000"/>
              </a:lnSpc>
              <a:spcBef>
                <a:spcPct val="0"/>
              </a:spcBef>
              <a:spcAft>
                <a:spcPct val="0"/>
              </a:spcAft>
              <a:buClrTx/>
              <a:buSzTx/>
              <a:buFontTx/>
              <a:buNone/>
              <a:defRPr kumimoji="0" lang="zh-CN" altLang="en-US" sz="1800" b="0" i="0" u="none">
                <a:solidFill>
                  <a:schemeClr val="tx1"/>
                </a:solidFill>
                <a:latin typeface="Arial"/>
                <a:ea typeface="宋体" pitchFamily="2" charset="-122"/>
              </a:defRPr>
            </a:lvl5pPr>
          </a:lstStyle>
          <a:p>
            <a:pPr marL="0" marR="0" lvl="0" indent="0" eaLnBrk="1" hangingPunct="1"/>
            <a:r>
              <a:rPr lang="zh-CN" altLang="en-US" sz="2000" b="1">
                <a:latin typeface="Times New Roman" pitchFamily="18" charset="0"/>
              </a:rPr>
              <a:t>关于上</a:t>
            </a:r>
            <a:r>
              <a:rPr lang="en-US" altLang="zh-CN" sz="2000" b="1">
                <a:latin typeface="Times New Roman" pitchFamily="18" charset="0"/>
              </a:rPr>
              <a:t>mooc</a:t>
            </a:r>
            <a:r>
              <a:rPr lang="zh-CN" altLang="en-US" sz="2000" b="1">
                <a:latin typeface="Times New Roman" pitchFamily="18" charset="0"/>
              </a:rPr>
              <a:t>的例子</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zh-CN" altLang="en-US"/>
              <a:t>例子</a:t>
            </a:r>
          </a:p>
        </p:txBody>
      </p:sp>
      <p:pic>
        <p:nvPicPr>
          <p:cNvPr id="12291" name="内容占位符 3"/>
          <p:cNvPicPr>
            <a:picLocks noGrp="1"/>
          </p:cNvPicPr>
          <p:nvPr>
            <p:ph idx="4294967295"/>
          </p:nvPr>
        </p:nvPicPr>
        <p:blipFill>
          <a:blip r:embed="rId2"/>
          <a:stretch>
            <a:fillRect/>
          </a:stretch>
        </p:blipFill>
        <p:spPr>
          <a:xfrm>
            <a:off x="250825" y="1557338"/>
            <a:ext cx="8726488" cy="4156075"/>
          </a:xfrm>
          <a:prstGeom prst="rect">
            <a:avLst/>
          </a:prstGeom>
          <a:noFill/>
          <a:ln>
            <a:miter lim="800000"/>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zh-CN" altLang="en-US"/>
              <a:t>例子</a:t>
            </a:r>
          </a:p>
        </p:txBody>
      </p:sp>
      <p:pic>
        <p:nvPicPr>
          <p:cNvPr id="13315" name="内容占位符 5"/>
          <p:cNvPicPr>
            <a:picLocks noGrp="1"/>
          </p:cNvPicPr>
          <p:nvPr>
            <p:ph idx="4294967295"/>
          </p:nvPr>
        </p:nvPicPr>
        <p:blipFill>
          <a:blip r:embed="rId2"/>
          <a:stretch>
            <a:fillRect/>
          </a:stretch>
        </p:blipFill>
        <p:spPr>
          <a:xfrm>
            <a:off x="323850" y="1700212"/>
            <a:ext cx="8208962" cy="4581525"/>
          </a:xfrm>
          <a:prstGeom prst="rect">
            <a:avLst/>
          </a:prstGeom>
          <a:noFill/>
          <a:ln>
            <a:miter lim="800000"/>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4.1.1 </a:t>
            </a:r>
            <a:r>
              <a:rPr lang="zh-CN" altLang="en-US"/>
              <a:t>决策树的基本知识</a:t>
            </a:r>
            <a:endParaRPr lang="zh-CN" altLang="en-US" sz="800"/>
          </a:p>
        </p:txBody>
      </p:sp>
      <p:sp>
        <p:nvSpPr>
          <p:cNvPr id="14339"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决策树技术发现数据模式和规则的核心是</a:t>
            </a:r>
            <a:r>
              <a:rPr lang="zh-CN" altLang="en-US">
                <a:solidFill>
                  <a:srgbClr val="0033CC"/>
                </a:solidFill>
              </a:rPr>
              <a:t>归纳算法</a:t>
            </a:r>
            <a:r>
              <a:rPr lang="zh-CN" altLang="en-US"/>
              <a:t>。</a:t>
            </a:r>
          </a:p>
          <a:p>
            <a:pPr marL="0" lvl="0" indent="0" eaLnBrk="1" hangingPunct="1"/>
            <a:r>
              <a:rPr lang="zh-CN" altLang="en-US"/>
              <a:t>	归纳是从特殊到一般的过程。</a:t>
            </a:r>
          </a:p>
          <a:p>
            <a:pPr marL="0" lvl="0" indent="0" eaLnBrk="1" hangingPunct="1"/>
            <a:r>
              <a:rPr lang="zh-CN" altLang="en-US"/>
              <a:t>	归纳推理从若干个事实表征出的特征、特性或属性中</a:t>
            </a:r>
            <a:r>
              <a:rPr lang="en-US" altLang="zh-CN"/>
              <a:t>, </a:t>
            </a:r>
            <a:r>
              <a:rPr lang="zh-CN" altLang="en-US"/>
              <a:t>通过比较、总结、概括而得出一个规律性的结论。</a:t>
            </a:r>
          </a:p>
          <a:p>
            <a:pPr marL="0" lvl="0" indent="0" eaLnBrk="1" hangingPunct="1"/>
            <a:r>
              <a:rPr lang="zh-CN" altLang="en-US"/>
              <a:t>	归纳学习的过程就是寻找一般化描述</a:t>
            </a:r>
            <a:r>
              <a:rPr lang="en-US" altLang="zh-CN"/>
              <a:t>(</a:t>
            </a:r>
            <a:r>
              <a:rPr lang="zh-CN" altLang="en-US"/>
              <a:t>归纳断言</a:t>
            </a:r>
            <a:r>
              <a:rPr lang="en-US" altLang="zh-CN"/>
              <a:t>)</a:t>
            </a:r>
            <a:r>
              <a:rPr lang="zh-CN" altLang="en-US"/>
              <a:t>的过程。这种一般化描述能够解释给定的输入数据，并可以用来</a:t>
            </a:r>
            <a:r>
              <a:rPr lang="zh-CN" altLang="en-US" u="sng"/>
              <a:t>预测</a:t>
            </a:r>
            <a:r>
              <a:rPr lang="zh-CN" altLang="en-US"/>
              <a:t>新的数据。</a:t>
            </a:r>
          </a:p>
          <a:p>
            <a:pPr marL="0" lvl="0" indent="0" eaLnBrk="1" hangingPunct="1"/>
            <a:r>
              <a:rPr lang="zh-CN" altLang="en-US"/>
              <a:t>	归纳学习由于依赖于经验数据，因此又称作</a:t>
            </a:r>
            <a:r>
              <a:rPr lang="zh-CN" altLang="en-US">
                <a:solidFill>
                  <a:srgbClr val="0033CC"/>
                </a:solidFill>
              </a:rPr>
              <a:t>经验学习</a:t>
            </a:r>
            <a:r>
              <a:rPr lang="zh-CN" altLang="en-US"/>
              <a:t>。</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4.1.1 </a:t>
            </a:r>
            <a:r>
              <a:rPr lang="zh-CN" altLang="en-US"/>
              <a:t>决策树的基本知识</a:t>
            </a:r>
            <a:r>
              <a:rPr lang="en-US" altLang="zh-CN" sz="800"/>
              <a:t>-2</a:t>
            </a:r>
          </a:p>
        </p:txBody>
      </p:sp>
      <p:sp>
        <p:nvSpPr>
          <p:cNvPr id="15363"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归纳学习存在一个基本假定</a:t>
            </a:r>
            <a:r>
              <a:rPr lang="en-US" altLang="zh-CN"/>
              <a:t>: </a:t>
            </a:r>
          </a:p>
          <a:p>
            <a:pPr marL="0" lvl="0" indent="0" eaLnBrk="1" hangingPunct="1"/>
            <a:r>
              <a:rPr lang="en-US" altLang="zh-CN"/>
              <a:t>	</a:t>
            </a:r>
            <a:r>
              <a:rPr lang="zh-CN" altLang="en-US">
                <a:solidFill>
                  <a:srgbClr val="336600"/>
                </a:solidFill>
                <a:ea typeface="华文楷体" pitchFamily="2" charset="-122"/>
              </a:rPr>
              <a:t>任一模型如果能在足够大的</a:t>
            </a:r>
            <a:r>
              <a:rPr lang="zh-CN" altLang="en-US">
                <a:solidFill>
                  <a:srgbClr val="FF0000"/>
                </a:solidFill>
                <a:ea typeface="华文楷体" pitchFamily="2" charset="-122"/>
              </a:rPr>
              <a:t>训练样本集</a:t>
            </a:r>
            <a:r>
              <a:rPr lang="zh-CN" altLang="en-US">
                <a:solidFill>
                  <a:srgbClr val="336600"/>
                </a:solidFill>
                <a:ea typeface="华文楷体" pitchFamily="2" charset="-122"/>
              </a:rPr>
              <a:t>中很好地逼近</a:t>
            </a:r>
            <a:br>
              <a:rPr lang="zh-CN" altLang="en-US">
                <a:solidFill>
                  <a:srgbClr val="336600"/>
                </a:solidFill>
                <a:ea typeface="华文楷体" pitchFamily="2" charset="-122"/>
              </a:rPr>
            </a:br>
            <a:r>
              <a:rPr lang="zh-CN" altLang="en-US">
                <a:solidFill>
                  <a:srgbClr val="336600"/>
                </a:solidFill>
                <a:ea typeface="华文楷体" pitchFamily="2" charset="-122"/>
              </a:rPr>
              <a:t>目标函数，则它也能在</a:t>
            </a:r>
            <a:r>
              <a:rPr lang="zh-CN" altLang="en-US">
                <a:solidFill>
                  <a:srgbClr val="FF0000"/>
                </a:solidFill>
                <a:ea typeface="华文楷体" pitchFamily="2" charset="-122"/>
              </a:rPr>
              <a:t>未见样本</a:t>
            </a:r>
            <a:r>
              <a:rPr lang="zh-CN" altLang="en-US">
                <a:solidFill>
                  <a:srgbClr val="336600"/>
                </a:solidFill>
                <a:ea typeface="华文楷体" pitchFamily="2" charset="-122"/>
              </a:rPr>
              <a:t>中很好地逼近目标函数。</a:t>
            </a:r>
            <a:br>
              <a:rPr lang="zh-CN" altLang="en-US">
                <a:solidFill>
                  <a:srgbClr val="336600"/>
                </a:solidFill>
                <a:ea typeface="华文楷体" pitchFamily="2" charset="-122"/>
              </a:rPr>
            </a:br>
            <a:r>
              <a:rPr lang="zh-CN" altLang="en-US">
                <a:solidFill>
                  <a:srgbClr val="336600"/>
                </a:solidFill>
                <a:ea typeface="华文楷体" pitchFamily="2" charset="-122"/>
              </a:rPr>
              <a:t>这个假定是归纳学习</a:t>
            </a:r>
            <a:r>
              <a:rPr lang="zh-CN" altLang="en-US" u="sng">
                <a:solidFill>
                  <a:srgbClr val="336600"/>
                </a:solidFill>
                <a:ea typeface="华文楷体" pitchFamily="2" charset="-122"/>
              </a:rPr>
              <a:t>有效性的前提条件</a:t>
            </a:r>
            <a:r>
              <a:rPr lang="zh-CN" altLang="en-US"/>
              <a:t>。</a:t>
            </a:r>
          </a:p>
          <a:p>
            <a:pPr marL="0" lvl="0" indent="0" eaLnBrk="1" hangingPunct="1"/>
            <a:r>
              <a:rPr lang="zh-CN" altLang="en-US"/>
              <a:t>	归纳过程就是在描述空间中进行搜索的过程。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1" nodeType="clickEffect">
                                  <p:iterate type="lt">
                                    <p:tmPct val="0"/>
                                  </p:iterate>
                                  <p:childTnLst>
                                    <p:set>
                                      <p:cBhvr additive="base">
                                        <p:cTn id="6" dur="1" fill="hold">
                                          <p:stCondLst>
                                            <p:cond delay="0"/>
                                          </p:stCondLst>
                                        </p:cTn>
                                        <p:tgtEl>
                                          <p:spTgt spid="15363">
                                            <p:txEl>
                                              <p:pRg st="0" end="0"/>
                                            </p:txEl>
                                          </p:spTgt>
                                        </p:tgtEl>
                                        <p:attrNameLst>
                                          <p:attrName>style.visibility</p:attrName>
                                        </p:attrNameLst>
                                      </p:cBhvr>
                                      <p:to>
                                        <p:strVal val="visible"/>
                                      </p:to>
                                    </p:set>
                                    <p:animEffect transition="in" filter="wipe(left)">
                                      <p:cBhvr additive="base">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27" presetClass="entr" presetSubtype="0" fill="hold" grpId="1" nodeType="clickEffect">
                                  <p:iterate type="lt">
                                    <p:tmPct val="50000"/>
                                  </p:iterate>
                                  <p:childTnLst>
                                    <p:set>
                                      <p:cBhvr additive="base">
                                        <p:cTn id="12" dur="1" fill="hold">
                                          <p:stCondLst>
                                            <p:cond delay="0"/>
                                          </p:stCondLst>
                                        </p:cTn>
                                        <p:tgtEl>
                                          <p:spTgt spid="15363">
                                            <p:bg/>
                                          </p:spTgt>
                                        </p:tgtEl>
                                        <p:attrNameLst>
                                          <p:attrName>style.visibility</p:attrName>
                                        </p:attrNameLst>
                                      </p:cBhvr>
                                      <p:to>
                                        <p:strVal val="visible"/>
                                      </p:to>
                                    </p:set>
                                    <p:anim calcmode="discrete" valueType="clr">
                                      <p:cBhvr additive="base">
                                        <p:cTn id="13" dur="80" fill="hold"/>
                                        <p:tgtEl>
                                          <p:spTgt spid="15363">
                                            <p:bg/>
                                          </p:spTgt>
                                        </p:tgtEl>
                                        <p:attrNameLst>
                                          <p:attrName>style.color</p:attrName>
                                        </p:attrNameLst>
                                      </p:cBhvr>
                                      <p:tavLst>
                                        <p:tav tm="0">
                                          <p:val>
                                            <p:clrVal>
                                              <a:schemeClr val="accent2"/>
                                            </p:clrVal>
                                          </p:val>
                                        </p:tav>
                                        <p:tav tm="50000">
                                          <p:val>
                                            <p:clrVal>
                                              <a:schemeClr val="hlink"/>
                                            </p:clrVal>
                                          </p:val>
                                        </p:tav>
                                      </p:tavLst>
                                    </p:anim>
                                    <p:anim calcmode="discrete" valueType="clr">
                                      <p:cBhvr additive="base">
                                        <p:cTn id="14" dur="80" fill="hold"/>
                                        <p:tgtEl>
                                          <p:spTgt spid="15363">
                                            <p:bg/>
                                          </p:spTgt>
                                        </p:tgtEl>
                                        <p:attrNameLst>
                                          <p:attrName>fillcolor</p:attrName>
                                        </p:attrNameLst>
                                      </p:cBhvr>
                                      <p:tavLst>
                                        <p:tav tm="0">
                                          <p:val>
                                            <p:clrVal>
                                              <a:schemeClr val="accent2"/>
                                            </p:clrVal>
                                          </p:val>
                                        </p:tav>
                                        <p:tav tm="50000">
                                          <p:val>
                                            <p:clrVal>
                                              <a:schemeClr val="hlink"/>
                                            </p:clrVal>
                                          </p:val>
                                        </p:tav>
                                      </p:tavLst>
                                    </p:anim>
                                    <p:set>
                                      <p:cBhvr additive="base">
                                        <p:cTn id="15" dur="80" fill="hold"/>
                                        <p:tgtEl>
                                          <p:spTgt spid="15363">
                                            <p:bg/>
                                          </p:spTgt>
                                        </p:tgtEl>
                                        <p:attrNameLst>
                                          <p:attrName>fill.type</p:attrName>
                                        </p:attrNameLst>
                                      </p:cBhvr>
                                      <p:to>
                                        <p:strVal val="solid"/>
                                      </p:to>
                                    </p:set>
                                  </p:childTnLst>
                                </p:cTn>
                              </p:par>
                            </p:childTnLst>
                          </p:cTn>
                        </p:par>
                      </p:childTnLst>
                    </p:cTn>
                  </p:par>
                  <p:par>
                    <p:cTn id="16" fill="hold" nodeType="clickPar">
                      <p:stCondLst>
                        <p:cond delay="indefinite"/>
                      </p:stCondLst>
                      <p:childTnLst>
                        <p:par>
                          <p:cTn id="17" fill="hold" nodeType="withGroup">
                            <p:stCondLst>
                              <p:cond delay="indefinite"/>
                            </p:stCondLst>
                          </p:cTn>
                        </p:par>
                        <p:par>
                          <p:cTn id="18" fill="hold" nodeType="afterGroup">
                            <p:stCondLst>
                              <p:cond delay="0"/>
                            </p:stCondLst>
                            <p:childTnLst>
                              <p:par>
                                <p:cTn id="19" presetID="22" presetClass="entr" presetSubtype="8" fill="hold" grpId="1" nodeType="clickEffect">
                                  <p:iterate type="lt">
                                    <p:tmPct val="0"/>
                                  </p:iterate>
                                  <p:childTnLst>
                                    <p:set>
                                      <p:cBhvr additive="base">
                                        <p:cTn id="20" dur="1" fill="hold">
                                          <p:stCondLst>
                                            <p:cond delay="0"/>
                                          </p:stCondLst>
                                        </p:cTn>
                                        <p:tgtEl>
                                          <p:spTgt spid="15363">
                                            <p:txEl>
                                              <p:pRg st="2" end="2"/>
                                            </p:txEl>
                                          </p:spTgt>
                                        </p:tgtEl>
                                        <p:attrNameLst>
                                          <p:attrName>style.visibility</p:attrName>
                                        </p:attrNameLst>
                                      </p:cBhvr>
                                      <p:to>
                                        <p:strVal val="visible"/>
                                      </p:to>
                                    </p:set>
                                    <p:animEffect transition="in" filter="wipe(left)">
                                      <p:cBhvr additive="base">
                                        <p:cTn id="21" dur="500"/>
                                        <p:tgtEl>
                                          <p:spTgt spid="153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P spid="15363" grpId="1"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4.1.1 </a:t>
            </a:r>
            <a:r>
              <a:rPr lang="zh-CN" altLang="en-US"/>
              <a:t>决策树的基本知识</a:t>
            </a:r>
            <a:r>
              <a:rPr lang="en-US" altLang="zh-CN" sz="800"/>
              <a:t>-2</a:t>
            </a:r>
          </a:p>
        </p:txBody>
      </p:sp>
      <p:sp>
        <p:nvSpPr>
          <p:cNvPr id="16387"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归纳可以分为自下而上、自上而下和双向搜索三种方式</a:t>
            </a:r>
          </a:p>
          <a:p>
            <a:pPr marL="0" lvl="0" indent="0" eaLnBrk="1" hangingPunct="1"/>
            <a:r>
              <a:rPr lang="zh-CN" altLang="en-US"/>
              <a:t>	自下而上法一次处理一个输入对象，将描述逐步</a:t>
            </a:r>
            <a:br>
              <a:rPr lang="zh-CN" altLang="en-US"/>
            </a:br>
            <a:r>
              <a:rPr lang="zh-CN" altLang="en-US"/>
              <a:t>一般化，直到最终的一般化描述。</a:t>
            </a:r>
          </a:p>
          <a:p>
            <a:pPr marL="0" lvl="0" indent="0" eaLnBrk="1" hangingPunct="1"/>
            <a:r>
              <a:rPr lang="zh-CN" altLang="en-US"/>
              <a:t>	自上而下法则对可能的一般化描述集进行搜索，试图</a:t>
            </a:r>
            <a:br>
              <a:rPr lang="zh-CN" altLang="en-US"/>
            </a:br>
            <a:r>
              <a:rPr lang="zh-CN" altLang="en-US"/>
              <a:t>找到一些满足一定要求的最优的描述。</a:t>
            </a:r>
          </a:p>
          <a:p>
            <a:pPr marL="0" lvl="0" indent="0" eaLnBrk="1" hangingPunct="1"/>
            <a:r>
              <a:rPr lang="zh-CN" altLang="en-US"/>
              <a:t>	双向搜索方式则是这两者的结合。</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4.1.1 </a:t>
            </a:r>
            <a:r>
              <a:rPr lang="zh-CN" altLang="en-US"/>
              <a:t>决策树的基本知识</a:t>
            </a:r>
            <a:r>
              <a:rPr lang="en-US" altLang="zh-CN" sz="800"/>
              <a:t>-2</a:t>
            </a:r>
          </a:p>
        </p:txBody>
      </p:sp>
      <p:sp>
        <p:nvSpPr>
          <p:cNvPr id="17411"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先根据</a:t>
            </a:r>
            <a:r>
              <a:rPr lang="zh-CN" altLang="en-US">
                <a:solidFill>
                  <a:srgbClr val="0033CC"/>
                </a:solidFill>
              </a:rPr>
              <a:t>训练子集</a:t>
            </a:r>
            <a:r>
              <a:rPr lang="en-US" altLang="zh-CN"/>
              <a:t>(</a:t>
            </a:r>
            <a:r>
              <a:rPr lang="zh-CN" altLang="en-US"/>
              <a:t>又称为窗口</a:t>
            </a:r>
            <a:r>
              <a:rPr lang="en-US" altLang="zh-CN"/>
              <a:t>)</a:t>
            </a:r>
            <a:r>
              <a:rPr lang="zh-CN" altLang="en-US"/>
              <a:t>形成决策树，如果该树不能对所有对象给出正确的分类，那么选择一些例外</a:t>
            </a:r>
            <a:br>
              <a:rPr lang="zh-CN" altLang="en-US"/>
            </a:br>
            <a:r>
              <a:rPr lang="zh-CN" altLang="en-US"/>
              <a:t>加入到窗口中，重复该过程一直到形成正确的决策集。</a:t>
            </a:r>
          </a:p>
          <a:p>
            <a:pPr marL="0" lvl="0" indent="0" eaLnBrk="1" hangingPunct="1"/>
            <a:r>
              <a:rPr lang="zh-CN" altLang="en-US"/>
              <a:t>	最终结果是“一棵树”，其叶节点是</a:t>
            </a:r>
            <a:r>
              <a:rPr lang="zh-CN" altLang="en-US">
                <a:solidFill>
                  <a:srgbClr val="0033CC"/>
                </a:solidFill>
              </a:rPr>
              <a:t>类名</a:t>
            </a:r>
            <a:r>
              <a:rPr lang="zh-CN" altLang="en-US"/>
              <a:t>，中间节点是</a:t>
            </a:r>
            <a:br>
              <a:rPr lang="zh-CN" altLang="en-US"/>
            </a:br>
            <a:r>
              <a:rPr lang="zh-CN" altLang="en-US" u="sng"/>
              <a:t>带有分枝的属性</a:t>
            </a:r>
            <a:r>
              <a:rPr lang="zh-CN" altLang="en-US"/>
              <a:t>，该分枝对应 该属性的某一可能值。</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4.1.1 </a:t>
            </a:r>
            <a:r>
              <a:rPr lang="zh-CN" altLang="en-US"/>
              <a:t>决策树的基本知识</a:t>
            </a:r>
            <a:r>
              <a:rPr lang="en-US" altLang="zh-CN" sz="800"/>
              <a:t>-2</a:t>
            </a:r>
          </a:p>
        </p:txBody>
      </p:sp>
      <p:sp>
        <p:nvSpPr>
          <p:cNvPr id="18435"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决策树通常有两大类型，分别为</a:t>
            </a:r>
            <a:r>
              <a:rPr lang="zh-CN" altLang="en-US">
                <a:solidFill>
                  <a:srgbClr val="0033CC"/>
                </a:solidFill>
              </a:rPr>
              <a:t>分类决策树</a:t>
            </a:r>
            <a:r>
              <a:rPr lang="zh-CN" altLang="en-US"/>
              <a:t>和</a:t>
            </a:r>
            <a:br>
              <a:rPr lang="zh-CN" altLang="en-US"/>
            </a:br>
            <a:r>
              <a:rPr lang="zh-CN" altLang="en-US">
                <a:solidFill>
                  <a:srgbClr val="0033CC"/>
                </a:solidFill>
              </a:rPr>
              <a:t>回归决策树</a:t>
            </a:r>
            <a:r>
              <a:rPr lang="zh-CN" altLang="en-US"/>
              <a:t>。</a:t>
            </a:r>
          </a:p>
          <a:p>
            <a:pPr marL="0" lvl="0" indent="0" eaLnBrk="1" hangingPunct="1"/>
            <a:r>
              <a:rPr lang="zh-CN" altLang="en-US"/>
              <a:t>	分类决策树用来实现对定类或定序目标变量的分类，</a:t>
            </a:r>
            <a:br>
              <a:rPr lang="zh-CN" altLang="en-US"/>
            </a:br>
            <a:r>
              <a:rPr lang="zh-CN" altLang="en-US"/>
              <a:t>回归决策树则完成对定距目标变量取值的预测。</a:t>
            </a:r>
          </a:p>
          <a:p>
            <a:pPr marL="0" lvl="0" indent="0" eaLnBrk="1" hangingPunct="1"/>
            <a:r>
              <a:rPr lang="zh-CN" altLang="en-US"/>
              <a:t>	根据决策树各种不同的属性，可分为以下几类</a:t>
            </a:r>
            <a:r>
              <a:rPr lang="en-US" altLang="zh-CN"/>
              <a:t>:</a:t>
            </a:r>
          </a:p>
          <a:p>
            <a:pPr marL="0" lvl="0" indent="0" eaLnBrk="1" hangingPunct="1">
              <a:buClr>
                <a:srgbClr val="CC0000"/>
              </a:buClr>
              <a:buSzPct val="65000"/>
              <a:buFont typeface="Wingdings" pitchFamily="2" charset="2"/>
              <a:buChar char="l"/>
            </a:pPr>
            <a:r>
              <a:rPr lang="en-US" altLang="zh-CN" sz="2000"/>
              <a:t> </a:t>
            </a:r>
            <a:r>
              <a:rPr lang="zh-CN" altLang="en-US" sz="2000"/>
              <a:t>决策树内节点的测试属性可能是单变量的，即每个内节点只包含一个</a:t>
            </a:r>
            <a:br>
              <a:rPr lang="zh-CN" altLang="en-US" sz="2000"/>
            </a:br>
            <a:r>
              <a:rPr lang="zh-CN" altLang="en-US" sz="2000"/>
              <a:t>   属性</a:t>
            </a:r>
            <a:r>
              <a:rPr lang="en-US" altLang="zh-CN" sz="2000"/>
              <a:t>; </a:t>
            </a:r>
            <a:r>
              <a:rPr lang="zh-CN" altLang="en-US" sz="2000"/>
              <a:t>也可能是多变量的，既存在包含多个属性的内节点。</a:t>
            </a:r>
          </a:p>
          <a:p>
            <a:pPr marL="0" lvl="0" indent="0" eaLnBrk="1" hangingPunct="1">
              <a:buClr>
                <a:srgbClr val="CC0000"/>
              </a:buClr>
              <a:buSzPct val="65000"/>
              <a:buFont typeface="Wingdings" pitchFamily="2" charset="2"/>
              <a:buChar char="l"/>
            </a:pPr>
            <a:r>
              <a:rPr lang="zh-CN" altLang="en-US" sz="2000"/>
              <a:t> 测试属性的不同属性值的个数，可能使得每个内节点有两个或多个</a:t>
            </a:r>
            <a:br>
              <a:rPr lang="zh-CN" altLang="en-US" sz="2000"/>
            </a:br>
            <a:r>
              <a:rPr lang="zh-CN" altLang="en-US" sz="2000"/>
              <a:t>    分枝。如果一棵决策树每个内节点只有两个分枝则称之为二叉</a:t>
            </a:r>
            <a:br>
              <a:rPr lang="zh-CN" altLang="en-US" sz="2000"/>
            </a:br>
            <a:r>
              <a:rPr lang="zh-CN" altLang="en-US" sz="2000"/>
              <a:t>    决策树，如由</a:t>
            </a:r>
            <a:r>
              <a:rPr lang="en-US" altLang="zh-CN" sz="2000"/>
              <a:t>CART</a:t>
            </a:r>
            <a:r>
              <a:rPr lang="zh-CN" altLang="en-US" sz="2000"/>
              <a:t>算法生成的决策树。</a:t>
            </a:r>
          </a:p>
          <a:p>
            <a:pPr marL="0" lvl="0" indent="0" eaLnBrk="1" hangingPunct="1">
              <a:buClr>
                <a:srgbClr val="CC0000"/>
              </a:buClr>
              <a:buSzPct val="65000"/>
              <a:buFont typeface="Wingdings" pitchFamily="2" charset="2"/>
              <a:buChar char="l"/>
            </a:pPr>
            <a:r>
              <a:rPr lang="zh-CN" altLang="en-US" sz="2000"/>
              <a:t> 每个属性可能是值类型</a:t>
            </a:r>
            <a:r>
              <a:rPr lang="en-US" altLang="zh-CN" sz="2000"/>
              <a:t>(</a:t>
            </a:r>
            <a:r>
              <a:rPr lang="zh-CN" altLang="en-US" sz="2000"/>
              <a:t>连续值</a:t>
            </a:r>
            <a:r>
              <a:rPr lang="en-US" altLang="zh-CN" sz="2000"/>
              <a:t>)</a:t>
            </a:r>
            <a:r>
              <a:rPr lang="zh-CN" altLang="en-US" sz="2000"/>
              <a:t>，也可能是枚举类型</a:t>
            </a:r>
            <a:r>
              <a:rPr lang="en-US" altLang="zh-CN" sz="2000"/>
              <a:t>(</a:t>
            </a:r>
            <a:r>
              <a:rPr lang="zh-CN" altLang="en-US" sz="2000"/>
              <a:t>离散值</a:t>
            </a:r>
            <a:r>
              <a:rPr lang="en-US" altLang="zh-CN" sz="2000"/>
              <a:t>)</a:t>
            </a:r>
            <a:r>
              <a:rPr lang="zh-CN" altLang="en-US" sz="2000"/>
              <a:t>。</a:t>
            </a:r>
          </a:p>
          <a:p>
            <a:pPr marL="0" lvl="0" indent="0" eaLnBrk="1" hangingPunct="1">
              <a:buClr>
                <a:srgbClr val="CC0000"/>
              </a:buClr>
              <a:buSzPct val="65000"/>
              <a:buFont typeface="Wingdings" pitchFamily="2" charset="2"/>
              <a:buChar char="l"/>
            </a:pPr>
            <a:r>
              <a:rPr lang="zh-CN" altLang="en-US" sz="2000"/>
              <a:t> 分类结果既可能是两类也有可能是多类，如果二叉决策树的结果只有</a:t>
            </a:r>
            <a:br>
              <a:rPr lang="zh-CN" altLang="en-US" sz="2000"/>
            </a:br>
            <a:r>
              <a:rPr lang="zh-CN" altLang="en-US" sz="2000"/>
              <a:t>    两类，则称之为布尔决策树。</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4.1.1 </a:t>
            </a:r>
            <a:r>
              <a:rPr lang="zh-CN" altLang="en-US"/>
              <a:t>决策树的基本知识</a:t>
            </a:r>
            <a:r>
              <a:rPr lang="en-US" altLang="zh-CN" sz="800"/>
              <a:t>-2</a:t>
            </a:r>
          </a:p>
        </p:txBody>
      </p:sp>
      <p:sp>
        <p:nvSpPr>
          <p:cNvPr id="19459"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决策树学习是应用最广的归纳推理算法之一。它是一种逼近离散函数值的方法，分类精度高，操作简单，并且对</a:t>
            </a:r>
            <a:r>
              <a:rPr lang="zh-CN" altLang="en-US">
                <a:solidFill>
                  <a:srgbClr val="FF0000"/>
                </a:solidFill>
              </a:rPr>
              <a:t>噪声数据</a:t>
            </a:r>
            <a:r>
              <a:rPr lang="zh-CN" altLang="en-US"/>
              <a:t>有很好的稳健性，因而成为比较实用且比较流行的数据挖掘算法。</a:t>
            </a:r>
          </a:p>
          <a:p>
            <a:pPr marL="0" lvl="0" indent="0" eaLnBrk="1" hangingPunct="1"/>
            <a:r>
              <a:rPr lang="zh-CN" altLang="en-US"/>
              <a:t>	它的最大优点是，在学习过程中不需要使用者了解很多背景知识，只要训练样本集能够用</a:t>
            </a:r>
            <a:r>
              <a:rPr lang="zh-CN" altLang="en-US">
                <a:solidFill>
                  <a:srgbClr val="0033CC"/>
                </a:solidFill>
              </a:rPr>
              <a:t>“属性</a:t>
            </a:r>
            <a:r>
              <a:rPr lang="en-US" altLang="zh-CN">
                <a:solidFill>
                  <a:srgbClr val="0033CC"/>
                </a:solidFill>
              </a:rPr>
              <a:t>-</a:t>
            </a:r>
            <a:r>
              <a:rPr lang="zh-CN" altLang="en-US">
                <a:solidFill>
                  <a:srgbClr val="0033CC"/>
                </a:solidFill>
              </a:rPr>
              <a:t>值”</a:t>
            </a:r>
            <a:r>
              <a:rPr lang="zh-CN" altLang="en-US"/>
              <a:t>的方式表达</a:t>
            </a:r>
            <a:br>
              <a:rPr lang="zh-CN" altLang="en-US"/>
            </a:br>
            <a:r>
              <a:rPr lang="zh-CN" altLang="en-US"/>
              <a:t>出来就能使用决策树学习算法来分类。</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4.1.1 </a:t>
            </a:r>
            <a:r>
              <a:rPr lang="zh-CN" altLang="en-US"/>
              <a:t>决策树的基本知识</a:t>
            </a:r>
            <a:r>
              <a:rPr lang="en-US" altLang="zh-CN" sz="800"/>
              <a:t>-2</a:t>
            </a:r>
          </a:p>
        </p:txBody>
      </p:sp>
      <p:sp>
        <p:nvSpPr>
          <p:cNvPr id="20483"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446088" indent="-446088"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446088" lvl="0" indent="-446088" eaLnBrk="1" hangingPunct="1"/>
            <a:r>
              <a:rPr lang="zh-CN" altLang="en-US"/>
              <a:t>决策树方法的</a:t>
            </a:r>
            <a:r>
              <a:rPr lang="en-US" altLang="zh-CN"/>
              <a:t>(</a:t>
            </a:r>
            <a:r>
              <a:rPr lang="zh-CN" altLang="en-US"/>
              <a:t>相对</a:t>
            </a:r>
            <a:r>
              <a:rPr lang="en-US" altLang="zh-CN"/>
              <a:t>)</a:t>
            </a:r>
            <a:r>
              <a:rPr lang="zh-CN" altLang="en-US"/>
              <a:t>优点</a:t>
            </a:r>
            <a:r>
              <a:rPr lang="en-US" altLang="zh-CN"/>
              <a:t>:</a:t>
            </a:r>
          </a:p>
          <a:p>
            <a:pPr marL="446088" lvl="0" indent="-446088" eaLnBrk="1" hangingPunct="1">
              <a:buClr>
                <a:srgbClr val="CC0000"/>
              </a:buClr>
              <a:buSzPct val="70000"/>
              <a:buFont typeface="Wingdings" pitchFamily="2" charset="2"/>
              <a:buChar char="l"/>
            </a:pPr>
            <a:r>
              <a:rPr lang="zh-CN" altLang="en-US"/>
              <a:t>可以生成可理解的规则</a:t>
            </a:r>
            <a:br>
              <a:rPr lang="zh-CN" altLang="en-US"/>
            </a:br>
            <a:r>
              <a:rPr lang="zh-CN" altLang="en-US"/>
              <a:t>数据挖掘产生的模式的可理解度是判别数据挖掘算法的主要指标之一，相比于一些数据挖掘算法，决策树算法产生的规则比较容易理解，并且决策树模型的建立过程也很直观。</a:t>
            </a:r>
          </a:p>
          <a:p>
            <a:pPr marL="446088" lvl="0" indent="-446088" eaLnBrk="1" hangingPunct="1">
              <a:buClr>
                <a:srgbClr val="CC0000"/>
              </a:buClr>
              <a:buSzPct val="70000"/>
              <a:buFont typeface="Wingdings" pitchFamily="2" charset="2"/>
              <a:buChar char="l"/>
            </a:pPr>
            <a:r>
              <a:rPr lang="zh-CN" altLang="en-US"/>
              <a:t>计算量较小。</a:t>
            </a:r>
          </a:p>
          <a:p>
            <a:pPr marL="446088" lvl="0" indent="-446088" eaLnBrk="1" hangingPunct="1">
              <a:buClr>
                <a:srgbClr val="CC0000"/>
              </a:buClr>
              <a:buSzPct val="70000"/>
              <a:buFont typeface="Wingdings" pitchFamily="2" charset="2"/>
              <a:buChar char="l"/>
            </a:pPr>
            <a:r>
              <a:rPr lang="zh-CN" altLang="en-US"/>
              <a:t>可以处理连续和集合属性。</a:t>
            </a:r>
          </a:p>
          <a:p>
            <a:pPr marL="446088" lvl="0" indent="-446088" eaLnBrk="1" hangingPunct="1">
              <a:buClr>
                <a:srgbClr val="CC0000"/>
              </a:buClr>
              <a:buSzPct val="70000"/>
              <a:buFont typeface="Wingdings" pitchFamily="2" charset="2"/>
              <a:buChar char="l"/>
            </a:pPr>
            <a:r>
              <a:rPr lang="zh-CN" altLang="en-US"/>
              <a:t>决策树的输出包含属性的排序</a:t>
            </a:r>
            <a:br>
              <a:rPr lang="zh-CN" altLang="en-US"/>
            </a:br>
            <a:r>
              <a:rPr lang="zh-CN" altLang="en-US"/>
              <a:t>生成决策树时，按照最大信息增益选择测试属性，</a:t>
            </a:r>
            <a:br>
              <a:rPr lang="zh-CN" altLang="en-US"/>
            </a:br>
            <a:r>
              <a:rPr lang="zh-CN" altLang="en-US"/>
              <a:t>因此，在决策树中可以大致判断属性的相对重要性。</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4.1.1 </a:t>
            </a:r>
            <a:r>
              <a:rPr lang="zh-CN" altLang="en-US"/>
              <a:t>决策树的基本知识</a:t>
            </a:r>
            <a:r>
              <a:rPr lang="en-US" altLang="zh-CN" sz="800"/>
              <a:t>-2</a:t>
            </a:r>
          </a:p>
        </p:txBody>
      </p:sp>
      <p:sp>
        <p:nvSpPr>
          <p:cNvPr id="21507"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446088" indent="-446088"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446088" lvl="0" indent="-446088" eaLnBrk="1" hangingPunct="1"/>
            <a:r>
              <a:rPr lang="zh-CN" altLang="en-US"/>
              <a:t>决策树方法的缺点</a:t>
            </a:r>
            <a:r>
              <a:rPr lang="en-US" altLang="zh-CN" sz="2000"/>
              <a:t>:</a:t>
            </a:r>
          </a:p>
          <a:p>
            <a:pPr marL="446088" lvl="0" indent="-446088" eaLnBrk="1" hangingPunct="1">
              <a:buClr>
                <a:srgbClr val="CC0000"/>
              </a:buClr>
              <a:buFont typeface="Wingdings" pitchFamily="2" charset="2"/>
              <a:buChar char="l"/>
            </a:pPr>
            <a:r>
              <a:rPr lang="zh-CN" altLang="en-US" sz="2000"/>
              <a:t>对于具有连续值的属性预测比较困难。 </a:t>
            </a:r>
            <a:r>
              <a:rPr lang="en-US" altLang="zh-CN" sz="2000"/>
              <a:t>-</a:t>
            </a:r>
          </a:p>
          <a:p>
            <a:pPr marL="446088" lvl="0" indent="-446088" eaLnBrk="1" hangingPunct="1">
              <a:buClr>
                <a:srgbClr val="CC0000"/>
              </a:buClr>
              <a:buFont typeface="Wingdings" pitchFamily="2" charset="2"/>
              <a:buChar char="l"/>
            </a:pPr>
            <a:r>
              <a:rPr lang="zh-CN" altLang="en-US" sz="2000"/>
              <a:t>对于顺序相关的数据，需要很多预处理的工作。</a:t>
            </a:r>
          </a:p>
          <a:p>
            <a:pPr marL="446088" lvl="0" indent="-446088" eaLnBrk="1" hangingPunct="1">
              <a:buClr>
                <a:srgbClr val="CC0000"/>
              </a:buClr>
              <a:buFont typeface="Wingdings" pitchFamily="2" charset="2"/>
              <a:buChar char="l"/>
            </a:pPr>
            <a:r>
              <a:rPr lang="zh-CN" altLang="en-US" sz="2000"/>
              <a:t>当类别太多时，通常会增加误差</a:t>
            </a:r>
          </a:p>
          <a:p>
            <a:pPr marL="446088" lvl="0" indent="-446088" eaLnBrk="1" hangingPunct="1">
              <a:buClr>
                <a:srgbClr val="CC0000"/>
              </a:buClr>
              <a:buFont typeface="Wingdings" pitchFamily="2" charset="2"/>
              <a:buChar char="l"/>
            </a:pPr>
            <a:r>
              <a:rPr lang="zh-CN" altLang="en-US" sz="2000"/>
              <a:t>分枝间的拆分不够平滑，进行拆分时，不考虑其对将来拆分的影响。</a:t>
            </a:r>
          </a:p>
          <a:p>
            <a:pPr marL="446088" lvl="0" indent="-446088" eaLnBrk="1" hangingPunct="1">
              <a:buClr>
                <a:srgbClr val="CC0000"/>
              </a:buClr>
              <a:buFont typeface="Wingdings" pitchFamily="2" charset="2"/>
              <a:buChar char="l"/>
            </a:pPr>
            <a:r>
              <a:rPr lang="zh-CN" altLang="en-US" sz="2000"/>
              <a:t>缺值数据处理问题</a:t>
            </a:r>
            <a:r>
              <a:rPr lang="en-US" altLang="zh-CN" sz="2000"/>
              <a:t>: </a:t>
            </a:r>
            <a:r>
              <a:rPr lang="zh-CN" altLang="en-US" sz="2000"/>
              <a:t>因为决策树进行分类预测时，完全基于数据的测试属性，所以对于测试属性缺失的数据，决策树将无法处理。</a:t>
            </a:r>
          </a:p>
          <a:p>
            <a:pPr marL="446088" lvl="0" indent="-446088" eaLnBrk="1" hangingPunct="1">
              <a:buClr>
                <a:srgbClr val="CC0000"/>
              </a:buClr>
              <a:buFont typeface="Wingdings" pitchFamily="2" charset="2"/>
              <a:buChar char="l"/>
            </a:pPr>
            <a:r>
              <a:rPr lang="zh-CN" altLang="en-US" sz="2000"/>
              <a:t>通常仅根据单个属性来分类</a:t>
            </a:r>
            <a:r>
              <a:rPr lang="en-US" altLang="zh-CN" sz="2000"/>
              <a:t>: </a:t>
            </a:r>
            <a:r>
              <a:rPr lang="zh-CN" altLang="en-US" sz="2000"/>
              <a:t>决策树方法根据单个属性对数据进行</a:t>
            </a:r>
            <a:br>
              <a:rPr lang="zh-CN" altLang="en-US" sz="2000"/>
            </a:br>
            <a:r>
              <a:rPr lang="zh-CN" altLang="en-US" sz="2000"/>
              <a:t>分类，而在实际的分类系统中，类的划分不仅仅与单个属性有关，往往与一个属性集有关。因此，将决策树算法推广到考虑多属性</a:t>
            </a:r>
            <a:br>
              <a:rPr lang="zh-CN" altLang="en-US" sz="2000"/>
            </a:br>
            <a:r>
              <a:rPr lang="zh-CN" altLang="en-US" sz="2000"/>
              <a:t>是一个有待研究的课题。</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4.1.1 </a:t>
            </a:r>
            <a:r>
              <a:rPr lang="zh-CN" altLang="en-US"/>
              <a:t>决策树的基本知识</a:t>
            </a:r>
            <a:r>
              <a:rPr lang="en-US" altLang="zh-CN" sz="800"/>
              <a:t>-2</a:t>
            </a:r>
          </a:p>
        </p:txBody>
      </p:sp>
      <p:sp>
        <p:nvSpPr>
          <p:cNvPr id="22531"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446088" indent="-446088"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446088" lvl="0" indent="-446088" eaLnBrk="1" hangingPunct="1"/>
            <a:r>
              <a:rPr lang="zh-CN" altLang="en-US"/>
              <a:t>决策树学习算法适用的问题</a:t>
            </a:r>
            <a:r>
              <a:rPr lang="en-US" altLang="zh-CN"/>
              <a:t>:</a:t>
            </a:r>
          </a:p>
          <a:p>
            <a:pPr marL="446088" lvl="0" indent="-446088" eaLnBrk="1" hangingPunct="1">
              <a:buClr>
                <a:srgbClr val="CC0000"/>
              </a:buClr>
              <a:buFont typeface="Wingdings" pitchFamily="2" charset="2"/>
              <a:buChar char="l"/>
            </a:pPr>
            <a:r>
              <a:rPr lang="zh-CN" altLang="en-US"/>
              <a:t>样本可以用“属性</a:t>
            </a:r>
            <a:r>
              <a:rPr lang="en-US" altLang="zh-CN"/>
              <a:t>-</a:t>
            </a:r>
            <a:r>
              <a:rPr lang="zh-CN" altLang="en-US"/>
              <a:t>值”的方式来描述</a:t>
            </a:r>
          </a:p>
          <a:p>
            <a:pPr marL="446088" lvl="0" indent="-446088" eaLnBrk="1" hangingPunct="1">
              <a:buClr>
                <a:srgbClr val="CC0000"/>
              </a:buClr>
              <a:buFont typeface="Wingdings" pitchFamily="2" charset="2"/>
              <a:buChar char="l"/>
            </a:pPr>
            <a:r>
              <a:rPr lang="zh-CN" altLang="en-US"/>
              <a:t>目标函数的输出值为离散值</a:t>
            </a:r>
          </a:p>
          <a:p>
            <a:pPr marL="446088" lvl="0" indent="-446088" eaLnBrk="1" hangingPunct="1">
              <a:buClr>
                <a:srgbClr val="CC0000"/>
              </a:buClr>
              <a:buFont typeface="Wingdings" pitchFamily="2" charset="2"/>
              <a:buChar char="l"/>
            </a:pPr>
            <a:r>
              <a:rPr lang="zh-CN" altLang="en-US"/>
              <a:t>训练数据中允许包含有错误</a:t>
            </a:r>
            <a:r>
              <a:rPr lang="en-US" altLang="zh-CN"/>
              <a:t>: </a:t>
            </a:r>
            <a:br>
              <a:rPr lang="en-US" altLang="zh-CN"/>
            </a:br>
            <a:r>
              <a:rPr lang="zh-CN" altLang="en-US"/>
              <a:t>样本的分类错误或属性值错误都允许</a:t>
            </a:r>
          </a:p>
          <a:p>
            <a:pPr marL="446088" lvl="0" indent="-446088" eaLnBrk="1" hangingPunct="1">
              <a:buClr>
                <a:srgbClr val="CC0000"/>
              </a:buClr>
              <a:buFont typeface="Wingdings" pitchFamily="2" charset="2"/>
              <a:buChar char="l"/>
            </a:pPr>
            <a:r>
              <a:rPr lang="zh-CN" altLang="en-US"/>
              <a:t>训练数据中有样本属性值缺失</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§4.1 	</a:t>
            </a:r>
            <a:r>
              <a:rPr lang="zh-CN" altLang="en-US"/>
              <a:t>决策树介绍</a:t>
            </a:r>
            <a:r>
              <a:rPr lang="en-US" altLang="zh-CN" sz="800"/>
              <a:t>-2</a:t>
            </a:r>
          </a:p>
        </p:txBody>
      </p:sp>
      <p:sp>
        <p:nvSpPr>
          <p:cNvPr id="23555"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sz="2600">
                <a:solidFill>
                  <a:srgbClr val="0033CC"/>
                </a:solidFill>
              </a:rPr>
              <a:t>4.1.2 </a:t>
            </a:r>
            <a:r>
              <a:rPr lang="zh-CN" altLang="en-US" sz="2600">
                <a:solidFill>
                  <a:srgbClr val="0033CC"/>
                </a:solidFill>
              </a:rPr>
              <a:t>决策树的应用和发展趋势</a:t>
            </a:r>
          </a:p>
          <a:p>
            <a:pPr marL="0" lvl="0" indent="0" eaLnBrk="1" hangingPunct="1"/>
            <a:r>
              <a:rPr lang="zh-CN" altLang="en-US" sz="2200"/>
              <a:t>	决策树由于结构简单、效率高等优点而获得了广泛的应用。在国外，决策树在商业、工业、天文、医学、风险分析、社会科学和分类学等领域的应用已经取得了很好的经济和社会效益。</a:t>
            </a:r>
            <a:br>
              <a:rPr lang="zh-CN" altLang="en-US" sz="2200"/>
            </a:br>
            <a:r>
              <a:rPr lang="zh-CN" altLang="en-US" sz="2200"/>
              <a:t>国内目前有关决策树的研究多是围绕算法的改进以及决策树在商业、工业等领域的运用。</a:t>
            </a:r>
          </a:p>
          <a:p>
            <a:pPr marL="0" lvl="0" indent="0" eaLnBrk="1" hangingPunct="1">
              <a:buClr>
                <a:srgbClr val="CC0000"/>
              </a:buClr>
              <a:buSzPct val="70000"/>
              <a:buFont typeface="Wingdings" pitchFamily="2" charset="2"/>
              <a:buChar char="l"/>
            </a:pPr>
            <a:r>
              <a:rPr lang="zh-CN" altLang="en-US" sz="2200"/>
              <a:t>  在商业领域，决策树方法所能解决的典型商业问题有</a:t>
            </a:r>
            <a:r>
              <a:rPr lang="en-US" altLang="zh-CN" sz="2200"/>
              <a:t>:</a:t>
            </a:r>
            <a:r>
              <a:rPr lang="zh-CN" altLang="en-US" sz="2200"/>
              <a:t>客户关系</a:t>
            </a:r>
            <a:br>
              <a:rPr lang="zh-CN" altLang="en-US" sz="2200"/>
            </a:br>
            <a:r>
              <a:rPr lang="zh-CN" altLang="en-US" sz="2200"/>
              <a:t>     管理、数据库营销、客户群体划分、交叉销售等市场分析</a:t>
            </a:r>
            <a:br>
              <a:rPr lang="zh-CN" altLang="en-US" sz="2200"/>
            </a:br>
            <a:r>
              <a:rPr lang="zh-CN" altLang="en-US" sz="2200"/>
              <a:t>     行为，以及客户流失分析、客户信用计分及欺诈发现，等等。</a:t>
            </a:r>
          </a:p>
          <a:p>
            <a:pPr marL="0" lvl="0" indent="0" eaLnBrk="1" hangingPunct="1">
              <a:buClr>
                <a:srgbClr val="CC0000"/>
              </a:buClr>
              <a:buSzPct val="70000"/>
              <a:buFont typeface="Wingdings" pitchFamily="2" charset="2"/>
              <a:buChar char="l"/>
            </a:pPr>
            <a:r>
              <a:rPr lang="zh-CN" altLang="en-US" sz="2200"/>
              <a:t> 在工业领域，决策树可以用于故障诊断、工业生产过程控制等。</a:t>
            </a:r>
          </a:p>
          <a:p>
            <a:pPr marL="0" lvl="0" indent="0" eaLnBrk="1" hangingPunct="1">
              <a:buClr>
                <a:srgbClr val="CC0000"/>
              </a:buClr>
              <a:buSzPct val="70000"/>
              <a:buFont typeface="Wingdings" pitchFamily="2" charset="2"/>
              <a:buChar char="l"/>
            </a:pPr>
            <a:r>
              <a:rPr lang="zh-CN" altLang="en-US" sz="2200"/>
              <a:t> 在医学领域，决策树方法可用于疾病诊断治疔、</a:t>
            </a:r>
            <a:br>
              <a:rPr lang="zh-CN" altLang="en-US" sz="2200"/>
            </a:br>
            <a:r>
              <a:rPr lang="zh-CN" altLang="en-US" sz="2200"/>
              <a:t>    基因与高分子序列分析、医院信息系统挖掘及医疗政策分析等。</a:t>
            </a:r>
          </a:p>
          <a:p>
            <a:pPr marL="0" lvl="0" indent="0" eaLnBrk="1" hangingPunct="1"/>
            <a:endParaRPr lang="en-US" altLang="zh-CN" sz="220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idx="4294967295"/>
          </p:nvPr>
        </p:nvSpPr>
        <p:spPr>
          <a:xfrm>
            <a:off x="468312" y="1268412"/>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algn="ctr" eaLnBrk="1" hangingPunct="1"/>
            <a:r>
              <a:rPr lang="en-US" altLang="zh-CN" sz="3600"/>
              <a:t>§4.2  </a:t>
            </a:r>
            <a:r>
              <a:rPr lang="zh-CN" altLang="en-US" sz="3600"/>
              <a:t>树的建模过程</a:t>
            </a:r>
            <a:endParaRPr lang="zh-CN" altLang="en-US" sz="800"/>
          </a:p>
        </p:txBody>
      </p:sp>
      <p:sp>
        <p:nvSpPr>
          <p:cNvPr id="24579" name="Rectangle 3"/>
          <p:cNvSpPr>
            <a:spLocks noGrp="1"/>
          </p:cNvSpPr>
          <p:nvPr>
            <p:ph type="body" idx="4294967295"/>
          </p:nvPr>
        </p:nvSpPr>
        <p:spPr>
          <a:xfrm>
            <a:off x="457200" y="2420938"/>
            <a:ext cx="8229600" cy="3446462"/>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endParaRPr lang="zh-CN" altLang="zh-CN"/>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 	</a:t>
            </a:r>
            <a:r>
              <a:rPr lang="zh-CN" altLang="en-US"/>
              <a:t>树的建模过程</a:t>
            </a:r>
          </a:p>
        </p:txBody>
      </p:sp>
      <p:sp>
        <p:nvSpPr>
          <p:cNvPr id="25603"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决策树算法通过构造决策树来发现数据中蕴涵的分类规则，包含许多种不同的算法，主要可以分为三类</a:t>
            </a:r>
            <a:r>
              <a:rPr lang="en-US" altLang="zh-CN"/>
              <a:t>:</a:t>
            </a:r>
          </a:p>
          <a:p>
            <a:pPr marL="0" lvl="0" indent="0" eaLnBrk="1" hangingPunct="1"/>
            <a:r>
              <a:rPr lang="en-US" altLang="zh-CN"/>
              <a:t>(1)</a:t>
            </a:r>
            <a:r>
              <a:rPr lang="zh-CN" altLang="en-US"/>
              <a:t>基于统计学理论的方法，以</a:t>
            </a:r>
            <a:r>
              <a:rPr lang="en-US" altLang="zh-CN"/>
              <a:t>CART</a:t>
            </a:r>
            <a:r>
              <a:rPr lang="zh-CN" altLang="en-US"/>
              <a:t>为代表，在这类算法中，对于非终端节点来说，有两个分枝 </a:t>
            </a:r>
            <a:r>
              <a:rPr lang="en-US" altLang="zh-CN"/>
              <a:t>;</a:t>
            </a:r>
          </a:p>
          <a:p>
            <a:pPr marL="0" lvl="0" indent="0" eaLnBrk="1" hangingPunct="1"/>
            <a:r>
              <a:rPr lang="en-US" altLang="zh-CN"/>
              <a:t>(2)</a:t>
            </a:r>
            <a:r>
              <a:rPr lang="zh-CN" altLang="en-US"/>
              <a:t>基于信息理论的方法，以</a:t>
            </a:r>
            <a:r>
              <a:rPr lang="en-US" altLang="zh-CN"/>
              <a:t>ID3</a:t>
            </a:r>
            <a:r>
              <a:rPr lang="zh-CN" altLang="en-US"/>
              <a:t>算法为代表，此类算法中，非终端的节点的分枝由样本类别个数决定 </a:t>
            </a:r>
            <a:r>
              <a:rPr lang="en-US" altLang="zh-CN"/>
              <a:t>;</a:t>
            </a:r>
          </a:p>
          <a:p>
            <a:pPr marL="0" lvl="0" indent="0" eaLnBrk="1" hangingPunct="1"/>
            <a:r>
              <a:rPr lang="en-US" altLang="zh-CN"/>
              <a:t>(3)</a:t>
            </a:r>
            <a:r>
              <a:rPr lang="zh-CN" altLang="en-US"/>
              <a:t>以</a:t>
            </a:r>
            <a:r>
              <a:rPr lang="en-US" altLang="zh-CN"/>
              <a:t>AID</a:t>
            </a:r>
            <a:r>
              <a:rPr lang="zh-CN" altLang="en-US"/>
              <a:t>，</a:t>
            </a:r>
            <a:r>
              <a:rPr lang="en-US" altLang="zh-CN"/>
              <a:t>CHAD</a:t>
            </a:r>
            <a:r>
              <a:rPr lang="zh-CN" altLang="en-US"/>
              <a:t>为代表的算法，在此类算法中，非终端节点的分枝数在</a:t>
            </a:r>
            <a:r>
              <a:rPr lang="en-US" altLang="zh-CN"/>
              <a:t>2</a:t>
            </a:r>
            <a:r>
              <a:rPr lang="zh-CN" altLang="en-US"/>
              <a:t>至样本类别个数范围内分布。</a:t>
            </a:r>
          </a:p>
          <a:p>
            <a:pPr marL="0" lvl="0" indent="0" eaLnBrk="1" hangingPunct="1"/>
            <a:r>
              <a:rPr lang="zh-CN" altLang="en-US"/>
              <a:t>这些算法在分类中应用的过程与思想基本上是一致的。</a:t>
            </a:r>
          </a:p>
          <a:p>
            <a:pPr marL="0" lvl="0" indent="0" eaLnBrk="1" hangingPunct="1"/>
            <a:r>
              <a:rPr lang="zh-CN" altLang="en-US"/>
              <a:t>如何构造</a:t>
            </a:r>
            <a:r>
              <a:rPr lang="zh-CN" altLang="en-US" u="sng"/>
              <a:t>精度高、规模小的决策树</a:t>
            </a:r>
            <a:r>
              <a:rPr lang="zh-CN" altLang="en-US"/>
              <a:t>是决策树算法的</a:t>
            </a:r>
            <a:r>
              <a:rPr lang="zh-CN" altLang="en-US">
                <a:solidFill>
                  <a:srgbClr val="0033CC"/>
                </a:solidFill>
              </a:rPr>
              <a:t>核心内容</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 	</a:t>
            </a:r>
            <a:r>
              <a:rPr lang="zh-CN" altLang="en-US"/>
              <a:t>树的建模过程</a:t>
            </a:r>
            <a:r>
              <a:rPr lang="en-US" altLang="zh-CN"/>
              <a:t>—</a:t>
            </a:r>
            <a:r>
              <a:rPr lang="zh-CN" altLang="en-US"/>
              <a:t>总体步骤</a:t>
            </a:r>
          </a:p>
        </p:txBody>
      </p:sp>
      <p:sp>
        <p:nvSpPr>
          <p:cNvPr id="26627"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lnSpc>
                <a:spcPct val="110000"/>
              </a:lnSpc>
            </a:pPr>
            <a:r>
              <a:rPr lang="zh-CN" altLang="en-US"/>
              <a:t>决策树的构造基本可以分为如下两步</a:t>
            </a:r>
            <a:r>
              <a:rPr lang="en-US" altLang="zh-CN"/>
              <a:t>:</a:t>
            </a:r>
          </a:p>
          <a:p>
            <a:pPr marL="0" lvl="0" indent="0" eaLnBrk="1" hangingPunct="1">
              <a:lnSpc>
                <a:spcPct val="110000"/>
              </a:lnSpc>
              <a:buClr>
                <a:srgbClr val="FF3300"/>
              </a:buClr>
              <a:buFont typeface="Wingdings" pitchFamily="2" charset="2"/>
              <a:buChar char="l"/>
            </a:pPr>
            <a:r>
              <a:rPr lang="zh-CN" altLang="en-US"/>
              <a:t>决策树的生成</a:t>
            </a:r>
          </a:p>
          <a:p>
            <a:pPr marL="0" lvl="0" indent="0" eaLnBrk="1" hangingPunct="1">
              <a:lnSpc>
                <a:spcPct val="110000"/>
              </a:lnSpc>
              <a:buClr>
                <a:srgbClr val="FF3300"/>
              </a:buClr>
            </a:pPr>
            <a:r>
              <a:rPr lang="zh-CN" altLang="en-US"/>
              <a:t>	决策树的生成是指由</a:t>
            </a:r>
            <a:r>
              <a:rPr lang="zh-CN" altLang="en-US" u="sng">
                <a:solidFill>
                  <a:srgbClr val="0033CC"/>
                </a:solidFill>
              </a:rPr>
              <a:t>训练样本数据集</a:t>
            </a:r>
            <a:r>
              <a:rPr lang="zh-CN" altLang="en-US"/>
              <a:t>生成决策树的过程。一般情况下，训练样本数据集是根据实际需要由实际的历史数据生成的、有一定综合程度的、用于数据分析处理的</a:t>
            </a:r>
            <a:br>
              <a:rPr lang="zh-CN" altLang="en-US"/>
            </a:br>
            <a:r>
              <a:rPr lang="zh-CN" altLang="en-US"/>
              <a:t>数据集。</a:t>
            </a:r>
          </a:p>
          <a:p>
            <a:pPr marL="0" lvl="0" indent="0" eaLnBrk="1" hangingPunct="1">
              <a:lnSpc>
                <a:spcPct val="110000"/>
              </a:lnSpc>
              <a:buClr>
                <a:srgbClr val="FF3300"/>
              </a:buClr>
              <a:buFont typeface="Wingdings" pitchFamily="2" charset="2"/>
              <a:buChar char="l"/>
            </a:pPr>
            <a:r>
              <a:rPr lang="zh-CN" altLang="en-US"/>
              <a:t>决策树的剪枝</a:t>
            </a:r>
          </a:p>
          <a:p>
            <a:pPr marL="0" lvl="0" indent="0" eaLnBrk="1" hangingPunct="1">
              <a:lnSpc>
                <a:spcPct val="110000"/>
              </a:lnSpc>
              <a:buClr>
                <a:srgbClr val="FF3300"/>
              </a:buClr>
            </a:pPr>
            <a:r>
              <a:rPr lang="zh-CN" altLang="en-US"/>
              <a:t>	决策树剪枝是对上一阶段所生成的决策树进行检验、</a:t>
            </a:r>
            <a:br>
              <a:rPr lang="zh-CN" altLang="en-US"/>
            </a:br>
            <a:r>
              <a:rPr lang="zh-CN" altLang="en-US"/>
              <a:t>校正和修正的过程，主要是采用新的样本数据集</a:t>
            </a:r>
            <a:r>
              <a:rPr lang="en-US" altLang="zh-CN"/>
              <a:t>(</a:t>
            </a:r>
            <a:r>
              <a:rPr lang="zh-CN" altLang="en-US"/>
              <a:t>称为</a:t>
            </a:r>
            <a:br>
              <a:rPr lang="zh-CN" altLang="en-US"/>
            </a:br>
            <a:r>
              <a:rPr lang="zh-CN" altLang="en-US" u="sng">
                <a:solidFill>
                  <a:srgbClr val="0033CC"/>
                </a:solidFill>
              </a:rPr>
              <a:t>测试数据集</a:t>
            </a:r>
            <a:r>
              <a:rPr lang="en-US" altLang="zh-CN"/>
              <a:t>)</a:t>
            </a:r>
            <a:r>
              <a:rPr lang="zh-CN" altLang="en-US"/>
              <a:t>中的数据检验决策树生成过程中产生的初步</a:t>
            </a:r>
            <a:br>
              <a:rPr lang="zh-CN" altLang="en-US"/>
            </a:br>
            <a:r>
              <a:rPr lang="zh-CN" altLang="en-US"/>
              <a:t>规则，将那些影响预测准确性的分枝剪除。一般情况下，根据测试数据集中的每一元组对生成的规则进行预测准确性的检验，如果预测准确性过低，则将该分枝剪除。</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childTnLst>
                                    <p:set>
                                      <p:cBhvr additive="base">
                                        <p:cTn id="6" dur="1" fill="hold">
                                          <p:stCondLst>
                                            <p:cond delay="0"/>
                                          </p:stCondLst>
                                        </p:cTn>
                                        <p:tgtEl>
                                          <p:spTgt spid="26627">
                                            <p:txEl>
                                              <p:pRg st="1" end="1"/>
                                            </p:txEl>
                                          </p:spTgt>
                                        </p:tgtEl>
                                        <p:attrNameLst>
                                          <p:attrName>style.visibility</p:attrName>
                                        </p:attrNameLst>
                                      </p:cBhvr>
                                      <p:to>
                                        <p:strVal val="visible"/>
                                      </p:to>
                                    </p:set>
                                    <p:animEffect transition="in" filter="wipe(left)">
                                      <p:cBhvr additive="base">
                                        <p:cTn id="7" dur="500"/>
                                        <p:tgtEl>
                                          <p:spTgt spid="26627">
                                            <p:txEl>
                                              <p:pRg st="1" end="1"/>
                                            </p:txEl>
                                          </p:spTgt>
                                        </p:tgtEl>
                                      </p:cBhvr>
                                    </p:animEffect>
                                  </p:childTnLst>
                                </p:cTn>
                              </p:par>
                            </p:childTnLst>
                          </p:cTn>
                        </p:par>
                        <p:par>
                          <p:cTn id="8" fill="hold" nodeType="withGroup">
                            <p:stCondLst>
                              <p:cond delay="500"/>
                            </p:stCondLst>
                            <p:childTnLst>
                              <p:par>
                                <p:cTn id="9" presetID="22" presetClass="entr" presetSubtype="8" fill="hold" grpId="0" nodeType="afterEffect">
                                  <p:childTnLst>
                                    <p:set>
                                      <p:cBhvr additive="base">
                                        <p:cTn id="10" dur="1" fill="hold">
                                          <p:stCondLst>
                                            <p:cond delay="0"/>
                                          </p:stCondLst>
                                        </p:cTn>
                                        <p:tgtEl>
                                          <p:spTgt spid="26627">
                                            <p:txEl>
                                              <p:pRg st="3" end="3"/>
                                            </p:txEl>
                                          </p:spTgt>
                                        </p:tgtEl>
                                        <p:attrNameLst>
                                          <p:attrName>style.visibility</p:attrName>
                                        </p:attrNameLst>
                                      </p:cBhvr>
                                      <p:to>
                                        <p:strVal val="visible"/>
                                      </p:to>
                                    </p:set>
                                    <p:animEffect transition="in" filter="wipe(left)">
                                      <p:cBhvr additive="base">
                                        <p:cTn id="11" dur="500"/>
                                        <p:tgtEl>
                                          <p:spTgt spid="26627">
                                            <p:txEl>
                                              <p:pRg st="3" end="3"/>
                                            </p:txEl>
                                          </p:spTgt>
                                        </p:tgtEl>
                                      </p:cBhvr>
                                    </p:animEffect>
                                  </p:childTnLst>
                                </p:cTn>
                              </p:par>
                            </p:childTnLst>
                          </p:cTn>
                        </p:par>
                      </p:childTnLst>
                    </p:cTn>
                  </p:par>
                  <p:par>
                    <p:cTn id="12" fill="hold" nodeType="clickPar">
                      <p:stCondLst>
                        <p:cond delay="indefinite"/>
                      </p:stCondLst>
                      <p:childTnLst>
                        <p:par>
                          <p:cTn id="13" fill="hold" nodeType="withGroup">
                            <p:stCondLst>
                              <p:cond delay="indefinite"/>
                            </p:stCondLst>
                          </p:cTn>
                        </p:par>
                        <p:par>
                          <p:cTn id="14" fill="hold" nodeType="afterGroup">
                            <p:stCondLst>
                              <p:cond delay="0"/>
                            </p:stCondLst>
                            <p:childTnLst>
                              <p:par>
                                <p:cTn id="15" presetID="22" presetClass="entr" presetSubtype="8" fill="hold" grpId="0" nodeType="clickEffect">
                                  <p:childTnLst>
                                    <p:set>
                                      <p:cBhvr additive="base">
                                        <p:cTn id="16" dur="1" fill="hold">
                                          <p:stCondLst>
                                            <p:cond delay="0"/>
                                          </p:stCondLst>
                                        </p:cTn>
                                        <p:tgtEl>
                                          <p:spTgt spid="26627">
                                            <p:txEl>
                                              <p:pRg st="2" end="2"/>
                                            </p:txEl>
                                          </p:spTgt>
                                        </p:tgtEl>
                                        <p:attrNameLst>
                                          <p:attrName>style.visibility</p:attrName>
                                        </p:attrNameLst>
                                      </p:cBhvr>
                                      <p:to>
                                        <p:strVal val="visible"/>
                                      </p:to>
                                    </p:set>
                                    <p:animEffect transition="in" filter="wipe(left)">
                                      <p:cBhvr additive="base">
                                        <p:cTn id="17" dur="500"/>
                                        <p:tgtEl>
                                          <p:spTgt spid="266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indefinite"/>
                            </p:stCondLst>
                          </p:cTn>
                        </p:par>
                        <p:par>
                          <p:cTn id="20" fill="hold" nodeType="afterGroup">
                            <p:stCondLst>
                              <p:cond delay="0"/>
                            </p:stCondLst>
                            <p:childTnLst>
                              <p:par>
                                <p:cTn id="21" presetID="22" presetClass="entr" presetSubtype="8" fill="hold" grpId="0" nodeType="clickEffect">
                                  <p:childTnLst>
                                    <p:set>
                                      <p:cBhvr additive="base">
                                        <p:cTn id="22" dur="1" fill="hold">
                                          <p:stCondLst>
                                            <p:cond delay="0"/>
                                          </p:stCondLst>
                                        </p:cTn>
                                        <p:tgtEl>
                                          <p:spTgt spid="26627">
                                            <p:txEl>
                                              <p:pRg st="4" end="4"/>
                                            </p:txEl>
                                          </p:spTgt>
                                        </p:tgtEl>
                                        <p:attrNameLst>
                                          <p:attrName>style.visibility</p:attrName>
                                        </p:attrNameLst>
                                      </p:cBhvr>
                                      <p:to>
                                        <p:strVal val="visible"/>
                                      </p:to>
                                    </p:set>
                                    <p:animEffect transition="in" filter="wipe(left)">
                                      <p:cBhvr additive="base">
                                        <p:cTn id="23" dur="5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 	</a:t>
            </a:r>
            <a:r>
              <a:rPr lang="zh-CN" altLang="en-US"/>
              <a:t>树的建模过程</a:t>
            </a:r>
          </a:p>
        </p:txBody>
      </p:sp>
      <p:sp>
        <p:nvSpPr>
          <p:cNvPr id="27651"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sz="2800">
                <a:solidFill>
                  <a:srgbClr val="0033CC"/>
                </a:solidFill>
              </a:rPr>
              <a:t>4.2.1 </a:t>
            </a:r>
            <a:r>
              <a:rPr lang="zh-CN" altLang="en-US" sz="2800">
                <a:solidFill>
                  <a:srgbClr val="0033CC"/>
                </a:solidFill>
              </a:rPr>
              <a:t>数据要求</a:t>
            </a:r>
            <a:r>
              <a:rPr lang="en-US" altLang="zh-CN" sz="2800">
                <a:solidFill>
                  <a:srgbClr val="0033CC"/>
                </a:solidFill>
              </a:rPr>
              <a:t>(</a:t>
            </a:r>
            <a:r>
              <a:rPr lang="zh-CN" altLang="en-US" sz="2800">
                <a:solidFill>
                  <a:srgbClr val="0033CC"/>
                </a:solidFill>
              </a:rPr>
              <a:t>数据准备</a:t>
            </a:r>
            <a:r>
              <a:rPr lang="en-US" altLang="zh-CN" sz="2800">
                <a:solidFill>
                  <a:srgbClr val="0033CC"/>
                </a:solidFill>
              </a:rPr>
              <a:t>)</a:t>
            </a:r>
          </a:p>
          <a:p>
            <a:pPr marL="0" lvl="0" indent="0" eaLnBrk="1" hangingPunct="1"/>
            <a:r>
              <a:rPr lang="en-US" altLang="zh-CN"/>
              <a:t>	</a:t>
            </a:r>
            <a:r>
              <a:rPr lang="zh-CN" altLang="en-US"/>
              <a:t>在进行分类和预测挖掘之前，首先必须准备好有关挖掘数据。一般需要对数据进行以下预处理，以帮助提高分类和预测过程的准确性、有效性和可伸缩性。主要的工作包括：</a:t>
            </a:r>
          </a:p>
          <a:p>
            <a:pPr marL="0" lvl="0" indent="0" eaLnBrk="1" hangingPunct="1">
              <a:buFont typeface="Wingdings" pitchFamily="2" charset="2"/>
              <a:buChar char="n"/>
            </a:pPr>
            <a:r>
              <a:rPr lang="zh-CN" altLang="en-US"/>
              <a:t>    数据清洗</a:t>
            </a:r>
          </a:p>
          <a:p>
            <a:pPr marL="0" lvl="0" indent="0" eaLnBrk="1" hangingPunct="1">
              <a:buFont typeface="Wingdings" pitchFamily="2" charset="2"/>
              <a:buChar char="n"/>
            </a:pPr>
            <a:r>
              <a:rPr lang="zh-CN" altLang="en-US"/>
              <a:t>    相关分析</a:t>
            </a:r>
          </a:p>
          <a:p>
            <a:pPr marL="0" lvl="0" indent="0" eaLnBrk="1" hangingPunct="1">
              <a:buFont typeface="Wingdings" pitchFamily="2" charset="2"/>
              <a:buChar char="n"/>
            </a:pPr>
            <a:r>
              <a:rPr lang="zh-CN" altLang="en-US"/>
              <a:t>    数据转换</a:t>
            </a:r>
          </a:p>
          <a:p>
            <a:pPr marL="0" lvl="0" indent="0" eaLnBrk="1" hangingPunct="1"/>
            <a:endParaRPr lang="en-US" altLang="zh-CN"/>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4.2.1 </a:t>
            </a:r>
            <a:r>
              <a:rPr lang="zh-CN" altLang="en-US"/>
              <a:t>数据准备</a:t>
            </a:r>
          </a:p>
        </p:txBody>
      </p:sp>
      <p:sp>
        <p:nvSpPr>
          <p:cNvPr id="28675"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zh-CN" altLang="en-US" sz="2800">
                <a:solidFill>
                  <a:srgbClr val="0033CC"/>
                </a:solidFill>
              </a:rPr>
              <a:t>数据清洗</a:t>
            </a:r>
          </a:p>
          <a:p>
            <a:pPr marL="0" lvl="0" indent="0" eaLnBrk="1" hangingPunct="1"/>
            <a:r>
              <a:rPr lang="zh-CN" altLang="en-US"/>
              <a:t>	这一数据预处理步骤，主要是帮助除去数据中的噪声，并妥善解决缺失数据问题，尽管大多数分类算法都包含一些处理噪声和缺失数据的方法，但这一预处理步骤可以有效</a:t>
            </a:r>
            <a:br>
              <a:rPr lang="zh-CN" altLang="en-US"/>
            </a:br>
            <a:r>
              <a:rPr lang="zh-CN" altLang="en-US"/>
              <a:t>减少学习过程可能出现相互矛盾情况的问题。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childTnLst>
                                    <p:set>
                                      <p:cBhvr additive="base">
                                        <p:cTn id="6" dur="1" fill="hold">
                                          <p:stCondLst>
                                            <p:cond delay="0"/>
                                          </p:stCondLst>
                                        </p:cTn>
                                        <p:tgtEl>
                                          <p:spTgt spid="28675">
                                            <p:txEl>
                                              <p:pRg st="1" end="1"/>
                                            </p:txEl>
                                          </p:spTgt>
                                        </p:tgtEl>
                                        <p:attrNameLst>
                                          <p:attrName>style.visibility</p:attrName>
                                        </p:attrNameLst>
                                      </p:cBhvr>
                                      <p:to>
                                        <p:strVal val="visible"/>
                                      </p:to>
                                    </p:set>
                                    <p:animEffect transition="in" filter="wipe(left)">
                                      <p:cBhvr additive="base">
                                        <p:cTn id="7" dur="500"/>
                                        <p:tgtEl>
                                          <p:spTgt spid="286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4.2.1 </a:t>
            </a:r>
            <a:r>
              <a:rPr lang="zh-CN" altLang="en-US"/>
              <a:t>数据准备</a:t>
            </a:r>
          </a:p>
        </p:txBody>
      </p:sp>
      <p:sp>
        <p:nvSpPr>
          <p:cNvPr id="29699"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zh-CN" altLang="en-US" sz="2800">
                <a:solidFill>
                  <a:srgbClr val="0033CC"/>
                </a:solidFill>
              </a:rPr>
              <a:t>相关分析</a:t>
            </a:r>
          </a:p>
          <a:p>
            <a:pPr marL="0" lvl="0" indent="0" eaLnBrk="1" hangingPunct="1"/>
            <a:r>
              <a:rPr lang="zh-CN" altLang="en-US"/>
              <a:t>	由于数据集中的许多属性与挖掘任务本身可能是无关的，例如记录银行贷款申请</a:t>
            </a:r>
            <a:r>
              <a:rPr lang="en-US" altLang="zh-CN"/>
              <a:t>(</a:t>
            </a:r>
            <a:r>
              <a:rPr lang="zh-CN" altLang="en-US"/>
              <a:t>单</a:t>
            </a:r>
            <a:r>
              <a:rPr lang="en-US" altLang="zh-CN"/>
              <a:t>)</a:t>
            </a:r>
            <a:r>
              <a:rPr lang="zh-CN" altLang="en-US"/>
              <a:t>填写时的星期数</a:t>
            </a:r>
            <a:r>
              <a:rPr lang="en-US" altLang="zh-CN"/>
              <a:t>(</a:t>
            </a:r>
            <a:r>
              <a:rPr lang="zh-CN" altLang="en-US"/>
              <a:t>属性</a:t>
            </a:r>
            <a:r>
              <a:rPr lang="en-US" altLang="zh-CN"/>
              <a:t>)</a:t>
            </a:r>
            <a:r>
              <a:rPr lang="zh-CN" altLang="en-US"/>
              <a:t>，就可能与申请成功与否的描述无关。此外，有些属性也可能是冗余的。因此需要对数据进行相关分析，以使在学习阶段之前就消除无关或冗余属性。在机器学习中，这一相关分析步骤被称为属性选择</a:t>
            </a:r>
            <a:r>
              <a:rPr lang="en-US" altLang="zh-CN"/>
              <a:t>(feature selection) </a:t>
            </a:r>
            <a:r>
              <a:rPr lang="zh-CN" altLang="en-US"/>
              <a:t>，包含与挖掘任务无关的属性可能会减缓甚至误导整个学习过程。在理想情况下，相关分析所花费的时间加上对削减后属性</a:t>
            </a:r>
            <a:r>
              <a:rPr lang="en-US" altLang="zh-CN"/>
              <a:t>(</a:t>
            </a:r>
            <a:r>
              <a:rPr lang="zh-CN" altLang="en-US"/>
              <a:t>子</a:t>
            </a:r>
            <a:r>
              <a:rPr lang="en-US" altLang="zh-CN"/>
              <a:t>)</a:t>
            </a:r>
            <a:r>
              <a:rPr lang="zh-CN" altLang="en-US"/>
              <a:t>集进行归纳</a:t>
            </a:r>
            <a:br>
              <a:rPr lang="zh-CN" altLang="en-US"/>
            </a:br>
            <a:r>
              <a:rPr lang="zh-CN" altLang="en-US"/>
              <a:t>学习所花费的时间之和，应小于从初始属性集进行学习所花费的时间，从而达到帮助改善分类效率和可扩展性的目的。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childTnLst>
                                    <p:set>
                                      <p:cBhvr additive="base">
                                        <p:cTn id="6" dur="1" fill="hold">
                                          <p:stCondLst>
                                            <p:cond delay="0"/>
                                          </p:stCondLst>
                                        </p:cTn>
                                        <p:tgtEl>
                                          <p:spTgt spid="29699">
                                            <p:txEl>
                                              <p:pRg st="1" end="1"/>
                                            </p:txEl>
                                          </p:spTgt>
                                        </p:tgtEl>
                                        <p:attrNameLst>
                                          <p:attrName>style.visibility</p:attrName>
                                        </p:attrNameLst>
                                      </p:cBhvr>
                                      <p:to>
                                        <p:strVal val="visible"/>
                                      </p:to>
                                    </p:set>
                                    <p:animEffect transition="in" filter="wipe(left)">
                                      <p:cBhvr additive="base">
                                        <p:cTn id="7" dur="500"/>
                                        <p:tgtEl>
                                          <p:spTgt spid="296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4.2.1 </a:t>
            </a:r>
            <a:r>
              <a:rPr lang="zh-CN" altLang="en-US"/>
              <a:t>数据准备</a:t>
            </a:r>
          </a:p>
        </p:txBody>
      </p:sp>
      <p:sp>
        <p:nvSpPr>
          <p:cNvPr id="30723"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zh-CN" altLang="en-US" sz="2800">
                <a:solidFill>
                  <a:srgbClr val="0033CC"/>
                </a:solidFill>
              </a:rPr>
              <a:t>数据转换</a:t>
            </a:r>
          </a:p>
          <a:p>
            <a:pPr marL="0" lvl="0" indent="0" eaLnBrk="1" hangingPunct="1"/>
            <a:r>
              <a:rPr lang="zh-CN" altLang="en-US"/>
              <a:t>	利用概念层次树，数据能够被泛化到更高的层次。概念层次树对连续数值的转换非常有效。例如，属性“收入”的数值就可以被泛化为若干离散区间，诸如低、中和高。类似地，像“街道”这样的属性也可以被泛化到更高的抽象层次，如泛化到城市。由于泛化操作压缩了原来的数据集，从而可以帮助有效减少学习过程所涉及的输入输出操作。此外，初始数据可能还需要规格化，特别是在利用距离计算方法实施各种学习方法时，如在基于示例学习方法中，规格化处理是不可或缺的重要处理操作。 。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childTnLst>
                                    <p:set>
                                      <p:cBhvr additive="base">
                                        <p:cTn id="6" dur="1" fill="hold">
                                          <p:stCondLst>
                                            <p:cond delay="0"/>
                                          </p:stCondLst>
                                        </p:cTn>
                                        <p:tgtEl>
                                          <p:spTgt spid="30723">
                                            <p:txEl>
                                              <p:pRg st="1" end="1"/>
                                            </p:txEl>
                                          </p:spTgt>
                                        </p:tgtEl>
                                        <p:attrNameLst>
                                          <p:attrName>style.visibility</p:attrName>
                                        </p:attrNameLst>
                                      </p:cBhvr>
                                      <p:to>
                                        <p:strVal val="visible"/>
                                      </p:to>
                                    </p:set>
                                    <p:animEffect transition="in" filter="wipe(left)">
                                      <p:cBhvr additive="base">
                                        <p:cTn id="7" dur="500"/>
                                        <p:tgtEl>
                                          <p:spTgt spid="307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 	</a:t>
            </a:r>
            <a:r>
              <a:rPr lang="zh-CN" altLang="en-US"/>
              <a:t>树的建模过程</a:t>
            </a:r>
          </a:p>
        </p:txBody>
      </p:sp>
      <p:sp>
        <p:nvSpPr>
          <p:cNvPr id="31747"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sz="2800">
                <a:solidFill>
                  <a:srgbClr val="0033CC"/>
                </a:solidFill>
              </a:rPr>
              <a:t>4.2.2 </a:t>
            </a:r>
            <a:r>
              <a:rPr lang="zh-CN" altLang="en-US" sz="2800">
                <a:solidFill>
                  <a:srgbClr val="0033CC"/>
                </a:solidFill>
              </a:rPr>
              <a:t>树的生长</a:t>
            </a:r>
          </a:p>
          <a:p>
            <a:pPr marL="0" lvl="0" indent="0" eaLnBrk="1" hangingPunct="1"/>
            <a:r>
              <a:rPr lang="zh-CN" altLang="en-US"/>
              <a:t>	决策树算法是一种常用的数据挖掘算法，它是从</a:t>
            </a:r>
            <a:br>
              <a:rPr lang="zh-CN" altLang="en-US"/>
            </a:br>
            <a:r>
              <a:rPr lang="zh-CN" altLang="en-US"/>
              <a:t>机器学习领域中逐渐发展起来的一种分类函数逼近方法。</a:t>
            </a:r>
            <a:br>
              <a:rPr lang="zh-CN" altLang="en-US"/>
            </a:br>
            <a:r>
              <a:rPr lang="zh-CN" altLang="en-US"/>
              <a:t>决策树学习的基本算法是贪心算法，采用自上而下的递归</a:t>
            </a:r>
            <a:br>
              <a:rPr lang="zh-CN" altLang="en-US"/>
            </a:br>
            <a:r>
              <a:rPr lang="zh-CN" altLang="en-US"/>
              <a:t>方式构造决策树。</a:t>
            </a:r>
            <a:r>
              <a:rPr lang="en-US" altLang="zh-CN"/>
              <a:t>Hunt</a:t>
            </a:r>
            <a:r>
              <a:rPr lang="zh-CN" altLang="en-US"/>
              <a:t>等人于</a:t>
            </a:r>
            <a:r>
              <a:rPr lang="en-US" altLang="zh-CN"/>
              <a:t>1966</a:t>
            </a:r>
            <a:r>
              <a:rPr lang="zh-CN" altLang="en-US"/>
              <a:t>年提出的概念学习系统</a:t>
            </a:r>
            <a:br>
              <a:rPr lang="zh-CN" altLang="en-US"/>
            </a:br>
            <a:r>
              <a:rPr lang="en-US" altLang="zh-CN"/>
              <a:t>(concept learning system </a:t>
            </a:r>
            <a:r>
              <a:rPr lang="zh-CN" altLang="en-US"/>
              <a:t>，</a:t>
            </a:r>
            <a:r>
              <a:rPr lang="en-US" altLang="zh-CN"/>
              <a:t>CLS)</a:t>
            </a:r>
            <a:r>
              <a:rPr lang="zh-CN" altLang="en-US"/>
              <a:t>是最早的决策树算法，以后的许多决策树算法都是对</a:t>
            </a:r>
            <a:r>
              <a:rPr lang="en-US" altLang="zh-CN"/>
              <a:t>CLS</a:t>
            </a:r>
            <a:r>
              <a:rPr lang="zh-CN" altLang="en-US"/>
              <a:t>算法的改进或由</a:t>
            </a:r>
            <a:r>
              <a:rPr lang="en-US" altLang="zh-CN"/>
              <a:t>CLS</a:t>
            </a:r>
            <a:r>
              <a:rPr lang="zh-CN" altLang="en-US"/>
              <a:t>衍生而来。目前，利用决策树进行数据分类的方法已经被深入研究，并且形成了许多决策树算法。</a:t>
            </a:r>
          </a:p>
          <a:p>
            <a:pPr marL="0" lvl="0" indent="0" eaLnBrk="1" hangingPunct="1"/>
            <a:endParaRPr lang="en-US" altLang="zh-CN"/>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 	</a:t>
            </a:r>
            <a:r>
              <a:rPr lang="zh-CN" altLang="en-US"/>
              <a:t>树的建模过程</a:t>
            </a:r>
          </a:p>
        </p:txBody>
      </p:sp>
      <p:sp>
        <p:nvSpPr>
          <p:cNvPr id="32771"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决策树算法的分类模型是一棵</a:t>
            </a:r>
            <a:r>
              <a:rPr lang="zh-CN" altLang="en-US" u="sng"/>
              <a:t>有向无环树</a:t>
            </a:r>
            <a:r>
              <a:rPr lang="zh-CN" altLang="en-US"/>
              <a:t>，</a:t>
            </a:r>
          </a:p>
          <a:p>
            <a:pPr marL="0" lvl="0" indent="0" eaLnBrk="1" hangingPunct="1"/>
            <a:r>
              <a:rPr lang="zh-CN" altLang="en-US"/>
              <a:t>	下面将以</a:t>
            </a:r>
            <a:r>
              <a:rPr lang="zh-CN" altLang="en-US" u="sng">
                <a:solidFill>
                  <a:srgbClr val="0033CC"/>
                </a:solidFill>
              </a:rPr>
              <a:t>二叉树为例</a:t>
            </a:r>
            <a:r>
              <a:rPr lang="zh-CN" altLang="en-US" u="sng"/>
              <a:t>说明</a:t>
            </a:r>
            <a:r>
              <a:rPr lang="zh-CN" altLang="en-US"/>
              <a:t>基本的决策树算法。</a:t>
            </a:r>
          </a:p>
          <a:p>
            <a:pPr marL="0" lvl="0" indent="0" eaLnBrk="1" hangingPunct="1"/>
            <a:r>
              <a:rPr lang="zh-CN" altLang="en-US"/>
              <a:t>	决策树的每个节点有</a:t>
            </a:r>
            <a:r>
              <a:rPr lang="en-US" altLang="zh-CN"/>
              <a:t>0</a:t>
            </a:r>
            <a:r>
              <a:rPr lang="zh-CN" altLang="en-US"/>
              <a:t>或</a:t>
            </a:r>
            <a:r>
              <a:rPr lang="en-US" altLang="zh-CN"/>
              <a:t>2</a:t>
            </a:r>
            <a:r>
              <a:rPr lang="zh-CN" altLang="en-US"/>
              <a:t>个子节点，除了根节点以外，每个节点有且仅有一个父节点。如果节点没有子节点，则称它为</a:t>
            </a:r>
            <a:r>
              <a:rPr lang="zh-CN" altLang="en-US">
                <a:solidFill>
                  <a:srgbClr val="FF3300"/>
                </a:solidFill>
              </a:rPr>
              <a:t>叶节点</a:t>
            </a:r>
            <a:r>
              <a:rPr lang="zh-CN" altLang="en-US"/>
              <a:t>，否则称为</a:t>
            </a:r>
            <a:r>
              <a:rPr lang="zh-CN" altLang="en-US">
                <a:solidFill>
                  <a:srgbClr val="FF3300"/>
                </a:solidFill>
              </a:rPr>
              <a:t>内部节点</a:t>
            </a:r>
            <a:r>
              <a:rPr lang="zh-CN" altLang="en-US"/>
              <a:t>。 </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 	</a:t>
            </a:r>
            <a:r>
              <a:rPr lang="zh-CN" altLang="en-US"/>
              <a:t>树的建模过程</a:t>
            </a:r>
          </a:p>
        </p:txBody>
      </p:sp>
      <p:sp>
        <p:nvSpPr>
          <p:cNvPr id="33795"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每个叶节点对应</a:t>
            </a:r>
            <a:r>
              <a:rPr lang="zh-CN" altLang="en-US" u="sng"/>
              <a:t>一个类标号</a:t>
            </a:r>
            <a:r>
              <a:rPr lang="zh-CN" altLang="en-US"/>
              <a:t>，使用决策树对未知样本</a:t>
            </a:r>
            <a:br>
              <a:rPr lang="zh-CN" altLang="en-US"/>
            </a:br>
            <a:r>
              <a:rPr lang="zh-CN" altLang="en-US"/>
              <a:t>分类的类标号的值即为叶节点的值。每个内部节点都对应</a:t>
            </a:r>
            <a:br>
              <a:rPr lang="zh-CN" altLang="en-US"/>
            </a:br>
            <a:r>
              <a:rPr lang="zh-CN" altLang="en-US"/>
              <a:t>一个分枝方案，它包括用于节点分裂的属性 </a:t>
            </a:r>
            <a:r>
              <a:rPr lang="en-US" altLang="zh-CN"/>
              <a:t>A </a:t>
            </a:r>
            <a:r>
              <a:rPr lang="zh-CN" altLang="en-US"/>
              <a:t>和分枝的</a:t>
            </a:r>
            <a:br>
              <a:rPr lang="zh-CN" altLang="en-US"/>
            </a:br>
            <a:r>
              <a:rPr lang="zh-CN" altLang="en-US"/>
              <a:t>判断规则 </a:t>
            </a:r>
            <a:r>
              <a:rPr lang="en-US" altLang="zh-CN" i="1"/>
              <a:t>q</a:t>
            </a:r>
            <a:r>
              <a:rPr lang="zh-CN" altLang="en-US"/>
              <a:t>。</a:t>
            </a:r>
          </a:p>
          <a:p>
            <a:pPr marL="0" lvl="0" indent="0" eaLnBrk="1" hangingPunct="1"/>
            <a:r>
              <a:rPr lang="zh-CN" altLang="en-US"/>
              <a:t>	训练样本的属性分为数值属性和分类属性，数值属性的取值范围是一个连续的区间，比如实数集</a:t>
            </a:r>
            <a:r>
              <a:rPr lang="en-US" altLang="zh-CN"/>
              <a:t>R; </a:t>
            </a:r>
            <a:r>
              <a:rPr lang="zh-CN" altLang="en-US"/>
              <a:t>而分类属性的取值范围则是离散值的集合 </a:t>
            </a:r>
            <a:r>
              <a:rPr lang="en-US" altLang="zh-CN"/>
              <a:t>S(A)</a:t>
            </a:r>
            <a:r>
              <a:rPr lang="zh-CN" altLang="en-US"/>
              <a:t>，比如性别属性的取值范围就是集合 </a:t>
            </a:r>
            <a:r>
              <a:rPr lang="en-US" altLang="zh-CN"/>
              <a:t>{</a:t>
            </a:r>
            <a:r>
              <a:rPr lang="zh-CN" altLang="en-US"/>
              <a:t>男，女</a:t>
            </a:r>
            <a:r>
              <a:rPr lang="en-US" altLang="zh-CN"/>
              <a:t>}</a:t>
            </a:r>
            <a:r>
              <a:rPr lang="zh-CN" altLang="en-US"/>
              <a:t>。</a:t>
            </a:r>
          </a:p>
          <a:p>
            <a:pPr marL="0" lvl="0" indent="0" eaLnBrk="1" hangingPunct="1"/>
            <a:r>
              <a:rPr lang="zh-CN" altLang="en-US"/>
              <a:t>	如果属性</a:t>
            </a:r>
            <a:r>
              <a:rPr lang="en-US" altLang="zh-CN"/>
              <a:t>A</a:t>
            </a:r>
            <a:r>
              <a:rPr lang="zh-CN" altLang="en-US"/>
              <a:t>是数值属性，那么</a:t>
            </a:r>
            <a:r>
              <a:rPr lang="en-US" altLang="zh-CN" i="1"/>
              <a:t>q </a:t>
            </a:r>
            <a:r>
              <a:rPr lang="zh-CN" altLang="en-US"/>
              <a:t>的形式是</a:t>
            </a:r>
            <a:r>
              <a:rPr lang="en-US" altLang="zh-CN"/>
              <a:t>A≤</a:t>
            </a:r>
            <a:r>
              <a:rPr lang="en-US" altLang="zh-CN" i="1"/>
              <a:t>v</a:t>
            </a:r>
            <a:r>
              <a:rPr lang="zh-CN" altLang="en-US"/>
              <a:t>， 其中</a:t>
            </a:r>
            <a:r>
              <a:rPr lang="en-US" altLang="zh-CN" i="1"/>
              <a:t>v</a:t>
            </a:r>
            <a:r>
              <a:rPr lang="zh-CN" altLang="en-US"/>
              <a:t>是属于</a:t>
            </a:r>
            <a:r>
              <a:rPr lang="en-US" altLang="zh-CN"/>
              <a:t>A</a:t>
            </a:r>
            <a:r>
              <a:rPr lang="zh-CN" altLang="en-US"/>
              <a:t>的取值范围的一个常量</a:t>
            </a:r>
            <a:r>
              <a:rPr lang="en-US" altLang="zh-CN"/>
              <a:t>; </a:t>
            </a:r>
          </a:p>
          <a:p>
            <a:pPr marL="0" lvl="0" indent="0" eaLnBrk="1" hangingPunct="1"/>
            <a:r>
              <a:rPr lang="en-US" altLang="zh-CN"/>
              <a:t>	</a:t>
            </a:r>
            <a:r>
              <a:rPr lang="zh-CN" altLang="en-US"/>
              <a:t>如果</a:t>
            </a:r>
            <a:r>
              <a:rPr lang="en-US" altLang="zh-CN"/>
              <a:t>A</a:t>
            </a:r>
            <a:r>
              <a:rPr lang="zh-CN" altLang="en-US"/>
              <a:t>是分类属性，那么</a:t>
            </a:r>
            <a:r>
              <a:rPr lang="en-US" altLang="zh-CN" i="1"/>
              <a:t>q </a:t>
            </a:r>
            <a:r>
              <a:rPr lang="zh-CN" altLang="en-US"/>
              <a:t>的形式是</a:t>
            </a:r>
            <a:r>
              <a:rPr lang="en-US" altLang="zh-CN"/>
              <a:t>A∈S’, </a:t>
            </a:r>
            <a:r>
              <a:rPr lang="zh-CN" altLang="en-US"/>
              <a:t>其中</a:t>
            </a:r>
            <a:r>
              <a:rPr lang="en-US" altLang="zh-CN"/>
              <a:t>S’</a:t>
            </a:r>
            <a:r>
              <a:rPr lang="zh-CN" altLang="en-US"/>
              <a:t>是</a:t>
            </a:r>
            <a:r>
              <a:rPr lang="en-US" altLang="zh-CN"/>
              <a:t>S(A)</a:t>
            </a:r>
            <a:r>
              <a:rPr lang="zh-CN" altLang="en-US"/>
              <a:t>的子集。 </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4.2.2 </a:t>
            </a:r>
            <a:r>
              <a:rPr lang="zh-CN" altLang="en-US"/>
              <a:t>树的生长</a:t>
            </a:r>
          </a:p>
        </p:txBody>
      </p:sp>
      <p:sp>
        <p:nvSpPr>
          <p:cNvPr id="34819"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决策树是“一棵树”，它的根节点是整个数据集合空间，每个分节点是对一个</a:t>
            </a:r>
            <a:r>
              <a:rPr lang="zh-CN" altLang="en-US" u="sng"/>
              <a:t>单一变量</a:t>
            </a:r>
            <a:r>
              <a:rPr lang="en-US" altLang="zh-CN"/>
              <a:t>(</a:t>
            </a:r>
            <a:r>
              <a:rPr lang="zh-CN" altLang="en-US"/>
              <a:t>属性</a:t>
            </a:r>
            <a:r>
              <a:rPr lang="en-US" altLang="zh-CN"/>
              <a:t>)</a:t>
            </a:r>
            <a:r>
              <a:rPr lang="zh-CN" altLang="en-US"/>
              <a:t>的测试，该测试将数据集合空间分割成两个或更多块。每个叶节点是属于</a:t>
            </a:r>
            <a:r>
              <a:rPr lang="zh-CN" altLang="en-US" u="sng"/>
              <a:t>单一类别</a:t>
            </a:r>
            <a:r>
              <a:rPr lang="zh-CN" altLang="en-US"/>
              <a:t>的记录。</a:t>
            </a:r>
          </a:p>
          <a:p>
            <a:pPr marL="0" lvl="0" indent="0" eaLnBrk="1" hangingPunct="1"/>
            <a:r>
              <a:rPr lang="zh-CN" altLang="en-US"/>
              <a:t>	首先，通过</a:t>
            </a:r>
            <a:r>
              <a:rPr lang="zh-CN" altLang="en-US" u="sng"/>
              <a:t>训练集</a:t>
            </a:r>
            <a:r>
              <a:rPr lang="zh-CN" altLang="en-US"/>
              <a:t>生成决策树，再通过</a:t>
            </a:r>
            <a:r>
              <a:rPr lang="zh-CN" altLang="en-US" u="sng"/>
              <a:t>测试集</a:t>
            </a:r>
            <a:r>
              <a:rPr lang="zh-CN" altLang="en-US"/>
              <a:t>对决策树进行修剪。</a:t>
            </a:r>
          </a:p>
          <a:p>
            <a:pPr marL="0" lvl="0" indent="0" eaLnBrk="1" hangingPunct="1"/>
            <a:r>
              <a:rPr lang="zh-CN" altLang="en-US"/>
              <a:t>	</a:t>
            </a:r>
            <a:r>
              <a:rPr lang="zh-CN" altLang="en-US" sz="2800">
                <a:solidFill>
                  <a:srgbClr val="0033CC"/>
                </a:solidFill>
                <a:ea typeface="华文楷体" pitchFamily="2" charset="-122"/>
              </a:rPr>
              <a:t>决策树的</a:t>
            </a:r>
            <a:r>
              <a:rPr lang="zh-CN" altLang="en-US" sz="2800">
                <a:solidFill>
                  <a:srgbClr val="FF3300"/>
                </a:solidFill>
              </a:rPr>
              <a:t>功能</a:t>
            </a:r>
            <a:r>
              <a:rPr lang="zh-CN" altLang="en-US" sz="2800">
                <a:solidFill>
                  <a:srgbClr val="0033CC"/>
                </a:solidFill>
                <a:ea typeface="华文楷体" pitchFamily="2" charset="-122"/>
              </a:rPr>
              <a:t>是</a:t>
            </a:r>
            <a:r>
              <a:rPr lang="zh-CN" altLang="en-US" sz="2800" u="sng">
                <a:solidFill>
                  <a:srgbClr val="0033CC"/>
                </a:solidFill>
                <a:ea typeface="华文楷体" pitchFamily="2" charset="-122"/>
              </a:rPr>
              <a:t>预测一个新的记录属于哪一类</a:t>
            </a:r>
            <a:r>
              <a:rPr lang="zh-CN" altLang="en-US"/>
              <a:t>。</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4.2.2 </a:t>
            </a:r>
            <a:r>
              <a:rPr lang="zh-CN" altLang="en-US"/>
              <a:t>树的生长</a:t>
            </a:r>
          </a:p>
        </p:txBody>
      </p:sp>
      <p:sp>
        <p:nvSpPr>
          <p:cNvPr id="35843"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通常</a:t>
            </a:r>
            <a:r>
              <a:rPr lang="en-US" altLang="zh-CN"/>
              <a:t>, </a:t>
            </a:r>
            <a:r>
              <a:rPr lang="zh-CN" altLang="en-US"/>
              <a:t>通过</a:t>
            </a:r>
            <a:r>
              <a:rPr lang="zh-CN" altLang="en-US" u="sng"/>
              <a:t>自上而下递归分割</a:t>
            </a:r>
            <a:r>
              <a:rPr lang="zh-CN" altLang="en-US"/>
              <a:t>的过程来构建决策树</a:t>
            </a:r>
            <a:r>
              <a:rPr lang="en-US" altLang="zh-CN"/>
              <a:t>, </a:t>
            </a:r>
            <a:r>
              <a:rPr lang="zh-CN" altLang="en-US"/>
              <a:t>分为三个步骤</a:t>
            </a:r>
            <a:r>
              <a:rPr lang="en-US" altLang="zh-CN"/>
              <a:t>:</a:t>
            </a:r>
          </a:p>
          <a:p>
            <a:pPr marL="0" lvl="0" indent="0" eaLnBrk="1" hangingPunct="1"/>
            <a:r>
              <a:rPr lang="en-US" altLang="zh-CN"/>
              <a:t>(1) </a:t>
            </a:r>
            <a:r>
              <a:rPr lang="zh-CN" altLang="en-US"/>
              <a:t>寻找初始分裂。整个</a:t>
            </a:r>
            <a:r>
              <a:rPr lang="zh-CN" altLang="en-US" u="sng"/>
              <a:t>训练集</a:t>
            </a:r>
            <a:r>
              <a:rPr lang="zh-CN" altLang="en-US"/>
              <a:t>作为产生决策树的集合，</a:t>
            </a:r>
            <a:br>
              <a:rPr lang="zh-CN" altLang="en-US"/>
            </a:br>
            <a:r>
              <a:rPr lang="zh-CN" altLang="en-US"/>
              <a:t>      训练集每个记录必须是已经分好类的。决定哪个属性</a:t>
            </a:r>
            <a:r>
              <a:rPr lang="en-US" altLang="zh-CN"/>
              <a:t>(field)</a:t>
            </a:r>
            <a:r>
              <a:rPr lang="zh-CN" altLang="en-US"/>
              <a:t>域作为目前最好的分类指标。一般的做法是穷尽所有的属性域，对每个属性域分裂的好坏做出量化，计算出最好的一个分裂。</a:t>
            </a:r>
          </a:p>
          <a:p>
            <a:pPr marL="0" lvl="0" indent="0" eaLnBrk="1" hangingPunct="1"/>
            <a:r>
              <a:rPr lang="en-US" altLang="zh-CN"/>
              <a:t>(2) </a:t>
            </a:r>
            <a:r>
              <a:rPr lang="zh-CN" altLang="en-US"/>
              <a:t>树增长到一棵完整的树。重复第一步，直至每个叶节点</a:t>
            </a:r>
            <a:br>
              <a:rPr lang="zh-CN" altLang="en-US"/>
            </a:br>
            <a:r>
              <a:rPr lang="zh-CN" altLang="en-US"/>
              <a:t>      内的记录都属于同一类，或达到其他停止准则。</a:t>
            </a:r>
          </a:p>
          <a:p>
            <a:pPr marL="0" lvl="0" indent="0" eaLnBrk="1" hangingPunct="1"/>
            <a:r>
              <a:rPr lang="en-US" altLang="zh-CN"/>
              <a:t>(3)</a:t>
            </a:r>
            <a:r>
              <a:rPr lang="zh-CN" altLang="en-US"/>
              <a:t>数据的修剪。去掉一些可能是噪音或者异常的数据或节点</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4.2.2 </a:t>
            </a:r>
            <a:r>
              <a:rPr lang="zh-CN" altLang="en-US"/>
              <a:t>树的生长</a:t>
            </a:r>
          </a:p>
        </p:txBody>
      </p:sp>
      <p:sp>
        <p:nvSpPr>
          <p:cNvPr id="36867"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lnSpc>
                <a:spcPct val="140000"/>
              </a:lnSpc>
            </a:pPr>
            <a:r>
              <a:rPr lang="zh-CN" altLang="en-US" sz="2800"/>
              <a:t>其通用的基本算法</a:t>
            </a:r>
            <a:r>
              <a:rPr lang="en-US" altLang="zh-CN"/>
              <a:t>(</a:t>
            </a:r>
            <a:r>
              <a:rPr lang="zh-CN" altLang="en-US"/>
              <a:t>贪心算法</a:t>
            </a:r>
            <a:r>
              <a:rPr lang="en-US" altLang="zh-CN"/>
              <a:t>)</a:t>
            </a:r>
            <a:r>
              <a:rPr lang="zh-CN" altLang="en-US"/>
              <a:t>为</a:t>
            </a:r>
            <a:r>
              <a:rPr lang="en-US" altLang="zh-CN"/>
              <a:t>:</a:t>
            </a:r>
          </a:p>
          <a:p>
            <a:pPr marL="0" lvl="0" indent="0" eaLnBrk="1" hangingPunct="1">
              <a:lnSpc>
                <a:spcPct val="140000"/>
              </a:lnSpc>
            </a:pPr>
            <a:r>
              <a:rPr lang="en-US" altLang="zh-CN"/>
              <a:t>	</a:t>
            </a:r>
            <a:r>
              <a:rPr lang="zh-CN" altLang="en-US"/>
              <a:t>以自上而下分而治之的方法，开始时，所有的数据都在根节点</a:t>
            </a:r>
            <a:r>
              <a:rPr lang="en-US" altLang="zh-CN"/>
              <a:t>;</a:t>
            </a:r>
            <a:r>
              <a:rPr lang="zh-CN" altLang="en-US"/>
              <a:t>属性都是种类字段</a:t>
            </a:r>
            <a:r>
              <a:rPr lang="en-US" altLang="zh-CN"/>
              <a:t>(</a:t>
            </a:r>
            <a:r>
              <a:rPr lang="zh-CN" altLang="en-US"/>
              <a:t>如果是连续的，将其离散化</a:t>
            </a:r>
            <a:r>
              <a:rPr lang="en-US" altLang="zh-CN"/>
              <a:t>); </a:t>
            </a:r>
            <a:r>
              <a:rPr lang="zh-CN" altLang="en-US"/>
              <a:t>所有记录用所选属性递归地进行分割</a:t>
            </a:r>
            <a:r>
              <a:rPr lang="en-US" altLang="zh-CN"/>
              <a:t>; </a:t>
            </a:r>
            <a:r>
              <a:rPr lang="zh-CN" altLang="en-US"/>
              <a:t>属性的选择是基于一个启发式规则或者一个统计的度量</a:t>
            </a:r>
            <a:r>
              <a:rPr lang="en-US" altLang="zh-CN"/>
              <a:t>(</a:t>
            </a:r>
            <a:r>
              <a:rPr lang="zh-CN" altLang="en-US"/>
              <a:t>如</a:t>
            </a:r>
            <a:r>
              <a:rPr lang="en-US" altLang="zh-CN" sz="2000"/>
              <a:t>information gain</a:t>
            </a:r>
            <a:r>
              <a:rPr lang="en-US" altLang="zh-CN"/>
              <a:t>)</a:t>
            </a:r>
            <a:r>
              <a:rPr lang="zh-CN" altLang="en-US"/>
              <a:t>。</a:t>
            </a:r>
          </a:p>
          <a:p>
            <a:pPr marL="0" lvl="0" indent="0" eaLnBrk="1" hangingPunct="1">
              <a:lnSpc>
                <a:spcPct val="140000"/>
              </a:lnSpc>
            </a:pPr>
            <a:r>
              <a:rPr lang="zh-CN" altLang="en-US"/>
              <a:t>	停止分割的条件</a:t>
            </a:r>
            <a:r>
              <a:rPr lang="en-US" altLang="zh-CN"/>
              <a:t>: </a:t>
            </a:r>
            <a:r>
              <a:rPr lang="zh-CN" altLang="en-US"/>
              <a:t>一个节点上的数据都是属于同一个</a:t>
            </a:r>
            <a:br>
              <a:rPr lang="zh-CN" altLang="en-US"/>
            </a:br>
            <a:r>
              <a:rPr lang="zh-CN" altLang="en-US"/>
              <a:t>类别或没有属性可以再用于对数据进行分割。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childTnLst>
                                    <p:set>
                                      <p:cBhvr additive="base">
                                        <p:cTn id="6" dur="1" fill="hold">
                                          <p:stCondLst>
                                            <p:cond delay="0"/>
                                          </p:stCondLst>
                                        </p:cTn>
                                        <p:tgtEl>
                                          <p:spTgt spid="36867">
                                            <p:txEl>
                                              <p:pRg st="1" end="1"/>
                                            </p:txEl>
                                          </p:spTgt>
                                        </p:tgtEl>
                                        <p:attrNameLst>
                                          <p:attrName>style.visibility</p:attrName>
                                        </p:attrNameLst>
                                      </p:cBhvr>
                                      <p:to>
                                        <p:strVal val="visible"/>
                                      </p:to>
                                    </p:set>
                                    <p:animEffect transition="in" filter="wipe(left)">
                                      <p:cBhvr additive="base">
                                        <p:cTn id="7" dur="500"/>
                                        <p:tgtEl>
                                          <p:spTgt spid="368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22" presetClass="entr" presetSubtype="8" fill="hold" grpId="0" nodeType="clickEffect">
                                  <p:childTnLst>
                                    <p:set>
                                      <p:cBhvr additive="base">
                                        <p:cTn id="12" dur="1" fill="hold">
                                          <p:stCondLst>
                                            <p:cond delay="0"/>
                                          </p:stCondLst>
                                        </p:cTn>
                                        <p:tgtEl>
                                          <p:spTgt spid="36867">
                                            <p:txEl>
                                              <p:pRg st="2" end="2"/>
                                            </p:txEl>
                                          </p:spTgt>
                                        </p:tgtEl>
                                        <p:attrNameLst>
                                          <p:attrName>style.visibility</p:attrName>
                                        </p:attrNameLst>
                                      </p:cBhvr>
                                      <p:to>
                                        <p:strVal val="visible"/>
                                      </p:to>
                                    </p:set>
                                    <p:animEffect transition="in" filter="wipe(left)">
                                      <p:cBhvr additive="base">
                                        <p:cTn id="13" dur="500"/>
                                        <p:tgtEl>
                                          <p:spTgt spid="368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4.2.2 </a:t>
            </a:r>
            <a:r>
              <a:rPr lang="zh-CN" altLang="en-US"/>
              <a:t>树的生长</a:t>
            </a:r>
            <a:r>
              <a:rPr lang="en-US" altLang="zh-CN"/>
              <a:t>—</a:t>
            </a:r>
            <a:r>
              <a:rPr lang="zh-CN" altLang="en-US"/>
              <a:t>算法的形式描述</a:t>
            </a:r>
          </a:p>
        </p:txBody>
      </p:sp>
      <p:sp>
        <p:nvSpPr>
          <p:cNvPr id="37891" name="Rectangle 3"/>
          <p:cNvSpPr>
            <a:spLocks noGrp="1"/>
          </p:cNvSpPr>
          <p:nvPr>
            <p:ph type="body" idx="4294967295"/>
          </p:nvPr>
        </p:nvSpPr>
        <p:spPr>
          <a:xfrm>
            <a:off x="1331912" y="1052512"/>
            <a:ext cx="7354888" cy="4814888"/>
          </a:xfrm>
          <a:prstGeom prst="rect">
            <a:avLst/>
          </a:prstGeom>
          <a:noFill/>
          <a:ln>
            <a:miter lim="800000"/>
          </a:ln>
        </p:spPr>
        <p:txBody>
          <a:bodyPr vert="horz" wrap="square" lIns="91440" tIns="45720" rIns="91440" bIns="45720" anchor="t" anchorCtr="0">
            <a:noAutofit/>
          </a:bodyPr>
          <a:lstStyle>
            <a:defPPr>
              <a:tabLst>
                <a:tab pos="268288" algn="l"/>
                <a:tab pos="536575" algn="l"/>
                <a:tab pos="804862" algn="l"/>
              </a:tabLst>
            </a:defPPr>
            <a:lvl1pPr marL="0" indent="0" algn="l" rtl="0" eaLnBrk="0" fontAlgn="base" hangingPunct="0">
              <a:lnSpc>
                <a:spcPct val="120000"/>
              </a:lnSpc>
              <a:spcBef>
                <a:spcPct val="20000"/>
              </a:spcBef>
              <a:spcAft>
                <a:spcPct val="0"/>
              </a:spcAft>
              <a:buClr>
                <a:schemeClr val="bg2"/>
              </a:buClr>
              <a:buSzPct val="75000"/>
              <a:buFont typeface="Wingdings" pitchFamily="2" charset="2"/>
              <a:buNone/>
              <a:tabLst>
                <a:tab pos="268288" algn="l"/>
                <a:tab pos="536575" algn="l"/>
                <a:tab pos="804862" algn="l"/>
              </a:tabLst>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tabLst>
                <a:tab pos="268288" algn="l"/>
                <a:tab pos="536575" algn="l"/>
                <a:tab pos="804862" algn="l"/>
              </a:tabLst>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tabLst>
                <a:tab pos="268288" algn="l"/>
                <a:tab pos="536575" algn="l"/>
                <a:tab pos="804862" algn="l"/>
              </a:tabLst>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tabLst>
                <a:tab pos="268288" algn="l"/>
                <a:tab pos="536575" algn="l"/>
                <a:tab pos="804862" algn="l"/>
              </a:tabLst>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lnSpc>
                <a:spcPct val="110000"/>
              </a:lnSpc>
              <a:tabLst>
                <a:tab pos="268288" algn="l"/>
                <a:tab pos="536575" algn="l"/>
                <a:tab pos="804862" algn="l"/>
              </a:tabLst>
            </a:pPr>
            <a:r>
              <a:rPr lang="en-US" altLang="zh-CN"/>
              <a:t>Procedure BuildTree(S){</a:t>
            </a:r>
          </a:p>
          <a:p>
            <a:pPr marL="0" lvl="0" indent="0" eaLnBrk="1" hangingPunct="1">
              <a:lnSpc>
                <a:spcPct val="110000"/>
              </a:lnSpc>
              <a:tabLst>
                <a:tab pos="268288" algn="l"/>
                <a:tab pos="536575" algn="l"/>
                <a:tab pos="804862" algn="l"/>
              </a:tabLst>
            </a:pPr>
            <a:r>
              <a:rPr lang="en-US" altLang="zh-CN"/>
              <a:t>	</a:t>
            </a:r>
            <a:r>
              <a:rPr lang="zh-CN" altLang="en-US"/>
              <a:t>用数据集</a:t>
            </a:r>
            <a:r>
              <a:rPr lang="en-US" altLang="zh-CN"/>
              <a:t>S </a:t>
            </a:r>
            <a:r>
              <a:rPr lang="zh-CN" altLang="en-US"/>
              <a:t>初始化根节点 </a:t>
            </a:r>
            <a:r>
              <a:rPr lang="en-US" altLang="zh-CN"/>
              <a:t>R</a:t>
            </a:r>
          </a:p>
          <a:p>
            <a:pPr marL="0" lvl="0" indent="0" eaLnBrk="1" hangingPunct="1">
              <a:lnSpc>
                <a:spcPct val="110000"/>
              </a:lnSpc>
              <a:tabLst>
                <a:tab pos="268288" algn="l"/>
                <a:tab pos="536575" algn="l"/>
                <a:tab pos="804862" algn="l"/>
              </a:tabLst>
            </a:pPr>
            <a:r>
              <a:rPr lang="en-US" altLang="zh-CN"/>
              <a:t>	</a:t>
            </a:r>
            <a:r>
              <a:rPr lang="zh-CN" altLang="en-US"/>
              <a:t>用根节点</a:t>
            </a:r>
            <a:r>
              <a:rPr lang="en-US" altLang="zh-CN"/>
              <a:t>R </a:t>
            </a:r>
            <a:r>
              <a:rPr lang="zh-CN" altLang="en-US"/>
              <a:t>初始化队列 </a:t>
            </a:r>
            <a:r>
              <a:rPr lang="en-US" altLang="zh-CN"/>
              <a:t>Q</a:t>
            </a:r>
          </a:p>
          <a:p>
            <a:pPr marL="0" lvl="0" indent="0" eaLnBrk="1" hangingPunct="1">
              <a:lnSpc>
                <a:spcPct val="110000"/>
              </a:lnSpc>
              <a:tabLst>
                <a:tab pos="268288" algn="l"/>
                <a:tab pos="536575" algn="l"/>
                <a:tab pos="804862" algn="l"/>
              </a:tabLst>
            </a:pPr>
            <a:r>
              <a:rPr lang="en-US" altLang="zh-CN"/>
              <a:t>	Whi1e Q is not Empty, do{</a:t>
            </a:r>
          </a:p>
          <a:p>
            <a:pPr marL="0" lvl="0" indent="0" eaLnBrk="1" hangingPunct="1">
              <a:lnSpc>
                <a:spcPct val="110000"/>
              </a:lnSpc>
              <a:tabLst>
                <a:tab pos="268288" algn="l"/>
                <a:tab pos="536575" algn="l"/>
                <a:tab pos="804862" algn="l"/>
              </a:tabLst>
            </a:pPr>
            <a:r>
              <a:rPr lang="en-US" altLang="zh-CN"/>
              <a:t>		</a:t>
            </a:r>
            <a:r>
              <a:rPr lang="zh-CN" altLang="en-US"/>
              <a:t>取出队列</a:t>
            </a:r>
            <a:r>
              <a:rPr lang="en-US" altLang="zh-CN"/>
              <a:t>Q</a:t>
            </a:r>
            <a:r>
              <a:rPr lang="zh-CN" altLang="en-US"/>
              <a:t>中的第一个节点</a:t>
            </a:r>
            <a:r>
              <a:rPr lang="en-US" altLang="zh-CN"/>
              <a:t>N</a:t>
            </a:r>
          </a:p>
          <a:p>
            <a:pPr marL="0" lvl="0" indent="0" eaLnBrk="1" hangingPunct="1">
              <a:lnSpc>
                <a:spcPct val="110000"/>
              </a:lnSpc>
              <a:tabLst>
                <a:tab pos="268288" algn="l"/>
                <a:tab pos="536575" algn="l"/>
                <a:tab pos="804862" algn="l"/>
              </a:tabLst>
            </a:pPr>
            <a:r>
              <a:rPr lang="en-US" altLang="zh-CN"/>
              <a:t>		if  N </a:t>
            </a:r>
            <a:r>
              <a:rPr lang="zh-CN" altLang="en-US"/>
              <a:t>不纯</a:t>
            </a:r>
            <a:r>
              <a:rPr lang="en-US" altLang="zh-CN"/>
              <a:t>(impure){</a:t>
            </a:r>
          </a:p>
          <a:p>
            <a:pPr marL="0" lvl="0" indent="0" eaLnBrk="1" hangingPunct="1">
              <a:lnSpc>
                <a:spcPct val="110000"/>
              </a:lnSpc>
              <a:tabLst>
                <a:tab pos="268288" algn="l"/>
                <a:tab pos="536575" algn="l"/>
                <a:tab pos="804862" algn="l"/>
              </a:tabLst>
            </a:pPr>
            <a:r>
              <a:rPr lang="en-US" altLang="zh-CN"/>
              <a:t>			for </a:t>
            </a:r>
            <a:r>
              <a:rPr lang="zh-CN" altLang="en-US"/>
              <a:t>每一个属性 </a:t>
            </a:r>
            <a:r>
              <a:rPr lang="en-US" altLang="zh-CN"/>
              <a:t>A</a:t>
            </a:r>
          </a:p>
          <a:p>
            <a:pPr marL="0" lvl="0" indent="0" eaLnBrk="1" hangingPunct="1">
              <a:lnSpc>
                <a:spcPct val="110000"/>
              </a:lnSpc>
              <a:tabLst>
                <a:tab pos="268288" algn="l"/>
                <a:tab pos="536575" algn="l"/>
                <a:tab pos="804862" algn="l"/>
              </a:tabLst>
            </a:pPr>
            <a:r>
              <a:rPr lang="en-US" altLang="zh-CN"/>
              <a:t>			</a:t>
            </a:r>
            <a:r>
              <a:rPr lang="zh-CN" altLang="en-US"/>
              <a:t>估计该节点在</a:t>
            </a:r>
            <a:r>
              <a:rPr lang="en-US" altLang="zh-CN"/>
              <a:t>A</a:t>
            </a:r>
            <a:r>
              <a:rPr lang="zh-CN" altLang="en-US"/>
              <a:t>上的信息增益</a:t>
            </a:r>
          </a:p>
          <a:p>
            <a:pPr marL="0" lvl="0" indent="0" eaLnBrk="1" hangingPunct="1">
              <a:lnSpc>
                <a:spcPct val="110000"/>
              </a:lnSpc>
              <a:tabLst>
                <a:tab pos="268288" algn="l"/>
                <a:tab pos="536575" algn="l"/>
                <a:tab pos="804862" algn="l"/>
              </a:tabLst>
            </a:pPr>
            <a:r>
              <a:rPr lang="zh-CN" altLang="en-US"/>
              <a:t>			选出最佳的属性</a:t>
            </a:r>
            <a:r>
              <a:rPr lang="en-US" altLang="zh-CN"/>
              <a:t>, </a:t>
            </a:r>
            <a:r>
              <a:rPr lang="zh-CN" altLang="en-US"/>
              <a:t>将</a:t>
            </a:r>
            <a:r>
              <a:rPr lang="en-US" altLang="zh-CN"/>
              <a:t>N</a:t>
            </a:r>
            <a:r>
              <a:rPr lang="zh-CN" altLang="en-US"/>
              <a:t>分裂为</a:t>
            </a:r>
            <a:r>
              <a:rPr lang="en-US" altLang="zh-CN"/>
              <a:t>N1,N2</a:t>
            </a:r>
          </a:p>
          <a:p>
            <a:pPr marL="0" lvl="0" indent="0" eaLnBrk="1" hangingPunct="1">
              <a:lnSpc>
                <a:spcPct val="110000"/>
              </a:lnSpc>
              <a:tabLst>
                <a:tab pos="268288" algn="l"/>
                <a:tab pos="536575" algn="l"/>
                <a:tab pos="804862" algn="l"/>
              </a:tabLst>
            </a:pPr>
            <a:r>
              <a:rPr lang="en-US" altLang="zh-CN"/>
              <a:t>			}</a:t>
            </a:r>
          </a:p>
          <a:p>
            <a:pPr marL="0" lvl="0" indent="0" eaLnBrk="1" hangingPunct="1">
              <a:lnSpc>
                <a:spcPct val="110000"/>
              </a:lnSpc>
              <a:tabLst>
                <a:tab pos="268288" algn="l"/>
                <a:tab pos="536575" algn="l"/>
                <a:tab pos="804862" algn="l"/>
              </a:tabLst>
            </a:pPr>
            <a:r>
              <a:rPr lang="en-US" altLang="zh-CN"/>
              <a:t>		}</a:t>
            </a:r>
          </a:p>
          <a:p>
            <a:pPr marL="0" lvl="0" indent="0" eaLnBrk="1" hangingPunct="1">
              <a:lnSpc>
                <a:spcPct val="110000"/>
              </a:lnSpc>
              <a:tabLst>
                <a:tab pos="268288" algn="l"/>
                <a:tab pos="536575" algn="l"/>
                <a:tab pos="804862" algn="l"/>
              </a:tabLst>
            </a:pPr>
            <a:r>
              <a:rPr lang="en-US" altLang="zh-CN"/>
              <a:t>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 	</a:t>
            </a:r>
            <a:r>
              <a:rPr lang="zh-CN" altLang="en-US"/>
              <a:t>树的建模过程</a:t>
            </a:r>
            <a:r>
              <a:rPr lang="en-US" altLang="zh-CN" sz="800"/>
              <a:t>-3</a:t>
            </a:r>
          </a:p>
        </p:txBody>
      </p:sp>
      <p:sp>
        <p:nvSpPr>
          <p:cNvPr id="38915"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sz="2800">
                <a:solidFill>
                  <a:srgbClr val="0033CC"/>
                </a:solidFill>
              </a:rPr>
              <a:t>4.2.3 </a:t>
            </a:r>
            <a:r>
              <a:rPr lang="zh-CN" altLang="en-US" sz="2800">
                <a:solidFill>
                  <a:srgbClr val="0033CC"/>
                </a:solidFill>
              </a:rPr>
              <a:t>有效性和风险性</a:t>
            </a:r>
          </a:p>
          <a:p>
            <a:pPr marL="0" lvl="0" indent="0" eaLnBrk="1" hangingPunct="1"/>
            <a:r>
              <a:rPr lang="zh-CN" altLang="en-US"/>
              <a:t>	基本的决策树算法没有考虑噪声</a:t>
            </a:r>
            <a:r>
              <a:rPr lang="en-US" altLang="zh-CN"/>
              <a:t>, </a:t>
            </a:r>
            <a:r>
              <a:rPr lang="zh-CN" altLang="en-US"/>
              <a:t>生成的决策树完全与训练例子拟合。</a:t>
            </a:r>
          </a:p>
          <a:p>
            <a:pPr marL="0" lvl="0" indent="0" eaLnBrk="1" hangingPunct="1"/>
            <a:r>
              <a:rPr lang="zh-CN" altLang="en-US"/>
              <a:t>	这样虽然能降低算法的时间复杂度，但也使算法在</a:t>
            </a:r>
            <a:br>
              <a:rPr lang="zh-CN" altLang="en-US"/>
            </a:br>
            <a:r>
              <a:rPr lang="zh-CN" altLang="en-US"/>
              <a:t>较深层次的样本划分中，专注于训练样本集某个子集的统计信息，而忽视各类样本的整体分布情况，造成了对噪声敏感。</a:t>
            </a:r>
          </a:p>
          <a:p>
            <a:pPr marL="0" lvl="0" indent="0" eaLnBrk="1" hangingPunct="1"/>
            <a:r>
              <a:rPr lang="zh-CN" altLang="en-US"/>
              <a:t>	所以，虽然一棵完整的决策树能够非常准确地反映</a:t>
            </a:r>
            <a:br>
              <a:rPr lang="zh-CN" altLang="en-US"/>
            </a:br>
            <a:r>
              <a:rPr lang="zh-CN" altLang="en-US" u="sng"/>
              <a:t>训练样本集</a:t>
            </a:r>
            <a:r>
              <a:rPr lang="zh-CN" altLang="en-US"/>
              <a:t>中数据的特征，但因失去了一般代表性而无法</a:t>
            </a:r>
            <a:br>
              <a:rPr lang="zh-CN" altLang="en-US"/>
            </a:br>
            <a:r>
              <a:rPr lang="zh-CN" altLang="en-US"/>
              <a:t>对新数据进行准确的分类或预测，出现了过匹配现象。</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childTnLst>
                                    <p:set>
                                      <p:cBhvr additive="base">
                                        <p:cTn id="6" dur="1" fill="hold">
                                          <p:stCondLst>
                                            <p:cond delay="0"/>
                                          </p:stCondLst>
                                        </p:cTn>
                                        <p:tgtEl>
                                          <p:spTgt spid="38915">
                                            <p:txEl>
                                              <p:pRg st="1" end="1"/>
                                            </p:txEl>
                                          </p:spTgt>
                                        </p:tgtEl>
                                        <p:attrNameLst>
                                          <p:attrName>style.visibility</p:attrName>
                                        </p:attrNameLst>
                                      </p:cBhvr>
                                      <p:to>
                                        <p:strVal val="visible"/>
                                      </p:to>
                                    </p:set>
                                    <p:animEffect transition="in" filter="wipe(left)">
                                      <p:cBhvr additive="base">
                                        <p:cTn id="7" dur="500"/>
                                        <p:tgtEl>
                                          <p:spTgt spid="389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22" presetClass="entr" presetSubtype="8" fill="hold" grpId="0" nodeType="clickEffect">
                                  <p:childTnLst>
                                    <p:set>
                                      <p:cBhvr additive="base">
                                        <p:cTn id="12" dur="1" fill="hold">
                                          <p:stCondLst>
                                            <p:cond delay="0"/>
                                          </p:stCondLst>
                                        </p:cTn>
                                        <p:tgtEl>
                                          <p:spTgt spid="38915">
                                            <p:txEl>
                                              <p:pRg st="2" end="2"/>
                                            </p:txEl>
                                          </p:spTgt>
                                        </p:tgtEl>
                                        <p:attrNameLst>
                                          <p:attrName>style.visibility</p:attrName>
                                        </p:attrNameLst>
                                      </p:cBhvr>
                                      <p:to>
                                        <p:strVal val="visible"/>
                                      </p:to>
                                    </p:set>
                                    <p:animEffect transition="in" filter="wipe(left)">
                                      <p:cBhvr additive="base">
                                        <p:cTn id="13" dur="500"/>
                                        <p:tgtEl>
                                          <p:spTgt spid="3891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indefinite"/>
                            </p:stCondLst>
                          </p:cTn>
                        </p:par>
                        <p:par>
                          <p:cTn id="16" fill="hold" nodeType="afterGroup">
                            <p:stCondLst>
                              <p:cond delay="0"/>
                            </p:stCondLst>
                            <p:childTnLst>
                              <p:par>
                                <p:cTn id="17" presetID="22" presetClass="entr" presetSubtype="8" fill="hold" grpId="0" nodeType="clickEffect">
                                  <p:childTnLst>
                                    <p:set>
                                      <p:cBhvr additive="base">
                                        <p:cTn id="18" dur="1" fill="hold">
                                          <p:stCondLst>
                                            <p:cond delay="0"/>
                                          </p:stCondLst>
                                        </p:cTn>
                                        <p:tgtEl>
                                          <p:spTgt spid="38915">
                                            <p:txEl>
                                              <p:pRg st="3" end="3"/>
                                            </p:txEl>
                                          </p:spTgt>
                                        </p:tgtEl>
                                        <p:attrNameLst>
                                          <p:attrName>style.visibility</p:attrName>
                                        </p:attrNameLst>
                                      </p:cBhvr>
                                      <p:to>
                                        <p:strVal val="visible"/>
                                      </p:to>
                                    </p:set>
                                    <p:animEffect transition="in" filter="wipe(left)">
                                      <p:cBhvr additive="base">
                                        <p:cTn id="19" dur="500"/>
                                        <p:tgtEl>
                                          <p:spTgt spid="389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4.2.3 </a:t>
            </a:r>
            <a:r>
              <a:rPr lang="zh-CN" altLang="en-US"/>
              <a:t>有效性和风险性</a:t>
            </a:r>
          </a:p>
        </p:txBody>
      </p:sp>
      <p:sp>
        <p:nvSpPr>
          <p:cNvPr id="39939"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sz="2800">
                <a:solidFill>
                  <a:srgbClr val="FF3300"/>
                </a:solidFill>
              </a:rPr>
              <a:t>过匹配</a:t>
            </a:r>
            <a:r>
              <a:rPr lang="zh-CN" altLang="en-US"/>
              <a:t>指的是模型由于过度训练，导致其记住的不是训练数据的一般特性，而是训练集的局部特性。</a:t>
            </a:r>
          </a:p>
          <a:p>
            <a:pPr marL="0" lvl="0" indent="0" eaLnBrk="1" hangingPunct="1"/>
            <a:r>
              <a:rPr lang="zh-CN" altLang="en-US"/>
              <a:t>	当将这个模型应用到新的测试集上时就导致预测结果的不准确。</a:t>
            </a:r>
          </a:p>
          <a:p>
            <a:pPr marL="0" lvl="0" indent="0" eaLnBrk="1" hangingPunct="1"/>
            <a:r>
              <a:rPr lang="zh-CN" altLang="en-US"/>
              <a:t>	因此，一个完整的决策树构造过程将包含</a:t>
            </a:r>
            <a:r>
              <a:rPr lang="zh-CN" altLang="en-US" u="sng"/>
              <a:t>决策树的创建</a:t>
            </a:r>
            <a:r>
              <a:rPr lang="zh-CN" altLang="en-US"/>
              <a:t>和</a:t>
            </a:r>
            <a:r>
              <a:rPr lang="zh-CN" altLang="en-US" u="sng"/>
              <a:t>决策树的剪枝</a:t>
            </a:r>
            <a:r>
              <a:rPr lang="zh-CN" altLang="en-US"/>
              <a:t>这两方面。</a:t>
            </a:r>
          </a:p>
          <a:p>
            <a:pPr marL="0" lvl="0" indent="0" eaLnBrk="1" hangingPunct="1"/>
            <a:r>
              <a:rPr lang="zh-CN" altLang="en-US"/>
              <a:t>	剪枝是一种克服噪声的技术，用于解决过匹配问题，</a:t>
            </a:r>
            <a:br>
              <a:rPr lang="zh-CN" altLang="en-US"/>
            </a:br>
            <a:r>
              <a:rPr lang="zh-CN" altLang="en-US"/>
              <a:t>同时它也能使树得到简化而变得更容易理解。</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4.2.3 </a:t>
            </a:r>
            <a:r>
              <a:rPr lang="zh-CN" altLang="en-US"/>
              <a:t>有效性和风险性</a:t>
            </a:r>
          </a:p>
        </p:txBody>
      </p:sp>
      <p:sp>
        <p:nvSpPr>
          <p:cNvPr id="40963"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450850" indent="-45085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450850" lvl="0" indent="-450850" eaLnBrk="1" hangingPunct="1"/>
            <a:r>
              <a:rPr lang="zh-CN" altLang="en-US"/>
              <a:t>剪枝的原则包括</a:t>
            </a:r>
            <a:r>
              <a:rPr lang="en-US" altLang="zh-CN"/>
              <a:t>:</a:t>
            </a:r>
          </a:p>
          <a:p>
            <a:pPr marL="450850" lvl="0" indent="-450850" eaLnBrk="1" hangingPunct="1">
              <a:buClr>
                <a:srgbClr val="FF3300"/>
              </a:buClr>
              <a:buSzPct val="50000"/>
              <a:buFont typeface="Wingdings" pitchFamily="2" charset="2"/>
              <a:buChar char="l"/>
            </a:pPr>
            <a:r>
              <a:rPr lang="zh-CN" altLang="en-US"/>
              <a:t>奥卡姆剃刀原则</a:t>
            </a:r>
            <a:r>
              <a:rPr lang="en-US" altLang="zh-CN"/>
              <a:t>——“</a:t>
            </a:r>
            <a:r>
              <a:rPr lang="zh-CN" altLang="en-US"/>
              <a:t>如无必要，勿增实体”。即在与</a:t>
            </a:r>
            <a:br>
              <a:rPr lang="zh-CN" altLang="en-US"/>
            </a:br>
            <a:r>
              <a:rPr lang="zh-CN" altLang="en-US"/>
              <a:t>观察相容的情况下，应当选择最简单的一棵决策树。</a:t>
            </a:r>
          </a:p>
          <a:p>
            <a:pPr marL="450850" lvl="0" indent="-450850" eaLnBrk="1" hangingPunct="1">
              <a:buClr>
                <a:srgbClr val="FF3300"/>
              </a:buClr>
              <a:buSzPct val="50000"/>
              <a:buFont typeface="Wingdings" pitchFamily="2" charset="2"/>
              <a:buChar char="l"/>
            </a:pPr>
            <a:r>
              <a:rPr lang="zh-CN" altLang="en-US"/>
              <a:t>决策树越小就越容易理解，其存储与传输的代价也就</a:t>
            </a:r>
            <a:br>
              <a:rPr lang="zh-CN" altLang="en-US"/>
            </a:br>
            <a:r>
              <a:rPr lang="zh-CN" altLang="en-US"/>
              <a:t>越小。</a:t>
            </a:r>
          </a:p>
          <a:p>
            <a:pPr marL="450850" lvl="0" indent="-450850" eaLnBrk="1" hangingPunct="1">
              <a:buClr>
                <a:srgbClr val="FF3300"/>
              </a:buClr>
              <a:buSzPct val="50000"/>
              <a:buFont typeface="Wingdings" pitchFamily="2" charset="2"/>
              <a:buChar char="l"/>
            </a:pPr>
            <a:r>
              <a:rPr lang="zh-CN" altLang="en-US"/>
              <a:t>决策树越复杂，节点越多，每个节点包含的训练样本个数越少，则支持每个节点的假设的样本个数就越少，可能导致决策树在测试集上的</a:t>
            </a:r>
            <a:r>
              <a:rPr lang="zh-CN" altLang="en-US" u="sng"/>
              <a:t>分类错误率就会增大</a:t>
            </a:r>
            <a:r>
              <a:rPr lang="zh-CN" altLang="en-US"/>
              <a:t>。</a:t>
            </a:r>
            <a:br>
              <a:rPr lang="zh-CN" altLang="en-US"/>
            </a:br>
            <a:r>
              <a:rPr lang="zh-CN" altLang="en-US"/>
              <a:t>但决策树过小也会导致错误率较大。因此，</a:t>
            </a:r>
          </a:p>
          <a:p>
            <a:pPr marL="450850" lvl="0" indent="-450850" eaLnBrk="1" hangingPunct="1">
              <a:buClr>
                <a:srgbClr val="FF3300"/>
              </a:buClr>
              <a:buSzPct val="50000"/>
            </a:pPr>
            <a:r>
              <a:rPr lang="zh-CN" altLang="en-US"/>
              <a:t>	</a:t>
            </a:r>
            <a:r>
              <a:rPr lang="zh-CN" altLang="en-US">
                <a:solidFill>
                  <a:srgbClr val="0033CC"/>
                </a:solidFill>
                <a:ea typeface="华文楷体" pitchFamily="2" charset="-122"/>
              </a:rPr>
              <a:t>需要在树的大小与正确率之间寻找均衡点</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1" nodeType="clickEffect">
                                  <p:iterate type="lt">
                                    <p:tmPct val="0"/>
                                  </p:iterate>
                                  <p:childTnLst>
                                    <p:set>
                                      <p:cBhvr additive="base">
                                        <p:cTn id="6" dur="1" fill="hold">
                                          <p:stCondLst>
                                            <p:cond delay="0"/>
                                          </p:stCondLst>
                                        </p:cTn>
                                        <p:tgtEl>
                                          <p:spTgt spid="40963">
                                            <p:txEl>
                                              <p:pRg st="1" end="1"/>
                                            </p:txEl>
                                          </p:spTgt>
                                        </p:tgtEl>
                                        <p:attrNameLst>
                                          <p:attrName>style.visibility</p:attrName>
                                        </p:attrNameLst>
                                      </p:cBhvr>
                                      <p:to>
                                        <p:strVal val="visible"/>
                                      </p:to>
                                    </p:set>
                                    <p:animEffect transition="in" filter="wipe(left)">
                                      <p:cBhvr additive="base">
                                        <p:cTn id="7" dur="500"/>
                                        <p:tgtEl>
                                          <p:spTgt spid="4096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22" presetClass="entr" presetSubtype="8" fill="hold" grpId="1" nodeType="clickEffect">
                                  <p:iterate type="lt">
                                    <p:tmPct val="0"/>
                                  </p:iterate>
                                  <p:childTnLst>
                                    <p:set>
                                      <p:cBhvr additive="base">
                                        <p:cTn id="12" dur="1" fill="hold">
                                          <p:stCondLst>
                                            <p:cond delay="0"/>
                                          </p:stCondLst>
                                        </p:cTn>
                                        <p:tgtEl>
                                          <p:spTgt spid="40963">
                                            <p:txEl>
                                              <p:pRg st="2" end="2"/>
                                            </p:txEl>
                                          </p:spTgt>
                                        </p:tgtEl>
                                        <p:attrNameLst>
                                          <p:attrName>style.visibility</p:attrName>
                                        </p:attrNameLst>
                                      </p:cBhvr>
                                      <p:to>
                                        <p:strVal val="visible"/>
                                      </p:to>
                                    </p:set>
                                    <p:animEffect transition="in" filter="wipe(left)">
                                      <p:cBhvr additive="base">
                                        <p:cTn id="13" dur="500"/>
                                        <p:tgtEl>
                                          <p:spTgt spid="4096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indefinite"/>
                            </p:stCondLst>
                          </p:cTn>
                        </p:par>
                        <p:par>
                          <p:cTn id="16" fill="hold" nodeType="afterGroup">
                            <p:stCondLst>
                              <p:cond delay="0"/>
                            </p:stCondLst>
                            <p:childTnLst>
                              <p:par>
                                <p:cTn id="17" presetID="22" presetClass="entr" presetSubtype="8" fill="hold" grpId="1" nodeType="clickEffect">
                                  <p:iterate type="lt">
                                    <p:tmPct val="0"/>
                                  </p:iterate>
                                  <p:childTnLst>
                                    <p:set>
                                      <p:cBhvr additive="base">
                                        <p:cTn id="18" dur="1" fill="hold">
                                          <p:stCondLst>
                                            <p:cond delay="0"/>
                                          </p:stCondLst>
                                        </p:cTn>
                                        <p:tgtEl>
                                          <p:spTgt spid="40963">
                                            <p:txEl>
                                              <p:pRg st="3" end="3"/>
                                            </p:txEl>
                                          </p:spTgt>
                                        </p:tgtEl>
                                        <p:attrNameLst>
                                          <p:attrName>style.visibility</p:attrName>
                                        </p:attrNameLst>
                                      </p:cBhvr>
                                      <p:to>
                                        <p:strVal val="visible"/>
                                      </p:to>
                                    </p:set>
                                    <p:animEffect transition="in" filter="wipe(left)">
                                      <p:cBhvr additive="base">
                                        <p:cTn id="19" dur="500"/>
                                        <p:tgtEl>
                                          <p:spTgt spid="40963">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indefinite"/>
                            </p:stCondLst>
                          </p:cTn>
                        </p:par>
                        <p:par>
                          <p:cTn id="22" fill="hold" nodeType="afterGroup">
                            <p:stCondLst>
                              <p:cond delay="0"/>
                            </p:stCondLst>
                            <p:childTnLst>
                              <p:par>
                                <p:cTn id="23" presetID="27" presetClass="entr" presetSubtype="0" fill="hold" grpId="1" nodeType="clickEffect">
                                  <p:iterate type="lt">
                                    <p:tmPct val="50000"/>
                                  </p:iterate>
                                  <p:childTnLst>
                                    <p:set>
                                      <p:cBhvr additive="base">
                                        <p:cTn id="24" dur="1" fill="hold">
                                          <p:stCondLst>
                                            <p:cond delay="0"/>
                                          </p:stCondLst>
                                        </p:cTn>
                                        <p:tgtEl>
                                          <p:spTgt spid="40963">
                                            <p:bg/>
                                          </p:spTgt>
                                        </p:tgtEl>
                                        <p:attrNameLst>
                                          <p:attrName>style.visibility</p:attrName>
                                        </p:attrNameLst>
                                      </p:cBhvr>
                                      <p:to>
                                        <p:strVal val="visible"/>
                                      </p:to>
                                    </p:set>
                                    <p:anim calcmode="discrete" valueType="clr">
                                      <p:cBhvr additive="base">
                                        <p:cTn id="25" dur="80" fill="hold"/>
                                        <p:tgtEl>
                                          <p:spTgt spid="40963">
                                            <p:bg/>
                                          </p:spTgt>
                                        </p:tgtEl>
                                        <p:attrNameLst>
                                          <p:attrName>style.color</p:attrName>
                                        </p:attrNameLst>
                                      </p:cBhvr>
                                      <p:tavLst>
                                        <p:tav tm="0">
                                          <p:val>
                                            <p:clrVal>
                                              <a:schemeClr val="accent2"/>
                                            </p:clrVal>
                                          </p:val>
                                        </p:tav>
                                        <p:tav tm="50000">
                                          <p:val>
                                            <p:clrVal>
                                              <a:schemeClr val="hlink"/>
                                            </p:clrVal>
                                          </p:val>
                                        </p:tav>
                                      </p:tavLst>
                                    </p:anim>
                                    <p:anim calcmode="discrete" valueType="clr">
                                      <p:cBhvr additive="base">
                                        <p:cTn id="26" dur="80" fill="hold"/>
                                        <p:tgtEl>
                                          <p:spTgt spid="40963">
                                            <p:bg/>
                                          </p:spTgt>
                                        </p:tgtEl>
                                        <p:attrNameLst>
                                          <p:attrName>fillcolor</p:attrName>
                                        </p:attrNameLst>
                                      </p:cBhvr>
                                      <p:tavLst>
                                        <p:tav tm="0">
                                          <p:val>
                                            <p:clrVal>
                                              <a:schemeClr val="accent2"/>
                                            </p:clrVal>
                                          </p:val>
                                        </p:tav>
                                        <p:tav tm="50000">
                                          <p:val>
                                            <p:clrVal>
                                              <a:schemeClr val="hlink"/>
                                            </p:clrVal>
                                          </p:val>
                                        </p:tav>
                                      </p:tavLst>
                                    </p:anim>
                                    <p:set>
                                      <p:cBhvr additive="base">
                                        <p:cTn id="27" dur="80" fill="hold"/>
                                        <p:tgtEl>
                                          <p:spTgt spid="40963">
                                            <p:bg/>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p:bldP spid="40963" grpId="1"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4.2.3 </a:t>
            </a:r>
            <a:r>
              <a:rPr lang="zh-CN" altLang="en-US"/>
              <a:t>有效性和风险性</a:t>
            </a:r>
          </a:p>
        </p:txBody>
      </p:sp>
      <p:sp>
        <p:nvSpPr>
          <p:cNvPr id="41987"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常用的剪枝技术有预剪枝</a:t>
            </a:r>
            <a:r>
              <a:rPr lang="en-US" altLang="zh-CN"/>
              <a:t>(pre-pruning)</a:t>
            </a:r>
            <a:r>
              <a:rPr lang="zh-CN" altLang="en-US"/>
              <a:t>和后剪枝</a:t>
            </a:r>
            <a:r>
              <a:rPr lang="en-US" altLang="zh-CN"/>
              <a:t>(post-pruning)</a:t>
            </a:r>
            <a:r>
              <a:rPr lang="zh-CN" altLang="en-US"/>
              <a:t>两种。</a:t>
            </a:r>
          </a:p>
          <a:p>
            <a:pPr marL="0" lvl="0" indent="0" eaLnBrk="1" hangingPunct="1">
              <a:lnSpc>
                <a:spcPct val="110000"/>
              </a:lnSpc>
              <a:buClr>
                <a:srgbClr val="FF3300"/>
              </a:buClr>
              <a:buSzPct val="70000"/>
              <a:buFont typeface="Wingdings" pitchFamily="2" charset="2"/>
              <a:buChar char="l"/>
            </a:pPr>
            <a:r>
              <a:rPr lang="zh-CN" altLang="en-US"/>
              <a:t>  </a:t>
            </a:r>
            <a:r>
              <a:rPr lang="zh-CN" altLang="en-US">
                <a:solidFill>
                  <a:srgbClr val="0033CC"/>
                </a:solidFill>
              </a:rPr>
              <a:t>预剪枝</a:t>
            </a:r>
            <a:r>
              <a:rPr lang="zh-CN" altLang="en-US"/>
              <a:t>：在构造决策树时，决定不再对</a:t>
            </a:r>
            <a:r>
              <a:rPr lang="zh-CN" altLang="en-US" u="sng"/>
              <a:t>不纯的训练子集</a:t>
            </a:r>
            <a:br>
              <a:rPr lang="zh-CN" altLang="en-US"/>
            </a:br>
            <a:r>
              <a:rPr lang="zh-CN" altLang="en-US"/>
              <a:t>            进行进一步划分的剪枝方法</a:t>
            </a:r>
            <a:br>
              <a:rPr lang="zh-CN" altLang="en-US"/>
            </a:br>
            <a:r>
              <a:rPr lang="zh-CN" altLang="en-US"/>
              <a:t>            预剪枝技术限制了决策树的过度生长</a:t>
            </a:r>
            <a:br>
              <a:rPr lang="zh-CN" altLang="en-US"/>
            </a:br>
            <a:r>
              <a:rPr lang="zh-CN" altLang="en-US"/>
              <a:t>           如</a:t>
            </a:r>
            <a:r>
              <a:rPr lang="en-US" altLang="zh-CN"/>
              <a:t>CHAID, ID3</a:t>
            </a:r>
            <a:r>
              <a:rPr lang="zh-CN" altLang="en-US"/>
              <a:t>系列的</a:t>
            </a:r>
            <a:r>
              <a:rPr lang="en-US" altLang="zh-CN"/>
              <a:t>ID3</a:t>
            </a:r>
            <a:r>
              <a:rPr lang="zh-CN" altLang="en-US"/>
              <a:t>、</a:t>
            </a:r>
            <a:r>
              <a:rPr lang="en-US" altLang="zh-CN"/>
              <a:t>C4.5</a:t>
            </a:r>
            <a:r>
              <a:rPr lang="zh-CN" altLang="en-US"/>
              <a:t>算法等</a:t>
            </a:r>
          </a:p>
          <a:p>
            <a:pPr marL="0" lvl="0" indent="0" eaLnBrk="1" hangingPunct="1">
              <a:buClr>
                <a:srgbClr val="FF3300"/>
              </a:buClr>
              <a:buSzPct val="70000"/>
              <a:buFont typeface="Wingdings" pitchFamily="2" charset="2"/>
              <a:buChar char="l"/>
            </a:pPr>
            <a:r>
              <a:rPr lang="zh-CN" altLang="en-US"/>
              <a:t>  </a:t>
            </a:r>
            <a:r>
              <a:rPr lang="zh-CN" altLang="en-US">
                <a:solidFill>
                  <a:srgbClr val="0033CC"/>
                </a:solidFill>
              </a:rPr>
              <a:t>后剪枝</a:t>
            </a:r>
            <a:r>
              <a:rPr lang="zh-CN" altLang="en-US"/>
              <a:t>：在树完全生成之后的剪枝策略</a:t>
            </a:r>
            <a:br>
              <a:rPr lang="zh-CN" altLang="en-US"/>
            </a:br>
            <a:r>
              <a:rPr lang="zh-CN" altLang="en-US"/>
              <a:t>            如</a:t>
            </a:r>
            <a:r>
              <a:rPr lang="en-US" altLang="zh-CN"/>
              <a:t>CART</a:t>
            </a:r>
            <a:r>
              <a:rPr lang="zh-CN" altLang="en-US"/>
              <a:t>算法等</a:t>
            </a:r>
          </a:p>
          <a:p>
            <a:pPr marL="0" lvl="0" indent="0" eaLnBrk="1" hangingPunct="1"/>
            <a:r>
              <a:rPr lang="zh-CN" altLang="en-US"/>
              <a:t>	剪枝的目的就是删除由于噪声数据而引起的分枝，从而避免决策树的过匹配。</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4.2.3 </a:t>
            </a:r>
            <a:r>
              <a:rPr lang="zh-CN" altLang="en-US"/>
              <a:t>有效性和风险性</a:t>
            </a:r>
          </a:p>
        </p:txBody>
      </p:sp>
      <p:sp>
        <p:nvSpPr>
          <p:cNvPr id="43011"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预剪枝中最直接而简单的方法是事先指定决策树生长的最大深度，使决策树不能得到充分生长。这种停止标准一般能够取得比较好的效果。不过指定树的高度的方法要求用户对数据的取值分布有较为清晰的把握，而且须对参数值进行反复尝试，否则无法给出一个较为合理的树高度阈值。</a:t>
            </a:r>
          </a:p>
          <a:p>
            <a:pPr marL="0" lvl="0" indent="0" eaLnBrk="1" hangingPunct="1"/>
            <a:r>
              <a:rPr lang="zh-CN" altLang="en-US"/>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childTnLst>
                                    <p:set>
                                      <p:cBhvr additive="base">
                                        <p:cTn id="6" dur="1" fill="hold">
                                          <p:stCondLst>
                                            <p:cond delay="0"/>
                                          </p:stCondLst>
                                        </p:cTn>
                                        <p:tgtEl>
                                          <p:spTgt spid="43011">
                                            <p:txEl>
                                              <p:pRg st="0" end="0"/>
                                            </p:txEl>
                                          </p:spTgt>
                                        </p:tgtEl>
                                        <p:attrNameLst>
                                          <p:attrName>style.visibility</p:attrName>
                                        </p:attrNameLst>
                                      </p:cBhvr>
                                      <p:to>
                                        <p:strVal val="visible"/>
                                      </p:to>
                                    </p:set>
                                    <p:animEffect transition="in" filter="wipe(left)">
                                      <p:cBhvr additive="base">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22" presetClass="entr" presetSubtype="8" fill="hold" grpId="0" nodeType="clickEffect">
                                  <p:childTnLst>
                                    <p:set>
                                      <p:cBhvr additive="base">
                                        <p:cTn id="12" dur="1" fill="hold">
                                          <p:stCondLst>
                                            <p:cond delay="0"/>
                                          </p:stCondLst>
                                        </p:cTn>
                                        <p:tgtEl>
                                          <p:spTgt spid="43011">
                                            <p:txEl>
                                              <p:pRg st="1" end="1"/>
                                            </p:txEl>
                                          </p:spTgt>
                                        </p:tgtEl>
                                        <p:attrNameLst>
                                          <p:attrName>style.visibility</p:attrName>
                                        </p:attrNameLst>
                                      </p:cBhvr>
                                      <p:to>
                                        <p:strVal val="visible"/>
                                      </p:to>
                                    </p:set>
                                    <p:animEffect transition="in" filter="wipe(left)">
                                      <p:cBhvr additive="base">
                                        <p:cTn id="13" dur="500"/>
                                        <p:tgtEl>
                                          <p:spTgt spid="430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4.2.3 </a:t>
            </a:r>
            <a:r>
              <a:rPr lang="zh-CN" altLang="en-US"/>
              <a:t>有效性和风险性</a:t>
            </a:r>
          </a:p>
        </p:txBody>
      </p:sp>
      <p:sp>
        <p:nvSpPr>
          <p:cNvPr id="44035"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后剪枝技术允许决策树过度生长，然后根据一定的</a:t>
            </a:r>
            <a:br>
              <a:rPr lang="zh-CN" altLang="en-US"/>
            </a:br>
            <a:r>
              <a:rPr lang="zh-CN" altLang="en-US"/>
              <a:t>规则，剪去决策树中那些不具有</a:t>
            </a:r>
            <a:r>
              <a:rPr lang="zh-CN" altLang="en-US" u="sng"/>
              <a:t>一般代表性</a:t>
            </a:r>
            <a:r>
              <a:rPr lang="zh-CN" altLang="en-US"/>
              <a:t>的叶节点或分枝。</a:t>
            </a:r>
          </a:p>
          <a:p>
            <a:pPr marL="0" lvl="0" indent="0" eaLnBrk="1" hangingPunct="1"/>
            <a:r>
              <a:rPr lang="zh-CN" altLang="en-US"/>
              <a:t>	后剪枝算法有自上而下和自下而上两种剪枝策略。</a:t>
            </a:r>
          </a:p>
          <a:p>
            <a:pPr marL="0" lvl="0" indent="0" eaLnBrk="1" hangingPunct="1"/>
            <a:r>
              <a:rPr lang="zh-CN" altLang="en-US"/>
              <a:t>	自下而上的算法首先从最底层的内节点开始，剪去满足一定条件的内节点，在生成的新决策树上递归调用这个算法，直到没有可以剪枝的节点为止。</a:t>
            </a:r>
          </a:p>
          <a:p>
            <a:pPr marL="0" lvl="0" indent="0" eaLnBrk="1" hangingPunct="1"/>
            <a:r>
              <a:rPr lang="zh-CN" altLang="en-US"/>
              <a:t>	自上而下的算法是从根节点开始向下逐个考虑节点的剪枝问题，只要节点满足剪枝的条件就进行剪枝。</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4.2.3 </a:t>
            </a:r>
            <a:r>
              <a:rPr lang="zh-CN" altLang="en-US"/>
              <a:t>有效性和风险性</a:t>
            </a:r>
          </a:p>
        </p:txBody>
      </p:sp>
      <p:sp>
        <p:nvSpPr>
          <p:cNvPr id="45059"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a:t>	</a:t>
            </a:r>
            <a:r>
              <a:rPr lang="zh-CN" altLang="en-US"/>
              <a:t>目前，决策树修剪策略主要有三种</a:t>
            </a:r>
            <a:r>
              <a:rPr lang="en-US" altLang="zh-CN"/>
              <a:t>: </a:t>
            </a:r>
            <a:r>
              <a:rPr lang="zh-CN" altLang="en-US"/>
              <a:t>悲观修剪</a:t>
            </a:r>
            <a:r>
              <a:rPr lang="en-US" altLang="zh-CN"/>
              <a:t>(pessimistic pruning)</a:t>
            </a:r>
            <a:r>
              <a:rPr lang="zh-CN" altLang="en-US"/>
              <a:t>，代价复杂度修剪</a:t>
            </a:r>
            <a:r>
              <a:rPr lang="en-US" altLang="zh-CN"/>
              <a:t>(cost-complexity pruning)</a:t>
            </a:r>
            <a:r>
              <a:rPr lang="zh-CN" altLang="en-US"/>
              <a:t>和基于最小描述长度</a:t>
            </a:r>
            <a:r>
              <a:rPr lang="en-US" altLang="zh-CN"/>
              <a:t>(minimum description length</a:t>
            </a:r>
            <a:r>
              <a:rPr lang="zh-CN" altLang="en-US"/>
              <a:t>，</a:t>
            </a:r>
            <a:r>
              <a:rPr lang="en-US" altLang="zh-CN"/>
              <a:t>MDL)</a:t>
            </a:r>
            <a:r>
              <a:rPr lang="zh-CN" altLang="en-US"/>
              <a:t>原理的修剪。</a:t>
            </a:r>
          </a:p>
          <a:p>
            <a:pPr marL="0" lvl="0" indent="0" eaLnBrk="1" hangingPunct="1"/>
            <a:r>
              <a:rPr lang="zh-CN" altLang="en-US"/>
              <a:t>	悲观修剪是</a:t>
            </a:r>
            <a:r>
              <a:rPr lang="en-US" altLang="zh-CN"/>
              <a:t>Quinlan</a:t>
            </a:r>
            <a:r>
              <a:rPr lang="zh-CN" altLang="en-US"/>
              <a:t>在</a:t>
            </a:r>
            <a:r>
              <a:rPr lang="en-US" altLang="zh-CN"/>
              <a:t>1987</a:t>
            </a:r>
            <a:r>
              <a:rPr lang="zh-CN" altLang="en-US"/>
              <a:t>年提出的，该方法将所有的样本用于树的构建和修剪，但是这种方法产生的树太大，并且有时候精度不高。代价复杂度修剪使用了独立的样本用于修剪，这种策略适用于训练样本比较多的情况。在训练样本数目较少的情况下，需要将所有的样本既用于树的构建，又用于树的修剪。基于</a:t>
            </a:r>
            <a:r>
              <a:rPr lang="en-US" altLang="zh-CN"/>
              <a:t>MDL</a:t>
            </a:r>
            <a:r>
              <a:rPr lang="zh-CN" altLang="en-US"/>
              <a:t>原理的修剪是使用较多并且效果较好的方法。</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r>
              <a:rPr lang="en-US" altLang="zh-CN"/>
              <a:t>§4.2 	</a:t>
            </a:r>
            <a:r>
              <a:rPr lang="zh-CN" altLang="en-US"/>
              <a:t>树的建模过程</a:t>
            </a:r>
          </a:p>
        </p:txBody>
      </p:sp>
      <p:sp>
        <p:nvSpPr>
          <p:cNvPr id="46083" name="Rectangle 3"/>
          <p:cNvSpPr>
            <a:spLocks noGrp="1"/>
          </p:cNvSpPr>
          <p:nvPr>
            <p:ph type="body"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r>
              <a:rPr lang="en-US" altLang="zh-CN" sz="2800">
                <a:solidFill>
                  <a:srgbClr val="0033CC"/>
                </a:solidFill>
              </a:rPr>
              <a:t>4.2.4 </a:t>
            </a:r>
            <a:r>
              <a:rPr lang="zh-CN" altLang="en-US" sz="2800">
                <a:solidFill>
                  <a:srgbClr val="0033CC"/>
                </a:solidFill>
              </a:rPr>
              <a:t>属性选择</a:t>
            </a:r>
          </a:p>
          <a:p>
            <a:pPr marL="0" lvl="0" indent="0" eaLnBrk="1" hangingPunct="1"/>
            <a:r>
              <a:rPr lang="zh-CN" altLang="en-US"/>
              <a:t>	</a:t>
            </a:r>
            <a:r>
              <a:rPr lang="zh-CN" altLang="en-US" u="sng"/>
              <a:t>属性选择的统计度量</a:t>
            </a:r>
            <a:r>
              <a:rPr lang="en-US" altLang="zh-CN"/>
              <a:t>(</a:t>
            </a:r>
            <a:r>
              <a:rPr lang="zh-CN" altLang="en-US"/>
              <a:t>又称为</a:t>
            </a:r>
            <a:r>
              <a:rPr lang="zh-CN" altLang="en-US" u="sng"/>
              <a:t>分枝指标</a:t>
            </a:r>
            <a:r>
              <a:rPr lang="en-US" altLang="zh-CN"/>
              <a:t>splitting index</a:t>
            </a:r>
            <a:r>
              <a:rPr lang="zh-CN" altLang="en-US"/>
              <a:t>，</a:t>
            </a:r>
            <a:r>
              <a:rPr lang="en-US" altLang="zh-CN"/>
              <a:t>SI )</a:t>
            </a:r>
            <a:r>
              <a:rPr lang="zh-CN" altLang="en-US"/>
              <a:t>的计算是决策树构建算法的</a:t>
            </a:r>
            <a:r>
              <a:rPr lang="zh-CN" altLang="en-US" u="sng">
                <a:solidFill>
                  <a:srgbClr val="FF3300"/>
                </a:solidFill>
              </a:rPr>
              <a:t>关键</a:t>
            </a:r>
            <a:r>
              <a:rPr lang="zh-CN" altLang="en-US"/>
              <a:t>。</a:t>
            </a:r>
          </a:p>
          <a:p>
            <a:pPr marL="0" lvl="0" indent="0" eaLnBrk="1" hangingPunct="1"/>
            <a:r>
              <a:rPr lang="zh-CN" altLang="en-US"/>
              <a:t>	不同的决策树算法采用不同的统计度量，主要有</a:t>
            </a:r>
            <a:r>
              <a:rPr lang="en-US" altLang="zh-CN"/>
              <a:t>: </a:t>
            </a:r>
          </a:p>
          <a:p>
            <a:pPr marL="0" lvl="0" indent="0" eaLnBrk="1" hangingPunct="1">
              <a:buClr>
                <a:srgbClr val="CC0000"/>
              </a:buClr>
              <a:buSzPct val="70000"/>
              <a:buFont typeface="Wingdings" pitchFamily="2" charset="2"/>
              <a:buChar char="l"/>
            </a:pPr>
            <a:r>
              <a:rPr lang="en-US" altLang="zh-CN"/>
              <a:t>  </a:t>
            </a:r>
            <a:r>
              <a:rPr lang="zh-CN" altLang="en-US"/>
              <a:t>信息增益</a:t>
            </a:r>
            <a:r>
              <a:rPr lang="en-US" altLang="zh-CN"/>
              <a:t>——Information Gain ( ID3</a:t>
            </a:r>
            <a:r>
              <a:rPr lang="zh-CN" altLang="en-US"/>
              <a:t>和</a:t>
            </a:r>
            <a:r>
              <a:rPr lang="en-US" altLang="zh-CN"/>
              <a:t>C4.5</a:t>
            </a:r>
            <a:r>
              <a:rPr lang="zh-CN" altLang="en-US"/>
              <a:t>算法使用</a:t>
            </a:r>
            <a:r>
              <a:rPr lang="en-US" altLang="zh-CN"/>
              <a:t>)</a:t>
            </a:r>
            <a:r>
              <a:rPr lang="zh-CN" altLang="en-US"/>
              <a:t>，</a:t>
            </a:r>
            <a:br>
              <a:rPr lang="zh-CN" altLang="en-US"/>
            </a:br>
            <a:r>
              <a:rPr lang="zh-CN" altLang="en-US"/>
              <a:t>     所有属性假设都是</a:t>
            </a:r>
            <a:r>
              <a:rPr lang="zh-CN" altLang="en-US" u="sng"/>
              <a:t>种类字段</a:t>
            </a:r>
            <a:r>
              <a:rPr lang="zh-CN" altLang="en-US"/>
              <a:t>，经过修改之后可以适用于</a:t>
            </a:r>
            <a:br>
              <a:rPr lang="zh-CN" altLang="en-US"/>
            </a:br>
            <a:r>
              <a:rPr lang="zh-CN" altLang="en-US"/>
              <a:t>     数值字段</a:t>
            </a:r>
            <a:r>
              <a:rPr lang="en-US" altLang="zh-CN"/>
              <a:t>; </a:t>
            </a:r>
          </a:p>
          <a:p>
            <a:pPr marL="0" lvl="0" indent="0" eaLnBrk="1" hangingPunct="1">
              <a:buClr>
                <a:srgbClr val="CC0000"/>
              </a:buClr>
              <a:buSzPct val="70000"/>
              <a:buFont typeface="Wingdings" pitchFamily="2" charset="2"/>
              <a:buChar char="l"/>
            </a:pPr>
            <a:r>
              <a:rPr lang="en-US" altLang="zh-CN"/>
              <a:t> </a:t>
            </a:r>
            <a:r>
              <a:rPr lang="zh-CN" altLang="en-US"/>
              <a:t>基尼指数</a:t>
            </a:r>
            <a:r>
              <a:rPr lang="en-US" altLang="zh-CN"/>
              <a:t>——Gini index(</a:t>
            </a:r>
            <a:r>
              <a:rPr lang="zh-CN" altLang="en-US"/>
              <a:t>即</a:t>
            </a:r>
            <a:r>
              <a:rPr lang="en-US" altLang="zh-CN"/>
              <a:t>Gini</a:t>
            </a:r>
            <a:r>
              <a:rPr lang="zh-CN" altLang="en-US"/>
              <a:t>指标</a:t>
            </a:r>
            <a:r>
              <a:rPr lang="en-US" altLang="zh-CN"/>
              <a:t>)</a:t>
            </a:r>
            <a:br>
              <a:rPr lang="en-US" altLang="zh-CN"/>
            </a:br>
            <a:r>
              <a:rPr lang="en-US" altLang="zh-CN"/>
              <a:t>    CART</a:t>
            </a:r>
            <a:r>
              <a:rPr lang="zh-CN" altLang="en-US"/>
              <a:t>算法、</a:t>
            </a:r>
            <a:r>
              <a:rPr lang="en-US" altLang="zh-CN"/>
              <a:t>CHAID</a:t>
            </a:r>
            <a:r>
              <a:rPr lang="zh-CN" altLang="en-US"/>
              <a:t>算法和</a:t>
            </a:r>
            <a:r>
              <a:rPr lang="en-US" altLang="zh-CN"/>
              <a:t>SLIQ</a:t>
            </a:r>
            <a:r>
              <a:rPr lang="zh-CN" altLang="en-US"/>
              <a:t>算法使用</a:t>
            </a:r>
            <a:br>
              <a:rPr lang="zh-CN" altLang="en-US"/>
            </a:br>
            <a:r>
              <a:rPr lang="zh-CN" altLang="en-US"/>
              <a:t>    适用于种类和数值字段等等。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childTnLst>
                                    <p:set>
                                      <p:cBhvr additive="base">
                                        <p:cTn id="6" dur="1" fill="hold">
                                          <p:stCondLst>
                                            <p:cond delay="0"/>
                                          </p:stCondLst>
                                        </p:cTn>
                                        <p:tgtEl>
                                          <p:spTgt spid="46083">
                                            <p:txEl>
                                              <p:pRg st="1" end="1"/>
                                            </p:txEl>
                                          </p:spTgt>
                                        </p:tgtEl>
                                        <p:attrNameLst>
                                          <p:attrName>style.visibility</p:attrName>
                                        </p:attrNameLst>
                                      </p:cBhvr>
                                      <p:to>
                                        <p:strVal val="visible"/>
                                      </p:to>
                                    </p:set>
                                    <p:animEffect transition="in" filter="wipe(left)">
                                      <p:cBhvr additive="base">
                                        <p:cTn id="7" dur="500"/>
                                        <p:tgtEl>
                                          <p:spTgt spid="460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indefinite"/>
                            </p:stCondLst>
                          </p:cTn>
                        </p:par>
                        <p:par>
                          <p:cTn id="10" fill="hold" nodeType="afterGroup">
                            <p:stCondLst>
                              <p:cond delay="0"/>
                            </p:stCondLst>
                            <p:childTnLst>
                              <p:par>
                                <p:cTn id="11" presetID="22" presetClass="entr" presetSubtype="8" fill="hold" grpId="0" nodeType="clickEffect">
                                  <p:childTnLst>
                                    <p:set>
                                      <p:cBhvr additive="base">
                                        <p:cTn id="12" dur="1" fill="hold">
                                          <p:stCondLst>
                                            <p:cond delay="0"/>
                                          </p:stCondLst>
                                        </p:cTn>
                                        <p:tgtEl>
                                          <p:spTgt spid="46083">
                                            <p:txEl>
                                              <p:pRg st="2" end="2"/>
                                            </p:txEl>
                                          </p:spTgt>
                                        </p:tgtEl>
                                        <p:attrNameLst>
                                          <p:attrName>style.visibility</p:attrName>
                                        </p:attrNameLst>
                                      </p:cBhvr>
                                      <p:to>
                                        <p:strVal val="visible"/>
                                      </p:to>
                                    </p:set>
                                    <p:animEffect transition="in" filter="wipe(left)">
                                      <p:cBhvr additive="base">
                                        <p:cTn id="13" dur="500"/>
                                        <p:tgtEl>
                                          <p:spTgt spid="4608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indefinite"/>
                            </p:stCondLst>
                          </p:cTn>
                        </p:par>
                        <p:par>
                          <p:cTn id="16" fill="hold" nodeType="afterGroup">
                            <p:stCondLst>
                              <p:cond delay="0"/>
                            </p:stCondLst>
                            <p:childTnLst>
                              <p:par>
                                <p:cTn id="17" presetID="22" presetClass="entr" presetSubtype="8" fill="hold" grpId="0" nodeType="clickEffect">
                                  <p:childTnLst>
                                    <p:set>
                                      <p:cBhvr additive="base">
                                        <p:cTn id="18" dur="1" fill="hold">
                                          <p:stCondLst>
                                            <p:cond delay="0"/>
                                          </p:stCondLst>
                                        </p:cTn>
                                        <p:tgtEl>
                                          <p:spTgt spid="46083">
                                            <p:txEl>
                                              <p:pRg st="3" end="3"/>
                                            </p:txEl>
                                          </p:spTgt>
                                        </p:tgtEl>
                                        <p:attrNameLst>
                                          <p:attrName>style.visibility</p:attrName>
                                        </p:attrNameLst>
                                      </p:cBhvr>
                                      <p:to>
                                        <p:strVal val="visible"/>
                                      </p:to>
                                    </p:set>
                                    <p:animEffect transition="in" filter="wipe(left)">
                                      <p:cBhvr additive="base">
                                        <p:cTn id="19" dur="500"/>
                                        <p:tgtEl>
                                          <p:spTgt spid="46083">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indefinite"/>
                            </p:stCondLst>
                          </p:cTn>
                        </p:par>
                        <p:par>
                          <p:cTn id="22" fill="hold" nodeType="afterGroup">
                            <p:stCondLst>
                              <p:cond delay="0"/>
                            </p:stCondLst>
                            <p:childTnLst>
                              <p:par>
                                <p:cTn id="23" presetID="22" presetClass="entr" presetSubtype="8" fill="hold" grpId="0" nodeType="clickEffect">
                                  <p:childTnLst>
                                    <p:set>
                                      <p:cBhvr additive="base">
                                        <p:cTn id="24" dur="1" fill="hold">
                                          <p:stCondLst>
                                            <p:cond delay="0"/>
                                          </p:stCondLst>
                                        </p:cTn>
                                        <p:tgtEl>
                                          <p:spTgt spid="46083">
                                            <p:txEl>
                                              <p:pRg st="4" end="4"/>
                                            </p:txEl>
                                          </p:spTgt>
                                        </p:tgtEl>
                                        <p:attrNameLst>
                                          <p:attrName>style.visibility</p:attrName>
                                        </p:attrNameLst>
                                      </p:cBhvr>
                                      <p:to>
                                        <p:strVal val="visible"/>
                                      </p:to>
                                    </p:set>
                                    <p:animEffect transition="in" filter="wipe(left)">
                                      <p:cBhvr additive="base">
                                        <p:cTn id="25" dur="500"/>
                                        <p:tgtEl>
                                          <p:spTgt spid="460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idx="4294967295"/>
          </p:nvPr>
        </p:nvSpPr>
        <p:spPr>
          <a:xfrm>
            <a:off x="457200" y="457200"/>
            <a:ext cx="8229600" cy="595312"/>
          </a:xfrm>
          <a:prstGeom prst="rect">
            <a:avLst/>
          </a:prstGeom>
          <a:noFill/>
          <a:ln>
            <a:miter lim="800000"/>
          </a:ln>
        </p:spPr>
        <p:txBody>
          <a:bodyPr vert="horz" wrap="square" lIns="91440" tIns="45720" rIns="91440" bIns="45720" anchor="ctr" anchorCtr="0">
            <a:noAutofit/>
          </a:bodyPr>
          <a:lstStyle>
            <a:lvl1pPr marL="0" indent="0" algn="l" defTabSz="914400" rtl="0" eaLnBrk="0" fontAlgn="base" hangingPunct="0">
              <a:lnSpc>
                <a:spcPct val="100000"/>
              </a:lnSpc>
              <a:spcBef>
                <a:spcPct val="0"/>
              </a:spcBef>
              <a:spcAft>
                <a:spcPct val="0"/>
              </a:spcAft>
              <a:buClrTx/>
              <a:buSzTx/>
              <a:buFontTx/>
              <a:buNone/>
              <a:defRPr kumimoji="0" lang="zh-CN" altLang="en-US" sz="2400" b="1" i="0" u="none">
                <a:solidFill>
                  <a:srgbClr val="CC0000"/>
                </a:solidFill>
                <a:latin typeface="+mj-lt"/>
                <a:ea typeface="+mj-ea"/>
                <a:cs typeface="+mj-cs"/>
              </a:defRPr>
            </a:lvl1pPr>
            <a:lvl2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2pPr>
            <a:lvl3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3pPr>
            <a:lvl4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4pPr>
            <a:lvl5pPr algn="l" rtl="0" eaLnBrk="0" fontAlgn="base" hangingPunct="0">
              <a:spcBef>
                <a:spcPct val="0"/>
              </a:spcBef>
              <a:spcAft>
                <a:spcPct val="0"/>
              </a:spcAft>
              <a:defRPr lang="zh-CN" altLang="en-US" sz="2400" b="1">
                <a:solidFill>
                  <a:srgbClr val="CC0000"/>
                </a:solidFill>
                <a:latin typeface="Times New Roman" pitchFamily="18" charset="0"/>
                <a:ea typeface="黑体" pitchFamily="2" charset="-122"/>
              </a:defRPr>
            </a:lvl5pPr>
            <a:lvl6pPr marL="457200" algn="l" rtl="0" fontAlgn="base">
              <a:spcBef>
                <a:spcPct val="0"/>
              </a:spcBef>
              <a:spcAft>
                <a:spcPct val="0"/>
              </a:spcAft>
              <a:defRPr lang="zh-CN" altLang="en-US" sz="2400" b="1">
                <a:solidFill>
                  <a:srgbClr val="CC0000"/>
                </a:solidFill>
                <a:latin typeface="Times New Roman" pitchFamily="18" charset="0"/>
                <a:ea typeface="黑体" pitchFamily="2" charset="-122"/>
              </a:defRPr>
            </a:lvl6pPr>
            <a:lvl7pPr marL="914400" algn="l" rtl="0" fontAlgn="base">
              <a:spcBef>
                <a:spcPct val="0"/>
              </a:spcBef>
              <a:spcAft>
                <a:spcPct val="0"/>
              </a:spcAft>
              <a:defRPr lang="zh-CN" altLang="en-US" sz="2400" b="1">
                <a:solidFill>
                  <a:srgbClr val="CC0000"/>
                </a:solidFill>
                <a:latin typeface="Times New Roman" pitchFamily="18" charset="0"/>
                <a:ea typeface="黑体" pitchFamily="2" charset="-122"/>
              </a:defRPr>
            </a:lvl7pPr>
            <a:lvl8pPr marL="1371600" algn="l" rtl="0" fontAlgn="base">
              <a:spcBef>
                <a:spcPct val="0"/>
              </a:spcBef>
              <a:spcAft>
                <a:spcPct val="0"/>
              </a:spcAft>
              <a:defRPr lang="zh-CN" altLang="en-US" sz="2400" b="1">
                <a:solidFill>
                  <a:srgbClr val="CC0000"/>
                </a:solidFill>
                <a:latin typeface="Times New Roman" pitchFamily="18" charset="0"/>
                <a:ea typeface="黑体" pitchFamily="2" charset="-122"/>
              </a:defRPr>
            </a:lvl8pPr>
            <a:lvl9pPr marL="1828800" algn="l" rtl="0" fontAlgn="base">
              <a:spcBef>
                <a:spcPct val="0"/>
              </a:spcBef>
              <a:spcAft>
                <a:spcPct val="0"/>
              </a:spcAft>
              <a:defRPr lang="zh-CN" altLang="en-US" sz="2400" b="1">
                <a:solidFill>
                  <a:srgbClr val="CC0000"/>
                </a:solidFill>
                <a:latin typeface="Times New Roman" pitchFamily="18" charset="0"/>
                <a:ea typeface="黑体" pitchFamily="2" charset="-122"/>
              </a:defRPr>
            </a:lvl9pPr>
          </a:lstStyle>
          <a:p>
            <a:pPr lvl="0" eaLnBrk="1" hangingPunct="1"/>
            <a:endParaRPr lang="zh-CN" altLang="en-US"/>
          </a:p>
        </p:txBody>
      </p:sp>
      <p:sp>
        <p:nvSpPr>
          <p:cNvPr id="47107" name="内容占位符 2"/>
          <p:cNvSpPr>
            <a:spLocks noGrp="1"/>
          </p:cNvSpPr>
          <p:nvPr>
            <p:ph idx="4294967295"/>
          </p:nvPr>
        </p:nvSpPr>
        <p:spPr>
          <a:xfrm>
            <a:off x="457200" y="1196975"/>
            <a:ext cx="8229600" cy="4670425"/>
          </a:xfrm>
          <a:prstGeom prst="rect">
            <a:avLst/>
          </a:prstGeom>
          <a:noFill/>
          <a:ln>
            <a:miter lim="800000"/>
          </a:ln>
        </p:spPr>
        <p:txBody>
          <a:bodyPr vert="horz" wrap="square" lIns="91440" tIns="45720" rIns="91440" bIns="45720" anchor="t" anchorCtr="0">
            <a:noAutofit/>
          </a:bodyPr>
          <a:lstStyle>
            <a:lvl1pPr marL="0" indent="0" algn="l" rtl="0" eaLnBrk="0" fontAlgn="base" hangingPunct="0">
              <a:lnSpc>
                <a:spcPct val="120000"/>
              </a:lnSpc>
              <a:spcBef>
                <a:spcPct val="20000"/>
              </a:spcBef>
              <a:spcAft>
                <a:spcPct val="0"/>
              </a:spcAft>
              <a:buClr>
                <a:schemeClr val="bg2"/>
              </a:buClr>
              <a:buSzPct val="75000"/>
              <a:buFont typeface="Wingdings" pitchFamily="2" charset="2"/>
              <a:buNone/>
              <a:defRPr kumimoji="0" lang="zh-CN" altLang="en-US" sz="2400" b="1" i="0" u="none">
                <a:solidFill>
                  <a:schemeClr val="tx1"/>
                </a:solidFill>
                <a:latin typeface="+mn-lt"/>
                <a:ea typeface="+mn-ea"/>
                <a:cs typeface="+mn-cs"/>
              </a:defRPr>
            </a:lvl1pPr>
            <a:lvl2pPr marL="742950" indent="-285750" algn="l" rtl="0" eaLnBrk="0" fontAlgn="base" hangingPunct="0">
              <a:lnSpc>
                <a:spcPct val="100000"/>
              </a:lnSpc>
              <a:spcBef>
                <a:spcPct val="20000"/>
              </a:spcBef>
              <a:spcAft>
                <a:spcPct val="0"/>
              </a:spcAft>
              <a:buClr>
                <a:schemeClr val="accent2"/>
              </a:buClr>
              <a:buSzPct val="80000"/>
              <a:buFont typeface="Wingdings" pitchFamily="2" charset="2"/>
              <a:buChar char="¨"/>
              <a:defRPr kumimoji="0" lang="zh-CN" altLang="en-US" sz="2800" b="0" i="0" u="none">
                <a:solidFill>
                  <a:schemeClr val="tx1"/>
                </a:solidFill>
                <a:latin typeface="Arial"/>
                <a:ea typeface="宋体" pitchFamily="2" charset="-122"/>
              </a:defRPr>
            </a:lvl2pPr>
            <a:lvl3pPr marL="1143000" indent="-228600" algn="l" rtl="0" eaLnBrk="0" fontAlgn="base" hangingPunct="0">
              <a:lnSpc>
                <a:spcPct val="100000"/>
              </a:lnSpc>
              <a:spcBef>
                <a:spcPct val="20000"/>
              </a:spcBef>
              <a:spcAft>
                <a:spcPct val="0"/>
              </a:spcAft>
              <a:buClr>
                <a:schemeClr val="bg2"/>
              </a:buClr>
              <a:buSzPct val="65000"/>
              <a:buFont typeface="Wingdings" pitchFamily="2" charset="2"/>
              <a:buChar char="n"/>
              <a:defRPr kumimoji="0" lang="zh-CN" altLang="en-US" sz="2400" b="0" i="0" u="none">
                <a:solidFill>
                  <a:schemeClr val="tx1"/>
                </a:solidFill>
                <a:latin typeface="Arial"/>
                <a:ea typeface="宋体" pitchFamily="2" charset="-122"/>
              </a:defRPr>
            </a:lvl3pPr>
            <a:lvl4pPr marL="1600200" indent="-228600" algn="l" rtl="0" eaLnBrk="0" fontAlgn="base" hangingPunct="0">
              <a:lnSpc>
                <a:spcPct val="100000"/>
              </a:lnSpc>
              <a:spcBef>
                <a:spcPct val="20000"/>
              </a:spcBef>
              <a:spcAft>
                <a:spcPct val="0"/>
              </a:spcAft>
              <a:buClr>
                <a:schemeClr val="accent2"/>
              </a:buClr>
              <a:buSzPct val="70000"/>
              <a:buFont typeface="Wingdings" pitchFamily="2" charset="2"/>
              <a:buChar char="¨"/>
              <a:defRPr kumimoji="0" lang="zh-CN" altLang="en-US" sz="2000" b="0" i="0" u="none">
                <a:solidFill>
                  <a:schemeClr val="tx1"/>
                </a:solidFill>
                <a:latin typeface="Arial"/>
                <a:ea typeface="宋体" pitchFamily="2" charset="-122"/>
              </a:defRPr>
            </a:lvl4pPr>
            <a:lvl5pPr marL="2057400" indent="-228600" algn="l" defTabSz="914400" rtl="0" eaLnBrk="0" fontAlgn="base" hangingPunct="0">
              <a:lnSpc>
                <a:spcPct val="100000"/>
              </a:lnSpc>
              <a:spcBef>
                <a:spcPct val="20000"/>
              </a:spcBef>
              <a:spcAft>
                <a:spcPct val="0"/>
              </a:spcAft>
              <a:buClr>
                <a:schemeClr val="bg2"/>
              </a:buClr>
              <a:buSzTx/>
              <a:buFont typeface="Wingdings" pitchFamily="2" charset="2"/>
              <a:buChar char="§"/>
              <a:tabLst>
                <a:tab pos="630238" algn="l"/>
                <a:tab pos="630238" algn="l"/>
              </a:tabLst>
              <a:defRPr kumimoji="0" lang="zh-CN" altLang="en-US" sz="2000" b="0" i="0" u="none">
                <a:solidFill>
                  <a:schemeClr val="tx1"/>
                </a:solidFill>
                <a:latin typeface="Arial"/>
                <a:ea typeface="宋体" pitchFamily="2" charset="-122"/>
              </a:defRPr>
            </a:lvl5pPr>
            <a:lvl6pPr marL="25146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6pPr>
            <a:lvl7pPr marL="29718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7pPr>
            <a:lvl8pPr marL="34290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8pPr>
            <a:lvl9pPr marL="3886200" indent="-228600" algn="l" rtl="0" fontAlgn="base">
              <a:spcBef>
                <a:spcPct val="20000"/>
              </a:spcBef>
              <a:spcAft>
                <a:spcPct val="0"/>
              </a:spcAft>
              <a:buClr>
                <a:schemeClr val="bg2"/>
              </a:buClr>
              <a:buFont typeface="Wingdings" pitchFamily="2" charset="2"/>
              <a:buChar char="§"/>
              <a:tabLst>
                <a:tab pos="630238" algn="l"/>
              </a:tabLst>
              <a:defRPr lang="zh-CN" altLang="en-US" sz="2000">
                <a:solidFill>
                  <a:schemeClr val="tx1"/>
                </a:solidFill>
                <a:latin typeface="Arial"/>
                <a:ea typeface="宋体" pitchFamily="2" charset="-122"/>
              </a:defRPr>
            </a:lvl9pPr>
          </a:lstStyle>
          <a:p>
            <a:pPr marL="0" lvl="0" indent="0" eaLnBrk="1" hangingPunct="1"/>
            <a:endParaRPr lang="en-US" altLang="zh-CN"/>
          </a:p>
          <a:p>
            <a:pPr marL="0" lvl="0" indent="0" eaLnBrk="1" hangingPunct="1"/>
            <a:endParaRPr lang="en-US" altLang="zh-CN"/>
          </a:p>
          <a:p>
            <a:pPr marL="0" lvl="0" indent="0" eaLnBrk="1" hangingPunct="1"/>
            <a:endParaRPr lang="en-US" altLang="zh-CN"/>
          </a:p>
          <a:p>
            <a:pPr marL="0" lvl="0" indent="0" eaLnBrk="1" hangingPunct="1"/>
            <a:endParaRPr lang="en-US" altLang="zh-CN"/>
          </a:p>
          <a:p>
            <a:pPr marL="0" lvl="0" indent="0" eaLnBrk="1" hangingPunct="1"/>
            <a:endParaRPr lang="en-US" altLang="zh-CN"/>
          </a:p>
          <a:p>
            <a:pPr marL="0" lvl="0" indent="0" eaLnBrk="1" hangingPunct="1"/>
            <a:endParaRPr lang="en-US" altLang="zh-CN"/>
          </a:p>
          <a:p>
            <a:pPr marL="0" lvl="0" indent="0" eaLnBrk="1" hangingPunct="1"/>
            <a:r>
              <a:rPr lang="en-US" altLang="zh-CN"/>
              <a:t>        </a:t>
            </a:r>
          </a:p>
          <a:p>
            <a:pPr marL="0" lvl="0" indent="0" eaLnBrk="1" hangingPunct="1"/>
            <a:endParaRPr lang="en-US" altLang="zh-CN"/>
          </a:p>
          <a:p>
            <a:pPr marL="0" lvl="0" indent="0" eaLnBrk="1" hangingPunct="1"/>
            <a:r>
              <a:rPr lang="en-US" altLang="zh-CN"/>
              <a:t>                                                     TO BE CONTINUED……</a:t>
            </a:r>
          </a:p>
          <a:p>
            <a:pPr marL="0" lvl="0" indent="0" eaLnBrk="1" hangingPunct="1"/>
            <a:r>
              <a:rPr lang="en-US" altLang="zh-CN"/>
              <a:t>     </a:t>
            </a:r>
            <a:endParaRPr lang="zh-CN" alt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内容占位符 2"/>
          <p:cNvSpPr>
            <a:spLocks noGrp="1" noChangeArrowheads="1"/>
          </p:cNvSpPr>
          <p:nvPr>
            <p:ph idx="1"/>
          </p:nvPr>
        </p:nvSpPr>
        <p:spPr>
          <a:xfrm>
            <a:off x="201613" y="107950"/>
            <a:ext cx="8942387" cy="6750050"/>
          </a:xfrm>
        </p:spPr>
        <p:txBody>
          <a:bodyPr/>
          <a:lstStyle/>
          <a:p>
            <a:pPr eaLnBrk="1" latinLnBrk="1" hangingPunct="1"/>
            <a:r>
              <a:rPr lang="zh-CN" altLang="en-US" sz="100" dirty="0">
                <a:solidFill>
                  <a:schemeClr val="bg1"/>
                </a:solidFill>
              </a:rPr>
              <a:t>树立质量法制观念、提高全员质量意识。</a:t>
            </a:r>
            <a:fld id="{8783E792-0C77-4310-9007-49D6FCB0D4D9}" type="datetime7">
              <a:rPr lang="zh-CN" altLang="en-US" sz="100" dirty="0" smtClean="0">
                <a:solidFill>
                  <a:schemeClr val="bg1"/>
                </a:solidFill>
              </a:rPr>
              <a:t>20.11.1</a:t>
            </a:fld>
            <a:fld id="{F97726ED-815B-4236-8CB6-8497C7A9D243}" type="datetime7">
              <a:rPr lang="zh-CN" altLang="en-US" sz="100" dirty="0" smtClean="0">
                <a:solidFill>
                  <a:schemeClr val="bg1"/>
                </a:solidFill>
              </a:rPr>
              <a:t>20.11.1</a:t>
            </a:fld>
            <a:fld id="{A022396E-918D-44E2-BD4D-CB285046C814}" type="datetime2">
              <a:rPr lang="en-US" altLang="zh-CN" sz="100" dirty="0" smtClean="0">
                <a:solidFill>
                  <a:schemeClr val="bg1"/>
                </a:solidFill>
              </a:rPr>
              <a:t>Sunday, November 1, 2020</a:t>
            </a:fld>
            <a:endParaRPr lang="zh-CN" altLang="en-US" sz="100" dirty="0">
              <a:solidFill>
                <a:schemeClr val="bg1"/>
              </a:solidFill>
            </a:endParaRPr>
          </a:p>
          <a:p>
            <a:pPr eaLnBrk="1" latinLnBrk="1" hangingPunct="1"/>
            <a:r>
              <a:rPr lang="zh-CN" altLang="en-US" sz="100" dirty="0">
                <a:solidFill>
                  <a:schemeClr val="bg1"/>
                </a:solidFill>
              </a:rPr>
              <a:t>人生得意须尽欢，莫使金樽空对月。</a:t>
            </a:r>
            <a:fld id="{DAE7C1FF-57B2-4790-9979-1624DB556760}" type="datetime11">
              <a:rPr lang="zh-CN" altLang="en-US" sz="100" dirty="0" smtClean="0">
                <a:solidFill>
                  <a:schemeClr val="bg1"/>
                </a:solidFill>
              </a:rPr>
              <a:t>20:41:44</a:t>
            </a:fld>
            <a:fld id="{4028AC10-AB97-4525-BD43-0E684F3B5B43}" type="datetime11">
              <a:rPr lang="zh-CN" altLang="en-US" sz="100" dirty="0" smtClean="0">
                <a:solidFill>
                  <a:schemeClr val="bg1"/>
                </a:solidFill>
              </a:rPr>
              <a:t>20:41:44</a:t>
            </a:fld>
            <a:fld id="{7EE3E8DE-3727-40E3-8B7D-5A69FA8DB81B}" type="datetime10">
              <a:rPr lang="zh-CN" altLang="en-US" sz="100" dirty="0" smtClean="0">
                <a:solidFill>
                  <a:schemeClr val="bg1"/>
                </a:solidFill>
              </a:rPr>
              <a:t>20:41</a:t>
            </a:fld>
            <a:fld id="{1E6AE1D7-96BA-430D-A91D-24D6736265D4}" type="datetime9">
              <a:rPr lang="en-US" altLang="zh-CN" sz="100" dirty="0" smtClean="0">
                <a:solidFill>
                  <a:schemeClr val="bg1"/>
                </a:solidFill>
              </a:rPr>
              <a:t>11/1/2020 8:41:44 PM</a:t>
            </a:fld>
            <a:endParaRPr lang="zh-CN" altLang="en-US" sz="100" dirty="0">
              <a:solidFill>
                <a:schemeClr val="bg1"/>
              </a:solidFill>
            </a:endParaRPr>
          </a:p>
          <a:p>
            <a:pPr eaLnBrk="1" latinLnBrk="1" hangingPunct="1"/>
            <a:r>
              <a:rPr lang="zh-CN" altLang="en-US" sz="100" dirty="0">
                <a:solidFill>
                  <a:schemeClr val="bg1"/>
                </a:solidFill>
              </a:rPr>
              <a:t>安全象只弓，不拉它就松，要想保安全，常把弓弦绷。</a:t>
            </a:r>
            <a:fld id="{6CABE510-DE35-407E-AA94-CF8487A8CA32}" type="datetime7">
              <a:rPr lang="zh-CN" altLang="en-US" sz="100" dirty="0" smtClean="0">
                <a:solidFill>
                  <a:schemeClr val="bg1"/>
                </a:solidFill>
              </a:rPr>
              <a:t>20.11.1</a:t>
            </a:fld>
            <a:fld id="{BD21B04E-5391-46DB-B8EA-3D9DF396C3E2}" type="datetime11">
              <a:rPr lang="zh-CN" altLang="en-US" sz="100" dirty="0" smtClean="0">
                <a:solidFill>
                  <a:schemeClr val="bg1"/>
                </a:solidFill>
              </a:rPr>
              <a:t>20:41:44</a:t>
            </a:fld>
            <a:fld id="{7E3F4801-DD09-4E88-97D1-2FD627EBE772}" type="datetime10">
              <a:rPr lang="zh-CN" altLang="en-US" sz="100" dirty="0" smtClean="0">
                <a:solidFill>
                  <a:schemeClr val="bg1"/>
                </a:solidFill>
              </a:rPr>
              <a:t>20:41</a:t>
            </a:fld>
            <a:fld id="{381CE61A-FF82-4130-B67A-F488ED1A94C0}" type="datetime7">
              <a:rPr lang="en-US" altLang="zh-CN" sz="100" dirty="0" smtClean="0">
                <a:solidFill>
                  <a:schemeClr val="bg1"/>
                </a:solidFill>
              </a:rPr>
              <a:t>Nov-20</a:t>
            </a:fld>
            <a:fld id="{1449FCD2-B8ED-4531-8211-4D229480A47C}" type="datetime5">
              <a:rPr lang="en-US" altLang="zh-CN" sz="100" dirty="0" smtClean="0">
                <a:solidFill>
                  <a:schemeClr val="bg1"/>
                </a:solidFill>
              </a:rPr>
              <a:t>1-Nov-20</a:t>
            </a:fld>
            <a:endParaRPr lang="zh-CN" altLang="en-US" sz="100" dirty="0">
              <a:solidFill>
                <a:schemeClr val="bg1"/>
              </a:solidFill>
            </a:endParaRPr>
          </a:p>
          <a:p>
            <a:pPr eaLnBrk="1" latinLnBrk="1" hangingPunct="1"/>
            <a:r>
              <a:rPr lang="zh-CN" altLang="en-US" sz="100" dirty="0">
                <a:solidFill>
                  <a:schemeClr val="bg1"/>
                </a:solidFill>
              </a:rPr>
              <a:t>加强交通建设管理，确保工程建设质量。</a:t>
            </a:r>
            <a:fld id="{81E8EEC4-D863-41E7-A5AB-09C4A216DF21}" type="datetime11">
              <a:rPr lang="zh-CN" altLang="en-US" sz="100" dirty="0" smtClean="0">
                <a:solidFill>
                  <a:schemeClr val="bg1"/>
                </a:solidFill>
              </a:rPr>
              <a:t>20:41:44</a:t>
            </a:fld>
            <a:fld id="{5E4242E9-3149-42D8-AFB7-43DC1EEDE84A}" type="datetime11">
              <a:rPr lang="zh-CN" altLang="en-US" sz="100" dirty="0" smtClean="0">
                <a:solidFill>
                  <a:schemeClr val="bg1"/>
                </a:solidFill>
              </a:rPr>
              <a:t>20:41:44</a:t>
            </a:fld>
            <a:fld id="{93807F73-7F97-4316-A065-E2E26890F28D}" type="datetime10">
              <a:rPr lang="zh-CN" altLang="en-US" sz="100" dirty="0" smtClean="0">
                <a:solidFill>
                  <a:schemeClr val="bg1"/>
                </a:solidFill>
              </a:rPr>
              <a:t>20:41</a:t>
            </a:fld>
            <a:fld id="{5A5E4BB7-A289-4AD7-830A-419AA2AEA00F}" type="datetime2">
              <a:rPr lang="en-US" altLang="zh-CN" sz="100" dirty="0" smtClean="0">
                <a:solidFill>
                  <a:schemeClr val="bg1"/>
                </a:solidFill>
              </a:rPr>
              <a:t>Sunday, November 1, 2020</a:t>
            </a:fld>
            <a:endParaRPr lang="zh-CN" altLang="en-US" sz="100" dirty="0">
              <a:solidFill>
                <a:schemeClr val="bg1"/>
              </a:solidFill>
            </a:endParaRPr>
          </a:p>
          <a:p>
            <a:pPr eaLnBrk="1" latinLnBrk="1" hangingPunct="1"/>
            <a:r>
              <a:rPr lang="zh-CN" altLang="en-US" sz="100" dirty="0">
                <a:solidFill>
                  <a:schemeClr val="bg1"/>
                </a:solidFill>
              </a:rPr>
              <a:t>安全在于心细，事故出在麻痹。</a:t>
            </a:r>
            <a:fld id="{BF006893-7DB9-4B57-A14A-9597BD1BD07B}" type="datetime7">
              <a:rPr lang="zh-CN" altLang="en-US" sz="100" dirty="0" smtClean="0">
                <a:solidFill>
                  <a:schemeClr val="bg1"/>
                </a:solidFill>
              </a:rPr>
              <a:t>20.11.1</a:t>
            </a:fld>
            <a:fld id="{073A99F5-F8DC-4095-AE72-6440D81639D7}" type="datetime7">
              <a:rPr lang="zh-CN" altLang="en-US" sz="100" dirty="0" smtClean="0">
                <a:solidFill>
                  <a:schemeClr val="bg1"/>
                </a:solidFill>
              </a:rPr>
              <a:t>20.11.1</a:t>
            </a:fld>
            <a:fld id="{06E23E54-605E-475F-B996-AF7777FEE4B5}" type="datetime11">
              <a:rPr lang="zh-CN" altLang="en-US" sz="100" dirty="0" smtClean="0">
                <a:solidFill>
                  <a:schemeClr val="bg1"/>
                </a:solidFill>
              </a:rPr>
              <a:t>20:41:44</a:t>
            </a:fld>
            <a:fld id="{ADF0B8C2-491F-4F93-81F3-BCBF04129E25}" type="datetime11">
              <a:rPr lang="zh-CN" altLang="en-US" sz="100" dirty="0" smtClean="0">
                <a:solidFill>
                  <a:schemeClr val="bg1"/>
                </a:solidFill>
              </a:rPr>
              <a:t>20:41:44</a:t>
            </a:fld>
            <a:fld id="{9E35AE90-DEC3-402E-82E6-D6BD8E82662A}" type="datetime4">
              <a:rPr lang="en-US" altLang="zh-CN" sz="100" dirty="0" smtClean="0">
                <a:solidFill>
                  <a:schemeClr val="bg1"/>
                </a:solidFill>
              </a:rPr>
              <a:t>November 1, 2020</a:t>
            </a:fld>
            <a:endParaRPr lang="zh-CN" altLang="en-US" sz="100" dirty="0">
              <a:solidFill>
                <a:schemeClr val="bg1"/>
              </a:solidFill>
            </a:endParaRPr>
          </a:p>
          <a:p>
            <a:pPr eaLnBrk="1" latinLnBrk="1" hangingPunct="1"/>
            <a:r>
              <a:rPr lang="zh-CN" altLang="en-US" sz="100" dirty="0">
                <a:solidFill>
                  <a:schemeClr val="bg1"/>
                </a:solidFill>
              </a:rPr>
              <a:t>踏实肯干，努力奋斗。</a:t>
            </a:r>
            <a:fld id="{522E82EE-D3EC-4099-B468-2D0E86485FB4}" type="datetime2">
              <a:rPr lang="zh-CN" altLang="en-US" sz="100" dirty="0" smtClean="0">
                <a:solidFill>
                  <a:schemeClr val="bg1"/>
                </a:solidFill>
              </a:rPr>
              <a:t>2020年11月1日</a:t>
            </a:fld>
            <a:fld id="{69934BD8-A752-4594-ACF7-B4CD42211620}" type="datetime12">
              <a:rPr lang="zh-CN" altLang="en-US" sz="100" dirty="0" smtClean="0">
                <a:solidFill>
                  <a:schemeClr val="bg1"/>
                </a:solidFill>
              </a:rPr>
              <a:t>下午8时41分</a:t>
            </a:fld>
            <a:fld id="{0492ECB3-2641-4B76-89BB-EE9401330777}" type="datetime7">
              <a:rPr lang="zh-CN" altLang="en-US" sz="100" dirty="0" smtClean="0">
                <a:solidFill>
                  <a:schemeClr val="bg1"/>
                </a:solidFill>
              </a:rPr>
              <a:t>20.11.1</a:t>
            </a:fld>
            <a:fld id="{17226069-FE14-4ABE-9D1B-17BDDC422CDA}" type="datetime7">
              <a:rPr lang="zh-CN" altLang="en-US" sz="100" dirty="0" smtClean="0">
                <a:solidFill>
                  <a:schemeClr val="bg1"/>
                </a:solidFill>
              </a:rPr>
              <a:t>20.11.1</a:t>
            </a:fld>
            <a:endParaRPr lang="zh-CN" altLang="en-US" sz="100" dirty="0">
              <a:solidFill>
                <a:schemeClr val="bg1"/>
              </a:solidFill>
            </a:endParaRPr>
          </a:p>
          <a:p>
            <a:pPr eaLnBrk="1" latinLnBrk="1" hangingPunct="1"/>
            <a:r>
              <a:rPr lang="zh-CN" altLang="en-US" sz="100" dirty="0">
                <a:solidFill>
                  <a:schemeClr val="bg1"/>
                </a:solidFill>
              </a:rPr>
              <a:t>追求至善凭技术开拓市场，凭管理增创效益，凭服务树立形象。</a:t>
            </a:r>
            <a:fld id="{0A66B4C9-57E6-4848-936A-27FD23F090BF}" type="datetime3">
              <a:rPr lang="zh-CN" altLang="en-US" sz="100" dirty="0" smtClean="0">
                <a:solidFill>
                  <a:schemeClr val="bg1"/>
                </a:solidFill>
              </a:rPr>
              <a:t>2020年11月1日星期日</a:t>
            </a:fld>
            <a:fld id="{F1E6F275-7BD9-4C67-B81D-FDF04B16E3B4}" type="datetime13">
              <a:rPr lang="zh-CN" altLang="en-US" sz="100" dirty="0" smtClean="0">
                <a:solidFill>
                  <a:schemeClr val="bg1"/>
                </a:solidFill>
              </a:rPr>
              <a:t>下午8时41分44秒</a:t>
            </a:fld>
            <a:fld id="{865BFE84-E175-4A1E-83C0-D4CB13D35A87}" type="datetime11">
              <a:rPr lang="zh-CN" altLang="en-US" sz="100" dirty="0" smtClean="0">
                <a:solidFill>
                  <a:schemeClr val="bg1"/>
                </a:solidFill>
              </a:rPr>
              <a:t>20:41:44</a:t>
            </a:fld>
            <a:fld id="{A5FBB983-CD7F-441C-A31E-8F669A736A76}" type="datetime7">
              <a:rPr lang="zh-CN" altLang="en-US" sz="100" dirty="0" smtClean="0">
                <a:solidFill>
                  <a:schemeClr val="bg1"/>
                </a:solidFill>
              </a:rPr>
              <a:t>20.11.1</a:t>
            </a:fld>
            <a:endParaRPr lang="zh-CN" altLang="en-US" sz="100" dirty="0">
              <a:solidFill>
                <a:schemeClr val="bg1"/>
              </a:solidFill>
            </a:endParaRPr>
          </a:p>
          <a:p>
            <a:pPr eaLnBrk="1" latinLnBrk="1" hangingPunct="1"/>
            <a:r>
              <a:rPr lang="zh-CN" altLang="en-US" sz="100" dirty="0">
                <a:solidFill>
                  <a:schemeClr val="bg1"/>
                </a:solidFill>
              </a:rPr>
              <a:t>按章操作莫乱改，合理建议提出来。</a:t>
            </a:r>
            <a:fld id="{8CD65244-57DD-468A-BE1E-196354E44620}" type="datetime6">
              <a:rPr lang="zh-CN" altLang="en-US" sz="100" dirty="0" smtClean="0">
                <a:solidFill>
                  <a:schemeClr val="bg1"/>
                </a:solidFill>
              </a:rPr>
              <a:t>2020年11月</a:t>
            </a:fld>
            <a:fld id="{26A4ED43-7C4E-4CD8-A3CC-DCA1650ADE7A}" type="datetime12">
              <a:rPr lang="zh-CN" altLang="en-US" sz="100" dirty="0" smtClean="0">
                <a:solidFill>
                  <a:schemeClr val="bg1"/>
                </a:solidFill>
              </a:rPr>
              <a:t>下午8时41分</a:t>
            </a:fld>
            <a:fld id="{4CB1A7BA-407A-4BC5-8051-C08A9ACF644D}" type="datetime7">
              <a:rPr lang="zh-CN" altLang="en-US" sz="100" dirty="0" smtClean="0">
                <a:solidFill>
                  <a:schemeClr val="bg1"/>
                </a:solidFill>
              </a:rPr>
              <a:t>20.11.1</a:t>
            </a:fld>
            <a:fld id="{C1AC45A8-EA2A-449F-AE4F-34AE609809AB}" type="datetime10">
              <a:rPr lang="zh-CN" altLang="en-US" sz="100" dirty="0" smtClean="0">
                <a:solidFill>
                  <a:schemeClr val="bg1"/>
                </a:solidFill>
              </a:rPr>
              <a:t>20:41</a:t>
            </a:fld>
            <a:fld id="{90AFA90B-9A13-4644-8514-CEDA3B6769FB}" type="datetime4">
              <a:rPr lang="en-US" altLang="zh-CN" sz="100" dirty="0" smtClean="0">
                <a:solidFill>
                  <a:schemeClr val="bg1"/>
                </a:solidFill>
              </a:rPr>
              <a:t>November 1, 2020</a:t>
            </a:fld>
            <a:endParaRPr lang="zh-CN" altLang="en-US" sz="100" dirty="0">
              <a:solidFill>
                <a:schemeClr val="bg1"/>
              </a:solidFill>
            </a:endParaRPr>
          </a:p>
          <a:p>
            <a:pPr eaLnBrk="1" latinLnBrk="1" hangingPunct="1"/>
            <a:r>
              <a:rPr lang="zh-CN" altLang="en-US" sz="100" dirty="0">
                <a:solidFill>
                  <a:schemeClr val="bg1"/>
                </a:solidFill>
              </a:rPr>
              <a:t>作业标准记得牢，驾轻就熟除烦恼。</a:t>
            </a:r>
            <a:fld id="{A1395B89-BEF7-4CB6-8F32-854B38DCAFCD}" type="datetime9">
              <a:rPr lang="zh-CN" altLang="en-US" sz="100" dirty="0" smtClean="0">
                <a:solidFill>
                  <a:schemeClr val="bg1"/>
                </a:solidFill>
              </a:rPr>
              <a:t>2020年11月1日星期日8时41分44秒</a:t>
            </a:fld>
            <a:fld id="{58CDEB3A-0114-4209-A03C-F79DABEA338F}" type="datetime11">
              <a:rPr lang="zh-CN" altLang="en-US" sz="100" dirty="0" smtClean="0">
                <a:solidFill>
                  <a:schemeClr val="bg1"/>
                </a:solidFill>
              </a:rPr>
              <a:t>20:41:44</a:t>
            </a:fld>
            <a:fld id="{8C49CA69-CFEB-4A56-AB30-E0B0F2ED4E30}" type="datetime3">
              <a:rPr lang="en-US" altLang="zh-CN" sz="100" dirty="0" smtClean="0">
                <a:solidFill>
                  <a:schemeClr val="bg1"/>
                </a:solidFill>
              </a:rPr>
              <a:t>1 November 2020</a:t>
            </a:fld>
            <a:endParaRPr lang="zh-CN" altLang="en-US" sz="100" dirty="0">
              <a:solidFill>
                <a:schemeClr val="bg1"/>
              </a:solidFill>
            </a:endParaRPr>
          </a:p>
          <a:p>
            <a:pPr eaLnBrk="1" latinLnBrk="1" hangingPunct="1"/>
            <a:r>
              <a:rPr lang="zh-CN" altLang="en-US" sz="100" dirty="0">
                <a:solidFill>
                  <a:schemeClr val="bg1"/>
                </a:solidFill>
              </a:rPr>
              <a:t>好的事情马上就会到来，一切都是最好的安排。</a:t>
            </a:r>
            <a:fld id="{4548B6E4-2597-4D3E-9636-8D63AE805C4E}" type="datetime13">
              <a:rPr lang="zh-CN" altLang="en-US" sz="100" dirty="0" smtClean="0">
                <a:solidFill>
                  <a:schemeClr val="bg1"/>
                </a:solidFill>
              </a:rPr>
              <a:t>下午8时41分44秒</a:t>
            </a:fld>
            <a:fld id="{199A905F-044E-4D5F-9444-1C689DBC430C}" type="datetime12">
              <a:rPr lang="zh-CN" altLang="en-US" sz="100" dirty="0" smtClean="0">
                <a:solidFill>
                  <a:schemeClr val="bg1"/>
                </a:solidFill>
              </a:rPr>
              <a:t>下午8时41分</a:t>
            </a:fld>
            <a:fld id="{BABF6B5C-B126-469E-9DBC-B769A41B1CF9}" type="datetime11">
              <a:rPr lang="zh-CN" altLang="en-US" sz="100" dirty="0" smtClean="0">
                <a:solidFill>
                  <a:schemeClr val="bg1"/>
                </a:solidFill>
              </a:rPr>
              <a:t>20:41:44</a:t>
            </a:fld>
            <a:fld id="{5889BAA7-AEBE-46C0-BA02-41998D26D96A}" type="datetime7">
              <a:rPr lang="zh-CN" altLang="en-US" sz="100" dirty="0" smtClean="0">
                <a:solidFill>
                  <a:schemeClr val="bg1"/>
                </a:solidFill>
              </a:rPr>
              <a:t>20.11.1</a:t>
            </a:fld>
            <a:endParaRPr lang="zh-CN" altLang="en-US" sz="100" dirty="0">
              <a:solidFill>
                <a:schemeClr val="bg1"/>
              </a:solidFill>
            </a:endParaRPr>
          </a:p>
          <a:p>
            <a:pPr eaLnBrk="1" latinLnBrk="1" hangingPunct="1"/>
            <a:r>
              <a:rPr lang="zh-CN" altLang="en-US" sz="100" dirty="0">
                <a:solidFill>
                  <a:schemeClr val="bg1"/>
                </a:solidFill>
              </a:rPr>
              <a:t>一马当先，全员举绩，梅开二度，业绩保底。</a:t>
            </a:r>
            <a:fld id="{957B8E0D-283D-4119-A7DD-ABA56213ED69}" type="datetime7">
              <a:rPr lang="zh-CN" altLang="en-US" sz="100" dirty="0" smtClean="0">
                <a:solidFill>
                  <a:schemeClr val="bg1"/>
                </a:solidFill>
              </a:rPr>
              <a:t>20.11.1</a:t>
            </a:fld>
            <a:fld id="{9424167B-6954-4EC9-AD9E-8D32C98244D2}" type="datetime7">
              <a:rPr lang="zh-CN" altLang="en-US" sz="100" dirty="0" smtClean="0">
                <a:solidFill>
                  <a:schemeClr val="bg1"/>
                </a:solidFill>
              </a:rPr>
              <a:t>20.11.1</a:t>
            </a:fld>
            <a:fld id="{40E4610B-F560-4165-81CB-0588341A0AA7}" type="datetime10">
              <a:rPr lang="zh-CN" altLang="en-US" sz="100" dirty="0" smtClean="0">
                <a:solidFill>
                  <a:schemeClr val="bg1"/>
                </a:solidFill>
              </a:rPr>
              <a:t>20:41</a:t>
            </a:fld>
            <a:fld id="{FE5AC9F5-BAE2-47B7-81A1-41C84B344BE2}" type="datetime11">
              <a:rPr lang="zh-CN" altLang="en-US" sz="100" dirty="0" smtClean="0">
                <a:solidFill>
                  <a:schemeClr val="bg1"/>
                </a:solidFill>
              </a:rPr>
              <a:t>20:41:44</a:t>
            </a:fld>
            <a:fld id="{B51B0AB0-4411-4652-B722-A2AC4C75074F}" type="datetime11">
              <a:rPr lang="zh-CN" altLang="en-US" sz="100" dirty="0" smtClean="0">
                <a:solidFill>
                  <a:schemeClr val="bg1"/>
                </a:solidFill>
              </a:rPr>
              <a:t>20:41:44</a:t>
            </a:fld>
            <a:fld id="{0FC202E2-43CC-4916-A17D-DC7C1CA1CBD5}" type="datetime7">
              <a:rPr lang="en-US" altLang="zh-CN" sz="100" dirty="0" smtClean="0">
                <a:solidFill>
                  <a:schemeClr val="bg1"/>
                </a:solidFill>
              </a:rPr>
              <a:t>Nov-20</a:t>
            </a:fld>
            <a:endParaRPr lang="zh-CN" altLang="en-US" sz="100" dirty="0">
              <a:solidFill>
                <a:schemeClr val="bg1"/>
              </a:solidFill>
            </a:endParaRPr>
          </a:p>
          <a:p>
            <a:pPr eaLnBrk="1" latinLnBrk="1" hangingPunct="1"/>
            <a:r>
              <a:rPr lang="zh-CN" altLang="en-US" sz="100" dirty="0">
                <a:solidFill>
                  <a:schemeClr val="bg1"/>
                </a:solidFill>
              </a:rPr>
              <a:t>牢记安全之责，善谋安全之策，力务安全之实。</a:t>
            </a:r>
            <a:fld id="{A54E3AFA-FE79-44B3-9B05-195DFA24FB74}" type="datetime9">
              <a:rPr lang="zh-CN" altLang="en-US" sz="100" dirty="0" smtClean="0">
                <a:solidFill>
                  <a:schemeClr val="bg1"/>
                </a:solidFill>
              </a:rPr>
              <a:t>2020年11月1日星期日8时41分44秒</a:t>
            </a:fld>
            <a:fld id="{FB945EFA-336E-4C02-A44D-8D73F8EE1900}" type="datetime2">
              <a:rPr lang="en-US" altLang="zh-CN" sz="100" dirty="0" smtClean="0">
                <a:solidFill>
                  <a:schemeClr val="bg1"/>
                </a:solidFill>
              </a:rPr>
              <a:t>Sunday, November 1, 2020</a:t>
            </a:fld>
            <a:endParaRPr lang="zh-CN" altLang="en-US" sz="100" dirty="0">
              <a:solidFill>
                <a:schemeClr val="bg1"/>
              </a:solidFill>
            </a:endParaRPr>
          </a:p>
          <a:p>
            <a:pPr eaLnBrk="1" latinLnBrk="1" hangingPunct="1"/>
            <a:r>
              <a:rPr lang="zh-CN" altLang="en-US" sz="100" dirty="0">
                <a:solidFill>
                  <a:schemeClr val="bg1"/>
                </a:solidFill>
              </a:rPr>
              <a:t>创新突破稳定品质，落实管理提高效率。</a:t>
            </a:r>
            <a:fld id="{D59FAE8B-3866-4807-84D0-5670154E7162}" type="datetime7">
              <a:rPr lang="zh-CN" altLang="en-US" sz="100" dirty="0" smtClean="0">
                <a:solidFill>
                  <a:schemeClr val="bg1"/>
                </a:solidFill>
              </a:rPr>
              <a:t>20.11.1</a:t>
            </a:fld>
            <a:fld id="{3E28139B-6B0D-44ED-AFA5-E19EEA6ECF26}" type="datetime9">
              <a:rPr lang="zh-CN" altLang="en-US" sz="100" dirty="0" smtClean="0">
                <a:solidFill>
                  <a:schemeClr val="bg1"/>
                </a:solidFill>
              </a:rPr>
              <a:t>2020年11月1日星期日8时41分44秒</a:t>
            </a:fld>
            <a:fld id="{65BE3235-B3F2-4327-BAB6-D6CC6B49F251}" type="datetime7">
              <a:rPr lang="zh-CN" altLang="en-US" sz="100" dirty="0" smtClean="0">
                <a:solidFill>
                  <a:schemeClr val="bg1"/>
                </a:solidFill>
              </a:rPr>
              <a:t>20.11.1</a:t>
            </a:fld>
            <a:endParaRPr lang="zh-CN" altLang="en-US" sz="100" dirty="0">
              <a:solidFill>
                <a:schemeClr val="bg1"/>
              </a:solidFill>
            </a:endParaRPr>
          </a:p>
        </p:txBody>
      </p:sp>
      <p:pic>
        <p:nvPicPr>
          <p:cNvPr id="2051" name="图片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613" y="15875"/>
            <a:ext cx="8740775" cy="673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2394674" y="2537720"/>
            <a:ext cx="5195888" cy="1323975"/>
          </a:xfrm>
          <a:prstGeom prst="rect">
            <a:avLst/>
          </a:prstGeom>
          <a:noFill/>
        </p:spPr>
        <p:txBody>
          <a:bodyPr>
            <a:spAutoFit/>
          </a:bodyPr>
          <a:lstStyle/>
          <a:p>
            <a:pPr eaLnBrk="1" fontAlgn="auto" hangingPunct="1">
              <a:spcBef>
                <a:spcPts val="0"/>
              </a:spcBef>
              <a:spcAft>
                <a:spcPts val="0"/>
              </a:spcAft>
              <a:defRPr/>
            </a:pPr>
            <a:r>
              <a:rPr lang="zh-CN" altLang="en-US" sz="8000" b="1" spc="450" dirty="0">
                <a:solidFill>
                  <a:srgbClr val="B00000"/>
                </a:solidFill>
                <a:latin typeface="仿宋" panose="02010609060101010101" pitchFamily="49" charset="-122"/>
                <a:ea typeface="仿宋" panose="02010609060101010101" pitchFamily="49" charset="-122"/>
              </a:rPr>
              <a:t>谢谢大家！</a:t>
            </a:r>
          </a:p>
        </p:txBody>
      </p:sp>
    </p:spTree>
    <p:extLst>
      <p:ext uri="{BB962C8B-B14F-4D97-AF65-F5344CB8AC3E}">
        <p14:creationId xmlns:p14="http://schemas.microsoft.com/office/powerpoint/2010/main" val="2813165983"/>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16.11.28"/>
  <p:tag name="AS_TITLE" val="Aspose.Slides for .NET 4.0"/>
  <p:tag name="AS_VERSION" val="16.11.0.0"/>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Times New Roman"/>
        <a:ea typeface="黑体"/>
        <a:cs typeface="Arial"/>
      </a:majorFont>
      <a:minorFont>
        <a:latin typeface="Times New Roman"/>
        <a:ea typeface="黑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FF33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28575" cap="flat" cmpd="sng" algn="ctr">
          <a:solidFill>
            <a:srgbClr val="FF33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
        <a:dk1>
          <a:srgbClr val="FFFFFF"/>
        </a:dk1>
        <a:lt1>
          <a:srgbClr val="000066"/>
        </a:lt1>
        <a:dk2>
          <a:srgbClr val="FFFFFF"/>
        </a:dk2>
        <a:lt2>
          <a:srgbClr val="0066FF"/>
        </a:lt2>
        <a:accent1>
          <a:srgbClr val="6699FF"/>
        </a:accent1>
        <a:accent2>
          <a:srgbClr val="3333FF"/>
        </a:accent2>
        <a:accent3>
          <a:srgbClr val="9BBB59"/>
        </a:accent3>
        <a:accent4>
          <a:srgbClr val="8064A2"/>
        </a:accent4>
        <a:accent5>
          <a:srgbClr val="4BACC6"/>
        </a:accent5>
        <a:accent6>
          <a:srgbClr val="F79646"/>
        </a:accent6>
        <a:hlink>
          <a:srgbClr val="FFCC00"/>
        </a:hlink>
        <a:folHlink>
          <a:srgbClr val="0000CC"/>
        </a:folHlink>
      </a:clrScheme>
    </a:extraClrScheme>
    <a:extraClrScheme>
      <a:clrScheme name="">
        <a:dk1>
          <a:srgbClr val="FFFFFF"/>
        </a:dk1>
        <a:lt1>
          <a:srgbClr val="334B49"/>
        </a:lt1>
        <a:dk2>
          <a:srgbClr val="FFFFFF"/>
        </a:dk2>
        <a:lt2>
          <a:srgbClr val="009999"/>
        </a:lt2>
        <a:accent1>
          <a:srgbClr val="33CCCC"/>
        </a:accent1>
        <a:accent2>
          <a:srgbClr val="008080"/>
        </a:accent2>
        <a:accent3>
          <a:srgbClr val="9BBB59"/>
        </a:accent3>
        <a:accent4>
          <a:srgbClr val="8064A2"/>
        </a:accent4>
        <a:accent5>
          <a:srgbClr val="4BACC6"/>
        </a:accent5>
        <a:accent6>
          <a:srgbClr val="F79646"/>
        </a:accent6>
        <a:hlink>
          <a:srgbClr val="FFCC00"/>
        </a:hlink>
        <a:folHlink>
          <a:srgbClr val="006666"/>
        </a:folHlink>
      </a:clrScheme>
    </a:extraClrScheme>
    <a:extraClrScheme>
      <a:clrScheme name="">
        <a:dk1>
          <a:srgbClr val="FFFFFF"/>
        </a:dk1>
        <a:lt1>
          <a:srgbClr val="333399"/>
        </a:lt1>
        <a:dk2>
          <a:srgbClr val="FFFFFF"/>
        </a:dk2>
        <a:lt2>
          <a:srgbClr val="006699"/>
        </a:lt2>
        <a:accent1>
          <a:srgbClr val="0099CC"/>
        </a:accent1>
        <a:accent2>
          <a:srgbClr val="0386AF"/>
        </a:accent2>
        <a:accent3>
          <a:srgbClr val="9BBB59"/>
        </a:accent3>
        <a:accent4>
          <a:srgbClr val="8064A2"/>
        </a:accent4>
        <a:accent5>
          <a:srgbClr val="4BACC6"/>
        </a:accent5>
        <a:accent6>
          <a:srgbClr val="F79646"/>
        </a:accent6>
        <a:hlink>
          <a:srgbClr val="FFCC00"/>
        </a:hlink>
        <a:folHlink>
          <a:srgbClr val="6699FF"/>
        </a:folHlink>
      </a:clrScheme>
    </a:extraClrScheme>
    <a:extraClrScheme>
      <a:clrScheme name="">
        <a:dk1>
          <a:srgbClr val="FFFFFF"/>
        </a:dk1>
        <a:lt1>
          <a:srgbClr val="2F978D"/>
        </a:lt1>
        <a:dk2>
          <a:srgbClr val="FFFFFF"/>
        </a:dk2>
        <a:lt2>
          <a:srgbClr val="008080"/>
        </a:lt2>
        <a:accent1>
          <a:srgbClr val="0099FF"/>
        </a:accent1>
        <a:accent2>
          <a:srgbClr val="009999"/>
        </a:accent2>
        <a:accent3>
          <a:srgbClr val="9BBB59"/>
        </a:accent3>
        <a:accent4>
          <a:srgbClr val="8064A2"/>
        </a:accent4>
        <a:accent5>
          <a:srgbClr val="4BACC6"/>
        </a:accent5>
        <a:accent6>
          <a:srgbClr val="F79646"/>
        </a:accent6>
        <a:hlink>
          <a:srgbClr val="FFFFCC"/>
        </a:hlink>
        <a:folHlink>
          <a:srgbClr val="70CAC6"/>
        </a:folHlink>
      </a:clrScheme>
    </a:extraClrScheme>
    <a:extraClrScheme>
      <a:clrScheme name="">
        <a:dk1>
          <a:srgbClr val="FFFFFF"/>
        </a:dk1>
        <a:lt1>
          <a:srgbClr val="330000"/>
        </a:lt1>
        <a:dk2>
          <a:srgbClr val="FFFFFF"/>
        </a:dk2>
        <a:lt2>
          <a:srgbClr val="822504"/>
        </a:lt2>
        <a:accent1>
          <a:srgbClr val="FF9900"/>
        </a:accent1>
        <a:accent2>
          <a:srgbClr val="9E2A06"/>
        </a:accent2>
        <a:accent3>
          <a:srgbClr val="9BBB59"/>
        </a:accent3>
        <a:accent4>
          <a:srgbClr val="8064A2"/>
        </a:accent4>
        <a:accent5>
          <a:srgbClr val="4BACC6"/>
        </a:accent5>
        <a:accent6>
          <a:srgbClr val="F79646"/>
        </a:accent6>
        <a:hlink>
          <a:srgbClr val="FF3300"/>
        </a:hlink>
        <a:folHlink>
          <a:srgbClr val="7C0704"/>
        </a:folHlink>
      </a:clrScheme>
    </a:extraClrScheme>
    <a:extraClrScheme>
      <a:clrScheme name="">
        <a:dk1>
          <a:srgbClr val="FFFFFF"/>
        </a:dk1>
        <a:lt1>
          <a:srgbClr val="4A7911"/>
        </a:lt1>
        <a:dk2>
          <a:srgbClr val="FFFFFF"/>
        </a:dk2>
        <a:lt2>
          <a:srgbClr val="336600"/>
        </a:lt2>
        <a:accent1>
          <a:srgbClr val="666633"/>
        </a:accent1>
        <a:accent2>
          <a:srgbClr val="669900"/>
        </a:accent2>
        <a:accent3>
          <a:srgbClr val="9BBB59"/>
        </a:accent3>
        <a:accent4>
          <a:srgbClr val="8064A2"/>
        </a:accent4>
        <a:accent5>
          <a:srgbClr val="4BACC6"/>
        </a:accent5>
        <a:accent6>
          <a:srgbClr val="F79646"/>
        </a:accent6>
        <a:hlink>
          <a:srgbClr val="FFCC00"/>
        </a:hlink>
        <a:folHlink>
          <a:srgbClr val="99CC00"/>
        </a:folHlink>
      </a:clrScheme>
    </a:extraClrScheme>
    <a:extraClrScheme>
      <a:clrScheme name="">
        <a:dk1>
          <a:srgbClr val="000000"/>
        </a:dk1>
        <a:lt1>
          <a:srgbClr val="FFFFFF"/>
        </a:lt1>
        <a:dk2>
          <a:srgbClr val="000000"/>
        </a:dk2>
        <a:lt2>
          <a:srgbClr val="CC3300"/>
        </a:lt2>
        <a:accent1>
          <a:srgbClr val="FFCC00"/>
        </a:accent1>
        <a:accent2>
          <a:srgbClr val="CC6600"/>
        </a:accent2>
        <a:accent3>
          <a:srgbClr val="9BBB59"/>
        </a:accent3>
        <a:accent4>
          <a:srgbClr val="8064A2"/>
        </a:accent4>
        <a:accent5>
          <a:srgbClr val="4BACC6"/>
        </a:accent5>
        <a:accent6>
          <a:srgbClr val="F79646"/>
        </a:accent6>
        <a:hlink>
          <a:srgbClr val="663300"/>
        </a:hlink>
        <a:folHlink>
          <a:srgbClr val="CC9900"/>
        </a:folHlink>
      </a:clrScheme>
    </a:extraClrScheme>
    <a:extraClrScheme>
      <a:clrScheme name="">
        <a:dk1>
          <a:srgbClr val="003300"/>
        </a:dk1>
        <a:lt1>
          <a:srgbClr val="FFFFFF"/>
        </a:lt1>
        <a:dk2>
          <a:srgbClr val="000000"/>
        </a:dk2>
        <a:lt2>
          <a:srgbClr val="336600"/>
        </a:lt2>
        <a:accent1>
          <a:srgbClr val="CCCC00"/>
        </a:accent1>
        <a:accent2>
          <a:srgbClr val="669900"/>
        </a:accent2>
        <a:accent3>
          <a:srgbClr val="9BBB59"/>
        </a:accent3>
        <a:accent4>
          <a:srgbClr val="8064A2"/>
        </a:accent4>
        <a:accent5>
          <a:srgbClr val="4BACC6"/>
        </a:accent5>
        <a:accent6>
          <a:srgbClr val="F79646"/>
        </a:accent6>
        <a:hlink>
          <a:srgbClr val="333300"/>
        </a:hlink>
        <a:folHlink>
          <a:srgbClr val="99CC00"/>
        </a:folHlink>
      </a:clrScheme>
    </a:extraClrScheme>
    <a:extraClrScheme>
      <a:clrScheme name="">
        <a:dk1>
          <a:srgbClr val="000000"/>
        </a:dk1>
        <a:lt1>
          <a:srgbClr val="FFFFFF"/>
        </a:lt1>
        <a:dk2>
          <a:srgbClr val="000000"/>
        </a:dk2>
        <a:lt2>
          <a:srgbClr val="440044"/>
        </a:lt2>
        <a:accent1>
          <a:srgbClr val="FFCCCC"/>
        </a:accent1>
        <a:accent2>
          <a:srgbClr val="790571"/>
        </a:accent2>
        <a:accent3>
          <a:srgbClr val="9BBB59"/>
        </a:accent3>
        <a:accent4>
          <a:srgbClr val="8064A2"/>
        </a:accent4>
        <a:accent5>
          <a:srgbClr val="4BACC6"/>
        </a:accent5>
        <a:accent6>
          <a:srgbClr val="F79646"/>
        </a:accent6>
        <a:hlink>
          <a:srgbClr val="993366"/>
        </a:hlink>
        <a:folHlink>
          <a:srgbClr val="9F839F"/>
        </a:folHlink>
      </a:clrScheme>
    </a:extraClrScheme>
    <a:extraClrScheme>
      <a:clrScheme name="">
        <a:dk1>
          <a:srgbClr val="000000"/>
        </a:dk1>
        <a:lt1>
          <a:srgbClr val="FFFFFF"/>
        </a:lt1>
        <a:dk2>
          <a:srgbClr val="000000"/>
        </a:dk2>
        <a:lt2>
          <a:srgbClr val="FF9900"/>
        </a:lt2>
        <a:accent1>
          <a:srgbClr val="FFCC99"/>
        </a:accent1>
        <a:accent2>
          <a:srgbClr val="FBA313"/>
        </a:accent2>
        <a:accent3>
          <a:srgbClr val="9BBB59"/>
        </a:accent3>
        <a:accent4>
          <a:srgbClr val="8064A2"/>
        </a:accent4>
        <a:accent5>
          <a:srgbClr val="4BACC6"/>
        </a:accent5>
        <a:accent6>
          <a:srgbClr val="F79646"/>
        </a:accent6>
        <a:hlink>
          <a:srgbClr val="CC3300"/>
        </a:hlink>
        <a:folHlink>
          <a:srgbClr val="FCC66E"/>
        </a:folHlink>
      </a:clrScheme>
    </a:extraClrScheme>
    <a:extraClrScheme>
      <a:clrScheme name="">
        <a:dk1>
          <a:srgbClr val="000000"/>
        </a:dk1>
        <a:lt1>
          <a:srgbClr val="FFFFFF"/>
        </a:lt1>
        <a:dk2>
          <a:srgbClr val="000000"/>
        </a:dk2>
        <a:lt2>
          <a:srgbClr val="779F92"/>
        </a:lt2>
        <a:accent1>
          <a:srgbClr val="33CCCC"/>
        </a:accent1>
        <a:accent2>
          <a:srgbClr val="9DC2D7"/>
        </a:accent2>
        <a:accent3>
          <a:srgbClr val="9BBB59"/>
        </a:accent3>
        <a:accent4>
          <a:srgbClr val="8064A2"/>
        </a:accent4>
        <a:accent5>
          <a:srgbClr val="4BACC6"/>
        </a:accent5>
        <a:accent6>
          <a:srgbClr val="F79646"/>
        </a:accent6>
        <a:hlink>
          <a:srgbClr val="006666"/>
        </a:hlink>
        <a:folHlink>
          <a:srgbClr val="CCCCFF"/>
        </a:folHlink>
      </a:clrScheme>
    </a:extraClrScheme>
    <a:extraClrScheme>
      <a:clrScheme name="">
        <a:dk1>
          <a:srgbClr val="000000"/>
        </a:dk1>
        <a:lt1>
          <a:srgbClr val="FFFFFF"/>
        </a:lt1>
        <a:dk2>
          <a:srgbClr val="000000"/>
        </a:dk2>
        <a:lt2>
          <a:srgbClr val="00007D"/>
        </a:lt2>
        <a:accent1>
          <a:srgbClr val="9999FF"/>
        </a:accent1>
        <a:accent2>
          <a:srgbClr val="9999CC"/>
        </a:accent2>
        <a:accent3>
          <a:srgbClr val="9BBB59"/>
        </a:accent3>
        <a:accent4>
          <a:srgbClr val="8064A2"/>
        </a:accent4>
        <a:accent5>
          <a:srgbClr val="4BACC6"/>
        </a:accent5>
        <a:accent6>
          <a:srgbClr val="F79646"/>
        </a:accent6>
        <a:hlink>
          <a:srgbClr val="666699"/>
        </a:hlink>
        <a:folHlink>
          <a:srgbClr val="CCCCE6"/>
        </a:folHlink>
      </a:clrScheme>
    </a:extraClrScheme>
  </a:extraClrScheme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Times New Roman"/>
        <a:ea typeface="黑体"/>
        <a:cs typeface="Arial"/>
      </a:majorFont>
      <a:minorFont>
        <a:latin typeface="Times New Roman"/>
        <a:ea typeface="黑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FF33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28575" cap="flat" cmpd="sng" algn="ctr">
          <a:solidFill>
            <a:srgbClr val="FF33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
        <a:dk1>
          <a:srgbClr val="FFFFFF"/>
        </a:dk1>
        <a:lt1>
          <a:srgbClr val="000066"/>
        </a:lt1>
        <a:dk2>
          <a:srgbClr val="FFFFFF"/>
        </a:dk2>
        <a:lt2>
          <a:srgbClr val="0066FF"/>
        </a:lt2>
        <a:accent1>
          <a:srgbClr val="6699FF"/>
        </a:accent1>
        <a:accent2>
          <a:srgbClr val="3333FF"/>
        </a:accent2>
        <a:accent3>
          <a:srgbClr val="9BBB59"/>
        </a:accent3>
        <a:accent4>
          <a:srgbClr val="8064A2"/>
        </a:accent4>
        <a:accent5>
          <a:srgbClr val="4BACC6"/>
        </a:accent5>
        <a:accent6>
          <a:srgbClr val="F79646"/>
        </a:accent6>
        <a:hlink>
          <a:srgbClr val="FFCC00"/>
        </a:hlink>
        <a:folHlink>
          <a:srgbClr val="0000CC"/>
        </a:folHlink>
      </a:clrScheme>
    </a:extraClrScheme>
    <a:extraClrScheme>
      <a:clrScheme name="">
        <a:dk1>
          <a:srgbClr val="FFFFFF"/>
        </a:dk1>
        <a:lt1>
          <a:srgbClr val="334B49"/>
        </a:lt1>
        <a:dk2>
          <a:srgbClr val="FFFFFF"/>
        </a:dk2>
        <a:lt2>
          <a:srgbClr val="009999"/>
        </a:lt2>
        <a:accent1>
          <a:srgbClr val="33CCCC"/>
        </a:accent1>
        <a:accent2>
          <a:srgbClr val="008080"/>
        </a:accent2>
        <a:accent3>
          <a:srgbClr val="9BBB59"/>
        </a:accent3>
        <a:accent4>
          <a:srgbClr val="8064A2"/>
        </a:accent4>
        <a:accent5>
          <a:srgbClr val="4BACC6"/>
        </a:accent5>
        <a:accent6>
          <a:srgbClr val="F79646"/>
        </a:accent6>
        <a:hlink>
          <a:srgbClr val="FFCC00"/>
        </a:hlink>
        <a:folHlink>
          <a:srgbClr val="006666"/>
        </a:folHlink>
      </a:clrScheme>
    </a:extraClrScheme>
    <a:extraClrScheme>
      <a:clrScheme name="">
        <a:dk1>
          <a:srgbClr val="FFFFFF"/>
        </a:dk1>
        <a:lt1>
          <a:srgbClr val="333399"/>
        </a:lt1>
        <a:dk2>
          <a:srgbClr val="FFFFFF"/>
        </a:dk2>
        <a:lt2>
          <a:srgbClr val="006699"/>
        </a:lt2>
        <a:accent1>
          <a:srgbClr val="0099CC"/>
        </a:accent1>
        <a:accent2>
          <a:srgbClr val="0386AF"/>
        </a:accent2>
        <a:accent3>
          <a:srgbClr val="9BBB59"/>
        </a:accent3>
        <a:accent4>
          <a:srgbClr val="8064A2"/>
        </a:accent4>
        <a:accent5>
          <a:srgbClr val="4BACC6"/>
        </a:accent5>
        <a:accent6>
          <a:srgbClr val="F79646"/>
        </a:accent6>
        <a:hlink>
          <a:srgbClr val="FFCC00"/>
        </a:hlink>
        <a:folHlink>
          <a:srgbClr val="6699FF"/>
        </a:folHlink>
      </a:clrScheme>
    </a:extraClrScheme>
    <a:extraClrScheme>
      <a:clrScheme name="">
        <a:dk1>
          <a:srgbClr val="FFFFFF"/>
        </a:dk1>
        <a:lt1>
          <a:srgbClr val="2F978D"/>
        </a:lt1>
        <a:dk2>
          <a:srgbClr val="FFFFFF"/>
        </a:dk2>
        <a:lt2>
          <a:srgbClr val="008080"/>
        </a:lt2>
        <a:accent1>
          <a:srgbClr val="0099FF"/>
        </a:accent1>
        <a:accent2>
          <a:srgbClr val="009999"/>
        </a:accent2>
        <a:accent3>
          <a:srgbClr val="9BBB59"/>
        </a:accent3>
        <a:accent4>
          <a:srgbClr val="8064A2"/>
        </a:accent4>
        <a:accent5>
          <a:srgbClr val="4BACC6"/>
        </a:accent5>
        <a:accent6>
          <a:srgbClr val="F79646"/>
        </a:accent6>
        <a:hlink>
          <a:srgbClr val="FFFFCC"/>
        </a:hlink>
        <a:folHlink>
          <a:srgbClr val="70CAC6"/>
        </a:folHlink>
      </a:clrScheme>
    </a:extraClrScheme>
    <a:extraClrScheme>
      <a:clrScheme name="">
        <a:dk1>
          <a:srgbClr val="FFFFFF"/>
        </a:dk1>
        <a:lt1>
          <a:srgbClr val="330000"/>
        </a:lt1>
        <a:dk2>
          <a:srgbClr val="FFFFFF"/>
        </a:dk2>
        <a:lt2>
          <a:srgbClr val="822504"/>
        </a:lt2>
        <a:accent1>
          <a:srgbClr val="FF9900"/>
        </a:accent1>
        <a:accent2>
          <a:srgbClr val="9E2A06"/>
        </a:accent2>
        <a:accent3>
          <a:srgbClr val="9BBB59"/>
        </a:accent3>
        <a:accent4>
          <a:srgbClr val="8064A2"/>
        </a:accent4>
        <a:accent5>
          <a:srgbClr val="4BACC6"/>
        </a:accent5>
        <a:accent6>
          <a:srgbClr val="F79646"/>
        </a:accent6>
        <a:hlink>
          <a:srgbClr val="FF3300"/>
        </a:hlink>
        <a:folHlink>
          <a:srgbClr val="7C0704"/>
        </a:folHlink>
      </a:clrScheme>
    </a:extraClrScheme>
    <a:extraClrScheme>
      <a:clrScheme name="">
        <a:dk1>
          <a:srgbClr val="FFFFFF"/>
        </a:dk1>
        <a:lt1>
          <a:srgbClr val="4A7911"/>
        </a:lt1>
        <a:dk2>
          <a:srgbClr val="FFFFFF"/>
        </a:dk2>
        <a:lt2>
          <a:srgbClr val="336600"/>
        </a:lt2>
        <a:accent1>
          <a:srgbClr val="666633"/>
        </a:accent1>
        <a:accent2>
          <a:srgbClr val="669900"/>
        </a:accent2>
        <a:accent3>
          <a:srgbClr val="9BBB59"/>
        </a:accent3>
        <a:accent4>
          <a:srgbClr val="8064A2"/>
        </a:accent4>
        <a:accent5>
          <a:srgbClr val="4BACC6"/>
        </a:accent5>
        <a:accent6>
          <a:srgbClr val="F79646"/>
        </a:accent6>
        <a:hlink>
          <a:srgbClr val="FFCC00"/>
        </a:hlink>
        <a:folHlink>
          <a:srgbClr val="99CC00"/>
        </a:folHlink>
      </a:clrScheme>
    </a:extraClrScheme>
    <a:extraClrScheme>
      <a:clrScheme name="">
        <a:dk1>
          <a:srgbClr val="000000"/>
        </a:dk1>
        <a:lt1>
          <a:srgbClr val="FFFFFF"/>
        </a:lt1>
        <a:dk2>
          <a:srgbClr val="000000"/>
        </a:dk2>
        <a:lt2>
          <a:srgbClr val="CC3300"/>
        </a:lt2>
        <a:accent1>
          <a:srgbClr val="FFCC00"/>
        </a:accent1>
        <a:accent2>
          <a:srgbClr val="CC6600"/>
        </a:accent2>
        <a:accent3>
          <a:srgbClr val="9BBB59"/>
        </a:accent3>
        <a:accent4>
          <a:srgbClr val="8064A2"/>
        </a:accent4>
        <a:accent5>
          <a:srgbClr val="4BACC6"/>
        </a:accent5>
        <a:accent6>
          <a:srgbClr val="F79646"/>
        </a:accent6>
        <a:hlink>
          <a:srgbClr val="663300"/>
        </a:hlink>
        <a:folHlink>
          <a:srgbClr val="CC9900"/>
        </a:folHlink>
      </a:clrScheme>
    </a:extraClrScheme>
    <a:extraClrScheme>
      <a:clrScheme name="">
        <a:dk1>
          <a:srgbClr val="003300"/>
        </a:dk1>
        <a:lt1>
          <a:srgbClr val="FFFFFF"/>
        </a:lt1>
        <a:dk2>
          <a:srgbClr val="000000"/>
        </a:dk2>
        <a:lt2>
          <a:srgbClr val="336600"/>
        </a:lt2>
        <a:accent1>
          <a:srgbClr val="CCCC00"/>
        </a:accent1>
        <a:accent2>
          <a:srgbClr val="669900"/>
        </a:accent2>
        <a:accent3>
          <a:srgbClr val="9BBB59"/>
        </a:accent3>
        <a:accent4>
          <a:srgbClr val="8064A2"/>
        </a:accent4>
        <a:accent5>
          <a:srgbClr val="4BACC6"/>
        </a:accent5>
        <a:accent6>
          <a:srgbClr val="F79646"/>
        </a:accent6>
        <a:hlink>
          <a:srgbClr val="333300"/>
        </a:hlink>
        <a:folHlink>
          <a:srgbClr val="99CC00"/>
        </a:folHlink>
      </a:clrScheme>
    </a:extraClrScheme>
    <a:extraClrScheme>
      <a:clrScheme name="">
        <a:dk1>
          <a:srgbClr val="000000"/>
        </a:dk1>
        <a:lt1>
          <a:srgbClr val="FFFFFF"/>
        </a:lt1>
        <a:dk2>
          <a:srgbClr val="000000"/>
        </a:dk2>
        <a:lt2>
          <a:srgbClr val="440044"/>
        </a:lt2>
        <a:accent1>
          <a:srgbClr val="FFCCCC"/>
        </a:accent1>
        <a:accent2>
          <a:srgbClr val="790571"/>
        </a:accent2>
        <a:accent3>
          <a:srgbClr val="9BBB59"/>
        </a:accent3>
        <a:accent4>
          <a:srgbClr val="8064A2"/>
        </a:accent4>
        <a:accent5>
          <a:srgbClr val="4BACC6"/>
        </a:accent5>
        <a:accent6>
          <a:srgbClr val="F79646"/>
        </a:accent6>
        <a:hlink>
          <a:srgbClr val="993366"/>
        </a:hlink>
        <a:folHlink>
          <a:srgbClr val="9F839F"/>
        </a:folHlink>
      </a:clrScheme>
    </a:extraClrScheme>
    <a:extraClrScheme>
      <a:clrScheme name="">
        <a:dk1>
          <a:srgbClr val="000000"/>
        </a:dk1>
        <a:lt1>
          <a:srgbClr val="FFFFFF"/>
        </a:lt1>
        <a:dk2>
          <a:srgbClr val="000000"/>
        </a:dk2>
        <a:lt2>
          <a:srgbClr val="FF9900"/>
        </a:lt2>
        <a:accent1>
          <a:srgbClr val="FFCC99"/>
        </a:accent1>
        <a:accent2>
          <a:srgbClr val="FBA313"/>
        </a:accent2>
        <a:accent3>
          <a:srgbClr val="9BBB59"/>
        </a:accent3>
        <a:accent4>
          <a:srgbClr val="8064A2"/>
        </a:accent4>
        <a:accent5>
          <a:srgbClr val="4BACC6"/>
        </a:accent5>
        <a:accent6>
          <a:srgbClr val="F79646"/>
        </a:accent6>
        <a:hlink>
          <a:srgbClr val="CC3300"/>
        </a:hlink>
        <a:folHlink>
          <a:srgbClr val="FCC66E"/>
        </a:folHlink>
      </a:clrScheme>
    </a:extraClrScheme>
    <a:extraClrScheme>
      <a:clrScheme name="">
        <a:dk1>
          <a:srgbClr val="000000"/>
        </a:dk1>
        <a:lt1>
          <a:srgbClr val="FFFFFF"/>
        </a:lt1>
        <a:dk2>
          <a:srgbClr val="000000"/>
        </a:dk2>
        <a:lt2>
          <a:srgbClr val="779F92"/>
        </a:lt2>
        <a:accent1>
          <a:srgbClr val="33CCCC"/>
        </a:accent1>
        <a:accent2>
          <a:srgbClr val="9DC2D7"/>
        </a:accent2>
        <a:accent3>
          <a:srgbClr val="9BBB59"/>
        </a:accent3>
        <a:accent4>
          <a:srgbClr val="8064A2"/>
        </a:accent4>
        <a:accent5>
          <a:srgbClr val="4BACC6"/>
        </a:accent5>
        <a:accent6>
          <a:srgbClr val="F79646"/>
        </a:accent6>
        <a:hlink>
          <a:srgbClr val="006666"/>
        </a:hlink>
        <a:folHlink>
          <a:srgbClr val="CCCCFF"/>
        </a:folHlink>
      </a:clrScheme>
    </a:extraClrScheme>
    <a:extraClrScheme>
      <a:clrScheme name="">
        <a:dk1>
          <a:srgbClr val="000000"/>
        </a:dk1>
        <a:lt1>
          <a:srgbClr val="FFFFFF"/>
        </a:lt1>
        <a:dk2>
          <a:srgbClr val="000000"/>
        </a:dk2>
        <a:lt2>
          <a:srgbClr val="00007D"/>
        </a:lt2>
        <a:accent1>
          <a:srgbClr val="9999FF"/>
        </a:accent1>
        <a:accent2>
          <a:srgbClr val="9999CC"/>
        </a:accent2>
        <a:accent3>
          <a:srgbClr val="9BBB59"/>
        </a:accent3>
        <a:accent4>
          <a:srgbClr val="8064A2"/>
        </a:accent4>
        <a:accent5>
          <a:srgbClr val="4BACC6"/>
        </a:accent5>
        <a:accent6>
          <a:srgbClr val="F79646"/>
        </a:accent6>
        <a:hlink>
          <a:srgbClr val="666699"/>
        </a:hlink>
        <a:folHlink>
          <a:srgbClr val="CCCCE6"/>
        </a:folHlink>
      </a:clrScheme>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charset="0"/>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charset="0"/>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charset="0"/>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charset="0"/>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6154</TotalTime>
  <Words>4744</Words>
  <Application>Microsoft Office PowerPoint</Application>
  <PresentationFormat>全屏显示(4:3)</PresentationFormat>
  <Paragraphs>237</Paragraphs>
  <Slides>45</Slides>
  <Notes>7</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45</vt:i4>
      </vt:variant>
    </vt:vector>
  </HeadingPairs>
  <TitlesOfParts>
    <vt:vector size="55" baseType="lpstr">
      <vt:lpstr>仿宋</vt:lpstr>
      <vt:lpstr>华文楷体</vt:lpstr>
      <vt:lpstr>隶书</vt:lpstr>
      <vt:lpstr>Arial</vt:lpstr>
      <vt:lpstr>Arial Black</vt:lpstr>
      <vt:lpstr>Calibri</vt:lpstr>
      <vt:lpstr>Times New Roman</vt:lpstr>
      <vt:lpstr>Wingdings</vt:lpstr>
      <vt:lpstr>Pixel</vt:lpstr>
      <vt:lpstr>1_Pixel</vt:lpstr>
      <vt:lpstr>第四章  决策树建模</vt:lpstr>
      <vt:lpstr>§4.1  数据分类介绍</vt:lpstr>
      <vt:lpstr>§4.1  数据分类介绍-2</vt:lpstr>
      <vt:lpstr>§4.1  数据分类介绍-2</vt:lpstr>
      <vt:lpstr>PowerPoint 演示文稿</vt:lpstr>
      <vt:lpstr>PowerPoint 演示文稿</vt:lpstr>
      <vt:lpstr>§4.1  决策树介绍-2</vt:lpstr>
      <vt:lpstr>§4.1  决策树介绍-2</vt:lpstr>
      <vt:lpstr>例子</vt:lpstr>
      <vt:lpstr>例子</vt:lpstr>
      <vt:lpstr>例子</vt:lpstr>
      <vt:lpstr>4.1.1 决策树的基本知识</vt:lpstr>
      <vt:lpstr>4.1.1 决策树的基本知识-2</vt:lpstr>
      <vt:lpstr>4.1.1 决策树的基本知识-2</vt:lpstr>
      <vt:lpstr>4.1.1 决策树的基本知识-2</vt:lpstr>
      <vt:lpstr>4.1.1 决策树的基本知识-2</vt:lpstr>
      <vt:lpstr>4.1.1 决策树的基本知识-2</vt:lpstr>
      <vt:lpstr>4.1.1 决策树的基本知识-2</vt:lpstr>
      <vt:lpstr>4.1.1 决策树的基本知识-2</vt:lpstr>
      <vt:lpstr>4.1.1 决策树的基本知识-2</vt:lpstr>
      <vt:lpstr>§4.1  决策树介绍-2</vt:lpstr>
      <vt:lpstr>§4.2  树的建模过程</vt:lpstr>
      <vt:lpstr>§4.2  树的建模过程</vt:lpstr>
      <vt:lpstr>§4.2  树的建模过程—总体步骤</vt:lpstr>
      <vt:lpstr>§4.2  树的建模过程</vt:lpstr>
      <vt:lpstr>4.2.1 数据准备</vt:lpstr>
      <vt:lpstr>4.2.1 数据准备</vt:lpstr>
      <vt:lpstr>4.2.1 数据准备</vt:lpstr>
      <vt:lpstr>§4.2  树的建模过程</vt:lpstr>
      <vt:lpstr>§4.2  树的建模过程</vt:lpstr>
      <vt:lpstr>§4.2  树的建模过程</vt:lpstr>
      <vt:lpstr>4.2.2 树的生长</vt:lpstr>
      <vt:lpstr>4.2.2 树的生长</vt:lpstr>
      <vt:lpstr>4.2.2 树的生长</vt:lpstr>
      <vt:lpstr>4.2.2 树的生长—算法的形式描述</vt:lpstr>
      <vt:lpstr>§4.2  树的建模过程-3</vt:lpstr>
      <vt:lpstr>4.2.3 有效性和风险性</vt:lpstr>
      <vt:lpstr>4.2.3 有效性和风险性</vt:lpstr>
      <vt:lpstr>4.2.3 有效性和风险性</vt:lpstr>
      <vt:lpstr>4.2.3 有效性和风险性</vt:lpstr>
      <vt:lpstr>4.2.3 有效性和风险性</vt:lpstr>
      <vt:lpstr>4.2.3 有效性和风险性</vt:lpstr>
      <vt:lpstr>§4.2  树的建模过程</vt:lpstr>
      <vt:lpstr>PowerPoint 演示文稿</vt:lpstr>
      <vt:lpstr>PowerPoint 演示文稿</vt:lpstr>
    </vt:vector>
  </TitlesOfParts>
  <Company>imis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gtp</dc:creator>
  <cp:lastModifiedBy>Administrator</cp:lastModifiedBy>
  <cp:revision>63</cp:revision>
  <cp:lastPrinted>1601-01-01T00:00:00Z</cp:lastPrinted>
  <dcterms:created xsi:type="dcterms:W3CDTF">2011-11-07T03:29:04Z</dcterms:created>
  <dcterms:modified xsi:type="dcterms:W3CDTF">2020-11-01T12:41:44Z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6</vt:i4>
  </property>
</Properties>
</file>