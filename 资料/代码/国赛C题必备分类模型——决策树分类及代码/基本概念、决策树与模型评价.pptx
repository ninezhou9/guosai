
<file path=[Content_Types].xml><?xml version="1.0" encoding="utf-8"?>
<Types xmlns="http://schemas.openxmlformats.org/package/2006/content-types">
  <Default Extension="rels" ContentType="application/vnd.openxmlformats-package.relationships+xml"/>
  <Default Extension="jpeg" ContentType="image/jpeg"/>
  <Default Extension="vml" ContentType="application/vnd.openxmlformats-officedocument.vmlDrawing"/>
  <Default Extension="bin" ContentType="application/vnd.openxmlformats-officedocument.oleObject"/>
  <Default Extension="doc" ContentType="application/msword"/>
  <Default Extension="xls" ContentType="application/vnd.ms-excel"/>
  <Default Extension="emf" ContentType="image/x-emf"/>
  <Default Extension="wmf" ContentType="image/x-wmf"/>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7.6-->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260" r:id="rId3"/>
    <p:sldId id="263" r:id="rId4"/>
    <p:sldId id="266" r:id="rId5"/>
    <p:sldId id="269" r:id="rId6"/>
    <p:sldId id="272" r:id="rId7"/>
    <p:sldId id="275" r:id="rId8"/>
    <p:sldId id="278" r:id="rId9"/>
    <p:sldId id="281" r:id="rId10"/>
    <p:sldId id="284" r:id="rId11"/>
    <p:sldId id="287" r:id="rId12"/>
    <p:sldId id="290" r:id="rId13"/>
    <p:sldId id="293" r:id="rId14"/>
    <p:sldId id="296" r:id="rId15"/>
    <p:sldId id="299" r:id="rId16"/>
    <p:sldId id="302" r:id="rId17"/>
    <p:sldId id="305" r:id="rId18"/>
    <p:sldId id="308" r:id="rId19"/>
    <p:sldId id="311" r:id="rId20"/>
    <p:sldId id="314" r:id="rId21"/>
    <p:sldId id="317" r:id="rId22"/>
    <p:sldId id="320" r:id="rId23"/>
    <p:sldId id="323" r:id="rId24"/>
    <p:sldId id="326" r:id="rId25"/>
    <p:sldId id="329" r:id="rId26"/>
    <p:sldId id="332" r:id="rId27"/>
    <p:sldId id="335" r:id="rId28"/>
    <p:sldId id="338" r:id="rId29"/>
    <p:sldId id="341" r:id="rId30"/>
    <p:sldId id="344" r:id="rId31"/>
    <p:sldId id="347" r:id="rId32"/>
    <p:sldId id="350" r:id="rId33"/>
    <p:sldId id="353" r:id="rId34"/>
    <p:sldId id="356" r:id="rId35"/>
    <p:sldId id="359" r:id="rId36"/>
    <p:sldId id="362" r:id="rId37"/>
    <p:sldId id="365" r:id="rId38"/>
    <p:sldId id="368" r:id="rId39"/>
    <p:sldId id="371" r:id="rId40"/>
    <p:sldId id="374" r:id="rId41"/>
    <p:sldId id="377" r:id="rId42"/>
    <p:sldId id="380" r:id="rId43"/>
    <p:sldId id="383" r:id="rId44"/>
    <p:sldId id="386" r:id="rId45"/>
    <p:sldId id="389" r:id="rId46"/>
    <p:sldId id="392" r:id="rId47"/>
    <p:sldId id="395" r:id="rId48"/>
    <p:sldId id="398" r:id="rId49"/>
    <p:sldId id="401" r:id="rId50"/>
    <p:sldId id="404" r:id="rId51"/>
    <p:sldId id="407" r:id="rId52"/>
    <p:sldId id="410" r:id="rId53"/>
    <p:sldId id="413" r:id="rId54"/>
    <p:sldId id="416" r:id="rId55"/>
    <p:sldId id="419" r:id="rId56"/>
    <p:sldId id="422" r:id="rId57"/>
    <p:sldId id="425" r:id="rId58"/>
    <p:sldId id="428" r:id="rId59"/>
    <p:sldId id="431" r:id="rId60"/>
    <p:sldId id="434" r:id="rId61"/>
    <p:sldId id="437" r:id="rId62"/>
    <p:sldId id="440" r:id="rId63"/>
    <p:sldId id="443" r:id="rId64"/>
    <p:sldId id="446" r:id="rId65"/>
    <p:sldId id="449" r:id="rId66"/>
    <p:sldId id="452" r:id="rId67"/>
    <p:sldId id="455" r:id="rId68"/>
    <p:sldId id="458" r:id="rId69"/>
    <p:sldId id="461" r:id="rId70"/>
    <p:sldId id="464" r:id="rId71"/>
    <p:sldId id="467" r:id="rId72"/>
    <p:sldId id="470" r:id="rId73"/>
    <p:sldId id="473" r:id="rId74"/>
    <p:sldId id="476" r:id="rId75"/>
    <p:sldId id="479" r:id="rId76"/>
    <p:sldId id="482" r:id="rId77"/>
    <p:sldId id="485" r:id="rId78"/>
    <p:sldId id="488" r:id="rId79"/>
    <p:sldId id="491" r:id="rId80"/>
    <p:sldId id="494" r:id="rId81"/>
    <p:sldId id="497" r:id="rId82"/>
    <p:sldId id="500" r:id="rId83"/>
    <p:sldId id="503" r:id="rId84"/>
    <p:sldId id="506" r:id="rId85"/>
    <p:sldId id="509" r:id="rId86"/>
    <p:sldId id="512" r:id="rId87"/>
    <p:sldId id="515" r:id="rId88"/>
    <p:sldId id="518" r:id="rId89"/>
    <p:sldId id="521" r:id="rId90"/>
    <p:sldId id="524" r:id="rId91"/>
    <p:sldId id="527" r:id="rId92"/>
    <p:sldId id="530" r:id="rId93"/>
    <p:sldId id="256" r:id="rId94"/>
  </p:sldIdLst>
  <p:sldSz cx="9144000" cy="6858000" type="screen4x3"/>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4" d="100"/>
          <a:sy n="84" d="100"/>
        </p:scale>
        <p:origin x="-1152" y="-78"/>
      </p:cViewPr>
      <p:guideLst>
        <p:guide orient="horz" pos="2160"/>
        <p:guide pos="2880"/>
      </p:guideLst>
    </p:cSldViewPr>
  </p:slideViewPr>
  <p:notesTextViewPr>
    <p:cViewPr>
      <p:scale>
        <a:sx n="100" d="100"/>
        <a:sy n="100" d="100"/>
      </p:scale>
      <p:origin x="0" y="0"/>
    </p:cViewPr>
  </p:notesTextViewPr>
  <p:notesViewPr>
    <p:cSldViewPr>
      <p:cViewPr>
        <p:scale>
          <a:sx n="1" d="100"/>
          <a:sy n="1" d="100"/>
        </p:scale>
        <p:origin x="0" y="0"/>
      </p:cViewPr>
    </p:cSldViewPr>
  </p:notesViewPr>
  <p:gridSpacing cx="73736200" cy="7373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3" Type="http://schemas.openxmlformats.org/officeDocument/2006/relationships/slide" Target="slides/slide41.xml" /><Relationship Id="rId44" Type="http://schemas.openxmlformats.org/officeDocument/2006/relationships/slide" Target="slides/slide42.xml" /><Relationship Id="rId45" Type="http://schemas.openxmlformats.org/officeDocument/2006/relationships/slide" Target="slides/slide43.xml" /><Relationship Id="rId46" Type="http://schemas.openxmlformats.org/officeDocument/2006/relationships/slide" Target="slides/slide44.xml" /><Relationship Id="rId47" Type="http://schemas.openxmlformats.org/officeDocument/2006/relationships/slide" Target="slides/slide45.xml" /><Relationship Id="rId48" Type="http://schemas.openxmlformats.org/officeDocument/2006/relationships/slide" Target="slides/slide46.xml" /><Relationship Id="rId49" Type="http://schemas.openxmlformats.org/officeDocument/2006/relationships/slide" Target="slides/slide47.xml" /><Relationship Id="rId5" Type="http://schemas.openxmlformats.org/officeDocument/2006/relationships/slide" Target="slides/slide3.xml" /><Relationship Id="rId50" Type="http://schemas.openxmlformats.org/officeDocument/2006/relationships/slide" Target="slides/slide48.xml" /><Relationship Id="rId51" Type="http://schemas.openxmlformats.org/officeDocument/2006/relationships/slide" Target="slides/slide49.xml" /><Relationship Id="rId52" Type="http://schemas.openxmlformats.org/officeDocument/2006/relationships/slide" Target="slides/slide50.xml" /><Relationship Id="rId53" Type="http://schemas.openxmlformats.org/officeDocument/2006/relationships/slide" Target="slides/slide51.xml" /><Relationship Id="rId54" Type="http://schemas.openxmlformats.org/officeDocument/2006/relationships/slide" Target="slides/slide52.xml" /><Relationship Id="rId55" Type="http://schemas.openxmlformats.org/officeDocument/2006/relationships/slide" Target="slides/slide53.xml" /><Relationship Id="rId56" Type="http://schemas.openxmlformats.org/officeDocument/2006/relationships/slide" Target="slides/slide54.xml" /><Relationship Id="rId57" Type="http://schemas.openxmlformats.org/officeDocument/2006/relationships/slide" Target="slides/slide55.xml" /><Relationship Id="rId58" Type="http://schemas.openxmlformats.org/officeDocument/2006/relationships/slide" Target="slides/slide56.xml" /><Relationship Id="rId59" Type="http://schemas.openxmlformats.org/officeDocument/2006/relationships/slide" Target="slides/slide57.xml" /><Relationship Id="rId6" Type="http://schemas.openxmlformats.org/officeDocument/2006/relationships/slide" Target="slides/slide4.xml" /><Relationship Id="rId60" Type="http://schemas.openxmlformats.org/officeDocument/2006/relationships/slide" Target="slides/slide58.xml" /><Relationship Id="rId61" Type="http://schemas.openxmlformats.org/officeDocument/2006/relationships/slide" Target="slides/slide59.xml" /><Relationship Id="rId62" Type="http://schemas.openxmlformats.org/officeDocument/2006/relationships/slide" Target="slides/slide60.xml" /><Relationship Id="rId63" Type="http://schemas.openxmlformats.org/officeDocument/2006/relationships/slide" Target="slides/slide61.xml" /><Relationship Id="rId64" Type="http://schemas.openxmlformats.org/officeDocument/2006/relationships/slide" Target="slides/slide62.xml" /><Relationship Id="rId65" Type="http://schemas.openxmlformats.org/officeDocument/2006/relationships/slide" Target="slides/slide63.xml" /><Relationship Id="rId66" Type="http://schemas.openxmlformats.org/officeDocument/2006/relationships/slide" Target="slides/slide64.xml" /><Relationship Id="rId67" Type="http://schemas.openxmlformats.org/officeDocument/2006/relationships/slide" Target="slides/slide65.xml" /><Relationship Id="rId68" Type="http://schemas.openxmlformats.org/officeDocument/2006/relationships/slide" Target="slides/slide66.xml" /><Relationship Id="rId69" Type="http://schemas.openxmlformats.org/officeDocument/2006/relationships/slide" Target="slides/slide67.xml" /><Relationship Id="rId7" Type="http://schemas.openxmlformats.org/officeDocument/2006/relationships/slide" Target="slides/slide5.xml" /><Relationship Id="rId70" Type="http://schemas.openxmlformats.org/officeDocument/2006/relationships/slide" Target="slides/slide68.xml" /><Relationship Id="rId71" Type="http://schemas.openxmlformats.org/officeDocument/2006/relationships/slide" Target="slides/slide69.xml" /><Relationship Id="rId72" Type="http://schemas.openxmlformats.org/officeDocument/2006/relationships/slide" Target="slides/slide70.xml" /><Relationship Id="rId73" Type="http://schemas.openxmlformats.org/officeDocument/2006/relationships/slide" Target="slides/slide71.xml" /><Relationship Id="rId74" Type="http://schemas.openxmlformats.org/officeDocument/2006/relationships/slide" Target="slides/slide72.xml" /><Relationship Id="rId75" Type="http://schemas.openxmlformats.org/officeDocument/2006/relationships/slide" Target="slides/slide73.xml" /><Relationship Id="rId76" Type="http://schemas.openxmlformats.org/officeDocument/2006/relationships/slide" Target="slides/slide74.xml" /><Relationship Id="rId77" Type="http://schemas.openxmlformats.org/officeDocument/2006/relationships/slide" Target="slides/slide75.xml" /><Relationship Id="rId78" Type="http://schemas.openxmlformats.org/officeDocument/2006/relationships/slide" Target="slides/slide76.xml" /><Relationship Id="rId79" Type="http://schemas.openxmlformats.org/officeDocument/2006/relationships/slide" Target="slides/slide77.xml" /><Relationship Id="rId8" Type="http://schemas.openxmlformats.org/officeDocument/2006/relationships/slide" Target="slides/slide6.xml" /><Relationship Id="rId80" Type="http://schemas.openxmlformats.org/officeDocument/2006/relationships/slide" Target="slides/slide78.xml" /><Relationship Id="rId81" Type="http://schemas.openxmlformats.org/officeDocument/2006/relationships/slide" Target="slides/slide79.xml" /><Relationship Id="rId82" Type="http://schemas.openxmlformats.org/officeDocument/2006/relationships/slide" Target="slides/slide80.xml" /><Relationship Id="rId83" Type="http://schemas.openxmlformats.org/officeDocument/2006/relationships/slide" Target="slides/slide81.xml" /><Relationship Id="rId84" Type="http://schemas.openxmlformats.org/officeDocument/2006/relationships/slide" Target="slides/slide82.xml" /><Relationship Id="rId85" Type="http://schemas.openxmlformats.org/officeDocument/2006/relationships/slide" Target="slides/slide83.xml" /><Relationship Id="rId86" Type="http://schemas.openxmlformats.org/officeDocument/2006/relationships/slide" Target="slides/slide84.xml" /><Relationship Id="rId87" Type="http://schemas.openxmlformats.org/officeDocument/2006/relationships/slide" Target="slides/slide85.xml" /><Relationship Id="rId88" Type="http://schemas.openxmlformats.org/officeDocument/2006/relationships/slide" Target="slides/slide86.xml" /><Relationship Id="rId89" Type="http://schemas.openxmlformats.org/officeDocument/2006/relationships/slide" Target="slides/slide87.xml" /><Relationship Id="rId9" Type="http://schemas.openxmlformats.org/officeDocument/2006/relationships/slide" Target="slides/slide7.xml" /><Relationship Id="rId90" Type="http://schemas.openxmlformats.org/officeDocument/2006/relationships/slide" Target="slides/slide88.xml" /><Relationship Id="rId91" Type="http://schemas.openxmlformats.org/officeDocument/2006/relationships/slide" Target="slides/slide89.xml" /><Relationship Id="rId92" Type="http://schemas.openxmlformats.org/officeDocument/2006/relationships/slide" Target="slides/slide90.xml" /><Relationship Id="rId93" Type="http://schemas.openxmlformats.org/officeDocument/2006/relationships/slide" Target="slides/slide91.xml" /><Relationship Id="rId94" Type="http://schemas.openxmlformats.org/officeDocument/2006/relationships/slide" Target="slides/slide92.xml" /><Relationship Id="rId95" Type="http://schemas.openxmlformats.org/officeDocument/2006/relationships/tags" Target="tags/tag1.xml" /><Relationship Id="rId96" Type="http://schemas.openxmlformats.org/officeDocument/2006/relationships/presProps" Target="presProps.xml" /><Relationship Id="rId97" Type="http://schemas.openxmlformats.org/officeDocument/2006/relationships/viewProps" Target="viewProps.xml" /><Relationship Id="rId98" Type="http://schemas.openxmlformats.org/officeDocument/2006/relationships/theme" Target="theme/theme1.xml" /><Relationship Id="rId99" Type="http://schemas.openxmlformats.org/officeDocument/2006/relationships/tableStyles" Target="tableStyles.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2.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4.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5.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3.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6.w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6.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8.w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8.w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9.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0.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11.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12.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13.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14.emf" /><Relationship Id="rId2" Type="http://schemas.openxmlformats.org/officeDocument/2006/relationships/image" Target="../media/image15.e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16.emf" /><Relationship Id="rId2" Type="http://schemas.openxmlformats.org/officeDocument/2006/relationships/image" Target="../media/image17.emf" /><Relationship Id="rId3" Type="http://schemas.openxmlformats.org/officeDocument/2006/relationships/image" Target="../media/image18.emf" /><Relationship Id="rId4" Type="http://schemas.openxmlformats.org/officeDocument/2006/relationships/image" Target="../media/image19.emf" /><Relationship Id="rId5" Type="http://schemas.openxmlformats.org/officeDocument/2006/relationships/image" Target="../media/image20.emf" /></Relationships>
</file>

<file path=ppt/drawings/_rels/vmlDrawing19.vml.rels>&#65279;<?xml version="1.0" encoding="utf-8" standalone="yes"?><Relationships xmlns="http://schemas.openxmlformats.org/package/2006/relationships"><Relationship Id="rId1" Type="http://schemas.openxmlformats.org/officeDocument/2006/relationships/image" Target="../media/image21.wmf" /><Relationship Id="rId2" Type="http://schemas.openxmlformats.org/officeDocument/2006/relationships/image" Target="../media/image22.wmf" /><Relationship Id="rId3" Type="http://schemas.openxmlformats.org/officeDocument/2006/relationships/image" Target="../media/image23.wmf" /><Relationship Id="rId4" Type="http://schemas.openxmlformats.org/officeDocument/2006/relationships/image" Target="../media/image24.wmf" /><Relationship Id="rId5" Type="http://schemas.openxmlformats.org/officeDocument/2006/relationships/image" Target="../media/image25.wmf" /></Relationships>
</file>

<file path=ppt/drawings/_rels/vmlDrawing20.vml.rels>&#65279;<?xml version="1.0" encoding="utf-8" standalone="yes"?><Relationships xmlns="http://schemas.openxmlformats.org/package/2006/relationships"><Relationship Id="rId1" Type="http://schemas.openxmlformats.org/officeDocument/2006/relationships/image" Target="../media/image26.wmf" /><Relationship Id="rId2" Type="http://schemas.openxmlformats.org/officeDocument/2006/relationships/image" Target="../media/image27.wmf" /><Relationship Id="rId3" Type="http://schemas.openxmlformats.org/officeDocument/2006/relationships/image" Target="../media/image28.wmf" /><Relationship Id="rId4" Type="http://schemas.openxmlformats.org/officeDocument/2006/relationships/image" Target="../media/image21.wmf" /></Relationships>
</file>

<file path=ppt/drawings/_rels/vmlDrawing21.vml.rels>&#65279;<?xml version="1.0" encoding="utf-8" standalone="yes"?><Relationships xmlns="http://schemas.openxmlformats.org/package/2006/relationships"><Relationship Id="rId1" Type="http://schemas.openxmlformats.org/officeDocument/2006/relationships/image" Target="../media/image29.wmf" /></Relationships>
</file>

<file path=ppt/drawings/_rels/vmlDrawing22.vml.rels>&#65279;<?xml version="1.0" encoding="utf-8" standalone="yes"?><Relationships xmlns="http://schemas.openxmlformats.org/package/2006/relationships"><Relationship Id="rId1" Type="http://schemas.openxmlformats.org/officeDocument/2006/relationships/image" Target="../media/image30.wmf" /><Relationship Id="rId2" Type="http://schemas.openxmlformats.org/officeDocument/2006/relationships/image" Target="../media/image31.wmf" /></Relationships>
</file>

<file path=ppt/drawings/_rels/vmlDrawing23.vml.rels>&#65279;<?xml version="1.0" encoding="utf-8" standalone="yes"?><Relationships xmlns="http://schemas.openxmlformats.org/package/2006/relationships"><Relationship Id="rId1" Type="http://schemas.openxmlformats.org/officeDocument/2006/relationships/image" Target="../media/image32.wmf" /><Relationship Id="rId2" Type="http://schemas.openxmlformats.org/officeDocument/2006/relationships/image" Target="../media/image33.wmf" /><Relationship Id="rId3" Type="http://schemas.openxmlformats.org/officeDocument/2006/relationships/image" Target="../media/image34.wmf" /></Relationships>
</file>

<file path=ppt/drawings/_rels/vmlDrawing24.vml.rels>&#65279;<?xml version="1.0" encoding="utf-8" standalone="yes"?><Relationships xmlns="http://schemas.openxmlformats.org/package/2006/relationships"><Relationship Id="rId1" Type="http://schemas.openxmlformats.org/officeDocument/2006/relationships/image" Target="../media/image35.emf" /><Relationship Id="rId2" Type="http://schemas.openxmlformats.org/officeDocument/2006/relationships/image" Target="../media/image36.emf" /></Relationships>
</file>

<file path=ppt/drawings/_rels/vmlDrawing25.vml.rels>&#65279;<?xml version="1.0" encoding="utf-8" standalone="yes"?><Relationships xmlns="http://schemas.openxmlformats.org/package/2006/relationships"><Relationship Id="rId1" Type="http://schemas.openxmlformats.org/officeDocument/2006/relationships/image" Target="../media/image37.emf" /></Relationships>
</file>

<file path=ppt/drawings/_rels/vmlDrawing26.vml.rels>&#65279;<?xml version="1.0" encoding="utf-8" standalone="yes"?><Relationships xmlns="http://schemas.openxmlformats.org/package/2006/relationships"><Relationship Id="rId1" Type="http://schemas.openxmlformats.org/officeDocument/2006/relationships/image" Target="../media/image38.wmf" /><Relationship Id="rId10" Type="http://schemas.openxmlformats.org/officeDocument/2006/relationships/image" Target="../media/image47.wmf" /><Relationship Id="rId2" Type="http://schemas.openxmlformats.org/officeDocument/2006/relationships/image" Target="../media/image39.wmf" /><Relationship Id="rId3" Type="http://schemas.openxmlformats.org/officeDocument/2006/relationships/image" Target="../media/image40.wmf" /><Relationship Id="rId4" Type="http://schemas.openxmlformats.org/officeDocument/2006/relationships/image" Target="../media/image41.wmf" /><Relationship Id="rId5" Type="http://schemas.openxmlformats.org/officeDocument/2006/relationships/image" Target="../media/image42.wmf" /><Relationship Id="rId6" Type="http://schemas.openxmlformats.org/officeDocument/2006/relationships/image" Target="../media/image43.wmf" /><Relationship Id="rId7" Type="http://schemas.openxmlformats.org/officeDocument/2006/relationships/image" Target="../media/image44.wmf" /><Relationship Id="rId8" Type="http://schemas.openxmlformats.org/officeDocument/2006/relationships/image" Target="../media/image45.wmf" /><Relationship Id="rId9" Type="http://schemas.openxmlformats.org/officeDocument/2006/relationships/image" Target="../media/image46.wmf" /></Relationships>
</file>

<file path=ppt/drawings/_rels/vmlDrawing27.vml.rels>&#65279;<?xml version="1.0" encoding="utf-8" standalone="yes"?><Relationships xmlns="http://schemas.openxmlformats.org/package/2006/relationships"><Relationship Id="rId1" Type="http://schemas.openxmlformats.org/officeDocument/2006/relationships/image" Target="../media/image48.wmf" /><Relationship Id="rId2" Type="http://schemas.openxmlformats.org/officeDocument/2006/relationships/image" Target="../media/image49.wmf" /></Relationships>
</file>

<file path=ppt/drawings/_rels/vmlDrawing28.vml.rels>&#65279;<?xml version="1.0" encoding="utf-8" standalone="yes"?><Relationships xmlns="http://schemas.openxmlformats.org/package/2006/relationships"><Relationship Id="rId1" Type="http://schemas.openxmlformats.org/officeDocument/2006/relationships/image" Target="../media/image50.wmf" /></Relationships>
</file>

<file path=ppt/drawings/_rels/vmlDrawing29.vml.rels>&#65279;<?xml version="1.0" encoding="utf-8" standalone="yes"?><Relationships xmlns="http://schemas.openxmlformats.org/package/2006/relationships"><Relationship Id="rId1" Type="http://schemas.openxmlformats.org/officeDocument/2006/relationships/image" Target="../media/image26.wmf" /><Relationship Id="rId2" Type="http://schemas.openxmlformats.org/officeDocument/2006/relationships/image" Target="../media/image27.wmf" /><Relationship Id="rId3" Type="http://schemas.openxmlformats.org/officeDocument/2006/relationships/image" Target="../media/image28.wmf" /><Relationship Id="rId4" Type="http://schemas.openxmlformats.org/officeDocument/2006/relationships/image" Target="../media/image51.wmf" /></Relationships>
</file>

<file path=ppt/drawings/_rels/vmlDrawing30.vml.rels>&#65279;<?xml version="1.0" encoding="utf-8" standalone="yes"?><Relationships xmlns="http://schemas.openxmlformats.org/package/2006/relationships"><Relationship Id="rId1" Type="http://schemas.openxmlformats.org/officeDocument/2006/relationships/image" Target="../media/image52.wmf" /></Relationships>
</file>

<file path=ppt/drawings/_rels/vmlDrawing31.vml.rels>&#65279;<?xml version="1.0" encoding="utf-8" standalone="yes"?><Relationships xmlns="http://schemas.openxmlformats.org/package/2006/relationships"><Relationship Id="rId1" Type="http://schemas.openxmlformats.org/officeDocument/2006/relationships/image" Target="../media/image53.wmf" /><Relationship Id="rId2" Type="http://schemas.openxmlformats.org/officeDocument/2006/relationships/image" Target="../media/image54.wmf" /></Relationships>
</file>

<file path=ppt/drawings/_rels/vmlDrawing32.vml.rels>&#65279;<?xml version="1.0" encoding="utf-8" standalone="yes"?><Relationships xmlns="http://schemas.openxmlformats.org/package/2006/relationships"><Relationship Id="rId1" Type="http://schemas.openxmlformats.org/officeDocument/2006/relationships/image" Target="../media/image55.wmf" /></Relationships>
</file>

<file path=ppt/drawings/_rels/vmlDrawing33.vml.rels>&#65279;<?xml version="1.0" encoding="utf-8" standalone="yes"?><Relationships xmlns="http://schemas.openxmlformats.org/package/2006/relationships"><Relationship Id="rId1" Type="http://schemas.openxmlformats.org/officeDocument/2006/relationships/image" Target="../media/image26.wmf" /><Relationship Id="rId2" Type="http://schemas.openxmlformats.org/officeDocument/2006/relationships/image" Target="../media/image27.wmf" /><Relationship Id="rId3" Type="http://schemas.openxmlformats.org/officeDocument/2006/relationships/image" Target="../media/image28.wmf" /><Relationship Id="rId4" Type="http://schemas.openxmlformats.org/officeDocument/2006/relationships/image" Target="../media/image55.wmf" /></Relationships>
</file>

<file path=ppt/drawings/_rels/vmlDrawing34.vml.rels>&#65279;<?xml version="1.0" encoding="utf-8" standalone="yes"?><Relationships xmlns="http://schemas.openxmlformats.org/package/2006/relationships"><Relationship Id="rId1" Type="http://schemas.openxmlformats.org/officeDocument/2006/relationships/image" Target="../media/image59.wmf" /></Relationships>
</file>

<file path=ppt/drawings/_rels/vmlDrawing35.vml.rels>&#65279;<?xml version="1.0" encoding="utf-8" standalone="yes"?><Relationships xmlns="http://schemas.openxmlformats.org/package/2006/relationships"><Relationship Id="rId1" Type="http://schemas.openxmlformats.org/officeDocument/2006/relationships/image" Target="../media/image60.emf" /></Relationships>
</file>

<file path=ppt/drawings/_rels/vmlDrawing36.vml.rels>&#65279;<?xml version="1.0" encoding="utf-8" standalone="yes"?><Relationships xmlns="http://schemas.openxmlformats.org/package/2006/relationships"><Relationship Id="rId1" Type="http://schemas.openxmlformats.org/officeDocument/2006/relationships/image" Target="../media/image69.wmf" /></Relationships>
</file>

<file path=ppt/drawings/_rels/vmlDrawing37.vml.rels>&#65279;<?xml version="1.0" encoding="utf-8" standalone="yes"?><Relationships xmlns="http://schemas.openxmlformats.org/package/2006/relationships"><Relationship Id="rId1" Type="http://schemas.openxmlformats.org/officeDocument/2006/relationships/image" Target="../media/image70.wmf" /><Relationship Id="rId2" Type="http://schemas.openxmlformats.org/officeDocument/2006/relationships/image" Target="../media/image71.emf" /><Relationship Id="rId3" Type="http://schemas.openxmlformats.org/officeDocument/2006/relationships/image" Target="../media/image72.emf" /></Relationships>
</file>

<file path=ppt/drawings/_rels/vmlDrawing38.vml.rels>&#65279;<?xml version="1.0" encoding="utf-8" standalone="yes"?><Relationships xmlns="http://schemas.openxmlformats.org/package/2006/relationships"><Relationship Id="rId1" Type="http://schemas.openxmlformats.org/officeDocument/2006/relationships/image" Target="../media/image73.wmf" /></Relationships>
</file>

<file path=ppt/drawings/_rels/vmlDrawing39.vml.rels>&#65279;<?xml version="1.0" encoding="utf-8" standalone="yes"?><Relationships xmlns="http://schemas.openxmlformats.org/package/2006/relationships"><Relationship Id="rId1" Type="http://schemas.openxmlformats.org/officeDocument/2006/relationships/image" Target="../media/image74.wmf" /></Relationships>
</file>

<file path=ppt/drawings/_rels/vmlDrawing40.vml.rels>&#65279;<?xml version="1.0" encoding="utf-8" standalone="yes"?><Relationships xmlns="http://schemas.openxmlformats.org/package/2006/relationships"><Relationship Id="rId1" Type="http://schemas.openxmlformats.org/officeDocument/2006/relationships/image" Target="../media/image76.wmf"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p:sp>
        <p:nvSpPr>
          <p:cNvPr id="4098" name=""/>
          <p:cNvSpPr/>
          <p:nvPr>
            <p:ph type="body" sz="quarter"/>
          </p:nvPr>
        </p:nvSpPr>
        <p:spPr>
          <a:xfrm>
            <a:off x="973138" y="4560888"/>
            <a:ext cx="5367338" cy="4318000"/>
          </a:xfrm>
          <a:prstGeom prst="rect">
            <a:avLst/>
          </a:prstGeom>
          <a:noFill/>
          <a:ln w="12700" cap="flat">
            <a:noFill/>
            <a:prstDash val="solid"/>
            <a:miter lim="800000"/>
            <a:headEnd type="none" w="med" len="med"/>
            <a:tailEnd type="none" w="med" len="med"/>
          </a:ln>
        </p:spPr>
        <p:txBody>
          <a:bodyPr lIns="100437" tIns="50221" rIns="100437" bIns="50221"/>
          <a:lstStyle>
            <a:lvl1pPr marL="0" indent="0" algn="l" defTabSz="962025"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Arial" pitchFamily="34" charset="0"/>
              </a:defRPr>
            </a:lvl1pPr>
            <a:lvl2pPr marL="469900" indent="0" algn="l" defTabSz="962025"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Arial" pitchFamily="34" charset="0"/>
              </a:defRPr>
            </a:lvl2pPr>
            <a:lvl3pPr marL="936625" indent="0" algn="l" defTabSz="962025"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Arial" pitchFamily="34" charset="0"/>
              </a:defRPr>
            </a:lvl3pPr>
            <a:lvl4pPr marL="1406525" indent="0" algn="l" defTabSz="962025"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Arial" pitchFamily="34" charset="0"/>
              </a:defRPr>
            </a:lvl4pPr>
            <a:lvl5pPr marL="1876425" indent="0" algn="l" defTabSz="962025"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Arial" pitchFamily="34" charset="0"/>
              </a:defRPr>
            </a:lvl5pPr>
          </a:lstStyle>
          <a:p>
            <a:pPr lvl="0"/>
            <a:r>
              <a:t>Click to edit Master notes styles</a:t>
            </a:r>
          </a:p>
          <a:p>
            <a:pPr lvl="1"/>
            <a:r>
              <a:t>Second Level</a:t>
            </a:r>
          </a:p>
          <a:p>
            <a:pPr lvl="2"/>
            <a:r>
              <a:t>Third Level</a:t>
            </a:r>
          </a:p>
          <a:p>
            <a:pPr lvl="3"/>
            <a:r>
              <a:t>Fourth Level</a:t>
            </a:r>
          </a:p>
          <a:p>
            <a:pPr lvl="4"/>
            <a:r>
              <a:t>Fifth Level</a:t>
            </a:r>
          </a:p>
        </p:txBody>
      </p:sp>
      <p:sp>
        <p:nvSpPr>
          <p:cNvPr id="4099" name=""/>
          <p:cNvSpPr/>
          <p:nvPr>
            <p:ph type="sldImg" idx="1"/>
          </p:nvPr>
        </p:nvSpPr>
        <p:spPr>
          <a:xfrm>
            <a:off x="1268412" y="728662"/>
            <a:ext cx="4781550" cy="3584575"/>
          </a:xfrm>
          <a:prstGeom prst="rect">
            <a:avLst/>
          </a:prstGeom>
          <a:noFill/>
          <a:ln w="12700" cap="flat">
            <a:solidFill>
              <a:srgbClr val="000000"/>
            </a:solidFill>
            <a:prstDash val="solid"/>
            <a:miter lim="800000"/>
            <a:headEnd type="none" w="med" len="med"/>
            <a:tailEnd type="none" w="med" len="med"/>
          </a:ln>
        </p:spPr>
      </p:sp>
    </p:spTree>
  </p:cSld>
  <p:clrMap bg1="lt1" tx1="dk1" bg2="lt2" tx2="dk2" accent1="accent1" accent2="accent2" accent3="accent3" accent4="accent4" accent5="accent5" accent6="accent6" hlink="hlink" folHlink="folHlink"/>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p:grpSpPr>
      <p:sp>
        <p:nvSpPr>
          <p:cNvPr id="4102" name=""/>
          <p:cNvSpPr/>
          <p:nvPr>
            <p:ph type="sldImg"/>
          </p:nvPr>
        </p:nvSpPr>
        <p:spPr>
          <a:xfrm>
            <a:off x="1262062" y="722312"/>
            <a:ext cx="4795838" cy="3597275"/>
          </a:xfrm>
          <a:prstGeom prst="rect">
            <a:avLst/>
          </a:prstGeom>
          <a:noFill/>
          <a:ln w="12700" cap="flat">
            <a:solidFill>
              <a:srgbClr val="000000"/>
            </a:solidFill>
            <a:prstDash val="solid"/>
            <a:miter lim="800000"/>
            <a:headEnd type="none" w="med" len="med"/>
            <a:tailEnd type="none" w="med" len="med"/>
          </a:ln>
        </p:spPr>
      </p:sp>
      <p:sp>
        <p:nvSpPr>
          <p:cNvPr id="4103" name=""/>
          <p:cNvSpPr/>
          <p:nvPr>
            <p:ph type="body" idx="1"/>
          </p:nvPr>
        </p:nvSpPr>
        <p:spPr>
          <a:xfrm>
            <a:off x="974725" y="4560888"/>
            <a:ext cx="5365750" cy="4318000"/>
          </a:xfrm>
          <a:prstGeom prst="rect">
            <a:avLst/>
          </a:prstGeom>
          <a:noFill/>
          <a:ln w="12700" cap="flat">
            <a:noFill/>
            <a:prstDash val="solid"/>
            <a:miter lim="800000"/>
            <a:headEnd type="none" w="med" len="med"/>
            <a:tailEnd type="none" w="med" len="med"/>
          </a:ln>
        </p:spPr>
        <p:txBody>
          <a:bodyPr rot="0" vert="horz" wrap="square" lIns="95007" tIns="47499" rIns="95007" bIns="47499" anchor="t" anchorCtr="0"/>
          <a:lstStyle>
            <a:lvl1pPr marL="0" indent="0" algn="l"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Calibri"/>
              </a:defRPr>
            </a:lvl1pPr>
            <a:lvl2pPr marL="457200" indent="0" algn="l" defTabSz="457200"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Calibri"/>
              </a:defRPr>
            </a:lvl2pPr>
            <a:lvl3pPr marL="914400" indent="0" algn="l" defTabSz="457200"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Calibri"/>
              </a:defRPr>
            </a:lvl3pPr>
            <a:lvl4pPr marL="1371600" indent="0" algn="l" defTabSz="457200"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Calibri"/>
              </a:defRPr>
            </a:lvl4pPr>
            <a:lvl5pPr marL="1828800" indent="0" algn="l" defTabSz="457200" rtl="0" eaLnBrk="0" fontAlgn="base" hangingPunct="0">
              <a:lnSpc>
                <a:spcPct val="100000"/>
              </a:lnSpc>
              <a:spcBef>
                <a:spcPct val="30000"/>
              </a:spcBef>
              <a:spcAft>
                <a:spcPct val="0"/>
              </a:spcAft>
              <a:buClrTx/>
              <a:buSzTx/>
              <a:buFontTx/>
              <a:buNone/>
              <a:defRPr kumimoji="0" lang="ru-RU" altLang="en-US" sz="1200" b="0" i="0" u="none">
                <a:solidFill>
                  <a:schemeClr val="tx1"/>
                </a:solidFill>
                <a:latin typeface="Calibri"/>
              </a:defRPr>
            </a:lvl5pPr>
          </a:lstStyle>
          <a:p>
            <a:pPr marL="0" lvl="0" indent="0" algn="l" defTabSz="962025" rtl="0" eaLnBrk="0" fontAlgn="base" hangingPunct="0">
              <a:lnSpc>
                <a:spcPct val="100000"/>
              </a:lnSpc>
              <a:spcBef>
                <a:spcPct val="30000"/>
              </a:spcBef>
              <a:spcAft>
                <a:spcPct val="0"/>
              </a:spcAft>
              <a:buClrTx/>
              <a:buSzTx/>
            </a:pPr>
            <a:endParaRPr kumimoji="0" lang="zh-CN" altLang="en-US" sz="1200" u="none">
              <a:solidFill>
                <a:schemeClr val="tx1"/>
              </a:solidFill>
              <a:latin typeface="Arial" pitchFamily="34" charset="0"/>
              <a:ea typeface="宋体" pitchFamily="2" charset="-122"/>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Tx" preserve="1">
  <p:cSld name="内容与标题">
    <p:spTree>
      <p:nvGrpSpPr>
        <p:cNvPr id="1" name=""/>
        <p:cNvGrpSpPr/>
        <p:nvPr/>
      </p:nvGrpSpPr>
      <p:grpSpPr>
        <a:xfrm>
          <a:off x="0" y="0"/>
          <a: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picTx" preserve="1">
  <p:cSld name="图片与标题">
    <p:spTree>
      <p:nvGrpSpPr>
        <p:cNvPr id="1" name=""/>
        <p:cNvGrpSpPr/>
        <p:nvPr/>
      </p:nvGrpSpPr>
      <p:grpSpPr>
        <a:xfrm>
          <a:off x="0" y="0"/>
          <a: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x" preserve="1">
  <p:cSld name="标题和竖排文字">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垂直排列标题与文本">
    <p:spTree>
      <p:nvGrpSpPr>
        <p:cNvPr id="1" name=""/>
        <p:cNvGrpSpPr/>
        <p:nvPr/>
      </p:nvGrpSpPr>
      <p:grpSpPr>
        <a:xfrm>
          <a:off x="0" y="0"/>
          <a: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image" Target="../media/image1.jpeg" /><Relationship Id="rId13"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bg>
      <p:bgRef idx="1001">
        <a:schemeClr val="bg1"/>
      </p:bgRef>
    </p:bg>
    <p:spTree>
      <p:nvGrpSpPr>
        <p:cNvPr id="1" name=""/>
        <p:cNvGrpSpPr/>
        <p:nvPr/>
      </p:nvGrpSpPr>
      <p:grpSpPr>
        <a:xfrm>
          <a:off x="0" y="0"/>
          <a: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8" name="图片 7" descr="图片1.jpg"/>
          <p:cNvPicPr>
            <a:picLocks noChangeAspect="1"/>
          </p:cNvPicPr>
          <p:nvPr userDrawn="1"/>
        </p:nvPicPr>
        <p:blipFill>
          <a:blip r:embed="rId12"/>
          <a:stretch>
            <a:fillRect/>
          </a:stretch>
        </p:blipFill>
        <p:spPr>
          <a:xfrm>
            <a:off x="0" y="-142876"/>
            <a:ext cx="10287000" cy="771525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bin" TargetMode="Internal" /><Relationship Id="rId3" Type="http://schemas.openxmlformats.org/officeDocument/2006/relationships/image" Target="../media/image2.emf" /><Relationship Id="rId4" Type="http://schemas.openxmlformats.org/officeDocument/2006/relationships/vmlDrawing" Target="../drawings/vmlDrawing1.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2.doc" TargetMode="Internal" /><Relationship Id="rId3" Type="http://schemas.openxmlformats.org/officeDocument/2006/relationships/image" Target="../media/image3.emf" /><Relationship Id="rId4" Type="http://schemas.openxmlformats.org/officeDocument/2006/relationships/vmlDrawing" Target="../drawings/vmlDrawing2.v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3.doc" TargetMode="Internal" /><Relationship Id="rId3" Type="http://schemas.openxmlformats.org/officeDocument/2006/relationships/image" Target="../media/image4.wmf" /><Relationship Id="rId4" Type="http://schemas.openxmlformats.org/officeDocument/2006/relationships/vmlDrawing" Target="../drawings/vmlDrawing3.v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4.bin" TargetMode="Internal" /><Relationship Id="rId3" Type="http://schemas.openxmlformats.org/officeDocument/2006/relationships/image" Target="../media/image5.emf" /><Relationship Id="rId4" Type="http://schemas.openxmlformats.org/officeDocument/2006/relationships/vmlDrawing" Target="../drawings/vmlDrawing4.v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5.doc" TargetMode="Internal" /><Relationship Id="rId3" Type="http://schemas.openxmlformats.org/officeDocument/2006/relationships/image" Target="../media/image3.emf" /><Relationship Id="rId4" Type="http://schemas.openxmlformats.org/officeDocument/2006/relationships/vmlDrawing" Target="../drawings/vmlDrawing5.v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6.doc" TargetMode="Internal" /><Relationship Id="rId3" Type="http://schemas.openxmlformats.org/officeDocument/2006/relationships/image" Target="../media/image6.wmf" /><Relationship Id="rId4" Type="http://schemas.openxmlformats.org/officeDocument/2006/relationships/vmlDrawing" Target="../drawings/vmlDrawing6.v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doc" TargetMode="Internal" /><Relationship Id="rId3" Type="http://schemas.openxmlformats.org/officeDocument/2006/relationships/image" Target="../media/image6.wmf" /><Relationship Id="rId4" Type="http://schemas.openxmlformats.org/officeDocument/2006/relationships/vmlDrawing" Target="../drawings/vmlDrawing7.v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8.doc" TargetMode="Internal" /><Relationship Id="rId3" Type="http://schemas.openxmlformats.org/officeDocument/2006/relationships/image" Target="../media/image7.wmf" /><Relationship Id="rId4" Type="http://schemas.openxmlformats.org/officeDocument/2006/relationships/vmlDrawing" Target="../drawings/vmlDrawing8.v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9.doc" TargetMode="Internal" /><Relationship Id="rId3" Type="http://schemas.openxmlformats.org/officeDocument/2006/relationships/image" Target="../media/image7.wmf" /><Relationship Id="rId4" Type="http://schemas.openxmlformats.org/officeDocument/2006/relationships/vmlDrawing" Target="../drawings/vmlDrawing9.v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0.doc" TargetMode="Internal" /><Relationship Id="rId3" Type="http://schemas.openxmlformats.org/officeDocument/2006/relationships/image" Target="../media/image8.wmf" /><Relationship Id="rId4" Type="http://schemas.openxmlformats.org/officeDocument/2006/relationships/vmlDrawing" Target="../drawings/vmlDrawing10.v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1.doc" TargetMode="Internal" /><Relationship Id="rId3" Type="http://schemas.openxmlformats.org/officeDocument/2006/relationships/image" Target="../media/image8.wmf" /><Relationship Id="rId4" Type="http://schemas.openxmlformats.org/officeDocument/2006/relationships/vmlDrawing" Target="../drawings/vmlDrawing11.v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2.bin" TargetMode="Internal" /><Relationship Id="rId3" Type="http://schemas.openxmlformats.org/officeDocument/2006/relationships/image" Target="../media/image9.emf" /><Relationship Id="rId4" Type="http://schemas.openxmlformats.org/officeDocument/2006/relationships/vmlDrawing" Target="../drawings/vmlDrawing12.v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3.doc" TargetMode="Internal" /><Relationship Id="rId3" Type="http://schemas.openxmlformats.org/officeDocument/2006/relationships/image" Target="../media/image10.emf" /><Relationship Id="rId4" Type="http://schemas.openxmlformats.org/officeDocument/2006/relationships/vmlDrawing" Target="../drawings/vmlDrawing13.v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4.doc" TargetMode="Internal" /><Relationship Id="rId3" Type="http://schemas.openxmlformats.org/officeDocument/2006/relationships/image" Target="../media/image11.emf" /><Relationship Id="rId4" Type="http://schemas.openxmlformats.org/officeDocument/2006/relationships/vmlDrawing" Target="../drawings/vmlDrawing14.v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5.bin" TargetMode="Internal" /><Relationship Id="rId3" Type="http://schemas.openxmlformats.org/officeDocument/2006/relationships/image" Target="../media/image12.emf" /><Relationship Id="rId4" Type="http://schemas.openxmlformats.org/officeDocument/2006/relationships/vmlDrawing" Target="../drawings/vmlDrawing15.v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6.bin" TargetMode="Internal" /><Relationship Id="rId3" Type="http://schemas.openxmlformats.org/officeDocument/2006/relationships/image" Target="../media/image13.emf" /><Relationship Id="rId4" Type="http://schemas.openxmlformats.org/officeDocument/2006/relationships/vmlDrawing" Target="../drawings/vmlDrawing16.v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17.bin" TargetMode="Internal" /><Relationship Id="rId3" Type="http://schemas.openxmlformats.org/officeDocument/2006/relationships/image" Target="../media/image14.emf" /><Relationship Id="rId4" Type="http://schemas.openxmlformats.org/officeDocument/2006/relationships/oleObject" Target="../embeddings/oleObject18.bin" TargetMode="Internal" /><Relationship Id="rId5" Type="http://schemas.openxmlformats.org/officeDocument/2006/relationships/image" Target="../media/image15.emf" /><Relationship Id="rId6" Type="http://schemas.openxmlformats.org/officeDocument/2006/relationships/vmlDrawing" Target="../drawings/vmlDrawing17.v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oleObject" Target="../embeddings/oleObject23.doc" TargetMode="Internal" /><Relationship Id="rId11" Type="http://schemas.openxmlformats.org/officeDocument/2006/relationships/image" Target="../media/image20.emf" /><Relationship Id="rId12" Type="http://schemas.openxmlformats.org/officeDocument/2006/relationships/vmlDrawing" Target="../drawings/vmlDrawing18.vml" /><Relationship Id="rId2" Type="http://schemas.openxmlformats.org/officeDocument/2006/relationships/oleObject" Target="../embeddings/oleObject19.doc" TargetMode="Internal" /><Relationship Id="rId3" Type="http://schemas.openxmlformats.org/officeDocument/2006/relationships/image" Target="../media/image16.emf" /><Relationship Id="rId4" Type="http://schemas.openxmlformats.org/officeDocument/2006/relationships/oleObject" Target="../embeddings/oleObject20.doc" TargetMode="Internal" /><Relationship Id="rId5" Type="http://schemas.openxmlformats.org/officeDocument/2006/relationships/image" Target="../media/image17.emf" /><Relationship Id="rId6" Type="http://schemas.openxmlformats.org/officeDocument/2006/relationships/oleObject" Target="../embeddings/oleObject21.doc" TargetMode="Internal" /><Relationship Id="rId7" Type="http://schemas.openxmlformats.org/officeDocument/2006/relationships/image" Target="../media/image18.emf" /><Relationship Id="rId8" Type="http://schemas.openxmlformats.org/officeDocument/2006/relationships/oleObject" Target="../embeddings/oleObject22.doc" TargetMode="Internal" /><Relationship Id="rId9" Type="http://schemas.openxmlformats.org/officeDocument/2006/relationships/image" Target="../media/image19.emf"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oleObject" Target="../embeddings/oleObject28.doc" TargetMode="Internal" /><Relationship Id="rId11" Type="http://schemas.openxmlformats.org/officeDocument/2006/relationships/image" Target="../media/image25.wmf" /><Relationship Id="rId12" Type="http://schemas.openxmlformats.org/officeDocument/2006/relationships/vmlDrawing" Target="../drawings/vmlDrawing19.vml" /><Relationship Id="rId2" Type="http://schemas.openxmlformats.org/officeDocument/2006/relationships/oleObject" Target="../embeddings/oleObject24.bin" TargetMode="Internal" /><Relationship Id="rId3" Type="http://schemas.openxmlformats.org/officeDocument/2006/relationships/image" Target="../media/image21.wmf" /><Relationship Id="rId4" Type="http://schemas.openxmlformats.org/officeDocument/2006/relationships/oleObject" Target="../embeddings/oleObject25.doc" TargetMode="Internal" /><Relationship Id="rId5" Type="http://schemas.openxmlformats.org/officeDocument/2006/relationships/image" Target="../media/image22.wmf" /><Relationship Id="rId6" Type="http://schemas.openxmlformats.org/officeDocument/2006/relationships/oleObject" Target="../embeddings/oleObject26.doc" TargetMode="Internal" /><Relationship Id="rId7" Type="http://schemas.openxmlformats.org/officeDocument/2006/relationships/image" Target="../media/image23.wmf" /><Relationship Id="rId8" Type="http://schemas.openxmlformats.org/officeDocument/2006/relationships/oleObject" Target="../embeddings/oleObject27.doc" TargetMode="Internal" /><Relationship Id="rId9" Type="http://schemas.openxmlformats.org/officeDocument/2006/relationships/image" Target="../media/image24.wmf"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vmlDrawing" Target="../drawings/vmlDrawing20.vml" /><Relationship Id="rId2" Type="http://schemas.openxmlformats.org/officeDocument/2006/relationships/oleObject" Target="../embeddings/oleObject29.doc" TargetMode="Internal" /><Relationship Id="rId3" Type="http://schemas.openxmlformats.org/officeDocument/2006/relationships/image" Target="../media/image26.wmf" /><Relationship Id="rId4" Type="http://schemas.openxmlformats.org/officeDocument/2006/relationships/oleObject" Target="../embeddings/oleObject30.doc" TargetMode="Internal" /><Relationship Id="rId5" Type="http://schemas.openxmlformats.org/officeDocument/2006/relationships/image" Target="../media/image27.wmf" /><Relationship Id="rId6" Type="http://schemas.openxmlformats.org/officeDocument/2006/relationships/oleObject" Target="../embeddings/oleObject31.doc" TargetMode="Internal" /><Relationship Id="rId7" Type="http://schemas.openxmlformats.org/officeDocument/2006/relationships/image" Target="../media/image28.wmf" /><Relationship Id="rId8" Type="http://schemas.openxmlformats.org/officeDocument/2006/relationships/oleObject" Target="../embeddings/oleObject32.bin" TargetMode="Internal" /><Relationship Id="rId9" Type="http://schemas.openxmlformats.org/officeDocument/2006/relationships/image" Target="../media/image21.wmf"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33.bin" TargetMode="Internal" /><Relationship Id="rId3" Type="http://schemas.openxmlformats.org/officeDocument/2006/relationships/image" Target="../media/image29.wmf" /><Relationship Id="rId4" Type="http://schemas.openxmlformats.org/officeDocument/2006/relationships/vmlDrawing" Target="../drawings/vmlDrawing21.v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34.doc" TargetMode="Internal" /><Relationship Id="rId3" Type="http://schemas.openxmlformats.org/officeDocument/2006/relationships/image" Target="../media/image30.wmf" /><Relationship Id="rId4" Type="http://schemas.openxmlformats.org/officeDocument/2006/relationships/oleObject" Target="../embeddings/oleObject35.doc" TargetMode="Internal" /><Relationship Id="rId5" Type="http://schemas.openxmlformats.org/officeDocument/2006/relationships/image" Target="../media/image31.wmf" /><Relationship Id="rId6" Type="http://schemas.openxmlformats.org/officeDocument/2006/relationships/vmlDrawing" Target="../drawings/vmlDrawing22.v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36.doc" TargetMode="Internal" /><Relationship Id="rId3" Type="http://schemas.openxmlformats.org/officeDocument/2006/relationships/image" Target="../media/image32.wmf" /><Relationship Id="rId4" Type="http://schemas.openxmlformats.org/officeDocument/2006/relationships/oleObject" Target="../embeddings/oleObject37.doc" TargetMode="Internal" /><Relationship Id="rId5" Type="http://schemas.openxmlformats.org/officeDocument/2006/relationships/image" Target="../media/image33.wmf" /><Relationship Id="rId6" Type="http://schemas.openxmlformats.org/officeDocument/2006/relationships/oleObject" Target="../embeddings/oleObject38.doc" TargetMode="Internal" /><Relationship Id="rId7" Type="http://schemas.openxmlformats.org/officeDocument/2006/relationships/image" Target="../media/image34.wmf" /><Relationship Id="rId8" Type="http://schemas.openxmlformats.org/officeDocument/2006/relationships/vmlDrawing" Target="../drawings/vmlDrawing23.v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39.doc" TargetMode="Internal" /><Relationship Id="rId3" Type="http://schemas.openxmlformats.org/officeDocument/2006/relationships/image" Target="../media/image35.emf" /><Relationship Id="rId4" Type="http://schemas.openxmlformats.org/officeDocument/2006/relationships/oleObject" Target="../embeddings/oleObject40.bin" TargetMode="Internal" /><Relationship Id="rId5" Type="http://schemas.openxmlformats.org/officeDocument/2006/relationships/image" Target="../media/image36.emf" /><Relationship Id="rId6" Type="http://schemas.openxmlformats.org/officeDocument/2006/relationships/vmlDrawing" Target="../drawings/vmlDrawing24.v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41.doc" TargetMode="Internal" /><Relationship Id="rId3" Type="http://schemas.openxmlformats.org/officeDocument/2006/relationships/image" Target="../media/image37.emf" /><Relationship Id="rId4" Type="http://schemas.openxmlformats.org/officeDocument/2006/relationships/vmlDrawing" Target="../drawings/vmlDrawing25.v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oleObject" Target="../embeddings/oleObject46.bin" TargetMode="Internal" /><Relationship Id="rId11" Type="http://schemas.openxmlformats.org/officeDocument/2006/relationships/image" Target="../media/image42.wmf" /><Relationship Id="rId12" Type="http://schemas.openxmlformats.org/officeDocument/2006/relationships/oleObject" Target="../embeddings/oleObject47.bin" TargetMode="Internal" /><Relationship Id="rId13" Type="http://schemas.openxmlformats.org/officeDocument/2006/relationships/image" Target="../media/image43.wmf" /><Relationship Id="rId14" Type="http://schemas.openxmlformats.org/officeDocument/2006/relationships/oleObject" Target="../embeddings/oleObject48.bin" TargetMode="Internal" /><Relationship Id="rId15" Type="http://schemas.openxmlformats.org/officeDocument/2006/relationships/image" Target="../media/image44.wmf" /><Relationship Id="rId16" Type="http://schemas.openxmlformats.org/officeDocument/2006/relationships/oleObject" Target="../embeddings/oleObject49.bin" TargetMode="Internal" /><Relationship Id="rId17" Type="http://schemas.openxmlformats.org/officeDocument/2006/relationships/image" Target="../media/image45.wmf" /><Relationship Id="rId18" Type="http://schemas.openxmlformats.org/officeDocument/2006/relationships/oleObject" Target="../embeddings/oleObject50.bin" TargetMode="Internal" /><Relationship Id="rId19" Type="http://schemas.openxmlformats.org/officeDocument/2006/relationships/oleObject" Target="../embeddings/oleObject51.bin" TargetMode="Internal" /><Relationship Id="rId2" Type="http://schemas.openxmlformats.org/officeDocument/2006/relationships/oleObject" Target="../embeddings/oleObject42.bin" TargetMode="Internal" /><Relationship Id="rId20" Type="http://schemas.openxmlformats.org/officeDocument/2006/relationships/image" Target="../media/image46.wmf" /><Relationship Id="rId21" Type="http://schemas.openxmlformats.org/officeDocument/2006/relationships/oleObject" Target="../embeddings/oleObject52.bin" TargetMode="Internal" /><Relationship Id="rId22" Type="http://schemas.openxmlformats.org/officeDocument/2006/relationships/image" Target="../media/image47.wmf" /><Relationship Id="rId23" Type="http://schemas.openxmlformats.org/officeDocument/2006/relationships/oleObject" Target="../embeddings/oleObject53.bin" TargetMode="Internal" /><Relationship Id="rId24" Type="http://schemas.openxmlformats.org/officeDocument/2006/relationships/vmlDrawing" Target="../drawings/vmlDrawing26.vml" /><Relationship Id="rId3" Type="http://schemas.openxmlformats.org/officeDocument/2006/relationships/image" Target="../media/image38.wmf" /><Relationship Id="rId4" Type="http://schemas.openxmlformats.org/officeDocument/2006/relationships/oleObject" Target="../embeddings/oleObject43.bin" TargetMode="Internal" /><Relationship Id="rId5" Type="http://schemas.openxmlformats.org/officeDocument/2006/relationships/image" Target="../media/image39.wmf" /><Relationship Id="rId6" Type="http://schemas.openxmlformats.org/officeDocument/2006/relationships/oleObject" Target="../embeddings/oleObject44.bin" TargetMode="Internal" /><Relationship Id="rId7" Type="http://schemas.openxmlformats.org/officeDocument/2006/relationships/image" Target="../media/image40.wmf" /><Relationship Id="rId8" Type="http://schemas.openxmlformats.org/officeDocument/2006/relationships/oleObject" Target="../embeddings/oleObject45.bin" TargetMode="Internal" /><Relationship Id="rId9" Type="http://schemas.openxmlformats.org/officeDocument/2006/relationships/image" Target="../media/image41.wmf"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54.bin" TargetMode="Internal" /><Relationship Id="rId3" Type="http://schemas.openxmlformats.org/officeDocument/2006/relationships/image" Target="../media/image48.wmf" /><Relationship Id="rId4" Type="http://schemas.openxmlformats.org/officeDocument/2006/relationships/oleObject" Target="../embeddings/oleObject55.bin" TargetMode="Internal" /><Relationship Id="rId5" Type="http://schemas.openxmlformats.org/officeDocument/2006/relationships/image" Target="../media/image49.wmf" /><Relationship Id="rId6" Type="http://schemas.openxmlformats.org/officeDocument/2006/relationships/vmlDrawing" Target="../drawings/vmlDrawing27.v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56.bin" TargetMode="Internal" /><Relationship Id="rId3" Type="http://schemas.openxmlformats.org/officeDocument/2006/relationships/image" Target="../media/image50.wmf" /><Relationship Id="rId4" Type="http://schemas.openxmlformats.org/officeDocument/2006/relationships/vmlDrawing" Target="../drawings/vmlDrawing28.v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vmlDrawing" Target="../drawings/vmlDrawing29.vml" /><Relationship Id="rId2" Type="http://schemas.openxmlformats.org/officeDocument/2006/relationships/oleObject" Target="../embeddings/oleObject57.doc" TargetMode="Internal" /><Relationship Id="rId3" Type="http://schemas.openxmlformats.org/officeDocument/2006/relationships/image" Target="../media/image26.wmf" /><Relationship Id="rId4" Type="http://schemas.openxmlformats.org/officeDocument/2006/relationships/oleObject" Target="../embeddings/oleObject58.doc" TargetMode="Internal" /><Relationship Id="rId5" Type="http://schemas.openxmlformats.org/officeDocument/2006/relationships/image" Target="../media/image27.wmf" /><Relationship Id="rId6" Type="http://schemas.openxmlformats.org/officeDocument/2006/relationships/oleObject" Target="../embeddings/oleObject59.doc" TargetMode="Internal" /><Relationship Id="rId7" Type="http://schemas.openxmlformats.org/officeDocument/2006/relationships/image" Target="../media/image28.wmf" /><Relationship Id="rId8" Type="http://schemas.openxmlformats.org/officeDocument/2006/relationships/oleObject" Target="../embeddings/oleObject60.bin" TargetMode="Internal" /><Relationship Id="rId9" Type="http://schemas.openxmlformats.org/officeDocument/2006/relationships/image" Target="../media/image51.wmf"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61.bin" TargetMode="Internal" /><Relationship Id="rId3" Type="http://schemas.openxmlformats.org/officeDocument/2006/relationships/image" Target="../media/image52.wmf" /><Relationship Id="rId4" Type="http://schemas.openxmlformats.org/officeDocument/2006/relationships/vmlDrawing" Target="../drawings/vmlDrawing30.v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62.bin" TargetMode="Internal" /><Relationship Id="rId3" Type="http://schemas.openxmlformats.org/officeDocument/2006/relationships/image" Target="../media/image53.wmf" /><Relationship Id="rId4" Type="http://schemas.openxmlformats.org/officeDocument/2006/relationships/oleObject" Target="../embeddings/oleObject63.bin" TargetMode="Internal" /><Relationship Id="rId5" Type="http://schemas.openxmlformats.org/officeDocument/2006/relationships/image" Target="../media/image54.wmf" /><Relationship Id="rId6" Type="http://schemas.openxmlformats.org/officeDocument/2006/relationships/vmlDrawing" Target="../drawings/vmlDrawing31.v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64.bin" TargetMode="Internal" /><Relationship Id="rId3" Type="http://schemas.openxmlformats.org/officeDocument/2006/relationships/image" Target="../media/image55.wmf" /><Relationship Id="rId4" Type="http://schemas.openxmlformats.org/officeDocument/2006/relationships/vmlDrawing" Target="../drawings/vmlDrawing32.v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vmlDrawing" Target="../drawings/vmlDrawing33.vml" /><Relationship Id="rId2" Type="http://schemas.openxmlformats.org/officeDocument/2006/relationships/oleObject" Target="../embeddings/oleObject65.doc" TargetMode="Internal" /><Relationship Id="rId3" Type="http://schemas.openxmlformats.org/officeDocument/2006/relationships/image" Target="../media/image26.wmf" /><Relationship Id="rId4" Type="http://schemas.openxmlformats.org/officeDocument/2006/relationships/oleObject" Target="../embeddings/oleObject66.doc" TargetMode="Internal" /><Relationship Id="rId5" Type="http://schemas.openxmlformats.org/officeDocument/2006/relationships/image" Target="../media/image27.wmf" /><Relationship Id="rId6" Type="http://schemas.openxmlformats.org/officeDocument/2006/relationships/oleObject" Target="../embeddings/oleObject67.doc" TargetMode="Internal" /><Relationship Id="rId7" Type="http://schemas.openxmlformats.org/officeDocument/2006/relationships/image" Target="../media/image28.wmf" /><Relationship Id="rId8" Type="http://schemas.openxmlformats.org/officeDocument/2006/relationships/oleObject" Target="../embeddings/oleObject68.bin" TargetMode="Internal" /><Relationship Id="rId9" Type="http://schemas.openxmlformats.org/officeDocument/2006/relationships/image" Target="../media/image55.wmf"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6.png"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7.png"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8.jpeg"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69.bin" TargetMode="Internal" /><Relationship Id="rId3" Type="http://schemas.openxmlformats.org/officeDocument/2006/relationships/image" Target="../media/image59.wmf" /><Relationship Id="rId4" Type="http://schemas.openxmlformats.org/officeDocument/2006/relationships/vmlDrawing" Target="../drawings/vmlDrawing34.vml"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0.bin" TargetMode="Internal" /><Relationship Id="rId3" Type="http://schemas.openxmlformats.org/officeDocument/2006/relationships/image" Target="../media/image60.emf" /><Relationship Id="rId4" Type="http://schemas.openxmlformats.org/officeDocument/2006/relationships/vmlDrawing" Target="../drawings/vmlDrawing35.v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1.png"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2.png"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3.jpeg" /><Relationship Id="rId3" Type="http://schemas.openxmlformats.org/officeDocument/2006/relationships/image" Target="../media/image64.jpeg" /><Relationship Id="rId4" Type="http://schemas.openxmlformats.org/officeDocument/2006/relationships/image" Target="../media/image65.jpeg"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6.png"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7.jpeg"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8.jpeg"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1.bin" TargetMode="Internal" /><Relationship Id="rId3" Type="http://schemas.openxmlformats.org/officeDocument/2006/relationships/image" Target="../media/image69.wmf" /><Relationship Id="rId4" Type="http://schemas.openxmlformats.org/officeDocument/2006/relationships/vmlDrawing" Target="../drawings/vmlDrawing36.v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8.jpeg"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2.bin" TargetMode="Internal" /><Relationship Id="rId3" Type="http://schemas.openxmlformats.org/officeDocument/2006/relationships/image" Target="../media/image70.wmf" /><Relationship Id="rId4" Type="http://schemas.openxmlformats.org/officeDocument/2006/relationships/oleObject" Target="../embeddings/oleObject73.xls" TargetMode="Internal" /><Relationship Id="rId5" Type="http://schemas.openxmlformats.org/officeDocument/2006/relationships/image" Target="../media/image71.emf" /><Relationship Id="rId6" Type="http://schemas.openxmlformats.org/officeDocument/2006/relationships/oleObject" Target="../embeddings/oleObject74.xls" TargetMode="Internal" /><Relationship Id="rId7" Type="http://schemas.openxmlformats.org/officeDocument/2006/relationships/image" Target="../media/image72.emf" /><Relationship Id="rId8" Type="http://schemas.openxmlformats.org/officeDocument/2006/relationships/vmlDrawing" Target="../drawings/vmlDrawing37.vml" /></Relationships>
</file>

<file path=ppt/slides/_rels/slide8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3.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4.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5.bin" TargetMode="Internal" /><Relationship Id="rId3" Type="http://schemas.openxmlformats.org/officeDocument/2006/relationships/image" Target="../media/image73.wmf" /><Relationship Id="rId4" Type="http://schemas.openxmlformats.org/officeDocument/2006/relationships/vmlDrawing" Target="../drawings/vmlDrawing38.vml" /></Relationships>
</file>

<file path=ppt/slides/_rels/slide86.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6.bin" TargetMode="Internal" /><Relationship Id="rId3" Type="http://schemas.openxmlformats.org/officeDocument/2006/relationships/image" Target="../media/image74.wmf" /><Relationship Id="rId4" Type="http://schemas.openxmlformats.org/officeDocument/2006/relationships/vmlDrawing" Target="../drawings/vmlDrawing39.vml" /></Relationships>
</file>

<file path=ppt/slides/_rels/slide88.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89.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9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75.png" /></Relationships>
</file>

<file path=ppt/slides/_rels/slide9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oleObject" Target="../embeddings/oleObject77.doc" TargetMode="Internal" /><Relationship Id="rId3" Type="http://schemas.openxmlformats.org/officeDocument/2006/relationships/image" Target="../media/image76.wmf" /><Relationship Id="rId4" Type="http://schemas.openxmlformats.org/officeDocument/2006/relationships/image" Target="../media/image77.png" /><Relationship Id="rId5" Type="http://schemas.openxmlformats.org/officeDocument/2006/relationships/vmlDrawing" Target="../drawings/vmlDrawing40.vml" /></Relationships>
</file>

<file path=ppt/slides/_rels/slide92.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50" name=""/>
          <p:cNvSpPr/>
          <p:nvPr>
            <p:ph type="title" idx="4294967295"/>
          </p:nvPr>
        </p:nvSpPr>
        <p:spPr>
          <a:xfrm>
            <a:off x="228600" y="609600"/>
            <a:ext cx="8763000" cy="8382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lgn="ctr"/>
            <a:r>
              <a:rPr lang="zh-CN" altLang="en-US">
                <a:ea typeface="宋体" pitchFamily="2" charset="-122"/>
              </a:rPr>
              <a:t>数据挖掘 </a:t>
            </a:r>
            <a:br>
              <a:rPr lang="zh-CN" altLang="en-US">
                <a:ea typeface="宋体" pitchFamily="2" charset="-122"/>
              </a:rPr>
            </a:br>
            <a:r>
              <a:rPr lang="zh-CN" altLang="en-US">
                <a:ea typeface="宋体" pitchFamily="2" charset="-122"/>
              </a:rPr>
              <a:t>分类：基本概念、决策树与模型评价</a:t>
            </a:r>
            <a:endParaRPr lang="zh-CN" altLang="en-US" sz="2800">
              <a:ea typeface="宋体" pitchFamily="2" charset="-122"/>
            </a:endParaRPr>
          </a:p>
        </p:txBody>
      </p:sp>
      <p:sp>
        <p:nvSpPr>
          <p:cNvPr id="2051" name=""/>
          <p:cNvSpPr/>
          <p:nvPr/>
        </p:nvSpPr>
        <p:spPr>
          <a:xfrm>
            <a:off x="381000" y="2754312"/>
            <a:ext cx="8153400" cy="2201862"/>
          </a:xfrm>
          <a:prstGeom prst="rect">
            <a:avLst/>
          </a:prstGeom>
          <a:noFill/>
          <a:ln cap="flat">
            <a:noFill/>
            <a:prstDash val="solid"/>
            <a:miter lim="800000"/>
            <a:headEnd type="none" w="med" len="med"/>
            <a:tailEnd type="none" w="med" len="med"/>
          </a:ln>
        </p:spPr>
        <p:txBody>
          <a:bodyPr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1" fontAlgn="base" hangingPunct="1">
              <a:lnSpc>
                <a:spcPct val="100000"/>
              </a:lnSpc>
              <a:spcBef>
                <a:spcPct val="20000"/>
              </a:spcBef>
              <a:spcAft>
                <a:spcPct val="0"/>
              </a:spcAft>
              <a:buClr>
                <a:schemeClr val="folHlink"/>
              </a:buClr>
              <a:buSzPct val="60000"/>
              <a:buFont typeface="Wingdings" pitchFamily="2" charset="2"/>
            </a:pPr>
            <a:r>
              <a:rPr kumimoji="0" lang="zh-CN" altLang="en-US" sz="3200" u="none">
                <a:latin typeface="Arial" pitchFamily="34" charset="0"/>
                <a:ea typeface="宋体" pitchFamily="2" charset="-122"/>
              </a:rPr>
              <a:t>第</a:t>
            </a:r>
            <a:r>
              <a:rPr kumimoji="0" lang="en-US" altLang="zh-CN" sz="3200" u="none">
                <a:latin typeface="Arial" pitchFamily="34" charset="0"/>
                <a:ea typeface="宋体" pitchFamily="2" charset="-122"/>
              </a:rPr>
              <a:t>4</a:t>
            </a:r>
            <a:r>
              <a:rPr kumimoji="0" lang="zh-CN" altLang="en-US" sz="3200" u="none">
                <a:latin typeface="Arial" pitchFamily="34" charset="0"/>
                <a:ea typeface="宋体" pitchFamily="2" charset="-122"/>
              </a:rPr>
              <a:t>章 </a:t>
            </a:r>
            <a:r>
              <a:rPr kumimoji="0" lang="zh-CN" altLang="en-US" sz="2800" b="1" u="none">
                <a:latin typeface="Arial" pitchFamily="34" charset="0"/>
                <a:ea typeface="宋体" pitchFamily="2" charset="-122"/>
              </a:rPr>
              <a:t>分类：基本概念、决策树与模型评价</a:t>
            </a:r>
          </a:p>
          <a:p>
            <a:pPr lvl="0" algn="ctr" eaLnBrk="1" fontAlgn="base" hangingPunct="1">
              <a:lnSpc>
                <a:spcPct val="100000"/>
              </a:lnSpc>
              <a:spcBef>
                <a:spcPct val="20000"/>
              </a:spcBef>
              <a:spcAft>
                <a:spcPct val="0"/>
              </a:spcAft>
              <a:buClr>
                <a:schemeClr val="folHlink"/>
              </a:buClr>
              <a:buSzPct val="60000"/>
              <a:buFont typeface="Wingdings" pitchFamily="2" charset="2"/>
            </a:pPr>
            <a:endParaRPr kumimoji="0" lang="en-US" altLang="zh-CN" sz="3200" u="none">
              <a:latin typeface="Arial" pitchFamily="34" charset="0"/>
              <a:ea typeface="宋体" pitchFamily="2" charset="-122"/>
            </a:endParaRPr>
          </a:p>
          <a:p>
            <a:pPr lvl="0" algn="ctr" eaLnBrk="0" fontAlgn="base" hangingPunct="0">
              <a:lnSpc>
                <a:spcPct val="100000"/>
              </a:lnSpc>
              <a:spcBef>
                <a:spcPct val="0"/>
              </a:spcBef>
              <a:spcAft>
                <a:spcPct val="0"/>
              </a:spcAft>
              <a:buClrTx/>
              <a:buSzTx/>
            </a:pPr>
            <a:endParaRPr kumimoji="0" lang="en-US" altLang="zh-CN" sz="1600" u="none">
              <a:latin typeface="Arial" pitchFamily="34" charset="0"/>
              <a:ea typeface="宋体" pitchFamily="2" charset="-122"/>
            </a:endParaRPr>
          </a:p>
          <a:p>
            <a:pPr lvl="0" algn="ctr" eaLnBrk="0" fontAlgn="base" hangingPunct="0">
              <a:lnSpc>
                <a:spcPct val="100000"/>
              </a:lnSpc>
              <a:spcBef>
                <a:spcPct val="0"/>
              </a:spcBef>
              <a:spcAft>
                <a:spcPct val="0"/>
              </a:spcAft>
              <a:buClrTx/>
              <a:buSzTx/>
            </a:pPr>
            <a:endParaRPr kumimoji="0" lang="en-US" altLang="zh-CN" sz="1600" u="none">
              <a:latin typeface="Arial" pitchFamily="34" charset="0"/>
              <a:ea typeface="宋体" pitchFamily="2" charset="-122"/>
            </a:endParaRPr>
          </a:p>
          <a:p>
            <a:pPr lvl="0" algn="ctr" eaLnBrk="0" fontAlgn="base" hangingPunct="0">
              <a:lnSpc>
                <a:spcPct val="100000"/>
              </a:lnSpc>
              <a:spcBef>
                <a:spcPct val="0"/>
              </a:spcBef>
              <a:spcAft>
                <a:spcPct val="0"/>
              </a:spcAft>
              <a:buClrTx/>
              <a:buSzTx/>
            </a:pPr>
            <a:endParaRPr kumimoji="0" lang="en-US" altLang="zh-CN" sz="1600" u="none">
              <a:latin typeface="Arial" pitchFamily="34" charset="0"/>
              <a:ea typeface="宋体" pitchFamily="2" charset="-122"/>
            </a:endParaRPr>
          </a:p>
          <a:p>
            <a:pPr lvl="0" eaLnBrk="0" fontAlgn="base" hangingPunct="0">
              <a:lnSpc>
                <a:spcPct val="100000"/>
              </a:lnSpc>
              <a:spcBef>
                <a:spcPct val="0"/>
              </a:spcBef>
              <a:spcAft>
                <a:spcPct val="0"/>
              </a:spcAft>
              <a:buClrTx/>
              <a:buSzTx/>
            </a:pPr>
            <a:endParaRPr kumimoji="0" lang="zh-CN" altLang="en-US" sz="2000" u="none">
              <a:latin typeface="Arial" pitchFamily="34" charset="0"/>
              <a:ea typeface="宋体" pitchFamily="2" charset="-122"/>
            </a:endParaRPr>
          </a:p>
        </p:txBody>
      </p:sp>
      <p:grpSp>
        <p:nvGrpSpPr>
          <p:cNvPr id="2052" name=""/>
          <p:cNvGrpSpPr/>
          <p:nvPr/>
        </p:nvGrpSpPr>
        <p:grpSpPr>
          <a:xfrm>
            <a:off x="304800" y="1447800"/>
            <a:ext cx="8534400" cy="152400"/>
            <a:chOff x="264" y="788"/>
            <a:chExt cx="5232" cy="124"/>
          </a:xfrm>
        </p:grpSpPr>
        <p:sp>
          <p:nvSpPr>
            <p:cNvPr id="2053" name=""/>
            <p:cNvSpPr/>
            <p:nvPr/>
          </p:nvSpPr>
          <p:spPr>
            <a:xfrm>
              <a:off x="264" y="788"/>
              <a:ext cx="5232" cy="61"/>
            </a:xfrm>
            <a:prstGeom prst="rect">
              <a:avLst/>
            </a:prstGeom>
            <a:gradFill rotWithShape="0">
              <a:gsLst>
                <a:gs pos="0">
                  <a:srgbClr val="0E9CBC"/>
                </a:gs>
                <a:gs pos="50000">
                  <a:srgbClr val="12C2E9"/>
                </a:gs>
                <a:gs pos="100000">
                  <a:srgbClr val="0E9CBC"/>
                </a:gs>
              </a:gsLst>
              <a:lin ang="5400000" scaled="1"/>
            </a:gra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054" name=""/>
            <p:cNvSpPr/>
            <p:nvPr/>
          </p:nvSpPr>
          <p:spPr>
            <a:xfrm>
              <a:off x="264" y="881"/>
              <a:ext cx="5232" cy="31"/>
            </a:xfrm>
            <a:prstGeom prst="rect">
              <a:avLst/>
            </a:prstGeom>
            <a:gradFill rotWithShape="0">
              <a:gsLst>
                <a:gs pos="0">
                  <a:srgbClr val="B400B4"/>
                </a:gs>
                <a:gs pos="50000">
                  <a:srgbClr val="FF00FF"/>
                </a:gs>
                <a:gs pos="100000">
                  <a:srgbClr val="B400B4"/>
                </a:gs>
              </a:gsLst>
              <a:lin ang="0" scaled="1"/>
            </a:gra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grpSp>
    </p:spTree>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57" name=""/>
          <p:cNvSpPr/>
          <p:nvPr>
            <p:ph type="body" idx="4294967295"/>
          </p:nvPr>
        </p:nvSpPr>
        <p:spPr>
          <a:xfrm>
            <a:off x="0" y="1600200"/>
            <a:ext cx="8763000" cy="48768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nSpc>
                <a:spcPct val="145000"/>
              </a:lnSpc>
            </a:pPr>
            <a:r>
              <a:rPr lang="zh-CN" altLang="en-US" sz="3200">
                <a:ea typeface="宋体" pitchFamily="2" charset="-122"/>
              </a:rPr>
              <a:t>         </a:t>
            </a:r>
            <a:r>
              <a:rPr lang="zh-CN" altLang="en-US" sz="3200" b="1">
                <a:ea typeface="宋体" pitchFamily="2" charset="-122"/>
              </a:rPr>
              <a:t>分类的是利用一个分类函数（分类模型、分类器），该模型能把数据库中的数据影射到给定类别中的一个。</a:t>
            </a:r>
          </a:p>
          <a:p>
            <a:pPr lvl="0">
              <a:lnSpc>
                <a:spcPct val="145000"/>
              </a:lnSpc>
              <a:buNone/>
            </a:pPr>
            <a:r>
              <a:rPr lang="zh-CN" altLang="en-US" sz="3200" b="1">
                <a:ea typeface="宋体"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additive="base">
                                        <p:cTn id="6" dur="1" fill="hold">
                                          <p:stCondLst>
                                            <p:cond delay="499"/>
                                          </p:stCondLst>
                                        </p:cTn>
                                        <p:tgtEl>
                                          <p:spTgt spid="205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1" presetClass="entr" presetSubtype="0" fill="hold" grpId="0" nodeType="clickEffect">
                                  <p:stCondLst>
                                    <p:cond delay="0"/>
                                  </p:stCondLst>
                                  <p:childTnLst>
                                    <p:set>
                                      <p:cBhvr additive="base">
                                        <p:cTn id="11" dur="1" fill="hold">
                                          <p:stCondLst>
                                            <p:cond delay="499"/>
                                          </p:stCondLst>
                                        </p:cTn>
                                        <p:tgtEl>
                                          <p:spTgt spid="205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uiExpand="1" build="p"/>
    </p:bldLst>
  </p:timing>
</p:sld>
</file>

<file path=ppt/slides/slide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6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分类</a:t>
            </a:r>
          </a:p>
        </p:txBody>
      </p:sp>
      <p:graphicFrame>
        <p:nvGraphicFramePr>
          <p:cNvPr id="2061" name=""/>
          <p:cNvGraphicFramePr>
            <a:graphicFrameLocks noChangeAspect="1"/>
          </p:cNvGraphicFramePr>
          <p:nvPr>
            <p:ph idx="4294967295"/>
          </p:nvPr>
        </p:nvGraphicFramePr>
        <p:xfrm>
          <a:off x="1093788" y="1143000"/>
          <a:ext cx="6951662" cy="5181600"/>
        </p:xfrm>
        <a:graphic>
          <a:graphicData uri="http://schemas.openxmlformats.org/presentationml/2006/ole">
            <mc:AlternateContent xmlns:mc="http://schemas.openxmlformats.org/markup-compatibility/2006">
              <mc:Choice xmlns:v="urn:schemas-microsoft-com:vml" Requires="v">
                <p:oleObj spid="_x0000_s1038"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1093788" y="1143000"/>
                        <a:ext cx="6951662" cy="5181600"/>
                      </a:xfrm>
                      <a:prstGeom prst="rect">
                        <a:avLst/>
                      </a:prstGeom>
                    </p:spPr>
                  </p:pic>
                </p:oleObj>
              </mc:Fallback>
            </mc:AlternateContent>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6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065" name=""/>
          <p:cNvSpPr/>
          <p:nvPr>
            <p:ph type="body" idx="4294967295"/>
          </p:nvPr>
        </p:nvSpPr>
        <p:spPr>
          <a:xfrm>
            <a:off x="411162" y="762000"/>
            <a:ext cx="8318500" cy="50292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gn="just">
              <a:lnSpc>
                <a:spcPct val="140000"/>
              </a:lnSpc>
            </a:pPr>
            <a:r>
              <a:rPr lang="zh-CN" altLang="en-US" sz="3200" b="1">
                <a:latin typeface="宋体" pitchFamily="2" charset="-122"/>
                <a:ea typeface="宋体" pitchFamily="2" charset="-122"/>
              </a:rPr>
              <a:t>训练集：数据库中为建立模型而被分析的数据元组形成训练集。</a:t>
            </a:r>
          </a:p>
          <a:p>
            <a:pPr lvl="0">
              <a:lnSpc>
                <a:spcPct val="140000"/>
              </a:lnSpc>
            </a:pPr>
            <a:r>
              <a:rPr lang="zh-CN" altLang="en-US" sz="3200" b="1">
                <a:latin typeface="宋体" pitchFamily="2" charset="-122"/>
                <a:ea typeface="宋体" pitchFamily="2" charset="-122"/>
              </a:rPr>
              <a:t>训练集中的单个元组称为</a:t>
            </a:r>
            <a:r>
              <a:rPr lang="zh-CN" altLang="en-US" sz="3200" b="1">
                <a:solidFill>
                  <a:srgbClr val="FF0000"/>
                </a:solidFill>
                <a:latin typeface="宋体" pitchFamily="2" charset="-122"/>
                <a:ea typeface="宋体" pitchFamily="2" charset="-122"/>
              </a:rPr>
              <a:t>训练样本</a:t>
            </a:r>
            <a:r>
              <a:rPr lang="en-US" altLang="zh-CN" sz="3200" b="1">
                <a:latin typeface="宋体" pitchFamily="2" charset="-122"/>
                <a:ea typeface="宋体" pitchFamily="2" charset="-122"/>
              </a:rPr>
              <a:t>,</a:t>
            </a:r>
            <a:r>
              <a:rPr lang="zh-CN" altLang="en-US" sz="3200" b="1">
                <a:latin typeface="宋体" pitchFamily="2" charset="-122"/>
                <a:ea typeface="宋体" pitchFamily="2" charset="-122"/>
              </a:rPr>
              <a:t>每个训练样本有一个类别标记。</a:t>
            </a:r>
          </a:p>
          <a:p>
            <a:pPr lvl="0">
              <a:lnSpc>
                <a:spcPct val="140000"/>
              </a:lnSpc>
            </a:pPr>
            <a:r>
              <a:rPr lang="zh-CN" altLang="en-US" sz="3200" b="1">
                <a:latin typeface="宋体" pitchFamily="2" charset="-122"/>
                <a:ea typeface="宋体" pitchFamily="2" charset="-122"/>
              </a:rPr>
              <a:t>一个具体样本的形式可为</a:t>
            </a:r>
            <a:r>
              <a:rPr lang="en-US" altLang="zh-CN" sz="3200" b="1">
                <a:latin typeface="宋体" pitchFamily="2" charset="-122"/>
                <a:ea typeface="宋体" pitchFamily="2" charset="-122"/>
              </a:rPr>
              <a:t>:( v1, v2, ..., vn; c );</a:t>
            </a:r>
            <a:r>
              <a:rPr lang="zh-CN" altLang="en-US" sz="3200" b="1">
                <a:latin typeface="宋体" pitchFamily="2" charset="-122"/>
                <a:ea typeface="宋体" pitchFamily="2" charset="-122"/>
              </a:rPr>
              <a:t>其中</a:t>
            </a:r>
            <a:r>
              <a:rPr lang="en-US" altLang="zh-CN" sz="3200" b="1">
                <a:latin typeface="宋体" pitchFamily="2" charset="-122"/>
                <a:ea typeface="宋体" pitchFamily="2" charset="-122"/>
              </a:rPr>
              <a:t>vi</a:t>
            </a:r>
            <a:r>
              <a:rPr lang="zh-CN" altLang="en-US" sz="3200" b="1">
                <a:latin typeface="宋体" pitchFamily="2" charset="-122"/>
                <a:ea typeface="宋体" pitchFamily="2" charset="-122"/>
              </a:rPr>
              <a:t>表示属性值</a:t>
            </a:r>
            <a:r>
              <a:rPr lang="en-US" altLang="zh-CN" sz="3200" b="1">
                <a:latin typeface="宋体" pitchFamily="2" charset="-122"/>
                <a:ea typeface="宋体" pitchFamily="2" charset="-122"/>
              </a:rPr>
              <a:t>,c</a:t>
            </a:r>
            <a:r>
              <a:rPr lang="zh-CN" altLang="en-US" sz="3200" b="1">
                <a:latin typeface="宋体" pitchFamily="2" charset="-122"/>
                <a:ea typeface="宋体" pitchFamily="2" charset="-122"/>
              </a:rPr>
              <a:t>表示类别。</a:t>
            </a:r>
          </a:p>
          <a:p>
            <a:pPr lvl="0">
              <a:lnSpc>
                <a:spcPct val="140000"/>
              </a:lnSpc>
            </a:pPr>
            <a:r>
              <a:rPr lang="zh-CN" altLang="en-US" sz="3200" b="1">
                <a:latin typeface="宋体" pitchFamily="2" charset="-122"/>
                <a:ea typeface="宋体" pitchFamily="2" charset="-122"/>
              </a:rPr>
              <a:t>测试集：用于评估分类模型的准确率</a:t>
            </a:r>
          </a:p>
          <a:p>
            <a:pPr lvl="0" algn="just">
              <a:lnSpc>
                <a:spcPct val="140000"/>
              </a:lnSpc>
              <a:buNone/>
            </a:pPr>
            <a:endParaRPr lang="en-US" altLang="zh-CN" sz="3200" b="1">
              <a:latin typeface="宋体" pitchFamily="2" charset="-122"/>
              <a:ea typeface="宋体"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68"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数据分类</a:t>
            </a:r>
            <a:r>
              <a:rPr lang="en-US" altLang="zh-CN">
                <a:ea typeface="宋体" pitchFamily="2" charset="-122"/>
              </a:rPr>
              <a:t>——</a:t>
            </a:r>
            <a:r>
              <a:rPr lang="zh-CN" altLang="en-US">
                <a:ea typeface="宋体" pitchFamily="2" charset="-122"/>
              </a:rPr>
              <a:t>一个两步过程 </a:t>
            </a:r>
            <a:r>
              <a:rPr lang="en-US" altLang="zh-CN">
                <a:ea typeface="宋体" pitchFamily="2" charset="-122"/>
              </a:rPr>
              <a:t>(1)</a:t>
            </a:r>
          </a:p>
        </p:txBody>
      </p:sp>
      <p:sp>
        <p:nvSpPr>
          <p:cNvPr id="2069"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400">
                <a:ea typeface="宋体" pitchFamily="2" charset="-122"/>
              </a:rPr>
              <a:t>第一步，建立一个模型，描述预定数据类集和概念集</a:t>
            </a:r>
          </a:p>
          <a:p>
            <a:pPr lvl="1"/>
            <a:r>
              <a:rPr lang="zh-CN" altLang="en-US" sz="2600">
                <a:ea typeface="宋体" pitchFamily="2" charset="-122"/>
              </a:rPr>
              <a:t>假定每个元组属于一个预定义的类，由一个类标号属性确定</a:t>
            </a:r>
          </a:p>
          <a:p>
            <a:pPr lvl="1"/>
            <a:r>
              <a:rPr lang="zh-CN" altLang="en-US" sz="2600">
                <a:ea typeface="宋体" pitchFamily="2" charset="-122"/>
              </a:rPr>
              <a:t>学习模型可以用分类规则、决策树或数学公式的形式提供</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7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数据分类</a:t>
            </a:r>
            <a:r>
              <a:rPr lang="en-US" altLang="zh-CN">
                <a:ea typeface="宋体" pitchFamily="2" charset="-122"/>
              </a:rPr>
              <a:t>——</a:t>
            </a:r>
            <a:r>
              <a:rPr lang="zh-CN" altLang="en-US">
                <a:ea typeface="宋体" pitchFamily="2" charset="-122"/>
              </a:rPr>
              <a:t>一个两步过程 </a:t>
            </a:r>
            <a:r>
              <a:rPr lang="en-US" altLang="zh-CN">
                <a:ea typeface="宋体" pitchFamily="2" charset="-122"/>
              </a:rPr>
              <a:t>(2)</a:t>
            </a:r>
          </a:p>
        </p:txBody>
      </p:sp>
      <p:sp>
        <p:nvSpPr>
          <p:cNvPr id="2073"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400">
                <a:ea typeface="宋体" pitchFamily="2" charset="-122"/>
              </a:rPr>
              <a:t>第二步，使用模型，对将来的或未知的对象进行分类</a:t>
            </a:r>
          </a:p>
          <a:p>
            <a:pPr lvl="1"/>
            <a:r>
              <a:rPr lang="zh-CN" altLang="en-US" sz="2600">
                <a:ea typeface="宋体" pitchFamily="2" charset="-122"/>
              </a:rPr>
              <a:t>首先评估模型的预测准确率</a:t>
            </a:r>
          </a:p>
          <a:p>
            <a:pPr lvl="2"/>
            <a:r>
              <a:rPr lang="zh-CN" altLang="en-US" sz="2200">
                <a:ea typeface="宋体" pitchFamily="2" charset="-122"/>
              </a:rPr>
              <a:t>对每个测试样本，将已知的类标号和该样本的学习模型类预测比较</a:t>
            </a:r>
          </a:p>
          <a:p>
            <a:pPr lvl="2"/>
            <a:r>
              <a:rPr lang="zh-CN" altLang="en-US" sz="2200">
                <a:ea typeface="宋体" pitchFamily="2" charset="-122"/>
              </a:rPr>
              <a:t>模型在给定测试集上的准确率是正确被模型分类的测试样本的百分比</a:t>
            </a:r>
          </a:p>
          <a:p>
            <a:pPr lvl="2"/>
            <a:r>
              <a:rPr lang="zh-CN" altLang="en-US" sz="2200">
                <a:ea typeface="宋体" pitchFamily="2" charset="-122"/>
              </a:rPr>
              <a:t>测试集要独立于训练样本集，否则会出现“过分适应数据”的情况</a:t>
            </a:r>
          </a:p>
          <a:p>
            <a:pPr lvl="0">
              <a:lnSpc>
                <a:spcPct val="160000"/>
              </a:lnSpc>
            </a:pPr>
            <a:r>
              <a:rPr lang="zh-CN" altLang="en-US" b="1">
                <a:latin typeface="宋体" pitchFamily="2" charset="-122"/>
                <a:ea typeface="宋体" pitchFamily="2" charset="-122"/>
              </a:rPr>
              <a:t>如果准确性能被接受，则分类规则就可用来对新数据进行分类 </a:t>
            </a:r>
          </a:p>
          <a:p>
            <a:pPr lvl="2">
              <a:buNone/>
            </a:pPr>
            <a:endParaRPr lang="zh-CN" altLang="en-US">
              <a:ea typeface="宋体"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76"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有监督的学习 </a:t>
            </a:r>
            <a:r>
              <a:rPr lang="en-US" altLang="zh-CN">
                <a:ea typeface="宋体" pitchFamily="2" charset="-122"/>
              </a:rPr>
              <a:t>VS. </a:t>
            </a:r>
            <a:r>
              <a:rPr lang="zh-CN" altLang="en-US">
                <a:ea typeface="宋体" pitchFamily="2" charset="-122"/>
              </a:rPr>
              <a:t>无监督的学习</a:t>
            </a:r>
          </a:p>
        </p:txBody>
      </p:sp>
      <p:sp>
        <p:nvSpPr>
          <p:cNvPr id="2077"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有监督的学习（用于分类）</a:t>
            </a:r>
          </a:p>
          <a:p>
            <a:pPr lvl="1"/>
            <a:r>
              <a:rPr lang="zh-CN" altLang="en-US">
                <a:ea typeface="宋体" pitchFamily="2" charset="-122"/>
              </a:rPr>
              <a:t>模型的学习在被告知每个训练样本属于哪个类的“监督”下进行</a:t>
            </a:r>
          </a:p>
          <a:p>
            <a:pPr lvl="1"/>
            <a:r>
              <a:rPr lang="zh-CN" altLang="en-US">
                <a:ea typeface="宋体" pitchFamily="2" charset="-122"/>
              </a:rPr>
              <a:t>新数据使用训练数据集中得到的规则进行分类</a:t>
            </a:r>
          </a:p>
          <a:p>
            <a:pPr lvl="0"/>
            <a:r>
              <a:rPr lang="zh-CN" altLang="en-US">
                <a:ea typeface="宋体" pitchFamily="2" charset="-122"/>
              </a:rPr>
              <a:t>无监督的学习（用于聚类）</a:t>
            </a:r>
          </a:p>
          <a:p>
            <a:pPr lvl="1"/>
            <a:r>
              <a:rPr lang="zh-CN" altLang="en-US">
                <a:ea typeface="宋体" pitchFamily="2" charset="-122"/>
              </a:rPr>
              <a:t>每个训练样本的类编号是未知的，要学习的类集合或数量也可能是事先未知的</a:t>
            </a:r>
          </a:p>
          <a:p>
            <a:pPr lvl="1"/>
            <a:r>
              <a:rPr lang="zh-CN" altLang="en-US">
                <a:ea typeface="宋体" pitchFamily="2" charset="-122"/>
              </a:rPr>
              <a:t>通过一系列的度量、观察来建立数据中的类编号或进行聚类</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80" name=""/>
          <p:cNvSpPr/>
          <p:nvPr>
            <p:ph type="title" idx="4294967295"/>
          </p:nvPr>
        </p:nvSpPr>
        <p:spPr>
          <a:xfrm>
            <a:off x="395288" y="-571500"/>
            <a:ext cx="7772400" cy="11430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latin typeface="华文行楷" pitchFamily="2" charset="-122"/>
                <a:ea typeface="华文行楷" pitchFamily="2" charset="-122"/>
              </a:rPr>
              <a:t>分类模型的构造方法</a:t>
            </a:r>
          </a:p>
        </p:txBody>
      </p:sp>
      <p:sp>
        <p:nvSpPr>
          <p:cNvPr id="2081" name=""/>
          <p:cNvSpPr/>
          <p:nvPr>
            <p:ph type="body" idx="4294967295"/>
          </p:nvPr>
        </p:nvSpPr>
        <p:spPr>
          <a:xfrm>
            <a:off x="250825" y="990600"/>
            <a:ext cx="9121775" cy="5102225"/>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gn="just">
              <a:lnSpc>
                <a:spcPct val="90000"/>
              </a:lnSpc>
            </a:pPr>
            <a:r>
              <a:rPr lang="en-US" altLang="zh-CN" b="1">
                <a:solidFill>
                  <a:srgbClr val="00FFFF"/>
                </a:solidFill>
                <a:latin typeface="宋体" pitchFamily="2" charset="-122"/>
                <a:ea typeface="宋体" pitchFamily="2" charset="-122"/>
              </a:rPr>
              <a:t>1.</a:t>
            </a:r>
            <a:r>
              <a:rPr lang="zh-CN" altLang="en-US" b="1">
                <a:solidFill>
                  <a:srgbClr val="00FFFF"/>
                </a:solidFill>
                <a:latin typeface="宋体" pitchFamily="2" charset="-122"/>
                <a:ea typeface="宋体" pitchFamily="2" charset="-122"/>
              </a:rPr>
              <a:t>机器学习方法：</a:t>
            </a:r>
          </a:p>
          <a:p>
            <a:pPr lvl="0" algn="just">
              <a:lnSpc>
                <a:spcPct val="90000"/>
              </a:lnSpc>
            </a:pPr>
            <a:r>
              <a:rPr lang="zh-CN" altLang="en-US" b="1">
                <a:latin typeface="宋体" pitchFamily="2" charset="-122"/>
                <a:ea typeface="宋体" pitchFamily="2" charset="-122"/>
              </a:rPr>
              <a:t>决策树法</a:t>
            </a:r>
          </a:p>
          <a:p>
            <a:pPr lvl="0" algn="just">
              <a:lnSpc>
                <a:spcPct val="90000"/>
              </a:lnSpc>
            </a:pPr>
            <a:r>
              <a:rPr lang="zh-CN" altLang="en-US" b="1">
                <a:latin typeface="宋体" pitchFamily="2" charset="-122"/>
                <a:ea typeface="宋体" pitchFamily="2" charset="-122"/>
              </a:rPr>
              <a:t>规则归纳</a:t>
            </a:r>
          </a:p>
          <a:p>
            <a:pPr lvl="0" algn="just">
              <a:lnSpc>
                <a:spcPct val="90000"/>
              </a:lnSpc>
            </a:pPr>
            <a:endParaRPr lang="zh-CN" altLang="en-US" b="1">
              <a:latin typeface="宋体" pitchFamily="2" charset="-122"/>
              <a:ea typeface="宋体" pitchFamily="2" charset="-122"/>
            </a:endParaRPr>
          </a:p>
          <a:p>
            <a:pPr lvl="0" algn="just">
              <a:lnSpc>
                <a:spcPct val="90000"/>
              </a:lnSpc>
            </a:pPr>
            <a:r>
              <a:rPr lang="en-US" altLang="zh-CN" b="1">
                <a:solidFill>
                  <a:srgbClr val="00FFFF"/>
                </a:solidFill>
                <a:latin typeface="宋体" pitchFamily="2" charset="-122"/>
                <a:ea typeface="宋体" pitchFamily="2" charset="-122"/>
              </a:rPr>
              <a:t>2.</a:t>
            </a:r>
            <a:r>
              <a:rPr lang="zh-CN" altLang="en-US" b="1">
                <a:solidFill>
                  <a:srgbClr val="00FFFF"/>
                </a:solidFill>
                <a:latin typeface="宋体" pitchFamily="2" charset="-122"/>
                <a:ea typeface="宋体" pitchFamily="2" charset="-122"/>
              </a:rPr>
              <a:t>统计方法：</a:t>
            </a:r>
            <a:r>
              <a:rPr lang="zh-CN" altLang="en-US" b="1">
                <a:latin typeface="宋体" pitchFamily="2" charset="-122"/>
                <a:ea typeface="宋体" pitchFamily="2" charset="-122"/>
              </a:rPr>
              <a:t>知识表示是判别函数和原型事例</a:t>
            </a:r>
          </a:p>
          <a:p>
            <a:pPr lvl="0" algn="just">
              <a:lnSpc>
                <a:spcPct val="90000"/>
              </a:lnSpc>
            </a:pPr>
            <a:r>
              <a:rPr lang="zh-CN" altLang="en-US" b="1">
                <a:latin typeface="宋体" pitchFamily="2" charset="-122"/>
                <a:ea typeface="宋体" pitchFamily="2" charset="-122"/>
              </a:rPr>
              <a:t>贝叶斯法</a:t>
            </a:r>
          </a:p>
          <a:p>
            <a:pPr lvl="0" algn="just">
              <a:lnSpc>
                <a:spcPct val="90000"/>
              </a:lnSpc>
            </a:pPr>
            <a:r>
              <a:rPr lang="zh-CN" altLang="en-US" b="1">
                <a:latin typeface="宋体" pitchFamily="2" charset="-122"/>
                <a:ea typeface="宋体" pitchFamily="2" charset="-122"/>
              </a:rPr>
              <a:t>非参数法</a:t>
            </a:r>
            <a:r>
              <a:rPr lang="en-US" altLang="zh-CN" b="1">
                <a:latin typeface="宋体" pitchFamily="2" charset="-122"/>
                <a:ea typeface="宋体" pitchFamily="2" charset="-122"/>
              </a:rPr>
              <a:t>(</a:t>
            </a:r>
            <a:r>
              <a:rPr lang="zh-CN" altLang="en-US" b="1">
                <a:latin typeface="宋体" pitchFamily="2" charset="-122"/>
                <a:ea typeface="宋体" pitchFamily="2" charset="-122"/>
              </a:rPr>
              <a:t>近邻学习或基于事例的学习</a:t>
            </a:r>
            <a:r>
              <a:rPr lang="en-US" altLang="zh-CN" b="1">
                <a:latin typeface="宋体" pitchFamily="2" charset="-122"/>
                <a:ea typeface="宋体" pitchFamily="2" charset="-122"/>
              </a:rPr>
              <a:t>) </a:t>
            </a:r>
          </a:p>
          <a:p>
            <a:pPr lvl="0" algn="just">
              <a:lnSpc>
                <a:spcPct val="90000"/>
              </a:lnSpc>
            </a:pPr>
            <a:endParaRPr lang="en-US" altLang="zh-CN" b="1">
              <a:latin typeface="宋体" pitchFamily="2" charset="-122"/>
              <a:ea typeface="宋体" pitchFamily="2" charset="-122"/>
            </a:endParaRPr>
          </a:p>
          <a:p>
            <a:pPr lvl="0" algn="just">
              <a:lnSpc>
                <a:spcPct val="90000"/>
              </a:lnSpc>
            </a:pPr>
            <a:r>
              <a:rPr lang="en-US" altLang="zh-CN" b="1">
                <a:solidFill>
                  <a:srgbClr val="00FFFF"/>
                </a:solidFill>
                <a:latin typeface="宋体" pitchFamily="2" charset="-122"/>
                <a:ea typeface="宋体" pitchFamily="2" charset="-122"/>
              </a:rPr>
              <a:t>3.</a:t>
            </a:r>
            <a:r>
              <a:rPr lang="zh-CN" altLang="en-US" b="1">
                <a:solidFill>
                  <a:srgbClr val="00FFFF"/>
                </a:solidFill>
                <a:latin typeface="宋体" pitchFamily="2" charset="-122"/>
                <a:ea typeface="宋体" pitchFamily="2" charset="-122"/>
              </a:rPr>
              <a:t>神经网络方法</a:t>
            </a:r>
            <a:r>
              <a:rPr lang="zh-CN" altLang="en-US" b="1">
                <a:latin typeface="宋体" pitchFamily="2" charset="-122"/>
                <a:ea typeface="宋体" pitchFamily="2" charset="-122"/>
              </a:rPr>
              <a:t>：</a:t>
            </a:r>
          </a:p>
          <a:p>
            <a:pPr lvl="0" algn="just">
              <a:lnSpc>
                <a:spcPct val="90000"/>
              </a:lnSpc>
            </a:pPr>
            <a:r>
              <a:rPr lang="en-US" altLang="zh-CN" b="1">
                <a:latin typeface="宋体" pitchFamily="2" charset="-122"/>
                <a:ea typeface="宋体" pitchFamily="2" charset="-122"/>
              </a:rPr>
              <a:t>BP</a:t>
            </a:r>
            <a:r>
              <a:rPr lang="zh-CN" altLang="en-US" b="1">
                <a:latin typeface="宋体" pitchFamily="2" charset="-122"/>
                <a:ea typeface="宋体" pitchFamily="2" charset="-122"/>
              </a:rPr>
              <a:t>算法</a:t>
            </a:r>
            <a:r>
              <a:rPr lang="en-US" altLang="zh-CN" b="1">
                <a:latin typeface="宋体" pitchFamily="2" charset="-122"/>
                <a:ea typeface="宋体" pitchFamily="2" charset="-122"/>
              </a:rPr>
              <a:t>,</a:t>
            </a:r>
            <a:r>
              <a:rPr lang="zh-CN" altLang="en-US" b="1">
                <a:latin typeface="宋体" pitchFamily="2" charset="-122"/>
                <a:ea typeface="宋体" pitchFamily="2" charset="-122"/>
              </a:rPr>
              <a:t>模型表示是前向反馈神经网络模型</a:t>
            </a:r>
          </a:p>
          <a:p>
            <a:pPr lvl="0" algn="just">
              <a:lnSpc>
                <a:spcPct val="90000"/>
              </a:lnSpc>
            </a:pPr>
            <a:r>
              <a:rPr lang="en-US" altLang="zh-CN" b="1">
                <a:solidFill>
                  <a:srgbClr val="00FFFF"/>
                </a:solidFill>
                <a:latin typeface="宋体" pitchFamily="2" charset="-122"/>
                <a:ea typeface="宋体" pitchFamily="2" charset="-122"/>
              </a:rPr>
              <a:t>4.</a:t>
            </a:r>
            <a:r>
              <a:rPr lang="zh-CN" altLang="en-US" b="1">
                <a:solidFill>
                  <a:srgbClr val="00FFFF"/>
                </a:solidFill>
                <a:latin typeface="宋体" pitchFamily="2" charset="-122"/>
                <a:ea typeface="宋体" pitchFamily="2" charset="-122"/>
              </a:rPr>
              <a:t>粗糙集</a:t>
            </a:r>
            <a:r>
              <a:rPr lang="en-US" altLang="zh-CN" b="1">
                <a:solidFill>
                  <a:srgbClr val="00FFFF"/>
                </a:solidFill>
                <a:latin typeface="宋体" pitchFamily="2" charset="-122"/>
                <a:ea typeface="宋体" pitchFamily="2" charset="-122"/>
              </a:rPr>
              <a:t>(rough set)</a:t>
            </a:r>
            <a:r>
              <a:rPr lang="zh-CN" altLang="en-US" b="1">
                <a:latin typeface="宋体" pitchFamily="2" charset="-122"/>
                <a:ea typeface="宋体" pitchFamily="2" charset="-122"/>
              </a:rPr>
              <a:t>知识表示是产生式规则</a:t>
            </a:r>
          </a:p>
          <a:p>
            <a:pPr lvl="0">
              <a:lnSpc>
                <a:spcPct val="90000"/>
              </a:lnSpc>
            </a:pPr>
            <a:endParaRPr lang="zh-CN" altLang="en-US" b="1">
              <a:latin typeface="宋体" pitchFamily="2" charset="-122"/>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additive="base">
                                        <p:cTn id="6" dur="1" fill="hold">
                                          <p:stCondLst>
                                            <p:cond delay="0"/>
                                          </p:stCondLst>
                                        </p:cTn>
                                        <p:tgtEl>
                                          <p:spTgt spid="208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1" presetClass="entr" presetSubtype="0" fill="hold" nodeType="clickEffect">
                                  <p:stCondLst>
                                    <p:cond delay="0"/>
                                  </p:stCondLst>
                                  <p:childTnLst>
                                    <p:set>
                                      <p:cBhvr additive="base">
                                        <p:cTn id="11" dur="1" fill="hold">
                                          <p:stCondLst>
                                            <p:cond delay="0"/>
                                          </p:stCondLst>
                                        </p:cTn>
                                        <p:tgtEl>
                                          <p:spTgt spid="2081">
                                            <p:txEl>
                                              <p:pRg st="1" end="1"/>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indefinite"/>
                            </p:stCondLst>
                          </p:cTn>
                        </p:par>
                        <p:par>
                          <p:cTn id="14" fill="hold" nodeType="afterGroup">
                            <p:stCondLst>
                              <p:cond delay="0"/>
                            </p:stCondLst>
                            <p:childTnLst>
                              <p:par>
                                <p:cTn id="15" presetID="1" presetClass="entr" presetSubtype="0" fill="hold" nodeType="clickEffect">
                                  <p:stCondLst>
                                    <p:cond delay="0"/>
                                  </p:stCondLst>
                                  <p:childTnLst>
                                    <p:set>
                                      <p:cBhvr additive="base">
                                        <p:cTn id="16" dur="1" fill="hold">
                                          <p:stCondLst>
                                            <p:cond delay="0"/>
                                          </p:stCondLst>
                                        </p:cTn>
                                        <p:tgtEl>
                                          <p:spTgt spid="2081">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indefinite"/>
                            </p:stCondLst>
                          </p:cTn>
                        </p:par>
                        <p:par>
                          <p:cTn id="19" fill="hold" nodeType="afterGroup">
                            <p:stCondLst>
                              <p:cond delay="0"/>
                            </p:stCondLst>
                            <p:childTnLst>
                              <p:par>
                                <p:cTn id="20" presetID="1" presetClass="entr" presetSubtype="0" fill="hold" nodeType="clickEffect">
                                  <p:stCondLst>
                                    <p:cond delay="0"/>
                                  </p:stCondLst>
                                  <p:childTnLst>
                                    <p:set>
                                      <p:cBhvr additive="base">
                                        <p:cTn id="21" dur="1" fill="hold">
                                          <p:stCondLst>
                                            <p:cond delay="0"/>
                                          </p:stCondLst>
                                        </p:cTn>
                                        <p:tgtEl>
                                          <p:spTgt spid="2081">
                                            <p:txEl>
                                              <p:pRg st="4" end="4"/>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indefinite"/>
                            </p:stCondLst>
                          </p:cTn>
                        </p:par>
                        <p:par>
                          <p:cTn id="24" fill="hold" nodeType="afterGroup">
                            <p:stCondLst>
                              <p:cond delay="0"/>
                            </p:stCondLst>
                            <p:childTnLst>
                              <p:par>
                                <p:cTn id="25" presetID="1" presetClass="entr" presetSubtype="0" fill="hold" nodeType="clickEffect">
                                  <p:stCondLst>
                                    <p:cond delay="0"/>
                                  </p:stCondLst>
                                  <p:childTnLst>
                                    <p:set>
                                      <p:cBhvr additive="base">
                                        <p:cTn id="26" dur="1" fill="hold">
                                          <p:stCondLst>
                                            <p:cond delay="0"/>
                                          </p:stCondLst>
                                        </p:cTn>
                                        <p:tgtEl>
                                          <p:spTgt spid="208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indefinite"/>
                            </p:stCondLst>
                          </p:cTn>
                        </p:par>
                        <p:par>
                          <p:cTn id="29" fill="hold" nodeType="afterGroup">
                            <p:stCondLst>
                              <p:cond delay="0"/>
                            </p:stCondLst>
                            <p:childTnLst>
                              <p:par>
                                <p:cTn id="30" presetID="1" presetClass="entr" presetSubtype="0" fill="hold" nodeType="clickEffect">
                                  <p:stCondLst>
                                    <p:cond delay="0"/>
                                  </p:stCondLst>
                                  <p:childTnLst>
                                    <p:set>
                                      <p:cBhvr additive="base">
                                        <p:cTn id="31" dur="1" fill="hold">
                                          <p:stCondLst>
                                            <p:cond delay="0"/>
                                          </p:stCondLst>
                                        </p:cTn>
                                        <p:tgtEl>
                                          <p:spTgt spid="2081">
                                            <p:txEl>
                                              <p:pRg st="6" end="6"/>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indefinite"/>
                            </p:stCondLst>
                          </p:cTn>
                        </p:par>
                        <p:par>
                          <p:cTn id="34" fill="hold" nodeType="afterGroup">
                            <p:stCondLst>
                              <p:cond delay="0"/>
                            </p:stCondLst>
                            <p:childTnLst>
                              <p:par>
                                <p:cTn id="35" presetID="1" presetClass="entr" presetSubtype="0" fill="hold" nodeType="clickEffect">
                                  <p:stCondLst>
                                    <p:cond delay="0"/>
                                  </p:stCondLst>
                                  <p:childTnLst>
                                    <p:set>
                                      <p:cBhvr additive="base">
                                        <p:cTn id="36" dur="1" fill="hold">
                                          <p:stCondLst>
                                            <p:cond delay="0"/>
                                          </p:stCondLst>
                                        </p:cTn>
                                        <p:tgtEl>
                                          <p:spTgt spid="2081">
                                            <p:txEl>
                                              <p:pRg st="8" end="8"/>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indefinite"/>
                            </p:stCondLst>
                          </p:cTn>
                        </p:par>
                        <p:par>
                          <p:cTn id="39" fill="hold" nodeType="afterGroup">
                            <p:stCondLst>
                              <p:cond delay="0"/>
                            </p:stCondLst>
                            <p:childTnLst>
                              <p:par>
                                <p:cTn id="40" presetID="1" presetClass="entr" presetSubtype="0" fill="hold" nodeType="clickEffect">
                                  <p:stCondLst>
                                    <p:cond delay="0"/>
                                  </p:stCondLst>
                                  <p:childTnLst>
                                    <p:set>
                                      <p:cBhvr additive="base">
                                        <p:cTn id="41" dur="1" fill="hold">
                                          <p:stCondLst>
                                            <p:cond delay="0"/>
                                          </p:stCondLst>
                                        </p:cTn>
                                        <p:tgtEl>
                                          <p:spTgt spid="2081">
                                            <p:txEl>
                                              <p:pRg st="9" end="9"/>
                                            </p:txEl>
                                          </p:spTgt>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indefinite"/>
                            </p:stCondLst>
                          </p:cTn>
                        </p:par>
                        <p:par>
                          <p:cTn id="44" fill="hold" nodeType="afterGroup">
                            <p:stCondLst>
                              <p:cond delay="0"/>
                            </p:stCondLst>
                            <p:childTnLst>
                              <p:par>
                                <p:cTn id="45" presetID="1" presetClass="entr" presetSubtype="0" fill="hold" nodeType="clickEffect">
                                  <p:stCondLst>
                                    <p:cond delay="0"/>
                                  </p:stCondLst>
                                  <p:childTnLst>
                                    <p:set>
                                      <p:cBhvr additive="base">
                                        <p:cTn id="46" dur="1" fill="hold">
                                          <p:stCondLst>
                                            <p:cond delay="0"/>
                                          </p:stCondLst>
                                        </p:cTn>
                                        <p:tgtEl>
                                          <p:spTgt spid="208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08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一个决策树的例子</a:t>
            </a:r>
          </a:p>
        </p:txBody>
      </p:sp>
      <p:grpSp>
        <p:nvGrpSpPr>
          <p:cNvPr id="2085" name=""/>
          <p:cNvGrpSpPr/>
          <p:nvPr/>
        </p:nvGrpSpPr>
        <p:grpSpPr>
          <a:xfrm>
            <a:off x="228600" y="1371600"/>
            <a:ext cx="3587750" cy="4311650"/>
            <a:chOff x="288" y="951"/>
            <a:chExt cx="2260" cy="2716"/>
          </a:xfrm>
        </p:grpSpPr>
        <p:graphicFrame>
          <p:nvGraphicFramePr>
            <p:cNvPr id="2086" name=""/>
            <p:cNvGraphicFramePr>
              <a:graphicFrameLocks noChangeAspect="1"/>
            </p:cNvGraphicFramePr>
            <p:nvPr/>
          </p:nvGraphicFramePr>
          <p:xfrm>
            <a:off x="288" y="1344"/>
            <a:ext cx="2246" cy="2323"/>
          </p:xfrm>
          <a:graphic>
            <a:graphicData uri="http://schemas.openxmlformats.org/presentationml/2006/ole">
              <mc:AlternateContent xmlns:mc="http://schemas.openxmlformats.org/markup-compatibility/2006">
                <mc:Choice xmlns:v="urn:schemas-microsoft-com:vml" Requires="v">
                  <p:oleObj spid="_x0000_s1039" name="文档" r:id="rId2" progId="Word.Document.8">
                    <p:embed/>
                  </p:oleObj>
                </mc:Choice>
                <mc:Fallback>
                  <p:oleObj name="文档" r:id="rId2" progId="Word.Document.8">
                    <p:embed/>
                    <p:pic>
                      <p:nvPicPr>
                        <p:cNvPr id="0" name="OLE substitute image"/>
                        <p:cNvPicPr/>
                        <p:nvPr/>
                      </p:nvPicPr>
                      <p:blipFill>
                        <a:blip r:embed="rId3"/>
                        <a:stretch>
                          <a:fillRect/>
                        </a:stretch>
                      </p:blipFill>
                      <p:spPr>
                        <a:xfrm>
                          <a:off x="288" y="1344"/>
                          <a:ext cx="2246" cy="2323"/>
                        </a:xfrm>
                        <a:prstGeom prst="rect">
                          <a:avLst/>
                        </a:prstGeom>
                      </p:spPr>
                    </p:pic>
                  </p:oleObj>
                </mc:Fallback>
              </mc:AlternateContent>
            </a:graphicData>
          </a:graphic>
        </p:graphicFrame>
        <p:sp>
          <p:nvSpPr>
            <p:cNvPr id="2087" name=""/>
            <p:cNvSpPr/>
            <p:nvPr/>
          </p:nvSpPr>
          <p:spPr>
            <a:xfrm rot="19140000">
              <a:off x="672" y="951"/>
              <a:ext cx="792"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088" name=""/>
            <p:cNvSpPr/>
            <p:nvPr/>
          </p:nvSpPr>
          <p:spPr>
            <a:xfrm rot="19140000">
              <a:off x="1104" y="951"/>
              <a:ext cx="792"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089" name=""/>
            <p:cNvSpPr/>
            <p:nvPr/>
          </p:nvSpPr>
          <p:spPr>
            <a:xfrm rot="19140000">
              <a:off x="1632" y="951"/>
              <a:ext cx="805"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continuous</a:t>
              </a:r>
            </a:p>
          </p:txBody>
        </p:sp>
        <p:sp>
          <p:nvSpPr>
            <p:cNvPr id="2090" name=""/>
            <p:cNvSpPr/>
            <p:nvPr/>
          </p:nvSpPr>
          <p:spPr>
            <a:xfrm rot="19140000">
              <a:off x="2112" y="1047"/>
              <a:ext cx="436"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class</a:t>
              </a:r>
            </a:p>
          </p:txBody>
        </p:sp>
      </p:grpSp>
      <p:cxnSp>
        <p:nvCxnSpPr>
          <p:cNvPr id="2091" name=""/>
          <p:cNvCxnSpPr/>
          <p:nvPr/>
        </p:nvCxnSpPr>
        <p:spPr>
          <a:xfrm>
            <a:off x="6965950" y="4505325"/>
            <a:ext cx="242888" cy="527050"/>
          </a:xfrm>
          <a:prstGeom prst="line">
            <a:avLst/>
          </a:prstGeom>
          <a:noFill/>
          <a:ln w="12700" cap="flat">
            <a:solidFill>
              <a:srgbClr val="000000"/>
            </a:solidFill>
            <a:prstDash val="solid"/>
            <a:miter lim="800000"/>
            <a:headEnd type="none" w="med" len="med"/>
            <a:tailEnd type="triangle" w="med" len="med"/>
          </a:ln>
        </p:spPr>
      </p:cxnSp>
      <p:cxnSp>
        <p:nvCxnSpPr>
          <p:cNvPr id="2092" name=""/>
          <p:cNvCxnSpPr/>
          <p:nvPr/>
        </p:nvCxnSpPr>
        <p:spPr>
          <a:xfrm flipH="1">
            <a:off x="5835650" y="4505325"/>
            <a:ext cx="323850" cy="527050"/>
          </a:xfrm>
          <a:prstGeom prst="line">
            <a:avLst/>
          </a:prstGeom>
          <a:noFill/>
          <a:ln w="12700" cap="flat">
            <a:solidFill>
              <a:srgbClr val="000000"/>
            </a:solidFill>
            <a:prstDash val="solid"/>
            <a:miter lim="800000"/>
            <a:headEnd type="none" w="med" len="med"/>
            <a:tailEnd type="triangle" w="med" len="med"/>
          </a:ln>
        </p:spPr>
      </p:cxnSp>
      <p:cxnSp>
        <p:nvCxnSpPr>
          <p:cNvPr id="2093" name=""/>
          <p:cNvCxnSpPr/>
          <p:nvPr/>
        </p:nvCxnSpPr>
        <p:spPr>
          <a:xfrm flipH="1">
            <a:off x="6481762" y="3711575"/>
            <a:ext cx="403225" cy="528638"/>
          </a:xfrm>
          <a:prstGeom prst="line">
            <a:avLst/>
          </a:prstGeom>
          <a:noFill/>
          <a:ln w="12700" cap="flat">
            <a:solidFill>
              <a:srgbClr val="000000"/>
            </a:solidFill>
            <a:prstDash val="solid"/>
            <a:miter lim="800000"/>
            <a:headEnd type="none" w="med" len="med"/>
            <a:tailEnd type="triangle" w="med" len="med"/>
          </a:ln>
        </p:spPr>
      </p:cxnSp>
      <p:cxnSp>
        <p:nvCxnSpPr>
          <p:cNvPr id="2094" name=""/>
          <p:cNvCxnSpPr/>
          <p:nvPr/>
        </p:nvCxnSpPr>
        <p:spPr>
          <a:xfrm>
            <a:off x="7693025" y="3711575"/>
            <a:ext cx="484188" cy="528638"/>
          </a:xfrm>
          <a:prstGeom prst="line">
            <a:avLst/>
          </a:prstGeom>
          <a:noFill/>
          <a:ln w="12700" cap="flat">
            <a:solidFill>
              <a:srgbClr val="000000"/>
            </a:solidFill>
            <a:prstDash val="solid"/>
            <a:miter lim="800000"/>
            <a:headEnd type="none" w="med" len="med"/>
            <a:tailEnd type="triangle" w="med" len="med"/>
          </a:ln>
        </p:spPr>
      </p:cxnSp>
      <p:cxnSp>
        <p:nvCxnSpPr>
          <p:cNvPr id="2095" name=""/>
          <p:cNvCxnSpPr/>
          <p:nvPr/>
        </p:nvCxnSpPr>
        <p:spPr>
          <a:xfrm>
            <a:off x="6643688" y="2984500"/>
            <a:ext cx="565150" cy="463550"/>
          </a:xfrm>
          <a:prstGeom prst="line">
            <a:avLst/>
          </a:prstGeom>
          <a:noFill/>
          <a:ln w="12700" cap="flat">
            <a:solidFill>
              <a:srgbClr val="000000"/>
            </a:solidFill>
            <a:prstDash val="solid"/>
            <a:miter lim="800000"/>
            <a:headEnd type="none" w="med" len="med"/>
            <a:tailEnd type="triangle" w="med" len="med"/>
          </a:ln>
        </p:spPr>
      </p:cxnSp>
      <p:cxnSp>
        <p:nvCxnSpPr>
          <p:cNvPr id="2096" name=""/>
          <p:cNvCxnSpPr/>
          <p:nvPr/>
        </p:nvCxnSpPr>
        <p:spPr>
          <a:xfrm flipH="1">
            <a:off x="5270500" y="2984500"/>
            <a:ext cx="565150" cy="463550"/>
          </a:xfrm>
          <a:prstGeom prst="line">
            <a:avLst/>
          </a:prstGeom>
          <a:noFill/>
          <a:ln w="12700" cap="flat">
            <a:solidFill>
              <a:srgbClr val="000000"/>
            </a:solidFill>
            <a:prstDash val="solid"/>
            <a:miter lim="800000"/>
            <a:headEnd type="none" w="med" len="med"/>
            <a:tailEnd type="triangle" w="med" len="med"/>
          </a:ln>
        </p:spPr>
      </p:cxnSp>
      <p:sp>
        <p:nvSpPr>
          <p:cNvPr id="2097" name=""/>
          <p:cNvSpPr/>
          <p:nvPr/>
        </p:nvSpPr>
        <p:spPr>
          <a:xfrm>
            <a:off x="5788025" y="2720975"/>
            <a:ext cx="93662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098" name=""/>
          <p:cNvSpPr/>
          <p:nvPr/>
        </p:nvSpPr>
        <p:spPr>
          <a:xfrm>
            <a:off x="6804025" y="3448050"/>
            <a:ext cx="935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099" name=""/>
          <p:cNvSpPr/>
          <p:nvPr/>
        </p:nvSpPr>
        <p:spPr>
          <a:xfrm>
            <a:off x="6078538" y="4240212"/>
            <a:ext cx="96837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100" name=""/>
          <p:cNvSpPr/>
          <p:nvPr/>
        </p:nvSpPr>
        <p:spPr>
          <a:xfrm>
            <a:off x="7005638" y="5029200"/>
            <a:ext cx="627062" cy="36671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01" name=""/>
          <p:cNvSpPr/>
          <p:nvPr/>
        </p:nvSpPr>
        <p:spPr>
          <a:xfrm>
            <a:off x="6929438" y="5029200"/>
            <a:ext cx="6858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102" name=""/>
          <p:cNvSpPr/>
          <p:nvPr/>
        </p:nvSpPr>
        <p:spPr>
          <a:xfrm>
            <a:off x="5513388" y="5046662"/>
            <a:ext cx="654050" cy="3635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03" name=""/>
          <p:cNvSpPr/>
          <p:nvPr/>
        </p:nvSpPr>
        <p:spPr>
          <a:xfrm>
            <a:off x="5610225" y="5032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04" name=""/>
          <p:cNvSpPr/>
          <p:nvPr/>
        </p:nvSpPr>
        <p:spPr>
          <a:xfrm>
            <a:off x="4948238" y="3462338"/>
            <a:ext cx="685800" cy="347662"/>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05" name=""/>
          <p:cNvSpPr/>
          <p:nvPr/>
        </p:nvSpPr>
        <p:spPr>
          <a:xfrm>
            <a:off x="5043488" y="3448050"/>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06" name=""/>
          <p:cNvSpPr/>
          <p:nvPr/>
        </p:nvSpPr>
        <p:spPr>
          <a:xfrm>
            <a:off x="7843838" y="4267200"/>
            <a:ext cx="685800" cy="381000"/>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07" name=""/>
          <p:cNvSpPr/>
          <p:nvPr/>
        </p:nvSpPr>
        <p:spPr>
          <a:xfrm>
            <a:off x="7920038" y="4267200"/>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08" name=""/>
          <p:cNvSpPr/>
          <p:nvPr/>
        </p:nvSpPr>
        <p:spPr>
          <a:xfrm>
            <a:off x="5060950" y="298450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109" name=""/>
          <p:cNvSpPr/>
          <p:nvPr/>
        </p:nvSpPr>
        <p:spPr>
          <a:xfrm>
            <a:off x="6926262" y="298450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No</a:t>
            </a:r>
          </a:p>
        </p:txBody>
      </p:sp>
      <p:sp>
        <p:nvSpPr>
          <p:cNvPr id="2110" name=""/>
          <p:cNvSpPr/>
          <p:nvPr/>
        </p:nvSpPr>
        <p:spPr>
          <a:xfrm>
            <a:off x="7908925" y="3749675"/>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111" name=""/>
          <p:cNvSpPr/>
          <p:nvPr/>
        </p:nvSpPr>
        <p:spPr>
          <a:xfrm>
            <a:off x="5692775" y="3778250"/>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112" name=""/>
          <p:cNvSpPr/>
          <p:nvPr/>
        </p:nvSpPr>
        <p:spPr>
          <a:xfrm>
            <a:off x="5313362" y="4570412"/>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113" name=""/>
          <p:cNvSpPr/>
          <p:nvPr/>
        </p:nvSpPr>
        <p:spPr>
          <a:xfrm>
            <a:off x="7088188" y="4570412"/>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sp>
        <p:nvSpPr>
          <p:cNvPr id="2114" name=""/>
          <p:cNvSpPr/>
          <p:nvPr/>
        </p:nvSpPr>
        <p:spPr>
          <a:xfrm>
            <a:off x="6427788" y="1766888"/>
            <a:ext cx="2241550" cy="3667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800" b="1" i="1" u="none">
                <a:solidFill>
                  <a:srgbClr val="FF0000"/>
                </a:solidFill>
                <a:latin typeface="Arial" pitchFamily="34" charset="0"/>
                <a:ea typeface="宋体" pitchFamily="2" charset="-122"/>
              </a:rPr>
              <a:t>Splitting Attributes</a:t>
            </a:r>
          </a:p>
        </p:txBody>
      </p:sp>
      <p:cxnSp>
        <p:nvCxnSpPr>
          <p:cNvPr id="2115" name=""/>
          <p:cNvCxnSpPr/>
          <p:nvPr/>
        </p:nvCxnSpPr>
        <p:spPr>
          <a:xfrm flipH="1">
            <a:off x="6805612" y="2147888"/>
            <a:ext cx="536575" cy="534988"/>
          </a:xfrm>
          <a:prstGeom prst="line">
            <a:avLst/>
          </a:prstGeom>
          <a:noFill/>
          <a:ln w="15875" cap="flat">
            <a:solidFill>
              <a:srgbClr val="FF0000"/>
            </a:solidFill>
            <a:prstDash val="dash"/>
            <a:miter lim="800000"/>
            <a:headEnd type="none" w="med" len="med"/>
            <a:tailEnd type="triangle" w="med" len="med"/>
          </a:ln>
        </p:spPr>
      </p:cxnSp>
      <p:sp>
        <p:nvSpPr>
          <p:cNvPr id="2116" name=""/>
          <p:cNvSpPr/>
          <p:nvPr/>
        </p:nvSpPr>
        <p:spPr>
          <a:xfrm>
            <a:off x="3810000" y="3810000"/>
            <a:ext cx="914400" cy="293688"/>
          </a:xfrm>
          <a:prstGeom prst="rightArrow">
            <a:avLst>
              <a:gd name="adj1" fmla="val 50000"/>
              <a:gd name="adj2" fmla="val 77477"/>
            </a:avLst>
          </a:prstGeom>
          <a:solidFill>
            <a:srgbClr val="CC0000"/>
          </a:solidFill>
          <a:ln w="12700" cap="flat">
            <a:solidFill>
              <a:srgbClr val="CC0000"/>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cxnSp>
        <p:nvCxnSpPr>
          <p:cNvPr id="2117" name=""/>
          <p:cNvCxnSpPr/>
          <p:nvPr/>
        </p:nvCxnSpPr>
        <p:spPr>
          <a:xfrm>
            <a:off x="7418388" y="2147888"/>
            <a:ext cx="76200" cy="1144588"/>
          </a:xfrm>
          <a:prstGeom prst="line">
            <a:avLst/>
          </a:prstGeom>
          <a:noFill/>
          <a:ln w="15875" cap="flat">
            <a:solidFill>
              <a:srgbClr val="FF0000"/>
            </a:solidFill>
            <a:prstDash val="dash"/>
            <a:miter lim="800000"/>
            <a:headEnd type="none" w="med" len="med"/>
            <a:tailEnd type="triangle" w="med" len="med"/>
          </a:ln>
        </p:spPr>
      </p:cxnSp>
      <p:sp>
        <p:nvSpPr>
          <p:cNvPr id="2118" name=""/>
          <p:cNvSpPr/>
          <p:nvPr/>
        </p:nvSpPr>
        <p:spPr>
          <a:xfrm>
            <a:off x="762000" y="5867400"/>
            <a:ext cx="25146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训练数据</a:t>
            </a:r>
          </a:p>
        </p:txBody>
      </p:sp>
      <p:sp>
        <p:nvSpPr>
          <p:cNvPr id="2119" name=""/>
          <p:cNvSpPr/>
          <p:nvPr/>
        </p:nvSpPr>
        <p:spPr>
          <a:xfrm>
            <a:off x="5029200" y="5835650"/>
            <a:ext cx="3124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模型</a:t>
            </a:r>
            <a:r>
              <a:rPr kumimoji="0" lang="en-US" altLang="zh-CN" sz="2000" b="1" u="none">
                <a:solidFill>
                  <a:schemeClr val="tx2"/>
                </a:solidFill>
                <a:latin typeface="Arial" pitchFamily="34" charset="0"/>
                <a:ea typeface="宋体" pitchFamily="2" charset="-122"/>
              </a:rPr>
              <a:t>:  </a:t>
            </a:r>
            <a:r>
              <a:rPr kumimoji="0" lang="zh-CN" altLang="en-US" sz="2000" b="1" u="none">
                <a:solidFill>
                  <a:schemeClr val="tx2"/>
                </a:solidFill>
                <a:latin typeface="Arial" pitchFamily="34" charset="0"/>
                <a:ea typeface="宋体" pitchFamily="2" charset="-122"/>
              </a:rPr>
              <a:t>决策树</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12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决策树的另一个例子</a:t>
            </a:r>
          </a:p>
        </p:txBody>
      </p:sp>
      <p:graphicFrame>
        <p:nvGraphicFramePr>
          <p:cNvPr id="2123" name=""/>
          <p:cNvGraphicFramePr>
            <a:graphicFrameLocks noChangeAspect="1"/>
          </p:cNvGraphicFramePr>
          <p:nvPr/>
        </p:nvGraphicFramePr>
        <p:xfrm>
          <a:off x="457200" y="2133600"/>
          <a:ext cx="3565525" cy="3687762"/>
        </p:xfrm>
        <a:graphic>
          <a:graphicData uri="http://schemas.openxmlformats.org/presentationml/2006/ole">
            <mc:AlternateContent xmlns:mc="http://schemas.openxmlformats.org/markup-compatibility/2006">
              <mc:Choice xmlns:v="urn:schemas-microsoft-com:vml" Requires="v">
                <p:oleObj spid="_x0000_s1040"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57200" y="2133600"/>
                        <a:ext cx="3565525" cy="3687762"/>
                      </a:xfrm>
                      <a:prstGeom prst="rect">
                        <a:avLst/>
                      </a:prstGeom>
                    </p:spPr>
                  </p:pic>
                </p:oleObj>
              </mc:Fallback>
            </mc:AlternateContent>
          </a:graphicData>
        </a:graphic>
      </p:graphicFrame>
      <p:sp>
        <p:nvSpPr>
          <p:cNvPr id="2124" name=""/>
          <p:cNvSpPr/>
          <p:nvPr/>
        </p:nvSpPr>
        <p:spPr>
          <a:xfrm rot="19140000">
            <a:off x="1066800" y="1509712"/>
            <a:ext cx="12573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125" name=""/>
          <p:cNvSpPr/>
          <p:nvPr/>
        </p:nvSpPr>
        <p:spPr>
          <a:xfrm rot="19140000">
            <a:off x="1752600" y="1509712"/>
            <a:ext cx="12573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126" name=""/>
          <p:cNvSpPr/>
          <p:nvPr/>
        </p:nvSpPr>
        <p:spPr>
          <a:xfrm rot="19140000">
            <a:off x="2590800" y="1509712"/>
            <a:ext cx="1277938"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continuous</a:t>
            </a:r>
          </a:p>
        </p:txBody>
      </p:sp>
      <p:sp>
        <p:nvSpPr>
          <p:cNvPr id="2127" name=""/>
          <p:cNvSpPr/>
          <p:nvPr/>
        </p:nvSpPr>
        <p:spPr>
          <a:xfrm rot="19140000">
            <a:off x="3352800" y="1662112"/>
            <a:ext cx="6921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class</a:t>
            </a:r>
          </a:p>
        </p:txBody>
      </p:sp>
      <p:cxnSp>
        <p:nvCxnSpPr>
          <p:cNvPr id="2128" name=""/>
          <p:cNvCxnSpPr/>
          <p:nvPr/>
        </p:nvCxnSpPr>
        <p:spPr>
          <a:xfrm>
            <a:off x="8005762" y="3497262"/>
            <a:ext cx="242888" cy="527050"/>
          </a:xfrm>
          <a:prstGeom prst="line">
            <a:avLst/>
          </a:prstGeom>
          <a:noFill/>
          <a:ln w="12700" cap="flat">
            <a:solidFill>
              <a:srgbClr val="000000"/>
            </a:solidFill>
            <a:prstDash val="solid"/>
            <a:miter lim="800000"/>
            <a:headEnd type="none" w="med" len="med"/>
            <a:tailEnd type="triangle" w="med" len="med"/>
          </a:ln>
        </p:spPr>
      </p:cxnSp>
      <p:cxnSp>
        <p:nvCxnSpPr>
          <p:cNvPr id="2129" name=""/>
          <p:cNvCxnSpPr/>
          <p:nvPr/>
        </p:nvCxnSpPr>
        <p:spPr>
          <a:xfrm flipH="1">
            <a:off x="6875462" y="3497262"/>
            <a:ext cx="323850" cy="527050"/>
          </a:xfrm>
          <a:prstGeom prst="line">
            <a:avLst/>
          </a:prstGeom>
          <a:noFill/>
          <a:ln w="12700" cap="flat">
            <a:solidFill>
              <a:srgbClr val="000000"/>
            </a:solidFill>
            <a:prstDash val="solid"/>
            <a:miter lim="800000"/>
            <a:headEnd type="none" w="med" len="med"/>
            <a:tailEnd type="triangle" w="med" len="med"/>
          </a:ln>
        </p:spPr>
      </p:cxnSp>
      <p:cxnSp>
        <p:nvCxnSpPr>
          <p:cNvPr id="2130" name=""/>
          <p:cNvCxnSpPr/>
          <p:nvPr/>
        </p:nvCxnSpPr>
        <p:spPr>
          <a:xfrm flipH="1">
            <a:off x="5881688" y="2733675"/>
            <a:ext cx="403225" cy="528638"/>
          </a:xfrm>
          <a:prstGeom prst="line">
            <a:avLst/>
          </a:prstGeom>
          <a:noFill/>
          <a:ln w="12700" cap="flat">
            <a:solidFill>
              <a:srgbClr val="000000"/>
            </a:solidFill>
            <a:prstDash val="solid"/>
            <a:miter lim="800000"/>
            <a:headEnd type="none" w="med" len="med"/>
            <a:tailEnd type="triangle" w="med" len="med"/>
          </a:ln>
        </p:spPr>
      </p:cxnSp>
      <p:cxnSp>
        <p:nvCxnSpPr>
          <p:cNvPr id="2131" name=""/>
          <p:cNvCxnSpPr/>
          <p:nvPr/>
        </p:nvCxnSpPr>
        <p:spPr>
          <a:xfrm>
            <a:off x="7092950" y="2733675"/>
            <a:ext cx="484188" cy="528638"/>
          </a:xfrm>
          <a:prstGeom prst="line">
            <a:avLst/>
          </a:prstGeom>
          <a:noFill/>
          <a:ln w="12700" cap="flat">
            <a:solidFill>
              <a:srgbClr val="000000"/>
            </a:solidFill>
            <a:prstDash val="solid"/>
            <a:miter lim="800000"/>
            <a:headEnd type="none" w="med" len="med"/>
            <a:tailEnd type="triangle" w="med" len="med"/>
          </a:ln>
        </p:spPr>
      </p:cxnSp>
      <p:cxnSp>
        <p:nvCxnSpPr>
          <p:cNvPr id="2132" name=""/>
          <p:cNvCxnSpPr/>
          <p:nvPr/>
        </p:nvCxnSpPr>
        <p:spPr>
          <a:xfrm>
            <a:off x="6043612" y="2006600"/>
            <a:ext cx="565150" cy="463550"/>
          </a:xfrm>
          <a:prstGeom prst="line">
            <a:avLst/>
          </a:prstGeom>
          <a:noFill/>
          <a:ln w="12700" cap="flat">
            <a:solidFill>
              <a:srgbClr val="000000"/>
            </a:solidFill>
            <a:prstDash val="solid"/>
            <a:miter lim="800000"/>
            <a:headEnd type="none" w="med" len="med"/>
            <a:tailEnd type="triangle" w="med" len="med"/>
          </a:ln>
        </p:spPr>
      </p:cxnSp>
      <p:cxnSp>
        <p:nvCxnSpPr>
          <p:cNvPr id="2133" name=""/>
          <p:cNvCxnSpPr/>
          <p:nvPr/>
        </p:nvCxnSpPr>
        <p:spPr>
          <a:xfrm flipH="1">
            <a:off x="4670425" y="2006600"/>
            <a:ext cx="565150" cy="463550"/>
          </a:xfrm>
          <a:prstGeom prst="line">
            <a:avLst/>
          </a:prstGeom>
          <a:noFill/>
          <a:ln w="12700" cap="flat">
            <a:solidFill>
              <a:srgbClr val="000000"/>
            </a:solidFill>
            <a:prstDash val="solid"/>
            <a:miter lim="800000"/>
            <a:headEnd type="none" w="med" len="med"/>
            <a:tailEnd type="triangle" w="med" len="med"/>
          </a:ln>
        </p:spPr>
      </p:cxnSp>
      <p:sp>
        <p:nvSpPr>
          <p:cNvPr id="2134" name=""/>
          <p:cNvSpPr/>
          <p:nvPr/>
        </p:nvSpPr>
        <p:spPr>
          <a:xfrm>
            <a:off x="5187950" y="1743075"/>
            <a:ext cx="93662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135" name=""/>
          <p:cNvSpPr/>
          <p:nvPr/>
        </p:nvSpPr>
        <p:spPr>
          <a:xfrm>
            <a:off x="6203950" y="2470150"/>
            <a:ext cx="935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136" name=""/>
          <p:cNvSpPr/>
          <p:nvPr/>
        </p:nvSpPr>
        <p:spPr>
          <a:xfrm>
            <a:off x="7118350" y="3232150"/>
            <a:ext cx="96837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137" name=""/>
          <p:cNvSpPr/>
          <p:nvPr/>
        </p:nvSpPr>
        <p:spPr>
          <a:xfrm>
            <a:off x="8045450" y="4021138"/>
            <a:ext cx="627062" cy="36671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38" name=""/>
          <p:cNvSpPr/>
          <p:nvPr/>
        </p:nvSpPr>
        <p:spPr>
          <a:xfrm>
            <a:off x="7969250" y="4021138"/>
            <a:ext cx="6858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139" name=""/>
          <p:cNvSpPr/>
          <p:nvPr/>
        </p:nvSpPr>
        <p:spPr>
          <a:xfrm>
            <a:off x="6553200" y="4038600"/>
            <a:ext cx="654050" cy="3635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40" name=""/>
          <p:cNvSpPr/>
          <p:nvPr/>
        </p:nvSpPr>
        <p:spPr>
          <a:xfrm>
            <a:off x="6650038" y="4024312"/>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41" name=""/>
          <p:cNvSpPr/>
          <p:nvPr/>
        </p:nvSpPr>
        <p:spPr>
          <a:xfrm>
            <a:off x="4348162" y="2484438"/>
            <a:ext cx="685800" cy="347662"/>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42" name=""/>
          <p:cNvSpPr/>
          <p:nvPr/>
        </p:nvSpPr>
        <p:spPr>
          <a:xfrm>
            <a:off x="4443412" y="2470150"/>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grpSp>
        <p:nvGrpSpPr>
          <p:cNvPr id="2143" name=""/>
          <p:cNvGrpSpPr/>
          <p:nvPr/>
        </p:nvGrpSpPr>
        <p:grpSpPr>
          <a:xfrm>
            <a:off x="5594350" y="3232150"/>
            <a:ext cx="685800" cy="381000"/>
            <a:chOff x="4927" y="2340"/>
            <a:chExt cx="432" cy="240"/>
          </a:xfrm>
        </p:grpSpPr>
        <p:sp>
          <p:nvSpPr>
            <p:cNvPr id="2144" name=""/>
            <p:cNvSpPr/>
            <p:nvPr/>
          </p:nvSpPr>
          <p:spPr>
            <a:xfrm>
              <a:off x="4927" y="2340"/>
              <a:ext cx="432" cy="240"/>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45" name=""/>
            <p:cNvSpPr/>
            <p:nvPr/>
          </p:nvSpPr>
          <p:spPr>
            <a:xfrm>
              <a:off x="4975" y="2340"/>
              <a:ext cx="308"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grpSp>
      <p:sp>
        <p:nvSpPr>
          <p:cNvPr id="2146" name=""/>
          <p:cNvSpPr/>
          <p:nvPr/>
        </p:nvSpPr>
        <p:spPr>
          <a:xfrm>
            <a:off x="5518150" y="277495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147" name=""/>
          <p:cNvSpPr/>
          <p:nvPr/>
        </p:nvSpPr>
        <p:spPr>
          <a:xfrm>
            <a:off x="7270750" y="269875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No</a:t>
            </a:r>
          </a:p>
        </p:txBody>
      </p:sp>
      <p:sp>
        <p:nvSpPr>
          <p:cNvPr id="2148" name=""/>
          <p:cNvSpPr/>
          <p:nvPr/>
        </p:nvSpPr>
        <p:spPr>
          <a:xfrm>
            <a:off x="4146550" y="1936750"/>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149" name=""/>
          <p:cNvSpPr/>
          <p:nvPr/>
        </p:nvSpPr>
        <p:spPr>
          <a:xfrm>
            <a:off x="5746750" y="1708150"/>
            <a:ext cx="1398588" cy="58102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150" name=""/>
          <p:cNvSpPr/>
          <p:nvPr/>
        </p:nvSpPr>
        <p:spPr>
          <a:xfrm>
            <a:off x="6353175" y="3562350"/>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151" name=""/>
          <p:cNvSpPr/>
          <p:nvPr/>
        </p:nvSpPr>
        <p:spPr>
          <a:xfrm>
            <a:off x="8128000" y="3562350"/>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15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用决策树归纳分类</a:t>
            </a:r>
          </a:p>
        </p:txBody>
      </p:sp>
      <p:sp>
        <p:nvSpPr>
          <p:cNvPr id="2155" name=""/>
          <p:cNvSpPr/>
          <p:nvPr>
            <p:ph type="body" idx="4294967295"/>
          </p:nvPr>
        </p:nvSpPr>
        <p:spPr>
          <a:xfrm>
            <a:off x="457200" y="1484312"/>
            <a:ext cx="8229600" cy="4852988"/>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nSpc>
                <a:spcPct val="80000"/>
              </a:lnSpc>
            </a:pPr>
            <a:r>
              <a:rPr lang="zh-CN" altLang="en-US" sz="2400">
                <a:ea typeface="宋体" pitchFamily="2" charset="-122"/>
              </a:rPr>
              <a:t>什么是决策树？</a:t>
            </a:r>
          </a:p>
          <a:p>
            <a:pPr lvl="1">
              <a:lnSpc>
                <a:spcPct val="80000"/>
              </a:lnSpc>
            </a:pPr>
            <a:r>
              <a:rPr lang="zh-CN" altLang="en-US" sz="2400">
                <a:ea typeface="宋体" pitchFamily="2" charset="-122"/>
              </a:rPr>
              <a:t>类似于流程图的树结构</a:t>
            </a:r>
          </a:p>
          <a:p>
            <a:pPr lvl="1">
              <a:lnSpc>
                <a:spcPct val="80000"/>
              </a:lnSpc>
            </a:pPr>
            <a:r>
              <a:rPr lang="zh-CN" altLang="en-US" sz="2400">
                <a:ea typeface="宋体" pitchFamily="2" charset="-122"/>
              </a:rPr>
              <a:t>每个内部节点表示在一个属性上的测试</a:t>
            </a:r>
          </a:p>
          <a:p>
            <a:pPr lvl="1">
              <a:lnSpc>
                <a:spcPct val="80000"/>
              </a:lnSpc>
            </a:pPr>
            <a:r>
              <a:rPr lang="zh-CN" altLang="en-US" sz="2400">
                <a:ea typeface="宋体" pitchFamily="2" charset="-122"/>
              </a:rPr>
              <a:t>每个分枝代表一个测试输出</a:t>
            </a:r>
          </a:p>
          <a:p>
            <a:pPr lvl="1">
              <a:lnSpc>
                <a:spcPct val="80000"/>
              </a:lnSpc>
            </a:pPr>
            <a:r>
              <a:rPr lang="zh-CN" altLang="en-US" sz="2400">
                <a:ea typeface="宋体" pitchFamily="2" charset="-122"/>
              </a:rPr>
              <a:t>每个树叶节点代表类或类分布</a:t>
            </a:r>
          </a:p>
          <a:p>
            <a:pPr lvl="0">
              <a:lnSpc>
                <a:spcPct val="80000"/>
              </a:lnSpc>
            </a:pPr>
            <a:r>
              <a:rPr lang="zh-CN" altLang="en-US" sz="2400">
                <a:ea typeface="宋体" pitchFamily="2" charset="-122"/>
              </a:rPr>
              <a:t>决策树的生成由两个阶段组成</a:t>
            </a:r>
          </a:p>
          <a:p>
            <a:pPr lvl="1">
              <a:lnSpc>
                <a:spcPct val="80000"/>
              </a:lnSpc>
            </a:pPr>
            <a:r>
              <a:rPr lang="zh-CN" altLang="en-US" sz="2400">
                <a:ea typeface="宋体" pitchFamily="2" charset="-122"/>
              </a:rPr>
              <a:t>决策树构建</a:t>
            </a:r>
          </a:p>
          <a:p>
            <a:pPr lvl="2">
              <a:lnSpc>
                <a:spcPct val="80000"/>
              </a:lnSpc>
            </a:pPr>
            <a:r>
              <a:rPr lang="zh-CN" altLang="en-US" sz="2200">
                <a:ea typeface="宋体" pitchFamily="2" charset="-122"/>
              </a:rPr>
              <a:t>开始时，所有的训练样本都在根节点</a:t>
            </a:r>
          </a:p>
          <a:p>
            <a:pPr lvl="2">
              <a:lnSpc>
                <a:spcPct val="80000"/>
              </a:lnSpc>
            </a:pPr>
            <a:r>
              <a:rPr lang="zh-CN" altLang="en-US" sz="2200">
                <a:ea typeface="宋体" pitchFamily="2" charset="-122"/>
              </a:rPr>
              <a:t>递归的通过选定的属性，来划分样本 （必须是离散值）</a:t>
            </a:r>
          </a:p>
          <a:p>
            <a:pPr lvl="1">
              <a:lnSpc>
                <a:spcPct val="80000"/>
              </a:lnSpc>
            </a:pPr>
            <a:r>
              <a:rPr lang="zh-CN" altLang="en-US" sz="2400">
                <a:ea typeface="宋体" pitchFamily="2" charset="-122"/>
              </a:rPr>
              <a:t>树剪枝</a:t>
            </a:r>
          </a:p>
          <a:p>
            <a:pPr lvl="2">
              <a:lnSpc>
                <a:spcPct val="80000"/>
              </a:lnSpc>
            </a:pPr>
            <a:r>
              <a:rPr lang="zh-CN" altLang="en-US" sz="2200">
                <a:ea typeface="宋体" pitchFamily="2" charset="-122"/>
              </a:rPr>
              <a:t>许多分枝反映的是训练数据中的噪声和孤立点，树剪枝试图检测和剪去这种分枝</a:t>
            </a:r>
          </a:p>
          <a:p>
            <a:pPr lvl="0">
              <a:lnSpc>
                <a:spcPct val="80000"/>
              </a:lnSpc>
            </a:pPr>
            <a:r>
              <a:rPr lang="zh-CN" altLang="en-US" sz="2400">
                <a:ea typeface="宋体" pitchFamily="2" charset="-122"/>
              </a:rPr>
              <a:t>决策树的使用：对未知样本进行分类</a:t>
            </a:r>
          </a:p>
          <a:p>
            <a:pPr lvl="1">
              <a:lnSpc>
                <a:spcPct val="80000"/>
              </a:lnSpc>
            </a:pPr>
            <a:r>
              <a:rPr lang="zh-CN" altLang="en-US" sz="2400">
                <a:ea typeface="宋体" pitchFamily="2" charset="-122"/>
              </a:rPr>
              <a:t>通过将样本的属性值与决策树相比较</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show="0">
  <p:cSld>
    <p:spTree>
      <p:nvGrpSpPr>
        <p:cNvPr id="1" name=""/>
        <p:cNvGrpSpPr/>
        <p:nvPr/>
      </p:nvGrpSpPr>
      <p:grpSpPr>
        <a:xfrm>
          <a:off x="0" y="0"/>
          <a:ext cx="0" cy="0"/>
        </a:xfrm>
      </p:grpSpPr>
      <p:sp>
        <p:nvSpPr>
          <p:cNvPr id="2158" name=""/>
          <p:cNvSpPr/>
          <p:nvPr>
            <p:ph type="body" idx="4294967295"/>
          </p:nvPr>
        </p:nvSpPr>
        <p:spPr>
          <a:xfrm>
            <a:off x="381000" y="609600"/>
            <a:ext cx="8382000" cy="54864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nSpc>
                <a:spcPct val="145000"/>
              </a:lnSpc>
            </a:pPr>
            <a:r>
              <a:rPr lang="zh-CN" altLang="en-US" sz="3200" b="1">
                <a:ea typeface="宋体" pitchFamily="2" charset="-122"/>
              </a:rPr>
              <a:t>    为了对未知数据对象进行分类识别，可以根据决策树的结构对数据集中的属性进行测试，从</a:t>
            </a:r>
            <a:r>
              <a:rPr lang="zh-CN" altLang="en-US" sz="3200" b="1">
                <a:solidFill>
                  <a:srgbClr val="00FFFF"/>
                </a:solidFill>
                <a:ea typeface="宋体" pitchFamily="2" charset="-122"/>
              </a:rPr>
              <a:t>决策树的根节点到叶节点的一条路径</a:t>
            </a:r>
            <a:r>
              <a:rPr lang="zh-CN" altLang="en-US" sz="3200" b="1">
                <a:ea typeface="宋体" pitchFamily="2" charset="-122"/>
              </a:rPr>
              <a:t>就形成了相应对象的类别测试。决策树可以很容易转换为分类规则</a:t>
            </a:r>
          </a:p>
          <a:p>
            <a:pPr lvl="0">
              <a:lnSpc>
                <a:spcPct val="145000"/>
              </a:lnSpc>
              <a:buNone/>
            </a:pPr>
            <a:endParaRPr lang="zh-CN" altLang="en-US">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4" presetClass="entr" presetSubtype="10" fill="hold" grpId="0" nodeType="clickEffect">
                                  <p:stCondLst>
                                    <p:cond delay="0"/>
                                  </p:stCondLst>
                                  <p:childTnLst>
                                    <p:set>
                                      <p:cBhvr additive="base">
                                        <p:cTn id="6" dur="1" fill="hold">
                                          <p:stCondLst>
                                            <p:cond delay="0"/>
                                          </p:stCondLst>
                                        </p:cTn>
                                        <p:tgtEl>
                                          <p:spTgt spid="2158">
                                            <p:txEl>
                                              <p:pRg st="0" end="0"/>
                                            </p:txEl>
                                          </p:spTgt>
                                        </p:tgtEl>
                                        <p:attrNameLst>
                                          <p:attrName>style.visibility</p:attrName>
                                        </p:attrNameLst>
                                      </p:cBhvr>
                                      <p:to>
                                        <p:strVal val="visible"/>
                                      </p:to>
                                    </p:set>
                                    <p:animEffect transition="in" filter="randombar(horizontal)">
                                      <p:cBhvr additive="base">
                                        <p:cTn id="7" dur="500"/>
                                        <p:tgtEl>
                                          <p:spTgt spid="21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8" grpId="0" build="p"/>
    </p:bldLst>
  </p:timing>
</p:sld>
</file>

<file path=ppt/slides/slide1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16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决策树分类任务</a:t>
            </a:r>
          </a:p>
        </p:txBody>
      </p:sp>
      <p:graphicFrame>
        <p:nvGraphicFramePr>
          <p:cNvPr id="2162" name=""/>
          <p:cNvGraphicFramePr>
            <a:graphicFrameLocks noChangeAspect="1"/>
          </p:cNvGraphicFramePr>
          <p:nvPr>
            <p:ph idx="4294967295"/>
          </p:nvPr>
        </p:nvGraphicFramePr>
        <p:xfrm>
          <a:off x="1093788" y="1143000"/>
          <a:ext cx="6951662" cy="5181600"/>
        </p:xfrm>
        <a:graphic>
          <a:graphicData uri="http://schemas.openxmlformats.org/presentationml/2006/ole">
            <mc:AlternateContent xmlns:mc="http://schemas.openxmlformats.org/markup-compatibility/2006">
              <mc:Choice xmlns:v="urn:schemas-microsoft-com:vml" Requires="v">
                <p:oleObj spid="_x0000_s1041"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1093788" y="1143000"/>
                        <a:ext cx="6951662" cy="5181600"/>
                      </a:xfrm>
                      <a:prstGeom prst="rect">
                        <a:avLst/>
                      </a:prstGeom>
                    </p:spPr>
                  </p:pic>
                </p:oleObj>
              </mc:Fallback>
            </mc:AlternateContent>
          </a:graphicData>
        </a:graphic>
      </p:graphicFrame>
      <p:cxnSp>
        <p:nvCxnSpPr>
          <p:cNvPr id="2163" name=""/>
          <p:cNvCxnSpPr/>
          <p:nvPr/>
        </p:nvCxnSpPr>
        <p:spPr>
          <a:xfrm flipH="1" flipV="1">
            <a:off x="6019800" y="4724400"/>
            <a:ext cx="0" cy="685800"/>
          </a:xfrm>
          <a:prstGeom prst="line">
            <a:avLst/>
          </a:prstGeom>
          <a:noFill/>
          <a:ln w="63500" cap="flat">
            <a:solidFill>
              <a:srgbClr val="FF0000"/>
            </a:solidFill>
            <a:prstDash val="solid"/>
            <a:miter lim="800000"/>
            <a:headEnd type="none" w="med" len="med"/>
            <a:tailEnd type="triangle" w="med" len="med"/>
          </a:ln>
        </p:spPr>
      </p:cxnSp>
      <p:sp>
        <p:nvSpPr>
          <p:cNvPr id="2164" name=""/>
          <p:cNvSpPr/>
          <p:nvPr/>
        </p:nvSpPr>
        <p:spPr>
          <a:xfrm>
            <a:off x="7086600" y="4114800"/>
            <a:ext cx="1219200" cy="51752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1400" b="1" u="none">
                <a:latin typeface="Arial" pitchFamily="34" charset="0"/>
                <a:ea typeface="宋体" pitchFamily="2" charset="-122"/>
              </a:rPr>
              <a:t>Decision Tree</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16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一个决策树的例子</a:t>
            </a:r>
          </a:p>
        </p:txBody>
      </p:sp>
      <p:grpSp>
        <p:nvGrpSpPr>
          <p:cNvPr id="2168" name=""/>
          <p:cNvGrpSpPr/>
          <p:nvPr/>
        </p:nvGrpSpPr>
        <p:grpSpPr>
          <a:xfrm>
            <a:off x="228600" y="1371600"/>
            <a:ext cx="3587750" cy="4311650"/>
            <a:chOff x="288" y="951"/>
            <a:chExt cx="2260" cy="2716"/>
          </a:xfrm>
        </p:grpSpPr>
        <p:graphicFrame>
          <p:nvGraphicFramePr>
            <p:cNvPr id="2169" name=""/>
            <p:cNvGraphicFramePr>
              <a:graphicFrameLocks noChangeAspect="1"/>
            </p:cNvGraphicFramePr>
            <p:nvPr/>
          </p:nvGraphicFramePr>
          <p:xfrm>
            <a:off x="288" y="1344"/>
            <a:ext cx="2246" cy="2323"/>
          </p:xfrm>
          <a:graphic>
            <a:graphicData uri="http://schemas.openxmlformats.org/presentationml/2006/ole">
              <mc:AlternateContent xmlns:mc="http://schemas.openxmlformats.org/markup-compatibility/2006">
                <mc:Choice xmlns:v="urn:schemas-microsoft-com:vml" Requires="v">
                  <p:oleObj spid="_x0000_s1042" name="文档" r:id="rId2" progId="Word.Document.8">
                    <p:embed/>
                  </p:oleObj>
                </mc:Choice>
                <mc:Fallback>
                  <p:oleObj name="文档" r:id="rId2" progId="Word.Document.8">
                    <p:embed/>
                    <p:pic>
                      <p:nvPicPr>
                        <p:cNvPr id="0" name="OLE substitute image"/>
                        <p:cNvPicPr/>
                        <p:nvPr/>
                      </p:nvPicPr>
                      <p:blipFill>
                        <a:blip r:embed="rId3"/>
                        <a:stretch>
                          <a:fillRect/>
                        </a:stretch>
                      </p:blipFill>
                      <p:spPr>
                        <a:xfrm>
                          <a:off x="288" y="1344"/>
                          <a:ext cx="2246" cy="2323"/>
                        </a:xfrm>
                        <a:prstGeom prst="rect">
                          <a:avLst/>
                        </a:prstGeom>
                      </p:spPr>
                    </p:pic>
                  </p:oleObj>
                </mc:Fallback>
              </mc:AlternateContent>
            </a:graphicData>
          </a:graphic>
        </p:graphicFrame>
        <p:sp>
          <p:nvSpPr>
            <p:cNvPr id="2170" name=""/>
            <p:cNvSpPr/>
            <p:nvPr/>
          </p:nvSpPr>
          <p:spPr>
            <a:xfrm rot="19140000">
              <a:off x="672" y="951"/>
              <a:ext cx="792"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171" name=""/>
            <p:cNvSpPr/>
            <p:nvPr/>
          </p:nvSpPr>
          <p:spPr>
            <a:xfrm rot="19140000">
              <a:off x="1104" y="951"/>
              <a:ext cx="792"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categorical</a:t>
              </a:r>
            </a:p>
          </p:txBody>
        </p:sp>
        <p:sp>
          <p:nvSpPr>
            <p:cNvPr id="2172" name=""/>
            <p:cNvSpPr/>
            <p:nvPr/>
          </p:nvSpPr>
          <p:spPr>
            <a:xfrm rot="19140000">
              <a:off x="1632" y="951"/>
              <a:ext cx="805"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continuous</a:t>
              </a:r>
            </a:p>
          </p:txBody>
        </p:sp>
        <p:sp>
          <p:nvSpPr>
            <p:cNvPr id="2173" name=""/>
            <p:cNvSpPr/>
            <p:nvPr/>
          </p:nvSpPr>
          <p:spPr>
            <a:xfrm rot="19140000">
              <a:off x="2112" y="1047"/>
              <a:ext cx="436" cy="2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006600"/>
                  </a:solidFill>
                  <a:latin typeface="Arial" pitchFamily="34" charset="0"/>
                  <a:ea typeface="宋体" pitchFamily="2" charset="-122"/>
                </a:rPr>
                <a:t>class</a:t>
              </a:r>
            </a:p>
          </p:txBody>
        </p:sp>
      </p:grpSp>
      <p:cxnSp>
        <p:nvCxnSpPr>
          <p:cNvPr id="2174" name=""/>
          <p:cNvCxnSpPr/>
          <p:nvPr/>
        </p:nvCxnSpPr>
        <p:spPr>
          <a:xfrm>
            <a:off x="6965950" y="4505325"/>
            <a:ext cx="242888" cy="527050"/>
          </a:xfrm>
          <a:prstGeom prst="line">
            <a:avLst/>
          </a:prstGeom>
          <a:noFill/>
          <a:ln w="12700" cap="flat">
            <a:solidFill>
              <a:srgbClr val="000000"/>
            </a:solidFill>
            <a:prstDash val="solid"/>
            <a:miter lim="800000"/>
            <a:headEnd type="none" w="med" len="med"/>
            <a:tailEnd type="triangle" w="med" len="med"/>
          </a:ln>
        </p:spPr>
      </p:cxnSp>
      <p:cxnSp>
        <p:nvCxnSpPr>
          <p:cNvPr id="2175" name=""/>
          <p:cNvCxnSpPr/>
          <p:nvPr/>
        </p:nvCxnSpPr>
        <p:spPr>
          <a:xfrm flipH="1">
            <a:off x="5835650" y="4505325"/>
            <a:ext cx="323850" cy="527050"/>
          </a:xfrm>
          <a:prstGeom prst="line">
            <a:avLst/>
          </a:prstGeom>
          <a:noFill/>
          <a:ln w="12700" cap="flat">
            <a:solidFill>
              <a:srgbClr val="000000"/>
            </a:solidFill>
            <a:prstDash val="solid"/>
            <a:miter lim="800000"/>
            <a:headEnd type="none" w="med" len="med"/>
            <a:tailEnd type="triangle" w="med" len="med"/>
          </a:ln>
        </p:spPr>
      </p:cxnSp>
      <p:cxnSp>
        <p:nvCxnSpPr>
          <p:cNvPr id="2176" name=""/>
          <p:cNvCxnSpPr/>
          <p:nvPr/>
        </p:nvCxnSpPr>
        <p:spPr>
          <a:xfrm flipH="1">
            <a:off x="6481762" y="3711575"/>
            <a:ext cx="403225" cy="528638"/>
          </a:xfrm>
          <a:prstGeom prst="line">
            <a:avLst/>
          </a:prstGeom>
          <a:noFill/>
          <a:ln w="12700" cap="flat">
            <a:solidFill>
              <a:srgbClr val="000000"/>
            </a:solidFill>
            <a:prstDash val="solid"/>
            <a:miter lim="800000"/>
            <a:headEnd type="none" w="med" len="med"/>
            <a:tailEnd type="triangle" w="med" len="med"/>
          </a:ln>
        </p:spPr>
      </p:cxnSp>
      <p:cxnSp>
        <p:nvCxnSpPr>
          <p:cNvPr id="2177" name=""/>
          <p:cNvCxnSpPr/>
          <p:nvPr/>
        </p:nvCxnSpPr>
        <p:spPr>
          <a:xfrm>
            <a:off x="7693025" y="3711575"/>
            <a:ext cx="484188" cy="528638"/>
          </a:xfrm>
          <a:prstGeom prst="line">
            <a:avLst/>
          </a:prstGeom>
          <a:noFill/>
          <a:ln w="12700" cap="flat">
            <a:solidFill>
              <a:srgbClr val="000000"/>
            </a:solidFill>
            <a:prstDash val="solid"/>
            <a:miter lim="800000"/>
            <a:headEnd type="none" w="med" len="med"/>
            <a:tailEnd type="triangle" w="med" len="med"/>
          </a:ln>
        </p:spPr>
      </p:cxnSp>
      <p:cxnSp>
        <p:nvCxnSpPr>
          <p:cNvPr id="2178" name=""/>
          <p:cNvCxnSpPr/>
          <p:nvPr/>
        </p:nvCxnSpPr>
        <p:spPr>
          <a:xfrm>
            <a:off x="6643688" y="2984500"/>
            <a:ext cx="565150" cy="463550"/>
          </a:xfrm>
          <a:prstGeom prst="line">
            <a:avLst/>
          </a:prstGeom>
          <a:noFill/>
          <a:ln w="12700" cap="flat">
            <a:solidFill>
              <a:srgbClr val="000000"/>
            </a:solidFill>
            <a:prstDash val="solid"/>
            <a:miter lim="800000"/>
            <a:headEnd type="none" w="med" len="med"/>
            <a:tailEnd type="triangle" w="med" len="med"/>
          </a:ln>
        </p:spPr>
      </p:cxnSp>
      <p:cxnSp>
        <p:nvCxnSpPr>
          <p:cNvPr id="2179" name=""/>
          <p:cNvCxnSpPr/>
          <p:nvPr/>
        </p:nvCxnSpPr>
        <p:spPr>
          <a:xfrm flipH="1">
            <a:off x="5270500" y="2984500"/>
            <a:ext cx="565150" cy="463550"/>
          </a:xfrm>
          <a:prstGeom prst="line">
            <a:avLst/>
          </a:prstGeom>
          <a:noFill/>
          <a:ln w="12700" cap="flat">
            <a:solidFill>
              <a:srgbClr val="000000"/>
            </a:solidFill>
            <a:prstDash val="solid"/>
            <a:miter lim="800000"/>
            <a:headEnd type="none" w="med" len="med"/>
            <a:tailEnd type="triangle" w="med" len="med"/>
          </a:ln>
        </p:spPr>
      </p:cxnSp>
      <p:sp>
        <p:nvSpPr>
          <p:cNvPr id="2180" name=""/>
          <p:cNvSpPr/>
          <p:nvPr/>
        </p:nvSpPr>
        <p:spPr>
          <a:xfrm>
            <a:off x="5788025" y="2720975"/>
            <a:ext cx="93662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181" name=""/>
          <p:cNvSpPr/>
          <p:nvPr/>
        </p:nvSpPr>
        <p:spPr>
          <a:xfrm>
            <a:off x="6804025" y="3448050"/>
            <a:ext cx="935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182" name=""/>
          <p:cNvSpPr/>
          <p:nvPr/>
        </p:nvSpPr>
        <p:spPr>
          <a:xfrm>
            <a:off x="6078538" y="4240212"/>
            <a:ext cx="968375"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183" name=""/>
          <p:cNvSpPr/>
          <p:nvPr/>
        </p:nvSpPr>
        <p:spPr>
          <a:xfrm>
            <a:off x="7005638" y="5029200"/>
            <a:ext cx="627062" cy="36671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84" name=""/>
          <p:cNvSpPr/>
          <p:nvPr/>
        </p:nvSpPr>
        <p:spPr>
          <a:xfrm>
            <a:off x="6929438" y="5029200"/>
            <a:ext cx="6858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185" name=""/>
          <p:cNvSpPr/>
          <p:nvPr/>
        </p:nvSpPr>
        <p:spPr>
          <a:xfrm>
            <a:off x="5513388" y="5046662"/>
            <a:ext cx="654050" cy="3635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86" name=""/>
          <p:cNvSpPr/>
          <p:nvPr/>
        </p:nvSpPr>
        <p:spPr>
          <a:xfrm>
            <a:off x="5610225" y="5032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87" name=""/>
          <p:cNvSpPr/>
          <p:nvPr/>
        </p:nvSpPr>
        <p:spPr>
          <a:xfrm>
            <a:off x="4948238" y="3462338"/>
            <a:ext cx="685800" cy="347662"/>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88" name=""/>
          <p:cNvSpPr/>
          <p:nvPr/>
        </p:nvSpPr>
        <p:spPr>
          <a:xfrm>
            <a:off x="5043488" y="3448050"/>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89" name=""/>
          <p:cNvSpPr/>
          <p:nvPr/>
        </p:nvSpPr>
        <p:spPr>
          <a:xfrm>
            <a:off x="7843838" y="4267200"/>
            <a:ext cx="685800" cy="381000"/>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190" name=""/>
          <p:cNvSpPr/>
          <p:nvPr/>
        </p:nvSpPr>
        <p:spPr>
          <a:xfrm>
            <a:off x="7920038" y="4267200"/>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191" name=""/>
          <p:cNvSpPr/>
          <p:nvPr/>
        </p:nvSpPr>
        <p:spPr>
          <a:xfrm>
            <a:off x="5060950" y="298450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192" name=""/>
          <p:cNvSpPr/>
          <p:nvPr/>
        </p:nvSpPr>
        <p:spPr>
          <a:xfrm>
            <a:off x="6926262" y="298450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No</a:t>
            </a:r>
          </a:p>
        </p:txBody>
      </p:sp>
      <p:sp>
        <p:nvSpPr>
          <p:cNvPr id="2193" name=""/>
          <p:cNvSpPr/>
          <p:nvPr/>
        </p:nvSpPr>
        <p:spPr>
          <a:xfrm>
            <a:off x="7908925" y="3749675"/>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194" name=""/>
          <p:cNvSpPr/>
          <p:nvPr/>
        </p:nvSpPr>
        <p:spPr>
          <a:xfrm>
            <a:off x="5692775" y="3778250"/>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195" name=""/>
          <p:cNvSpPr/>
          <p:nvPr/>
        </p:nvSpPr>
        <p:spPr>
          <a:xfrm>
            <a:off x="5313362" y="4570412"/>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196" name=""/>
          <p:cNvSpPr/>
          <p:nvPr/>
        </p:nvSpPr>
        <p:spPr>
          <a:xfrm>
            <a:off x="7088188" y="4570412"/>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sp>
        <p:nvSpPr>
          <p:cNvPr id="2197" name=""/>
          <p:cNvSpPr/>
          <p:nvPr/>
        </p:nvSpPr>
        <p:spPr>
          <a:xfrm>
            <a:off x="6427788" y="1766888"/>
            <a:ext cx="2241550" cy="366712"/>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800" b="1" i="1" u="none">
                <a:solidFill>
                  <a:srgbClr val="FF0000"/>
                </a:solidFill>
                <a:latin typeface="Arial" pitchFamily="34" charset="0"/>
                <a:ea typeface="宋体" pitchFamily="2" charset="-122"/>
              </a:rPr>
              <a:t>Splitting Attributes</a:t>
            </a:r>
          </a:p>
        </p:txBody>
      </p:sp>
      <p:cxnSp>
        <p:nvCxnSpPr>
          <p:cNvPr id="2198" name=""/>
          <p:cNvCxnSpPr/>
          <p:nvPr/>
        </p:nvCxnSpPr>
        <p:spPr>
          <a:xfrm flipH="1">
            <a:off x="6805612" y="2147888"/>
            <a:ext cx="536575" cy="534988"/>
          </a:xfrm>
          <a:prstGeom prst="line">
            <a:avLst/>
          </a:prstGeom>
          <a:noFill/>
          <a:ln w="15875" cap="flat">
            <a:solidFill>
              <a:srgbClr val="FF0000"/>
            </a:solidFill>
            <a:prstDash val="dash"/>
            <a:miter lim="800000"/>
            <a:headEnd type="none" w="med" len="med"/>
            <a:tailEnd type="triangle" w="med" len="med"/>
          </a:ln>
        </p:spPr>
      </p:cxnSp>
      <p:sp>
        <p:nvSpPr>
          <p:cNvPr id="2199" name=""/>
          <p:cNvSpPr/>
          <p:nvPr/>
        </p:nvSpPr>
        <p:spPr>
          <a:xfrm>
            <a:off x="3810000" y="3810000"/>
            <a:ext cx="914400" cy="293688"/>
          </a:xfrm>
          <a:prstGeom prst="rightArrow">
            <a:avLst>
              <a:gd name="adj1" fmla="val 50000"/>
              <a:gd name="adj2" fmla="val 77477"/>
            </a:avLst>
          </a:prstGeom>
          <a:solidFill>
            <a:srgbClr val="CC0000"/>
          </a:solidFill>
          <a:ln w="12700" cap="flat">
            <a:solidFill>
              <a:srgbClr val="CC0000"/>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cxnSp>
        <p:nvCxnSpPr>
          <p:cNvPr id="2200" name=""/>
          <p:cNvCxnSpPr/>
          <p:nvPr/>
        </p:nvCxnSpPr>
        <p:spPr>
          <a:xfrm>
            <a:off x="7418388" y="2147888"/>
            <a:ext cx="76200" cy="1144588"/>
          </a:xfrm>
          <a:prstGeom prst="line">
            <a:avLst/>
          </a:prstGeom>
          <a:noFill/>
          <a:ln w="15875" cap="flat">
            <a:solidFill>
              <a:srgbClr val="FF0000"/>
            </a:solidFill>
            <a:prstDash val="dash"/>
            <a:miter lim="800000"/>
            <a:headEnd type="none" w="med" len="med"/>
            <a:tailEnd type="triangle" w="med" len="med"/>
          </a:ln>
        </p:spPr>
      </p:cxnSp>
      <p:sp>
        <p:nvSpPr>
          <p:cNvPr id="2201" name=""/>
          <p:cNvSpPr/>
          <p:nvPr/>
        </p:nvSpPr>
        <p:spPr>
          <a:xfrm>
            <a:off x="762000" y="5867400"/>
            <a:ext cx="25146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训练数据</a:t>
            </a:r>
          </a:p>
        </p:txBody>
      </p:sp>
      <p:sp>
        <p:nvSpPr>
          <p:cNvPr id="2202" name=""/>
          <p:cNvSpPr/>
          <p:nvPr/>
        </p:nvSpPr>
        <p:spPr>
          <a:xfrm>
            <a:off x="5029200" y="5835650"/>
            <a:ext cx="3124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模型</a:t>
            </a:r>
            <a:r>
              <a:rPr kumimoji="0" lang="en-US" altLang="zh-CN" sz="2000" b="1" u="none">
                <a:solidFill>
                  <a:schemeClr val="tx2"/>
                </a:solidFill>
                <a:latin typeface="Arial" pitchFamily="34" charset="0"/>
                <a:ea typeface="宋体" pitchFamily="2" charset="-122"/>
              </a:rPr>
              <a:t>:  </a:t>
            </a:r>
            <a:r>
              <a:rPr kumimoji="0" lang="zh-CN" altLang="en-US" sz="2000" b="1" u="none">
                <a:solidFill>
                  <a:schemeClr val="tx2"/>
                </a:solidFill>
                <a:latin typeface="Arial" pitchFamily="34" charset="0"/>
                <a:ea typeface="宋体" pitchFamily="2" charset="-122"/>
              </a:rPr>
              <a:t>决策树</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20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p>
        </p:txBody>
      </p:sp>
      <p:grpSp>
        <p:nvGrpSpPr>
          <p:cNvPr id="2206" name=""/>
          <p:cNvGrpSpPr/>
          <p:nvPr/>
        </p:nvGrpSpPr>
        <p:grpSpPr>
          <a:xfrm>
            <a:off x="685800" y="2362200"/>
            <a:ext cx="4267200" cy="3298825"/>
            <a:chOff x="384" y="1584"/>
            <a:chExt cx="2451" cy="1694"/>
          </a:xfrm>
        </p:grpSpPr>
        <p:cxnSp>
          <p:nvCxnSpPr>
            <p:cNvPr id="2207" name=""/>
            <p:cNvCxnSpPr/>
            <p:nvPr/>
          </p:nvCxnSpPr>
          <p:spPr>
            <a:xfrm>
              <a:off x="1655" y="2708"/>
              <a:ext cx="153" cy="332"/>
            </a:xfrm>
            <a:prstGeom prst="line">
              <a:avLst/>
            </a:prstGeom>
            <a:noFill/>
            <a:ln w="12700" cap="flat">
              <a:solidFill>
                <a:srgbClr val="000000"/>
              </a:solidFill>
              <a:prstDash val="solid"/>
              <a:miter lim="800000"/>
              <a:headEnd type="none" w="med" len="med"/>
              <a:tailEnd type="triangle" w="med" len="med"/>
            </a:ln>
          </p:spPr>
        </p:cxnSp>
        <p:cxnSp>
          <p:nvCxnSpPr>
            <p:cNvPr id="2208" name=""/>
            <p:cNvCxnSpPr/>
            <p:nvPr/>
          </p:nvCxnSpPr>
          <p:spPr>
            <a:xfrm flipH="1">
              <a:off x="943" y="2708"/>
              <a:ext cx="204" cy="332"/>
            </a:xfrm>
            <a:prstGeom prst="line">
              <a:avLst/>
            </a:prstGeom>
            <a:noFill/>
            <a:ln w="12700" cap="flat">
              <a:solidFill>
                <a:srgbClr val="000000"/>
              </a:solidFill>
              <a:prstDash val="solid"/>
              <a:miter lim="800000"/>
              <a:headEnd type="none" w="med" len="med"/>
              <a:tailEnd type="triangle" w="med" len="med"/>
            </a:ln>
          </p:spPr>
        </p:cxnSp>
        <p:cxnSp>
          <p:nvCxnSpPr>
            <p:cNvPr id="2209" name=""/>
            <p:cNvCxnSpPr/>
            <p:nvPr/>
          </p:nvCxnSpPr>
          <p:spPr>
            <a:xfrm flipH="1">
              <a:off x="1350" y="2208"/>
              <a:ext cx="254" cy="333"/>
            </a:xfrm>
            <a:prstGeom prst="line">
              <a:avLst/>
            </a:prstGeom>
            <a:noFill/>
            <a:ln w="12700" cap="flat">
              <a:solidFill>
                <a:srgbClr val="000000"/>
              </a:solidFill>
              <a:prstDash val="solid"/>
              <a:miter lim="800000"/>
              <a:headEnd type="none" w="med" len="med"/>
              <a:tailEnd type="triangle" w="med" len="med"/>
            </a:ln>
          </p:spPr>
        </p:cxnSp>
        <p:cxnSp>
          <p:nvCxnSpPr>
            <p:cNvPr id="2210" name=""/>
            <p:cNvCxnSpPr/>
            <p:nvPr/>
          </p:nvCxnSpPr>
          <p:spPr>
            <a:xfrm>
              <a:off x="2113" y="2208"/>
              <a:ext cx="305" cy="333"/>
            </a:xfrm>
            <a:prstGeom prst="line">
              <a:avLst/>
            </a:prstGeom>
            <a:noFill/>
            <a:ln w="12700" cap="flat">
              <a:solidFill>
                <a:srgbClr val="000000"/>
              </a:solidFill>
              <a:prstDash val="solid"/>
              <a:miter lim="800000"/>
              <a:headEnd type="none" w="med" len="med"/>
              <a:tailEnd type="triangle" w="med" len="med"/>
            </a:ln>
          </p:spPr>
        </p:cxnSp>
        <p:cxnSp>
          <p:nvCxnSpPr>
            <p:cNvPr id="2211" name=""/>
            <p:cNvCxnSpPr/>
            <p:nvPr/>
          </p:nvCxnSpPr>
          <p:spPr>
            <a:xfrm>
              <a:off x="1452" y="1750"/>
              <a:ext cx="356" cy="292"/>
            </a:xfrm>
            <a:prstGeom prst="line">
              <a:avLst/>
            </a:prstGeom>
            <a:noFill/>
            <a:ln w="12700" cap="flat">
              <a:solidFill>
                <a:srgbClr val="000000"/>
              </a:solidFill>
              <a:prstDash val="solid"/>
              <a:miter lim="800000"/>
              <a:headEnd type="none" w="med" len="med"/>
              <a:tailEnd type="triangle" w="med" len="med"/>
            </a:ln>
          </p:spPr>
        </p:cxnSp>
        <p:cxnSp>
          <p:nvCxnSpPr>
            <p:cNvPr id="2212" name=""/>
            <p:cNvCxnSpPr/>
            <p:nvPr/>
          </p:nvCxnSpPr>
          <p:spPr>
            <a:xfrm flipH="1">
              <a:off x="587" y="1750"/>
              <a:ext cx="356" cy="292"/>
            </a:xfrm>
            <a:prstGeom prst="line">
              <a:avLst/>
            </a:prstGeom>
            <a:noFill/>
            <a:ln w="12700" cap="flat">
              <a:solidFill>
                <a:srgbClr val="000000"/>
              </a:solidFill>
              <a:prstDash val="solid"/>
              <a:miter lim="800000"/>
              <a:headEnd type="none" w="med" len="med"/>
              <a:tailEnd type="triangle" w="med" len="med"/>
            </a:ln>
          </p:spPr>
        </p:cxnSp>
        <p:sp>
          <p:nvSpPr>
            <p:cNvPr id="2213" name=""/>
            <p:cNvSpPr/>
            <p:nvPr/>
          </p:nvSpPr>
          <p:spPr>
            <a:xfrm>
              <a:off x="913" y="1584"/>
              <a:ext cx="590"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214" name=""/>
            <p:cNvSpPr/>
            <p:nvPr/>
          </p:nvSpPr>
          <p:spPr>
            <a:xfrm>
              <a:off x="1553" y="2042"/>
              <a:ext cx="589"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215" name=""/>
            <p:cNvSpPr/>
            <p:nvPr/>
          </p:nvSpPr>
          <p:spPr>
            <a:xfrm>
              <a:off x="1096" y="2541"/>
              <a:ext cx="610"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216" name=""/>
            <p:cNvSpPr/>
            <p:nvPr/>
          </p:nvSpPr>
          <p:spPr>
            <a:xfrm>
              <a:off x="1680" y="3038"/>
              <a:ext cx="395" cy="231"/>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17" name=""/>
            <p:cNvSpPr/>
            <p:nvPr/>
          </p:nvSpPr>
          <p:spPr>
            <a:xfrm>
              <a:off x="1632" y="3038"/>
              <a:ext cx="432" cy="173"/>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218" name=""/>
            <p:cNvSpPr/>
            <p:nvPr/>
          </p:nvSpPr>
          <p:spPr>
            <a:xfrm>
              <a:off x="740" y="3049"/>
              <a:ext cx="412" cy="229"/>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19" name=""/>
            <p:cNvSpPr/>
            <p:nvPr/>
          </p:nvSpPr>
          <p:spPr>
            <a:xfrm>
              <a:off x="814" y="3040"/>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20" name=""/>
            <p:cNvSpPr/>
            <p:nvPr/>
          </p:nvSpPr>
          <p:spPr>
            <a:xfrm>
              <a:off x="384" y="2051"/>
              <a:ext cx="432" cy="219"/>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21" name=""/>
            <p:cNvSpPr/>
            <p:nvPr/>
          </p:nvSpPr>
          <p:spPr>
            <a:xfrm>
              <a:off x="458" y="2042"/>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22" name=""/>
            <p:cNvSpPr/>
            <p:nvPr/>
          </p:nvSpPr>
          <p:spPr>
            <a:xfrm>
              <a:off x="2208" y="2558"/>
              <a:ext cx="432" cy="240"/>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23" name=""/>
            <p:cNvSpPr/>
            <p:nvPr/>
          </p:nvSpPr>
          <p:spPr>
            <a:xfrm>
              <a:off x="2270" y="2558"/>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24" name=""/>
            <p:cNvSpPr/>
            <p:nvPr/>
          </p:nvSpPr>
          <p:spPr>
            <a:xfrm>
              <a:off x="484" y="1750"/>
              <a:ext cx="307"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225" name=""/>
            <p:cNvSpPr/>
            <p:nvPr/>
          </p:nvSpPr>
          <p:spPr>
            <a:xfrm>
              <a:off x="1654" y="1750"/>
              <a:ext cx="255"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No</a:t>
              </a:r>
            </a:p>
          </p:txBody>
        </p:sp>
        <p:sp>
          <p:nvSpPr>
            <p:cNvPr id="2226" name=""/>
            <p:cNvSpPr/>
            <p:nvPr/>
          </p:nvSpPr>
          <p:spPr>
            <a:xfrm>
              <a:off x="2301" y="2232"/>
              <a:ext cx="53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227" name=""/>
            <p:cNvSpPr/>
            <p:nvPr/>
          </p:nvSpPr>
          <p:spPr>
            <a:xfrm>
              <a:off x="945" y="2250"/>
              <a:ext cx="95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228" name=""/>
            <p:cNvSpPr/>
            <p:nvPr/>
          </p:nvSpPr>
          <p:spPr>
            <a:xfrm>
              <a:off x="654" y="2749"/>
              <a:ext cx="41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229" name=""/>
            <p:cNvSpPr/>
            <p:nvPr/>
          </p:nvSpPr>
          <p:spPr>
            <a:xfrm>
              <a:off x="1772" y="2749"/>
              <a:ext cx="41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pSp>
      <p:graphicFrame>
        <p:nvGraphicFramePr>
          <p:cNvPr id="2230"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3"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231"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sp>
        <p:nvSpPr>
          <p:cNvPr id="2232" name=""/>
          <p:cNvSpPr/>
          <p:nvPr/>
        </p:nvSpPr>
        <p:spPr>
          <a:xfrm>
            <a:off x="990600" y="1447800"/>
            <a:ext cx="34290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eaLnBrk="0" fontAlgn="base" hangingPunct="0">
              <a:lnSpc>
                <a:spcPct val="80000"/>
              </a:lnSpc>
              <a:spcBef>
                <a:spcPct val="20000"/>
              </a:spcBef>
              <a:spcAft>
                <a:spcPct val="0"/>
              </a:spcAft>
              <a:buClr>
                <a:schemeClr val="accent2"/>
              </a:buClr>
              <a:buSzPct val="75000"/>
              <a:buFont typeface="Monotype Sorts" pitchFamily="2" charset="2"/>
            </a:pPr>
            <a:r>
              <a:rPr kumimoji="0" lang="en-US" altLang="zh-CN" sz="2000" u="none">
                <a:latin typeface="Arial" pitchFamily="34" charset="0"/>
                <a:ea typeface="宋体" pitchFamily="2" charset="-122"/>
              </a:rPr>
              <a:t>Start from the root of tree.</a:t>
            </a:r>
          </a:p>
        </p:txBody>
      </p:sp>
      <p:cxnSp>
        <p:nvCxnSpPr>
          <p:cNvPr id="2233" name=""/>
          <p:cNvCxnSpPr/>
          <p:nvPr/>
        </p:nvCxnSpPr>
        <p:spPr>
          <a:xfrm flipH="1">
            <a:off x="2133600" y="1828800"/>
            <a:ext cx="0" cy="457200"/>
          </a:xfrm>
          <a:prstGeom prst="line">
            <a:avLst/>
          </a:prstGeom>
          <a:noFill/>
          <a:ln w="15875" cap="flat">
            <a:solidFill>
              <a:srgbClr val="FF0000"/>
            </a:solidFill>
            <a:prstDash val="dash"/>
            <a:miter lim="800000"/>
            <a:headEnd type="none" w="med" len="med"/>
            <a:tailEnd type="triangle" w="med" len="med"/>
          </a:ln>
        </p:spPr>
      </p:cxnSp>
    </p:spTree>
  </p:cSld>
  <p:clrMapOvr>
    <a:masterClrMapping/>
  </p:clrMapOvr>
  <p:transition/>
  <p:timing/>
</p:sld>
</file>

<file path=ppt/slides/slide1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236"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endParaRPr lang="en-US" altLang="zh-CN">
              <a:ea typeface="宋体" pitchFamily="2" charset="-122"/>
            </a:endParaRPr>
          </a:p>
        </p:txBody>
      </p:sp>
      <p:grpSp>
        <p:nvGrpSpPr>
          <p:cNvPr id="2237" name=""/>
          <p:cNvGrpSpPr/>
          <p:nvPr/>
        </p:nvGrpSpPr>
        <p:grpSpPr>
          <a:xfrm>
            <a:off x="685800" y="2362200"/>
            <a:ext cx="4267200" cy="3298825"/>
            <a:chOff x="384" y="1584"/>
            <a:chExt cx="2451" cy="1694"/>
          </a:xfrm>
        </p:grpSpPr>
        <p:cxnSp>
          <p:nvCxnSpPr>
            <p:cNvPr id="2238" name=""/>
            <p:cNvCxnSpPr/>
            <p:nvPr/>
          </p:nvCxnSpPr>
          <p:spPr>
            <a:xfrm>
              <a:off x="1655" y="2708"/>
              <a:ext cx="153" cy="332"/>
            </a:xfrm>
            <a:prstGeom prst="line">
              <a:avLst/>
            </a:prstGeom>
            <a:noFill/>
            <a:ln w="12700" cap="flat">
              <a:solidFill>
                <a:srgbClr val="000000"/>
              </a:solidFill>
              <a:prstDash val="solid"/>
              <a:miter lim="800000"/>
              <a:headEnd type="none" w="med" len="med"/>
              <a:tailEnd type="triangle" w="med" len="med"/>
            </a:ln>
          </p:spPr>
        </p:cxnSp>
        <p:cxnSp>
          <p:nvCxnSpPr>
            <p:cNvPr id="2239" name=""/>
            <p:cNvCxnSpPr/>
            <p:nvPr/>
          </p:nvCxnSpPr>
          <p:spPr>
            <a:xfrm flipH="1">
              <a:off x="943" y="2708"/>
              <a:ext cx="204" cy="332"/>
            </a:xfrm>
            <a:prstGeom prst="line">
              <a:avLst/>
            </a:prstGeom>
            <a:noFill/>
            <a:ln w="12700" cap="flat">
              <a:solidFill>
                <a:srgbClr val="000000"/>
              </a:solidFill>
              <a:prstDash val="solid"/>
              <a:miter lim="800000"/>
              <a:headEnd type="none" w="med" len="med"/>
              <a:tailEnd type="triangle" w="med" len="med"/>
            </a:ln>
          </p:spPr>
        </p:cxnSp>
        <p:cxnSp>
          <p:nvCxnSpPr>
            <p:cNvPr id="2240" name=""/>
            <p:cNvCxnSpPr/>
            <p:nvPr/>
          </p:nvCxnSpPr>
          <p:spPr>
            <a:xfrm flipH="1">
              <a:off x="1350" y="2208"/>
              <a:ext cx="254" cy="333"/>
            </a:xfrm>
            <a:prstGeom prst="line">
              <a:avLst/>
            </a:prstGeom>
            <a:noFill/>
            <a:ln w="12700" cap="flat">
              <a:solidFill>
                <a:srgbClr val="000000"/>
              </a:solidFill>
              <a:prstDash val="solid"/>
              <a:miter lim="800000"/>
              <a:headEnd type="none" w="med" len="med"/>
              <a:tailEnd type="triangle" w="med" len="med"/>
            </a:ln>
          </p:spPr>
        </p:cxnSp>
        <p:cxnSp>
          <p:nvCxnSpPr>
            <p:cNvPr id="2241" name=""/>
            <p:cNvCxnSpPr/>
            <p:nvPr/>
          </p:nvCxnSpPr>
          <p:spPr>
            <a:xfrm>
              <a:off x="2113" y="2208"/>
              <a:ext cx="305" cy="333"/>
            </a:xfrm>
            <a:prstGeom prst="line">
              <a:avLst/>
            </a:prstGeom>
            <a:noFill/>
            <a:ln w="12700" cap="flat">
              <a:solidFill>
                <a:srgbClr val="000000"/>
              </a:solidFill>
              <a:prstDash val="solid"/>
              <a:miter lim="800000"/>
              <a:headEnd type="none" w="med" len="med"/>
              <a:tailEnd type="triangle" w="med" len="med"/>
            </a:ln>
          </p:spPr>
        </p:cxnSp>
        <p:cxnSp>
          <p:nvCxnSpPr>
            <p:cNvPr id="2242" name=""/>
            <p:cNvCxnSpPr/>
            <p:nvPr/>
          </p:nvCxnSpPr>
          <p:spPr>
            <a:xfrm>
              <a:off x="1452" y="1750"/>
              <a:ext cx="356" cy="292"/>
            </a:xfrm>
            <a:prstGeom prst="line">
              <a:avLst/>
            </a:prstGeom>
            <a:noFill/>
            <a:ln w="12700" cap="flat">
              <a:solidFill>
                <a:srgbClr val="000000"/>
              </a:solidFill>
              <a:prstDash val="solid"/>
              <a:miter lim="800000"/>
              <a:headEnd type="none" w="med" len="med"/>
              <a:tailEnd type="triangle" w="med" len="med"/>
            </a:ln>
          </p:spPr>
        </p:cxnSp>
        <p:cxnSp>
          <p:nvCxnSpPr>
            <p:cNvPr id="2243" name=""/>
            <p:cNvCxnSpPr/>
            <p:nvPr/>
          </p:nvCxnSpPr>
          <p:spPr>
            <a:xfrm flipH="1">
              <a:off x="587" y="1750"/>
              <a:ext cx="356" cy="292"/>
            </a:xfrm>
            <a:prstGeom prst="line">
              <a:avLst/>
            </a:prstGeom>
            <a:noFill/>
            <a:ln w="12700" cap="flat">
              <a:solidFill>
                <a:srgbClr val="000000"/>
              </a:solidFill>
              <a:prstDash val="solid"/>
              <a:miter lim="800000"/>
              <a:headEnd type="none" w="med" len="med"/>
              <a:tailEnd type="triangle" w="med" len="med"/>
            </a:ln>
          </p:spPr>
        </p:cxnSp>
        <p:sp>
          <p:nvSpPr>
            <p:cNvPr id="2244" name=""/>
            <p:cNvSpPr/>
            <p:nvPr/>
          </p:nvSpPr>
          <p:spPr>
            <a:xfrm>
              <a:off x="913" y="1584"/>
              <a:ext cx="590"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245" name=""/>
            <p:cNvSpPr/>
            <p:nvPr/>
          </p:nvSpPr>
          <p:spPr>
            <a:xfrm>
              <a:off x="1553" y="2042"/>
              <a:ext cx="589"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246" name=""/>
            <p:cNvSpPr/>
            <p:nvPr/>
          </p:nvSpPr>
          <p:spPr>
            <a:xfrm>
              <a:off x="1096" y="2541"/>
              <a:ext cx="610" cy="179"/>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247" name=""/>
            <p:cNvSpPr/>
            <p:nvPr/>
          </p:nvSpPr>
          <p:spPr>
            <a:xfrm>
              <a:off x="1680" y="3038"/>
              <a:ext cx="395" cy="231"/>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48" name=""/>
            <p:cNvSpPr/>
            <p:nvPr/>
          </p:nvSpPr>
          <p:spPr>
            <a:xfrm>
              <a:off x="1632" y="3038"/>
              <a:ext cx="432" cy="173"/>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249" name=""/>
            <p:cNvSpPr/>
            <p:nvPr/>
          </p:nvSpPr>
          <p:spPr>
            <a:xfrm>
              <a:off x="740" y="3049"/>
              <a:ext cx="412" cy="229"/>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50" name=""/>
            <p:cNvSpPr/>
            <p:nvPr/>
          </p:nvSpPr>
          <p:spPr>
            <a:xfrm>
              <a:off x="814" y="3040"/>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51" name=""/>
            <p:cNvSpPr/>
            <p:nvPr/>
          </p:nvSpPr>
          <p:spPr>
            <a:xfrm>
              <a:off x="384" y="2051"/>
              <a:ext cx="432" cy="219"/>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52" name=""/>
            <p:cNvSpPr/>
            <p:nvPr/>
          </p:nvSpPr>
          <p:spPr>
            <a:xfrm>
              <a:off x="458" y="2042"/>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53" name=""/>
            <p:cNvSpPr/>
            <p:nvPr/>
          </p:nvSpPr>
          <p:spPr>
            <a:xfrm>
              <a:off x="2208" y="2558"/>
              <a:ext cx="432" cy="240"/>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54" name=""/>
            <p:cNvSpPr/>
            <p:nvPr/>
          </p:nvSpPr>
          <p:spPr>
            <a:xfrm>
              <a:off x="2270" y="2558"/>
              <a:ext cx="281"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55" name=""/>
            <p:cNvSpPr/>
            <p:nvPr/>
          </p:nvSpPr>
          <p:spPr>
            <a:xfrm>
              <a:off x="484" y="1750"/>
              <a:ext cx="307"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256" name=""/>
            <p:cNvSpPr/>
            <p:nvPr/>
          </p:nvSpPr>
          <p:spPr>
            <a:xfrm>
              <a:off x="1654" y="1750"/>
              <a:ext cx="255"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No</a:t>
              </a:r>
            </a:p>
          </p:txBody>
        </p:sp>
        <p:sp>
          <p:nvSpPr>
            <p:cNvPr id="2257" name=""/>
            <p:cNvSpPr/>
            <p:nvPr/>
          </p:nvSpPr>
          <p:spPr>
            <a:xfrm>
              <a:off x="2301" y="2232"/>
              <a:ext cx="53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258" name=""/>
            <p:cNvSpPr/>
            <p:nvPr/>
          </p:nvSpPr>
          <p:spPr>
            <a:xfrm>
              <a:off x="945" y="2250"/>
              <a:ext cx="95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259" name=""/>
            <p:cNvSpPr/>
            <p:nvPr/>
          </p:nvSpPr>
          <p:spPr>
            <a:xfrm>
              <a:off x="654" y="2749"/>
              <a:ext cx="41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260" name=""/>
            <p:cNvSpPr/>
            <p:nvPr/>
          </p:nvSpPr>
          <p:spPr>
            <a:xfrm>
              <a:off x="1772" y="2749"/>
              <a:ext cx="414" cy="173"/>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pSp>
      <p:graphicFrame>
        <p:nvGraphicFramePr>
          <p:cNvPr id="2261"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4"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262"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cxnSp>
        <p:nvCxnSpPr>
          <p:cNvPr id="2263" name=""/>
          <p:cNvCxnSpPr/>
          <p:nvPr/>
        </p:nvCxnSpPr>
        <p:spPr>
          <a:xfrm flipH="1">
            <a:off x="2667000" y="1828800"/>
            <a:ext cx="2362200" cy="685800"/>
          </a:xfrm>
          <a:prstGeom prst="line">
            <a:avLst/>
          </a:prstGeom>
          <a:noFill/>
          <a:ln w="15875" cap="flat">
            <a:solidFill>
              <a:srgbClr val="FF0000"/>
            </a:solidFill>
            <a:prstDash val="dash"/>
            <a:miter lim="800000"/>
            <a:headEnd type="triangle" w="med" len="med"/>
            <a:tailEnd type="none" w="med" len="med"/>
          </a:ln>
        </p:spPr>
      </p:cxnSp>
    </p:spTree>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266"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endParaRPr lang="en-US" altLang="zh-CN">
              <a:ea typeface="宋体" pitchFamily="2" charset="-122"/>
            </a:endParaRPr>
          </a:p>
        </p:txBody>
      </p:sp>
      <p:cxnSp>
        <p:nvCxnSpPr>
          <p:cNvPr id="2267" name=""/>
          <p:cNvCxnSpPr/>
          <p:nvPr/>
        </p:nvCxnSpPr>
        <p:spPr>
          <a:xfrm>
            <a:off x="2898775" y="4551362"/>
            <a:ext cx="266700" cy="646112"/>
          </a:xfrm>
          <a:prstGeom prst="line">
            <a:avLst/>
          </a:prstGeom>
          <a:noFill/>
          <a:ln w="12700" cap="flat">
            <a:solidFill>
              <a:srgbClr val="000000"/>
            </a:solidFill>
            <a:prstDash val="solid"/>
            <a:miter lim="800000"/>
            <a:headEnd type="none" w="med" len="med"/>
            <a:tailEnd type="triangle" w="med" len="med"/>
          </a:ln>
        </p:spPr>
      </p:cxnSp>
      <p:cxnSp>
        <p:nvCxnSpPr>
          <p:cNvPr id="2268" name=""/>
          <p:cNvCxnSpPr/>
          <p:nvPr/>
        </p:nvCxnSpPr>
        <p:spPr>
          <a:xfrm flipH="1">
            <a:off x="1658938" y="4551362"/>
            <a:ext cx="355600" cy="646112"/>
          </a:xfrm>
          <a:prstGeom prst="line">
            <a:avLst/>
          </a:prstGeom>
          <a:noFill/>
          <a:ln w="12700" cap="flat">
            <a:solidFill>
              <a:srgbClr val="000000"/>
            </a:solidFill>
            <a:prstDash val="solid"/>
            <a:miter lim="800000"/>
            <a:headEnd type="none" w="med" len="med"/>
            <a:tailEnd type="triangle" w="med" len="med"/>
          </a:ln>
        </p:spPr>
      </p:cxnSp>
      <p:cxnSp>
        <p:nvCxnSpPr>
          <p:cNvPr id="2269" name=""/>
          <p:cNvCxnSpPr/>
          <p:nvPr/>
        </p:nvCxnSpPr>
        <p:spPr>
          <a:xfrm flipH="1">
            <a:off x="2366962" y="3576638"/>
            <a:ext cx="442912" cy="649288"/>
          </a:xfrm>
          <a:prstGeom prst="line">
            <a:avLst/>
          </a:prstGeom>
          <a:noFill/>
          <a:ln w="12700" cap="flat">
            <a:solidFill>
              <a:srgbClr val="000000"/>
            </a:solidFill>
            <a:prstDash val="solid"/>
            <a:miter lim="800000"/>
            <a:headEnd type="none" w="med" len="med"/>
            <a:tailEnd type="triangle" w="med" len="med"/>
          </a:ln>
        </p:spPr>
      </p:cxnSp>
      <p:cxnSp>
        <p:nvCxnSpPr>
          <p:cNvPr id="2270" name=""/>
          <p:cNvCxnSpPr/>
          <p:nvPr/>
        </p:nvCxnSpPr>
        <p:spPr>
          <a:xfrm>
            <a:off x="3695700" y="3576638"/>
            <a:ext cx="531812" cy="649288"/>
          </a:xfrm>
          <a:prstGeom prst="line">
            <a:avLst/>
          </a:prstGeom>
          <a:noFill/>
          <a:ln w="12700" cap="flat">
            <a:solidFill>
              <a:srgbClr val="000000"/>
            </a:solidFill>
            <a:prstDash val="solid"/>
            <a:miter lim="800000"/>
            <a:headEnd type="none" w="med" len="med"/>
            <a:tailEnd type="triangle" w="med" len="med"/>
          </a:ln>
        </p:spPr>
      </p:cxnSp>
      <p:cxnSp>
        <p:nvCxnSpPr>
          <p:cNvPr id="2271" name=""/>
          <p:cNvCxnSpPr/>
          <p:nvPr/>
        </p:nvCxnSpPr>
        <p:spPr>
          <a:xfrm>
            <a:off x="2544762" y="2686050"/>
            <a:ext cx="620712" cy="568325"/>
          </a:xfrm>
          <a:prstGeom prst="line">
            <a:avLst/>
          </a:prstGeom>
          <a:noFill/>
          <a:ln w="38100" cap="flat">
            <a:solidFill>
              <a:srgbClr val="FF0000"/>
            </a:solidFill>
            <a:prstDash val="solid"/>
            <a:miter lim="800000"/>
            <a:headEnd type="none" w="med" len="med"/>
            <a:tailEnd type="triangle" w="med" len="med"/>
          </a:ln>
        </p:spPr>
      </p:cxnSp>
      <p:cxnSp>
        <p:nvCxnSpPr>
          <p:cNvPr id="2272" name=""/>
          <p:cNvCxnSpPr/>
          <p:nvPr/>
        </p:nvCxnSpPr>
        <p:spPr>
          <a:xfrm flipH="1">
            <a:off x="1039812" y="2686050"/>
            <a:ext cx="619125" cy="568325"/>
          </a:xfrm>
          <a:prstGeom prst="line">
            <a:avLst/>
          </a:prstGeom>
          <a:noFill/>
          <a:ln w="12700" cap="flat">
            <a:solidFill>
              <a:srgbClr val="000000"/>
            </a:solidFill>
            <a:prstDash val="solid"/>
            <a:miter lim="800000"/>
            <a:headEnd type="none" w="med" len="med"/>
            <a:tailEnd type="triangle" w="med" len="med"/>
          </a:ln>
        </p:spPr>
      </p:cxnSp>
      <p:sp>
        <p:nvSpPr>
          <p:cNvPr id="2273" name=""/>
          <p:cNvSpPr/>
          <p:nvPr/>
        </p:nvSpPr>
        <p:spPr>
          <a:xfrm>
            <a:off x="1606550" y="2362200"/>
            <a:ext cx="1027112"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274" name=""/>
          <p:cNvSpPr/>
          <p:nvPr/>
        </p:nvSpPr>
        <p:spPr>
          <a:xfrm>
            <a:off x="2720975" y="3254375"/>
            <a:ext cx="1025525" cy="347662"/>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275" name=""/>
          <p:cNvSpPr/>
          <p:nvPr/>
        </p:nvSpPr>
        <p:spPr>
          <a:xfrm>
            <a:off x="1925638" y="4225925"/>
            <a:ext cx="1062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276" name=""/>
          <p:cNvSpPr/>
          <p:nvPr/>
        </p:nvSpPr>
        <p:spPr>
          <a:xfrm>
            <a:off x="2941638" y="5194300"/>
            <a:ext cx="688975" cy="44926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77" name=""/>
          <p:cNvSpPr/>
          <p:nvPr/>
        </p:nvSpPr>
        <p:spPr>
          <a:xfrm>
            <a:off x="2859088" y="5194300"/>
            <a:ext cx="750888"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278" name=""/>
          <p:cNvSpPr/>
          <p:nvPr/>
        </p:nvSpPr>
        <p:spPr>
          <a:xfrm>
            <a:off x="1304925" y="5214938"/>
            <a:ext cx="717550" cy="44608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79" name=""/>
          <p:cNvSpPr/>
          <p:nvPr/>
        </p:nvSpPr>
        <p:spPr>
          <a:xfrm>
            <a:off x="1435100" y="51974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80" name=""/>
          <p:cNvSpPr/>
          <p:nvPr/>
        </p:nvSpPr>
        <p:spPr>
          <a:xfrm>
            <a:off x="685800" y="3271838"/>
            <a:ext cx="752475" cy="4270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81" name=""/>
          <p:cNvSpPr/>
          <p:nvPr/>
        </p:nvSpPr>
        <p:spPr>
          <a:xfrm>
            <a:off x="814388" y="3254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82" name=""/>
          <p:cNvSpPr/>
          <p:nvPr/>
        </p:nvSpPr>
        <p:spPr>
          <a:xfrm>
            <a:off x="3860800" y="4259262"/>
            <a:ext cx="752475" cy="466725"/>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283" name=""/>
          <p:cNvSpPr/>
          <p:nvPr/>
        </p:nvSpPr>
        <p:spPr>
          <a:xfrm>
            <a:off x="3968750" y="4259262"/>
            <a:ext cx="490538"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284" name=""/>
          <p:cNvSpPr/>
          <p:nvPr/>
        </p:nvSpPr>
        <p:spPr>
          <a:xfrm>
            <a:off x="860425" y="268605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285" name=""/>
          <p:cNvSpPr/>
          <p:nvPr/>
        </p:nvSpPr>
        <p:spPr>
          <a:xfrm>
            <a:off x="2897188" y="268605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No</a:t>
            </a:r>
          </a:p>
        </p:txBody>
      </p:sp>
      <p:sp>
        <p:nvSpPr>
          <p:cNvPr id="2286" name=""/>
          <p:cNvSpPr/>
          <p:nvPr/>
        </p:nvSpPr>
        <p:spPr>
          <a:xfrm>
            <a:off x="4022725" y="3624262"/>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287" name=""/>
          <p:cNvSpPr/>
          <p:nvPr/>
        </p:nvSpPr>
        <p:spPr>
          <a:xfrm>
            <a:off x="1662112" y="3659188"/>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288" name=""/>
          <p:cNvSpPr/>
          <p:nvPr/>
        </p:nvSpPr>
        <p:spPr>
          <a:xfrm>
            <a:off x="1155700"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289" name=""/>
          <p:cNvSpPr/>
          <p:nvPr/>
        </p:nvSpPr>
        <p:spPr>
          <a:xfrm>
            <a:off x="3101975"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aphicFrame>
        <p:nvGraphicFramePr>
          <p:cNvPr id="2290"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5"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291"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cxnSp>
        <p:nvCxnSpPr>
          <p:cNvPr id="2292" name=""/>
          <p:cNvCxnSpPr/>
          <p:nvPr/>
        </p:nvCxnSpPr>
        <p:spPr>
          <a:xfrm flipH="1">
            <a:off x="3352800" y="2362200"/>
            <a:ext cx="1600200" cy="457200"/>
          </a:xfrm>
          <a:prstGeom prst="line">
            <a:avLst/>
          </a:prstGeom>
          <a:noFill/>
          <a:ln w="15875" cap="flat">
            <a:solidFill>
              <a:srgbClr val="FF0000"/>
            </a:solidFill>
            <a:prstDash val="dash"/>
            <a:miter lim="800000"/>
            <a:headEnd type="triangle" w="med" len="med"/>
            <a:tailEnd type="triangle" w="med" len="med"/>
          </a:ln>
        </p:spPr>
      </p:cxnSp>
    </p:spTree>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29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endParaRPr lang="en-US" altLang="zh-CN">
              <a:ea typeface="宋体" pitchFamily="2" charset="-122"/>
            </a:endParaRPr>
          </a:p>
        </p:txBody>
      </p:sp>
      <p:cxnSp>
        <p:nvCxnSpPr>
          <p:cNvPr id="2296" name=""/>
          <p:cNvCxnSpPr/>
          <p:nvPr/>
        </p:nvCxnSpPr>
        <p:spPr>
          <a:xfrm>
            <a:off x="2898775" y="4551362"/>
            <a:ext cx="266700" cy="646112"/>
          </a:xfrm>
          <a:prstGeom prst="line">
            <a:avLst/>
          </a:prstGeom>
          <a:noFill/>
          <a:ln w="12700" cap="flat">
            <a:solidFill>
              <a:srgbClr val="000000"/>
            </a:solidFill>
            <a:prstDash val="solid"/>
            <a:miter lim="800000"/>
            <a:headEnd type="none" w="med" len="med"/>
            <a:tailEnd type="triangle" w="med" len="med"/>
          </a:ln>
        </p:spPr>
      </p:cxnSp>
      <p:cxnSp>
        <p:nvCxnSpPr>
          <p:cNvPr id="2297" name=""/>
          <p:cNvCxnSpPr/>
          <p:nvPr/>
        </p:nvCxnSpPr>
        <p:spPr>
          <a:xfrm flipH="1">
            <a:off x="1658938" y="4551362"/>
            <a:ext cx="355600" cy="646112"/>
          </a:xfrm>
          <a:prstGeom prst="line">
            <a:avLst/>
          </a:prstGeom>
          <a:noFill/>
          <a:ln w="12700" cap="flat">
            <a:solidFill>
              <a:srgbClr val="000000"/>
            </a:solidFill>
            <a:prstDash val="solid"/>
            <a:miter lim="800000"/>
            <a:headEnd type="none" w="med" len="med"/>
            <a:tailEnd type="triangle" w="med" len="med"/>
          </a:ln>
        </p:spPr>
      </p:cxnSp>
      <p:cxnSp>
        <p:nvCxnSpPr>
          <p:cNvPr id="2298" name=""/>
          <p:cNvCxnSpPr/>
          <p:nvPr/>
        </p:nvCxnSpPr>
        <p:spPr>
          <a:xfrm flipH="1">
            <a:off x="2366962" y="3576638"/>
            <a:ext cx="442912" cy="649288"/>
          </a:xfrm>
          <a:prstGeom prst="line">
            <a:avLst/>
          </a:prstGeom>
          <a:noFill/>
          <a:ln w="12700" cap="flat">
            <a:solidFill>
              <a:srgbClr val="000000"/>
            </a:solidFill>
            <a:prstDash val="solid"/>
            <a:miter lim="800000"/>
            <a:headEnd type="none" w="med" len="med"/>
            <a:tailEnd type="triangle" w="med" len="med"/>
          </a:ln>
        </p:spPr>
      </p:cxnSp>
      <p:cxnSp>
        <p:nvCxnSpPr>
          <p:cNvPr id="2299" name=""/>
          <p:cNvCxnSpPr/>
          <p:nvPr/>
        </p:nvCxnSpPr>
        <p:spPr>
          <a:xfrm>
            <a:off x="3695700" y="3576638"/>
            <a:ext cx="531812" cy="649288"/>
          </a:xfrm>
          <a:prstGeom prst="line">
            <a:avLst/>
          </a:prstGeom>
          <a:noFill/>
          <a:ln w="12700" cap="flat">
            <a:solidFill>
              <a:srgbClr val="000000"/>
            </a:solidFill>
            <a:prstDash val="solid"/>
            <a:miter lim="800000"/>
            <a:headEnd type="none" w="med" len="med"/>
            <a:tailEnd type="triangle" w="med" len="med"/>
          </a:ln>
        </p:spPr>
      </p:cxnSp>
      <p:cxnSp>
        <p:nvCxnSpPr>
          <p:cNvPr id="2300" name=""/>
          <p:cNvCxnSpPr/>
          <p:nvPr/>
        </p:nvCxnSpPr>
        <p:spPr>
          <a:xfrm>
            <a:off x="2544762" y="2686050"/>
            <a:ext cx="620712" cy="568325"/>
          </a:xfrm>
          <a:prstGeom prst="line">
            <a:avLst/>
          </a:prstGeom>
          <a:noFill/>
          <a:ln w="38100" cap="flat">
            <a:solidFill>
              <a:srgbClr val="FF0000"/>
            </a:solidFill>
            <a:prstDash val="solid"/>
            <a:miter lim="800000"/>
            <a:headEnd type="none" w="med" len="med"/>
            <a:tailEnd type="triangle" w="med" len="med"/>
          </a:ln>
        </p:spPr>
      </p:cxnSp>
      <p:cxnSp>
        <p:nvCxnSpPr>
          <p:cNvPr id="2301" name=""/>
          <p:cNvCxnSpPr/>
          <p:nvPr/>
        </p:nvCxnSpPr>
        <p:spPr>
          <a:xfrm flipH="1">
            <a:off x="1039812" y="2686050"/>
            <a:ext cx="619125" cy="568325"/>
          </a:xfrm>
          <a:prstGeom prst="line">
            <a:avLst/>
          </a:prstGeom>
          <a:noFill/>
          <a:ln w="12700" cap="flat">
            <a:solidFill>
              <a:srgbClr val="000000"/>
            </a:solidFill>
            <a:prstDash val="solid"/>
            <a:miter lim="800000"/>
            <a:headEnd type="none" w="med" len="med"/>
            <a:tailEnd type="triangle" w="med" len="med"/>
          </a:ln>
        </p:spPr>
      </p:cxnSp>
      <p:sp>
        <p:nvSpPr>
          <p:cNvPr id="2302" name=""/>
          <p:cNvSpPr/>
          <p:nvPr/>
        </p:nvSpPr>
        <p:spPr>
          <a:xfrm>
            <a:off x="1606550" y="2362200"/>
            <a:ext cx="1027112"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303" name=""/>
          <p:cNvSpPr/>
          <p:nvPr/>
        </p:nvSpPr>
        <p:spPr>
          <a:xfrm>
            <a:off x="2720975" y="3254375"/>
            <a:ext cx="1025525" cy="347662"/>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304" name=""/>
          <p:cNvSpPr/>
          <p:nvPr/>
        </p:nvSpPr>
        <p:spPr>
          <a:xfrm>
            <a:off x="1925638" y="4225925"/>
            <a:ext cx="1062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305" name=""/>
          <p:cNvSpPr/>
          <p:nvPr/>
        </p:nvSpPr>
        <p:spPr>
          <a:xfrm>
            <a:off x="2941638" y="5194300"/>
            <a:ext cx="688975" cy="44926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06" name=""/>
          <p:cNvSpPr/>
          <p:nvPr/>
        </p:nvSpPr>
        <p:spPr>
          <a:xfrm>
            <a:off x="2859088" y="5194300"/>
            <a:ext cx="750888"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307" name=""/>
          <p:cNvSpPr/>
          <p:nvPr/>
        </p:nvSpPr>
        <p:spPr>
          <a:xfrm>
            <a:off x="1304925" y="5214938"/>
            <a:ext cx="717550" cy="44608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08" name=""/>
          <p:cNvSpPr/>
          <p:nvPr/>
        </p:nvSpPr>
        <p:spPr>
          <a:xfrm>
            <a:off x="1435100" y="51974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09" name=""/>
          <p:cNvSpPr/>
          <p:nvPr/>
        </p:nvSpPr>
        <p:spPr>
          <a:xfrm>
            <a:off x="685800" y="3271838"/>
            <a:ext cx="752475" cy="4270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10" name=""/>
          <p:cNvSpPr/>
          <p:nvPr/>
        </p:nvSpPr>
        <p:spPr>
          <a:xfrm>
            <a:off x="814388" y="3254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11" name=""/>
          <p:cNvSpPr/>
          <p:nvPr/>
        </p:nvSpPr>
        <p:spPr>
          <a:xfrm>
            <a:off x="3860800" y="4259262"/>
            <a:ext cx="752475" cy="466725"/>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12" name=""/>
          <p:cNvSpPr/>
          <p:nvPr/>
        </p:nvSpPr>
        <p:spPr>
          <a:xfrm>
            <a:off x="3968750" y="4259262"/>
            <a:ext cx="490538"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13" name=""/>
          <p:cNvSpPr/>
          <p:nvPr/>
        </p:nvSpPr>
        <p:spPr>
          <a:xfrm>
            <a:off x="860425" y="268605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314" name=""/>
          <p:cNvSpPr/>
          <p:nvPr/>
        </p:nvSpPr>
        <p:spPr>
          <a:xfrm>
            <a:off x="2897188" y="268605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No</a:t>
            </a:r>
          </a:p>
        </p:txBody>
      </p:sp>
      <p:sp>
        <p:nvSpPr>
          <p:cNvPr id="2315" name=""/>
          <p:cNvSpPr/>
          <p:nvPr/>
        </p:nvSpPr>
        <p:spPr>
          <a:xfrm>
            <a:off x="4022725" y="3624262"/>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Married</a:t>
            </a:r>
            <a:r>
              <a:rPr kumimoji="0" lang="en-US" altLang="zh-CN" sz="1600" u="none">
                <a:solidFill>
                  <a:schemeClr val="bg2"/>
                </a:solidFill>
                <a:latin typeface="Arial" pitchFamily="34" charset="0"/>
                <a:ea typeface="宋体" pitchFamily="2" charset="-122"/>
              </a:rPr>
              <a:t> </a:t>
            </a:r>
          </a:p>
        </p:txBody>
      </p:sp>
      <p:sp>
        <p:nvSpPr>
          <p:cNvPr id="2316" name=""/>
          <p:cNvSpPr/>
          <p:nvPr/>
        </p:nvSpPr>
        <p:spPr>
          <a:xfrm>
            <a:off x="1662112" y="3659188"/>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317" name=""/>
          <p:cNvSpPr/>
          <p:nvPr/>
        </p:nvSpPr>
        <p:spPr>
          <a:xfrm>
            <a:off x="1155700"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318" name=""/>
          <p:cNvSpPr/>
          <p:nvPr/>
        </p:nvSpPr>
        <p:spPr>
          <a:xfrm>
            <a:off x="3101975"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aphicFrame>
        <p:nvGraphicFramePr>
          <p:cNvPr id="2319"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6"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320"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cxnSp>
        <p:nvCxnSpPr>
          <p:cNvPr id="2321" name=""/>
          <p:cNvCxnSpPr/>
          <p:nvPr/>
        </p:nvCxnSpPr>
        <p:spPr>
          <a:xfrm flipH="1">
            <a:off x="3810000" y="2057400"/>
            <a:ext cx="2057400" cy="1295400"/>
          </a:xfrm>
          <a:prstGeom prst="line">
            <a:avLst/>
          </a:prstGeom>
          <a:noFill/>
          <a:ln w="15875" cap="flat">
            <a:solidFill>
              <a:srgbClr val="FF0000"/>
            </a:solidFill>
            <a:prstDash val="dash"/>
            <a:miter lim="800000"/>
            <a:headEnd type="triangle" w="med" len="med"/>
            <a:tailEnd type="none" w="med" len="med"/>
          </a:ln>
        </p:spPr>
      </p:cxnSp>
    </p:spTree>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32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endParaRPr lang="en-US" altLang="zh-CN">
              <a:ea typeface="宋体" pitchFamily="2" charset="-122"/>
            </a:endParaRPr>
          </a:p>
        </p:txBody>
      </p:sp>
      <p:cxnSp>
        <p:nvCxnSpPr>
          <p:cNvPr id="2325" name=""/>
          <p:cNvCxnSpPr/>
          <p:nvPr/>
        </p:nvCxnSpPr>
        <p:spPr>
          <a:xfrm>
            <a:off x="2898775" y="4551362"/>
            <a:ext cx="266700" cy="646112"/>
          </a:xfrm>
          <a:prstGeom prst="line">
            <a:avLst/>
          </a:prstGeom>
          <a:noFill/>
          <a:ln w="12700" cap="flat">
            <a:solidFill>
              <a:srgbClr val="000000"/>
            </a:solidFill>
            <a:prstDash val="solid"/>
            <a:miter lim="800000"/>
            <a:headEnd type="none" w="med" len="med"/>
            <a:tailEnd type="triangle" w="med" len="med"/>
          </a:ln>
        </p:spPr>
      </p:cxnSp>
      <p:cxnSp>
        <p:nvCxnSpPr>
          <p:cNvPr id="2326" name=""/>
          <p:cNvCxnSpPr/>
          <p:nvPr/>
        </p:nvCxnSpPr>
        <p:spPr>
          <a:xfrm flipH="1">
            <a:off x="1658938" y="4551362"/>
            <a:ext cx="355600" cy="646112"/>
          </a:xfrm>
          <a:prstGeom prst="line">
            <a:avLst/>
          </a:prstGeom>
          <a:noFill/>
          <a:ln w="12700" cap="flat">
            <a:solidFill>
              <a:srgbClr val="000000"/>
            </a:solidFill>
            <a:prstDash val="solid"/>
            <a:miter lim="800000"/>
            <a:headEnd type="none" w="med" len="med"/>
            <a:tailEnd type="triangle" w="med" len="med"/>
          </a:ln>
        </p:spPr>
      </p:cxnSp>
      <p:cxnSp>
        <p:nvCxnSpPr>
          <p:cNvPr id="2327" name=""/>
          <p:cNvCxnSpPr/>
          <p:nvPr/>
        </p:nvCxnSpPr>
        <p:spPr>
          <a:xfrm flipH="1">
            <a:off x="2366962" y="3576638"/>
            <a:ext cx="442912" cy="649288"/>
          </a:xfrm>
          <a:prstGeom prst="line">
            <a:avLst/>
          </a:prstGeom>
          <a:noFill/>
          <a:ln w="12700" cap="flat">
            <a:solidFill>
              <a:srgbClr val="000000"/>
            </a:solidFill>
            <a:prstDash val="solid"/>
            <a:miter lim="800000"/>
            <a:headEnd type="none" w="med" len="med"/>
            <a:tailEnd type="triangle" w="med" len="med"/>
          </a:ln>
        </p:spPr>
      </p:cxnSp>
      <p:cxnSp>
        <p:nvCxnSpPr>
          <p:cNvPr id="2328" name=""/>
          <p:cNvCxnSpPr/>
          <p:nvPr/>
        </p:nvCxnSpPr>
        <p:spPr>
          <a:xfrm>
            <a:off x="3695700" y="3576638"/>
            <a:ext cx="531812" cy="649288"/>
          </a:xfrm>
          <a:prstGeom prst="line">
            <a:avLst/>
          </a:prstGeom>
          <a:noFill/>
          <a:ln w="38100" cap="flat">
            <a:solidFill>
              <a:srgbClr val="FF0000"/>
            </a:solidFill>
            <a:prstDash val="solid"/>
            <a:miter lim="800000"/>
            <a:headEnd type="none" w="med" len="med"/>
            <a:tailEnd type="triangle" w="med" len="med"/>
          </a:ln>
        </p:spPr>
      </p:cxnSp>
      <p:cxnSp>
        <p:nvCxnSpPr>
          <p:cNvPr id="2329" name=""/>
          <p:cNvCxnSpPr/>
          <p:nvPr/>
        </p:nvCxnSpPr>
        <p:spPr>
          <a:xfrm>
            <a:off x="2544762" y="2686050"/>
            <a:ext cx="620712" cy="568325"/>
          </a:xfrm>
          <a:prstGeom prst="line">
            <a:avLst/>
          </a:prstGeom>
          <a:noFill/>
          <a:ln w="38100" cap="flat">
            <a:solidFill>
              <a:srgbClr val="FF0000"/>
            </a:solidFill>
            <a:prstDash val="solid"/>
            <a:miter lim="800000"/>
            <a:headEnd type="none" w="med" len="med"/>
            <a:tailEnd type="triangle" w="med" len="med"/>
          </a:ln>
        </p:spPr>
      </p:cxnSp>
      <p:cxnSp>
        <p:nvCxnSpPr>
          <p:cNvPr id="2330" name=""/>
          <p:cNvCxnSpPr/>
          <p:nvPr/>
        </p:nvCxnSpPr>
        <p:spPr>
          <a:xfrm flipH="1">
            <a:off x="1039812" y="2686050"/>
            <a:ext cx="619125" cy="568325"/>
          </a:xfrm>
          <a:prstGeom prst="line">
            <a:avLst/>
          </a:prstGeom>
          <a:noFill/>
          <a:ln w="12700" cap="flat">
            <a:solidFill>
              <a:srgbClr val="000000"/>
            </a:solidFill>
            <a:prstDash val="solid"/>
            <a:miter lim="800000"/>
            <a:headEnd type="none" w="med" len="med"/>
            <a:tailEnd type="triangle" w="med" len="med"/>
          </a:ln>
        </p:spPr>
      </p:cxnSp>
      <p:sp>
        <p:nvSpPr>
          <p:cNvPr id="2331" name=""/>
          <p:cNvSpPr/>
          <p:nvPr/>
        </p:nvSpPr>
        <p:spPr>
          <a:xfrm>
            <a:off x="1606550" y="2362200"/>
            <a:ext cx="1027112"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332" name=""/>
          <p:cNvSpPr/>
          <p:nvPr/>
        </p:nvSpPr>
        <p:spPr>
          <a:xfrm>
            <a:off x="2720975" y="3254375"/>
            <a:ext cx="1025525" cy="347662"/>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333" name=""/>
          <p:cNvSpPr/>
          <p:nvPr/>
        </p:nvSpPr>
        <p:spPr>
          <a:xfrm>
            <a:off x="1925638" y="4225925"/>
            <a:ext cx="1062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334" name=""/>
          <p:cNvSpPr/>
          <p:nvPr/>
        </p:nvSpPr>
        <p:spPr>
          <a:xfrm>
            <a:off x="2941638" y="5194300"/>
            <a:ext cx="688975" cy="44926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35" name=""/>
          <p:cNvSpPr/>
          <p:nvPr/>
        </p:nvSpPr>
        <p:spPr>
          <a:xfrm>
            <a:off x="2859088" y="5194300"/>
            <a:ext cx="750888"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336" name=""/>
          <p:cNvSpPr/>
          <p:nvPr/>
        </p:nvSpPr>
        <p:spPr>
          <a:xfrm>
            <a:off x="1304925" y="5214938"/>
            <a:ext cx="717550" cy="44608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37" name=""/>
          <p:cNvSpPr/>
          <p:nvPr/>
        </p:nvSpPr>
        <p:spPr>
          <a:xfrm>
            <a:off x="1435100" y="51974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38" name=""/>
          <p:cNvSpPr/>
          <p:nvPr/>
        </p:nvSpPr>
        <p:spPr>
          <a:xfrm>
            <a:off x="685800" y="3271838"/>
            <a:ext cx="752475" cy="4270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39" name=""/>
          <p:cNvSpPr/>
          <p:nvPr/>
        </p:nvSpPr>
        <p:spPr>
          <a:xfrm>
            <a:off x="814388" y="3254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40" name=""/>
          <p:cNvSpPr/>
          <p:nvPr/>
        </p:nvSpPr>
        <p:spPr>
          <a:xfrm>
            <a:off x="3860800" y="4259262"/>
            <a:ext cx="752475" cy="466725"/>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41" name=""/>
          <p:cNvSpPr/>
          <p:nvPr/>
        </p:nvSpPr>
        <p:spPr>
          <a:xfrm>
            <a:off x="3968750" y="4259262"/>
            <a:ext cx="490538"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42" name=""/>
          <p:cNvSpPr/>
          <p:nvPr/>
        </p:nvSpPr>
        <p:spPr>
          <a:xfrm>
            <a:off x="860425" y="268605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343" name=""/>
          <p:cNvSpPr/>
          <p:nvPr/>
        </p:nvSpPr>
        <p:spPr>
          <a:xfrm>
            <a:off x="2897188" y="268605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No</a:t>
            </a:r>
          </a:p>
        </p:txBody>
      </p:sp>
      <p:sp>
        <p:nvSpPr>
          <p:cNvPr id="2344" name=""/>
          <p:cNvSpPr/>
          <p:nvPr/>
        </p:nvSpPr>
        <p:spPr>
          <a:xfrm>
            <a:off x="4022725" y="3624262"/>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Married </a:t>
            </a:r>
          </a:p>
        </p:txBody>
      </p:sp>
      <p:sp>
        <p:nvSpPr>
          <p:cNvPr id="2345" name=""/>
          <p:cNvSpPr/>
          <p:nvPr/>
        </p:nvSpPr>
        <p:spPr>
          <a:xfrm>
            <a:off x="1662112" y="3659188"/>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346" name=""/>
          <p:cNvSpPr/>
          <p:nvPr/>
        </p:nvSpPr>
        <p:spPr>
          <a:xfrm>
            <a:off x="1155700"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347" name=""/>
          <p:cNvSpPr/>
          <p:nvPr/>
        </p:nvSpPr>
        <p:spPr>
          <a:xfrm>
            <a:off x="3101975"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aphicFrame>
        <p:nvGraphicFramePr>
          <p:cNvPr id="2348"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7"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349"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cxnSp>
        <p:nvCxnSpPr>
          <p:cNvPr id="2350" name=""/>
          <p:cNvCxnSpPr/>
          <p:nvPr/>
        </p:nvCxnSpPr>
        <p:spPr>
          <a:xfrm flipH="1">
            <a:off x="4648200" y="2590800"/>
            <a:ext cx="1295400" cy="990600"/>
          </a:xfrm>
          <a:prstGeom prst="line">
            <a:avLst/>
          </a:prstGeom>
          <a:noFill/>
          <a:ln w="15875" cap="flat">
            <a:solidFill>
              <a:srgbClr val="FF0000"/>
            </a:solidFill>
            <a:prstDash val="dash"/>
            <a:miter lim="800000"/>
            <a:headEnd type="triangle" w="med" len="med"/>
            <a:tailEnd type="triangle" w="med" len="med"/>
          </a:ln>
        </p:spPr>
      </p:cxnSp>
    </p:spTree>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35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应用决策树进行分类</a:t>
            </a:r>
            <a:endParaRPr lang="en-US" altLang="zh-CN">
              <a:ea typeface="宋体" pitchFamily="2" charset="-122"/>
            </a:endParaRPr>
          </a:p>
        </p:txBody>
      </p:sp>
      <p:cxnSp>
        <p:nvCxnSpPr>
          <p:cNvPr id="2354" name=""/>
          <p:cNvCxnSpPr/>
          <p:nvPr/>
        </p:nvCxnSpPr>
        <p:spPr>
          <a:xfrm>
            <a:off x="2898775" y="4551362"/>
            <a:ext cx="266700" cy="646112"/>
          </a:xfrm>
          <a:prstGeom prst="line">
            <a:avLst/>
          </a:prstGeom>
          <a:noFill/>
          <a:ln w="12700" cap="flat">
            <a:solidFill>
              <a:srgbClr val="000000"/>
            </a:solidFill>
            <a:prstDash val="solid"/>
            <a:miter lim="800000"/>
            <a:headEnd type="none" w="med" len="med"/>
            <a:tailEnd type="triangle" w="med" len="med"/>
          </a:ln>
        </p:spPr>
      </p:cxnSp>
      <p:cxnSp>
        <p:nvCxnSpPr>
          <p:cNvPr id="2355" name=""/>
          <p:cNvCxnSpPr/>
          <p:nvPr/>
        </p:nvCxnSpPr>
        <p:spPr>
          <a:xfrm flipH="1">
            <a:off x="1658938" y="4551362"/>
            <a:ext cx="355600" cy="646112"/>
          </a:xfrm>
          <a:prstGeom prst="line">
            <a:avLst/>
          </a:prstGeom>
          <a:noFill/>
          <a:ln w="12700" cap="flat">
            <a:solidFill>
              <a:srgbClr val="000000"/>
            </a:solidFill>
            <a:prstDash val="solid"/>
            <a:miter lim="800000"/>
            <a:headEnd type="none" w="med" len="med"/>
            <a:tailEnd type="triangle" w="med" len="med"/>
          </a:ln>
        </p:spPr>
      </p:cxnSp>
      <p:cxnSp>
        <p:nvCxnSpPr>
          <p:cNvPr id="2356" name=""/>
          <p:cNvCxnSpPr/>
          <p:nvPr/>
        </p:nvCxnSpPr>
        <p:spPr>
          <a:xfrm flipH="1">
            <a:off x="2366962" y="3576638"/>
            <a:ext cx="442912" cy="649288"/>
          </a:xfrm>
          <a:prstGeom prst="line">
            <a:avLst/>
          </a:prstGeom>
          <a:noFill/>
          <a:ln w="12700" cap="flat">
            <a:solidFill>
              <a:srgbClr val="000000"/>
            </a:solidFill>
            <a:prstDash val="solid"/>
            <a:miter lim="800000"/>
            <a:headEnd type="none" w="med" len="med"/>
            <a:tailEnd type="triangle" w="med" len="med"/>
          </a:ln>
        </p:spPr>
      </p:cxnSp>
      <p:cxnSp>
        <p:nvCxnSpPr>
          <p:cNvPr id="2357" name=""/>
          <p:cNvCxnSpPr/>
          <p:nvPr/>
        </p:nvCxnSpPr>
        <p:spPr>
          <a:xfrm>
            <a:off x="3695700" y="3576638"/>
            <a:ext cx="531812" cy="649288"/>
          </a:xfrm>
          <a:prstGeom prst="line">
            <a:avLst/>
          </a:prstGeom>
          <a:noFill/>
          <a:ln w="38100" cap="flat">
            <a:solidFill>
              <a:srgbClr val="FF0000"/>
            </a:solidFill>
            <a:prstDash val="solid"/>
            <a:miter lim="800000"/>
            <a:headEnd type="none" w="med" len="med"/>
            <a:tailEnd type="triangle" w="med" len="med"/>
          </a:ln>
        </p:spPr>
      </p:cxnSp>
      <p:cxnSp>
        <p:nvCxnSpPr>
          <p:cNvPr id="2358" name=""/>
          <p:cNvCxnSpPr/>
          <p:nvPr/>
        </p:nvCxnSpPr>
        <p:spPr>
          <a:xfrm>
            <a:off x="2544762" y="2686050"/>
            <a:ext cx="620712" cy="568325"/>
          </a:xfrm>
          <a:prstGeom prst="line">
            <a:avLst/>
          </a:prstGeom>
          <a:noFill/>
          <a:ln w="38100" cap="flat">
            <a:solidFill>
              <a:srgbClr val="FF0000"/>
            </a:solidFill>
            <a:prstDash val="solid"/>
            <a:miter lim="800000"/>
            <a:headEnd type="none" w="med" len="med"/>
            <a:tailEnd type="triangle" w="med" len="med"/>
          </a:ln>
        </p:spPr>
      </p:cxnSp>
      <p:cxnSp>
        <p:nvCxnSpPr>
          <p:cNvPr id="2359" name=""/>
          <p:cNvCxnSpPr/>
          <p:nvPr/>
        </p:nvCxnSpPr>
        <p:spPr>
          <a:xfrm flipH="1">
            <a:off x="1039812" y="2686050"/>
            <a:ext cx="619125" cy="568325"/>
          </a:xfrm>
          <a:prstGeom prst="line">
            <a:avLst/>
          </a:prstGeom>
          <a:noFill/>
          <a:ln w="12700" cap="flat">
            <a:solidFill>
              <a:srgbClr val="000000"/>
            </a:solidFill>
            <a:prstDash val="solid"/>
            <a:miter lim="800000"/>
            <a:headEnd type="none" w="med" len="med"/>
            <a:tailEnd type="triangle" w="med" len="med"/>
          </a:ln>
        </p:spPr>
      </p:cxnSp>
      <p:sp>
        <p:nvSpPr>
          <p:cNvPr id="2360" name=""/>
          <p:cNvSpPr/>
          <p:nvPr/>
        </p:nvSpPr>
        <p:spPr>
          <a:xfrm>
            <a:off x="1606550" y="2362200"/>
            <a:ext cx="1027112"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Refund</a:t>
            </a:r>
          </a:p>
        </p:txBody>
      </p:sp>
      <p:sp>
        <p:nvSpPr>
          <p:cNvPr id="2361" name=""/>
          <p:cNvSpPr/>
          <p:nvPr/>
        </p:nvSpPr>
        <p:spPr>
          <a:xfrm>
            <a:off x="2720975" y="3254375"/>
            <a:ext cx="1025525" cy="347662"/>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MarSt</a:t>
            </a:r>
          </a:p>
        </p:txBody>
      </p:sp>
      <p:sp>
        <p:nvSpPr>
          <p:cNvPr id="2362" name=""/>
          <p:cNvSpPr/>
          <p:nvPr/>
        </p:nvSpPr>
        <p:spPr>
          <a:xfrm>
            <a:off x="1925638" y="4225925"/>
            <a:ext cx="1062038" cy="349250"/>
          </a:xfrm>
          <a:prstGeom prst="rect">
            <a:avLst/>
          </a:prstGeom>
          <a:solidFill>
            <a:srgbClr val="FFFF00"/>
          </a:solidFill>
          <a:ln w="12700" cap="flat">
            <a:solidFill>
              <a:srgbClr val="0000FF"/>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2D1993"/>
                </a:solidFill>
                <a:latin typeface="Arial" pitchFamily="34" charset="0"/>
                <a:ea typeface="宋体" pitchFamily="2" charset="-122"/>
              </a:rPr>
              <a:t>TaxInc</a:t>
            </a:r>
          </a:p>
        </p:txBody>
      </p:sp>
      <p:sp>
        <p:nvSpPr>
          <p:cNvPr id="2363" name=""/>
          <p:cNvSpPr/>
          <p:nvPr/>
        </p:nvSpPr>
        <p:spPr>
          <a:xfrm>
            <a:off x="2941638" y="5194300"/>
            <a:ext cx="688975" cy="449262"/>
          </a:xfrm>
          <a:prstGeom prst="roundRect">
            <a:avLst>
              <a:gd name="adj" fmla="val 16769"/>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64" name=""/>
          <p:cNvSpPr/>
          <p:nvPr/>
        </p:nvSpPr>
        <p:spPr>
          <a:xfrm>
            <a:off x="2859088" y="5194300"/>
            <a:ext cx="750888"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YES</a:t>
            </a:r>
          </a:p>
        </p:txBody>
      </p:sp>
      <p:sp>
        <p:nvSpPr>
          <p:cNvPr id="2365" name=""/>
          <p:cNvSpPr/>
          <p:nvPr/>
        </p:nvSpPr>
        <p:spPr>
          <a:xfrm>
            <a:off x="1304925" y="5214938"/>
            <a:ext cx="717550" cy="44608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66" name=""/>
          <p:cNvSpPr/>
          <p:nvPr/>
        </p:nvSpPr>
        <p:spPr>
          <a:xfrm>
            <a:off x="1435100" y="51974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67" name=""/>
          <p:cNvSpPr/>
          <p:nvPr/>
        </p:nvSpPr>
        <p:spPr>
          <a:xfrm>
            <a:off x="685800" y="3271838"/>
            <a:ext cx="752475" cy="427038"/>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68" name=""/>
          <p:cNvSpPr/>
          <p:nvPr/>
        </p:nvSpPr>
        <p:spPr>
          <a:xfrm>
            <a:off x="814388" y="3254375"/>
            <a:ext cx="48895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69" name=""/>
          <p:cNvSpPr/>
          <p:nvPr/>
        </p:nvSpPr>
        <p:spPr>
          <a:xfrm>
            <a:off x="3860800" y="4259262"/>
            <a:ext cx="752475" cy="466725"/>
          </a:xfrm>
          <a:prstGeom prst="roundRect">
            <a:avLst>
              <a:gd name="adj" fmla="val 16667"/>
            </a:avLst>
          </a:prstGeom>
          <a:solidFill>
            <a:srgbClr val="33CCFF"/>
          </a:solid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370" name=""/>
          <p:cNvSpPr/>
          <p:nvPr/>
        </p:nvSpPr>
        <p:spPr>
          <a:xfrm>
            <a:off x="3968750" y="4259262"/>
            <a:ext cx="490538"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b="1" u="none">
                <a:solidFill>
                  <a:srgbClr val="800000"/>
                </a:solidFill>
                <a:latin typeface="Arial" pitchFamily="34" charset="0"/>
                <a:ea typeface="宋体" pitchFamily="2" charset="-122"/>
              </a:rPr>
              <a:t>NO</a:t>
            </a:r>
          </a:p>
        </p:txBody>
      </p:sp>
      <p:sp>
        <p:nvSpPr>
          <p:cNvPr id="2371" name=""/>
          <p:cNvSpPr/>
          <p:nvPr/>
        </p:nvSpPr>
        <p:spPr>
          <a:xfrm>
            <a:off x="860425" y="2686050"/>
            <a:ext cx="533400"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Yes</a:t>
            </a:r>
          </a:p>
        </p:txBody>
      </p:sp>
      <p:sp>
        <p:nvSpPr>
          <p:cNvPr id="2372" name=""/>
          <p:cNvSpPr/>
          <p:nvPr/>
        </p:nvSpPr>
        <p:spPr>
          <a:xfrm>
            <a:off x="2897188" y="2686050"/>
            <a:ext cx="442912"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No</a:t>
            </a:r>
          </a:p>
        </p:txBody>
      </p:sp>
      <p:sp>
        <p:nvSpPr>
          <p:cNvPr id="2373" name=""/>
          <p:cNvSpPr/>
          <p:nvPr/>
        </p:nvSpPr>
        <p:spPr>
          <a:xfrm>
            <a:off x="4022725" y="3624262"/>
            <a:ext cx="93027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solidFill>
                  <a:srgbClr val="FF0000"/>
                </a:solidFill>
                <a:latin typeface="Arial" pitchFamily="34" charset="0"/>
                <a:ea typeface="宋体" pitchFamily="2" charset="-122"/>
              </a:rPr>
              <a:t>Married </a:t>
            </a:r>
          </a:p>
        </p:txBody>
      </p:sp>
      <p:sp>
        <p:nvSpPr>
          <p:cNvPr id="2374" name=""/>
          <p:cNvSpPr/>
          <p:nvPr/>
        </p:nvSpPr>
        <p:spPr>
          <a:xfrm>
            <a:off x="1662112" y="3659188"/>
            <a:ext cx="16605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Single, Divorced</a:t>
            </a:r>
          </a:p>
        </p:txBody>
      </p:sp>
      <p:sp>
        <p:nvSpPr>
          <p:cNvPr id="2375" name=""/>
          <p:cNvSpPr/>
          <p:nvPr/>
        </p:nvSpPr>
        <p:spPr>
          <a:xfrm>
            <a:off x="1155700"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&lt; 80K</a:t>
            </a:r>
          </a:p>
        </p:txBody>
      </p:sp>
      <p:sp>
        <p:nvSpPr>
          <p:cNvPr id="2376" name=""/>
          <p:cNvSpPr/>
          <p:nvPr/>
        </p:nvSpPr>
        <p:spPr>
          <a:xfrm>
            <a:off x="3101975" y="4630738"/>
            <a:ext cx="720725" cy="336550"/>
          </a:xfrm>
          <a:prstGeom prst="rect">
            <a:avLst/>
          </a:prstGeom>
          <a:noFill/>
          <a:ln w="12700"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r" eaLnBrk="0" fontAlgn="base" hangingPunct="0">
              <a:lnSpc>
                <a:spcPct val="100000"/>
              </a:lnSpc>
              <a:spcBef>
                <a:spcPct val="20000"/>
              </a:spcBef>
              <a:spcAft>
                <a:spcPct val="0"/>
              </a:spcAft>
              <a:buClr>
                <a:schemeClr val="accent2"/>
              </a:buClr>
              <a:buSzPct val="75000"/>
              <a:buFont typeface="Monotype Sorts" pitchFamily="2" charset="2"/>
            </a:pPr>
            <a:r>
              <a:rPr kumimoji="0" lang="en-US" altLang="zh-CN" sz="1600" u="none">
                <a:latin typeface="Arial" pitchFamily="34" charset="0"/>
                <a:ea typeface="宋体" pitchFamily="2" charset="-122"/>
              </a:rPr>
              <a:t>&gt; 80K</a:t>
            </a:r>
          </a:p>
        </p:txBody>
      </p:sp>
      <p:graphicFrame>
        <p:nvGraphicFramePr>
          <p:cNvPr id="2377" name=""/>
          <p:cNvGraphicFramePr>
            <a:graphicFrameLocks noChangeAspect="1"/>
          </p:cNvGraphicFramePr>
          <p:nvPr/>
        </p:nvGraphicFramePr>
        <p:xfrm>
          <a:off x="4953000" y="1600200"/>
          <a:ext cx="3343275" cy="1133475"/>
        </p:xfrm>
        <a:graphic>
          <a:graphicData uri="http://schemas.openxmlformats.org/presentationml/2006/ole">
            <mc:AlternateContent xmlns:mc="http://schemas.openxmlformats.org/markup-compatibility/2006">
              <mc:Choice xmlns:v="urn:schemas-microsoft-com:vml" Requires="v">
                <p:oleObj spid="_x0000_s1048"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953000" y="1600200"/>
                        <a:ext cx="3343275" cy="1133475"/>
                      </a:xfrm>
                      <a:prstGeom prst="rect">
                        <a:avLst/>
                      </a:prstGeom>
                    </p:spPr>
                  </p:pic>
                </p:oleObj>
              </mc:Fallback>
            </mc:AlternateContent>
          </a:graphicData>
        </a:graphic>
      </p:graphicFrame>
      <p:sp>
        <p:nvSpPr>
          <p:cNvPr id="2378" name=""/>
          <p:cNvSpPr/>
          <p:nvPr/>
        </p:nvSpPr>
        <p:spPr>
          <a:xfrm>
            <a:off x="4800600" y="1143000"/>
            <a:ext cx="16002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algn="ctr" eaLnBrk="0" fontAlgn="base" hangingPunct="0">
              <a:lnSpc>
                <a:spcPct val="80000"/>
              </a:lnSpc>
              <a:spcBef>
                <a:spcPct val="20000"/>
              </a:spcBef>
              <a:spcAft>
                <a:spcPct val="0"/>
              </a:spcAft>
              <a:buClr>
                <a:schemeClr val="accent2"/>
              </a:buClr>
              <a:buSzPct val="75000"/>
              <a:buFont typeface="Monotype Sorts" pitchFamily="2" charset="2"/>
            </a:pPr>
            <a:r>
              <a:rPr kumimoji="0" lang="zh-CN" altLang="en-US" sz="2000" b="1" u="none">
                <a:solidFill>
                  <a:schemeClr val="tx2"/>
                </a:solidFill>
                <a:latin typeface="Arial" pitchFamily="34" charset="0"/>
                <a:ea typeface="宋体" pitchFamily="2" charset="-122"/>
              </a:rPr>
              <a:t>测试数据</a:t>
            </a:r>
          </a:p>
        </p:txBody>
      </p:sp>
      <p:cxnSp>
        <p:nvCxnSpPr>
          <p:cNvPr id="2379" name=""/>
          <p:cNvCxnSpPr/>
          <p:nvPr/>
        </p:nvCxnSpPr>
        <p:spPr>
          <a:xfrm flipH="1">
            <a:off x="4495800" y="2590800"/>
            <a:ext cx="3124200" cy="1828800"/>
          </a:xfrm>
          <a:prstGeom prst="line">
            <a:avLst/>
          </a:prstGeom>
          <a:noFill/>
          <a:ln w="15875" cap="flat">
            <a:solidFill>
              <a:srgbClr val="FF0000"/>
            </a:solidFill>
            <a:prstDash val="dash"/>
            <a:miter lim="800000"/>
            <a:headEnd type="triangle" w="med" len="med"/>
            <a:tailEnd type="none" w="med" len="med"/>
          </a:ln>
        </p:spPr>
      </p:cxnSp>
      <p:sp>
        <p:nvSpPr>
          <p:cNvPr id="2380" name=""/>
          <p:cNvSpPr/>
          <p:nvPr/>
        </p:nvSpPr>
        <p:spPr>
          <a:xfrm>
            <a:off x="6019800" y="3581400"/>
            <a:ext cx="2667000" cy="3365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342900" lvl="0" indent="-342900" eaLnBrk="0" fontAlgn="base" hangingPunct="0">
              <a:lnSpc>
                <a:spcPct val="80000"/>
              </a:lnSpc>
              <a:spcBef>
                <a:spcPct val="20000"/>
              </a:spcBef>
              <a:spcAft>
                <a:spcPct val="0"/>
              </a:spcAft>
              <a:buClr>
                <a:schemeClr val="accent2"/>
              </a:buClr>
              <a:buSzPct val="75000"/>
              <a:buFont typeface="Monotype Sorts" pitchFamily="2" charset="2"/>
            </a:pPr>
            <a:r>
              <a:rPr kumimoji="0" lang="en-US" altLang="zh-CN" sz="2000" u="none">
                <a:latin typeface="Arial" pitchFamily="34" charset="0"/>
                <a:ea typeface="宋体" pitchFamily="2" charset="-122"/>
              </a:rPr>
              <a:t>Assign Cheat to “No”</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38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决策树分类</a:t>
            </a:r>
          </a:p>
        </p:txBody>
      </p:sp>
      <p:graphicFrame>
        <p:nvGraphicFramePr>
          <p:cNvPr id="2384" name=""/>
          <p:cNvGraphicFramePr>
            <a:graphicFrameLocks noChangeAspect="1"/>
          </p:cNvGraphicFramePr>
          <p:nvPr>
            <p:ph idx="4294967295"/>
          </p:nvPr>
        </p:nvGraphicFramePr>
        <p:xfrm>
          <a:off x="1093788" y="1143000"/>
          <a:ext cx="6951662" cy="5181600"/>
        </p:xfrm>
        <a:graphic>
          <a:graphicData uri="http://schemas.openxmlformats.org/presentationml/2006/ole">
            <mc:AlternateContent xmlns:mc="http://schemas.openxmlformats.org/markup-compatibility/2006">
              <mc:Choice xmlns:v="urn:schemas-microsoft-com:vml" Requires="v">
                <p:oleObj spid="_x0000_s1049"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1093788" y="1143000"/>
                        <a:ext cx="6951662" cy="5181600"/>
                      </a:xfrm>
                      <a:prstGeom prst="rect">
                        <a:avLst/>
                      </a:prstGeom>
                    </p:spPr>
                  </p:pic>
                </p:oleObj>
              </mc:Fallback>
            </mc:AlternateContent>
          </a:graphicData>
        </a:graphic>
      </p:graphicFrame>
      <p:cxnSp>
        <p:nvCxnSpPr>
          <p:cNvPr id="2385" name=""/>
          <p:cNvCxnSpPr/>
          <p:nvPr/>
        </p:nvCxnSpPr>
        <p:spPr>
          <a:xfrm flipH="1">
            <a:off x="6400800" y="2362200"/>
            <a:ext cx="685800" cy="0"/>
          </a:xfrm>
          <a:prstGeom prst="line">
            <a:avLst/>
          </a:prstGeom>
          <a:noFill/>
          <a:ln w="63500" cap="flat">
            <a:solidFill>
              <a:srgbClr val="FF0000"/>
            </a:solidFill>
            <a:prstDash val="solid"/>
            <a:miter lim="800000"/>
            <a:headEnd type="none" w="med" len="med"/>
            <a:tailEnd type="triangle" w="med" len="med"/>
          </a:ln>
        </p:spPr>
      </p:cxnSp>
      <p:sp>
        <p:nvSpPr>
          <p:cNvPr id="2386" name=""/>
          <p:cNvSpPr/>
          <p:nvPr/>
        </p:nvSpPr>
        <p:spPr>
          <a:xfrm>
            <a:off x="7086600" y="4283075"/>
            <a:ext cx="1219200" cy="51752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1400" b="1" u="none">
                <a:latin typeface="Arial" pitchFamily="34" charset="0"/>
                <a:ea typeface="宋体" pitchFamily="2" charset="-122"/>
              </a:rPr>
              <a:t>Decision Tree</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38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39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有许多决策树算法</a:t>
            </a:r>
            <a:r>
              <a:rPr lang="en-US" altLang="zh-CN">
                <a:ea typeface="宋体" pitchFamily="2" charset="-122"/>
              </a:rPr>
              <a:t>:</a:t>
            </a:r>
          </a:p>
          <a:p>
            <a:pPr lvl="0"/>
            <a:r>
              <a:rPr kumimoji="1" lang="en-US" altLang="zh-CN" b="1">
                <a:solidFill>
                  <a:srgbClr val="EA550A"/>
                </a:solidFill>
                <a:effectLst>
                  <a:outerShdw blurRad="38100" dist="38100" dir="2700000" algn="tl">
                    <a:schemeClr val="bg2"/>
                  </a:outerShdw>
                </a:effectLst>
                <a:ea typeface="宋体" pitchFamily="2" charset="-122"/>
              </a:rPr>
              <a:t>Hunt</a:t>
            </a:r>
            <a:r>
              <a:rPr kumimoji="1" lang="zh-CN" altLang="en-US" b="1">
                <a:solidFill>
                  <a:srgbClr val="EA550A"/>
                </a:solidFill>
                <a:effectLst>
                  <a:outerShdw blurRad="38100" dist="38100" dir="2700000" algn="tl">
                    <a:schemeClr val="bg2"/>
                  </a:outerShdw>
                </a:effectLst>
                <a:ea typeface="宋体" pitchFamily="2" charset="-122"/>
              </a:rPr>
              <a:t>算法</a:t>
            </a:r>
          </a:p>
          <a:p>
            <a:pPr lvl="0"/>
            <a:r>
              <a:rPr kumimoji="1" lang="zh-CN" altLang="en-US" b="1">
                <a:solidFill>
                  <a:srgbClr val="EA550A"/>
                </a:solidFill>
                <a:effectLst>
                  <a:outerShdw blurRad="38100" dist="38100" dir="2700000" algn="tl">
                    <a:schemeClr val="bg2"/>
                  </a:outerShdw>
                </a:effectLst>
                <a:ea typeface="宋体" pitchFamily="2" charset="-122"/>
              </a:rPr>
              <a:t>信息增益</a:t>
            </a:r>
            <a:r>
              <a:rPr kumimoji="1" lang="en-US" altLang="zh-CN" b="1">
                <a:solidFill>
                  <a:srgbClr val="EA550A"/>
                </a:solidFill>
                <a:effectLst>
                  <a:outerShdw blurRad="38100" dist="38100" dir="2700000" algn="tl">
                    <a:schemeClr val="bg2"/>
                  </a:outerShdw>
                </a:effectLst>
                <a:ea typeface="宋体" pitchFamily="2" charset="-122"/>
              </a:rPr>
              <a:t>——Information gain</a:t>
            </a:r>
            <a:r>
              <a:rPr kumimoji="1" lang="en-US" altLang="zh-CN" b="1">
                <a:ea typeface="宋体" pitchFamily="2" charset="-122"/>
              </a:rPr>
              <a:t> </a:t>
            </a:r>
            <a:r>
              <a:rPr kumimoji="1" lang="zh-CN" altLang="en-US" b="1">
                <a:ea typeface="宋体" pitchFamily="2" charset="-122"/>
              </a:rPr>
              <a:t>（</a:t>
            </a:r>
            <a:r>
              <a:rPr kumimoji="1" lang="en-US" altLang="zh-CN" b="1">
                <a:ea typeface="宋体" pitchFamily="2" charset="-122"/>
              </a:rPr>
              <a:t>ID3</a:t>
            </a:r>
            <a:r>
              <a:rPr kumimoji="1" lang="zh-CN" altLang="en-US" b="1">
                <a:ea typeface="宋体" pitchFamily="2" charset="-122"/>
              </a:rPr>
              <a:t>）</a:t>
            </a:r>
          </a:p>
          <a:p>
            <a:pPr lvl="0"/>
            <a:r>
              <a:rPr kumimoji="1" lang="zh-CN" altLang="en-US" b="1">
                <a:solidFill>
                  <a:srgbClr val="FF0000"/>
                </a:solidFill>
                <a:effectLst>
                  <a:outerShdw blurRad="38100" dist="38100" dir="2700000" algn="tl">
                    <a:schemeClr val="bg2"/>
                  </a:outerShdw>
                </a:effectLst>
                <a:ea typeface="宋体" pitchFamily="2" charset="-122"/>
              </a:rPr>
              <a:t>增益比率</a:t>
            </a:r>
            <a:r>
              <a:rPr kumimoji="1" lang="en-US" altLang="zh-CN" b="1">
                <a:solidFill>
                  <a:srgbClr val="FF0000"/>
                </a:solidFill>
                <a:effectLst>
                  <a:outerShdw blurRad="38100" dist="38100" dir="2700000" algn="tl">
                    <a:schemeClr val="bg2"/>
                  </a:outerShdw>
                </a:effectLst>
                <a:ea typeface="宋体" pitchFamily="2" charset="-122"/>
              </a:rPr>
              <a:t>——Gain ration</a:t>
            </a:r>
            <a:r>
              <a:rPr kumimoji="1" lang="zh-CN" altLang="en-US" b="1">
                <a:ea typeface="宋体" pitchFamily="2" charset="-122"/>
              </a:rPr>
              <a:t>（</a:t>
            </a:r>
            <a:r>
              <a:rPr kumimoji="1" lang="en-US" altLang="zh-CN" b="1">
                <a:ea typeface="宋体" pitchFamily="2" charset="-122"/>
              </a:rPr>
              <a:t>C4.5</a:t>
            </a:r>
            <a:r>
              <a:rPr kumimoji="1" lang="zh-CN" altLang="en-US" b="1">
                <a:ea typeface="宋体" pitchFamily="2" charset="-122"/>
              </a:rPr>
              <a:t>）</a:t>
            </a:r>
          </a:p>
          <a:p>
            <a:pPr lvl="0"/>
            <a:r>
              <a:rPr kumimoji="1" lang="zh-CN" altLang="en-US" b="1">
                <a:solidFill>
                  <a:srgbClr val="EA550A"/>
                </a:solidFill>
                <a:effectLst>
                  <a:outerShdw blurRad="38100" dist="38100" dir="2700000" algn="tl">
                    <a:schemeClr val="bg2"/>
                  </a:outerShdw>
                </a:effectLst>
                <a:ea typeface="宋体" pitchFamily="2" charset="-122"/>
              </a:rPr>
              <a:t>基尼指数</a:t>
            </a:r>
            <a:r>
              <a:rPr kumimoji="1" lang="en-US" altLang="zh-CN" b="1">
                <a:solidFill>
                  <a:srgbClr val="EA550A"/>
                </a:solidFill>
                <a:effectLst>
                  <a:outerShdw blurRad="38100" dist="38100" dir="2700000" algn="tl">
                    <a:schemeClr val="bg2"/>
                  </a:outerShdw>
                </a:effectLst>
                <a:ea typeface="宋体" pitchFamily="2" charset="-122"/>
              </a:rPr>
              <a:t>——Gini index</a:t>
            </a:r>
            <a:r>
              <a:rPr kumimoji="1" lang="en-US" altLang="zh-CN" b="1">
                <a:solidFill>
                  <a:schemeClr val="hlink"/>
                </a:solidFill>
                <a:ea typeface="宋体" pitchFamily="2" charset="-122"/>
              </a:rPr>
              <a:t> </a:t>
            </a:r>
            <a:r>
              <a:rPr kumimoji="1" lang="en-US" altLang="zh-CN" b="1">
                <a:ea typeface="宋体" pitchFamily="2" charset="-122"/>
              </a:rPr>
              <a:t>(SLIQ</a:t>
            </a:r>
            <a:r>
              <a:rPr kumimoji="1" lang="zh-CN" altLang="en-US" b="1">
                <a:ea typeface="宋体" pitchFamily="2" charset="-122"/>
              </a:rPr>
              <a:t>，</a:t>
            </a:r>
            <a:r>
              <a:rPr kumimoji="1" lang="en-US" altLang="zh-CN" b="1">
                <a:ea typeface="宋体" pitchFamily="2" charset="-122"/>
              </a:rPr>
              <a:t>SPRINT) </a:t>
            </a:r>
          </a:p>
          <a:p>
            <a:pPr lvl="1"/>
            <a:endParaRPr lang="en-US" altLang="zh-CN">
              <a:ea typeface="宋体" pitchFamily="2" charset="-122"/>
            </a:endParaRP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39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en-US" altLang="zh-CN">
                <a:ea typeface="宋体" pitchFamily="2" charset="-122"/>
              </a:rPr>
              <a:t>Hunt </a:t>
            </a:r>
            <a:r>
              <a:rPr lang="zh-CN" altLang="en-US">
                <a:ea typeface="宋体" pitchFamily="2" charset="-122"/>
              </a:rPr>
              <a:t>算法</a:t>
            </a:r>
          </a:p>
        </p:txBody>
      </p:sp>
      <p:sp>
        <p:nvSpPr>
          <p:cNvPr id="2394" name=""/>
          <p:cNvSpPr/>
          <p:nvPr>
            <p:ph type="body" idx="4294967295"/>
          </p:nvPr>
        </p:nvSpPr>
        <p:spPr>
          <a:xfrm>
            <a:off x="411162" y="1143000"/>
            <a:ext cx="4541838"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nSpc>
                <a:spcPct val="80000"/>
              </a:lnSpc>
            </a:pPr>
            <a:r>
              <a:rPr lang="zh-CN" altLang="en-US" sz="2400">
                <a:ea typeface="宋体" pitchFamily="2" charset="-122"/>
              </a:rPr>
              <a:t>设 </a:t>
            </a:r>
            <a:r>
              <a:rPr lang="en-US" altLang="zh-CN" sz="2400">
                <a:ea typeface="宋体" pitchFamily="2" charset="-122"/>
              </a:rPr>
              <a:t>D</a:t>
            </a:r>
            <a:r>
              <a:rPr lang="en-US" altLang="zh-CN" sz="2400" baseline="-25000">
                <a:ea typeface="宋体" pitchFamily="2" charset="-122"/>
              </a:rPr>
              <a:t>t</a:t>
            </a:r>
            <a:r>
              <a:rPr lang="en-US" altLang="zh-CN" sz="2400">
                <a:ea typeface="宋体" pitchFamily="2" charset="-122"/>
              </a:rPr>
              <a:t> </a:t>
            </a:r>
            <a:r>
              <a:rPr lang="zh-CN" altLang="en-US" sz="2400">
                <a:ea typeface="宋体" pitchFamily="2" charset="-122"/>
              </a:rPr>
              <a:t>是与结点 </a:t>
            </a:r>
            <a:r>
              <a:rPr lang="en-US" altLang="zh-CN" sz="2400">
                <a:ea typeface="宋体" pitchFamily="2" charset="-122"/>
              </a:rPr>
              <a:t>t</a:t>
            </a:r>
            <a:r>
              <a:rPr lang="zh-CN" altLang="en-US" sz="2400">
                <a:ea typeface="宋体" pitchFamily="2" charset="-122"/>
              </a:rPr>
              <a:t>相关联的训练记录集</a:t>
            </a:r>
          </a:p>
          <a:p>
            <a:pPr lvl="0">
              <a:lnSpc>
                <a:spcPct val="80000"/>
              </a:lnSpc>
            </a:pPr>
            <a:r>
              <a:rPr lang="zh-CN" altLang="en-US" sz="2400">
                <a:ea typeface="宋体" pitchFamily="2" charset="-122"/>
              </a:rPr>
              <a:t>算法步骤</a:t>
            </a:r>
            <a:r>
              <a:rPr lang="en-US" altLang="zh-CN" sz="2400">
                <a:ea typeface="宋体" pitchFamily="2" charset="-122"/>
              </a:rPr>
              <a:t>:</a:t>
            </a:r>
          </a:p>
          <a:p>
            <a:pPr lvl="1">
              <a:lnSpc>
                <a:spcPct val="80000"/>
              </a:lnSpc>
            </a:pPr>
            <a:r>
              <a:rPr lang="zh-CN" altLang="en-US" sz="2400">
                <a:ea typeface="宋体" pitchFamily="2" charset="-122"/>
              </a:rPr>
              <a:t>如果</a:t>
            </a:r>
            <a:r>
              <a:rPr lang="en-US" altLang="zh-CN" sz="2400">
                <a:ea typeface="宋体" pitchFamily="2" charset="-122"/>
              </a:rPr>
              <a:t>D</a:t>
            </a:r>
            <a:r>
              <a:rPr lang="en-US" altLang="zh-CN" sz="2400" baseline="-25000">
                <a:ea typeface="宋体" pitchFamily="2" charset="-122"/>
              </a:rPr>
              <a:t>t</a:t>
            </a:r>
            <a:r>
              <a:rPr lang="en-US" altLang="zh-CN" sz="2400">
                <a:ea typeface="宋体" pitchFamily="2" charset="-122"/>
              </a:rPr>
              <a:t> </a:t>
            </a:r>
            <a:r>
              <a:rPr lang="zh-CN" altLang="en-US" sz="2400">
                <a:ea typeface="宋体" pitchFamily="2" charset="-122"/>
              </a:rPr>
              <a:t>中所有记录都属于同一个类 </a:t>
            </a:r>
            <a:r>
              <a:rPr lang="en-US" altLang="zh-CN" sz="2400">
                <a:ea typeface="宋体" pitchFamily="2" charset="-122"/>
              </a:rPr>
              <a:t>y</a:t>
            </a:r>
            <a:r>
              <a:rPr lang="en-US" altLang="zh-CN" sz="2400" baseline="-25000">
                <a:ea typeface="宋体" pitchFamily="2" charset="-122"/>
              </a:rPr>
              <a:t>t</a:t>
            </a:r>
            <a:r>
              <a:rPr lang="en-US" altLang="zh-CN" sz="2400">
                <a:ea typeface="宋体" pitchFamily="2" charset="-122"/>
              </a:rPr>
              <a:t>, </a:t>
            </a:r>
            <a:r>
              <a:rPr lang="zh-CN" altLang="en-US" sz="2400">
                <a:ea typeface="宋体" pitchFamily="2" charset="-122"/>
              </a:rPr>
              <a:t>则</a:t>
            </a:r>
            <a:r>
              <a:rPr lang="en-US" altLang="zh-CN" sz="2400">
                <a:ea typeface="宋体" pitchFamily="2" charset="-122"/>
              </a:rPr>
              <a:t>t</a:t>
            </a:r>
            <a:r>
              <a:rPr lang="zh-CN" altLang="en-US" sz="2400">
                <a:ea typeface="宋体" pitchFamily="2" charset="-122"/>
              </a:rPr>
              <a:t>是叶结点，用</a:t>
            </a:r>
            <a:r>
              <a:rPr lang="en-US" altLang="zh-CN" sz="2400">
                <a:ea typeface="宋体" pitchFamily="2" charset="-122"/>
              </a:rPr>
              <a:t>y</a:t>
            </a:r>
            <a:r>
              <a:rPr lang="en-US" altLang="zh-CN" sz="2400" baseline="-25000">
                <a:ea typeface="宋体" pitchFamily="2" charset="-122"/>
              </a:rPr>
              <a:t>t</a:t>
            </a:r>
            <a:r>
              <a:rPr lang="zh-CN" altLang="en-US" sz="2400">
                <a:ea typeface="宋体" pitchFamily="2" charset="-122"/>
              </a:rPr>
              <a:t>标记</a:t>
            </a:r>
            <a:endParaRPr lang="zh-CN" altLang="en-US" sz="2400" baseline="-25000">
              <a:ea typeface="宋体" pitchFamily="2" charset="-122"/>
            </a:endParaRPr>
          </a:p>
          <a:p>
            <a:pPr lvl="1">
              <a:lnSpc>
                <a:spcPct val="80000"/>
              </a:lnSpc>
            </a:pPr>
            <a:r>
              <a:rPr lang="zh-CN" altLang="en-US" sz="2400">
                <a:ea typeface="宋体" pitchFamily="2" charset="-122"/>
              </a:rPr>
              <a:t>如果 </a:t>
            </a:r>
            <a:r>
              <a:rPr lang="en-US" altLang="zh-CN" sz="2400">
                <a:ea typeface="宋体" pitchFamily="2" charset="-122"/>
              </a:rPr>
              <a:t>D</a:t>
            </a:r>
            <a:r>
              <a:rPr lang="en-US" altLang="zh-CN" sz="2400" baseline="-25000">
                <a:ea typeface="宋体" pitchFamily="2" charset="-122"/>
              </a:rPr>
              <a:t>t</a:t>
            </a:r>
            <a:r>
              <a:rPr lang="en-US" altLang="zh-CN" sz="2400">
                <a:ea typeface="宋体" pitchFamily="2" charset="-122"/>
              </a:rPr>
              <a:t> </a:t>
            </a:r>
            <a:r>
              <a:rPr lang="zh-CN" altLang="en-US" sz="2400">
                <a:ea typeface="宋体" pitchFamily="2" charset="-122"/>
              </a:rPr>
              <a:t>中包含属于多个类的记录，则</a:t>
            </a:r>
            <a:r>
              <a:rPr lang="zh-CN" altLang="en-US" sz="2400">
                <a:solidFill>
                  <a:srgbClr val="FF0000"/>
                </a:solidFill>
                <a:ea typeface="宋体" pitchFamily="2" charset="-122"/>
              </a:rPr>
              <a:t>选择一个属性测试条件</a:t>
            </a:r>
            <a:r>
              <a:rPr lang="zh-CN" altLang="en-US" sz="2400">
                <a:ea typeface="宋体" pitchFamily="2" charset="-122"/>
              </a:rPr>
              <a:t>，将记录划分成较小的子集。对于测试条件的每个输出，创建一个子结点，并根据测试结果将</a:t>
            </a:r>
            <a:r>
              <a:rPr lang="en-US" altLang="zh-CN" sz="2400">
                <a:ea typeface="宋体" pitchFamily="2" charset="-122"/>
              </a:rPr>
              <a:t>D</a:t>
            </a:r>
            <a:r>
              <a:rPr lang="en-US" altLang="zh-CN" sz="2400" baseline="-25000">
                <a:ea typeface="宋体" pitchFamily="2" charset="-122"/>
              </a:rPr>
              <a:t>t</a:t>
            </a:r>
            <a:r>
              <a:rPr lang="zh-CN" altLang="en-US" sz="2400">
                <a:ea typeface="宋体" pitchFamily="2" charset="-122"/>
              </a:rPr>
              <a:t>中的记录分布到子结点中。然后，对于每个子结点，递归地调用该算法</a:t>
            </a:r>
            <a:endParaRPr lang="en-US" altLang="zh-CN" sz="2400" baseline="-25000">
              <a:ea typeface="宋体" pitchFamily="2" charset="-122"/>
            </a:endParaRPr>
          </a:p>
        </p:txBody>
      </p:sp>
      <p:graphicFrame>
        <p:nvGraphicFramePr>
          <p:cNvPr id="2395" name=""/>
          <p:cNvGraphicFramePr>
            <a:graphicFrameLocks noChangeAspect="1"/>
          </p:cNvGraphicFramePr>
          <p:nvPr/>
        </p:nvGraphicFramePr>
        <p:xfrm>
          <a:off x="5665788" y="1143000"/>
          <a:ext cx="3021012" cy="3124200"/>
        </p:xfrm>
        <a:graphic>
          <a:graphicData uri="http://schemas.openxmlformats.org/presentationml/2006/ole">
            <mc:AlternateContent xmlns:mc="http://schemas.openxmlformats.org/markup-compatibility/2006">
              <mc:Choice xmlns:v="urn:schemas-microsoft-com:vml" Requires="v">
                <p:oleObj spid="_x0000_s1050"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5665788" y="1143000"/>
                        <a:ext cx="3021012" cy="3124200"/>
                      </a:xfrm>
                      <a:prstGeom prst="rect">
                        <a:avLst/>
                      </a:prstGeom>
                    </p:spPr>
                  </p:pic>
                </p:oleObj>
              </mc:Fallback>
            </mc:AlternateContent>
          </a:graphicData>
        </a:graphic>
      </p:graphicFrame>
      <p:sp>
        <p:nvSpPr>
          <p:cNvPr id="2396" name=""/>
          <p:cNvSpPr/>
          <p:nvPr/>
        </p:nvSpPr>
        <p:spPr>
          <a:xfrm>
            <a:off x="6019800" y="4800600"/>
            <a:ext cx="1447800" cy="762000"/>
          </a:xfrm>
          <a:prstGeom prst="ellipse">
            <a:avLst/>
          </a:prstGeom>
          <a:noFill/>
          <a:ln w="38100" cap="flat">
            <a:solidFill>
              <a:srgbClr val="FF0000"/>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cxnSp>
        <p:nvCxnSpPr>
          <p:cNvPr id="2397" name=""/>
          <p:cNvCxnSpPr/>
          <p:nvPr/>
        </p:nvCxnSpPr>
        <p:spPr>
          <a:xfrm flipH="1">
            <a:off x="5715000" y="5562600"/>
            <a:ext cx="990600" cy="381000"/>
          </a:xfrm>
          <a:prstGeom prst="line">
            <a:avLst/>
          </a:prstGeom>
          <a:noFill/>
          <a:ln w="12700" cap="flat">
            <a:solidFill>
              <a:srgbClr val="000000"/>
            </a:solidFill>
            <a:prstDash val="solid"/>
            <a:miter lim="800000"/>
            <a:headEnd type="none" w="med" len="med"/>
            <a:tailEnd type="triangle" w="med" len="med"/>
          </a:ln>
        </p:spPr>
      </p:cxnSp>
      <p:cxnSp>
        <p:nvCxnSpPr>
          <p:cNvPr id="2398" name=""/>
          <p:cNvCxnSpPr/>
          <p:nvPr/>
        </p:nvCxnSpPr>
        <p:spPr>
          <a:xfrm flipH="1">
            <a:off x="6858000" y="5562600"/>
            <a:ext cx="0" cy="533400"/>
          </a:xfrm>
          <a:prstGeom prst="line">
            <a:avLst/>
          </a:prstGeom>
          <a:noFill/>
          <a:ln w="12700" cap="flat">
            <a:solidFill>
              <a:srgbClr val="000000"/>
            </a:solidFill>
            <a:prstDash val="solid"/>
            <a:miter lim="800000"/>
            <a:headEnd type="none" w="med" len="med"/>
            <a:tailEnd type="triangle" w="med" len="med"/>
          </a:ln>
        </p:spPr>
      </p:cxnSp>
      <p:cxnSp>
        <p:nvCxnSpPr>
          <p:cNvPr id="2399" name=""/>
          <p:cNvCxnSpPr/>
          <p:nvPr/>
        </p:nvCxnSpPr>
        <p:spPr>
          <a:xfrm>
            <a:off x="7010400" y="5562600"/>
            <a:ext cx="990600" cy="381000"/>
          </a:xfrm>
          <a:prstGeom prst="line">
            <a:avLst/>
          </a:prstGeom>
          <a:noFill/>
          <a:ln w="12700" cap="flat">
            <a:solidFill>
              <a:srgbClr val="000000"/>
            </a:solidFill>
            <a:prstDash val="solid"/>
            <a:miter lim="800000"/>
            <a:headEnd type="none" w="med" len="med"/>
            <a:tailEnd type="triangle" w="med" len="med"/>
          </a:ln>
        </p:spPr>
      </p:cxnSp>
      <p:cxnSp>
        <p:nvCxnSpPr>
          <p:cNvPr id="2400" name=""/>
          <p:cNvCxnSpPr/>
          <p:nvPr/>
        </p:nvCxnSpPr>
        <p:spPr>
          <a:xfrm flipH="1">
            <a:off x="6705600" y="4419600"/>
            <a:ext cx="228600" cy="381000"/>
          </a:xfrm>
          <a:prstGeom prst="line">
            <a:avLst/>
          </a:prstGeom>
          <a:noFill/>
          <a:ln w="12700" cap="flat">
            <a:solidFill>
              <a:srgbClr val="000000"/>
            </a:solidFill>
            <a:prstDash val="solid"/>
            <a:miter lim="800000"/>
            <a:headEnd type="none" w="med" len="med"/>
            <a:tailEnd type="triangle" w="med" len="med"/>
          </a:ln>
        </p:spPr>
      </p:cxnSp>
      <p:sp>
        <p:nvSpPr>
          <p:cNvPr id="2401" name=""/>
          <p:cNvSpPr/>
          <p:nvPr/>
        </p:nvSpPr>
        <p:spPr>
          <a:xfrm>
            <a:off x="6934200" y="4267200"/>
            <a:ext cx="609600" cy="3968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D</a:t>
            </a:r>
            <a:r>
              <a:rPr kumimoji="0" lang="en-US" altLang="zh-CN" sz="2000" b="1" u="none" baseline="-25000">
                <a:latin typeface="Arial" pitchFamily="34" charset="0"/>
                <a:ea typeface="宋体" pitchFamily="2" charset="-122"/>
              </a:rPr>
              <a:t>t</a:t>
            </a:r>
          </a:p>
        </p:txBody>
      </p:sp>
      <p:sp>
        <p:nvSpPr>
          <p:cNvPr id="2402" name=""/>
          <p:cNvSpPr/>
          <p:nvPr/>
        </p:nvSpPr>
        <p:spPr>
          <a:xfrm>
            <a:off x="6553200" y="4953000"/>
            <a:ext cx="381000" cy="45720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400" b="1" u="none">
                <a:latin typeface="Arial" pitchFamily="34" charset="0"/>
                <a:ea typeface="宋体" pitchFamily="2" charset="-122"/>
              </a:rPr>
              <a:t>?</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40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en-US" altLang="zh-CN">
                <a:ea typeface="宋体" pitchFamily="2" charset="-122"/>
              </a:rPr>
              <a:t>Hunt</a:t>
            </a:r>
            <a:r>
              <a:rPr lang="zh-CN" altLang="en-US">
                <a:ea typeface="宋体" pitchFamily="2" charset="-122"/>
              </a:rPr>
              <a:t>算法</a:t>
            </a:r>
          </a:p>
        </p:txBody>
      </p:sp>
      <p:sp>
        <p:nvSpPr>
          <p:cNvPr id="2406" name=""/>
          <p:cNvSpPr/>
          <p:nvPr/>
        </p:nvSpPr>
        <p:spPr>
          <a:xfrm>
            <a:off x="304800" y="1447800"/>
            <a:ext cx="576262" cy="414338"/>
          </a:xfrm>
          <a:prstGeom prst="rect">
            <a:avLst/>
          </a:prstGeom>
          <a:no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grpSp>
        <p:nvGrpSpPr>
          <p:cNvPr id="2407" name=""/>
          <p:cNvGrpSpPr/>
          <p:nvPr/>
        </p:nvGrpSpPr>
        <p:grpSpPr>
          <a:xfrm>
            <a:off x="990600" y="1143000"/>
            <a:ext cx="2168525" cy="1262062"/>
            <a:chOff x="624" y="720"/>
            <a:chExt cx="1366" cy="795"/>
          </a:xfrm>
        </p:grpSpPr>
        <p:grpSp>
          <p:nvGrpSpPr>
            <p:cNvPr id="2408" name=""/>
            <p:cNvGrpSpPr/>
            <p:nvPr/>
          </p:nvGrpSpPr>
          <p:grpSpPr>
            <a:xfrm>
              <a:off x="864" y="720"/>
              <a:ext cx="1126" cy="795"/>
              <a:chOff x="480" y="2640"/>
              <a:chExt cx="1126" cy="795"/>
            </a:xfrm>
          </p:grpSpPr>
          <p:sp>
            <p:nvSpPr>
              <p:cNvPr id="2409" name=""/>
              <p:cNvSpPr/>
              <p:nvPr/>
            </p:nvSpPr>
            <p:spPr>
              <a:xfrm>
                <a:off x="807" y="2640"/>
                <a:ext cx="436" cy="272"/>
              </a:xfrm>
              <a:prstGeom prst="ellipse">
                <a:avLst/>
              </a:prstGeom>
              <a:solidFill>
                <a:srgbClr val="FFFFFF"/>
              </a:solid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solidFill>
                      <a:srgbClr val="0033CC"/>
                    </a:solidFill>
                    <a:latin typeface="Times New Roman" pitchFamily="18" charset="0"/>
                    <a:ea typeface="宋体" pitchFamily="2" charset="-122"/>
                  </a:rPr>
                  <a:t>Refund</a:t>
                </a:r>
              </a:p>
            </p:txBody>
          </p:sp>
          <p:cxnSp>
            <p:nvCxnSpPr>
              <p:cNvPr id="2410" name=""/>
              <p:cNvCxnSpPr/>
              <p:nvPr/>
            </p:nvCxnSpPr>
            <p:spPr>
              <a:xfrm flipH="1">
                <a:off x="661" y="2912"/>
                <a:ext cx="364" cy="224"/>
              </a:xfrm>
              <a:prstGeom prst="line">
                <a:avLst/>
              </a:prstGeom>
              <a:noFill/>
              <a:ln w="25400" cap="flat">
                <a:solidFill>
                  <a:srgbClr val="3366FF"/>
                </a:solidFill>
                <a:prstDash val="solid"/>
                <a:miter lim="800000"/>
                <a:headEnd type="none" w="med" len="med"/>
                <a:tailEnd type="none" w="med" len="med"/>
              </a:ln>
            </p:spPr>
          </p:cxnSp>
          <p:cxnSp>
            <p:nvCxnSpPr>
              <p:cNvPr id="2411" name=""/>
              <p:cNvCxnSpPr/>
              <p:nvPr/>
            </p:nvCxnSpPr>
            <p:spPr>
              <a:xfrm>
                <a:off x="1025" y="2912"/>
                <a:ext cx="363" cy="224"/>
              </a:xfrm>
              <a:prstGeom prst="line">
                <a:avLst/>
              </a:prstGeom>
              <a:noFill/>
              <a:ln w="25400" cap="flat">
                <a:solidFill>
                  <a:srgbClr val="3366FF"/>
                </a:solidFill>
                <a:prstDash val="solid"/>
                <a:miter lim="800000"/>
                <a:headEnd type="none" w="med" len="med"/>
                <a:tailEnd type="none" w="med" len="med"/>
              </a:ln>
            </p:spPr>
          </p:cxnSp>
          <p:sp>
            <p:nvSpPr>
              <p:cNvPr id="2412" name=""/>
              <p:cNvSpPr/>
              <p:nvPr/>
            </p:nvSpPr>
            <p:spPr>
              <a:xfrm>
                <a:off x="480" y="3136"/>
                <a:ext cx="363" cy="299"/>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13" name=""/>
              <p:cNvSpPr/>
              <p:nvPr/>
            </p:nvSpPr>
            <p:spPr>
              <a:xfrm>
                <a:off x="1243" y="3136"/>
                <a:ext cx="363" cy="261"/>
              </a:xfrm>
              <a:prstGeom prst="rect">
                <a:avLst/>
              </a:prstGeom>
              <a:no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14" name=""/>
              <p:cNvSpPr/>
              <p:nvPr/>
            </p:nvSpPr>
            <p:spPr>
              <a:xfrm>
                <a:off x="568" y="2869"/>
                <a:ext cx="31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Yes</a:t>
                </a:r>
              </a:p>
            </p:txBody>
          </p:sp>
          <p:sp>
            <p:nvSpPr>
              <p:cNvPr id="2415" name=""/>
              <p:cNvSpPr/>
              <p:nvPr/>
            </p:nvSpPr>
            <p:spPr>
              <a:xfrm>
                <a:off x="1260" y="2869"/>
                <a:ext cx="26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No</a:t>
                </a:r>
              </a:p>
            </p:txBody>
          </p:sp>
        </p:grpSp>
        <p:cxnSp>
          <p:nvCxnSpPr>
            <p:cNvPr id="2416" name=""/>
            <p:cNvCxnSpPr/>
            <p:nvPr/>
          </p:nvCxnSpPr>
          <p:spPr>
            <a:xfrm flipV="1">
              <a:off x="624" y="1056"/>
              <a:ext cx="240" cy="0"/>
            </a:xfrm>
            <a:prstGeom prst="line">
              <a:avLst/>
            </a:prstGeom>
            <a:noFill/>
            <a:ln w="76200" cap="flat" cmpd="tri">
              <a:solidFill>
                <a:srgbClr val="CC3300"/>
              </a:solidFill>
              <a:prstDash val="solid"/>
              <a:miter lim="800000"/>
              <a:headEnd type="none" w="med" len="med"/>
              <a:tailEnd type="arrow" w="med" len="sm"/>
            </a:ln>
          </p:spPr>
        </p:cxnSp>
      </p:grpSp>
      <p:grpSp>
        <p:nvGrpSpPr>
          <p:cNvPr id="2417" name=""/>
          <p:cNvGrpSpPr/>
          <p:nvPr/>
        </p:nvGrpSpPr>
        <p:grpSpPr>
          <a:xfrm>
            <a:off x="2667000" y="3048000"/>
            <a:ext cx="3325812" cy="3294062"/>
            <a:chOff x="1536" y="1920"/>
            <a:chExt cx="2095" cy="2075"/>
          </a:xfrm>
        </p:grpSpPr>
        <p:grpSp>
          <p:nvGrpSpPr>
            <p:cNvPr id="2418" name=""/>
            <p:cNvGrpSpPr/>
            <p:nvPr/>
          </p:nvGrpSpPr>
          <p:grpSpPr>
            <a:xfrm>
              <a:off x="1824" y="1920"/>
              <a:ext cx="1807" cy="2075"/>
              <a:chOff x="3840" y="1824"/>
              <a:chExt cx="1807" cy="2075"/>
            </a:xfrm>
          </p:grpSpPr>
          <p:sp>
            <p:nvSpPr>
              <p:cNvPr id="2419" name=""/>
              <p:cNvSpPr/>
              <p:nvPr/>
            </p:nvSpPr>
            <p:spPr>
              <a:xfrm>
                <a:off x="4311" y="1824"/>
                <a:ext cx="437" cy="283"/>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Refund</a:t>
                </a:r>
              </a:p>
            </p:txBody>
          </p:sp>
          <p:cxnSp>
            <p:nvCxnSpPr>
              <p:cNvPr id="2420" name=""/>
              <p:cNvCxnSpPr/>
              <p:nvPr/>
            </p:nvCxnSpPr>
            <p:spPr>
              <a:xfrm flipH="1">
                <a:off x="4166" y="2107"/>
                <a:ext cx="364" cy="224"/>
              </a:xfrm>
              <a:prstGeom prst="line">
                <a:avLst/>
              </a:prstGeom>
              <a:noFill/>
              <a:ln cap="flat">
                <a:solidFill>
                  <a:srgbClr val="000000"/>
                </a:solidFill>
                <a:prstDash val="solid"/>
                <a:miter lim="800000"/>
                <a:headEnd type="none" w="med" len="med"/>
                <a:tailEnd type="none" w="med" len="med"/>
              </a:ln>
            </p:spPr>
          </p:cxnSp>
          <p:cxnSp>
            <p:nvCxnSpPr>
              <p:cNvPr id="2421" name=""/>
              <p:cNvCxnSpPr/>
              <p:nvPr/>
            </p:nvCxnSpPr>
            <p:spPr>
              <a:xfrm>
                <a:off x="4530" y="2107"/>
                <a:ext cx="363" cy="224"/>
              </a:xfrm>
              <a:prstGeom prst="line">
                <a:avLst/>
              </a:prstGeom>
              <a:noFill/>
              <a:ln cap="flat">
                <a:solidFill>
                  <a:srgbClr val="000000"/>
                </a:solidFill>
                <a:prstDash val="solid"/>
                <a:miter lim="800000"/>
                <a:headEnd type="none" w="med" len="med"/>
                <a:tailEnd type="none" w="med" len="med"/>
              </a:ln>
            </p:spPr>
          </p:cxnSp>
          <p:sp>
            <p:nvSpPr>
              <p:cNvPr id="2422" name=""/>
              <p:cNvSpPr/>
              <p:nvPr/>
            </p:nvSpPr>
            <p:spPr>
              <a:xfrm>
                <a:off x="3984" y="2331"/>
                <a:ext cx="364" cy="298"/>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23" name=""/>
              <p:cNvSpPr/>
              <p:nvPr/>
            </p:nvSpPr>
            <p:spPr>
              <a:xfrm>
                <a:off x="4072" y="2062"/>
                <a:ext cx="31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Yes</a:t>
                </a:r>
              </a:p>
            </p:txBody>
          </p:sp>
          <p:sp>
            <p:nvSpPr>
              <p:cNvPr id="2424" name=""/>
              <p:cNvSpPr/>
              <p:nvPr/>
            </p:nvSpPr>
            <p:spPr>
              <a:xfrm>
                <a:off x="4765" y="2062"/>
                <a:ext cx="26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No</a:t>
                </a:r>
              </a:p>
            </p:txBody>
          </p:sp>
          <p:sp>
            <p:nvSpPr>
              <p:cNvPr id="2425" name=""/>
              <p:cNvSpPr/>
              <p:nvPr/>
            </p:nvSpPr>
            <p:spPr>
              <a:xfrm>
                <a:off x="4639" y="2331"/>
                <a:ext cx="545" cy="373"/>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Marital</a:t>
                </a:r>
              </a:p>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Status</a:t>
                </a:r>
              </a:p>
            </p:txBody>
          </p:sp>
          <p:cxnSp>
            <p:nvCxnSpPr>
              <p:cNvPr id="2426" name=""/>
              <p:cNvCxnSpPr/>
              <p:nvPr/>
            </p:nvCxnSpPr>
            <p:spPr>
              <a:xfrm flipH="1">
                <a:off x="4464" y="2704"/>
                <a:ext cx="465" cy="272"/>
              </a:xfrm>
              <a:prstGeom prst="line">
                <a:avLst/>
              </a:prstGeom>
              <a:noFill/>
              <a:ln cap="flat">
                <a:solidFill>
                  <a:srgbClr val="000000"/>
                </a:solidFill>
                <a:prstDash val="solid"/>
                <a:miter lim="800000"/>
                <a:headEnd type="none" w="med" len="med"/>
                <a:tailEnd type="none" w="med" len="med"/>
              </a:ln>
            </p:spPr>
          </p:cxnSp>
          <p:cxnSp>
            <p:nvCxnSpPr>
              <p:cNvPr id="2427" name=""/>
              <p:cNvCxnSpPr/>
              <p:nvPr/>
            </p:nvCxnSpPr>
            <p:spPr>
              <a:xfrm>
                <a:off x="4929" y="2704"/>
                <a:ext cx="400" cy="261"/>
              </a:xfrm>
              <a:prstGeom prst="line">
                <a:avLst/>
              </a:prstGeom>
              <a:noFill/>
              <a:ln cap="flat">
                <a:solidFill>
                  <a:srgbClr val="000000"/>
                </a:solidFill>
                <a:prstDash val="solid"/>
                <a:miter lim="800000"/>
                <a:headEnd type="none" w="med" len="med"/>
                <a:tailEnd type="none" w="med" len="med"/>
              </a:ln>
            </p:spPr>
          </p:cxnSp>
          <p:sp>
            <p:nvSpPr>
              <p:cNvPr id="2428" name=""/>
              <p:cNvSpPr/>
              <p:nvPr/>
            </p:nvSpPr>
            <p:spPr>
              <a:xfrm>
                <a:off x="5148" y="2965"/>
                <a:ext cx="363" cy="299"/>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29" name=""/>
              <p:cNvSpPr/>
              <p:nvPr/>
            </p:nvSpPr>
            <p:spPr>
              <a:xfrm>
                <a:off x="4704" y="3600"/>
                <a:ext cx="364" cy="262"/>
              </a:xfrm>
              <a:prstGeom prst="rect">
                <a:avLst/>
              </a:prstGeom>
              <a:no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Cheat</a:t>
                </a:r>
              </a:p>
            </p:txBody>
          </p:sp>
          <p:sp>
            <p:nvSpPr>
              <p:cNvPr id="2430" name=""/>
              <p:cNvSpPr/>
              <p:nvPr/>
            </p:nvSpPr>
            <p:spPr>
              <a:xfrm>
                <a:off x="4062" y="2621"/>
                <a:ext cx="594" cy="32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Single,</a:t>
                </a:r>
              </a:p>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Divorced</a:t>
                </a:r>
              </a:p>
            </p:txBody>
          </p:sp>
          <p:sp>
            <p:nvSpPr>
              <p:cNvPr id="2431" name=""/>
              <p:cNvSpPr/>
              <p:nvPr/>
            </p:nvSpPr>
            <p:spPr>
              <a:xfrm>
                <a:off x="5127" y="2688"/>
                <a:ext cx="520"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Married</a:t>
                </a:r>
              </a:p>
            </p:txBody>
          </p:sp>
          <p:sp>
            <p:nvSpPr>
              <p:cNvPr id="2432" name=""/>
              <p:cNvSpPr/>
              <p:nvPr/>
            </p:nvSpPr>
            <p:spPr>
              <a:xfrm>
                <a:off x="4080" y="2976"/>
                <a:ext cx="768" cy="384"/>
              </a:xfrm>
              <a:prstGeom prst="ellipse">
                <a:avLst/>
              </a:prstGeom>
              <a:no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solidFill>
                      <a:srgbClr val="0033CC"/>
                    </a:solidFill>
                    <a:latin typeface="Times New Roman" pitchFamily="18" charset="0"/>
                    <a:ea typeface="宋体" pitchFamily="2" charset="-122"/>
                  </a:rPr>
                  <a:t>Taxable</a:t>
                </a:r>
              </a:p>
              <a:p>
                <a:pPr lvl="0" algn="ctr" eaLnBrk="0" fontAlgn="base" hangingPunct="0">
                  <a:lnSpc>
                    <a:spcPct val="100000"/>
                  </a:lnSpc>
                  <a:spcBef>
                    <a:spcPct val="0"/>
                  </a:spcBef>
                  <a:spcAft>
                    <a:spcPct val="0"/>
                  </a:spcAft>
                  <a:buClrTx/>
                  <a:buSzTx/>
                </a:pPr>
                <a:r>
                  <a:rPr kumimoji="0" lang="en-US" altLang="zh-CN" sz="1600" u="none">
                    <a:solidFill>
                      <a:srgbClr val="0033CC"/>
                    </a:solidFill>
                    <a:latin typeface="Times New Roman" pitchFamily="18" charset="0"/>
                    <a:ea typeface="宋体" pitchFamily="2" charset="-122"/>
                  </a:rPr>
                  <a:t>Income</a:t>
                </a:r>
              </a:p>
            </p:txBody>
          </p:sp>
          <p:sp>
            <p:nvSpPr>
              <p:cNvPr id="2433" name=""/>
              <p:cNvSpPr/>
              <p:nvPr/>
            </p:nvSpPr>
            <p:spPr>
              <a:xfrm>
                <a:off x="3840" y="3600"/>
                <a:ext cx="363" cy="299"/>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cxnSp>
            <p:nvCxnSpPr>
              <p:cNvPr id="2434" name=""/>
              <p:cNvCxnSpPr/>
              <p:nvPr/>
            </p:nvCxnSpPr>
            <p:spPr>
              <a:xfrm flipH="1">
                <a:off x="4032" y="3360"/>
                <a:ext cx="432" cy="240"/>
              </a:xfrm>
              <a:prstGeom prst="line">
                <a:avLst/>
              </a:prstGeom>
              <a:noFill/>
              <a:ln w="25400" cap="flat">
                <a:solidFill>
                  <a:srgbClr val="3366FF"/>
                </a:solidFill>
                <a:prstDash val="solid"/>
                <a:miter lim="800000"/>
                <a:headEnd type="none" w="med" len="med"/>
                <a:tailEnd type="none" w="med" len="med"/>
              </a:ln>
            </p:spPr>
          </p:cxnSp>
          <p:cxnSp>
            <p:nvCxnSpPr>
              <p:cNvPr id="2435" name=""/>
              <p:cNvCxnSpPr/>
              <p:nvPr/>
            </p:nvCxnSpPr>
            <p:spPr>
              <a:xfrm>
                <a:off x="4464" y="3360"/>
                <a:ext cx="432" cy="240"/>
              </a:xfrm>
              <a:prstGeom prst="line">
                <a:avLst/>
              </a:prstGeom>
              <a:noFill/>
              <a:ln w="25400" cap="flat">
                <a:solidFill>
                  <a:srgbClr val="3366FF"/>
                </a:solidFill>
                <a:prstDash val="solid"/>
                <a:miter lim="800000"/>
                <a:headEnd type="none" w="med" len="med"/>
                <a:tailEnd type="none" w="med" len="med"/>
              </a:ln>
            </p:spPr>
          </p:cxnSp>
          <p:sp>
            <p:nvSpPr>
              <p:cNvPr id="2436" name=""/>
              <p:cNvSpPr/>
              <p:nvPr/>
            </p:nvSpPr>
            <p:spPr>
              <a:xfrm>
                <a:off x="3840" y="3360"/>
                <a:ext cx="417"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&lt; 80K</a:t>
                </a:r>
              </a:p>
            </p:txBody>
          </p:sp>
          <p:sp>
            <p:nvSpPr>
              <p:cNvPr id="2437" name=""/>
              <p:cNvSpPr/>
              <p:nvPr/>
            </p:nvSpPr>
            <p:spPr>
              <a:xfrm>
                <a:off x="4704" y="3360"/>
                <a:ext cx="482"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&gt;= 80K</a:t>
                </a:r>
              </a:p>
            </p:txBody>
          </p:sp>
        </p:grpSp>
        <p:cxnSp>
          <p:nvCxnSpPr>
            <p:cNvPr id="2438" name=""/>
            <p:cNvCxnSpPr/>
            <p:nvPr/>
          </p:nvCxnSpPr>
          <p:spPr>
            <a:xfrm rot="18900000">
              <a:off x="1536" y="2400"/>
              <a:ext cx="192" cy="192"/>
            </a:xfrm>
            <a:prstGeom prst="line">
              <a:avLst/>
            </a:prstGeom>
            <a:noFill/>
            <a:ln w="76200" cap="flat" cmpd="tri">
              <a:solidFill>
                <a:srgbClr val="CC3300"/>
              </a:solidFill>
              <a:prstDash val="solid"/>
              <a:miter lim="800000"/>
              <a:headEnd type="none" w="med" len="med"/>
              <a:tailEnd type="arrow" w="med" len="sm"/>
            </a:ln>
          </p:spPr>
        </p:cxnSp>
      </p:grpSp>
      <p:grpSp>
        <p:nvGrpSpPr>
          <p:cNvPr id="2439" name=""/>
          <p:cNvGrpSpPr/>
          <p:nvPr/>
        </p:nvGrpSpPr>
        <p:grpSpPr>
          <a:xfrm>
            <a:off x="457200" y="2789238"/>
            <a:ext cx="2654300" cy="2620962"/>
            <a:chOff x="48" y="1757"/>
            <a:chExt cx="1672" cy="1651"/>
          </a:xfrm>
        </p:grpSpPr>
        <p:grpSp>
          <p:nvGrpSpPr>
            <p:cNvPr id="2440" name=""/>
            <p:cNvGrpSpPr/>
            <p:nvPr/>
          </p:nvGrpSpPr>
          <p:grpSpPr>
            <a:xfrm>
              <a:off x="48" y="1968"/>
              <a:ext cx="1672" cy="1440"/>
              <a:chOff x="2016" y="1824"/>
              <a:chExt cx="1672" cy="1440"/>
            </a:xfrm>
          </p:grpSpPr>
          <p:grpSp>
            <p:nvGrpSpPr>
              <p:cNvPr id="2441" name=""/>
              <p:cNvGrpSpPr/>
              <p:nvPr/>
            </p:nvGrpSpPr>
            <p:grpSpPr>
              <a:xfrm>
                <a:off x="2016" y="1824"/>
                <a:ext cx="1527" cy="1440"/>
                <a:chOff x="2016" y="1968"/>
                <a:chExt cx="1527" cy="1440"/>
              </a:xfrm>
            </p:grpSpPr>
            <p:sp>
              <p:nvSpPr>
                <p:cNvPr id="2442" name=""/>
                <p:cNvSpPr/>
                <p:nvPr/>
              </p:nvSpPr>
              <p:spPr>
                <a:xfrm>
                  <a:off x="2343" y="1968"/>
                  <a:ext cx="437" cy="283"/>
                </a:xfrm>
                <a:prstGeom prst="ellipse">
                  <a:avLst/>
                </a:prstGeom>
                <a:solidFill>
                  <a:srgbClr val="FFFFFF"/>
                </a:solid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Refund</a:t>
                  </a:r>
                </a:p>
              </p:txBody>
            </p:sp>
            <p:cxnSp>
              <p:nvCxnSpPr>
                <p:cNvPr id="2443" name=""/>
                <p:cNvCxnSpPr/>
                <p:nvPr/>
              </p:nvCxnSpPr>
              <p:spPr>
                <a:xfrm flipH="1">
                  <a:off x="2198" y="2251"/>
                  <a:ext cx="364" cy="224"/>
                </a:xfrm>
                <a:prstGeom prst="line">
                  <a:avLst/>
                </a:prstGeom>
                <a:noFill/>
                <a:ln cap="flat">
                  <a:solidFill>
                    <a:srgbClr val="000000"/>
                  </a:solidFill>
                  <a:prstDash val="solid"/>
                  <a:miter lim="800000"/>
                  <a:headEnd type="none" w="med" len="med"/>
                  <a:tailEnd type="none" w="med" len="med"/>
                </a:ln>
              </p:spPr>
            </p:cxnSp>
            <p:cxnSp>
              <p:nvCxnSpPr>
                <p:cNvPr id="2444" name=""/>
                <p:cNvCxnSpPr/>
                <p:nvPr/>
              </p:nvCxnSpPr>
              <p:spPr>
                <a:xfrm>
                  <a:off x="2562" y="2251"/>
                  <a:ext cx="363" cy="224"/>
                </a:xfrm>
                <a:prstGeom prst="line">
                  <a:avLst/>
                </a:prstGeom>
                <a:noFill/>
                <a:ln cap="flat">
                  <a:solidFill>
                    <a:srgbClr val="000000"/>
                  </a:solidFill>
                  <a:prstDash val="solid"/>
                  <a:miter lim="800000"/>
                  <a:headEnd type="none" w="med" len="med"/>
                  <a:tailEnd type="none" w="med" len="med"/>
                </a:ln>
              </p:spPr>
            </p:cxnSp>
            <p:sp>
              <p:nvSpPr>
                <p:cNvPr id="2445" name=""/>
                <p:cNvSpPr/>
                <p:nvPr/>
              </p:nvSpPr>
              <p:spPr>
                <a:xfrm>
                  <a:off x="2016" y="2475"/>
                  <a:ext cx="364" cy="298"/>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46" name=""/>
                <p:cNvSpPr/>
                <p:nvPr/>
              </p:nvSpPr>
              <p:spPr>
                <a:xfrm>
                  <a:off x="2104" y="2206"/>
                  <a:ext cx="31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Yes</a:t>
                  </a:r>
                </a:p>
              </p:txBody>
            </p:sp>
            <p:sp>
              <p:nvSpPr>
                <p:cNvPr id="2447" name=""/>
                <p:cNvSpPr/>
                <p:nvPr/>
              </p:nvSpPr>
              <p:spPr>
                <a:xfrm>
                  <a:off x="2797" y="2206"/>
                  <a:ext cx="265"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latin typeface="Arial" pitchFamily="34" charset="0"/>
                      <a:ea typeface="宋体" pitchFamily="2" charset="-122"/>
                    </a:rPr>
                    <a:t>No</a:t>
                  </a:r>
                </a:p>
              </p:txBody>
            </p:sp>
            <p:sp>
              <p:nvSpPr>
                <p:cNvPr id="2448" name=""/>
                <p:cNvSpPr/>
                <p:nvPr/>
              </p:nvSpPr>
              <p:spPr>
                <a:xfrm>
                  <a:off x="2671" y="2475"/>
                  <a:ext cx="545" cy="373"/>
                </a:xfrm>
                <a:prstGeom prst="ellipse">
                  <a:avLst/>
                </a:prstGeom>
                <a:solidFill>
                  <a:srgbClr val="FFFFFF"/>
                </a:solid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solidFill>
                        <a:srgbClr val="0033CC"/>
                      </a:solidFill>
                      <a:latin typeface="Times New Roman" pitchFamily="18" charset="0"/>
                      <a:ea typeface="宋体" pitchFamily="2" charset="-122"/>
                    </a:rPr>
                    <a:t>Marital</a:t>
                  </a:r>
                </a:p>
                <a:p>
                  <a:pPr lvl="0" algn="ctr" eaLnBrk="0" fontAlgn="base" hangingPunct="0">
                    <a:lnSpc>
                      <a:spcPct val="100000"/>
                    </a:lnSpc>
                    <a:spcBef>
                      <a:spcPct val="0"/>
                    </a:spcBef>
                    <a:spcAft>
                      <a:spcPct val="0"/>
                    </a:spcAft>
                    <a:buClrTx/>
                    <a:buSzTx/>
                  </a:pPr>
                  <a:r>
                    <a:rPr kumimoji="0" lang="en-US" altLang="zh-CN" sz="1600" u="none">
                      <a:solidFill>
                        <a:srgbClr val="0033CC"/>
                      </a:solidFill>
                      <a:latin typeface="Times New Roman" pitchFamily="18" charset="0"/>
                      <a:ea typeface="宋体" pitchFamily="2" charset="-122"/>
                    </a:rPr>
                    <a:t>Status</a:t>
                  </a:r>
                </a:p>
              </p:txBody>
            </p:sp>
            <p:cxnSp>
              <p:nvCxnSpPr>
                <p:cNvPr id="2449" name=""/>
                <p:cNvCxnSpPr/>
                <p:nvPr/>
              </p:nvCxnSpPr>
              <p:spPr>
                <a:xfrm flipH="1">
                  <a:off x="2525" y="2848"/>
                  <a:ext cx="436" cy="261"/>
                </a:xfrm>
                <a:prstGeom prst="line">
                  <a:avLst/>
                </a:prstGeom>
                <a:noFill/>
                <a:ln w="25400" cap="flat">
                  <a:solidFill>
                    <a:srgbClr val="3366FF"/>
                  </a:solidFill>
                  <a:prstDash val="solid"/>
                  <a:miter lim="800000"/>
                  <a:headEnd type="none" w="med" len="med"/>
                  <a:tailEnd type="none" w="med" len="med"/>
                </a:ln>
              </p:spPr>
            </p:cxnSp>
            <p:cxnSp>
              <p:nvCxnSpPr>
                <p:cNvPr id="2450" name=""/>
                <p:cNvCxnSpPr/>
                <p:nvPr/>
              </p:nvCxnSpPr>
              <p:spPr>
                <a:xfrm>
                  <a:off x="2961" y="2848"/>
                  <a:ext cx="400" cy="261"/>
                </a:xfrm>
                <a:prstGeom prst="line">
                  <a:avLst/>
                </a:prstGeom>
                <a:noFill/>
                <a:ln w="25400" cap="flat">
                  <a:solidFill>
                    <a:srgbClr val="3366FF"/>
                  </a:solidFill>
                  <a:prstDash val="solid"/>
                  <a:miter lim="800000"/>
                  <a:headEnd type="none" w="med" len="med"/>
                  <a:tailEnd type="none" w="med" len="med"/>
                </a:ln>
              </p:spPr>
            </p:cxnSp>
            <p:sp>
              <p:nvSpPr>
                <p:cNvPr id="2451" name=""/>
                <p:cNvSpPr/>
                <p:nvPr/>
              </p:nvSpPr>
              <p:spPr>
                <a:xfrm>
                  <a:off x="3180" y="3109"/>
                  <a:ext cx="363" cy="299"/>
                </a:xfrm>
                <a:prstGeom prst="rect">
                  <a:avLst/>
                </a:prstGeom>
                <a:solidFill>
                  <a:srgbClr val="FFFFFF"/>
                </a:solidFill>
                <a:ln w="50800" cap="flat" cmpd="thickThin">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Don’t </a:t>
                  </a:r>
                </a:p>
                <a:p>
                  <a:pPr lvl="0" algn="ctr" eaLnBrk="0" fontAlgn="base" hangingPunct="0">
                    <a:lnSpc>
                      <a:spcPct val="100000"/>
                    </a:lnSpc>
                    <a:spcBef>
                      <a:spcPct val="0"/>
                    </a:spcBef>
                    <a:spcAft>
                      <a:spcPct val="0"/>
                    </a:spcAft>
                    <a:buClrTx/>
                    <a:buSzTx/>
                  </a:pPr>
                  <a:r>
                    <a:rPr kumimoji="0" lang="en-US" altLang="zh-CN" sz="1400" u="none">
                      <a:latin typeface="Times New Roman" pitchFamily="18" charset="0"/>
                      <a:ea typeface="宋体" pitchFamily="2" charset="-122"/>
                    </a:rPr>
                    <a:t>Cheat</a:t>
                  </a:r>
                </a:p>
              </p:txBody>
            </p:sp>
            <p:sp>
              <p:nvSpPr>
                <p:cNvPr id="2452" name=""/>
                <p:cNvSpPr/>
                <p:nvPr/>
              </p:nvSpPr>
              <p:spPr>
                <a:xfrm>
                  <a:off x="2343" y="3109"/>
                  <a:ext cx="364" cy="262"/>
                </a:xfrm>
                <a:prstGeom prst="rect">
                  <a:avLst/>
                </a:prstGeom>
                <a:noFill/>
                <a:ln w="25400" cap="flat">
                  <a:solidFill>
                    <a:srgbClr val="3366FF"/>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Times New Roman" pitchFamily="18" charset="0"/>
                      <a:ea typeface="宋体" pitchFamily="2" charset="-122"/>
                    </a:rPr>
                    <a:t>Cheat</a:t>
                  </a:r>
                </a:p>
              </p:txBody>
            </p:sp>
            <p:sp>
              <p:nvSpPr>
                <p:cNvPr id="2453" name=""/>
                <p:cNvSpPr/>
                <p:nvPr/>
              </p:nvSpPr>
              <p:spPr>
                <a:xfrm>
                  <a:off x="2094" y="2765"/>
                  <a:ext cx="594" cy="32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Single,</a:t>
                  </a:r>
                </a:p>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Divorced</a:t>
                  </a:r>
                </a:p>
              </p:txBody>
            </p:sp>
          </p:grpSp>
          <p:sp>
            <p:nvSpPr>
              <p:cNvPr id="2454" name=""/>
              <p:cNvSpPr/>
              <p:nvPr/>
            </p:nvSpPr>
            <p:spPr>
              <a:xfrm>
                <a:off x="3168" y="2688"/>
                <a:ext cx="520" cy="19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400" b="1" u="none">
                    <a:solidFill>
                      <a:srgbClr val="0066FF"/>
                    </a:solidFill>
                    <a:latin typeface="Arial" pitchFamily="34" charset="0"/>
                    <a:ea typeface="宋体" pitchFamily="2" charset="-122"/>
                  </a:rPr>
                  <a:t>Married</a:t>
                </a:r>
              </a:p>
            </p:txBody>
          </p:sp>
        </p:grpSp>
        <p:cxnSp>
          <p:nvCxnSpPr>
            <p:cNvPr id="2455" name=""/>
            <p:cNvCxnSpPr/>
            <p:nvPr/>
          </p:nvCxnSpPr>
          <p:spPr>
            <a:xfrm rot="18900000" flipH="1" flipV="1">
              <a:off x="727" y="1757"/>
              <a:ext cx="402" cy="26"/>
            </a:xfrm>
            <a:prstGeom prst="line">
              <a:avLst/>
            </a:prstGeom>
            <a:noFill/>
            <a:ln w="76200" cap="flat" cmpd="tri">
              <a:solidFill>
                <a:srgbClr val="CC3300"/>
              </a:solidFill>
              <a:prstDash val="solid"/>
              <a:miter lim="800000"/>
              <a:headEnd type="none" w="med" len="med"/>
              <a:tailEnd type="arrow" w="med" len="sm"/>
            </a:ln>
          </p:spPr>
        </p:cxnSp>
      </p:grpSp>
      <p:graphicFrame>
        <p:nvGraphicFramePr>
          <p:cNvPr id="2456" name=""/>
          <p:cNvGraphicFramePr>
            <a:graphicFrameLocks noChangeAspect="1"/>
          </p:cNvGraphicFramePr>
          <p:nvPr/>
        </p:nvGraphicFramePr>
        <p:xfrm>
          <a:off x="5486400" y="990600"/>
          <a:ext cx="3413125" cy="3459162"/>
        </p:xfrm>
        <a:graphic>
          <a:graphicData uri="http://schemas.openxmlformats.org/presentationml/2006/ole">
            <mc:AlternateContent xmlns:mc="http://schemas.openxmlformats.org/markup-compatibility/2006">
              <mc:Choice xmlns:v="urn:schemas-microsoft-com:vml" Requires="v">
                <p:oleObj spid="_x0000_s1051" name="文档" r:id="rId2" progId="Word.Document.8">
                  <p:embed/>
                </p:oleObj>
              </mc:Choice>
              <mc:Fallback>
                <p:oleObj name="文档" r:id="rId2" progId="Word.Document.8">
                  <p:embed/>
                  <p:pic>
                    <p:nvPicPr>
                      <p:cNvPr id="0" name="OLE substitute image"/>
                      <p:cNvPicPr/>
                      <p:nvPr/>
                    </p:nvPicPr>
                    <p:blipFill>
                      <a:blip r:embed="rId3"/>
                      <a:srcRect r="4274"/>
                      <a:stretch>
                        <a:fillRect/>
                      </a:stretch>
                    </p:blipFill>
                    <p:spPr>
                      <a:xfrm>
                        <a:off x="5486400" y="990600"/>
                        <a:ext cx="3413125" cy="3459162"/>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additive="base">
                                        <p:cTn id="6" dur="1" fill="hold">
                                          <p:stCondLst>
                                            <p:cond delay="499"/>
                                          </p:stCondLst>
                                        </p:cTn>
                                        <p:tgtEl>
                                          <p:spTgt spid="24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1" presetClass="entr" presetSubtype="0" fill="hold" nodeType="clickEffect">
                                  <p:stCondLst>
                                    <p:cond delay="0"/>
                                  </p:stCondLst>
                                  <p:childTnLst>
                                    <p:set>
                                      <p:cBhvr additive="base">
                                        <p:cTn id="11" dur="1" fill="hold">
                                          <p:stCondLst>
                                            <p:cond delay="499"/>
                                          </p:stCondLst>
                                        </p:cTn>
                                        <p:tgtEl>
                                          <p:spTgt spid="240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indefinite"/>
                            </p:stCondLst>
                          </p:cTn>
                        </p:par>
                        <p:par>
                          <p:cTn id="14" fill="hold" nodeType="afterGroup">
                            <p:stCondLst>
                              <p:cond delay="0"/>
                            </p:stCondLst>
                            <p:childTnLst>
                              <p:par>
                                <p:cTn id="15" presetID="1" presetClass="entr" presetSubtype="0" fill="hold" nodeType="clickEffect">
                                  <p:stCondLst>
                                    <p:cond delay="0"/>
                                  </p:stCondLst>
                                  <p:childTnLst>
                                    <p:set>
                                      <p:cBhvr additive="base">
                                        <p:cTn id="16" dur="1" fill="hold">
                                          <p:stCondLst>
                                            <p:cond delay="499"/>
                                          </p:stCondLst>
                                        </p:cTn>
                                        <p:tgtEl>
                                          <p:spTgt spid="243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indefinite"/>
                            </p:stCondLst>
                          </p:cTn>
                        </p:par>
                        <p:par>
                          <p:cTn id="19" fill="hold" nodeType="afterGroup">
                            <p:stCondLst>
                              <p:cond delay="0"/>
                            </p:stCondLst>
                            <p:childTnLst>
                              <p:par>
                                <p:cTn id="20" presetID="1" presetClass="entr" presetSubtype="0" fill="hold" nodeType="clickEffect">
                                  <p:stCondLst>
                                    <p:cond delay="0"/>
                                  </p:stCondLst>
                                  <p:childTnLst>
                                    <p:set>
                                      <p:cBhvr additive="base">
                                        <p:cTn id="21" dur="1" fill="hold">
                                          <p:stCondLst>
                                            <p:cond delay="499"/>
                                          </p:stCondLst>
                                        </p:cTn>
                                        <p:tgtEl>
                                          <p:spTgt spid="2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 grpId="0"/>
    </p:bldLst>
  </p:timing>
</p:sld>
</file>

<file path=ppt/slides/slide2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45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46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Hunt</a:t>
            </a:r>
            <a:r>
              <a:rPr lang="zh-CN" altLang="en-US">
                <a:ea typeface="宋体" pitchFamily="2" charset="-122"/>
              </a:rPr>
              <a:t>算法采用贪心策略构建决策树</a:t>
            </a:r>
            <a:r>
              <a:rPr lang="en-US" altLang="zh-CN">
                <a:ea typeface="宋体" pitchFamily="2" charset="-122"/>
              </a:rPr>
              <a:t>.</a:t>
            </a:r>
          </a:p>
          <a:p>
            <a:pPr lvl="1"/>
            <a:r>
              <a:rPr lang="zh-CN" altLang="en-US">
                <a:ea typeface="宋体" pitchFamily="2" charset="-122"/>
              </a:rPr>
              <a:t>在选择划分数据的属性时，采取一系列局部最优决策来构造决策树</a:t>
            </a:r>
            <a:r>
              <a:rPr lang="en-US" altLang="zh-CN">
                <a:ea typeface="宋体" pitchFamily="2" charset="-122"/>
              </a:rPr>
              <a:t>.</a:t>
            </a:r>
          </a:p>
          <a:p>
            <a:pPr lvl="0"/>
            <a:endParaRPr lang="en-US" altLang="zh-CN">
              <a:ea typeface="宋体" pitchFamily="2" charset="-122"/>
            </a:endParaRPr>
          </a:p>
          <a:p>
            <a:pPr lvl="0"/>
            <a:r>
              <a:rPr lang="zh-CN" altLang="en-US">
                <a:ea typeface="宋体" pitchFamily="2" charset="-122"/>
              </a:rPr>
              <a:t>决策树归纳的设计问题</a:t>
            </a:r>
          </a:p>
          <a:p>
            <a:pPr lvl="1"/>
            <a:r>
              <a:rPr lang="zh-CN" altLang="en-US">
                <a:ea typeface="宋体" pitchFamily="2" charset="-122"/>
              </a:rPr>
              <a:t>如何分裂训练记录</a:t>
            </a:r>
          </a:p>
          <a:p>
            <a:pPr lvl="2"/>
            <a:r>
              <a:rPr lang="zh-CN" altLang="en-US">
                <a:ea typeface="宋体" pitchFamily="2" charset="-122"/>
              </a:rPr>
              <a:t>怎样为不同类型的属性指定测试条件</a:t>
            </a:r>
            <a:r>
              <a:rPr lang="en-US" altLang="zh-CN">
                <a:ea typeface="宋体" pitchFamily="2" charset="-122"/>
              </a:rPr>
              <a:t>?</a:t>
            </a:r>
          </a:p>
          <a:p>
            <a:pPr lvl="2"/>
            <a:r>
              <a:rPr lang="zh-CN" altLang="en-US">
                <a:ea typeface="宋体" pitchFamily="2" charset="-122"/>
              </a:rPr>
              <a:t>怎样评估每种测试条件</a:t>
            </a:r>
            <a:r>
              <a:rPr lang="en-US" altLang="zh-CN">
                <a:ea typeface="宋体" pitchFamily="2" charset="-122"/>
              </a:rPr>
              <a:t>?</a:t>
            </a:r>
          </a:p>
          <a:p>
            <a:pPr lvl="1"/>
            <a:r>
              <a:rPr lang="zh-CN" altLang="en-US">
                <a:ea typeface="宋体" pitchFamily="2" charset="-122"/>
              </a:rPr>
              <a:t>如何停止分裂过程</a:t>
            </a:r>
          </a:p>
          <a:p>
            <a:pPr lvl="1"/>
            <a:endParaRPr lang="zh-CN" altLang="en-US">
              <a:ea typeface="宋体" pitchFamily="2" charset="-122"/>
            </a:endParaRP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46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464"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Hunt</a:t>
            </a:r>
            <a:r>
              <a:rPr lang="zh-CN" altLang="en-US">
                <a:ea typeface="宋体" pitchFamily="2" charset="-122"/>
              </a:rPr>
              <a:t>算法采用贪心策略构建决策树</a:t>
            </a:r>
            <a:r>
              <a:rPr lang="en-US" altLang="zh-CN">
                <a:ea typeface="宋体" pitchFamily="2" charset="-122"/>
              </a:rPr>
              <a:t>.</a:t>
            </a:r>
          </a:p>
          <a:p>
            <a:pPr lvl="1"/>
            <a:r>
              <a:rPr lang="zh-CN" altLang="en-US">
                <a:ea typeface="宋体" pitchFamily="2" charset="-122"/>
              </a:rPr>
              <a:t>在选择划分数据的属性时，采取一系列局部最优决策来构造决策树</a:t>
            </a:r>
            <a:r>
              <a:rPr lang="en-US" altLang="zh-CN">
                <a:ea typeface="宋体" pitchFamily="2" charset="-122"/>
              </a:rPr>
              <a:t>.</a:t>
            </a:r>
          </a:p>
          <a:p>
            <a:pPr lvl="0"/>
            <a:endParaRPr lang="en-US" altLang="zh-CN">
              <a:ea typeface="宋体" pitchFamily="2" charset="-122"/>
            </a:endParaRPr>
          </a:p>
          <a:p>
            <a:pPr lvl="0"/>
            <a:r>
              <a:rPr lang="zh-CN" altLang="en-US">
                <a:ea typeface="宋体" pitchFamily="2" charset="-122"/>
              </a:rPr>
              <a:t>决策树归纳的设计问题</a:t>
            </a:r>
          </a:p>
          <a:p>
            <a:pPr lvl="1"/>
            <a:r>
              <a:rPr lang="zh-CN" altLang="en-US">
                <a:ea typeface="宋体" pitchFamily="2" charset="-122"/>
              </a:rPr>
              <a:t>如何分裂训练记录</a:t>
            </a:r>
          </a:p>
          <a:p>
            <a:pPr lvl="2"/>
            <a:r>
              <a:rPr lang="zh-CN" altLang="en-US">
                <a:solidFill>
                  <a:srgbClr val="CC3300"/>
                </a:solidFill>
                <a:ea typeface="宋体" pitchFamily="2" charset="-122"/>
              </a:rPr>
              <a:t>怎样为不同类型的属性指定测试条件</a:t>
            </a:r>
            <a:r>
              <a:rPr lang="en-US" altLang="zh-CN">
                <a:solidFill>
                  <a:srgbClr val="CC3300"/>
                </a:solidFill>
                <a:ea typeface="宋体" pitchFamily="2" charset="-122"/>
              </a:rPr>
              <a:t>?</a:t>
            </a:r>
          </a:p>
          <a:p>
            <a:pPr lvl="2"/>
            <a:r>
              <a:rPr lang="zh-CN" altLang="en-US">
                <a:ea typeface="宋体" pitchFamily="2" charset="-122"/>
              </a:rPr>
              <a:t>怎样评估每种测试条件</a:t>
            </a:r>
            <a:r>
              <a:rPr lang="en-US" altLang="zh-CN">
                <a:ea typeface="宋体" pitchFamily="2" charset="-122"/>
              </a:rPr>
              <a:t>?</a:t>
            </a:r>
          </a:p>
          <a:p>
            <a:pPr lvl="1"/>
            <a:r>
              <a:rPr lang="zh-CN" altLang="en-US">
                <a:ea typeface="宋体" pitchFamily="2" charset="-122"/>
              </a:rPr>
              <a:t>如何停止分裂过程</a:t>
            </a:r>
          </a:p>
          <a:p>
            <a:pPr lvl="1"/>
            <a:endParaRPr lang="zh-CN" altLang="en-US">
              <a:ea typeface="宋体" pitchFamily="2" charset="-122"/>
            </a:endParaRP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46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怎样为不同类型的属性指定测试条件</a:t>
            </a:r>
            <a:r>
              <a:rPr lang="en-US" altLang="zh-CN">
                <a:ea typeface="宋体" pitchFamily="2" charset="-122"/>
              </a:rPr>
              <a:t>?</a:t>
            </a:r>
          </a:p>
        </p:txBody>
      </p:sp>
      <p:sp>
        <p:nvSpPr>
          <p:cNvPr id="2468"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依赖于属性的类型</a:t>
            </a:r>
          </a:p>
          <a:p>
            <a:pPr lvl="1"/>
            <a:r>
              <a:rPr lang="zh-CN" altLang="en-US">
                <a:ea typeface="宋体" pitchFamily="2" charset="-122"/>
              </a:rPr>
              <a:t>标称</a:t>
            </a:r>
          </a:p>
          <a:p>
            <a:pPr lvl="1"/>
            <a:r>
              <a:rPr lang="zh-CN" altLang="en-US">
                <a:ea typeface="宋体" pitchFamily="2" charset="-122"/>
              </a:rPr>
              <a:t>序数</a:t>
            </a:r>
          </a:p>
          <a:p>
            <a:pPr lvl="1"/>
            <a:r>
              <a:rPr lang="zh-CN" altLang="en-US">
                <a:ea typeface="宋体" pitchFamily="2" charset="-122"/>
              </a:rPr>
              <a:t>连续</a:t>
            </a:r>
          </a:p>
          <a:p>
            <a:pPr lvl="1"/>
            <a:endParaRPr lang="en-US" altLang="zh-CN">
              <a:ea typeface="宋体" pitchFamily="2" charset="-122"/>
            </a:endParaRPr>
          </a:p>
          <a:p>
            <a:pPr lvl="0"/>
            <a:r>
              <a:rPr lang="zh-CN" altLang="en-US">
                <a:ea typeface="宋体" pitchFamily="2" charset="-122"/>
              </a:rPr>
              <a:t>依赖于划分的路数</a:t>
            </a:r>
          </a:p>
          <a:p>
            <a:pPr lvl="1"/>
            <a:r>
              <a:rPr lang="en-US" altLang="zh-CN">
                <a:ea typeface="宋体" pitchFamily="2" charset="-122"/>
              </a:rPr>
              <a:t>2</a:t>
            </a:r>
            <a:r>
              <a:rPr lang="zh-CN" altLang="en-US">
                <a:ea typeface="宋体" pitchFamily="2" charset="-122"/>
              </a:rPr>
              <a:t>路划分</a:t>
            </a:r>
          </a:p>
          <a:p>
            <a:pPr lvl="1"/>
            <a:r>
              <a:rPr lang="zh-CN" altLang="en-US">
                <a:ea typeface="宋体" pitchFamily="2" charset="-122"/>
              </a:rPr>
              <a:t>多路划分</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471" name=""/>
          <p:cNvSpPr/>
          <p:nvPr>
            <p:ph type="title" idx="4294967295"/>
          </p:nvPr>
        </p:nvSpPr>
        <p:spPr>
          <a:xfrm>
            <a:off x="381000" y="152400"/>
            <a:ext cx="86106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基于标称属性的分裂</a:t>
            </a:r>
          </a:p>
        </p:txBody>
      </p:sp>
      <p:sp>
        <p:nvSpPr>
          <p:cNvPr id="2472" name=""/>
          <p:cNvSpPr/>
          <p:nvPr>
            <p:ph type="body" idx="4294967295"/>
          </p:nvPr>
        </p:nvSpPr>
        <p:spPr>
          <a:xfrm>
            <a:off x="457200" y="1219200"/>
            <a:ext cx="8382000" cy="3733800"/>
          </a:xfrm>
          <a:prstGeom prst="rect">
            <a:avLst/>
          </a:prstGeom>
          <a:noFill/>
          <a:ln w="12700" cap="flat">
            <a:noFill/>
            <a:prstDash val="solid"/>
            <a:miter lim="800000"/>
            <a:headEnd type="none" w="med" len="med"/>
            <a:tailEnd type="none" w="med" len="med"/>
          </a:ln>
        </p:spPr>
        <p:txBody>
          <a:bodyPr/>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r>
              <a:rPr lang="zh-CN" altLang="en-US">
                <a:solidFill>
                  <a:srgbClr val="FF0000"/>
                </a:solidFill>
                <a:ea typeface="宋体" pitchFamily="2" charset="-122"/>
              </a:rPr>
              <a:t>多路划分</a:t>
            </a:r>
            <a:r>
              <a:rPr lang="en-US" altLang="zh-CN">
                <a:solidFill>
                  <a:srgbClr val="FF0000"/>
                </a:solidFill>
                <a:ea typeface="宋体" pitchFamily="2" charset="-122"/>
              </a:rPr>
              <a:t>:</a:t>
            </a:r>
            <a:r>
              <a:rPr lang="en-US" altLang="zh-CN">
                <a:ea typeface="宋体" pitchFamily="2" charset="-122"/>
              </a:rPr>
              <a:t> </a:t>
            </a:r>
            <a:r>
              <a:rPr lang="zh-CN" altLang="en-US">
                <a:ea typeface="宋体" pitchFamily="2" charset="-122"/>
              </a:rPr>
              <a:t>划分数（输出数）取决于该属性不同属性值的个数</a:t>
            </a:r>
            <a:r>
              <a:rPr lang="en-US" altLang="zh-CN">
                <a:ea typeface="宋体" pitchFamily="2" charset="-122"/>
              </a:rPr>
              <a:t>. </a:t>
            </a:r>
          </a:p>
          <a:p>
            <a:pPr marL="342900" lvl="0" indent="-342900"/>
            <a:endParaRPr lang="en-US" altLang="zh-CN">
              <a:ea typeface="宋体" pitchFamily="2" charset="-122"/>
            </a:endParaRPr>
          </a:p>
          <a:p>
            <a:pPr marL="342900" lvl="0" indent="-342900"/>
            <a:endParaRPr lang="en-US" altLang="zh-CN">
              <a:ea typeface="宋体" pitchFamily="2" charset="-122"/>
            </a:endParaRPr>
          </a:p>
          <a:p>
            <a:pPr marL="342900" lvl="0" indent="-342900"/>
            <a:endParaRPr lang="en-US" altLang="zh-CN">
              <a:ea typeface="宋体" pitchFamily="2" charset="-122"/>
            </a:endParaRPr>
          </a:p>
          <a:p>
            <a:pPr marL="342900" lvl="0" indent="-342900"/>
            <a:r>
              <a:rPr lang="zh-CN" altLang="en-US">
                <a:solidFill>
                  <a:srgbClr val="FF0000"/>
                </a:solidFill>
                <a:ea typeface="宋体" pitchFamily="2" charset="-122"/>
              </a:rPr>
              <a:t>二元划分</a:t>
            </a:r>
            <a:r>
              <a:rPr lang="en-US" altLang="zh-CN">
                <a:solidFill>
                  <a:srgbClr val="FF0000"/>
                </a:solidFill>
                <a:ea typeface="宋体" pitchFamily="2" charset="-122"/>
              </a:rPr>
              <a:t>:</a:t>
            </a:r>
            <a:r>
              <a:rPr lang="en-US" altLang="zh-CN">
                <a:ea typeface="宋体" pitchFamily="2" charset="-122"/>
              </a:rPr>
              <a:t>  </a:t>
            </a:r>
            <a:r>
              <a:rPr lang="zh-CN" altLang="en-US">
                <a:ea typeface="宋体" pitchFamily="2" charset="-122"/>
              </a:rPr>
              <a:t>划分数为</a:t>
            </a:r>
            <a:r>
              <a:rPr lang="en-US" altLang="zh-CN">
                <a:ea typeface="宋体" pitchFamily="2" charset="-122"/>
              </a:rPr>
              <a:t>2</a:t>
            </a:r>
            <a:r>
              <a:rPr lang="zh-CN" altLang="en-US">
                <a:ea typeface="宋体" pitchFamily="2" charset="-122"/>
              </a:rPr>
              <a:t>，这种划分要考虑创建</a:t>
            </a:r>
            <a:r>
              <a:rPr lang="en-US" altLang="zh-CN">
                <a:ea typeface="宋体" pitchFamily="2" charset="-122"/>
              </a:rPr>
              <a:t>k</a:t>
            </a:r>
            <a:r>
              <a:rPr lang="zh-CN" altLang="en-US">
                <a:ea typeface="宋体" pitchFamily="2" charset="-122"/>
              </a:rPr>
              <a:t>个属性值的二元划分的所有</a:t>
            </a:r>
            <a:r>
              <a:rPr lang="en-US" altLang="zh-CN">
                <a:ea typeface="宋体" pitchFamily="2" charset="-122"/>
              </a:rPr>
              <a:t>2</a:t>
            </a:r>
            <a:r>
              <a:rPr lang="en-US" altLang="zh-CN" baseline="30000">
                <a:ea typeface="宋体" pitchFamily="2" charset="-122"/>
              </a:rPr>
              <a:t>k-1</a:t>
            </a:r>
            <a:r>
              <a:rPr lang="en-US" altLang="zh-CN">
                <a:ea typeface="宋体" pitchFamily="2" charset="-122"/>
              </a:rPr>
              <a:t>-1</a:t>
            </a:r>
            <a:r>
              <a:rPr lang="zh-CN" altLang="en-US">
                <a:ea typeface="宋体" pitchFamily="2" charset="-122"/>
              </a:rPr>
              <a:t>种方法</a:t>
            </a:r>
            <a:r>
              <a:rPr lang="en-US" altLang="zh-CN">
                <a:ea typeface="宋体" pitchFamily="2" charset="-122"/>
              </a:rPr>
              <a:t>.</a:t>
            </a:r>
            <a:endParaRPr lang="en-US" altLang="zh-CN" sz="3600">
              <a:ea typeface="宋体" pitchFamily="2" charset="-122"/>
            </a:endParaRPr>
          </a:p>
        </p:txBody>
      </p:sp>
      <p:grpSp>
        <p:nvGrpSpPr>
          <p:cNvPr id="2473" name=""/>
          <p:cNvGrpSpPr/>
          <p:nvPr/>
        </p:nvGrpSpPr>
        <p:grpSpPr>
          <a:xfrm>
            <a:off x="2871788" y="2133600"/>
            <a:ext cx="2603500" cy="946150"/>
            <a:chOff x="1809" y="1680"/>
            <a:chExt cx="1640" cy="596"/>
          </a:xfrm>
        </p:grpSpPr>
        <p:sp>
          <p:nvSpPr>
            <p:cNvPr id="2474" name=""/>
            <p:cNvSpPr/>
            <p:nvPr/>
          </p:nvSpPr>
          <p:spPr>
            <a:xfrm>
              <a:off x="2352" y="1680"/>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Times New Roman" pitchFamily="18" charset="0"/>
                  <a:ea typeface="宋体" pitchFamily="2" charset="-122"/>
                </a:rPr>
                <a:t>CarType</a:t>
              </a:r>
            </a:p>
          </p:txBody>
        </p:sp>
        <p:cxnSp>
          <p:nvCxnSpPr>
            <p:cNvPr id="2475" name=""/>
            <p:cNvCxnSpPr/>
            <p:nvPr/>
          </p:nvCxnSpPr>
          <p:spPr>
            <a:xfrm flipH="1">
              <a:off x="2064" y="1968"/>
              <a:ext cx="576" cy="144"/>
            </a:xfrm>
            <a:prstGeom prst="line">
              <a:avLst/>
            </a:prstGeom>
            <a:noFill/>
            <a:ln cap="flat">
              <a:solidFill>
                <a:srgbClr val="000000"/>
              </a:solidFill>
              <a:prstDash val="solid"/>
              <a:miter lim="800000"/>
              <a:headEnd type="none" w="med" len="med"/>
              <a:tailEnd type="none" w="med" len="med"/>
            </a:ln>
          </p:spPr>
        </p:cxnSp>
        <p:cxnSp>
          <p:nvCxnSpPr>
            <p:cNvPr id="2476" name=""/>
            <p:cNvCxnSpPr/>
            <p:nvPr/>
          </p:nvCxnSpPr>
          <p:spPr>
            <a:xfrm flipH="1">
              <a:off x="2640" y="1968"/>
              <a:ext cx="0" cy="288"/>
            </a:xfrm>
            <a:prstGeom prst="line">
              <a:avLst/>
            </a:prstGeom>
            <a:noFill/>
            <a:ln cap="flat">
              <a:solidFill>
                <a:srgbClr val="000000"/>
              </a:solidFill>
              <a:prstDash val="solid"/>
              <a:miter lim="800000"/>
              <a:headEnd type="none" w="med" len="med"/>
              <a:tailEnd type="none" w="med" len="med"/>
            </a:ln>
          </p:spPr>
        </p:cxnSp>
        <p:cxnSp>
          <p:nvCxnSpPr>
            <p:cNvPr id="2477" name=""/>
            <p:cNvCxnSpPr/>
            <p:nvPr/>
          </p:nvCxnSpPr>
          <p:spPr>
            <a:xfrm>
              <a:off x="2640" y="1968"/>
              <a:ext cx="576" cy="144"/>
            </a:xfrm>
            <a:prstGeom prst="line">
              <a:avLst/>
            </a:prstGeom>
            <a:noFill/>
            <a:ln cap="flat">
              <a:solidFill>
                <a:srgbClr val="000000"/>
              </a:solidFill>
              <a:prstDash val="solid"/>
              <a:miter lim="800000"/>
              <a:headEnd type="none" w="med" len="med"/>
              <a:tailEnd type="none" w="med" len="med"/>
            </a:ln>
          </p:spPr>
        </p:cxnSp>
        <p:sp>
          <p:nvSpPr>
            <p:cNvPr id="2478" name=""/>
            <p:cNvSpPr/>
            <p:nvPr/>
          </p:nvSpPr>
          <p:spPr>
            <a:xfrm>
              <a:off x="1809" y="1872"/>
              <a:ext cx="522"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Family</a:t>
              </a:r>
            </a:p>
          </p:txBody>
        </p:sp>
        <p:sp>
          <p:nvSpPr>
            <p:cNvPr id="2479" name=""/>
            <p:cNvSpPr/>
            <p:nvPr/>
          </p:nvSpPr>
          <p:spPr>
            <a:xfrm>
              <a:off x="2191" y="2064"/>
              <a:ext cx="521"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Sports</a:t>
              </a:r>
            </a:p>
          </p:txBody>
        </p:sp>
        <p:sp>
          <p:nvSpPr>
            <p:cNvPr id="2480" name=""/>
            <p:cNvSpPr/>
            <p:nvPr/>
          </p:nvSpPr>
          <p:spPr>
            <a:xfrm>
              <a:off x="2907" y="1872"/>
              <a:ext cx="542"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Luxury</a:t>
              </a:r>
            </a:p>
          </p:txBody>
        </p:sp>
      </p:grpSp>
      <p:grpSp>
        <p:nvGrpSpPr>
          <p:cNvPr id="2481" name=""/>
          <p:cNvGrpSpPr/>
          <p:nvPr/>
        </p:nvGrpSpPr>
        <p:grpSpPr>
          <a:xfrm>
            <a:off x="5534025" y="4724400"/>
            <a:ext cx="2820988" cy="914400"/>
            <a:chOff x="3534" y="3216"/>
            <a:chExt cx="1777" cy="576"/>
          </a:xfrm>
        </p:grpSpPr>
        <p:sp>
          <p:nvSpPr>
            <p:cNvPr id="2482" name=""/>
            <p:cNvSpPr/>
            <p:nvPr/>
          </p:nvSpPr>
          <p:spPr>
            <a:xfrm>
              <a:off x="4186"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Times New Roman" pitchFamily="18" charset="0"/>
                  <a:ea typeface="宋体" pitchFamily="2" charset="-122"/>
                </a:rPr>
                <a:t>CarType</a:t>
              </a:r>
            </a:p>
          </p:txBody>
        </p:sp>
        <p:cxnSp>
          <p:nvCxnSpPr>
            <p:cNvPr id="2483" name=""/>
            <p:cNvCxnSpPr/>
            <p:nvPr/>
          </p:nvCxnSpPr>
          <p:spPr>
            <a:xfrm flipH="1">
              <a:off x="3946" y="3504"/>
              <a:ext cx="528" cy="240"/>
            </a:xfrm>
            <a:prstGeom prst="line">
              <a:avLst/>
            </a:prstGeom>
            <a:noFill/>
            <a:ln cap="flat">
              <a:solidFill>
                <a:srgbClr val="000000"/>
              </a:solidFill>
              <a:prstDash val="solid"/>
              <a:miter lim="800000"/>
              <a:headEnd type="none" w="med" len="med"/>
              <a:tailEnd type="none" w="med" len="med"/>
            </a:ln>
          </p:spPr>
        </p:cxnSp>
        <p:cxnSp>
          <p:nvCxnSpPr>
            <p:cNvPr id="2484" name=""/>
            <p:cNvCxnSpPr/>
            <p:nvPr/>
          </p:nvCxnSpPr>
          <p:spPr>
            <a:xfrm>
              <a:off x="4474" y="3504"/>
              <a:ext cx="480" cy="288"/>
            </a:xfrm>
            <a:prstGeom prst="line">
              <a:avLst/>
            </a:prstGeom>
            <a:noFill/>
            <a:ln cap="flat">
              <a:solidFill>
                <a:srgbClr val="000000"/>
              </a:solidFill>
              <a:prstDash val="solid"/>
              <a:miter lim="800000"/>
              <a:headEnd type="none" w="med" len="med"/>
              <a:tailEnd type="none" w="med" len="med"/>
            </a:ln>
          </p:spPr>
        </p:cxnSp>
        <p:sp>
          <p:nvSpPr>
            <p:cNvPr id="2485" name=""/>
            <p:cNvSpPr/>
            <p:nvPr/>
          </p:nvSpPr>
          <p:spPr>
            <a:xfrm>
              <a:off x="3534" y="3360"/>
              <a:ext cx="644" cy="36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{Family, </a:t>
              </a:r>
              <a:br>
                <a:rPr kumimoji="0" lang="en-US" altLang="zh-CN" sz="1600" b="1" u="none">
                  <a:latin typeface="Arial" pitchFamily="34" charset="0"/>
                  <a:ea typeface="宋体" pitchFamily="2" charset="-122"/>
                </a:rPr>
              </a:br>
              <a:r>
                <a:rPr kumimoji="0" lang="en-US" altLang="zh-CN" sz="1600" b="1" u="none">
                  <a:latin typeface="Arial" pitchFamily="34" charset="0"/>
                  <a:ea typeface="宋体" pitchFamily="2" charset="-122"/>
                </a:rPr>
                <a:t>Luxury}</a:t>
              </a:r>
            </a:p>
          </p:txBody>
        </p:sp>
        <p:sp>
          <p:nvSpPr>
            <p:cNvPr id="2486" name=""/>
            <p:cNvSpPr/>
            <p:nvPr/>
          </p:nvSpPr>
          <p:spPr>
            <a:xfrm>
              <a:off x="4690" y="3456"/>
              <a:ext cx="621"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{Sports}</a:t>
              </a:r>
            </a:p>
          </p:txBody>
        </p:sp>
      </p:grpSp>
      <p:grpSp>
        <p:nvGrpSpPr>
          <p:cNvPr id="2487" name=""/>
          <p:cNvGrpSpPr/>
          <p:nvPr/>
        </p:nvGrpSpPr>
        <p:grpSpPr>
          <a:xfrm>
            <a:off x="609600" y="4648200"/>
            <a:ext cx="3003550" cy="896938"/>
            <a:chOff x="768" y="3216"/>
            <a:chExt cx="1843" cy="576"/>
          </a:xfrm>
        </p:grpSpPr>
        <p:sp>
          <p:nvSpPr>
            <p:cNvPr id="2488" name=""/>
            <p:cNvSpPr/>
            <p:nvPr/>
          </p:nvSpPr>
          <p:spPr>
            <a:xfrm>
              <a:off x="1494"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Times New Roman" pitchFamily="18" charset="0"/>
                  <a:ea typeface="宋体" pitchFamily="2" charset="-122"/>
                </a:rPr>
                <a:t>CarType</a:t>
              </a:r>
            </a:p>
          </p:txBody>
        </p:sp>
        <p:cxnSp>
          <p:nvCxnSpPr>
            <p:cNvPr id="2489" name=""/>
            <p:cNvCxnSpPr/>
            <p:nvPr/>
          </p:nvCxnSpPr>
          <p:spPr>
            <a:xfrm flipH="1">
              <a:off x="1254" y="3504"/>
              <a:ext cx="528" cy="240"/>
            </a:xfrm>
            <a:prstGeom prst="line">
              <a:avLst/>
            </a:prstGeom>
            <a:noFill/>
            <a:ln cap="flat">
              <a:solidFill>
                <a:srgbClr val="000000"/>
              </a:solidFill>
              <a:prstDash val="solid"/>
              <a:miter lim="800000"/>
              <a:headEnd type="none" w="med" len="med"/>
              <a:tailEnd type="none" w="med" len="med"/>
            </a:ln>
          </p:spPr>
        </p:cxnSp>
        <p:cxnSp>
          <p:nvCxnSpPr>
            <p:cNvPr id="2490" name=""/>
            <p:cNvCxnSpPr/>
            <p:nvPr/>
          </p:nvCxnSpPr>
          <p:spPr>
            <a:xfrm>
              <a:off x="1782" y="3504"/>
              <a:ext cx="480" cy="288"/>
            </a:xfrm>
            <a:prstGeom prst="line">
              <a:avLst/>
            </a:prstGeom>
            <a:noFill/>
            <a:ln cap="flat">
              <a:solidFill>
                <a:srgbClr val="000000"/>
              </a:solidFill>
              <a:prstDash val="solid"/>
              <a:miter lim="800000"/>
              <a:headEnd type="none" w="med" len="med"/>
              <a:tailEnd type="none" w="med" len="med"/>
            </a:ln>
          </p:spPr>
        </p:cxnSp>
        <p:sp>
          <p:nvSpPr>
            <p:cNvPr id="2491" name=""/>
            <p:cNvSpPr/>
            <p:nvPr/>
          </p:nvSpPr>
          <p:spPr>
            <a:xfrm>
              <a:off x="768" y="3357"/>
              <a:ext cx="594" cy="373"/>
            </a:xfrm>
            <a:prstGeom prst="rect">
              <a:avLst/>
            </a:prstGeom>
            <a:noFill/>
            <a:ln cap="flat">
              <a:noFill/>
              <a:prstDash val="solid"/>
              <a:miter lim="800000"/>
              <a:headEnd type="none" w="med" len="med"/>
              <a:tailEnd type="none" w="med" len="med"/>
            </a:ln>
          </p:spPr>
          <p:txBody>
            <a:bodyPr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{Sports, Luxury}</a:t>
              </a:r>
            </a:p>
          </p:txBody>
        </p:sp>
        <p:sp>
          <p:nvSpPr>
            <p:cNvPr id="2492" name=""/>
            <p:cNvSpPr/>
            <p:nvPr/>
          </p:nvSpPr>
          <p:spPr>
            <a:xfrm>
              <a:off x="2005" y="3455"/>
              <a:ext cx="606" cy="21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{Family}</a:t>
              </a:r>
            </a:p>
          </p:txBody>
        </p:sp>
      </p:grpSp>
      <p:sp>
        <p:nvSpPr>
          <p:cNvPr id="2493" name=""/>
          <p:cNvSpPr/>
          <p:nvPr/>
        </p:nvSpPr>
        <p:spPr>
          <a:xfrm>
            <a:off x="4191000" y="4953000"/>
            <a:ext cx="608012" cy="457200"/>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400" u="none">
                <a:latin typeface="Times New Roman" pitchFamily="18" charset="0"/>
                <a:ea typeface="宋体" pitchFamily="2" charset="-122"/>
              </a:rPr>
              <a:t>OR</a:t>
            </a:r>
          </a:p>
        </p:txBody>
      </p:sp>
      <p:grpSp>
        <p:nvGrpSpPr>
          <p:cNvPr id="2494" name=""/>
          <p:cNvGrpSpPr/>
          <p:nvPr/>
        </p:nvGrpSpPr>
        <p:grpSpPr>
          <a:xfrm>
            <a:off x="3352800" y="5410200"/>
            <a:ext cx="2822575" cy="914400"/>
            <a:chOff x="3534" y="3216"/>
            <a:chExt cx="1778" cy="576"/>
          </a:xfrm>
        </p:grpSpPr>
        <p:sp>
          <p:nvSpPr>
            <p:cNvPr id="2495" name=""/>
            <p:cNvSpPr/>
            <p:nvPr/>
          </p:nvSpPr>
          <p:spPr>
            <a:xfrm>
              <a:off x="4186"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Times New Roman" pitchFamily="18" charset="0"/>
                  <a:ea typeface="宋体" pitchFamily="2" charset="-122"/>
                </a:rPr>
                <a:t>CarType</a:t>
              </a:r>
            </a:p>
          </p:txBody>
        </p:sp>
        <p:cxnSp>
          <p:nvCxnSpPr>
            <p:cNvPr id="2496" name=""/>
            <p:cNvCxnSpPr/>
            <p:nvPr/>
          </p:nvCxnSpPr>
          <p:spPr>
            <a:xfrm flipH="1">
              <a:off x="3946" y="3504"/>
              <a:ext cx="528" cy="240"/>
            </a:xfrm>
            <a:prstGeom prst="line">
              <a:avLst/>
            </a:prstGeom>
            <a:noFill/>
            <a:ln cap="flat">
              <a:solidFill>
                <a:srgbClr val="000000"/>
              </a:solidFill>
              <a:prstDash val="solid"/>
              <a:miter lim="800000"/>
              <a:headEnd type="none" w="med" len="med"/>
              <a:tailEnd type="none" w="med" len="med"/>
            </a:ln>
          </p:spPr>
        </p:cxnSp>
        <p:cxnSp>
          <p:nvCxnSpPr>
            <p:cNvPr id="2497" name=""/>
            <p:cNvCxnSpPr/>
            <p:nvPr/>
          </p:nvCxnSpPr>
          <p:spPr>
            <a:xfrm>
              <a:off x="4474" y="3504"/>
              <a:ext cx="480" cy="288"/>
            </a:xfrm>
            <a:prstGeom prst="line">
              <a:avLst/>
            </a:prstGeom>
            <a:noFill/>
            <a:ln cap="flat">
              <a:solidFill>
                <a:srgbClr val="000000"/>
              </a:solidFill>
              <a:prstDash val="solid"/>
              <a:miter lim="800000"/>
              <a:headEnd type="none" w="med" len="med"/>
              <a:tailEnd type="none" w="med" len="med"/>
            </a:ln>
          </p:spPr>
        </p:cxnSp>
        <p:sp>
          <p:nvSpPr>
            <p:cNvPr id="2498" name=""/>
            <p:cNvSpPr/>
            <p:nvPr/>
          </p:nvSpPr>
          <p:spPr>
            <a:xfrm>
              <a:off x="3534" y="3360"/>
              <a:ext cx="644" cy="36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{Family, </a:t>
              </a:r>
              <a:br>
                <a:rPr kumimoji="0" lang="en-US" altLang="zh-CN" sz="1600" b="1" u="none">
                  <a:latin typeface="Arial" pitchFamily="34" charset="0"/>
                  <a:ea typeface="宋体" pitchFamily="2" charset="-122"/>
                </a:rPr>
              </a:br>
              <a:r>
                <a:rPr kumimoji="0" lang="en-US" altLang="zh-CN" sz="1600" b="1" u="none">
                  <a:latin typeface="Arial" pitchFamily="34" charset="0"/>
                  <a:ea typeface="宋体" pitchFamily="2" charset="-122"/>
                </a:rPr>
                <a:t> </a:t>
              </a:r>
              <a:r>
                <a:rPr kumimoji="0" lang="en-US" altLang="zh-CN" sz="1400" b="1" u="none">
                  <a:latin typeface="Arial" pitchFamily="34" charset="0"/>
                  <a:ea typeface="宋体" pitchFamily="2" charset="-122"/>
                </a:rPr>
                <a:t>Sports</a:t>
              </a:r>
              <a:r>
                <a:rPr kumimoji="0" lang="en-US" altLang="zh-CN" sz="1600" b="1" u="none">
                  <a:latin typeface="Arial" pitchFamily="34" charset="0"/>
                  <a:ea typeface="宋体" pitchFamily="2" charset="-122"/>
                </a:rPr>
                <a:t>}</a:t>
              </a:r>
            </a:p>
          </p:txBody>
        </p:sp>
        <p:sp>
          <p:nvSpPr>
            <p:cNvPr id="2499" name=""/>
            <p:cNvSpPr/>
            <p:nvPr/>
          </p:nvSpPr>
          <p:spPr>
            <a:xfrm>
              <a:off x="4688" y="3456"/>
              <a:ext cx="624"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b="1" u="none">
                  <a:latin typeface="Arial" pitchFamily="34" charset="0"/>
                  <a:ea typeface="宋体" pitchFamily="2" charset="-122"/>
                </a:rPr>
                <a:t>{</a:t>
              </a:r>
              <a:r>
                <a:rPr kumimoji="0" lang="en-US" altLang="zh-CN" sz="1400" b="1" u="none">
                  <a:latin typeface="Arial" pitchFamily="34" charset="0"/>
                  <a:ea typeface="宋体" pitchFamily="2" charset="-122"/>
                </a:rPr>
                <a:t>Luxury</a:t>
              </a:r>
              <a:r>
                <a:rPr kumimoji="0" lang="en-US" altLang="zh-CN" sz="1600" b="1" u="none">
                  <a:latin typeface="Arial" pitchFamily="34" charset="0"/>
                  <a:ea typeface="宋体" pitchFamily="2" charset="-122"/>
                </a:rPr>
                <a:t>} </a:t>
              </a:r>
            </a:p>
          </p:txBody>
        </p:sp>
      </p:grpSp>
    </p:spTree>
  </p:cSld>
  <p:clrMapOvr>
    <a:masterClrMapping/>
  </p:clrMapOvr>
  <p:transition/>
  <p:timing/>
</p:sld>
</file>

<file path=ppt/slides/slide2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02" name=""/>
          <p:cNvSpPr/>
          <p:nvPr>
            <p:ph type="body" idx="4294967295"/>
          </p:nvPr>
        </p:nvSpPr>
        <p:spPr>
          <a:xfrm>
            <a:off x="381000" y="1066800"/>
            <a:ext cx="8382000" cy="5257800"/>
          </a:xfrm>
          <a:prstGeom prst="rect">
            <a:avLst/>
          </a:prstGeom>
          <a:noFill/>
          <a:ln w="12700" cap="flat">
            <a:noFill/>
            <a:prstDash val="solid"/>
            <a:miter lim="800000"/>
            <a:headEnd type="none" w="med" len="med"/>
            <a:tailEnd type="none" w="med" len="med"/>
          </a:ln>
        </p:spPr>
        <p:txBody>
          <a:bodyPr lIns="90488" tIns="44450" rIns="90488" bIns="44450"/>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r>
              <a:rPr lang="zh-CN" altLang="en-US">
                <a:solidFill>
                  <a:srgbClr val="FF0000"/>
                </a:solidFill>
                <a:ea typeface="宋体" pitchFamily="2" charset="-122"/>
              </a:rPr>
              <a:t>多路划分</a:t>
            </a:r>
            <a:r>
              <a:rPr lang="en-US" altLang="zh-CN">
                <a:solidFill>
                  <a:srgbClr val="FF0000"/>
                </a:solidFill>
                <a:ea typeface="宋体" pitchFamily="2" charset="-122"/>
              </a:rPr>
              <a:t>:</a:t>
            </a:r>
            <a:r>
              <a:rPr lang="en-US" altLang="zh-CN">
                <a:ea typeface="宋体" pitchFamily="2" charset="-122"/>
              </a:rPr>
              <a:t> </a:t>
            </a:r>
            <a:r>
              <a:rPr lang="zh-CN" altLang="en-US">
                <a:ea typeface="宋体" pitchFamily="2" charset="-122"/>
              </a:rPr>
              <a:t>划分数（输出数）取决于该属性不同属性值的个数</a:t>
            </a:r>
            <a:r>
              <a:rPr lang="en-US" altLang="zh-CN">
                <a:ea typeface="宋体" pitchFamily="2" charset="-122"/>
              </a:rPr>
              <a:t>.</a:t>
            </a:r>
          </a:p>
          <a:p>
            <a:pPr marL="342900" lvl="0" indent="-342900"/>
            <a:endParaRPr lang="en-US" altLang="zh-CN">
              <a:ea typeface="宋体" pitchFamily="2" charset="-122"/>
            </a:endParaRPr>
          </a:p>
          <a:p>
            <a:pPr marL="342900" lvl="0" indent="-342900"/>
            <a:endParaRPr lang="en-US" altLang="zh-CN">
              <a:ea typeface="宋体" pitchFamily="2" charset="-122"/>
            </a:endParaRPr>
          </a:p>
          <a:p>
            <a:pPr marL="2057400" lvl="4" indent="-228600"/>
            <a:endParaRPr lang="en-US" altLang="zh-CN" sz="1200">
              <a:solidFill>
                <a:srgbClr val="FF0000"/>
              </a:solidFill>
              <a:ea typeface="宋体" pitchFamily="2" charset="-122"/>
            </a:endParaRPr>
          </a:p>
          <a:p>
            <a:pPr marL="342900" lvl="0" indent="-342900"/>
            <a:r>
              <a:rPr lang="zh-CN" altLang="en-US">
                <a:solidFill>
                  <a:srgbClr val="FF0000"/>
                </a:solidFill>
                <a:ea typeface="宋体" pitchFamily="2" charset="-122"/>
              </a:rPr>
              <a:t>二元划分</a:t>
            </a:r>
            <a:r>
              <a:rPr lang="en-US" altLang="zh-CN">
                <a:solidFill>
                  <a:srgbClr val="FF0000"/>
                </a:solidFill>
                <a:ea typeface="宋体" pitchFamily="2" charset="-122"/>
              </a:rPr>
              <a:t>:</a:t>
            </a:r>
            <a:r>
              <a:rPr lang="en-US" altLang="zh-CN">
                <a:ea typeface="宋体" pitchFamily="2" charset="-122"/>
              </a:rPr>
              <a:t>  </a:t>
            </a:r>
            <a:r>
              <a:rPr lang="zh-CN" altLang="en-US">
                <a:ea typeface="宋体" pitchFamily="2" charset="-122"/>
              </a:rPr>
              <a:t>划分数为</a:t>
            </a:r>
            <a:r>
              <a:rPr lang="en-US" altLang="zh-CN">
                <a:ea typeface="宋体" pitchFamily="2" charset="-122"/>
              </a:rPr>
              <a:t>2</a:t>
            </a:r>
            <a:r>
              <a:rPr lang="zh-CN" altLang="en-US">
                <a:ea typeface="宋体" pitchFamily="2" charset="-122"/>
              </a:rPr>
              <a:t>，需要保持序数属性值的有序性</a:t>
            </a:r>
            <a:r>
              <a:rPr lang="en-US" altLang="zh-CN">
                <a:ea typeface="宋体" pitchFamily="2" charset="-122"/>
              </a:rPr>
              <a:t>.</a:t>
            </a:r>
          </a:p>
          <a:p>
            <a:pPr marL="342900" lvl="0" indent="-342900"/>
            <a:endParaRPr lang="en-US" altLang="zh-CN">
              <a:ea typeface="宋体" pitchFamily="2" charset="-122"/>
            </a:endParaRPr>
          </a:p>
          <a:p>
            <a:pPr marL="342900" lvl="0" indent="-342900"/>
            <a:endParaRPr lang="en-US" altLang="zh-CN">
              <a:ea typeface="宋体" pitchFamily="2" charset="-122"/>
            </a:endParaRPr>
          </a:p>
          <a:p>
            <a:pPr marL="342900" lvl="0" indent="-342900"/>
            <a:endParaRPr lang="en-US" altLang="zh-CN">
              <a:ea typeface="宋体" pitchFamily="2" charset="-122"/>
            </a:endParaRPr>
          </a:p>
        </p:txBody>
      </p:sp>
      <p:sp>
        <p:nvSpPr>
          <p:cNvPr id="250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基于序数属性的划分</a:t>
            </a:r>
            <a:endParaRPr lang="en-US" altLang="zh-CN">
              <a:ea typeface="宋体" pitchFamily="2" charset="-122"/>
            </a:endParaRPr>
          </a:p>
        </p:txBody>
      </p:sp>
      <p:grpSp>
        <p:nvGrpSpPr>
          <p:cNvPr id="2504" name=""/>
          <p:cNvGrpSpPr/>
          <p:nvPr/>
        </p:nvGrpSpPr>
        <p:grpSpPr>
          <a:xfrm>
            <a:off x="2971800" y="2057400"/>
            <a:ext cx="2457450" cy="946150"/>
            <a:chOff x="1853" y="1248"/>
            <a:chExt cx="1548" cy="596"/>
          </a:xfrm>
        </p:grpSpPr>
        <p:sp>
          <p:nvSpPr>
            <p:cNvPr id="2505" name=""/>
            <p:cNvSpPr/>
            <p:nvPr/>
          </p:nvSpPr>
          <p:spPr>
            <a:xfrm>
              <a:off x="2352" y="1248"/>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Size</a:t>
              </a:r>
            </a:p>
          </p:txBody>
        </p:sp>
        <p:cxnSp>
          <p:nvCxnSpPr>
            <p:cNvPr id="2506" name=""/>
            <p:cNvCxnSpPr/>
            <p:nvPr/>
          </p:nvCxnSpPr>
          <p:spPr>
            <a:xfrm flipH="1">
              <a:off x="2064" y="1536"/>
              <a:ext cx="576" cy="144"/>
            </a:xfrm>
            <a:prstGeom prst="line">
              <a:avLst/>
            </a:prstGeom>
            <a:noFill/>
            <a:ln cap="flat">
              <a:solidFill>
                <a:srgbClr val="000000"/>
              </a:solidFill>
              <a:prstDash val="solid"/>
              <a:miter lim="800000"/>
              <a:headEnd type="none" w="med" len="med"/>
              <a:tailEnd type="none" w="med" len="med"/>
            </a:ln>
          </p:spPr>
        </p:cxnSp>
        <p:cxnSp>
          <p:nvCxnSpPr>
            <p:cNvPr id="2507" name=""/>
            <p:cNvCxnSpPr/>
            <p:nvPr/>
          </p:nvCxnSpPr>
          <p:spPr>
            <a:xfrm flipH="1">
              <a:off x="2640" y="1536"/>
              <a:ext cx="0" cy="288"/>
            </a:xfrm>
            <a:prstGeom prst="line">
              <a:avLst/>
            </a:prstGeom>
            <a:noFill/>
            <a:ln cap="flat">
              <a:solidFill>
                <a:srgbClr val="000000"/>
              </a:solidFill>
              <a:prstDash val="solid"/>
              <a:miter lim="800000"/>
              <a:headEnd type="none" w="med" len="med"/>
              <a:tailEnd type="none" w="med" len="med"/>
            </a:ln>
          </p:spPr>
        </p:cxnSp>
        <p:cxnSp>
          <p:nvCxnSpPr>
            <p:cNvPr id="2508" name=""/>
            <p:cNvCxnSpPr/>
            <p:nvPr/>
          </p:nvCxnSpPr>
          <p:spPr>
            <a:xfrm>
              <a:off x="2640" y="1536"/>
              <a:ext cx="576" cy="144"/>
            </a:xfrm>
            <a:prstGeom prst="line">
              <a:avLst/>
            </a:prstGeom>
            <a:noFill/>
            <a:ln cap="flat">
              <a:solidFill>
                <a:srgbClr val="000000"/>
              </a:solidFill>
              <a:prstDash val="solid"/>
              <a:miter lim="800000"/>
              <a:headEnd type="none" w="med" len="med"/>
              <a:tailEnd type="none" w="med" len="med"/>
            </a:ln>
          </p:spPr>
        </p:cxnSp>
        <p:sp>
          <p:nvSpPr>
            <p:cNvPr id="2509" name=""/>
            <p:cNvSpPr/>
            <p:nvPr/>
          </p:nvSpPr>
          <p:spPr>
            <a:xfrm>
              <a:off x="1853" y="1440"/>
              <a:ext cx="435"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Small</a:t>
              </a:r>
            </a:p>
          </p:txBody>
        </p:sp>
        <p:sp>
          <p:nvSpPr>
            <p:cNvPr id="2510" name=""/>
            <p:cNvSpPr/>
            <p:nvPr/>
          </p:nvSpPr>
          <p:spPr>
            <a:xfrm>
              <a:off x="2167" y="1632"/>
              <a:ext cx="571"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Medium</a:t>
              </a:r>
            </a:p>
          </p:txBody>
        </p:sp>
        <p:sp>
          <p:nvSpPr>
            <p:cNvPr id="2511" name=""/>
            <p:cNvSpPr/>
            <p:nvPr/>
          </p:nvSpPr>
          <p:spPr>
            <a:xfrm>
              <a:off x="2958" y="1440"/>
              <a:ext cx="443"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Large</a:t>
              </a:r>
            </a:p>
          </p:txBody>
        </p:sp>
      </p:grpSp>
      <p:grpSp>
        <p:nvGrpSpPr>
          <p:cNvPr id="2512" name=""/>
          <p:cNvGrpSpPr/>
          <p:nvPr/>
        </p:nvGrpSpPr>
        <p:grpSpPr>
          <a:xfrm>
            <a:off x="5562600" y="4267200"/>
            <a:ext cx="2774950" cy="914400"/>
            <a:chOff x="3513" y="3216"/>
            <a:chExt cx="1748" cy="576"/>
          </a:xfrm>
        </p:grpSpPr>
        <p:sp>
          <p:nvSpPr>
            <p:cNvPr id="2513" name=""/>
            <p:cNvSpPr/>
            <p:nvPr/>
          </p:nvSpPr>
          <p:spPr>
            <a:xfrm>
              <a:off x="4186"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Size</a:t>
              </a:r>
            </a:p>
          </p:txBody>
        </p:sp>
        <p:cxnSp>
          <p:nvCxnSpPr>
            <p:cNvPr id="2514" name=""/>
            <p:cNvCxnSpPr/>
            <p:nvPr/>
          </p:nvCxnSpPr>
          <p:spPr>
            <a:xfrm flipH="1">
              <a:off x="3946" y="3504"/>
              <a:ext cx="528" cy="240"/>
            </a:xfrm>
            <a:prstGeom prst="line">
              <a:avLst/>
            </a:prstGeom>
            <a:noFill/>
            <a:ln cap="flat">
              <a:solidFill>
                <a:srgbClr val="000000"/>
              </a:solidFill>
              <a:prstDash val="solid"/>
              <a:miter lim="800000"/>
              <a:headEnd type="none" w="med" len="med"/>
              <a:tailEnd type="none" w="med" len="med"/>
            </a:ln>
          </p:spPr>
        </p:cxnSp>
        <p:cxnSp>
          <p:nvCxnSpPr>
            <p:cNvPr id="2515" name=""/>
            <p:cNvCxnSpPr/>
            <p:nvPr/>
          </p:nvCxnSpPr>
          <p:spPr>
            <a:xfrm>
              <a:off x="4474" y="3504"/>
              <a:ext cx="480" cy="288"/>
            </a:xfrm>
            <a:prstGeom prst="line">
              <a:avLst/>
            </a:prstGeom>
            <a:noFill/>
            <a:ln cap="flat">
              <a:solidFill>
                <a:srgbClr val="000000"/>
              </a:solidFill>
              <a:prstDash val="solid"/>
              <a:miter lim="800000"/>
              <a:headEnd type="none" w="med" len="med"/>
              <a:tailEnd type="none" w="med" len="med"/>
            </a:ln>
          </p:spPr>
        </p:cxnSp>
        <p:sp>
          <p:nvSpPr>
            <p:cNvPr id="2516" name=""/>
            <p:cNvSpPr/>
            <p:nvPr/>
          </p:nvSpPr>
          <p:spPr>
            <a:xfrm>
              <a:off x="3513" y="3360"/>
              <a:ext cx="686" cy="366"/>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{Medium, </a:t>
              </a:r>
              <a:br>
                <a:rPr kumimoji="0" lang="en-US" altLang="zh-CN" sz="1600" u="none">
                  <a:latin typeface="Arial" pitchFamily="34" charset="0"/>
                  <a:ea typeface="宋体" pitchFamily="2" charset="-122"/>
                </a:rPr>
              </a:br>
              <a:r>
                <a:rPr kumimoji="0" lang="en-US" altLang="zh-CN" sz="1600" u="none">
                  <a:latin typeface="Arial" pitchFamily="34" charset="0"/>
                  <a:ea typeface="宋体" pitchFamily="2" charset="-122"/>
                </a:rPr>
                <a:t>Large}</a:t>
              </a:r>
            </a:p>
          </p:txBody>
        </p:sp>
        <p:sp>
          <p:nvSpPr>
            <p:cNvPr id="2517" name=""/>
            <p:cNvSpPr/>
            <p:nvPr/>
          </p:nvSpPr>
          <p:spPr>
            <a:xfrm>
              <a:off x="4740" y="3456"/>
              <a:ext cx="521"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{Small}</a:t>
              </a:r>
            </a:p>
          </p:txBody>
        </p:sp>
      </p:grpSp>
      <p:grpSp>
        <p:nvGrpSpPr>
          <p:cNvPr id="2518" name=""/>
          <p:cNvGrpSpPr/>
          <p:nvPr/>
        </p:nvGrpSpPr>
        <p:grpSpPr>
          <a:xfrm>
            <a:off x="762000" y="4267200"/>
            <a:ext cx="2997200" cy="914400"/>
            <a:chOff x="768" y="3216"/>
            <a:chExt cx="1794" cy="576"/>
          </a:xfrm>
        </p:grpSpPr>
        <p:sp>
          <p:nvSpPr>
            <p:cNvPr id="2519" name=""/>
            <p:cNvSpPr/>
            <p:nvPr/>
          </p:nvSpPr>
          <p:spPr>
            <a:xfrm>
              <a:off x="1494"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Size</a:t>
              </a:r>
            </a:p>
          </p:txBody>
        </p:sp>
        <p:cxnSp>
          <p:nvCxnSpPr>
            <p:cNvPr id="2520" name=""/>
            <p:cNvCxnSpPr/>
            <p:nvPr/>
          </p:nvCxnSpPr>
          <p:spPr>
            <a:xfrm flipH="1">
              <a:off x="1254" y="3504"/>
              <a:ext cx="528" cy="240"/>
            </a:xfrm>
            <a:prstGeom prst="line">
              <a:avLst/>
            </a:prstGeom>
            <a:noFill/>
            <a:ln cap="flat">
              <a:solidFill>
                <a:srgbClr val="000000"/>
              </a:solidFill>
              <a:prstDash val="solid"/>
              <a:miter lim="800000"/>
              <a:headEnd type="none" w="med" len="med"/>
              <a:tailEnd type="none" w="med" len="med"/>
            </a:ln>
          </p:spPr>
        </p:cxnSp>
        <p:cxnSp>
          <p:nvCxnSpPr>
            <p:cNvPr id="2521" name=""/>
            <p:cNvCxnSpPr/>
            <p:nvPr/>
          </p:nvCxnSpPr>
          <p:spPr>
            <a:xfrm>
              <a:off x="1782" y="3504"/>
              <a:ext cx="480" cy="288"/>
            </a:xfrm>
            <a:prstGeom prst="line">
              <a:avLst/>
            </a:prstGeom>
            <a:noFill/>
            <a:ln cap="flat">
              <a:solidFill>
                <a:srgbClr val="000000"/>
              </a:solidFill>
              <a:prstDash val="solid"/>
              <a:miter lim="800000"/>
              <a:headEnd type="none" w="med" len="med"/>
              <a:tailEnd type="none" w="med" len="med"/>
            </a:ln>
          </p:spPr>
        </p:cxnSp>
        <p:sp>
          <p:nvSpPr>
            <p:cNvPr id="2522" name=""/>
            <p:cNvSpPr/>
            <p:nvPr/>
          </p:nvSpPr>
          <p:spPr>
            <a:xfrm>
              <a:off x="768" y="3360"/>
              <a:ext cx="594" cy="366"/>
            </a:xfrm>
            <a:prstGeom prst="rect">
              <a:avLst/>
            </a:prstGeom>
            <a:noFill/>
            <a:ln cap="flat">
              <a:noFill/>
              <a:prstDash val="solid"/>
              <a:miter lim="800000"/>
              <a:headEnd type="none" w="med" len="med"/>
              <a:tailEnd type="none" w="med" len="med"/>
            </a:ln>
          </p:spPr>
          <p:txBody>
            <a:bodyPr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{Small, Medium}</a:t>
              </a:r>
            </a:p>
          </p:txBody>
        </p:sp>
        <p:sp>
          <p:nvSpPr>
            <p:cNvPr id="2523" name=""/>
            <p:cNvSpPr/>
            <p:nvPr/>
          </p:nvSpPr>
          <p:spPr>
            <a:xfrm>
              <a:off x="2059" y="3456"/>
              <a:ext cx="503"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{Large}</a:t>
              </a:r>
            </a:p>
          </p:txBody>
        </p:sp>
      </p:grpSp>
      <p:sp>
        <p:nvSpPr>
          <p:cNvPr id="2524" name=""/>
          <p:cNvSpPr/>
          <p:nvPr/>
        </p:nvSpPr>
        <p:spPr>
          <a:xfrm>
            <a:off x="4267200" y="4419600"/>
            <a:ext cx="608012" cy="457200"/>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400" u="none">
                <a:latin typeface="Times New Roman" pitchFamily="18" charset="0"/>
                <a:ea typeface="宋体" pitchFamily="2" charset="-122"/>
              </a:rPr>
              <a:t>OR</a:t>
            </a:r>
          </a:p>
        </p:txBody>
      </p:sp>
      <p:grpSp>
        <p:nvGrpSpPr>
          <p:cNvPr id="2525" name=""/>
          <p:cNvGrpSpPr/>
          <p:nvPr/>
        </p:nvGrpSpPr>
        <p:grpSpPr>
          <a:xfrm>
            <a:off x="4289425" y="5334000"/>
            <a:ext cx="3101975" cy="914400"/>
            <a:chOff x="768" y="3216"/>
            <a:chExt cx="1856" cy="576"/>
          </a:xfrm>
        </p:grpSpPr>
        <p:sp>
          <p:nvSpPr>
            <p:cNvPr id="2526" name=""/>
            <p:cNvSpPr/>
            <p:nvPr/>
          </p:nvSpPr>
          <p:spPr>
            <a:xfrm>
              <a:off x="1494" y="3216"/>
              <a:ext cx="576" cy="288"/>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Size</a:t>
              </a:r>
            </a:p>
          </p:txBody>
        </p:sp>
        <p:cxnSp>
          <p:nvCxnSpPr>
            <p:cNvPr id="2527" name=""/>
            <p:cNvCxnSpPr/>
            <p:nvPr/>
          </p:nvCxnSpPr>
          <p:spPr>
            <a:xfrm flipH="1">
              <a:off x="1254" y="3504"/>
              <a:ext cx="528" cy="240"/>
            </a:xfrm>
            <a:prstGeom prst="line">
              <a:avLst/>
            </a:prstGeom>
            <a:noFill/>
            <a:ln cap="flat">
              <a:solidFill>
                <a:srgbClr val="000000"/>
              </a:solidFill>
              <a:prstDash val="solid"/>
              <a:miter lim="800000"/>
              <a:headEnd type="none" w="med" len="med"/>
              <a:tailEnd type="none" w="med" len="med"/>
            </a:ln>
          </p:spPr>
        </p:cxnSp>
        <p:cxnSp>
          <p:nvCxnSpPr>
            <p:cNvPr id="2528" name=""/>
            <p:cNvCxnSpPr/>
            <p:nvPr/>
          </p:nvCxnSpPr>
          <p:spPr>
            <a:xfrm>
              <a:off x="1782" y="3504"/>
              <a:ext cx="480" cy="288"/>
            </a:xfrm>
            <a:prstGeom prst="line">
              <a:avLst/>
            </a:prstGeom>
            <a:noFill/>
            <a:ln cap="flat">
              <a:solidFill>
                <a:srgbClr val="000000"/>
              </a:solidFill>
              <a:prstDash val="solid"/>
              <a:miter lim="800000"/>
              <a:headEnd type="none" w="med" len="med"/>
              <a:tailEnd type="none" w="med" len="med"/>
            </a:ln>
          </p:spPr>
        </p:cxnSp>
        <p:sp>
          <p:nvSpPr>
            <p:cNvPr id="2529" name=""/>
            <p:cNvSpPr/>
            <p:nvPr/>
          </p:nvSpPr>
          <p:spPr>
            <a:xfrm>
              <a:off x="768" y="3360"/>
              <a:ext cx="594" cy="366"/>
            </a:xfrm>
            <a:prstGeom prst="rect">
              <a:avLst/>
            </a:prstGeom>
            <a:noFill/>
            <a:ln cap="flat">
              <a:noFill/>
              <a:prstDash val="solid"/>
              <a:miter lim="800000"/>
              <a:headEnd type="none" w="med" len="med"/>
              <a:tailEnd type="none" w="med" len="med"/>
            </a:ln>
          </p:spPr>
          <p:txBody>
            <a:bodyPr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{Small, Large}</a:t>
              </a:r>
            </a:p>
          </p:txBody>
        </p:sp>
        <p:sp>
          <p:nvSpPr>
            <p:cNvPr id="2530" name=""/>
            <p:cNvSpPr/>
            <p:nvPr/>
          </p:nvSpPr>
          <p:spPr>
            <a:xfrm>
              <a:off x="2000" y="3456"/>
              <a:ext cx="624" cy="2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600" u="none">
                  <a:latin typeface="Arial" pitchFamily="34" charset="0"/>
                  <a:ea typeface="宋体" pitchFamily="2" charset="-122"/>
                </a:rPr>
                <a:t>{Medium}</a:t>
              </a:r>
            </a:p>
          </p:txBody>
        </p:sp>
      </p:grpSp>
    </p:spTree>
  </p:cSld>
  <p:clrMapOvr>
    <a:masterClrMapping/>
  </p:clrMapOvr>
  <p:transition/>
  <p:timing/>
</p:sld>
</file>

<file path=ppt/slides/slide3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33" name=""/>
          <p:cNvSpPr/>
          <p:nvPr>
            <p:ph type="title" idx="4294967295"/>
          </p:nvPr>
        </p:nvSpPr>
        <p:spPr>
          <a:xfrm>
            <a:off x="381000" y="152400"/>
            <a:ext cx="8534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基于连续属性的划分</a:t>
            </a:r>
          </a:p>
        </p:txBody>
      </p:sp>
      <p:sp>
        <p:nvSpPr>
          <p:cNvPr id="2534"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solidFill>
                <a:srgbClr val="CC3300"/>
              </a:solidFill>
              <a:ea typeface="宋体" pitchFamily="2" charset="-122"/>
            </a:endParaRPr>
          </a:p>
          <a:p>
            <a:pPr lvl="0"/>
            <a:r>
              <a:rPr lang="zh-CN" altLang="en-US">
                <a:solidFill>
                  <a:srgbClr val="CC3300"/>
                </a:solidFill>
                <a:ea typeface="宋体" pitchFamily="2" charset="-122"/>
              </a:rPr>
              <a:t>多路划分</a:t>
            </a:r>
            <a:r>
              <a:rPr lang="en-US" altLang="zh-CN">
                <a:solidFill>
                  <a:srgbClr val="CC3300"/>
                </a:solidFill>
                <a:ea typeface="宋体" pitchFamily="2" charset="-122"/>
              </a:rPr>
              <a:t>:</a:t>
            </a:r>
            <a:r>
              <a:rPr lang="en-US" altLang="zh-CN">
                <a:ea typeface="宋体" pitchFamily="2" charset="-122"/>
              </a:rPr>
              <a:t>v</a:t>
            </a:r>
            <a:r>
              <a:rPr lang="en-US" altLang="zh-CN" baseline="-25000">
                <a:ea typeface="宋体" pitchFamily="2" charset="-122"/>
              </a:rPr>
              <a:t>i</a:t>
            </a:r>
            <a:r>
              <a:rPr lang="zh-CN" altLang="en-US">
                <a:ea typeface="宋体" pitchFamily="2" charset="-122"/>
              </a:rPr>
              <a:t>≤</a:t>
            </a:r>
            <a:r>
              <a:rPr lang="en-US" altLang="zh-CN">
                <a:ea typeface="宋体" pitchFamily="2" charset="-122"/>
              </a:rPr>
              <a:t>A</a:t>
            </a:r>
            <a:r>
              <a:rPr lang="zh-CN" altLang="en-US">
                <a:ea typeface="宋体" pitchFamily="2" charset="-122"/>
              </a:rPr>
              <a:t>＜</a:t>
            </a:r>
            <a:r>
              <a:rPr lang="en-US" altLang="zh-CN">
                <a:ea typeface="宋体" pitchFamily="2" charset="-122"/>
              </a:rPr>
              <a:t>v</a:t>
            </a:r>
            <a:r>
              <a:rPr lang="en-US" altLang="zh-CN" baseline="-25000">
                <a:ea typeface="宋体" pitchFamily="2" charset="-122"/>
              </a:rPr>
              <a:t>i+1</a:t>
            </a:r>
            <a:r>
              <a:rPr lang="zh-CN" altLang="en-US">
                <a:ea typeface="宋体" pitchFamily="2" charset="-122"/>
              </a:rPr>
              <a:t>（</a:t>
            </a:r>
            <a:r>
              <a:rPr lang="en-US" altLang="zh-CN">
                <a:ea typeface="宋体" pitchFamily="2" charset="-122"/>
              </a:rPr>
              <a:t>i=1,…,k) </a:t>
            </a:r>
          </a:p>
          <a:p>
            <a:pPr lvl="0"/>
            <a:endParaRPr lang="en-US" altLang="zh-CN">
              <a:ea typeface="宋体" pitchFamily="2" charset="-122"/>
            </a:endParaRPr>
          </a:p>
          <a:p>
            <a:pPr lvl="0"/>
            <a:r>
              <a:rPr lang="zh-CN" altLang="en-US">
                <a:solidFill>
                  <a:srgbClr val="CC3300"/>
                </a:solidFill>
                <a:ea typeface="宋体" pitchFamily="2" charset="-122"/>
              </a:rPr>
              <a:t>二元划分</a:t>
            </a:r>
            <a:r>
              <a:rPr lang="en-US" altLang="zh-CN">
                <a:ea typeface="宋体" pitchFamily="2" charset="-122"/>
              </a:rPr>
              <a:t>: (A &lt; v) or (A </a:t>
            </a:r>
            <a:r>
              <a:rPr lang="en-US" altLang="zh-CN">
                <a:ea typeface="宋体" pitchFamily="2" charset="-122"/>
                <a:sym typeface="Symbol" pitchFamily="18" charset="2"/>
              </a:rPr>
              <a:t> v)</a:t>
            </a:r>
            <a:endParaRPr lang="en-US" altLang="zh-CN">
              <a:solidFill>
                <a:srgbClr val="CC3300"/>
              </a:solidFill>
              <a:ea typeface="宋体" pitchFamily="2" charset="-122"/>
            </a:endParaRPr>
          </a:p>
          <a:p>
            <a:pPr lvl="1"/>
            <a:r>
              <a:rPr lang="zh-CN" altLang="en-US">
                <a:ea typeface="宋体" pitchFamily="2" charset="-122"/>
              </a:rPr>
              <a:t>考虑所有的划分点，选择一个最佳划分点</a:t>
            </a:r>
            <a:r>
              <a:rPr lang="en-US" altLang="zh-CN">
                <a:ea typeface="宋体" pitchFamily="2" charset="-122"/>
              </a:rPr>
              <a:t>v</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37" name=""/>
          <p:cNvSpPr/>
          <p:nvPr>
            <p:ph type="title" idx="4294967295"/>
          </p:nvPr>
        </p:nvSpPr>
        <p:spPr>
          <a:xfrm>
            <a:off x="381000" y="152400"/>
            <a:ext cx="8534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基于连续属性的划分</a:t>
            </a:r>
            <a:endParaRPr lang="en-US" altLang="zh-CN">
              <a:ea typeface="宋体" pitchFamily="2" charset="-122"/>
            </a:endParaRPr>
          </a:p>
        </p:txBody>
      </p:sp>
      <p:graphicFrame>
        <p:nvGraphicFramePr>
          <p:cNvPr id="2538" name=""/>
          <p:cNvGraphicFramePr>
            <a:graphicFrameLocks noChangeAspect="1"/>
          </p:cNvGraphicFramePr>
          <p:nvPr>
            <p:ph idx="4294967295"/>
          </p:nvPr>
        </p:nvGraphicFramePr>
        <p:xfrm>
          <a:off x="738188" y="1746250"/>
          <a:ext cx="7608888" cy="3282950"/>
        </p:xfrm>
        <a:graphic>
          <a:graphicData uri="http://schemas.openxmlformats.org/presentationml/2006/ole">
            <mc:AlternateContent xmlns:mc="http://schemas.openxmlformats.org/markup-compatibility/2006">
              <mc:Choice xmlns:v="urn:schemas-microsoft-com:vml" Requires="v">
                <p:oleObj spid="_x0000_s1052"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738188" y="1746250"/>
                        <a:ext cx="7608888" cy="3282950"/>
                      </a:xfrm>
                      <a:prstGeom prst="rect">
                        <a:avLst/>
                      </a:prstGeom>
                    </p:spPr>
                  </p:pic>
                </p:oleObj>
              </mc:Fallback>
            </mc:AlternateContent>
          </a:graphicData>
        </a:graphic>
      </p:graphicFrame>
    </p:spTree>
  </p:cSld>
  <p:clrMapOvr>
    <a:masterClrMapping/>
  </p:clrMapOvr>
  <p:transition/>
  <p:timing/>
</p:sld>
</file>

<file path=ppt/slides/slide3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4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542"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buNone/>
            </a:pPr>
            <a:endParaRPr lang="en-US" altLang="zh-CN">
              <a:ea typeface="宋体" pitchFamily="2" charset="-122"/>
            </a:endParaRPr>
          </a:p>
          <a:p>
            <a:pPr lvl="0"/>
            <a:r>
              <a:rPr lang="zh-CN" altLang="en-US">
                <a:ea typeface="宋体" pitchFamily="2" charset="-122"/>
              </a:rPr>
              <a:t>决策树归纳的设计问题</a:t>
            </a:r>
          </a:p>
          <a:p>
            <a:pPr lvl="1"/>
            <a:r>
              <a:rPr lang="zh-CN" altLang="en-US">
                <a:ea typeface="宋体" pitchFamily="2" charset="-122"/>
              </a:rPr>
              <a:t>如何分裂训练记录</a:t>
            </a:r>
          </a:p>
          <a:p>
            <a:pPr lvl="2"/>
            <a:r>
              <a:rPr lang="zh-CN" altLang="en-US">
                <a:ea typeface="宋体" pitchFamily="2" charset="-122"/>
              </a:rPr>
              <a:t>怎样为不同类型的属性指定测试条件</a:t>
            </a:r>
            <a:r>
              <a:rPr lang="en-US" altLang="zh-CN">
                <a:ea typeface="宋体" pitchFamily="2" charset="-122"/>
              </a:rPr>
              <a:t>?</a:t>
            </a:r>
          </a:p>
          <a:p>
            <a:pPr lvl="2"/>
            <a:r>
              <a:rPr lang="zh-CN" altLang="en-US">
                <a:solidFill>
                  <a:srgbClr val="CC3300"/>
                </a:solidFill>
                <a:ea typeface="宋体" pitchFamily="2" charset="-122"/>
              </a:rPr>
              <a:t>怎样评估每种测试条件</a:t>
            </a:r>
            <a:r>
              <a:rPr lang="en-US" altLang="zh-CN">
                <a:solidFill>
                  <a:srgbClr val="CC3300"/>
                </a:solidFill>
                <a:ea typeface="宋体" pitchFamily="2" charset="-122"/>
              </a:rPr>
              <a:t>?</a:t>
            </a:r>
          </a:p>
          <a:p>
            <a:pPr lvl="1"/>
            <a:r>
              <a:rPr lang="zh-CN" altLang="en-US">
                <a:ea typeface="宋体" pitchFamily="2" charset="-122"/>
              </a:rPr>
              <a:t>如何停止分裂过程</a:t>
            </a:r>
          </a:p>
          <a:p>
            <a:pPr lvl="1"/>
            <a:endParaRPr lang="zh-CN" altLang="en-US">
              <a:ea typeface="宋体" pitchFamily="2" charset="-122"/>
            </a:endParaRP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4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怎样选择最佳划分？</a:t>
            </a:r>
          </a:p>
        </p:txBody>
      </p:sp>
      <p:graphicFrame>
        <p:nvGraphicFramePr>
          <p:cNvPr id="2546" name=""/>
          <p:cNvGraphicFramePr>
            <a:graphicFrameLocks noChangeAspect="1"/>
          </p:cNvGraphicFramePr>
          <p:nvPr>
            <p:ph idx="4294967295"/>
          </p:nvPr>
        </p:nvGraphicFramePr>
        <p:xfrm>
          <a:off x="434975" y="2260600"/>
          <a:ext cx="8435975" cy="2006600"/>
        </p:xfrm>
        <a:graphic>
          <a:graphicData uri="http://schemas.openxmlformats.org/presentationml/2006/ole">
            <mc:AlternateContent xmlns:mc="http://schemas.openxmlformats.org/markup-compatibility/2006">
              <mc:Choice xmlns:v="urn:schemas-microsoft-com:vml" Requires="v">
                <p:oleObj spid="_x0000_s1053" name="Visio" r:id="rId2" progId="Visio.Drawing.11">
                  <p:embed/>
                </p:oleObj>
              </mc:Choice>
              <mc:Fallback>
                <p:oleObj name="Visio" r:id="rId2" progId="Visio.Drawing.11">
                  <p:embed/>
                  <p:pic>
                    <p:nvPicPr>
                      <p:cNvPr id="0" name="OLE substitute image"/>
                      <p:cNvPicPr/>
                      <p:nvPr/>
                    </p:nvPicPr>
                    <p:blipFill>
                      <a:blip r:embed="rId3"/>
                      <a:stretch>
                        <a:fillRect/>
                      </a:stretch>
                    </p:blipFill>
                    <p:spPr>
                      <a:xfrm>
                        <a:off x="434975" y="2260600"/>
                        <a:ext cx="8435975" cy="2006600"/>
                      </a:xfrm>
                      <a:prstGeom prst="rect">
                        <a:avLst/>
                      </a:prstGeom>
                    </p:spPr>
                  </p:pic>
                </p:oleObj>
              </mc:Fallback>
            </mc:AlternateContent>
          </a:graphicData>
        </a:graphic>
      </p:graphicFrame>
      <p:sp>
        <p:nvSpPr>
          <p:cNvPr id="2547" name=""/>
          <p:cNvSpPr/>
          <p:nvPr/>
        </p:nvSpPr>
        <p:spPr>
          <a:xfrm>
            <a:off x="2286000" y="1219200"/>
            <a:ext cx="5105400" cy="6413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在划分前</a:t>
            </a:r>
            <a:r>
              <a:rPr kumimoji="0" lang="en-US" altLang="zh-CN" sz="1800" b="1" u="none">
                <a:latin typeface="Arial" pitchFamily="34" charset="0"/>
                <a:ea typeface="宋体" pitchFamily="2" charset="-122"/>
              </a:rPr>
              <a:t>: 10 </a:t>
            </a:r>
            <a:r>
              <a:rPr kumimoji="0" lang="zh-CN" altLang="en-US" sz="1800" b="1" u="none">
                <a:latin typeface="Arial" pitchFamily="34" charset="0"/>
                <a:ea typeface="宋体" pitchFamily="2" charset="-122"/>
              </a:rPr>
              <a:t>个记录 </a:t>
            </a:r>
            <a:r>
              <a:rPr kumimoji="0" lang="en-US" altLang="zh-CN" sz="1800" b="1" u="none">
                <a:latin typeface="Arial" pitchFamily="34" charset="0"/>
                <a:ea typeface="宋体" pitchFamily="2" charset="-122"/>
              </a:rPr>
              <a:t>class 0,</a:t>
            </a:r>
            <a:br>
              <a:rPr kumimoji="0" lang="en-US" altLang="zh-CN" sz="1800" b="1" u="none">
                <a:latin typeface="Arial" pitchFamily="34" charset="0"/>
                <a:ea typeface="宋体" pitchFamily="2" charset="-122"/>
              </a:rPr>
            </a:br>
            <a:r>
              <a:rPr kumimoji="0" lang="en-US" altLang="zh-CN" sz="1800" b="1" u="none">
                <a:latin typeface="Arial" pitchFamily="34" charset="0"/>
                <a:ea typeface="宋体" pitchFamily="2" charset="-122"/>
              </a:rPr>
              <a:t>	  10 </a:t>
            </a:r>
            <a:r>
              <a:rPr kumimoji="0" lang="zh-CN" altLang="en-US" sz="1800" b="1" u="none">
                <a:latin typeface="Arial" pitchFamily="34" charset="0"/>
                <a:ea typeface="宋体" pitchFamily="2" charset="-122"/>
              </a:rPr>
              <a:t>个记录 </a:t>
            </a:r>
            <a:r>
              <a:rPr kumimoji="0" lang="en-US" altLang="zh-CN" sz="1800" b="1" u="none">
                <a:latin typeface="Arial" pitchFamily="34" charset="0"/>
                <a:ea typeface="宋体" pitchFamily="2" charset="-122"/>
              </a:rPr>
              <a:t>class 1</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5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怎样选择最佳划分？</a:t>
            </a:r>
          </a:p>
        </p:txBody>
      </p:sp>
      <p:sp>
        <p:nvSpPr>
          <p:cNvPr id="2551"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选择最佳划分的度量通常是根据划分后子结点不纯性的程度。不纯性的程度越低，类分布就越倾斜 </a:t>
            </a:r>
          </a:p>
          <a:p>
            <a:pPr lvl="0"/>
            <a:r>
              <a:rPr lang="zh-CN" altLang="en-US">
                <a:ea typeface="宋体" pitchFamily="2" charset="-122"/>
              </a:rPr>
              <a:t>结点不纯性的度量</a:t>
            </a:r>
            <a:r>
              <a:rPr lang="en-US" altLang="zh-CN">
                <a:ea typeface="宋体" pitchFamily="2" charset="-122"/>
              </a:rPr>
              <a:t>:</a:t>
            </a:r>
          </a:p>
          <a:p>
            <a:pPr lvl="1">
              <a:buNone/>
            </a:pPr>
            <a:endParaRPr lang="zh-CN" altLang="en-US">
              <a:ea typeface="宋体" pitchFamily="2" charset="-122"/>
            </a:endParaRPr>
          </a:p>
        </p:txBody>
      </p:sp>
      <p:graphicFrame>
        <p:nvGraphicFramePr>
          <p:cNvPr id="2552" name=""/>
          <p:cNvGraphicFramePr>
            <a:graphicFrameLocks noChangeAspect="1"/>
          </p:cNvGraphicFramePr>
          <p:nvPr>
            <p:ph sz="half" idx="4294967295"/>
          </p:nvPr>
        </p:nvGraphicFramePr>
        <p:xfrm>
          <a:off x="2209800" y="3733800"/>
          <a:ext cx="912812" cy="815975"/>
        </p:xfrm>
        <a:graphic>
          <a:graphicData uri="http://schemas.openxmlformats.org/presentationml/2006/ole">
            <mc:AlternateContent xmlns:mc="http://schemas.openxmlformats.org/markup-compatibility/2006">
              <mc:Choice xmlns:v="urn:schemas-microsoft-com:vml" Requires="v">
                <p:oleObj spid="_x0000_s1054"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2209800" y="3733800"/>
                        <a:ext cx="912812" cy="815975"/>
                      </a:xfrm>
                      <a:prstGeom prst="rect">
                        <a:avLst/>
                      </a:prstGeom>
                    </p:spPr>
                  </p:pic>
                </p:oleObj>
              </mc:Fallback>
            </mc:AlternateContent>
          </a:graphicData>
        </a:graphic>
      </p:graphicFrame>
      <p:graphicFrame>
        <p:nvGraphicFramePr>
          <p:cNvPr id="2553" name=""/>
          <p:cNvGraphicFramePr>
            <a:graphicFrameLocks noChangeAspect="1"/>
          </p:cNvGraphicFramePr>
          <p:nvPr>
            <p:ph sz="half" idx="4294967295"/>
          </p:nvPr>
        </p:nvGraphicFramePr>
        <p:xfrm>
          <a:off x="5715000" y="3733800"/>
          <a:ext cx="912812" cy="815975"/>
        </p:xfrm>
        <a:graphic>
          <a:graphicData uri="http://schemas.openxmlformats.org/presentationml/2006/ole">
            <mc:AlternateContent xmlns:mc="http://schemas.openxmlformats.org/markup-compatibility/2006">
              <mc:Choice xmlns:v="urn:schemas-microsoft-com:vml" Requires="v">
                <p:oleObj spid="_x0000_s1055" name="Visio" r:id="rId4" progId="Visio.Drawing.6">
                  <p:embed/>
                </p:oleObj>
              </mc:Choice>
              <mc:Fallback>
                <p:oleObj name="Visio" r:id="rId4" progId="Visio.Drawing.6">
                  <p:embed/>
                  <p:pic>
                    <p:nvPicPr>
                      <p:cNvPr id="0" name="OLE substitute image"/>
                      <p:cNvPicPr/>
                      <p:nvPr/>
                    </p:nvPicPr>
                    <p:blipFill>
                      <a:blip r:embed="rId5"/>
                      <a:stretch>
                        <a:fillRect/>
                      </a:stretch>
                    </p:blipFill>
                    <p:spPr>
                      <a:xfrm>
                        <a:off x="5715000" y="3733800"/>
                        <a:ext cx="912812" cy="815975"/>
                      </a:xfrm>
                      <a:prstGeom prst="rect">
                        <a:avLst/>
                      </a:prstGeom>
                    </p:spPr>
                  </p:pic>
                </p:oleObj>
              </mc:Fallback>
            </mc:AlternateContent>
          </a:graphicData>
        </a:graphic>
      </p:graphicFrame>
      <p:sp>
        <p:nvSpPr>
          <p:cNvPr id="2554" name=""/>
          <p:cNvSpPr/>
          <p:nvPr/>
        </p:nvSpPr>
        <p:spPr>
          <a:xfrm>
            <a:off x="2057400" y="4724400"/>
            <a:ext cx="12954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不纯性大</a:t>
            </a:r>
          </a:p>
        </p:txBody>
      </p:sp>
      <p:sp>
        <p:nvSpPr>
          <p:cNvPr id="2555" name=""/>
          <p:cNvSpPr/>
          <p:nvPr/>
        </p:nvSpPr>
        <p:spPr>
          <a:xfrm>
            <a:off x="5638800" y="4724400"/>
            <a:ext cx="11430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不纯性小</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58"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怎样找到最佳划分？</a:t>
            </a:r>
          </a:p>
        </p:txBody>
      </p:sp>
      <p:sp>
        <p:nvSpPr>
          <p:cNvPr id="2559" name=""/>
          <p:cNvSpPr/>
          <p:nvPr/>
        </p:nvSpPr>
        <p:spPr>
          <a:xfrm>
            <a:off x="6477000" y="1828800"/>
            <a:ext cx="1009650" cy="454025"/>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B?</a:t>
            </a:r>
          </a:p>
        </p:txBody>
      </p:sp>
      <p:cxnSp>
        <p:nvCxnSpPr>
          <p:cNvPr id="2560" name=""/>
          <p:cNvCxnSpPr/>
          <p:nvPr/>
        </p:nvCxnSpPr>
        <p:spPr>
          <a:xfrm flipH="1">
            <a:off x="5902325" y="2286000"/>
            <a:ext cx="1108075" cy="725488"/>
          </a:xfrm>
          <a:prstGeom prst="line">
            <a:avLst/>
          </a:prstGeom>
          <a:noFill/>
          <a:ln cap="flat">
            <a:solidFill>
              <a:srgbClr val="000000"/>
            </a:solidFill>
            <a:prstDash val="solid"/>
            <a:miter lim="800000"/>
            <a:headEnd type="none" w="med" len="med"/>
            <a:tailEnd type="none" w="med" len="med"/>
          </a:ln>
        </p:spPr>
      </p:cxnSp>
      <p:cxnSp>
        <p:nvCxnSpPr>
          <p:cNvPr id="2561" name=""/>
          <p:cNvCxnSpPr/>
          <p:nvPr/>
        </p:nvCxnSpPr>
        <p:spPr>
          <a:xfrm>
            <a:off x="7010400" y="2286000"/>
            <a:ext cx="1184275" cy="725488"/>
          </a:xfrm>
          <a:prstGeom prst="line">
            <a:avLst/>
          </a:prstGeom>
          <a:noFill/>
          <a:ln cap="flat">
            <a:solidFill>
              <a:srgbClr val="000000"/>
            </a:solidFill>
            <a:prstDash val="solid"/>
            <a:miter lim="800000"/>
            <a:headEnd type="none" w="med" len="med"/>
            <a:tailEnd type="none" w="med" len="med"/>
          </a:ln>
        </p:spPr>
      </p:cxnSp>
      <p:sp>
        <p:nvSpPr>
          <p:cNvPr id="2562" name=""/>
          <p:cNvSpPr/>
          <p:nvPr/>
        </p:nvSpPr>
        <p:spPr>
          <a:xfrm>
            <a:off x="5629275" y="2401888"/>
            <a:ext cx="5397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Yes</a:t>
            </a:r>
          </a:p>
        </p:txBody>
      </p:sp>
      <p:sp>
        <p:nvSpPr>
          <p:cNvPr id="2563" name=""/>
          <p:cNvSpPr/>
          <p:nvPr/>
        </p:nvSpPr>
        <p:spPr>
          <a:xfrm>
            <a:off x="8118475" y="2401888"/>
            <a:ext cx="4635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a:t>
            </a:r>
          </a:p>
        </p:txBody>
      </p:sp>
      <p:sp>
        <p:nvSpPr>
          <p:cNvPr id="2564" name=""/>
          <p:cNvSpPr/>
          <p:nvPr/>
        </p:nvSpPr>
        <p:spPr>
          <a:xfrm>
            <a:off x="5486400" y="3011488"/>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N3</a:t>
            </a:r>
          </a:p>
        </p:txBody>
      </p:sp>
      <p:sp>
        <p:nvSpPr>
          <p:cNvPr id="2565" name=""/>
          <p:cNvSpPr/>
          <p:nvPr/>
        </p:nvSpPr>
        <p:spPr>
          <a:xfrm>
            <a:off x="7673975" y="3011488"/>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N4</a:t>
            </a:r>
          </a:p>
        </p:txBody>
      </p:sp>
      <p:sp>
        <p:nvSpPr>
          <p:cNvPr id="2566" name=""/>
          <p:cNvSpPr/>
          <p:nvPr/>
        </p:nvSpPr>
        <p:spPr>
          <a:xfrm>
            <a:off x="1447800" y="1752600"/>
            <a:ext cx="1009650" cy="454025"/>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A?</a:t>
            </a:r>
          </a:p>
        </p:txBody>
      </p:sp>
      <p:cxnSp>
        <p:nvCxnSpPr>
          <p:cNvPr id="2567" name=""/>
          <p:cNvCxnSpPr/>
          <p:nvPr/>
        </p:nvCxnSpPr>
        <p:spPr>
          <a:xfrm flipH="1">
            <a:off x="873125" y="2209800"/>
            <a:ext cx="1108075" cy="725488"/>
          </a:xfrm>
          <a:prstGeom prst="line">
            <a:avLst/>
          </a:prstGeom>
          <a:noFill/>
          <a:ln cap="flat">
            <a:solidFill>
              <a:srgbClr val="000000"/>
            </a:solidFill>
            <a:prstDash val="solid"/>
            <a:miter lim="800000"/>
            <a:headEnd type="none" w="med" len="med"/>
            <a:tailEnd type="none" w="med" len="med"/>
          </a:ln>
        </p:spPr>
      </p:cxnSp>
      <p:cxnSp>
        <p:nvCxnSpPr>
          <p:cNvPr id="2568" name=""/>
          <p:cNvCxnSpPr/>
          <p:nvPr/>
        </p:nvCxnSpPr>
        <p:spPr>
          <a:xfrm>
            <a:off x="1981200" y="2209800"/>
            <a:ext cx="1184275" cy="725488"/>
          </a:xfrm>
          <a:prstGeom prst="line">
            <a:avLst/>
          </a:prstGeom>
          <a:noFill/>
          <a:ln cap="flat">
            <a:solidFill>
              <a:srgbClr val="000000"/>
            </a:solidFill>
            <a:prstDash val="solid"/>
            <a:miter lim="800000"/>
            <a:headEnd type="none" w="med" len="med"/>
            <a:tailEnd type="none" w="med" len="med"/>
          </a:ln>
        </p:spPr>
      </p:cxnSp>
      <p:sp>
        <p:nvSpPr>
          <p:cNvPr id="2569" name=""/>
          <p:cNvSpPr/>
          <p:nvPr/>
        </p:nvSpPr>
        <p:spPr>
          <a:xfrm>
            <a:off x="600075" y="2325688"/>
            <a:ext cx="5397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Yes</a:t>
            </a:r>
          </a:p>
        </p:txBody>
      </p:sp>
      <p:sp>
        <p:nvSpPr>
          <p:cNvPr id="2570" name=""/>
          <p:cNvSpPr/>
          <p:nvPr/>
        </p:nvSpPr>
        <p:spPr>
          <a:xfrm>
            <a:off x="3089275" y="2325688"/>
            <a:ext cx="4635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a:t>
            </a:r>
          </a:p>
        </p:txBody>
      </p:sp>
      <p:sp>
        <p:nvSpPr>
          <p:cNvPr id="2571" name=""/>
          <p:cNvSpPr/>
          <p:nvPr/>
        </p:nvSpPr>
        <p:spPr>
          <a:xfrm>
            <a:off x="457200" y="2935288"/>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N1</a:t>
            </a:r>
          </a:p>
        </p:txBody>
      </p:sp>
      <p:sp>
        <p:nvSpPr>
          <p:cNvPr id="2572" name=""/>
          <p:cNvSpPr/>
          <p:nvPr/>
        </p:nvSpPr>
        <p:spPr>
          <a:xfrm>
            <a:off x="2644775" y="2935288"/>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N2</a:t>
            </a:r>
          </a:p>
        </p:txBody>
      </p:sp>
      <p:sp>
        <p:nvSpPr>
          <p:cNvPr id="2573" name=""/>
          <p:cNvSpPr/>
          <p:nvPr/>
        </p:nvSpPr>
        <p:spPr>
          <a:xfrm>
            <a:off x="2819400" y="1066800"/>
            <a:ext cx="10668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划分前</a:t>
            </a:r>
            <a:r>
              <a:rPr kumimoji="0" lang="en-US" altLang="zh-CN" sz="1800" b="1" u="none">
                <a:latin typeface="Arial" pitchFamily="34" charset="0"/>
                <a:ea typeface="宋体" pitchFamily="2" charset="-122"/>
              </a:rPr>
              <a:t>:</a:t>
            </a:r>
          </a:p>
        </p:txBody>
      </p:sp>
      <p:graphicFrame>
        <p:nvGraphicFramePr>
          <p:cNvPr id="2574" name=""/>
          <p:cNvGraphicFramePr>
            <a:graphicFrameLocks noChangeAspect="1"/>
          </p:cNvGraphicFramePr>
          <p:nvPr>
            <p:ph idx="4294967295"/>
          </p:nvPr>
        </p:nvGraphicFramePr>
        <p:xfrm>
          <a:off x="76200" y="3581400"/>
          <a:ext cx="1676400" cy="698500"/>
        </p:xfrm>
        <a:graphic>
          <a:graphicData uri="http://schemas.openxmlformats.org/presentationml/2006/ole">
            <mc:AlternateContent xmlns:mc="http://schemas.openxmlformats.org/markup-compatibility/2006">
              <mc:Choice xmlns:v="urn:schemas-microsoft-com:vml" Requires="v">
                <p:oleObj spid="_x0000_s1056"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76200" y="3581400"/>
                        <a:ext cx="1676400" cy="698500"/>
                      </a:xfrm>
                      <a:prstGeom prst="rect">
                        <a:avLst/>
                      </a:prstGeom>
                    </p:spPr>
                  </p:pic>
                </p:oleObj>
              </mc:Fallback>
            </mc:AlternateContent>
          </a:graphicData>
        </a:graphic>
      </p:graphicFrame>
      <p:graphicFrame>
        <p:nvGraphicFramePr>
          <p:cNvPr id="2575" name=""/>
          <p:cNvGraphicFramePr>
            <a:graphicFrameLocks noChangeAspect="1"/>
          </p:cNvGraphicFramePr>
          <p:nvPr/>
        </p:nvGraphicFramePr>
        <p:xfrm>
          <a:off x="2366962" y="3586162"/>
          <a:ext cx="1636712" cy="681038"/>
        </p:xfrm>
        <a:graphic>
          <a:graphicData uri="http://schemas.openxmlformats.org/presentationml/2006/ole">
            <mc:AlternateContent xmlns:mc="http://schemas.openxmlformats.org/markup-compatibility/2006">
              <mc:Choice xmlns:v="urn:schemas-microsoft-com:vml" Requires="v">
                <p:oleObj spid="_x0000_s1057"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2366962" y="3586162"/>
                        <a:ext cx="1636712" cy="681038"/>
                      </a:xfrm>
                      <a:prstGeom prst="rect">
                        <a:avLst/>
                      </a:prstGeom>
                    </p:spPr>
                  </p:pic>
                </p:oleObj>
              </mc:Fallback>
            </mc:AlternateContent>
          </a:graphicData>
        </a:graphic>
      </p:graphicFrame>
      <p:graphicFrame>
        <p:nvGraphicFramePr>
          <p:cNvPr id="2576" name=""/>
          <p:cNvGraphicFramePr>
            <a:graphicFrameLocks noChangeAspect="1"/>
          </p:cNvGraphicFramePr>
          <p:nvPr/>
        </p:nvGraphicFramePr>
        <p:xfrm>
          <a:off x="5105400" y="3581400"/>
          <a:ext cx="1676400" cy="698500"/>
        </p:xfrm>
        <a:graphic>
          <a:graphicData uri="http://schemas.openxmlformats.org/presentationml/2006/ole">
            <mc:AlternateContent xmlns:mc="http://schemas.openxmlformats.org/markup-compatibility/2006">
              <mc:Choice xmlns:v="urn:schemas-microsoft-com:vml" Requires="v">
                <p:oleObj spid="_x0000_s1058"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5105400" y="3581400"/>
                        <a:ext cx="1676400" cy="698500"/>
                      </a:xfrm>
                      <a:prstGeom prst="rect">
                        <a:avLst/>
                      </a:prstGeom>
                    </p:spPr>
                  </p:pic>
                </p:oleObj>
              </mc:Fallback>
            </mc:AlternateContent>
          </a:graphicData>
        </a:graphic>
      </p:graphicFrame>
      <p:graphicFrame>
        <p:nvGraphicFramePr>
          <p:cNvPr id="2577" name=""/>
          <p:cNvGraphicFramePr>
            <a:graphicFrameLocks noChangeAspect="1"/>
          </p:cNvGraphicFramePr>
          <p:nvPr/>
        </p:nvGraphicFramePr>
        <p:xfrm>
          <a:off x="7391400" y="3586162"/>
          <a:ext cx="1635125" cy="681038"/>
        </p:xfrm>
        <a:graphic>
          <a:graphicData uri="http://schemas.openxmlformats.org/presentationml/2006/ole">
            <mc:AlternateContent xmlns:mc="http://schemas.openxmlformats.org/markup-compatibility/2006">
              <mc:Choice xmlns:v="urn:schemas-microsoft-com:vml" Requires="v">
                <p:oleObj spid="_x0000_s1059" name="Document" r:id="rId8" progId="Word.Document.8">
                  <p:embed/>
                </p:oleObj>
              </mc:Choice>
              <mc:Fallback>
                <p:oleObj name="Document" r:id="rId8" progId="Word.Document.8">
                  <p:embed/>
                  <p:pic>
                    <p:nvPicPr>
                      <p:cNvPr id="0" name="OLE substitute image"/>
                      <p:cNvPicPr/>
                      <p:nvPr/>
                    </p:nvPicPr>
                    <p:blipFill>
                      <a:blip r:embed="rId9"/>
                      <a:stretch>
                        <a:fillRect/>
                      </a:stretch>
                    </p:blipFill>
                    <p:spPr>
                      <a:xfrm>
                        <a:off x="7391400" y="3586162"/>
                        <a:ext cx="1635125" cy="681038"/>
                      </a:xfrm>
                      <a:prstGeom prst="rect">
                        <a:avLst/>
                      </a:prstGeom>
                    </p:spPr>
                  </p:pic>
                </p:oleObj>
              </mc:Fallback>
            </mc:AlternateContent>
          </a:graphicData>
        </a:graphic>
      </p:graphicFrame>
      <p:graphicFrame>
        <p:nvGraphicFramePr>
          <p:cNvPr id="2578" name=""/>
          <p:cNvGraphicFramePr>
            <a:graphicFrameLocks noChangeAspect="1"/>
          </p:cNvGraphicFramePr>
          <p:nvPr/>
        </p:nvGraphicFramePr>
        <p:xfrm>
          <a:off x="3962400" y="1066800"/>
          <a:ext cx="1595438" cy="660400"/>
        </p:xfrm>
        <a:graphic>
          <a:graphicData uri="http://schemas.openxmlformats.org/presentationml/2006/ole">
            <mc:AlternateContent xmlns:mc="http://schemas.openxmlformats.org/markup-compatibility/2006">
              <mc:Choice xmlns:v="urn:schemas-microsoft-com:vml" Requires="v">
                <p:oleObj spid="_x0000_s1060" name="Document" r:id="rId10" progId="Word.Document.8">
                  <p:embed/>
                </p:oleObj>
              </mc:Choice>
              <mc:Fallback>
                <p:oleObj name="Document" r:id="rId10" progId="Word.Document.8">
                  <p:embed/>
                  <p:pic>
                    <p:nvPicPr>
                      <p:cNvPr id="0" name="OLE substitute image"/>
                      <p:cNvPicPr/>
                      <p:nvPr/>
                    </p:nvPicPr>
                    <p:blipFill>
                      <a:blip r:embed="rId11"/>
                      <a:stretch>
                        <a:fillRect/>
                      </a:stretch>
                    </p:blipFill>
                    <p:spPr>
                      <a:xfrm>
                        <a:off x="3962400" y="1066800"/>
                        <a:ext cx="1595438" cy="660400"/>
                      </a:xfrm>
                      <a:prstGeom prst="rect">
                        <a:avLst/>
                      </a:prstGeom>
                    </p:spPr>
                  </p:pic>
                </p:oleObj>
              </mc:Fallback>
            </mc:AlternateContent>
          </a:graphicData>
        </a:graphic>
      </p:graphicFrame>
      <p:grpSp>
        <p:nvGrpSpPr>
          <p:cNvPr id="2579" name=""/>
          <p:cNvGrpSpPr/>
          <p:nvPr/>
        </p:nvGrpSpPr>
        <p:grpSpPr>
          <a:xfrm>
            <a:off x="5715000" y="1066800"/>
            <a:ext cx="1295400" cy="396875"/>
            <a:chOff x="3600" y="768"/>
            <a:chExt cx="816" cy="250"/>
          </a:xfrm>
        </p:grpSpPr>
        <p:cxnSp>
          <p:nvCxnSpPr>
            <p:cNvPr id="2580" name=""/>
            <p:cNvCxnSpPr/>
            <p:nvPr/>
          </p:nvCxnSpPr>
          <p:spPr>
            <a:xfrm>
              <a:off x="3600" y="912"/>
              <a:ext cx="336" cy="0"/>
            </a:xfrm>
            <a:prstGeom prst="line">
              <a:avLst/>
            </a:prstGeom>
            <a:noFill/>
            <a:ln w="38100" cap="flat">
              <a:solidFill>
                <a:srgbClr val="FF0000"/>
              </a:solidFill>
              <a:prstDash val="solid"/>
              <a:miter lim="800000"/>
              <a:headEnd type="none" w="med" len="med"/>
              <a:tailEnd type="triangle" w="med" len="med"/>
            </a:ln>
          </p:spPr>
        </p:cxnSp>
        <p:sp>
          <p:nvSpPr>
            <p:cNvPr id="2581" name=""/>
            <p:cNvSpPr/>
            <p:nvPr/>
          </p:nvSpPr>
          <p:spPr>
            <a:xfrm>
              <a:off x="3984" y="768"/>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M0</a:t>
              </a:r>
            </a:p>
          </p:txBody>
        </p:sp>
      </p:grpSp>
      <p:grpSp>
        <p:nvGrpSpPr>
          <p:cNvPr id="2582" name=""/>
          <p:cNvGrpSpPr/>
          <p:nvPr/>
        </p:nvGrpSpPr>
        <p:grpSpPr>
          <a:xfrm>
            <a:off x="609600" y="4343400"/>
            <a:ext cx="8001000" cy="854075"/>
            <a:chOff x="384" y="2832"/>
            <a:chExt cx="5040" cy="538"/>
          </a:xfrm>
        </p:grpSpPr>
        <p:sp>
          <p:nvSpPr>
            <p:cNvPr id="2583" name=""/>
            <p:cNvSpPr/>
            <p:nvPr/>
          </p:nvSpPr>
          <p:spPr>
            <a:xfrm>
              <a:off x="384" y="3120"/>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M1</a:t>
              </a:r>
            </a:p>
          </p:txBody>
        </p:sp>
        <p:sp>
          <p:nvSpPr>
            <p:cNvPr id="2584" name=""/>
            <p:cNvSpPr/>
            <p:nvPr/>
          </p:nvSpPr>
          <p:spPr>
            <a:xfrm>
              <a:off x="1824" y="3110"/>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M2</a:t>
              </a:r>
            </a:p>
          </p:txBody>
        </p:sp>
        <p:sp>
          <p:nvSpPr>
            <p:cNvPr id="2585" name=""/>
            <p:cNvSpPr/>
            <p:nvPr/>
          </p:nvSpPr>
          <p:spPr>
            <a:xfrm>
              <a:off x="3600" y="3110"/>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M3</a:t>
              </a:r>
            </a:p>
          </p:txBody>
        </p:sp>
        <p:sp>
          <p:nvSpPr>
            <p:cNvPr id="2586" name=""/>
            <p:cNvSpPr/>
            <p:nvPr/>
          </p:nvSpPr>
          <p:spPr>
            <a:xfrm>
              <a:off x="4992" y="3110"/>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M4</a:t>
              </a:r>
            </a:p>
          </p:txBody>
        </p:sp>
        <p:cxnSp>
          <p:nvCxnSpPr>
            <p:cNvPr id="2587" name=""/>
            <p:cNvCxnSpPr/>
            <p:nvPr/>
          </p:nvCxnSpPr>
          <p:spPr>
            <a:xfrm flipH="1">
              <a:off x="528" y="2832"/>
              <a:ext cx="0" cy="288"/>
            </a:xfrm>
            <a:prstGeom prst="line">
              <a:avLst/>
            </a:prstGeom>
            <a:noFill/>
            <a:ln w="38100" cap="flat">
              <a:solidFill>
                <a:srgbClr val="FF0000"/>
              </a:solidFill>
              <a:prstDash val="solid"/>
              <a:miter lim="800000"/>
              <a:headEnd type="none" w="med" len="med"/>
              <a:tailEnd type="triangle" w="med" len="med"/>
            </a:ln>
          </p:spPr>
        </p:cxnSp>
        <p:cxnSp>
          <p:nvCxnSpPr>
            <p:cNvPr id="2588" name=""/>
            <p:cNvCxnSpPr/>
            <p:nvPr/>
          </p:nvCxnSpPr>
          <p:spPr>
            <a:xfrm flipH="1">
              <a:off x="2016" y="2832"/>
              <a:ext cx="0" cy="288"/>
            </a:xfrm>
            <a:prstGeom prst="line">
              <a:avLst/>
            </a:prstGeom>
            <a:noFill/>
            <a:ln w="38100" cap="flat">
              <a:solidFill>
                <a:srgbClr val="FF0000"/>
              </a:solidFill>
              <a:prstDash val="solid"/>
              <a:miter lim="800000"/>
              <a:headEnd type="none" w="med" len="med"/>
              <a:tailEnd type="triangle" w="med" len="med"/>
            </a:ln>
          </p:spPr>
        </p:cxnSp>
        <p:cxnSp>
          <p:nvCxnSpPr>
            <p:cNvPr id="2589" name=""/>
            <p:cNvCxnSpPr/>
            <p:nvPr/>
          </p:nvCxnSpPr>
          <p:spPr>
            <a:xfrm flipH="1">
              <a:off x="3744" y="2832"/>
              <a:ext cx="0" cy="288"/>
            </a:xfrm>
            <a:prstGeom prst="line">
              <a:avLst/>
            </a:prstGeom>
            <a:noFill/>
            <a:ln w="38100" cap="flat">
              <a:solidFill>
                <a:srgbClr val="FF0000"/>
              </a:solidFill>
              <a:prstDash val="solid"/>
              <a:miter lim="800000"/>
              <a:headEnd type="none" w="med" len="med"/>
              <a:tailEnd type="triangle" w="med" len="med"/>
            </a:ln>
          </p:spPr>
        </p:cxnSp>
        <p:cxnSp>
          <p:nvCxnSpPr>
            <p:cNvPr id="2590" name=""/>
            <p:cNvCxnSpPr/>
            <p:nvPr/>
          </p:nvCxnSpPr>
          <p:spPr>
            <a:xfrm flipH="1">
              <a:off x="5184" y="2832"/>
              <a:ext cx="0" cy="288"/>
            </a:xfrm>
            <a:prstGeom prst="line">
              <a:avLst/>
            </a:prstGeom>
            <a:noFill/>
            <a:ln w="38100" cap="flat">
              <a:solidFill>
                <a:srgbClr val="FF0000"/>
              </a:solidFill>
              <a:prstDash val="solid"/>
              <a:miter lim="800000"/>
              <a:headEnd type="none" w="med" len="med"/>
              <a:tailEnd type="triangle" w="med" len="med"/>
            </a:ln>
          </p:spPr>
        </p:cxnSp>
      </p:grpSp>
      <p:grpSp>
        <p:nvGrpSpPr>
          <p:cNvPr id="2591" name=""/>
          <p:cNvGrpSpPr/>
          <p:nvPr/>
        </p:nvGrpSpPr>
        <p:grpSpPr>
          <a:xfrm>
            <a:off x="762000" y="5257800"/>
            <a:ext cx="7620000" cy="777875"/>
            <a:chOff x="480" y="3408"/>
            <a:chExt cx="4800" cy="490"/>
          </a:xfrm>
        </p:grpSpPr>
        <p:sp>
          <p:nvSpPr>
            <p:cNvPr id="2592" name=""/>
            <p:cNvSpPr/>
            <p:nvPr/>
          </p:nvSpPr>
          <p:spPr>
            <a:xfrm rot="16200000">
              <a:off x="1152" y="2736"/>
              <a:ext cx="192" cy="1536"/>
            </a:xfrm>
            <a:prstGeom prst="leftBrace">
              <a:avLst>
                <a:gd name="adj1" fmla="val 66667"/>
                <a:gd name="adj2" fmla="val 50963"/>
              </a:avLst>
            </a:prstGeom>
            <a:noFill/>
            <a:ln w="25400" cap="flat">
              <a:solidFill>
                <a:srgbClr val="1C5A61"/>
              </a:solidFill>
              <a:prstDash val="solid"/>
              <a:round/>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593" name=""/>
            <p:cNvSpPr/>
            <p:nvPr/>
          </p:nvSpPr>
          <p:spPr>
            <a:xfrm rot="16200000">
              <a:off x="4416" y="2736"/>
              <a:ext cx="192" cy="1536"/>
            </a:xfrm>
            <a:prstGeom prst="leftBrace">
              <a:avLst>
                <a:gd name="adj1" fmla="val 66667"/>
                <a:gd name="adj2" fmla="val 50963"/>
              </a:avLst>
            </a:prstGeom>
            <a:noFill/>
            <a:ln w="25400" cap="flat">
              <a:solidFill>
                <a:srgbClr val="1C5A61"/>
              </a:solidFill>
              <a:prstDash val="solid"/>
              <a:round/>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sp>
          <p:nvSpPr>
            <p:cNvPr id="2594" name=""/>
            <p:cNvSpPr/>
            <p:nvPr/>
          </p:nvSpPr>
          <p:spPr>
            <a:xfrm>
              <a:off x="1056" y="3638"/>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M12</a:t>
              </a:r>
            </a:p>
          </p:txBody>
        </p:sp>
        <p:sp>
          <p:nvSpPr>
            <p:cNvPr id="2595" name=""/>
            <p:cNvSpPr/>
            <p:nvPr/>
          </p:nvSpPr>
          <p:spPr>
            <a:xfrm>
              <a:off x="4320" y="3648"/>
              <a:ext cx="432" cy="25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M34</a:t>
              </a:r>
            </a:p>
          </p:txBody>
        </p:sp>
      </p:grpSp>
      <p:sp>
        <p:nvSpPr>
          <p:cNvPr id="2596" name=""/>
          <p:cNvSpPr/>
          <p:nvPr/>
        </p:nvSpPr>
        <p:spPr>
          <a:xfrm>
            <a:off x="2819400" y="5927725"/>
            <a:ext cx="4038600" cy="3968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Gain = M0 – M12 vs  M0 – M34</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additive="base">
                                        <p:cTn id="6" dur="1" fill="hold">
                                          <p:stCondLst>
                                            <p:cond delay="0"/>
                                          </p:stCondLst>
                                        </p:cTn>
                                        <p:tgtEl>
                                          <p:spTgt spid="25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1" presetClass="entr" presetSubtype="0" fill="hold" nodeType="clickEffect">
                                  <p:stCondLst>
                                    <p:cond delay="0"/>
                                  </p:stCondLst>
                                  <p:childTnLst>
                                    <p:set>
                                      <p:cBhvr additive="base">
                                        <p:cTn id="11" dur="1" fill="hold">
                                          <p:stCondLst>
                                            <p:cond delay="0"/>
                                          </p:stCondLst>
                                        </p:cTn>
                                        <p:tgtEl>
                                          <p:spTgt spid="258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indefinite"/>
                            </p:stCondLst>
                          </p:cTn>
                        </p:par>
                        <p:par>
                          <p:cTn id="14" fill="hold" nodeType="afterGroup">
                            <p:stCondLst>
                              <p:cond delay="0"/>
                            </p:stCondLst>
                            <p:childTnLst>
                              <p:par>
                                <p:cTn id="15" presetID="1" presetClass="entr" presetSubtype="0" fill="hold" nodeType="clickEffect">
                                  <p:stCondLst>
                                    <p:cond delay="0"/>
                                  </p:stCondLst>
                                  <p:childTnLst>
                                    <p:set>
                                      <p:cBhvr additive="base">
                                        <p:cTn id="16" dur="1" fill="hold">
                                          <p:stCondLst>
                                            <p:cond delay="0"/>
                                          </p:stCondLst>
                                        </p:cTn>
                                        <p:tgtEl>
                                          <p:spTgt spid="259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indefinite"/>
                            </p:stCondLst>
                          </p:cTn>
                        </p:par>
                        <p:par>
                          <p:cTn id="19" fill="hold" nodeType="afterGroup">
                            <p:stCondLst>
                              <p:cond delay="0"/>
                            </p:stCondLst>
                            <p:childTnLst>
                              <p:par>
                                <p:cTn id="20" presetID="1" presetClass="entr" presetSubtype="0" fill="hold" grpId="0" nodeType="clickEffect">
                                  <p:stCondLst>
                                    <p:cond delay="0"/>
                                  </p:stCondLst>
                                  <p:childTnLst>
                                    <p:set>
                                      <p:cBhvr additive="base">
                                        <p:cTn id="21" dur="1" fill="hold">
                                          <p:stCondLst>
                                            <p:cond delay="0"/>
                                          </p:stCondLst>
                                        </p:cTn>
                                        <p:tgtEl>
                                          <p:spTgt spid="2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6" grpId="0"/>
    </p:bldLst>
  </p:timing>
</p:sld>
</file>

<file path=ppt/slides/slide3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59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结点不纯性的测量</a:t>
            </a:r>
          </a:p>
        </p:txBody>
      </p:sp>
      <p:sp>
        <p:nvSpPr>
          <p:cNvPr id="260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Gini</a:t>
            </a:r>
          </a:p>
          <a:p>
            <a:pPr lvl="0"/>
            <a:endParaRPr lang="en-US" altLang="zh-CN">
              <a:ea typeface="宋体" pitchFamily="2" charset="-122"/>
            </a:endParaRPr>
          </a:p>
          <a:p>
            <a:pPr lvl="0"/>
            <a:r>
              <a:rPr lang="en-US" altLang="zh-CN">
                <a:ea typeface="宋体" pitchFamily="2" charset="-122"/>
              </a:rPr>
              <a:t>Entropy</a:t>
            </a:r>
          </a:p>
          <a:p>
            <a:pPr lvl="0"/>
            <a:endParaRPr lang="en-US" altLang="zh-CN">
              <a:ea typeface="宋体" pitchFamily="2" charset="-122"/>
            </a:endParaRPr>
          </a:p>
          <a:p>
            <a:pPr lvl="0"/>
            <a:r>
              <a:rPr lang="en-US" altLang="zh-CN">
                <a:ea typeface="宋体" pitchFamily="2" charset="-122"/>
              </a:rPr>
              <a:t>classification error</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0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不纯性的测量</a:t>
            </a:r>
            <a:r>
              <a:rPr lang="en-US" altLang="zh-CN">
                <a:ea typeface="宋体" pitchFamily="2" charset="-122"/>
              </a:rPr>
              <a:t>: GINI</a:t>
            </a:r>
          </a:p>
        </p:txBody>
      </p:sp>
      <p:sp>
        <p:nvSpPr>
          <p:cNvPr id="2604" name=""/>
          <p:cNvSpPr/>
          <p:nvPr>
            <p:ph type="body" idx="4294967295"/>
          </p:nvPr>
        </p:nvSpPr>
        <p:spPr>
          <a:xfrm>
            <a:off x="411162" y="1143000"/>
            <a:ext cx="8318500" cy="39624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给定结点</a:t>
            </a:r>
            <a:r>
              <a:rPr lang="en-US" altLang="zh-CN">
                <a:ea typeface="宋体" pitchFamily="2" charset="-122"/>
              </a:rPr>
              <a:t>t</a:t>
            </a:r>
            <a:r>
              <a:rPr lang="zh-CN" altLang="en-US">
                <a:ea typeface="宋体" pitchFamily="2" charset="-122"/>
              </a:rPr>
              <a:t>的</a:t>
            </a:r>
            <a:r>
              <a:rPr lang="en-US" altLang="zh-CN">
                <a:ea typeface="宋体" pitchFamily="2" charset="-122"/>
              </a:rPr>
              <a:t>Gini</a:t>
            </a:r>
            <a:r>
              <a:rPr lang="zh-CN" altLang="en-US">
                <a:ea typeface="宋体" pitchFamily="2" charset="-122"/>
              </a:rPr>
              <a:t>值计算 </a:t>
            </a:r>
            <a:r>
              <a:rPr lang="en-US" altLang="zh-CN">
                <a:ea typeface="宋体" pitchFamily="2" charset="-122"/>
              </a:rPr>
              <a:t>:</a:t>
            </a:r>
          </a:p>
          <a:p>
            <a:pPr lvl="0"/>
            <a:endParaRPr lang="en-US" altLang="zh-CN" sz="2400">
              <a:ea typeface="宋体" pitchFamily="2" charset="-122"/>
            </a:endParaRPr>
          </a:p>
          <a:p>
            <a:pPr lvl="2">
              <a:buNone/>
            </a:pPr>
            <a:endParaRPr lang="en-US" altLang="zh-CN">
              <a:ea typeface="宋体" pitchFamily="2" charset="-122"/>
            </a:endParaRPr>
          </a:p>
          <a:p>
            <a:pPr lvl="2">
              <a:buNone/>
            </a:pPr>
            <a:endParaRPr lang="en-US" altLang="zh-CN" sz="900">
              <a:ea typeface="宋体" pitchFamily="2" charset="-122"/>
            </a:endParaRPr>
          </a:p>
          <a:p>
            <a:pPr lvl="2">
              <a:buNone/>
            </a:pPr>
            <a:br>
              <a:rPr lang="en-US" altLang="zh-CN">
                <a:ea typeface="宋体" pitchFamily="2" charset="-122"/>
              </a:rPr>
            </a:br>
            <a:r>
              <a:rPr lang="en-US" altLang="zh-CN">
                <a:ea typeface="宋体" pitchFamily="2" charset="-122"/>
              </a:rPr>
              <a:t>(</a:t>
            </a:r>
            <a:r>
              <a:rPr lang="en-US" altLang="zh-CN" i="1">
                <a:latin typeface="Times New Roman" pitchFamily="18" charset="0"/>
                <a:ea typeface="宋体" pitchFamily="2" charset="-122"/>
              </a:rPr>
              <a:t>p( j | t) </a:t>
            </a:r>
            <a:r>
              <a:rPr lang="zh-CN" altLang="en-US">
                <a:ea typeface="宋体" pitchFamily="2" charset="-122"/>
              </a:rPr>
              <a:t>是在结点</a:t>
            </a:r>
            <a:r>
              <a:rPr lang="en-US" altLang="zh-CN">
                <a:ea typeface="宋体" pitchFamily="2" charset="-122"/>
              </a:rPr>
              <a:t>t</a:t>
            </a:r>
            <a:r>
              <a:rPr lang="zh-CN" altLang="en-US">
                <a:ea typeface="宋体" pitchFamily="2" charset="-122"/>
              </a:rPr>
              <a:t>中，类</a:t>
            </a:r>
            <a:r>
              <a:rPr lang="en-US" altLang="zh-CN">
                <a:ea typeface="宋体" pitchFamily="2" charset="-122"/>
              </a:rPr>
              <a:t>j</a:t>
            </a:r>
            <a:r>
              <a:rPr lang="zh-CN" altLang="en-US">
                <a:ea typeface="宋体" pitchFamily="2" charset="-122"/>
              </a:rPr>
              <a:t>发生的概率</a:t>
            </a:r>
            <a:r>
              <a:rPr lang="en-US" altLang="zh-CN">
                <a:ea typeface="宋体" pitchFamily="2" charset="-122"/>
              </a:rPr>
              <a:t>).</a:t>
            </a:r>
          </a:p>
          <a:p>
            <a:pPr lvl="2">
              <a:buNone/>
            </a:pPr>
            <a:endParaRPr lang="en-US" altLang="zh-CN" sz="900">
              <a:ea typeface="宋体" pitchFamily="2" charset="-122"/>
            </a:endParaRPr>
          </a:p>
          <a:p>
            <a:pPr lvl="1"/>
            <a:r>
              <a:rPr lang="zh-CN" altLang="en-US">
                <a:ea typeface="宋体" pitchFamily="2" charset="-122"/>
              </a:rPr>
              <a:t>当类分布均衡时，</a:t>
            </a:r>
            <a:r>
              <a:rPr lang="en-US" altLang="zh-CN">
                <a:ea typeface="宋体" pitchFamily="2" charset="-122"/>
              </a:rPr>
              <a:t>Gini</a:t>
            </a:r>
            <a:r>
              <a:rPr lang="zh-CN" altLang="en-US">
                <a:ea typeface="宋体" pitchFamily="2" charset="-122"/>
              </a:rPr>
              <a:t>值达到最大值 </a:t>
            </a:r>
            <a:r>
              <a:rPr lang="en-US" altLang="zh-CN">
                <a:ea typeface="宋体" pitchFamily="2" charset="-122"/>
              </a:rPr>
              <a:t>(1 - 1/n</a:t>
            </a:r>
            <a:r>
              <a:rPr lang="en-US" altLang="zh-CN" baseline="-25000">
                <a:ea typeface="宋体" pitchFamily="2" charset="-122"/>
              </a:rPr>
              <a:t>c</a:t>
            </a:r>
            <a:r>
              <a:rPr lang="en-US" altLang="zh-CN">
                <a:ea typeface="宋体" pitchFamily="2" charset="-122"/>
              </a:rPr>
              <a:t>) </a:t>
            </a:r>
          </a:p>
          <a:p>
            <a:pPr lvl="1"/>
            <a:r>
              <a:rPr lang="zh-CN" altLang="en-US">
                <a:ea typeface="宋体" pitchFamily="2" charset="-122"/>
              </a:rPr>
              <a:t>相反当只有一个类时，</a:t>
            </a:r>
            <a:r>
              <a:rPr lang="en-US" altLang="zh-CN">
                <a:ea typeface="宋体" pitchFamily="2" charset="-122"/>
              </a:rPr>
              <a:t>Gini</a:t>
            </a:r>
            <a:r>
              <a:rPr lang="zh-CN" altLang="en-US">
                <a:ea typeface="宋体" pitchFamily="2" charset="-122"/>
              </a:rPr>
              <a:t>值达到最小值</a:t>
            </a:r>
            <a:r>
              <a:rPr lang="en-US" altLang="zh-CN">
                <a:ea typeface="宋体" pitchFamily="2" charset="-122"/>
              </a:rPr>
              <a:t>0</a:t>
            </a:r>
            <a:endParaRPr lang="en-US" altLang="zh-CN" baseline="-25000">
              <a:ea typeface="宋体" pitchFamily="2" charset="-122"/>
            </a:endParaRPr>
          </a:p>
        </p:txBody>
      </p:sp>
      <p:graphicFrame>
        <p:nvGraphicFramePr>
          <p:cNvPr id="2605" name=""/>
          <p:cNvGraphicFramePr>
            <a:graphicFrameLocks noChangeAspect="1"/>
          </p:cNvGraphicFramePr>
          <p:nvPr/>
        </p:nvGraphicFramePr>
        <p:xfrm>
          <a:off x="2743200" y="1778000"/>
          <a:ext cx="3352800" cy="736600"/>
        </p:xfrm>
        <a:graphic>
          <a:graphicData uri="http://schemas.openxmlformats.org/presentationml/2006/ole">
            <mc:AlternateContent xmlns:mc="http://schemas.openxmlformats.org/markup-compatibility/2006">
              <mc:Choice xmlns:v="urn:schemas-microsoft-com:vml" Requires="v">
                <p:oleObj spid="_x0000_s1061"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2743200" y="1778000"/>
                        <a:ext cx="3352800" cy="736600"/>
                      </a:xfrm>
                      <a:prstGeom prst="rect">
                        <a:avLst/>
                      </a:prstGeom>
                    </p:spPr>
                  </p:pic>
                </p:oleObj>
              </mc:Fallback>
            </mc:AlternateContent>
          </a:graphicData>
        </a:graphic>
      </p:graphicFrame>
      <p:graphicFrame>
        <p:nvGraphicFramePr>
          <p:cNvPr id="2606" name=""/>
          <p:cNvGraphicFramePr>
            <a:graphicFrameLocks noChangeAspect="1"/>
          </p:cNvGraphicFramePr>
          <p:nvPr/>
        </p:nvGraphicFramePr>
        <p:xfrm>
          <a:off x="1295400" y="5334000"/>
          <a:ext cx="1371600" cy="808038"/>
        </p:xfrm>
        <a:graphic>
          <a:graphicData uri="http://schemas.openxmlformats.org/presentationml/2006/ole">
            <mc:AlternateContent xmlns:mc="http://schemas.openxmlformats.org/markup-compatibility/2006">
              <mc:Choice xmlns:v="urn:schemas-microsoft-com:vml" Requires="v">
                <p:oleObj spid="_x0000_s1062"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1295400" y="5334000"/>
                        <a:ext cx="1371600" cy="808038"/>
                      </a:xfrm>
                      <a:prstGeom prst="rect">
                        <a:avLst/>
                      </a:prstGeom>
                    </p:spPr>
                  </p:pic>
                </p:oleObj>
              </mc:Fallback>
            </mc:AlternateContent>
          </a:graphicData>
        </a:graphic>
      </p:graphicFrame>
      <p:graphicFrame>
        <p:nvGraphicFramePr>
          <p:cNvPr id="2607" name=""/>
          <p:cNvGraphicFramePr>
            <a:graphicFrameLocks noChangeAspect="1"/>
          </p:cNvGraphicFramePr>
          <p:nvPr/>
        </p:nvGraphicFramePr>
        <p:xfrm>
          <a:off x="4572000" y="5334000"/>
          <a:ext cx="1371600" cy="808038"/>
        </p:xfrm>
        <a:graphic>
          <a:graphicData uri="http://schemas.openxmlformats.org/presentationml/2006/ole">
            <mc:AlternateContent xmlns:mc="http://schemas.openxmlformats.org/markup-compatibility/2006">
              <mc:Choice xmlns:v="urn:schemas-microsoft-com:vml" Requires="v">
                <p:oleObj spid="_x0000_s1063"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4572000" y="5334000"/>
                        <a:ext cx="1371600" cy="808038"/>
                      </a:xfrm>
                      <a:prstGeom prst="rect">
                        <a:avLst/>
                      </a:prstGeom>
                    </p:spPr>
                  </p:pic>
                </p:oleObj>
              </mc:Fallback>
            </mc:AlternateContent>
          </a:graphicData>
        </a:graphic>
      </p:graphicFrame>
      <p:graphicFrame>
        <p:nvGraphicFramePr>
          <p:cNvPr id="2608" name=""/>
          <p:cNvGraphicFramePr>
            <a:graphicFrameLocks noChangeAspect="1"/>
          </p:cNvGraphicFramePr>
          <p:nvPr/>
        </p:nvGraphicFramePr>
        <p:xfrm>
          <a:off x="6248400" y="5334000"/>
          <a:ext cx="1371600" cy="808038"/>
        </p:xfrm>
        <a:graphic>
          <a:graphicData uri="http://schemas.openxmlformats.org/presentationml/2006/ole">
            <mc:AlternateContent xmlns:mc="http://schemas.openxmlformats.org/markup-compatibility/2006">
              <mc:Choice xmlns:v="urn:schemas-microsoft-com:vml" Requires="v">
                <p:oleObj spid="_x0000_s1064" name="Document" r:id="rId8" progId="Word.Document.8">
                  <p:embed/>
                </p:oleObj>
              </mc:Choice>
              <mc:Fallback>
                <p:oleObj name="Document" r:id="rId8" progId="Word.Document.8">
                  <p:embed/>
                  <p:pic>
                    <p:nvPicPr>
                      <p:cNvPr id="0" name="OLE substitute image"/>
                      <p:cNvPicPr/>
                      <p:nvPr/>
                    </p:nvPicPr>
                    <p:blipFill>
                      <a:blip r:embed="rId9"/>
                      <a:stretch>
                        <a:fillRect/>
                      </a:stretch>
                    </p:blipFill>
                    <p:spPr>
                      <a:xfrm>
                        <a:off x="6248400" y="5334000"/>
                        <a:ext cx="1371600" cy="808038"/>
                      </a:xfrm>
                      <a:prstGeom prst="rect">
                        <a:avLst/>
                      </a:prstGeom>
                    </p:spPr>
                  </p:pic>
                </p:oleObj>
              </mc:Fallback>
            </mc:AlternateContent>
          </a:graphicData>
        </a:graphic>
      </p:graphicFrame>
      <p:graphicFrame>
        <p:nvGraphicFramePr>
          <p:cNvPr id="2609" name=""/>
          <p:cNvGraphicFramePr>
            <a:graphicFrameLocks noChangeAspect="1"/>
          </p:cNvGraphicFramePr>
          <p:nvPr/>
        </p:nvGraphicFramePr>
        <p:xfrm>
          <a:off x="2971800" y="5334000"/>
          <a:ext cx="1371600" cy="808038"/>
        </p:xfrm>
        <a:graphic>
          <a:graphicData uri="http://schemas.openxmlformats.org/presentationml/2006/ole">
            <mc:AlternateContent xmlns:mc="http://schemas.openxmlformats.org/markup-compatibility/2006">
              <mc:Choice xmlns:v="urn:schemas-microsoft-com:vml" Requires="v">
                <p:oleObj spid="_x0000_s1065" name="Document" r:id="rId10" progId="Word.Document.8">
                  <p:embed/>
                </p:oleObj>
              </mc:Choice>
              <mc:Fallback>
                <p:oleObj name="Document" r:id="rId10" progId="Word.Document.8">
                  <p:embed/>
                  <p:pic>
                    <p:nvPicPr>
                      <p:cNvPr id="0" name="OLE substitute image"/>
                      <p:cNvPicPr/>
                      <p:nvPr/>
                    </p:nvPicPr>
                    <p:blipFill>
                      <a:blip r:embed="rId11"/>
                      <a:stretch>
                        <a:fillRect/>
                      </a:stretch>
                    </p:blipFill>
                    <p:spPr>
                      <a:xfrm>
                        <a:off x="2971800" y="5334000"/>
                        <a:ext cx="1371600" cy="808038"/>
                      </a:xfrm>
                      <a:prstGeom prst="rect">
                        <a:avLst/>
                      </a:prstGeom>
                    </p:spPr>
                  </p:pic>
                </p:oleObj>
              </mc:Fallback>
            </mc:AlternateContent>
          </a:graphicData>
        </a:graphic>
      </p:graphicFrame>
    </p:spTree>
  </p:cSld>
  <p:clrMapOvr>
    <a:masterClrMapping/>
  </p:clrMapOvr>
  <p:transition/>
  <p:timing/>
</p:sld>
</file>

<file path=ppt/slides/slide3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1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计算 </a:t>
            </a:r>
            <a:r>
              <a:rPr lang="en-US" altLang="zh-CN">
                <a:ea typeface="宋体" pitchFamily="2" charset="-122"/>
              </a:rPr>
              <a:t>GINI</a:t>
            </a:r>
            <a:r>
              <a:rPr lang="zh-CN" altLang="en-US">
                <a:ea typeface="宋体" pitchFamily="2" charset="-122"/>
              </a:rPr>
              <a:t>的例子</a:t>
            </a:r>
          </a:p>
        </p:txBody>
      </p:sp>
      <p:graphicFrame>
        <p:nvGraphicFramePr>
          <p:cNvPr id="2613" name=""/>
          <p:cNvGraphicFramePr>
            <a:graphicFrameLocks noChangeAspect="1"/>
          </p:cNvGraphicFramePr>
          <p:nvPr/>
        </p:nvGraphicFramePr>
        <p:xfrm>
          <a:off x="457200" y="2339975"/>
          <a:ext cx="2362200" cy="936625"/>
        </p:xfrm>
        <a:graphic>
          <a:graphicData uri="http://schemas.openxmlformats.org/presentationml/2006/ole">
            <mc:AlternateContent xmlns:mc="http://schemas.openxmlformats.org/markup-compatibility/2006">
              <mc:Choice xmlns:v="urn:schemas-microsoft-com:vml" Requires="v">
                <p:oleObj spid="_x0000_s1066"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457200" y="2339975"/>
                        <a:ext cx="2362200" cy="936625"/>
                      </a:xfrm>
                      <a:prstGeom prst="rect">
                        <a:avLst/>
                      </a:prstGeom>
                    </p:spPr>
                  </p:pic>
                </p:oleObj>
              </mc:Fallback>
            </mc:AlternateContent>
          </a:graphicData>
        </a:graphic>
      </p:graphicFrame>
      <p:graphicFrame>
        <p:nvGraphicFramePr>
          <p:cNvPr id="2614" name=""/>
          <p:cNvGraphicFramePr>
            <a:graphicFrameLocks noChangeAspect="1"/>
          </p:cNvGraphicFramePr>
          <p:nvPr/>
        </p:nvGraphicFramePr>
        <p:xfrm>
          <a:off x="533400" y="5181600"/>
          <a:ext cx="2286000" cy="938212"/>
        </p:xfrm>
        <a:graphic>
          <a:graphicData uri="http://schemas.openxmlformats.org/presentationml/2006/ole">
            <mc:AlternateContent xmlns:mc="http://schemas.openxmlformats.org/markup-compatibility/2006">
              <mc:Choice xmlns:v="urn:schemas-microsoft-com:vml" Requires="v">
                <p:oleObj spid="_x0000_s1067"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533400" y="5181600"/>
                        <a:ext cx="2286000" cy="938212"/>
                      </a:xfrm>
                      <a:prstGeom prst="rect">
                        <a:avLst/>
                      </a:prstGeom>
                    </p:spPr>
                  </p:pic>
                </p:oleObj>
              </mc:Fallback>
            </mc:AlternateContent>
          </a:graphicData>
        </a:graphic>
      </p:graphicFrame>
      <p:graphicFrame>
        <p:nvGraphicFramePr>
          <p:cNvPr id="2615" name=""/>
          <p:cNvGraphicFramePr>
            <a:graphicFrameLocks noChangeAspect="1"/>
          </p:cNvGraphicFramePr>
          <p:nvPr/>
        </p:nvGraphicFramePr>
        <p:xfrm>
          <a:off x="533400" y="3817938"/>
          <a:ext cx="2286000" cy="906462"/>
        </p:xfrm>
        <a:graphic>
          <a:graphicData uri="http://schemas.openxmlformats.org/presentationml/2006/ole">
            <mc:AlternateContent xmlns:mc="http://schemas.openxmlformats.org/markup-compatibility/2006">
              <mc:Choice xmlns:v="urn:schemas-microsoft-com:vml" Requires="v">
                <p:oleObj spid="_x0000_s1068"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533400" y="3817938"/>
                        <a:ext cx="2286000" cy="906462"/>
                      </a:xfrm>
                      <a:prstGeom prst="rect">
                        <a:avLst/>
                      </a:prstGeom>
                    </p:spPr>
                  </p:pic>
                </p:oleObj>
              </mc:Fallback>
            </mc:AlternateContent>
          </a:graphicData>
        </a:graphic>
      </p:graphicFrame>
      <p:sp>
        <p:nvSpPr>
          <p:cNvPr id="2616" name=""/>
          <p:cNvSpPr/>
          <p:nvPr/>
        </p:nvSpPr>
        <p:spPr>
          <a:xfrm>
            <a:off x="3048000" y="2339975"/>
            <a:ext cx="51816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0/6 = 0     P(C2) = 6/6 = 1</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 = 1 – P(C1)</a:t>
            </a:r>
            <a:r>
              <a:rPr kumimoji="0" lang="en-US" altLang="zh-CN" sz="2000" b="1" u="none" baseline="30000">
                <a:latin typeface="Arial" pitchFamily="34" charset="0"/>
                <a:ea typeface="宋体" pitchFamily="2" charset="-122"/>
              </a:rPr>
              <a:t>2 </a:t>
            </a:r>
            <a:r>
              <a:rPr kumimoji="0" lang="en-US" altLang="zh-CN" sz="2000" b="1" u="none">
                <a:latin typeface="Arial" pitchFamily="34" charset="0"/>
                <a:ea typeface="宋体" pitchFamily="2" charset="-122"/>
              </a:rPr>
              <a:t>– P(C2)</a:t>
            </a:r>
            <a:r>
              <a:rPr kumimoji="0" lang="en-US" altLang="zh-CN" sz="2000" b="1" u="none" baseline="30000">
                <a:latin typeface="Arial" pitchFamily="34" charset="0"/>
                <a:ea typeface="宋体" pitchFamily="2" charset="-122"/>
              </a:rPr>
              <a:t>2</a:t>
            </a:r>
            <a:r>
              <a:rPr kumimoji="0" lang="en-US" altLang="zh-CN" sz="2000" b="1" u="none">
                <a:latin typeface="Arial" pitchFamily="34" charset="0"/>
                <a:ea typeface="宋体" pitchFamily="2" charset="-122"/>
              </a:rPr>
              <a:t> = 1 – 0 – 1 = 0 </a:t>
            </a:r>
          </a:p>
        </p:txBody>
      </p:sp>
      <p:graphicFrame>
        <p:nvGraphicFramePr>
          <p:cNvPr id="2617" name=""/>
          <p:cNvGraphicFramePr>
            <a:graphicFrameLocks noChangeAspect="1"/>
          </p:cNvGraphicFramePr>
          <p:nvPr/>
        </p:nvGraphicFramePr>
        <p:xfrm>
          <a:off x="2590800" y="1219200"/>
          <a:ext cx="3352800" cy="736600"/>
        </p:xfrm>
        <a:graphic>
          <a:graphicData uri="http://schemas.openxmlformats.org/presentationml/2006/ole">
            <mc:AlternateContent xmlns:mc="http://schemas.openxmlformats.org/markup-compatibility/2006">
              <mc:Choice xmlns:v="urn:schemas-microsoft-com:vml" Requires="v">
                <p:oleObj spid="_x0000_s1069" name="Equation" r:id="rId8" progId="Equation.3">
                  <p:embed/>
                </p:oleObj>
              </mc:Choice>
              <mc:Fallback>
                <p:oleObj name="Equation" r:id="rId8" progId="Equation.3">
                  <p:embed/>
                  <p:pic>
                    <p:nvPicPr>
                      <p:cNvPr id="0" name="OLE substitute image"/>
                      <p:cNvPicPr/>
                      <p:nvPr/>
                    </p:nvPicPr>
                    <p:blipFill>
                      <a:blip r:embed="rId9"/>
                      <a:stretch>
                        <a:fillRect/>
                      </a:stretch>
                    </p:blipFill>
                    <p:spPr>
                      <a:xfrm>
                        <a:off x="2590800" y="1219200"/>
                        <a:ext cx="3352800" cy="736600"/>
                      </a:xfrm>
                      <a:prstGeom prst="rect">
                        <a:avLst/>
                      </a:prstGeom>
                    </p:spPr>
                  </p:pic>
                </p:oleObj>
              </mc:Fallback>
            </mc:AlternateContent>
          </a:graphicData>
        </a:graphic>
      </p:graphicFrame>
      <p:sp>
        <p:nvSpPr>
          <p:cNvPr id="2618" name=""/>
          <p:cNvSpPr/>
          <p:nvPr/>
        </p:nvSpPr>
        <p:spPr>
          <a:xfrm>
            <a:off x="3124200" y="3817938"/>
            <a:ext cx="51816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1/6          P(C2) = 5/6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 = 1 – (1/6)</a:t>
            </a:r>
            <a:r>
              <a:rPr kumimoji="0" lang="en-US" altLang="zh-CN" sz="2000" b="1" u="none" baseline="30000">
                <a:latin typeface="Arial" pitchFamily="34" charset="0"/>
                <a:ea typeface="宋体" pitchFamily="2" charset="-122"/>
              </a:rPr>
              <a:t>2 </a:t>
            </a:r>
            <a:r>
              <a:rPr kumimoji="0" lang="en-US" altLang="zh-CN" sz="2000" b="1" u="none">
                <a:latin typeface="Arial" pitchFamily="34" charset="0"/>
                <a:ea typeface="宋体" pitchFamily="2" charset="-122"/>
              </a:rPr>
              <a:t>– (5/6)</a:t>
            </a:r>
            <a:r>
              <a:rPr kumimoji="0" lang="en-US" altLang="zh-CN" sz="2000" b="1" u="none" baseline="30000">
                <a:latin typeface="Arial" pitchFamily="34" charset="0"/>
                <a:ea typeface="宋体" pitchFamily="2" charset="-122"/>
              </a:rPr>
              <a:t>2</a:t>
            </a:r>
            <a:r>
              <a:rPr kumimoji="0" lang="en-US" altLang="zh-CN" sz="2000" b="1" u="none">
                <a:latin typeface="Arial" pitchFamily="34" charset="0"/>
                <a:ea typeface="宋体" pitchFamily="2" charset="-122"/>
              </a:rPr>
              <a:t> = 0.278</a:t>
            </a:r>
          </a:p>
        </p:txBody>
      </p:sp>
      <p:sp>
        <p:nvSpPr>
          <p:cNvPr id="2619" name=""/>
          <p:cNvSpPr/>
          <p:nvPr/>
        </p:nvSpPr>
        <p:spPr>
          <a:xfrm>
            <a:off x="3124200" y="5105400"/>
            <a:ext cx="51816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2/6          P(C2) = 4/6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 = 1 – (2/6)</a:t>
            </a:r>
            <a:r>
              <a:rPr kumimoji="0" lang="en-US" altLang="zh-CN" sz="2000" b="1" u="none" baseline="30000">
                <a:latin typeface="Arial" pitchFamily="34" charset="0"/>
                <a:ea typeface="宋体" pitchFamily="2" charset="-122"/>
              </a:rPr>
              <a:t>2 </a:t>
            </a:r>
            <a:r>
              <a:rPr kumimoji="0" lang="en-US" altLang="zh-CN" sz="2000" b="1" u="none">
                <a:latin typeface="Arial" pitchFamily="34" charset="0"/>
                <a:ea typeface="宋体" pitchFamily="2" charset="-122"/>
              </a:rPr>
              <a:t>– (4/6)</a:t>
            </a:r>
            <a:r>
              <a:rPr kumimoji="0" lang="en-US" altLang="zh-CN" sz="2000" b="1" u="none" baseline="30000">
                <a:latin typeface="Arial" pitchFamily="34" charset="0"/>
                <a:ea typeface="宋体" pitchFamily="2" charset="-122"/>
              </a:rPr>
              <a:t>2</a:t>
            </a:r>
            <a:r>
              <a:rPr kumimoji="0" lang="en-US" altLang="zh-CN" sz="2000" b="1" u="none">
                <a:latin typeface="Arial" pitchFamily="34" charset="0"/>
                <a:ea typeface="宋体" pitchFamily="2" charset="-122"/>
              </a:rPr>
              <a:t> = 0.444</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2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 </a:t>
            </a:r>
            <a:r>
              <a:rPr lang="en-US" altLang="zh-CN">
                <a:ea typeface="宋体" pitchFamily="2" charset="-122"/>
              </a:rPr>
              <a:t>GINI</a:t>
            </a:r>
            <a:r>
              <a:rPr lang="zh-CN" altLang="en-US">
                <a:ea typeface="宋体" pitchFamily="2" charset="-122"/>
              </a:rPr>
              <a:t>的划分</a:t>
            </a:r>
          </a:p>
        </p:txBody>
      </p:sp>
      <p:sp>
        <p:nvSpPr>
          <p:cNvPr id="2623" name=""/>
          <p:cNvSpPr/>
          <p:nvPr>
            <p:ph type="body" sz="half" idx="4294967295"/>
          </p:nvPr>
        </p:nvSpPr>
        <p:spPr>
          <a:xfrm>
            <a:off x="381000" y="1143000"/>
            <a:ext cx="8382000" cy="4438650"/>
          </a:xfrm>
          <a:prstGeom prst="rect">
            <a:avLst/>
          </a:prstGeom>
          <a:noFill/>
          <a:ln w="12700" cap="flat">
            <a:noFill/>
            <a:prstDash val="solid"/>
            <a:miter lim="800000"/>
            <a:headEnd type="none" w="med" len="med"/>
            <a:tailEnd type="none" w="med" len="med"/>
          </a:ln>
        </p:spPr>
        <p:txBody>
          <a:bodyPr/>
          <a:lstStyle>
            <a:lvl1pPr marL="342900" indent="-3429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lvl="0"/>
            <a:r>
              <a:rPr lang="zh-CN" altLang="en-US">
                <a:ea typeface="宋体" pitchFamily="2" charset="-122"/>
              </a:rPr>
              <a:t>当一个结点 </a:t>
            </a:r>
            <a:r>
              <a:rPr lang="en-US" altLang="zh-CN">
                <a:ea typeface="宋体" pitchFamily="2" charset="-122"/>
              </a:rPr>
              <a:t>p </a:t>
            </a:r>
            <a:r>
              <a:rPr lang="zh-CN" altLang="en-US">
                <a:ea typeface="宋体" pitchFamily="2" charset="-122"/>
              </a:rPr>
              <a:t>分割成 </a:t>
            </a:r>
            <a:r>
              <a:rPr lang="en-US" altLang="zh-CN">
                <a:ea typeface="宋体" pitchFamily="2" charset="-122"/>
              </a:rPr>
              <a:t>k </a:t>
            </a:r>
            <a:r>
              <a:rPr lang="zh-CN" altLang="en-US">
                <a:ea typeface="宋体" pitchFamily="2" charset="-122"/>
              </a:rPr>
              <a:t>个部分 </a:t>
            </a:r>
            <a:r>
              <a:rPr lang="en-US" altLang="zh-CN">
                <a:ea typeface="宋体" pitchFamily="2" charset="-122"/>
              </a:rPr>
              <a:t>(</a:t>
            </a:r>
            <a:r>
              <a:rPr lang="zh-CN" altLang="en-US">
                <a:ea typeface="宋体" pitchFamily="2" charset="-122"/>
              </a:rPr>
              <a:t>孩子</a:t>
            </a:r>
            <a:r>
              <a:rPr lang="en-US" altLang="zh-CN">
                <a:ea typeface="宋体" pitchFamily="2" charset="-122"/>
              </a:rPr>
              <a:t>), </a:t>
            </a:r>
            <a:r>
              <a:rPr lang="zh-CN" altLang="en-US">
                <a:ea typeface="宋体" pitchFamily="2" charset="-122"/>
              </a:rPr>
              <a:t>划分的质量可由下面公式计算</a:t>
            </a:r>
          </a:p>
          <a:p>
            <a:pPr lvl="0"/>
            <a:endParaRPr lang="en-US" altLang="zh-CN">
              <a:ea typeface="宋体" pitchFamily="2" charset="-122"/>
            </a:endParaRPr>
          </a:p>
          <a:p>
            <a:pPr lvl="0"/>
            <a:endParaRPr lang="en-US" altLang="zh-CN">
              <a:ea typeface="宋体" pitchFamily="2" charset="-122"/>
            </a:endParaRPr>
          </a:p>
          <a:p>
            <a:pPr lvl="0">
              <a:buNone/>
            </a:pPr>
            <a:r>
              <a:rPr lang="en-US" altLang="zh-CN">
                <a:ea typeface="宋体" pitchFamily="2" charset="-122"/>
              </a:rPr>
              <a:t>	</a:t>
            </a:r>
          </a:p>
          <a:p>
            <a:pPr lvl="0">
              <a:buNone/>
            </a:pPr>
            <a:endParaRPr lang="en-US" altLang="zh-CN">
              <a:ea typeface="宋体" pitchFamily="2" charset="-122"/>
            </a:endParaRPr>
          </a:p>
          <a:p>
            <a:pPr lvl="0">
              <a:buNone/>
            </a:pPr>
            <a:r>
              <a:rPr lang="en-US" altLang="zh-CN">
                <a:ea typeface="宋体" pitchFamily="2" charset="-122"/>
              </a:rPr>
              <a:t>	        	n</a:t>
            </a:r>
            <a:r>
              <a:rPr lang="en-US" altLang="zh-CN" baseline="-25000">
                <a:ea typeface="宋体" pitchFamily="2" charset="-122"/>
              </a:rPr>
              <a:t>i</a:t>
            </a:r>
            <a:r>
              <a:rPr lang="en-US" altLang="zh-CN">
                <a:ea typeface="宋体" pitchFamily="2" charset="-122"/>
              </a:rPr>
              <a:t> = </a:t>
            </a:r>
            <a:r>
              <a:rPr lang="zh-CN" altLang="en-US">
                <a:ea typeface="宋体" pitchFamily="2" charset="-122"/>
              </a:rPr>
              <a:t>孩子结点 </a:t>
            </a:r>
            <a:r>
              <a:rPr lang="en-US" altLang="zh-CN">
                <a:ea typeface="宋体" pitchFamily="2" charset="-122"/>
              </a:rPr>
              <a:t>i</a:t>
            </a:r>
            <a:r>
              <a:rPr lang="zh-CN" altLang="en-US">
                <a:ea typeface="宋体" pitchFamily="2" charset="-122"/>
              </a:rPr>
              <a:t>的记录数</a:t>
            </a:r>
            <a:r>
              <a:rPr lang="en-US" altLang="zh-CN">
                <a:ea typeface="宋体" pitchFamily="2" charset="-122"/>
              </a:rPr>
              <a:t>,</a:t>
            </a:r>
          </a:p>
          <a:p>
            <a:pPr lvl="0">
              <a:buNone/>
            </a:pPr>
            <a:r>
              <a:rPr lang="en-US" altLang="zh-CN">
                <a:ea typeface="宋体" pitchFamily="2" charset="-122"/>
              </a:rPr>
              <a:t>    			n</a:t>
            </a:r>
            <a:r>
              <a:rPr lang="en-US" altLang="zh-CN" baseline="-25000">
                <a:ea typeface="宋体" pitchFamily="2" charset="-122"/>
              </a:rPr>
              <a:t> </a:t>
            </a:r>
            <a:r>
              <a:rPr lang="en-US" altLang="zh-CN">
                <a:ea typeface="宋体" pitchFamily="2" charset="-122"/>
              </a:rPr>
              <a:t> = </a:t>
            </a:r>
            <a:r>
              <a:rPr lang="zh-CN" altLang="en-US">
                <a:ea typeface="宋体" pitchFamily="2" charset="-122"/>
              </a:rPr>
              <a:t>父结点 </a:t>
            </a:r>
            <a:r>
              <a:rPr lang="en-US" altLang="zh-CN">
                <a:ea typeface="宋体" pitchFamily="2" charset="-122"/>
              </a:rPr>
              <a:t>p</a:t>
            </a:r>
            <a:r>
              <a:rPr lang="zh-CN" altLang="en-US">
                <a:ea typeface="宋体" pitchFamily="2" charset="-122"/>
              </a:rPr>
              <a:t>的记录数</a:t>
            </a:r>
            <a:r>
              <a:rPr lang="en-US" altLang="zh-CN">
                <a:ea typeface="宋体" pitchFamily="2" charset="-122"/>
              </a:rPr>
              <a:t>.</a:t>
            </a:r>
            <a:endParaRPr lang="en-US" altLang="zh-CN" sz="3200">
              <a:ea typeface="宋体" pitchFamily="2" charset="-122"/>
            </a:endParaRPr>
          </a:p>
        </p:txBody>
      </p:sp>
      <p:graphicFrame>
        <p:nvGraphicFramePr>
          <p:cNvPr id="2624" name=""/>
          <p:cNvGraphicFramePr>
            <a:graphicFrameLocks noChangeAspect="1"/>
          </p:cNvGraphicFramePr>
          <p:nvPr/>
        </p:nvGraphicFramePr>
        <p:xfrm>
          <a:off x="2667000" y="2362200"/>
          <a:ext cx="3886200" cy="1104900"/>
        </p:xfrm>
        <a:graphic>
          <a:graphicData uri="http://schemas.openxmlformats.org/presentationml/2006/ole">
            <mc:AlternateContent xmlns:mc="http://schemas.openxmlformats.org/markup-compatibility/2006">
              <mc:Choice xmlns:v="urn:schemas-microsoft-com:vml" Requires="v">
                <p:oleObj spid="_x0000_s1070"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2667000" y="2362200"/>
                        <a:ext cx="3886200" cy="1104900"/>
                      </a:xfrm>
                      <a:prstGeom prst="rect">
                        <a:avLst/>
                      </a:prstGeom>
                    </p:spPr>
                  </p:pic>
                </p:oleObj>
              </mc:Fallback>
            </mc:AlternateContent>
          </a:graphicData>
        </a:graphic>
      </p:graphicFrame>
    </p:spTree>
  </p:cSld>
  <p:clrMapOvr>
    <a:masterClrMapping/>
  </p:clrMapOvr>
  <p:transition/>
  <p:timing/>
</p:sld>
</file>

<file path=ppt/slides/slide4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27" name=""/>
          <p:cNvSpPr/>
          <p:nvPr>
            <p:ph type="title" idx="4294967295"/>
          </p:nvPr>
        </p:nvSpPr>
        <p:spPr>
          <a:xfrm>
            <a:off x="228600" y="152400"/>
            <a:ext cx="86106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二元属性</a:t>
            </a:r>
            <a:r>
              <a:rPr lang="en-US" altLang="zh-CN">
                <a:ea typeface="宋体" pitchFamily="2" charset="-122"/>
              </a:rPr>
              <a:t>: </a:t>
            </a:r>
            <a:r>
              <a:rPr lang="zh-CN" altLang="en-US">
                <a:ea typeface="宋体" pitchFamily="2" charset="-122"/>
              </a:rPr>
              <a:t>计算 </a:t>
            </a:r>
            <a:r>
              <a:rPr lang="en-US" altLang="zh-CN">
                <a:ea typeface="宋体" pitchFamily="2" charset="-122"/>
              </a:rPr>
              <a:t>GINI</a:t>
            </a:r>
          </a:p>
        </p:txBody>
      </p:sp>
      <p:sp>
        <p:nvSpPr>
          <p:cNvPr id="2628" name=""/>
          <p:cNvSpPr/>
          <p:nvPr/>
        </p:nvSpPr>
        <p:spPr>
          <a:xfrm>
            <a:off x="304800" y="1143000"/>
            <a:ext cx="8178800" cy="2009775"/>
          </a:xfrm>
          <a:prstGeom prst="rect">
            <a:avLst/>
          </a:prstGeom>
          <a:noFill/>
          <a:ln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292100" lvl="0" indent="-2921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zh-CN" altLang="en-US" sz="2400" u="none">
                <a:latin typeface="Arial" pitchFamily="34" charset="0"/>
                <a:ea typeface="宋体" pitchFamily="2" charset="-122"/>
              </a:rPr>
              <a:t>对于二元属性，结点被划分成两个部分</a:t>
            </a:r>
          </a:p>
          <a:p>
            <a:pPr marL="292100" lvl="0" indent="-2921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zh-CN" altLang="en-US" sz="2400" u="none">
                <a:latin typeface="Arial" pitchFamily="34" charset="0"/>
                <a:ea typeface="宋体" pitchFamily="2" charset="-122"/>
              </a:rPr>
              <a:t>得到的</a:t>
            </a:r>
            <a:r>
              <a:rPr kumimoji="0" lang="en-US" altLang="zh-CN" sz="2400" u="none">
                <a:latin typeface="Arial" pitchFamily="34" charset="0"/>
                <a:ea typeface="宋体" pitchFamily="2" charset="-122"/>
              </a:rPr>
              <a:t>GINI</a:t>
            </a:r>
            <a:r>
              <a:rPr kumimoji="0" lang="zh-CN" altLang="en-US" sz="2400" u="none">
                <a:latin typeface="Arial" pitchFamily="34" charset="0"/>
                <a:ea typeface="宋体" pitchFamily="2" charset="-122"/>
              </a:rPr>
              <a:t>值越小，这种划分越可行</a:t>
            </a:r>
            <a:r>
              <a:rPr kumimoji="0" lang="en-US" altLang="zh-CN" sz="2400" u="none">
                <a:latin typeface="Arial" pitchFamily="34" charset="0"/>
                <a:ea typeface="宋体" pitchFamily="2" charset="-122"/>
              </a:rPr>
              <a:t>.</a:t>
            </a:r>
          </a:p>
        </p:txBody>
      </p:sp>
      <p:sp>
        <p:nvSpPr>
          <p:cNvPr id="2629" name=""/>
          <p:cNvSpPr/>
          <p:nvPr/>
        </p:nvSpPr>
        <p:spPr>
          <a:xfrm>
            <a:off x="3657600" y="2862262"/>
            <a:ext cx="1009650" cy="454025"/>
          </a:xfrm>
          <a:prstGeom prst="ellipse">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B?</a:t>
            </a:r>
          </a:p>
        </p:txBody>
      </p:sp>
      <p:cxnSp>
        <p:nvCxnSpPr>
          <p:cNvPr id="2630" name=""/>
          <p:cNvCxnSpPr/>
          <p:nvPr/>
        </p:nvCxnSpPr>
        <p:spPr>
          <a:xfrm flipH="1">
            <a:off x="3082925" y="3319462"/>
            <a:ext cx="1108075" cy="725488"/>
          </a:xfrm>
          <a:prstGeom prst="line">
            <a:avLst/>
          </a:prstGeom>
          <a:noFill/>
          <a:ln cap="flat">
            <a:solidFill>
              <a:srgbClr val="000000"/>
            </a:solidFill>
            <a:prstDash val="solid"/>
            <a:miter lim="800000"/>
            <a:headEnd type="none" w="med" len="med"/>
            <a:tailEnd type="none" w="med" len="med"/>
          </a:ln>
        </p:spPr>
      </p:cxnSp>
      <p:cxnSp>
        <p:nvCxnSpPr>
          <p:cNvPr id="2631" name=""/>
          <p:cNvCxnSpPr/>
          <p:nvPr/>
        </p:nvCxnSpPr>
        <p:spPr>
          <a:xfrm>
            <a:off x="4191000" y="3319462"/>
            <a:ext cx="1184275" cy="725488"/>
          </a:xfrm>
          <a:prstGeom prst="line">
            <a:avLst/>
          </a:prstGeom>
          <a:noFill/>
          <a:ln cap="flat">
            <a:solidFill>
              <a:srgbClr val="000000"/>
            </a:solidFill>
            <a:prstDash val="solid"/>
            <a:miter lim="800000"/>
            <a:headEnd type="none" w="med" len="med"/>
            <a:tailEnd type="none" w="med" len="med"/>
          </a:ln>
        </p:spPr>
      </p:cxnSp>
      <p:sp>
        <p:nvSpPr>
          <p:cNvPr id="2632" name=""/>
          <p:cNvSpPr/>
          <p:nvPr/>
        </p:nvSpPr>
        <p:spPr>
          <a:xfrm>
            <a:off x="2809875" y="3435350"/>
            <a:ext cx="5397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Yes</a:t>
            </a:r>
          </a:p>
        </p:txBody>
      </p:sp>
      <p:sp>
        <p:nvSpPr>
          <p:cNvPr id="2633" name=""/>
          <p:cNvSpPr/>
          <p:nvPr/>
        </p:nvSpPr>
        <p:spPr>
          <a:xfrm>
            <a:off x="5299075" y="3435350"/>
            <a:ext cx="463550" cy="366712"/>
          </a:xfrm>
          <a:prstGeom prst="rect">
            <a:avLst/>
          </a:prstGeom>
          <a:noFill/>
          <a:ln cap="flat">
            <a:no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a:t>
            </a:r>
          </a:p>
        </p:txBody>
      </p:sp>
      <p:sp>
        <p:nvSpPr>
          <p:cNvPr id="2634" name=""/>
          <p:cNvSpPr/>
          <p:nvPr/>
        </p:nvSpPr>
        <p:spPr>
          <a:xfrm>
            <a:off x="2667000" y="4044950"/>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N1</a:t>
            </a:r>
          </a:p>
        </p:txBody>
      </p:sp>
      <p:sp>
        <p:nvSpPr>
          <p:cNvPr id="2635" name=""/>
          <p:cNvSpPr/>
          <p:nvPr/>
        </p:nvSpPr>
        <p:spPr>
          <a:xfrm>
            <a:off x="4854575" y="4044950"/>
            <a:ext cx="936625" cy="341312"/>
          </a:xfrm>
          <a:prstGeom prst="rect">
            <a:avLst/>
          </a:prstGeom>
          <a:noFill/>
          <a:ln cap="flat">
            <a:solidFill>
              <a:srgbClr val="00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u="none">
                <a:latin typeface="Times New Roman" pitchFamily="18" charset="0"/>
                <a:ea typeface="宋体" pitchFamily="2" charset="-122"/>
              </a:rPr>
              <a:t>Node N2</a:t>
            </a:r>
          </a:p>
        </p:txBody>
      </p:sp>
      <p:graphicFrame>
        <p:nvGraphicFramePr>
          <p:cNvPr id="2636" name=""/>
          <p:cNvGraphicFramePr>
            <a:graphicFrameLocks noChangeAspect="1"/>
          </p:cNvGraphicFramePr>
          <p:nvPr/>
        </p:nvGraphicFramePr>
        <p:xfrm>
          <a:off x="6553200" y="2590800"/>
          <a:ext cx="1981200" cy="1790700"/>
        </p:xfrm>
        <a:graphic>
          <a:graphicData uri="http://schemas.openxmlformats.org/presentationml/2006/ole">
            <mc:AlternateContent xmlns:mc="http://schemas.openxmlformats.org/markup-compatibility/2006">
              <mc:Choice xmlns:v="urn:schemas-microsoft-com:vml" Requires="v">
                <p:oleObj spid="_x0000_s1071"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6553200" y="2590800"/>
                        <a:ext cx="1981200" cy="1790700"/>
                      </a:xfrm>
                      <a:prstGeom prst="rect">
                        <a:avLst/>
                      </a:prstGeom>
                    </p:spPr>
                  </p:pic>
                </p:oleObj>
              </mc:Fallback>
            </mc:AlternateContent>
          </a:graphicData>
        </a:graphic>
      </p:graphicFrame>
      <p:graphicFrame>
        <p:nvGraphicFramePr>
          <p:cNvPr id="2637" name=""/>
          <p:cNvGraphicFramePr>
            <a:graphicFrameLocks noChangeAspect="1"/>
          </p:cNvGraphicFramePr>
          <p:nvPr/>
        </p:nvGraphicFramePr>
        <p:xfrm>
          <a:off x="3276600" y="4648200"/>
          <a:ext cx="1905000" cy="1471612"/>
        </p:xfrm>
        <a:graphic>
          <a:graphicData uri="http://schemas.openxmlformats.org/presentationml/2006/ole">
            <mc:AlternateContent xmlns:mc="http://schemas.openxmlformats.org/markup-compatibility/2006">
              <mc:Choice xmlns:v="urn:schemas-microsoft-com:vml" Requires="v">
                <p:oleObj spid="_x0000_s1072"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3276600" y="4648200"/>
                        <a:ext cx="1905000" cy="1471612"/>
                      </a:xfrm>
                      <a:prstGeom prst="rect">
                        <a:avLst/>
                      </a:prstGeom>
                    </p:spPr>
                  </p:pic>
                </p:oleObj>
              </mc:Fallback>
            </mc:AlternateContent>
          </a:graphicData>
        </a:graphic>
      </p:graphicFrame>
      <p:sp>
        <p:nvSpPr>
          <p:cNvPr id="2638" name=""/>
          <p:cNvSpPr/>
          <p:nvPr/>
        </p:nvSpPr>
        <p:spPr>
          <a:xfrm>
            <a:off x="381000" y="4191000"/>
            <a:ext cx="2438400" cy="20732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Gini(N1) </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1 – (5/6)</a:t>
            </a:r>
            <a:r>
              <a:rPr kumimoji="0" lang="en-US" altLang="zh-CN" sz="2000" b="1" u="none" baseline="30000">
                <a:latin typeface="Arial" pitchFamily="34" charset="0"/>
                <a:ea typeface="宋体" pitchFamily="2" charset="-122"/>
              </a:rPr>
              <a:t>2 </a:t>
            </a:r>
            <a:r>
              <a:rPr kumimoji="0" lang="en-US" altLang="zh-CN" sz="2000" b="1" u="none">
                <a:latin typeface="Arial" pitchFamily="34" charset="0"/>
                <a:ea typeface="宋体" pitchFamily="2" charset="-122"/>
              </a:rPr>
              <a:t>– (2/6)</a:t>
            </a:r>
            <a:r>
              <a:rPr kumimoji="0" lang="en-US" altLang="zh-CN" sz="2000" b="1" u="none" baseline="30000">
                <a:latin typeface="Arial" pitchFamily="34" charset="0"/>
                <a:ea typeface="宋体" pitchFamily="2" charset="-122"/>
              </a:rPr>
              <a:t>2</a:t>
            </a:r>
            <a:r>
              <a:rPr kumimoji="0" lang="en-US" altLang="zh-CN" sz="2000" b="1" u="none">
                <a:latin typeface="Arial" pitchFamily="34" charset="0"/>
                <a:ea typeface="宋体" pitchFamily="2" charset="-122"/>
              </a:rPr>
              <a:t> </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0.194 </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Gini(N2) </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1 – (1/6)</a:t>
            </a:r>
            <a:r>
              <a:rPr kumimoji="0" lang="en-US" altLang="zh-CN" sz="2000" b="1" u="none" baseline="30000">
                <a:latin typeface="Arial" pitchFamily="34" charset="0"/>
                <a:ea typeface="宋体" pitchFamily="2" charset="-122"/>
              </a:rPr>
              <a:t>2 </a:t>
            </a:r>
            <a:r>
              <a:rPr kumimoji="0" lang="en-US" altLang="zh-CN" sz="2000" b="1" u="none">
                <a:latin typeface="Arial" pitchFamily="34" charset="0"/>
                <a:ea typeface="宋体" pitchFamily="2" charset="-122"/>
              </a:rPr>
              <a:t>– (4/6)</a:t>
            </a:r>
            <a:r>
              <a:rPr kumimoji="0" lang="en-US" altLang="zh-CN" sz="2000" b="1" u="none" baseline="30000">
                <a:latin typeface="Arial" pitchFamily="34" charset="0"/>
                <a:ea typeface="宋体" pitchFamily="2" charset="-122"/>
              </a:rPr>
              <a:t>2</a:t>
            </a:r>
            <a:r>
              <a:rPr kumimoji="0" lang="en-US" altLang="zh-CN" sz="2000" b="1" u="none">
                <a:latin typeface="Arial" pitchFamily="34" charset="0"/>
                <a:ea typeface="宋体" pitchFamily="2" charset="-122"/>
              </a:rPr>
              <a:t> </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0.528</a:t>
            </a:r>
          </a:p>
        </p:txBody>
      </p:sp>
      <p:sp>
        <p:nvSpPr>
          <p:cNvPr id="2639" name=""/>
          <p:cNvSpPr/>
          <p:nvPr/>
        </p:nvSpPr>
        <p:spPr>
          <a:xfrm>
            <a:off x="5943600" y="4648200"/>
            <a:ext cx="2438400" cy="13112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Gini </a:t>
            </a:r>
            <a:r>
              <a:rPr kumimoji="0" lang="en-US" altLang="zh-CN" sz="2000" b="1" u="none" baseline="-25000">
                <a:latin typeface="Arial" pitchFamily="34" charset="0"/>
                <a:ea typeface="宋体" pitchFamily="2" charset="-122"/>
              </a:rPr>
              <a:t>split</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7/12 * 0.194 + </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5/12 * 0.528</a:t>
            </a:r>
            <a:br>
              <a:rPr kumimoji="0" lang="en-US" altLang="zh-CN" sz="2000" b="1" u="none">
                <a:latin typeface="Arial" pitchFamily="34" charset="0"/>
                <a:ea typeface="宋体" pitchFamily="2" charset="-122"/>
              </a:rPr>
            </a:br>
            <a:r>
              <a:rPr kumimoji="0" lang="en-US" altLang="zh-CN" sz="2000" b="1" u="none">
                <a:latin typeface="Arial" pitchFamily="34" charset="0"/>
                <a:ea typeface="宋体" pitchFamily="2" charset="-122"/>
              </a:rPr>
              <a:t>= 0.333</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42" name=""/>
          <p:cNvSpPr/>
          <p:nvPr>
            <p:ph type="title" idx="4294967295"/>
          </p:nvPr>
        </p:nvSpPr>
        <p:spPr>
          <a:xfrm>
            <a:off x="381000" y="152400"/>
            <a:ext cx="84582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sz="2800">
                <a:ea typeface="宋体" pitchFamily="2" charset="-122"/>
              </a:rPr>
              <a:t>标称属性</a:t>
            </a:r>
            <a:r>
              <a:rPr lang="en-US" altLang="zh-CN" sz="2800">
                <a:ea typeface="宋体" pitchFamily="2" charset="-122"/>
              </a:rPr>
              <a:t>:</a:t>
            </a:r>
            <a:r>
              <a:rPr lang="zh-CN" altLang="en-US" sz="2800">
                <a:ea typeface="宋体" pitchFamily="2" charset="-122"/>
              </a:rPr>
              <a:t>计算</a:t>
            </a:r>
            <a:r>
              <a:rPr lang="en-US" altLang="zh-CN" sz="2800">
                <a:ea typeface="宋体" pitchFamily="2" charset="-122"/>
              </a:rPr>
              <a:t>Gini</a:t>
            </a:r>
          </a:p>
        </p:txBody>
      </p:sp>
      <p:sp>
        <p:nvSpPr>
          <p:cNvPr id="2643"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000">
                <a:ea typeface="宋体" pitchFamily="2" charset="-122"/>
              </a:rPr>
              <a:t>多路划分</a:t>
            </a:r>
          </a:p>
          <a:p>
            <a:pPr lvl="0"/>
            <a:r>
              <a:rPr lang="zh-CN" altLang="en-US" sz="2000">
                <a:ea typeface="宋体" pitchFamily="2" charset="-122"/>
              </a:rPr>
              <a:t>二元划分</a:t>
            </a:r>
          </a:p>
          <a:p>
            <a:pPr lvl="0"/>
            <a:r>
              <a:rPr lang="zh-CN" altLang="en-US" sz="2000">
                <a:ea typeface="宋体" pitchFamily="2" charset="-122"/>
              </a:rPr>
              <a:t>一般多路划分的</a:t>
            </a:r>
            <a:r>
              <a:rPr lang="en-US" altLang="zh-CN" sz="2000">
                <a:ea typeface="宋体" pitchFamily="2" charset="-122"/>
              </a:rPr>
              <a:t>Gini</a:t>
            </a:r>
            <a:r>
              <a:rPr lang="zh-CN" altLang="en-US" sz="2000">
                <a:ea typeface="宋体" pitchFamily="2" charset="-122"/>
              </a:rPr>
              <a:t>值比二元划分小，这一结果并不奇怪，因为二元划分实际上合并了多路划分的某些输出，自然降低了子集的纯度</a:t>
            </a:r>
          </a:p>
        </p:txBody>
      </p:sp>
      <p:graphicFrame>
        <p:nvGraphicFramePr>
          <p:cNvPr id="2644" name=""/>
          <p:cNvGraphicFramePr>
            <a:graphicFrameLocks noChangeAspect="1"/>
          </p:cNvGraphicFramePr>
          <p:nvPr/>
        </p:nvGraphicFramePr>
        <p:xfrm>
          <a:off x="3886200" y="3810000"/>
          <a:ext cx="2609850" cy="1768475"/>
        </p:xfrm>
        <a:graphic>
          <a:graphicData uri="http://schemas.openxmlformats.org/presentationml/2006/ole">
            <mc:AlternateContent xmlns:mc="http://schemas.openxmlformats.org/markup-compatibility/2006">
              <mc:Choice xmlns:v="urn:schemas-microsoft-com:vml" Requires="v">
                <p:oleObj spid="_x0000_s1073"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3886200" y="3810000"/>
                        <a:ext cx="2609850" cy="1768475"/>
                      </a:xfrm>
                      <a:prstGeom prst="rect">
                        <a:avLst/>
                      </a:prstGeom>
                    </p:spPr>
                  </p:pic>
                </p:oleObj>
              </mc:Fallback>
            </mc:AlternateContent>
          </a:graphicData>
        </a:graphic>
      </p:graphicFrame>
      <p:graphicFrame>
        <p:nvGraphicFramePr>
          <p:cNvPr id="2645" name=""/>
          <p:cNvGraphicFramePr>
            <a:graphicFrameLocks noChangeAspect="1"/>
          </p:cNvGraphicFramePr>
          <p:nvPr/>
        </p:nvGraphicFramePr>
        <p:xfrm>
          <a:off x="6381750" y="3810000"/>
          <a:ext cx="2609850" cy="1768475"/>
        </p:xfrm>
        <a:graphic>
          <a:graphicData uri="http://schemas.openxmlformats.org/presentationml/2006/ole">
            <mc:AlternateContent xmlns:mc="http://schemas.openxmlformats.org/markup-compatibility/2006">
              <mc:Choice xmlns:v="urn:schemas-microsoft-com:vml" Requires="v">
                <p:oleObj spid="_x0000_s1074"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6381750" y="3810000"/>
                        <a:ext cx="2609850" cy="1768475"/>
                      </a:xfrm>
                      <a:prstGeom prst="rect">
                        <a:avLst/>
                      </a:prstGeom>
                    </p:spPr>
                  </p:pic>
                </p:oleObj>
              </mc:Fallback>
            </mc:AlternateContent>
          </a:graphicData>
        </a:graphic>
      </p:graphicFrame>
      <p:graphicFrame>
        <p:nvGraphicFramePr>
          <p:cNvPr id="2646" name=""/>
          <p:cNvGraphicFramePr>
            <a:graphicFrameLocks noChangeAspect="1"/>
          </p:cNvGraphicFramePr>
          <p:nvPr/>
        </p:nvGraphicFramePr>
        <p:xfrm>
          <a:off x="304800" y="3810000"/>
          <a:ext cx="2744788" cy="1524000"/>
        </p:xfrm>
        <a:graphic>
          <a:graphicData uri="http://schemas.openxmlformats.org/presentationml/2006/ole">
            <mc:AlternateContent xmlns:mc="http://schemas.openxmlformats.org/markup-compatibility/2006">
              <mc:Choice xmlns:v="urn:schemas-microsoft-com:vml" Requires="v">
                <p:oleObj spid="_x0000_s1075"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304800" y="3810000"/>
                        <a:ext cx="2744788" cy="1524000"/>
                      </a:xfrm>
                      <a:prstGeom prst="rect">
                        <a:avLst/>
                      </a:prstGeom>
                    </p:spPr>
                  </p:pic>
                </p:oleObj>
              </mc:Fallback>
            </mc:AlternateContent>
          </a:graphicData>
        </a:graphic>
      </p:graphicFrame>
      <p:cxnSp>
        <p:nvCxnSpPr>
          <p:cNvPr id="2647" name=""/>
          <p:cNvCxnSpPr/>
          <p:nvPr/>
        </p:nvCxnSpPr>
        <p:spPr>
          <a:xfrm flipH="1">
            <a:off x="3581400" y="2971800"/>
            <a:ext cx="1588" cy="2438400"/>
          </a:xfrm>
          <a:prstGeom prst="line">
            <a:avLst/>
          </a:prstGeom>
          <a:noFill/>
          <a:ln w="38100" cap="flat">
            <a:solidFill>
              <a:srgbClr val="006B61"/>
            </a:solidFill>
            <a:prstDash val="dash"/>
            <a:miter lim="800000"/>
            <a:headEnd type="none" w="med" len="med"/>
            <a:tailEnd type="none" w="med" len="med"/>
          </a:ln>
        </p:spPr>
      </p:cxnSp>
      <p:sp>
        <p:nvSpPr>
          <p:cNvPr id="2648" name=""/>
          <p:cNvSpPr/>
          <p:nvPr/>
        </p:nvSpPr>
        <p:spPr>
          <a:xfrm>
            <a:off x="915988" y="2868612"/>
            <a:ext cx="1752600" cy="396875"/>
          </a:xfrm>
          <a:prstGeom prst="rect">
            <a:avLst/>
          </a:prstGeom>
          <a:noFill/>
          <a:ln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Multi-way split</a:t>
            </a:r>
          </a:p>
        </p:txBody>
      </p:sp>
      <p:sp>
        <p:nvSpPr>
          <p:cNvPr id="2649" name=""/>
          <p:cNvSpPr/>
          <p:nvPr/>
        </p:nvSpPr>
        <p:spPr>
          <a:xfrm>
            <a:off x="4719638" y="2868612"/>
            <a:ext cx="3138488" cy="701675"/>
          </a:xfrm>
          <a:prstGeom prst="rect">
            <a:avLst/>
          </a:prstGeom>
          <a:noFill/>
          <a:ln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Two-way split </a:t>
            </a:r>
          </a:p>
          <a:p>
            <a:pPr lvl="0" algn="ctr" eaLnBrk="0" fontAlgn="base" hangingPunct="0">
              <a:lnSpc>
                <a:spcPct val="100000"/>
              </a:lnSpc>
              <a:spcBef>
                <a:spcPct val="0"/>
              </a:spcBef>
              <a:spcAft>
                <a:spcPct val="0"/>
              </a:spcAft>
              <a:buClrTx/>
              <a:buSzTx/>
            </a:pPr>
            <a:r>
              <a:rPr kumimoji="0" lang="en-US" altLang="zh-CN" sz="2000" u="none">
                <a:latin typeface="Times New Roman" pitchFamily="18" charset="0"/>
                <a:ea typeface="宋体" pitchFamily="2" charset="-122"/>
              </a:rPr>
              <a:t>(find best partition of values)</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5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sz="2800">
                <a:ea typeface="宋体" pitchFamily="2" charset="-122"/>
              </a:rPr>
              <a:t>连续属性</a:t>
            </a:r>
            <a:r>
              <a:rPr lang="en-US" altLang="zh-CN" sz="2800">
                <a:ea typeface="宋体" pitchFamily="2" charset="-122"/>
              </a:rPr>
              <a:t>: </a:t>
            </a:r>
            <a:r>
              <a:rPr lang="zh-CN" altLang="en-US" sz="2800">
                <a:ea typeface="宋体" pitchFamily="2" charset="-122"/>
              </a:rPr>
              <a:t>计算 </a:t>
            </a:r>
            <a:r>
              <a:rPr lang="en-US" altLang="zh-CN" sz="2800">
                <a:ea typeface="宋体" pitchFamily="2" charset="-122"/>
              </a:rPr>
              <a:t>Gini</a:t>
            </a:r>
          </a:p>
        </p:txBody>
      </p:sp>
      <p:sp>
        <p:nvSpPr>
          <p:cNvPr id="2653" name=""/>
          <p:cNvSpPr/>
          <p:nvPr>
            <p:ph type="body" sz="half" idx="4294967295"/>
          </p:nvPr>
        </p:nvSpPr>
        <p:spPr>
          <a:xfrm>
            <a:off x="411162" y="1143000"/>
            <a:ext cx="4999038" cy="5181600"/>
          </a:xfrm>
          <a:prstGeom prst="rect">
            <a:avLst/>
          </a:prstGeom>
          <a:noFill/>
          <a:ln w="12700" cap="flat">
            <a:noFill/>
            <a:prstDash val="solid"/>
            <a:miter lim="800000"/>
            <a:headEnd type="none" w="med" len="med"/>
            <a:tailEnd type="none" w="med" len="med"/>
          </a:ln>
        </p:spPr>
        <p:txBody>
          <a:bodyPr/>
          <a:lstStyle>
            <a:lvl1pPr marL="292100" indent="-2921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800100" indent="-342900" algn="l"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292100" lvl="0" indent="-292100" defTabSz="914400"/>
            <a:r>
              <a:rPr lang="zh-CN" altLang="en-US">
                <a:ea typeface="宋体" pitchFamily="2" charset="-122"/>
              </a:rPr>
              <a:t>使用二元划分</a:t>
            </a:r>
          </a:p>
          <a:p>
            <a:pPr marL="292100" lvl="0" indent="-292100" defTabSz="914400"/>
            <a:r>
              <a:rPr lang="zh-CN" altLang="en-US">
                <a:ea typeface="宋体" pitchFamily="2" charset="-122"/>
              </a:rPr>
              <a:t>划分点</a:t>
            </a:r>
            <a:r>
              <a:rPr lang="en-US" altLang="zh-CN">
                <a:ea typeface="宋体" pitchFamily="2" charset="-122"/>
              </a:rPr>
              <a:t>v</a:t>
            </a:r>
            <a:r>
              <a:rPr lang="zh-CN" altLang="en-US">
                <a:ea typeface="宋体" pitchFamily="2" charset="-122"/>
              </a:rPr>
              <a:t>选择</a:t>
            </a:r>
          </a:p>
          <a:p>
            <a:pPr marL="800100" lvl="1" indent="-342900" defTabSz="914400"/>
            <a:r>
              <a:rPr lang="en-US" altLang="zh-CN">
                <a:ea typeface="宋体" pitchFamily="2" charset="-122"/>
              </a:rPr>
              <a:t>N</a:t>
            </a:r>
            <a:r>
              <a:rPr lang="zh-CN" altLang="en-US">
                <a:ea typeface="宋体" pitchFamily="2" charset="-122"/>
              </a:rPr>
              <a:t>个记录中所有属性值作为划分点</a:t>
            </a:r>
          </a:p>
          <a:p>
            <a:pPr marL="292100" lvl="0" indent="-292100" defTabSz="914400"/>
            <a:r>
              <a:rPr lang="zh-CN" altLang="en-US">
                <a:ea typeface="宋体" pitchFamily="2" charset="-122"/>
              </a:rPr>
              <a:t>对每个划分进行类计数</a:t>
            </a:r>
            <a:r>
              <a:rPr lang="en-US" altLang="zh-CN">
                <a:ea typeface="宋体" pitchFamily="2" charset="-122"/>
              </a:rPr>
              <a:t>, A &lt; v and A </a:t>
            </a:r>
            <a:r>
              <a:rPr lang="en-US" altLang="zh-CN">
                <a:ea typeface="宋体" pitchFamily="2" charset="-122"/>
                <a:sym typeface="Symbol" pitchFamily="18" charset="2"/>
              </a:rPr>
              <a:t></a:t>
            </a:r>
            <a:r>
              <a:rPr lang="en-US" altLang="zh-CN">
                <a:ea typeface="宋体" pitchFamily="2" charset="-122"/>
              </a:rPr>
              <a:t> v</a:t>
            </a:r>
          </a:p>
          <a:p>
            <a:pPr marL="292100" lvl="0" indent="-292100" defTabSz="914400"/>
            <a:r>
              <a:rPr lang="zh-CN" altLang="en-US">
                <a:ea typeface="宋体" pitchFamily="2" charset="-122"/>
              </a:rPr>
              <a:t>计算每个候选点</a:t>
            </a:r>
            <a:r>
              <a:rPr lang="en-US" altLang="zh-CN">
                <a:ea typeface="宋体" pitchFamily="2" charset="-122"/>
              </a:rPr>
              <a:t>v</a:t>
            </a:r>
            <a:r>
              <a:rPr lang="zh-CN" altLang="en-US">
                <a:ea typeface="宋体" pitchFamily="2" charset="-122"/>
              </a:rPr>
              <a:t>的</a:t>
            </a:r>
            <a:r>
              <a:rPr lang="en-US" altLang="zh-CN">
                <a:ea typeface="宋体" pitchFamily="2" charset="-122"/>
              </a:rPr>
              <a:t>Gini</a:t>
            </a:r>
            <a:r>
              <a:rPr lang="zh-CN" altLang="en-US">
                <a:ea typeface="宋体" pitchFamily="2" charset="-122"/>
              </a:rPr>
              <a:t>指标，并从中选择具有最小值的候选划分点</a:t>
            </a:r>
          </a:p>
          <a:p>
            <a:pPr marL="292100" lvl="0" indent="-292100" defTabSz="914400"/>
            <a:r>
              <a:rPr lang="zh-CN" altLang="en-US">
                <a:ea typeface="宋体" pitchFamily="2" charset="-122"/>
              </a:rPr>
              <a:t>时间复杂度为</a:t>
            </a:r>
            <a:r>
              <a:rPr lang="en-US" altLang="zh-CN">
                <a:ea typeface="宋体" pitchFamily="2" charset="-122"/>
              </a:rPr>
              <a:t>(n</a:t>
            </a:r>
            <a:r>
              <a:rPr lang="en-US" altLang="zh-CN" baseline="30000">
                <a:ea typeface="宋体" pitchFamily="2" charset="-122"/>
              </a:rPr>
              <a:t>2</a:t>
            </a:r>
            <a:r>
              <a:rPr lang="en-US" altLang="zh-CN">
                <a:ea typeface="宋体" pitchFamily="2" charset="-122"/>
              </a:rPr>
              <a:t>)</a:t>
            </a:r>
          </a:p>
        </p:txBody>
      </p:sp>
      <p:graphicFrame>
        <p:nvGraphicFramePr>
          <p:cNvPr id="2654" name=""/>
          <p:cNvGraphicFramePr>
            <a:graphicFrameLocks noChangeAspect="1"/>
          </p:cNvGraphicFramePr>
          <p:nvPr>
            <p:ph sz="quarter" idx="4294967295"/>
          </p:nvPr>
        </p:nvGraphicFramePr>
        <p:xfrm>
          <a:off x="5607050" y="1143000"/>
          <a:ext cx="3213100" cy="3429000"/>
        </p:xfrm>
        <a:graphic>
          <a:graphicData uri="http://schemas.openxmlformats.org/presentationml/2006/ole">
            <mc:AlternateContent xmlns:mc="http://schemas.openxmlformats.org/markup-compatibility/2006">
              <mc:Choice xmlns:v="urn:schemas-microsoft-com:vml" Requires="v">
                <p:oleObj spid="_x0000_s1076" name="Document" r:id="rId2" progId="Word.Document.8">
                  <p:embed/>
                </p:oleObj>
              </mc:Choice>
              <mc:Fallback>
                <p:oleObj name="Document" r:id="rId2" progId="Word.Document.8">
                  <p:embed/>
                  <p:pic>
                    <p:nvPicPr>
                      <p:cNvPr id="0" name="OLE substitute image"/>
                      <p:cNvPicPr/>
                      <p:nvPr/>
                    </p:nvPicPr>
                    <p:blipFill>
                      <a:blip r:embed="rId3"/>
                      <a:srcRect r="4274"/>
                      <a:stretch>
                        <a:fillRect/>
                      </a:stretch>
                    </p:blipFill>
                    <p:spPr>
                      <a:xfrm>
                        <a:off x="5607050" y="1143000"/>
                        <a:ext cx="3213100" cy="3429000"/>
                      </a:xfrm>
                      <a:prstGeom prst="rect">
                        <a:avLst/>
                      </a:prstGeom>
                    </p:spPr>
                  </p:pic>
                </p:oleObj>
              </mc:Fallback>
            </mc:AlternateContent>
          </a:graphicData>
        </a:graphic>
      </p:graphicFrame>
      <p:graphicFrame>
        <p:nvGraphicFramePr>
          <p:cNvPr id="2655" name=""/>
          <p:cNvGraphicFramePr>
            <a:graphicFrameLocks noChangeAspect="1"/>
          </p:cNvGraphicFramePr>
          <p:nvPr>
            <p:ph sz="quarter" idx="4294967295"/>
          </p:nvPr>
        </p:nvGraphicFramePr>
        <p:xfrm>
          <a:off x="6950075" y="4572000"/>
          <a:ext cx="1050925" cy="1676400"/>
        </p:xfrm>
        <a:graphic>
          <a:graphicData uri="http://schemas.openxmlformats.org/presentationml/2006/ole">
            <mc:AlternateContent xmlns:mc="http://schemas.openxmlformats.org/markup-compatibility/2006">
              <mc:Choice xmlns:v="urn:schemas-microsoft-com:vml" Requires="v">
                <p:oleObj spid="_x0000_s1077" name="Visio" r:id="rId4" progId="Visio.Drawing.6">
                  <p:embed/>
                </p:oleObj>
              </mc:Choice>
              <mc:Fallback>
                <p:oleObj name="Visio" r:id="rId4" progId="Visio.Drawing.6">
                  <p:embed/>
                  <p:pic>
                    <p:nvPicPr>
                      <p:cNvPr id="0" name="OLE substitute image"/>
                      <p:cNvPicPr/>
                      <p:nvPr/>
                    </p:nvPicPr>
                    <p:blipFill>
                      <a:blip r:embed="rId5"/>
                      <a:stretch>
                        <a:fillRect/>
                      </a:stretch>
                    </p:blipFill>
                    <p:spPr>
                      <a:xfrm>
                        <a:off x="6950075" y="4572000"/>
                        <a:ext cx="1050925" cy="1676400"/>
                      </a:xfrm>
                      <a:prstGeom prst="rect">
                        <a:avLst/>
                      </a:prstGeom>
                    </p:spPr>
                  </p:pic>
                </p:oleObj>
              </mc:Fallback>
            </mc:AlternateContent>
          </a:graphicData>
        </a:graphic>
      </p:graphicFrame>
    </p:spTree>
  </p:cSld>
  <p:clrMapOvr>
    <a:masterClrMapping/>
  </p:clrMapOvr>
  <p:transition/>
  <p:timing/>
</p:sld>
</file>

<file path=ppt/slides/slide4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58" name=""/>
          <p:cNvSpPr/>
          <p:nvPr>
            <p:ph type="title" idx="4294967295"/>
          </p:nvPr>
        </p:nvSpPr>
        <p:spPr>
          <a:xfrm>
            <a:off x="228600" y="152400"/>
            <a:ext cx="86868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连续属性</a:t>
            </a:r>
            <a:r>
              <a:rPr lang="en-US" altLang="zh-CN">
                <a:ea typeface="宋体" pitchFamily="2" charset="-122"/>
              </a:rPr>
              <a:t>: </a:t>
            </a:r>
            <a:r>
              <a:rPr lang="zh-CN" altLang="en-US">
                <a:ea typeface="宋体" pitchFamily="2" charset="-122"/>
              </a:rPr>
              <a:t>计算 </a:t>
            </a:r>
            <a:r>
              <a:rPr lang="en-US" altLang="zh-CN">
                <a:ea typeface="宋体" pitchFamily="2" charset="-122"/>
              </a:rPr>
              <a:t>Gini...</a:t>
            </a:r>
          </a:p>
        </p:txBody>
      </p:sp>
      <p:sp>
        <p:nvSpPr>
          <p:cNvPr id="2659" name=""/>
          <p:cNvSpPr/>
          <p:nvPr>
            <p:ph type="body" idx="4294967295"/>
          </p:nvPr>
        </p:nvSpPr>
        <p:spPr>
          <a:xfrm>
            <a:off x="381000" y="1219200"/>
            <a:ext cx="8153400" cy="1752600"/>
          </a:xfrm>
          <a:prstGeom prst="rect">
            <a:avLst/>
          </a:prstGeom>
          <a:noFill/>
          <a:ln w="12700" cap="flat">
            <a:noFill/>
            <a:prstDash val="solid"/>
            <a:miter lim="800000"/>
            <a:headEnd type="none" w="med" len="med"/>
            <a:tailEnd type="none" w="med" len="med"/>
          </a:ln>
        </p:spPr>
        <p:txBody>
          <a:bodyPr/>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742950" indent="-285750" algn="l"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lnSpc>
                <a:spcPct val="80000"/>
              </a:lnSpc>
            </a:pPr>
            <a:r>
              <a:rPr lang="zh-CN" altLang="en-US" sz="2000">
                <a:ea typeface="宋体" pitchFamily="2" charset="-122"/>
              </a:rPr>
              <a:t>降低计算复杂性的方法</a:t>
            </a:r>
            <a:r>
              <a:rPr lang="en-US" altLang="zh-CN" sz="2000">
                <a:ea typeface="宋体" pitchFamily="2" charset="-122"/>
              </a:rPr>
              <a:t>,</a:t>
            </a:r>
          </a:p>
          <a:p>
            <a:pPr marL="742950" lvl="1" indent="-285750">
              <a:lnSpc>
                <a:spcPct val="80000"/>
              </a:lnSpc>
            </a:pPr>
            <a:r>
              <a:rPr lang="zh-CN" altLang="en-US" sz="2000">
                <a:ea typeface="宋体" pitchFamily="2" charset="-122"/>
              </a:rPr>
              <a:t>将记录进行排序</a:t>
            </a:r>
          </a:p>
          <a:p>
            <a:pPr marL="742950" lvl="1" indent="-285750">
              <a:lnSpc>
                <a:spcPct val="80000"/>
              </a:lnSpc>
            </a:pPr>
            <a:r>
              <a:rPr lang="zh-CN" altLang="en-US" sz="2000">
                <a:ea typeface="宋体" pitchFamily="2" charset="-122"/>
              </a:rPr>
              <a:t>从两个相邻的排过序的属性值之间选择中间值作为划分点</a:t>
            </a:r>
          </a:p>
          <a:p>
            <a:pPr marL="742950" lvl="1" indent="-285750">
              <a:lnSpc>
                <a:spcPct val="80000"/>
              </a:lnSpc>
            </a:pPr>
            <a:r>
              <a:rPr lang="zh-CN" altLang="en-US" sz="2000">
                <a:ea typeface="宋体" pitchFamily="2" charset="-122"/>
              </a:rPr>
              <a:t>计算每个候选点的</a:t>
            </a:r>
            <a:r>
              <a:rPr lang="en-US" altLang="zh-CN" sz="2000">
                <a:ea typeface="宋体" pitchFamily="2" charset="-122"/>
              </a:rPr>
              <a:t>Gini</a:t>
            </a:r>
            <a:r>
              <a:rPr lang="zh-CN" altLang="en-US" sz="2000">
                <a:ea typeface="宋体" pitchFamily="2" charset="-122"/>
              </a:rPr>
              <a:t>值</a:t>
            </a:r>
          </a:p>
          <a:p>
            <a:pPr marL="742950" lvl="1" indent="-285750">
              <a:lnSpc>
                <a:spcPct val="80000"/>
              </a:lnSpc>
            </a:pPr>
            <a:r>
              <a:rPr lang="zh-CN" altLang="en-US" sz="2000">
                <a:ea typeface="宋体" pitchFamily="2" charset="-122"/>
              </a:rPr>
              <a:t>时间复杂度为</a:t>
            </a:r>
            <a:r>
              <a:rPr lang="en-US" altLang="zh-CN" sz="2000">
                <a:ea typeface="宋体" pitchFamily="2" charset="-122"/>
              </a:rPr>
              <a:t>nlogn</a:t>
            </a:r>
          </a:p>
        </p:txBody>
      </p:sp>
      <p:grpSp>
        <p:nvGrpSpPr>
          <p:cNvPr id="2660" name=""/>
          <p:cNvGrpSpPr/>
          <p:nvPr/>
        </p:nvGrpSpPr>
        <p:grpSpPr>
          <a:xfrm>
            <a:off x="76200" y="3048000"/>
            <a:ext cx="9525000" cy="2743200"/>
            <a:chOff x="144" y="2360"/>
            <a:chExt cx="5784" cy="1652"/>
          </a:xfrm>
        </p:grpSpPr>
        <p:graphicFrame>
          <p:nvGraphicFramePr>
            <p:cNvPr id="2661" name=""/>
            <p:cNvGraphicFramePr>
              <a:graphicFrameLocks noChangeAspect="1"/>
            </p:cNvGraphicFramePr>
            <p:nvPr/>
          </p:nvGraphicFramePr>
          <p:xfrm>
            <a:off x="956" y="2360"/>
            <a:ext cx="4972" cy="1652"/>
          </p:xfrm>
          <a:graphic>
            <a:graphicData uri="http://schemas.openxmlformats.org/presentationml/2006/ole">
              <mc:AlternateContent xmlns:mc="http://schemas.openxmlformats.org/markup-compatibility/2006">
                <mc:Choice xmlns:v="urn:schemas-microsoft-com:vml" Requires="v">
                  <p:oleObj spid="_x0000_s1078" name="文档" r:id="rId2" progId="Word.Document.8">
                    <p:embed/>
                  </p:oleObj>
                </mc:Choice>
                <mc:Fallback>
                  <p:oleObj name="文档" r:id="rId2" progId="Word.Document.8">
                    <p:embed/>
                    <p:pic>
                      <p:nvPicPr>
                        <p:cNvPr id="0" name="OLE substitute image"/>
                        <p:cNvPicPr/>
                        <p:nvPr/>
                      </p:nvPicPr>
                      <p:blipFill>
                        <a:blip r:embed="rId3"/>
                        <a:stretch>
                          <a:fillRect/>
                        </a:stretch>
                      </p:blipFill>
                      <p:spPr>
                        <a:xfrm>
                          <a:off x="956" y="2360"/>
                          <a:ext cx="4972" cy="1652"/>
                        </a:xfrm>
                        <a:prstGeom prst="rect">
                          <a:avLst/>
                        </a:prstGeom>
                      </p:spPr>
                    </p:pic>
                  </p:oleObj>
                </mc:Fallback>
              </mc:AlternateContent>
            </a:graphicData>
          </a:graphic>
        </p:graphicFrame>
        <p:cxnSp>
          <p:nvCxnSpPr>
            <p:cNvPr id="2662" name=""/>
            <p:cNvCxnSpPr/>
            <p:nvPr/>
          </p:nvCxnSpPr>
          <p:spPr>
            <a:xfrm>
              <a:off x="1152" y="2880"/>
              <a:ext cx="192" cy="1"/>
            </a:xfrm>
            <a:prstGeom prst="line">
              <a:avLst/>
            </a:prstGeom>
            <a:noFill/>
            <a:ln cap="flat">
              <a:solidFill>
                <a:srgbClr val="006B61"/>
              </a:solidFill>
              <a:prstDash val="solid"/>
              <a:miter lim="800000"/>
              <a:headEnd type="none" w="med" len="med"/>
              <a:tailEnd type="triangle" w="med" len="med"/>
            </a:ln>
          </p:spPr>
        </p:cxnSp>
        <p:grpSp>
          <p:nvGrpSpPr>
            <p:cNvPr id="2663" name=""/>
            <p:cNvGrpSpPr/>
            <p:nvPr/>
          </p:nvGrpSpPr>
          <p:grpSpPr>
            <a:xfrm>
              <a:off x="144" y="2921"/>
              <a:ext cx="1200" cy="202"/>
              <a:chOff x="144" y="2825"/>
              <a:chExt cx="1200" cy="202"/>
            </a:xfrm>
          </p:grpSpPr>
          <p:sp>
            <p:nvSpPr>
              <p:cNvPr id="2664" name=""/>
              <p:cNvSpPr/>
              <p:nvPr/>
            </p:nvSpPr>
            <p:spPr>
              <a:xfrm>
                <a:off x="144" y="2825"/>
                <a:ext cx="485" cy="202"/>
              </a:xfrm>
              <a:prstGeom prst="rect">
                <a:avLst/>
              </a:prstGeom>
              <a:noFill/>
              <a:ln cap="flat">
                <a:noFill/>
                <a:prstDash val="solid"/>
                <a:miter lim="800000"/>
                <a:headEnd type="none" w="med" len="med"/>
                <a:tailEnd type="none" w="med" len="med"/>
              </a:ln>
            </p:spPr>
            <p:txBody>
              <a:bodyPr wrap="none" anchor="t"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0" lvl="0" indent="0" defTabSz="927100" eaLnBrk="0" fontAlgn="base" hangingPunct="0">
                  <a:lnSpc>
                    <a:spcPct val="100000"/>
                  </a:lnSpc>
                  <a:spcBef>
                    <a:spcPct val="20000"/>
                  </a:spcBef>
                  <a:spcAft>
                    <a:spcPct val="0"/>
                  </a:spcAft>
                  <a:buClr>
                    <a:schemeClr val="accent2"/>
                  </a:buClr>
                  <a:buSzTx/>
                  <a:buFont typeface="Monotype Sorts" pitchFamily="2" charset="2"/>
                </a:pPr>
                <a:r>
                  <a:rPr kumimoji="1" lang="zh-CN" altLang="en-US" sz="1600" b="1" u="none">
                    <a:latin typeface="Arial" pitchFamily="34" charset="0"/>
                    <a:ea typeface="宋体" pitchFamily="2" charset="-122"/>
                  </a:rPr>
                  <a:t>划分点</a:t>
                </a:r>
              </a:p>
            </p:txBody>
          </p:sp>
          <p:cxnSp>
            <p:nvCxnSpPr>
              <p:cNvPr id="2665" name=""/>
              <p:cNvCxnSpPr/>
              <p:nvPr/>
            </p:nvCxnSpPr>
            <p:spPr>
              <a:xfrm>
                <a:off x="1152" y="2976"/>
                <a:ext cx="192" cy="0"/>
              </a:xfrm>
              <a:prstGeom prst="line">
                <a:avLst/>
              </a:prstGeom>
              <a:noFill/>
              <a:ln cap="flat">
                <a:solidFill>
                  <a:srgbClr val="006B61"/>
                </a:solidFill>
                <a:prstDash val="solid"/>
                <a:miter lim="800000"/>
                <a:headEnd type="none" w="med" len="med"/>
                <a:tailEnd type="triangle" w="med" len="med"/>
              </a:ln>
            </p:spPr>
          </p:cxnSp>
        </p:grpSp>
        <p:sp>
          <p:nvSpPr>
            <p:cNvPr id="2666" name=""/>
            <p:cNvSpPr/>
            <p:nvPr/>
          </p:nvSpPr>
          <p:spPr>
            <a:xfrm>
              <a:off x="144" y="2736"/>
              <a:ext cx="1008" cy="202"/>
            </a:xfrm>
            <a:prstGeom prst="rect">
              <a:avLst/>
            </a:prstGeom>
            <a:noFill/>
            <a:ln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600" b="1" u="none">
                  <a:latin typeface="Arial" pitchFamily="34" charset="0"/>
                  <a:ea typeface="宋体" pitchFamily="2" charset="-122"/>
                </a:rPr>
                <a:t>排序后的值</a:t>
              </a:r>
            </a:p>
          </p:txBody>
        </p:sp>
      </p:grpSp>
    </p:spTree>
  </p:cSld>
  <p:clrMapOvr>
    <a:masterClrMapping/>
  </p:clrMapOvr>
  <p:transition/>
  <p:timing/>
</p:sld>
</file>

<file path=ppt/slides/slide4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6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  </a:t>
            </a:r>
          </a:p>
        </p:txBody>
      </p:sp>
      <p:sp>
        <p:nvSpPr>
          <p:cNvPr id="2670" name=""/>
          <p:cNvSpPr/>
          <p:nvPr>
            <p:ph type="body" sz="half" idx="4294967295"/>
          </p:nvPr>
        </p:nvSpPr>
        <p:spPr>
          <a:xfrm>
            <a:off x="457200" y="1981200"/>
            <a:ext cx="8305800" cy="3886200"/>
          </a:xfrm>
          <a:prstGeom prst="rect">
            <a:avLst/>
          </a:prstGeom>
          <a:noFill/>
          <a:ln w="12700" cap="flat">
            <a:noFill/>
            <a:prstDash val="solid"/>
            <a:miter lim="800000"/>
            <a:headEnd type="none" w="med" len="med"/>
            <a:tailEnd type="none" w="med" len="med"/>
          </a:ln>
        </p:spPr>
        <p:txBody>
          <a:bodyPr/>
          <a:lstStyle>
            <a:lvl1pPr marL="292100" indent="-2921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292100" lvl="0" indent="-292100" defTabSz="914400"/>
            <a:r>
              <a:rPr lang="zh-CN" altLang="en-US">
                <a:ea typeface="宋体" pitchFamily="2" charset="-122"/>
              </a:rPr>
              <a:t>定义：给定一个概率空间                 事件</a:t>
            </a:r>
          </a:p>
        </p:txBody>
      </p:sp>
      <p:graphicFrame>
        <p:nvGraphicFramePr>
          <p:cNvPr id="2671" name=""/>
          <p:cNvGraphicFramePr>
            <a:graphicFrameLocks noChangeAspect="1"/>
          </p:cNvGraphicFramePr>
          <p:nvPr>
            <p:ph sz="quarter" idx="4294967295"/>
          </p:nvPr>
        </p:nvGraphicFramePr>
        <p:xfrm>
          <a:off x="4495800" y="1981200"/>
          <a:ext cx="1385888" cy="477838"/>
        </p:xfrm>
        <a:graphic>
          <a:graphicData uri="http://schemas.openxmlformats.org/presentationml/2006/ole">
            <mc:AlternateContent xmlns:mc="http://schemas.openxmlformats.org/markup-compatibility/2006">
              <mc:Choice xmlns:v="urn:schemas-microsoft-com:vml" Requires="v">
                <p:oleObj spid="_x0000_s1079" name="Equation" r:id="rId2" progId="Equation.DSMT4">
                  <p:embed/>
                </p:oleObj>
              </mc:Choice>
              <mc:Fallback>
                <p:oleObj name="Equation" r:id="rId2" progId="Equation.DSMT4">
                  <p:embed/>
                  <p:pic>
                    <p:nvPicPr>
                      <p:cNvPr id="0" name="OLE substitute image"/>
                      <p:cNvPicPr/>
                      <p:nvPr/>
                    </p:nvPicPr>
                    <p:blipFill>
                      <a:blip r:embed="rId3"/>
                      <a:stretch>
                        <a:fillRect/>
                      </a:stretch>
                    </p:blipFill>
                    <p:spPr>
                      <a:xfrm>
                        <a:off x="4495800" y="1981200"/>
                        <a:ext cx="1385888" cy="477838"/>
                      </a:xfrm>
                      <a:prstGeom prst="rect">
                        <a:avLst/>
                      </a:prstGeom>
                    </p:spPr>
                  </p:pic>
                </p:oleObj>
              </mc:Fallback>
            </mc:AlternateContent>
          </a:graphicData>
        </a:graphic>
      </p:graphicFrame>
      <p:graphicFrame>
        <p:nvGraphicFramePr>
          <p:cNvPr id="2672" name=""/>
          <p:cNvGraphicFramePr>
            <a:graphicFrameLocks noChangeAspect="1"/>
          </p:cNvGraphicFramePr>
          <p:nvPr>
            <p:ph sz="quarter" idx="4294967295"/>
          </p:nvPr>
        </p:nvGraphicFramePr>
        <p:xfrm>
          <a:off x="6553200" y="1905000"/>
          <a:ext cx="847725" cy="590550"/>
        </p:xfrm>
        <a:graphic>
          <a:graphicData uri="http://schemas.openxmlformats.org/presentationml/2006/ole">
            <mc:AlternateContent xmlns:mc="http://schemas.openxmlformats.org/markup-compatibility/2006">
              <mc:Choice xmlns:v="urn:schemas-microsoft-com:vml" Requires="v">
                <p:oleObj spid="_x0000_s1080" name="Equation" r:id="rId4" progId="Equation.DSMT4">
                  <p:embed/>
                </p:oleObj>
              </mc:Choice>
              <mc:Fallback>
                <p:oleObj name="Equation" r:id="rId4" progId="Equation.DSMT4">
                  <p:embed/>
                  <p:pic>
                    <p:nvPicPr>
                      <p:cNvPr id="0" name="OLE substitute image"/>
                      <p:cNvPicPr/>
                      <p:nvPr/>
                    </p:nvPicPr>
                    <p:blipFill>
                      <a:blip r:embed="rId5"/>
                      <a:stretch>
                        <a:fillRect/>
                      </a:stretch>
                    </p:blipFill>
                    <p:spPr>
                      <a:xfrm>
                        <a:off x="6553200" y="1905000"/>
                        <a:ext cx="847725" cy="590550"/>
                      </a:xfrm>
                      <a:prstGeom prst="rect">
                        <a:avLst/>
                      </a:prstGeom>
                    </p:spPr>
                  </p:pic>
                </p:oleObj>
              </mc:Fallback>
            </mc:AlternateContent>
          </a:graphicData>
        </a:graphic>
      </p:graphicFrame>
      <p:sp>
        <p:nvSpPr>
          <p:cNvPr id="2673" name=""/>
          <p:cNvSpPr/>
          <p:nvPr/>
        </p:nvSpPr>
        <p:spPr>
          <a:xfrm>
            <a:off x="914400" y="2667000"/>
            <a:ext cx="7543800" cy="1160462"/>
          </a:xfrm>
          <a:prstGeom prst="rect">
            <a:avLst/>
          </a:prstGeom>
          <a:noFill/>
          <a:ln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1" fontAlgn="base" hangingPunct="1">
              <a:lnSpc>
                <a:spcPct val="100000"/>
              </a:lnSpc>
              <a:spcBef>
                <a:spcPct val="50000"/>
              </a:spcBef>
              <a:spcAft>
                <a:spcPct val="0"/>
              </a:spcAft>
              <a:buClrTx/>
              <a:buSzTx/>
            </a:pPr>
            <a:r>
              <a:rPr kumimoji="0" lang="zh-CN" altLang="en-US" sz="2800" u="none">
                <a:latin typeface="Arial" pitchFamily="34" charset="0"/>
                <a:ea typeface="宋体" pitchFamily="2" charset="-122"/>
              </a:rPr>
              <a:t>的自信息定义为</a:t>
            </a:r>
            <a:r>
              <a:rPr kumimoji="0" lang="zh-CN" altLang="en-US" sz="1800" u="none">
                <a:latin typeface="Arial" pitchFamily="34" charset="0"/>
                <a:ea typeface="宋体" pitchFamily="2" charset="-122"/>
              </a:rPr>
              <a:t>                                </a:t>
            </a:r>
            <a:r>
              <a:rPr kumimoji="0" lang="zh-CN" altLang="en-US" sz="2800" u="none">
                <a:latin typeface="Arial" pitchFamily="34" charset="0"/>
                <a:ea typeface="宋体" pitchFamily="2" charset="-122"/>
              </a:rPr>
              <a:t>因                         </a:t>
            </a:r>
          </a:p>
          <a:p>
            <a:pPr lvl="0" eaLnBrk="1" fontAlgn="base" hangingPunct="1">
              <a:lnSpc>
                <a:spcPct val="100000"/>
              </a:lnSpc>
              <a:spcBef>
                <a:spcPct val="50000"/>
              </a:spcBef>
              <a:spcAft>
                <a:spcPct val="0"/>
              </a:spcAft>
              <a:buClrTx/>
              <a:buSzTx/>
            </a:pPr>
            <a:endParaRPr kumimoji="0" lang="zh-CN" altLang="en-US" sz="2800" u="none">
              <a:latin typeface="Arial" pitchFamily="34" charset="0"/>
              <a:ea typeface="宋体" pitchFamily="2" charset="-122"/>
            </a:endParaRPr>
          </a:p>
        </p:txBody>
      </p:sp>
      <p:graphicFrame>
        <p:nvGraphicFramePr>
          <p:cNvPr id="2674" name=""/>
          <p:cNvGraphicFramePr>
            <a:graphicFrameLocks noChangeAspect="1"/>
          </p:cNvGraphicFramePr>
          <p:nvPr/>
        </p:nvGraphicFramePr>
        <p:xfrm>
          <a:off x="3657600" y="2743200"/>
          <a:ext cx="1905000" cy="469900"/>
        </p:xfrm>
        <a:graphic>
          <a:graphicData uri="http://schemas.openxmlformats.org/presentationml/2006/ole">
            <mc:AlternateContent xmlns:mc="http://schemas.openxmlformats.org/markup-compatibility/2006">
              <mc:Choice xmlns:v="urn:schemas-microsoft-com:vml" Requires="v">
                <p:oleObj spid="_x0000_s1081" name="Equation" r:id="rId6" progId="Equation.DSMT4">
                  <p:embed/>
                </p:oleObj>
              </mc:Choice>
              <mc:Fallback>
                <p:oleObj name="Equation" r:id="rId6" progId="Equation.DSMT4">
                  <p:embed/>
                  <p:pic>
                    <p:nvPicPr>
                      <p:cNvPr id="0" name="OLE substitute image"/>
                      <p:cNvPicPr/>
                      <p:nvPr/>
                    </p:nvPicPr>
                    <p:blipFill>
                      <a:blip r:embed="rId7"/>
                      <a:stretch>
                        <a:fillRect/>
                      </a:stretch>
                    </p:blipFill>
                    <p:spPr>
                      <a:xfrm>
                        <a:off x="3657600" y="2743200"/>
                        <a:ext cx="1905000" cy="469900"/>
                      </a:xfrm>
                      <a:prstGeom prst="rect">
                        <a:avLst/>
                      </a:prstGeom>
                    </p:spPr>
                  </p:pic>
                </p:oleObj>
              </mc:Fallback>
            </mc:AlternateContent>
          </a:graphicData>
        </a:graphic>
      </p:graphicFrame>
      <p:graphicFrame>
        <p:nvGraphicFramePr>
          <p:cNvPr id="2675" name=""/>
          <p:cNvGraphicFramePr>
            <a:graphicFrameLocks noChangeAspect="1"/>
          </p:cNvGraphicFramePr>
          <p:nvPr/>
        </p:nvGraphicFramePr>
        <p:xfrm>
          <a:off x="5943600" y="2667000"/>
          <a:ext cx="2000250" cy="609600"/>
        </p:xfrm>
        <a:graphic>
          <a:graphicData uri="http://schemas.openxmlformats.org/presentationml/2006/ole">
            <mc:AlternateContent xmlns:mc="http://schemas.openxmlformats.org/markup-compatibility/2006">
              <mc:Choice xmlns:v="urn:schemas-microsoft-com:vml" Requires="v">
                <p:oleObj spid="_x0000_s1082" name="Equation" r:id="rId8" progId="Equation.DSMT4">
                  <p:embed/>
                </p:oleObj>
              </mc:Choice>
              <mc:Fallback>
                <p:oleObj name="Equation" r:id="rId8" progId="Equation.DSMT4">
                  <p:embed/>
                  <p:pic>
                    <p:nvPicPr>
                      <p:cNvPr id="0" name="OLE substitute image"/>
                      <p:cNvPicPr/>
                      <p:nvPr/>
                    </p:nvPicPr>
                    <p:blipFill>
                      <a:blip r:embed="rId9"/>
                      <a:stretch>
                        <a:fillRect/>
                      </a:stretch>
                    </p:blipFill>
                    <p:spPr>
                      <a:xfrm>
                        <a:off x="5943600" y="2667000"/>
                        <a:ext cx="2000250" cy="609600"/>
                      </a:xfrm>
                      <a:prstGeom prst="rect">
                        <a:avLst/>
                      </a:prstGeom>
                    </p:spPr>
                  </p:pic>
                </p:oleObj>
              </mc:Fallback>
            </mc:AlternateContent>
          </a:graphicData>
        </a:graphic>
      </p:graphicFrame>
      <p:graphicFrame>
        <p:nvGraphicFramePr>
          <p:cNvPr id="2676" name=""/>
          <p:cNvGraphicFramePr>
            <a:graphicFrameLocks noChangeAspect="1"/>
          </p:cNvGraphicFramePr>
          <p:nvPr/>
        </p:nvGraphicFramePr>
        <p:xfrm>
          <a:off x="990600" y="3276600"/>
          <a:ext cx="1295400" cy="541338"/>
        </p:xfrm>
        <a:graphic>
          <a:graphicData uri="http://schemas.openxmlformats.org/presentationml/2006/ole">
            <mc:AlternateContent xmlns:mc="http://schemas.openxmlformats.org/markup-compatibility/2006">
              <mc:Choice xmlns:v="urn:schemas-microsoft-com:vml" Requires="v">
                <p:oleObj spid="_x0000_s1083" name="Equation" r:id="rId10" progId="Equation.DSMT4">
                  <p:embed/>
                </p:oleObj>
              </mc:Choice>
              <mc:Fallback>
                <p:oleObj name="Equation" r:id="rId10" progId="Equation.DSMT4">
                  <p:embed/>
                  <p:pic>
                    <p:nvPicPr>
                      <p:cNvPr id="0" name="OLE substitute image"/>
                      <p:cNvPicPr/>
                      <p:nvPr/>
                    </p:nvPicPr>
                    <p:blipFill>
                      <a:blip r:embed="rId11"/>
                      <a:stretch>
                        <a:fillRect/>
                      </a:stretch>
                    </p:blipFill>
                    <p:spPr>
                      <a:xfrm>
                        <a:off x="990600" y="3276600"/>
                        <a:ext cx="1295400" cy="541338"/>
                      </a:xfrm>
                      <a:prstGeom prst="rect">
                        <a:avLst/>
                      </a:prstGeom>
                    </p:spPr>
                  </p:pic>
                </p:oleObj>
              </mc:Fallback>
            </mc:AlternateContent>
          </a:graphicData>
        </a:graphic>
      </p:graphicFrame>
      <p:sp>
        <p:nvSpPr>
          <p:cNvPr id="2677" name=""/>
          <p:cNvSpPr/>
          <p:nvPr/>
        </p:nvSpPr>
        <p:spPr>
          <a:xfrm>
            <a:off x="914400" y="3962400"/>
            <a:ext cx="7543800" cy="1603375"/>
          </a:xfrm>
          <a:prstGeom prst="rect">
            <a:avLst/>
          </a:prstGeom>
          <a:noFill/>
          <a:ln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1" fontAlgn="base" hangingPunct="1">
              <a:lnSpc>
                <a:spcPct val="100000"/>
              </a:lnSpc>
              <a:spcBef>
                <a:spcPct val="50000"/>
              </a:spcBef>
              <a:spcAft>
                <a:spcPct val="0"/>
              </a:spcAft>
              <a:buClrTx/>
              <a:buSzTx/>
            </a:pPr>
            <a:r>
              <a:rPr kumimoji="0" lang="zh-CN" altLang="en-US" sz="1800" u="none">
                <a:latin typeface="Arial" pitchFamily="34" charset="0"/>
                <a:ea typeface="宋体" pitchFamily="2" charset="-122"/>
              </a:rPr>
              <a:t>自信息反映了事件       发生所需要的信息量。</a:t>
            </a:r>
          </a:p>
          <a:p>
            <a:pPr lvl="0" eaLnBrk="1" fontAlgn="base" hangingPunct="1">
              <a:lnSpc>
                <a:spcPct val="100000"/>
              </a:lnSpc>
              <a:spcBef>
                <a:spcPct val="50000"/>
              </a:spcBef>
              <a:spcAft>
                <a:spcPct val="0"/>
              </a:spcAft>
              <a:buClrTx/>
              <a:buSzTx/>
            </a:pPr>
            <a:r>
              <a:rPr kumimoji="0" lang="zh-CN" altLang="en-US" sz="1800" u="none">
                <a:latin typeface="Arial" pitchFamily="34" charset="0"/>
                <a:ea typeface="宋体" pitchFamily="2" charset="-122"/>
              </a:rPr>
              <a:t>          值越大说明需要越多的信息才能确定事件       的发生，其随机性也越大，而当     发生时所携带的信息量也越大。反过来，        值越小，需要较少信息量就能确定       的发生，即事件 随机性较小。当其发生时所携信息量就少。         是对不确定性大小的一种刻画  </a:t>
            </a:r>
          </a:p>
        </p:txBody>
      </p:sp>
      <p:graphicFrame>
        <p:nvGraphicFramePr>
          <p:cNvPr id="2678" name=""/>
          <p:cNvGraphicFramePr>
            <a:graphicFrameLocks noChangeAspect="1"/>
          </p:cNvGraphicFramePr>
          <p:nvPr/>
        </p:nvGraphicFramePr>
        <p:xfrm>
          <a:off x="2819400" y="3886200"/>
          <a:ext cx="385762" cy="533400"/>
        </p:xfrm>
        <a:graphic>
          <a:graphicData uri="http://schemas.openxmlformats.org/presentationml/2006/ole">
            <mc:AlternateContent xmlns:mc="http://schemas.openxmlformats.org/markup-compatibility/2006">
              <mc:Choice xmlns:v="urn:schemas-microsoft-com:vml" Requires="v">
                <p:oleObj spid="_x0000_s1084" name="Equation" r:id="rId12" progId="Equation.DSMT4">
                  <p:embed/>
                </p:oleObj>
              </mc:Choice>
              <mc:Fallback>
                <p:oleObj name="Equation" r:id="rId12" progId="Equation.DSMT4">
                  <p:embed/>
                  <p:pic>
                    <p:nvPicPr>
                      <p:cNvPr id="0" name="OLE substitute image"/>
                      <p:cNvPicPr/>
                      <p:nvPr/>
                    </p:nvPicPr>
                    <p:blipFill>
                      <a:blip r:embed="rId13"/>
                      <a:stretch>
                        <a:fillRect/>
                      </a:stretch>
                    </p:blipFill>
                    <p:spPr>
                      <a:xfrm>
                        <a:off x="2819400" y="3886200"/>
                        <a:ext cx="385762" cy="533400"/>
                      </a:xfrm>
                      <a:prstGeom prst="rect">
                        <a:avLst/>
                      </a:prstGeom>
                    </p:spPr>
                  </p:pic>
                </p:oleObj>
              </mc:Fallback>
            </mc:AlternateContent>
          </a:graphicData>
        </a:graphic>
      </p:graphicFrame>
      <p:graphicFrame>
        <p:nvGraphicFramePr>
          <p:cNvPr id="2679" name=""/>
          <p:cNvGraphicFramePr>
            <a:graphicFrameLocks noChangeAspect="1"/>
          </p:cNvGraphicFramePr>
          <p:nvPr/>
        </p:nvGraphicFramePr>
        <p:xfrm>
          <a:off x="1066800" y="4343400"/>
          <a:ext cx="533400" cy="369888"/>
        </p:xfrm>
        <a:graphic>
          <a:graphicData uri="http://schemas.openxmlformats.org/presentationml/2006/ole">
            <mc:AlternateContent xmlns:mc="http://schemas.openxmlformats.org/markup-compatibility/2006">
              <mc:Choice xmlns:v="urn:schemas-microsoft-com:vml" Requires="v">
                <p:oleObj spid="_x0000_s1085" name="Equation" r:id="rId14" progId="Equation.DSMT4">
                  <p:embed/>
                </p:oleObj>
              </mc:Choice>
              <mc:Fallback>
                <p:oleObj name="Equation" r:id="rId14" progId="Equation.DSMT4">
                  <p:embed/>
                  <p:pic>
                    <p:nvPicPr>
                      <p:cNvPr id="0" name="OLE substitute image"/>
                      <p:cNvPicPr/>
                      <p:nvPr/>
                    </p:nvPicPr>
                    <p:blipFill>
                      <a:blip r:embed="rId15"/>
                      <a:stretch>
                        <a:fillRect/>
                      </a:stretch>
                    </p:blipFill>
                    <p:spPr>
                      <a:xfrm>
                        <a:off x="1066800" y="4343400"/>
                        <a:ext cx="533400" cy="369888"/>
                      </a:xfrm>
                      <a:prstGeom prst="rect">
                        <a:avLst/>
                      </a:prstGeom>
                    </p:spPr>
                  </p:pic>
                </p:oleObj>
              </mc:Fallback>
            </mc:AlternateContent>
          </a:graphicData>
        </a:graphic>
      </p:graphicFrame>
      <p:graphicFrame>
        <p:nvGraphicFramePr>
          <p:cNvPr id="2680" name=""/>
          <p:cNvGraphicFramePr>
            <a:graphicFrameLocks noChangeAspect="1"/>
          </p:cNvGraphicFramePr>
          <p:nvPr/>
        </p:nvGraphicFramePr>
        <p:xfrm>
          <a:off x="5791200" y="4343400"/>
          <a:ext cx="274638" cy="381000"/>
        </p:xfrm>
        <a:graphic>
          <a:graphicData uri="http://schemas.openxmlformats.org/presentationml/2006/ole">
            <mc:AlternateContent xmlns:mc="http://schemas.openxmlformats.org/markup-compatibility/2006">
              <mc:Choice xmlns:v="urn:schemas-microsoft-com:vml" Requires="v">
                <p:oleObj spid="_x0000_s1086" name="Equation" r:id="rId16" progId="Equation.DSMT4">
                  <p:embed/>
                </p:oleObj>
              </mc:Choice>
              <mc:Fallback>
                <p:oleObj name="Equation" r:id="rId16" progId="Equation.DSMT4">
                  <p:embed/>
                  <p:pic>
                    <p:nvPicPr>
                      <p:cNvPr id="0" name="OLE substitute image"/>
                      <p:cNvPicPr/>
                      <p:nvPr/>
                    </p:nvPicPr>
                    <p:blipFill>
                      <a:blip r:embed="rId17"/>
                      <a:stretch>
                        <a:fillRect/>
                      </a:stretch>
                    </p:blipFill>
                    <p:spPr>
                      <a:xfrm>
                        <a:off x="5791200" y="4343400"/>
                        <a:ext cx="274638" cy="381000"/>
                      </a:xfrm>
                      <a:prstGeom prst="rect">
                        <a:avLst/>
                      </a:prstGeom>
                    </p:spPr>
                  </p:pic>
                </p:oleObj>
              </mc:Fallback>
            </mc:AlternateContent>
          </a:graphicData>
        </a:graphic>
      </p:graphicFrame>
      <p:graphicFrame>
        <p:nvGraphicFramePr>
          <p:cNvPr id="2681" name=""/>
          <p:cNvGraphicFramePr>
            <a:graphicFrameLocks noChangeAspect="1"/>
          </p:cNvGraphicFramePr>
          <p:nvPr/>
        </p:nvGraphicFramePr>
        <p:xfrm>
          <a:off x="2133600" y="4648200"/>
          <a:ext cx="381000" cy="381000"/>
        </p:xfrm>
        <a:graphic>
          <a:graphicData uri="http://schemas.openxmlformats.org/presentationml/2006/ole">
            <mc:AlternateContent xmlns:mc="http://schemas.openxmlformats.org/markup-compatibility/2006">
              <mc:Choice xmlns:v="urn:schemas-microsoft-com:vml" Requires="v">
                <p:oleObj spid="_x0000_s1087" name="Equation" r:id="rId18" progId="Equation.DSMT4">
                  <p:embed/>
                </p:oleObj>
              </mc:Choice>
              <mc:Fallback>
                <p:oleObj name="Equation" r:id="rId18" progId="Equation.DSMT4">
                  <p:embed/>
                  <p:pic>
                    <p:nvPicPr>
                      <p:cNvPr id="0" name="OLE substitute image"/>
                      <p:cNvPicPr/>
                      <p:nvPr/>
                    </p:nvPicPr>
                    <p:blipFill>
                      <a:blip r:embed="rId17"/>
                      <a:stretch>
                        <a:fillRect/>
                      </a:stretch>
                    </p:blipFill>
                    <p:spPr>
                      <a:xfrm>
                        <a:off x="2133600" y="4648200"/>
                        <a:ext cx="381000" cy="381000"/>
                      </a:xfrm>
                      <a:prstGeom prst="rect">
                        <a:avLst/>
                      </a:prstGeom>
                    </p:spPr>
                  </p:pic>
                </p:oleObj>
              </mc:Fallback>
            </mc:AlternateContent>
          </a:graphicData>
        </a:graphic>
      </p:graphicFrame>
      <p:graphicFrame>
        <p:nvGraphicFramePr>
          <p:cNvPr id="2682" name=""/>
          <p:cNvGraphicFramePr>
            <a:graphicFrameLocks noChangeAspect="1"/>
          </p:cNvGraphicFramePr>
          <p:nvPr/>
        </p:nvGraphicFramePr>
        <p:xfrm>
          <a:off x="6477000" y="4648200"/>
          <a:ext cx="609600" cy="422275"/>
        </p:xfrm>
        <a:graphic>
          <a:graphicData uri="http://schemas.openxmlformats.org/presentationml/2006/ole">
            <mc:AlternateContent xmlns:mc="http://schemas.openxmlformats.org/markup-compatibility/2006">
              <mc:Choice xmlns:v="urn:schemas-microsoft-com:vml" Requires="v">
                <p:oleObj spid="_x0000_s1088" name="Equation" r:id="rId19" progId="Equation.DSMT4">
                  <p:embed/>
                </p:oleObj>
              </mc:Choice>
              <mc:Fallback>
                <p:oleObj name="Equation" r:id="rId19" progId="Equation.DSMT4">
                  <p:embed/>
                  <p:pic>
                    <p:nvPicPr>
                      <p:cNvPr id="0" name="OLE substitute image"/>
                      <p:cNvPicPr/>
                      <p:nvPr/>
                    </p:nvPicPr>
                    <p:blipFill>
                      <a:blip r:embed="rId20"/>
                      <a:stretch>
                        <a:fillRect/>
                      </a:stretch>
                    </p:blipFill>
                    <p:spPr>
                      <a:xfrm>
                        <a:off x="6477000" y="4648200"/>
                        <a:ext cx="609600" cy="422275"/>
                      </a:xfrm>
                      <a:prstGeom prst="rect">
                        <a:avLst/>
                      </a:prstGeom>
                    </p:spPr>
                  </p:pic>
                </p:oleObj>
              </mc:Fallback>
            </mc:AlternateContent>
          </a:graphicData>
        </a:graphic>
      </p:graphicFrame>
      <p:graphicFrame>
        <p:nvGraphicFramePr>
          <p:cNvPr id="2683" name=""/>
          <p:cNvGraphicFramePr>
            <a:graphicFrameLocks noChangeAspect="1"/>
          </p:cNvGraphicFramePr>
          <p:nvPr/>
        </p:nvGraphicFramePr>
        <p:xfrm>
          <a:off x="3276600" y="4876800"/>
          <a:ext cx="385762" cy="533400"/>
        </p:xfrm>
        <a:graphic>
          <a:graphicData uri="http://schemas.openxmlformats.org/presentationml/2006/ole">
            <mc:AlternateContent xmlns:mc="http://schemas.openxmlformats.org/markup-compatibility/2006">
              <mc:Choice xmlns:v="urn:schemas-microsoft-com:vml" Requires="v">
                <p:oleObj spid="_x0000_s1089" name="Equation" r:id="rId21" progId="Equation.DSMT4">
                  <p:embed/>
                </p:oleObj>
              </mc:Choice>
              <mc:Fallback>
                <p:oleObj name="Equation" r:id="rId21" progId="Equation.DSMT4">
                  <p:embed/>
                  <p:pic>
                    <p:nvPicPr>
                      <p:cNvPr id="0" name="OLE substitute image"/>
                      <p:cNvPicPr/>
                      <p:nvPr/>
                    </p:nvPicPr>
                    <p:blipFill>
                      <a:blip r:embed="rId22"/>
                      <a:stretch>
                        <a:fillRect/>
                      </a:stretch>
                    </p:blipFill>
                    <p:spPr>
                      <a:xfrm>
                        <a:off x="3276600" y="4876800"/>
                        <a:ext cx="385762" cy="533400"/>
                      </a:xfrm>
                      <a:prstGeom prst="rect">
                        <a:avLst/>
                      </a:prstGeom>
                    </p:spPr>
                  </p:pic>
                </p:oleObj>
              </mc:Fallback>
            </mc:AlternateContent>
          </a:graphicData>
        </a:graphic>
      </p:graphicFrame>
      <p:graphicFrame>
        <p:nvGraphicFramePr>
          <p:cNvPr id="2684" name=""/>
          <p:cNvGraphicFramePr>
            <a:graphicFrameLocks noChangeAspect="1"/>
          </p:cNvGraphicFramePr>
          <p:nvPr/>
        </p:nvGraphicFramePr>
        <p:xfrm>
          <a:off x="2514600" y="5257800"/>
          <a:ext cx="609600" cy="422275"/>
        </p:xfrm>
        <a:graphic>
          <a:graphicData uri="http://schemas.openxmlformats.org/presentationml/2006/ole">
            <mc:AlternateContent xmlns:mc="http://schemas.openxmlformats.org/markup-compatibility/2006">
              <mc:Choice xmlns:v="urn:schemas-microsoft-com:vml" Requires="v">
                <p:oleObj spid="_x0000_s1090" name="Equation" r:id="rId23" progId="Equation.DSMT4">
                  <p:embed/>
                </p:oleObj>
              </mc:Choice>
              <mc:Fallback>
                <p:oleObj name="Equation" r:id="rId23" progId="Equation.DSMT4">
                  <p:embed/>
                  <p:pic>
                    <p:nvPicPr>
                      <p:cNvPr id="0" name="OLE substitute image"/>
                      <p:cNvPicPr/>
                      <p:nvPr/>
                    </p:nvPicPr>
                    <p:blipFill>
                      <a:blip r:embed="rId20"/>
                      <a:stretch>
                        <a:fillRect/>
                      </a:stretch>
                    </p:blipFill>
                    <p:spPr>
                      <a:xfrm>
                        <a:off x="2514600" y="5257800"/>
                        <a:ext cx="609600" cy="422275"/>
                      </a:xfrm>
                      <a:prstGeom prst="rect">
                        <a:avLst/>
                      </a:prstGeom>
                    </p:spPr>
                  </p:pic>
                </p:oleObj>
              </mc:Fallback>
            </mc:AlternateContent>
          </a:graphicData>
        </a:graphic>
      </p:graphicFrame>
      <p:sp>
        <p:nvSpPr>
          <p:cNvPr id="2685" name=""/>
          <p:cNvSpPr/>
          <p:nvPr/>
        </p:nvSpPr>
        <p:spPr>
          <a:xfrm>
            <a:off x="533400" y="304800"/>
            <a:ext cx="8280400" cy="533400"/>
          </a:xfrm>
          <a:prstGeom prst="rect">
            <a:avLst/>
          </a:prstGeom>
          <a:noFill/>
          <a:ln w="12700" cap="flat">
            <a:noFill/>
            <a:prstDash val="solid"/>
            <a:miter lim="800000"/>
            <a:headEnd type="none" w="med" len="med"/>
            <a:tailEnd type="none" w="med" len="med"/>
          </a:ln>
        </p:spPr>
        <p:txBody>
          <a:bodyPr lIns="90488" tIns="44450" rIns="90488" bIns="44450" anchor="b"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ts val="3600"/>
              </a:lnSpc>
              <a:spcBef>
                <a:spcPct val="0"/>
              </a:spcBef>
              <a:spcAft>
                <a:spcPct val="0"/>
              </a:spcAft>
              <a:buClrTx/>
              <a:buSzTx/>
            </a:pPr>
            <a:r>
              <a:rPr kumimoji="0" lang="zh-CN" altLang="en-US" sz="3200" b="1" u="none">
                <a:latin typeface="Tahoma" pitchFamily="34" charset="0"/>
                <a:ea typeface="宋体" pitchFamily="2" charset="-122"/>
              </a:rPr>
              <a:t>熵</a:t>
            </a:r>
            <a:r>
              <a:rPr kumimoji="0" lang="en-US" altLang="zh-CN" sz="3200" b="1" u="none">
                <a:latin typeface="Tahoma" pitchFamily="34" charset="0"/>
                <a:ea typeface="宋体" pitchFamily="2" charset="-122"/>
              </a:rPr>
              <a:t>---</a:t>
            </a:r>
            <a:r>
              <a:rPr kumimoji="0" lang="zh-CN" altLang="en-US" sz="3200" b="1" u="none">
                <a:latin typeface="Tahoma" pitchFamily="34" charset="0"/>
                <a:ea typeface="宋体" pitchFamily="2" charset="-122"/>
              </a:rPr>
              <a:t>定义</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88"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lgn="ctr"/>
            <a:r>
              <a:rPr lang="zh-CN" altLang="en-US">
                <a:ea typeface="宋体" pitchFamily="2" charset="-122"/>
              </a:rPr>
              <a:t>熵</a:t>
            </a:r>
            <a:r>
              <a:rPr lang="en-US" altLang="zh-CN">
                <a:ea typeface="宋体" pitchFamily="2" charset="-122"/>
              </a:rPr>
              <a:t>---</a:t>
            </a:r>
            <a:r>
              <a:rPr lang="zh-CN" altLang="en-US">
                <a:ea typeface="宋体" pitchFamily="2" charset="-122"/>
              </a:rPr>
              <a:t>定义</a:t>
            </a:r>
          </a:p>
        </p:txBody>
      </p:sp>
      <p:sp>
        <p:nvSpPr>
          <p:cNvPr id="2689" name=""/>
          <p:cNvSpPr/>
          <p:nvPr>
            <p:ph type="body" sz="half" idx="4294967295"/>
          </p:nvPr>
        </p:nvSpPr>
        <p:spPr>
          <a:xfrm>
            <a:off x="411162" y="1143000"/>
            <a:ext cx="8086725" cy="5181600"/>
          </a:xfrm>
          <a:prstGeom prst="rect">
            <a:avLst/>
          </a:prstGeom>
          <a:noFill/>
          <a:ln w="12700" cap="flat">
            <a:noFill/>
            <a:prstDash val="solid"/>
            <a:miter lim="800000"/>
            <a:headEnd type="none" w="med" len="med"/>
            <a:tailEnd type="none" w="med" len="med"/>
          </a:ln>
        </p:spPr>
        <p:txBody>
          <a:bodyPr/>
          <a:lstStyle>
            <a:lvl1pPr marL="292100" indent="-2921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292100" lvl="0" indent="-292100" defTabSz="914400"/>
            <a:r>
              <a:rPr lang="en-US" altLang="zh-CN">
                <a:ea typeface="宋体" pitchFamily="2" charset="-122"/>
              </a:rPr>
              <a:t>1.</a:t>
            </a:r>
            <a:r>
              <a:rPr lang="zh-CN" altLang="en-US">
                <a:ea typeface="宋体" pitchFamily="2" charset="-122"/>
              </a:rPr>
              <a:t>定义：在概率空间                   上定义的随机变量 </a:t>
            </a:r>
            <a:r>
              <a:rPr lang="en-US" altLang="zh-CN">
                <a:ea typeface="宋体" pitchFamily="2" charset="-122"/>
              </a:rPr>
              <a:t>I( X)</a:t>
            </a:r>
            <a:r>
              <a:rPr lang="zh-CN" altLang="en-US">
                <a:ea typeface="宋体" pitchFamily="2" charset="-122"/>
              </a:rPr>
              <a:t>的数学期望 </a:t>
            </a:r>
          </a:p>
          <a:p>
            <a:pPr marL="292100" lvl="0" indent="-292100" defTabSz="914400">
              <a:buNone/>
            </a:pPr>
            <a:r>
              <a:rPr lang="zh-CN" altLang="en-US">
                <a:ea typeface="宋体" pitchFamily="2" charset="-122"/>
              </a:rPr>
              <a:t>               </a:t>
            </a:r>
          </a:p>
        </p:txBody>
      </p:sp>
      <p:graphicFrame>
        <p:nvGraphicFramePr>
          <p:cNvPr id="2690" name=""/>
          <p:cNvGraphicFramePr>
            <a:graphicFrameLocks noChangeAspect="1"/>
          </p:cNvGraphicFramePr>
          <p:nvPr>
            <p:ph sz="quarter" idx="4294967295"/>
          </p:nvPr>
        </p:nvGraphicFramePr>
        <p:xfrm>
          <a:off x="3581400" y="1143000"/>
          <a:ext cx="1617662" cy="558800"/>
        </p:xfrm>
        <a:graphic>
          <a:graphicData uri="http://schemas.openxmlformats.org/presentationml/2006/ole">
            <mc:AlternateContent xmlns:mc="http://schemas.openxmlformats.org/markup-compatibility/2006">
              <mc:Choice xmlns:v="urn:schemas-microsoft-com:vml" Requires="v">
                <p:oleObj spid="_x0000_s1091" name="Equation" r:id="rId2" progId="Equation.DSMT4">
                  <p:embed/>
                </p:oleObj>
              </mc:Choice>
              <mc:Fallback>
                <p:oleObj name="Equation" r:id="rId2" progId="Equation.DSMT4">
                  <p:embed/>
                  <p:pic>
                    <p:nvPicPr>
                      <p:cNvPr id="0" name="OLE substitute image"/>
                      <p:cNvPicPr/>
                      <p:nvPr/>
                    </p:nvPicPr>
                    <p:blipFill>
                      <a:blip r:embed="rId3"/>
                      <a:stretch>
                        <a:fillRect/>
                      </a:stretch>
                    </p:blipFill>
                    <p:spPr>
                      <a:xfrm>
                        <a:off x="3581400" y="1143000"/>
                        <a:ext cx="1617662" cy="558800"/>
                      </a:xfrm>
                      <a:prstGeom prst="rect">
                        <a:avLst/>
                      </a:prstGeom>
                    </p:spPr>
                  </p:pic>
                </p:oleObj>
              </mc:Fallback>
            </mc:AlternateContent>
          </a:graphicData>
        </a:graphic>
      </p:graphicFrame>
      <p:graphicFrame>
        <p:nvGraphicFramePr>
          <p:cNvPr id="2691" name=""/>
          <p:cNvGraphicFramePr>
            <a:graphicFrameLocks noChangeAspect="1"/>
          </p:cNvGraphicFramePr>
          <p:nvPr>
            <p:ph sz="quarter" idx="4294967295"/>
          </p:nvPr>
        </p:nvGraphicFramePr>
        <p:xfrm>
          <a:off x="796925" y="2260600"/>
          <a:ext cx="5832475" cy="1320800"/>
        </p:xfrm>
        <a:graphic>
          <a:graphicData uri="http://schemas.openxmlformats.org/presentationml/2006/ole">
            <mc:AlternateContent xmlns:mc="http://schemas.openxmlformats.org/markup-compatibility/2006">
              <mc:Choice xmlns:v="urn:schemas-microsoft-com:vml" Requires="v">
                <p:oleObj spid="_x0000_s1092" name="Equation" r:id="rId4" progId="Equation.DSMT4">
                  <p:embed/>
                </p:oleObj>
              </mc:Choice>
              <mc:Fallback>
                <p:oleObj name="Equation" r:id="rId4" progId="Equation.DSMT4">
                  <p:embed/>
                  <p:pic>
                    <p:nvPicPr>
                      <p:cNvPr id="0" name="OLE substitute image"/>
                      <p:cNvPicPr/>
                      <p:nvPr/>
                    </p:nvPicPr>
                    <p:blipFill>
                      <a:blip r:embed="rId5"/>
                      <a:stretch>
                        <a:fillRect/>
                      </a:stretch>
                    </p:blipFill>
                    <p:spPr>
                      <a:xfrm>
                        <a:off x="796925" y="2260600"/>
                        <a:ext cx="5832475" cy="1320800"/>
                      </a:xfrm>
                      <a:prstGeom prst="rect">
                        <a:avLst/>
                      </a:prstGeom>
                    </p:spPr>
                  </p:pic>
                </p:oleObj>
              </mc:Fallback>
            </mc:AlternateContent>
          </a:graphicData>
        </a:graphic>
      </p:graphicFrame>
      <p:sp>
        <p:nvSpPr>
          <p:cNvPr id="2692" name=""/>
          <p:cNvSpPr/>
          <p:nvPr/>
        </p:nvSpPr>
        <p:spPr>
          <a:xfrm>
            <a:off x="762000" y="3810000"/>
            <a:ext cx="7620000" cy="1587500"/>
          </a:xfrm>
          <a:prstGeom prst="rect">
            <a:avLst/>
          </a:prstGeom>
          <a:noFill/>
          <a:ln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1" fontAlgn="base" hangingPunct="1">
              <a:lnSpc>
                <a:spcPct val="100000"/>
              </a:lnSpc>
              <a:spcBef>
                <a:spcPct val="50000"/>
              </a:spcBef>
              <a:spcAft>
                <a:spcPct val="0"/>
              </a:spcAft>
              <a:buClrTx/>
              <a:buSzTx/>
            </a:pPr>
            <a:r>
              <a:rPr kumimoji="0" lang="zh-CN" altLang="en-US" sz="2800" u="none">
                <a:latin typeface="Arial" pitchFamily="34" charset="0"/>
                <a:ea typeface="宋体" pitchFamily="2" charset="-122"/>
              </a:rPr>
              <a:t>称为随机变量</a:t>
            </a:r>
            <a:r>
              <a:rPr kumimoji="0" lang="en-US" altLang="zh-CN" sz="2800" u="none">
                <a:latin typeface="Arial" pitchFamily="34" charset="0"/>
                <a:ea typeface="宋体" pitchFamily="2" charset="-122"/>
              </a:rPr>
              <a:t>X</a:t>
            </a:r>
            <a:r>
              <a:rPr kumimoji="0" lang="zh-CN" altLang="en-US" sz="2800" u="none">
                <a:latin typeface="Arial" pitchFamily="34" charset="0"/>
                <a:ea typeface="宋体" pitchFamily="2" charset="-122"/>
              </a:rPr>
              <a:t>的平均自信息，又称</a:t>
            </a:r>
            <a:r>
              <a:rPr kumimoji="0" lang="en-US" altLang="zh-CN" sz="2800" u="none">
                <a:latin typeface="Arial" pitchFamily="34" charset="0"/>
                <a:ea typeface="宋体" pitchFamily="2" charset="-122"/>
              </a:rPr>
              <a:t>X</a:t>
            </a:r>
            <a:r>
              <a:rPr kumimoji="0" lang="zh-CN" altLang="en-US" sz="2800" u="none">
                <a:latin typeface="Arial" pitchFamily="34" charset="0"/>
                <a:ea typeface="宋体" pitchFamily="2" charset="-122"/>
              </a:rPr>
              <a:t>的信息熵或熵记为</a:t>
            </a:r>
            <a:r>
              <a:rPr kumimoji="0" lang="en-US" altLang="zh-CN" sz="2800" u="none">
                <a:latin typeface="Arial" pitchFamily="34" charset="0"/>
                <a:ea typeface="宋体" pitchFamily="2" charset="-122"/>
              </a:rPr>
              <a:t>H(x) </a:t>
            </a:r>
          </a:p>
          <a:p>
            <a:pPr lvl="0" eaLnBrk="1" fontAlgn="base" hangingPunct="1">
              <a:lnSpc>
                <a:spcPct val="100000"/>
              </a:lnSpc>
              <a:spcBef>
                <a:spcPct val="50000"/>
              </a:spcBef>
              <a:spcAft>
                <a:spcPct val="0"/>
              </a:spcAft>
              <a:buClrTx/>
              <a:buSzTx/>
            </a:pPr>
            <a:endParaRPr kumimoji="0" lang="zh-CN" altLang="en-US" sz="2800" u="none">
              <a:latin typeface="Arial" pitchFamily="34" charset="0"/>
              <a:ea typeface="宋体" pitchFamily="2" charset="-122"/>
            </a:endParaRP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69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696"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非负性：</a:t>
            </a:r>
            <a:r>
              <a:rPr lang="en-US" altLang="zh-CN">
                <a:ea typeface="宋体" pitchFamily="2" charset="-122"/>
              </a:rPr>
              <a:t>H</a:t>
            </a:r>
            <a:r>
              <a:rPr lang="zh-CN" altLang="en-US">
                <a:ea typeface="宋体" pitchFamily="2" charset="-122"/>
              </a:rPr>
              <a:t>大于等于</a:t>
            </a:r>
            <a:r>
              <a:rPr lang="en-US" altLang="zh-CN">
                <a:ea typeface="宋体" pitchFamily="2" charset="-122"/>
              </a:rPr>
              <a:t>0 </a:t>
            </a:r>
          </a:p>
          <a:p>
            <a:pPr lvl="0"/>
            <a:r>
              <a:rPr lang="zh-CN" altLang="en-US">
                <a:ea typeface="宋体" pitchFamily="2" charset="-122"/>
              </a:rPr>
              <a:t>连续性：</a:t>
            </a:r>
            <a:r>
              <a:rPr lang="en-US" altLang="zh-CN">
                <a:ea typeface="宋体" pitchFamily="2" charset="-122"/>
              </a:rPr>
              <a:t>H</a:t>
            </a:r>
            <a:r>
              <a:rPr lang="zh-CN" altLang="en-US">
                <a:ea typeface="宋体" pitchFamily="2" charset="-122"/>
              </a:rPr>
              <a:t>对任意</a:t>
            </a:r>
            <a:r>
              <a:rPr lang="en-US" altLang="zh-CN">
                <a:ea typeface="宋体" pitchFamily="2" charset="-122"/>
              </a:rPr>
              <a:t>q</a:t>
            </a:r>
            <a:r>
              <a:rPr lang="zh-CN" altLang="en-US">
                <a:ea typeface="宋体" pitchFamily="2" charset="-122"/>
              </a:rPr>
              <a:t>连续</a:t>
            </a:r>
          </a:p>
          <a:p>
            <a:pPr lvl="0"/>
            <a:r>
              <a:rPr lang="zh-CN" altLang="en-US">
                <a:ea typeface="宋体" pitchFamily="2" charset="-122"/>
              </a:rPr>
              <a:t>极值性：当</a:t>
            </a:r>
            <a:r>
              <a:rPr lang="en-US" altLang="zh-CN">
                <a:ea typeface="宋体" pitchFamily="2" charset="-122"/>
              </a:rPr>
              <a:t>q</a:t>
            </a:r>
            <a:r>
              <a:rPr lang="zh-CN" altLang="en-US">
                <a:ea typeface="宋体" pitchFamily="2" charset="-122"/>
              </a:rPr>
              <a:t>都等于</a:t>
            </a:r>
            <a:r>
              <a:rPr lang="en-US" altLang="zh-CN">
                <a:ea typeface="宋体" pitchFamily="2" charset="-122"/>
              </a:rPr>
              <a:t>1\K</a:t>
            </a:r>
            <a:r>
              <a:rPr lang="zh-CN" altLang="en-US">
                <a:ea typeface="宋体" pitchFamily="2" charset="-122"/>
              </a:rPr>
              <a:t>时 </a:t>
            </a:r>
            <a:r>
              <a:rPr lang="en-US" altLang="zh-CN">
                <a:ea typeface="宋体" pitchFamily="2" charset="-122"/>
              </a:rPr>
              <a:t>H</a:t>
            </a:r>
            <a:r>
              <a:rPr lang="zh-CN" altLang="en-US">
                <a:ea typeface="宋体" pitchFamily="2" charset="-122"/>
              </a:rPr>
              <a:t>达到最大值</a:t>
            </a:r>
            <a:r>
              <a:rPr lang="en-US" altLang="zh-CN">
                <a:ea typeface="宋体" pitchFamily="2" charset="-122"/>
              </a:rPr>
              <a:t>logK</a:t>
            </a:r>
          </a:p>
        </p:txBody>
      </p:sp>
      <p:sp>
        <p:nvSpPr>
          <p:cNvPr id="2697" name=""/>
          <p:cNvSpPr/>
          <p:nvPr/>
        </p:nvSpPr>
        <p:spPr>
          <a:xfrm>
            <a:off x="533400" y="304800"/>
            <a:ext cx="8280400" cy="533400"/>
          </a:xfrm>
          <a:prstGeom prst="rect">
            <a:avLst/>
          </a:prstGeom>
          <a:noFill/>
          <a:ln w="12700" cap="flat">
            <a:noFill/>
            <a:prstDash val="solid"/>
            <a:miter lim="800000"/>
            <a:headEnd type="none" w="med" len="med"/>
            <a:tailEnd type="none" w="med" len="med"/>
          </a:ln>
        </p:spPr>
        <p:txBody>
          <a:bodyPr lIns="90488" tIns="44450" rIns="90488" bIns="44450" anchor="b"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ts val="3600"/>
              </a:lnSpc>
              <a:spcBef>
                <a:spcPct val="0"/>
              </a:spcBef>
              <a:spcAft>
                <a:spcPct val="0"/>
              </a:spcAft>
              <a:buClrTx/>
              <a:buSzTx/>
            </a:pPr>
            <a:r>
              <a:rPr kumimoji="0" lang="zh-CN" altLang="en-US" sz="3200" b="1" u="none">
                <a:latin typeface="Tahoma" pitchFamily="34" charset="0"/>
                <a:ea typeface="宋体" pitchFamily="2" charset="-122"/>
              </a:rPr>
              <a:t>熵</a:t>
            </a:r>
            <a:r>
              <a:rPr kumimoji="0" lang="en-US" altLang="zh-CN" sz="3200" b="1" u="none">
                <a:latin typeface="Tahoma" pitchFamily="34" charset="0"/>
                <a:ea typeface="宋体" pitchFamily="2" charset="-122"/>
              </a:rPr>
              <a:t>---</a:t>
            </a:r>
            <a:r>
              <a:rPr kumimoji="0" lang="zh-CN" altLang="en-US" sz="3200" b="1" u="none">
                <a:latin typeface="Tahoma" pitchFamily="34" charset="0"/>
                <a:ea typeface="宋体" pitchFamily="2" charset="-122"/>
              </a:rPr>
              <a:t>定义</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0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 </a:t>
            </a:r>
            <a:r>
              <a:rPr lang="en-US" altLang="zh-CN">
                <a:ea typeface="宋体" pitchFamily="2" charset="-122"/>
              </a:rPr>
              <a:t>Information Gain</a:t>
            </a:r>
            <a:r>
              <a:rPr lang="zh-CN" altLang="en-US">
                <a:ea typeface="宋体" pitchFamily="2" charset="-122"/>
              </a:rPr>
              <a:t>的划分</a:t>
            </a:r>
          </a:p>
        </p:txBody>
      </p:sp>
      <p:sp>
        <p:nvSpPr>
          <p:cNvPr id="2701" name=""/>
          <p:cNvSpPr/>
          <p:nvPr>
            <p:ph type="body" idx="4294967295"/>
          </p:nvPr>
        </p:nvSpPr>
        <p:spPr>
          <a:xfrm>
            <a:off x="152400" y="1143000"/>
            <a:ext cx="8763000" cy="5181600"/>
          </a:xfrm>
          <a:prstGeom prst="rect">
            <a:avLst/>
          </a:prstGeom>
          <a:noFill/>
          <a:ln w="12700" cap="flat">
            <a:noFill/>
            <a:prstDash val="solid"/>
            <a:miter lim="800000"/>
            <a:headEnd type="none" w="med" len="med"/>
            <a:tailEnd type="none" w="med" len="med"/>
          </a:ln>
        </p:spPr>
        <p:txBody>
          <a:bodyPr/>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742950" indent="-285750" algn="l"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1085850" indent="-228600" algn="l"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r>
              <a:rPr lang="zh-CN" altLang="en-US">
                <a:ea typeface="宋体" pitchFamily="2" charset="-122"/>
              </a:rPr>
              <a:t>给定结点</a:t>
            </a:r>
            <a:r>
              <a:rPr lang="en-US" altLang="zh-CN">
                <a:ea typeface="宋体" pitchFamily="2" charset="-122"/>
              </a:rPr>
              <a:t>t</a:t>
            </a:r>
            <a:r>
              <a:rPr lang="zh-CN" altLang="en-US">
                <a:ea typeface="宋体" pitchFamily="2" charset="-122"/>
              </a:rPr>
              <a:t>的 </a:t>
            </a:r>
            <a:r>
              <a:rPr lang="en-US" altLang="zh-CN">
                <a:ea typeface="宋体" pitchFamily="2" charset="-122"/>
              </a:rPr>
              <a:t>Entropy</a:t>
            </a:r>
            <a:r>
              <a:rPr lang="zh-CN" altLang="en-US">
                <a:ea typeface="宋体" pitchFamily="2" charset="-122"/>
              </a:rPr>
              <a:t>值计算</a:t>
            </a:r>
            <a:r>
              <a:rPr lang="en-US" altLang="zh-CN">
                <a:ea typeface="宋体" pitchFamily="2" charset="-122"/>
              </a:rPr>
              <a:t> :</a:t>
            </a:r>
          </a:p>
          <a:p>
            <a:pPr marL="742950" lvl="1" indent="-285750"/>
            <a:endParaRPr lang="en-US" altLang="zh-CN">
              <a:ea typeface="宋体" pitchFamily="2" charset="-122"/>
            </a:endParaRPr>
          </a:p>
          <a:p>
            <a:pPr marL="2057400" lvl="4" indent="-228600"/>
            <a:endParaRPr lang="en-US" altLang="zh-CN">
              <a:ea typeface="宋体" pitchFamily="2" charset="-122"/>
            </a:endParaRPr>
          </a:p>
          <a:p>
            <a:pPr marL="1085850" lvl="2" indent="-228600">
              <a:buNone/>
            </a:pPr>
            <a:r>
              <a:rPr lang="en-US" altLang="zh-CN" sz="2000">
                <a:ea typeface="宋体" pitchFamily="2" charset="-122"/>
              </a:rPr>
              <a:t>(</a:t>
            </a:r>
            <a:r>
              <a:rPr lang="en-US" altLang="zh-CN" i="1">
                <a:latin typeface="Times New Roman" pitchFamily="18" charset="0"/>
                <a:ea typeface="宋体" pitchFamily="2" charset="-122"/>
              </a:rPr>
              <a:t>p( j | t) </a:t>
            </a:r>
            <a:r>
              <a:rPr lang="zh-CN" altLang="en-US">
                <a:ea typeface="宋体" pitchFamily="2" charset="-122"/>
              </a:rPr>
              <a:t>是在结点</a:t>
            </a:r>
            <a:r>
              <a:rPr lang="en-US" altLang="zh-CN">
                <a:ea typeface="宋体" pitchFamily="2" charset="-122"/>
              </a:rPr>
              <a:t>t</a:t>
            </a:r>
            <a:r>
              <a:rPr lang="zh-CN" altLang="en-US">
                <a:ea typeface="宋体" pitchFamily="2" charset="-122"/>
              </a:rPr>
              <a:t>中，类</a:t>
            </a:r>
            <a:r>
              <a:rPr lang="en-US" altLang="zh-CN">
                <a:ea typeface="宋体" pitchFamily="2" charset="-122"/>
              </a:rPr>
              <a:t>j</a:t>
            </a:r>
            <a:r>
              <a:rPr lang="zh-CN" altLang="en-US">
                <a:ea typeface="宋体" pitchFamily="2" charset="-122"/>
              </a:rPr>
              <a:t>发生的概率</a:t>
            </a:r>
            <a:r>
              <a:rPr lang="en-US" altLang="zh-CN" sz="2000">
                <a:ea typeface="宋体" pitchFamily="2" charset="-122"/>
              </a:rPr>
              <a:t>).</a:t>
            </a:r>
            <a:endParaRPr lang="en-US" altLang="zh-CN">
              <a:ea typeface="宋体" pitchFamily="2" charset="-122"/>
            </a:endParaRPr>
          </a:p>
          <a:p>
            <a:pPr marL="742950" lvl="1" indent="-285750"/>
            <a:r>
              <a:rPr lang="zh-CN" altLang="en-US">
                <a:ea typeface="宋体" pitchFamily="2" charset="-122"/>
              </a:rPr>
              <a:t>当类分布均衡时， </a:t>
            </a:r>
            <a:r>
              <a:rPr lang="en-US" altLang="zh-CN">
                <a:ea typeface="宋体" pitchFamily="2" charset="-122"/>
              </a:rPr>
              <a:t>Entropy</a:t>
            </a:r>
            <a:r>
              <a:rPr lang="zh-CN" altLang="en-US">
                <a:ea typeface="宋体" pitchFamily="2" charset="-122"/>
              </a:rPr>
              <a:t>值达到最大值</a:t>
            </a:r>
            <a:r>
              <a:rPr lang="en-US" altLang="zh-CN">
                <a:ea typeface="宋体" pitchFamily="2" charset="-122"/>
              </a:rPr>
              <a:t> (log n</a:t>
            </a:r>
            <a:r>
              <a:rPr lang="en-US" altLang="zh-CN" baseline="-25000">
                <a:ea typeface="宋体" pitchFamily="2" charset="-122"/>
              </a:rPr>
              <a:t>c</a:t>
            </a:r>
            <a:r>
              <a:rPr lang="en-US" altLang="zh-CN">
                <a:ea typeface="宋体" pitchFamily="2" charset="-122"/>
              </a:rPr>
              <a:t>)</a:t>
            </a:r>
          </a:p>
          <a:p>
            <a:pPr marL="742950" lvl="1" indent="-285750"/>
            <a:r>
              <a:rPr lang="zh-CN" altLang="en-US">
                <a:ea typeface="宋体" pitchFamily="2" charset="-122"/>
              </a:rPr>
              <a:t>相反当只有一个类时，</a:t>
            </a:r>
            <a:r>
              <a:rPr lang="en-US" altLang="zh-CN">
                <a:ea typeface="宋体" pitchFamily="2" charset="-122"/>
              </a:rPr>
              <a:t>Gini</a:t>
            </a:r>
            <a:r>
              <a:rPr lang="zh-CN" altLang="en-US">
                <a:ea typeface="宋体" pitchFamily="2" charset="-122"/>
              </a:rPr>
              <a:t>值达到最小值</a:t>
            </a:r>
            <a:r>
              <a:rPr lang="en-US" altLang="zh-CN">
                <a:ea typeface="宋体" pitchFamily="2" charset="-122"/>
              </a:rPr>
              <a:t>0</a:t>
            </a:r>
          </a:p>
          <a:p>
            <a:pPr marL="742950" lvl="1" indent="-285750"/>
            <a:r>
              <a:rPr lang="en-US" altLang="zh-CN">
                <a:ea typeface="宋体" pitchFamily="2" charset="-122"/>
              </a:rPr>
              <a:t>Entropy </a:t>
            </a:r>
            <a:r>
              <a:rPr lang="zh-CN" altLang="en-US">
                <a:ea typeface="宋体" pitchFamily="2" charset="-122"/>
              </a:rPr>
              <a:t>与 </a:t>
            </a:r>
            <a:r>
              <a:rPr lang="en-US" altLang="zh-CN">
                <a:ea typeface="宋体" pitchFamily="2" charset="-122"/>
              </a:rPr>
              <a:t>GINI</a:t>
            </a:r>
            <a:r>
              <a:rPr lang="zh-CN" altLang="en-US">
                <a:ea typeface="宋体" pitchFamily="2" charset="-122"/>
              </a:rPr>
              <a:t>相似</a:t>
            </a:r>
          </a:p>
        </p:txBody>
      </p:sp>
      <p:graphicFrame>
        <p:nvGraphicFramePr>
          <p:cNvPr id="2702" name=""/>
          <p:cNvGraphicFramePr>
            <a:graphicFrameLocks noChangeAspect="1"/>
          </p:cNvGraphicFramePr>
          <p:nvPr/>
        </p:nvGraphicFramePr>
        <p:xfrm>
          <a:off x="2057400" y="1752600"/>
          <a:ext cx="5803900" cy="615950"/>
        </p:xfrm>
        <a:graphic>
          <a:graphicData uri="http://schemas.openxmlformats.org/presentationml/2006/ole">
            <mc:AlternateContent xmlns:mc="http://schemas.openxmlformats.org/markup-compatibility/2006">
              <mc:Choice xmlns:v="urn:schemas-microsoft-com:vml" Requires="v">
                <p:oleObj spid="_x0000_s1093"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2057400" y="1752600"/>
                        <a:ext cx="5803900" cy="615950"/>
                      </a:xfrm>
                      <a:prstGeom prst="rect">
                        <a:avLst/>
                      </a:prstGeom>
                    </p:spPr>
                  </p:pic>
                </p:oleObj>
              </mc:Fallback>
            </mc:AlternateContent>
          </a:graphicData>
        </a:graphic>
      </p:graphicFrame>
    </p:spTree>
  </p:cSld>
  <p:clrMapOvr>
    <a:masterClrMapping/>
  </p:clrMapOvr>
  <p:transition/>
  <p:timing/>
</p:sld>
</file>

<file path=ppt/slides/slide4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0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计算 </a:t>
            </a:r>
            <a:r>
              <a:rPr lang="en-US" altLang="zh-CN">
                <a:ea typeface="宋体" pitchFamily="2" charset="-122"/>
              </a:rPr>
              <a:t>Entropy</a:t>
            </a:r>
            <a:r>
              <a:rPr lang="zh-CN" altLang="en-US">
                <a:ea typeface="宋体" pitchFamily="2" charset="-122"/>
              </a:rPr>
              <a:t>的例子</a:t>
            </a:r>
            <a:endParaRPr lang="en-US" altLang="zh-CN">
              <a:ea typeface="宋体" pitchFamily="2" charset="-122"/>
            </a:endParaRPr>
          </a:p>
        </p:txBody>
      </p:sp>
      <p:graphicFrame>
        <p:nvGraphicFramePr>
          <p:cNvPr id="2706" name=""/>
          <p:cNvGraphicFramePr>
            <a:graphicFrameLocks noChangeAspect="1"/>
          </p:cNvGraphicFramePr>
          <p:nvPr/>
        </p:nvGraphicFramePr>
        <p:xfrm>
          <a:off x="304800" y="2339975"/>
          <a:ext cx="2362200" cy="936625"/>
        </p:xfrm>
        <a:graphic>
          <a:graphicData uri="http://schemas.openxmlformats.org/presentationml/2006/ole">
            <mc:AlternateContent xmlns:mc="http://schemas.openxmlformats.org/markup-compatibility/2006">
              <mc:Choice xmlns:v="urn:schemas-microsoft-com:vml" Requires="v">
                <p:oleObj spid="_x0000_s1094"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304800" y="2339975"/>
                        <a:ext cx="2362200" cy="936625"/>
                      </a:xfrm>
                      <a:prstGeom prst="rect">
                        <a:avLst/>
                      </a:prstGeom>
                    </p:spPr>
                  </p:pic>
                </p:oleObj>
              </mc:Fallback>
            </mc:AlternateContent>
          </a:graphicData>
        </a:graphic>
      </p:graphicFrame>
      <p:graphicFrame>
        <p:nvGraphicFramePr>
          <p:cNvPr id="2707" name=""/>
          <p:cNvGraphicFramePr>
            <a:graphicFrameLocks noChangeAspect="1"/>
          </p:cNvGraphicFramePr>
          <p:nvPr/>
        </p:nvGraphicFramePr>
        <p:xfrm>
          <a:off x="381000" y="5181600"/>
          <a:ext cx="2286000" cy="938212"/>
        </p:xfrm>
        <a:graphic>
          <a:graphicData uri="http://schemas.openxmlformats.org/presentationml/2006/ole">
            <mc:AlternateContent xmlns:mc="http://schemas.openxmlformats.org/markup-compatibility/2006">
              <mc:Choice xmlns:v="urn:schemas-microsoft-com:vml" Requires="v">
                <p:oleObj spid="_x0000_s1095"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381000" y="5181600"/>
                        <a:ext cx="2286000" cy="938212"/>
                      </a:xfrm>
                      <a:prstGeom prst="rect">
                        <a:avLst/>
                      </a:prstGeom>
                    </p:spPr>
                  </p:pic>
                </p:oleObj>
              </mc:Fallback>
            </mc:AlternateContent>
          </a:graphicData>
        </a:graphic>
      </p:graphicFrame>
      <p:graphicFrame>
        <p:nvGraphicFramePr>
          <p:cNvPr id="2708" name=""/>
          <p:cNvGraphicFramePr>
            <a:graphicFrameLocks noChangeAspect="1"/>
          </p:cNvGraphicFramePr>
          <p:nvPr/>
        </p:nvGraphicFramePr>
        <p:xfrm>
          <a:off x="381000" y="3817938"/>
          <a:ext cx="2286000" cy="906462"/>
        </p:xfrm>
        <a:graphic>
          <a:graphicData uri="http://schemas.openxmlformats.org/presentationml/2006/ole">
            <mc:AlternateContent xmlns:mc="http://schemas.openxmlformats.org/markup-compatibility/2006">
              <mc:Choice xmlns:v="urn:schemas-microsoft-com:vml" Requires="v">
                <p:oleObj spid="_x0000_s1096"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381000" y="3817938"/>
                        <a:ext cx="2286000" cy="906462"/>
                      </a:xfrm>
                      <a:prstGeom prst="rect">
                        <a:avLst/>
                      </a:prstGeom>
                    </p:spPr>
                  </p:pic>
                </p:oleObj>
              </mc:Fallback>
            </mc:AlternateContent>
          </a:graphicData>
        </a:graphic>
      </p:graphicFrame>
      <p:sp>
        <p:nvSpPr>
          <p:cNvPr id="2709" name=""/>
          <p:cNvSpPr/>
          <p:nvPr/>
        </p:nvSpPr>
        <p:spPr>
          <a:xfrm>
            <a:off x="2895600" y="2339975"/>
            <a:ext cx="59436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0/6 = 0     P(C2) = 6/6 = 1</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Entropy = – 0 log 0</a:t>
            </a:r>
            <a:r>
              <a:rPr kumimoji="0" lang="en-US" altLang="zh-CN" sz="2000" b="1" u="none" baseline="30000">
                <a:latin typeface="Arial" pitchFamily="34" charset="0"/>
                <a:ea typeface="宋体" pitchFamily="2" charset="-122"/>
              </a:rPr>
              <a:t> </a:t>
            </a:r>
            <a:r>
              <a:rPr kumimoji="0" lang="en-US" altLang="zh-CN" sz="2000" b="1" u="none">
                <a:latin typeface="Arial" pitchFamily="34" charset="0"/>
                <a:ea typeface="宋体" pitchFamily="2" charset="-122"/>
              </a:rPr>
              <a:t>– 1 log 1 = – 0 – 0 = 0 </a:t>
            </a:r>
          </a:p>
        </p:txBody>
      </p:sp>
      <p:sp>
        <p:nvSpPr>
          <p:cNvPr id="2710" name=""/>
          <p:cNvSpPr/>
          <p:nvPr/>
        </p:nvSpPr>
        <p:spPr>
          <a:xfrm>
            <a:off x="2971800" y="3733800"/>
            <a:ext cx="61722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1/6          P(C2) = 5/6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Entropy = – (1/6) log</a:t>
            </a:r>
            <a:r>
              <a:rPr kumimoji="0" lang="en-US" altLang="zh-CN" sz="2000" b="1" u="none" baseline="-25000">
                <a:latin typeface="Arial" pitchFamily="34" charset="0"/>
                <a:ea typeface="宋体" pitchFamily="2" charset="-122"/>
              </a:rPr>
              <a:t>2</a:t>
            </a:r>
            <a:r>
              <a:rPr kumimoji="0" lang="en-US" altLang="zh-CN" sz="2000" b="1" u="none">
                <a:latin typeface="Arial" pitchFamily="34" charset="0"/>
                <a:ea typeface="宋体" pitchFamily="2" charset="-122"/>
              </a:rPr>
              <a:t> (1/6)</a:t>
            </a:r>
            <a:r>
              <a:rPr kumimoji="0" lang="en-US" altLang="zh-CN" sz="2000" b="1" u="none" baseline="30000">
                <a:latin typeface="Arial" pitchFamily="34" charset="0"/>
                <a:ea typeface="宋体" pitchFamily="2" charset="-122"/>
              </a:rPr>
              <a:t> </a:t>
            </a:r>
            <a:r>
              <a:rPr kumimoji="0" lang="en-US" altLang="zh-CN" sz="2000" b="1" u="none">
                <a:latin typeface="Arial" pitchFamily="34" charset="0"/>
                <a:ea typeface="宋体" pitchFamily="2" charset="-122"/>
              </a:rPr>
              <a:t>– (5/6) log</a:t>
            </a:r>
            <a:r>
              <a:rPr kumimoji="0" lang="en-US" altLang="zh-CN" sz="2000" b="1" u="none" baseline="-25000">
                <a:latin typeface="Arial" pitchFamily="34" charset="0"/>
                <a:ea typeface="宋体" pitchFamily="2" charset="-122"/>
              </a:rPr>
              <a:t>2</a:t>
            </a:r>
            <a:r>
              <a:rPr kumimoji="0" lang="en-US" altLang="zh-CN" sz="2000" b="1" u="none">
                <a:latin typeface="Arial" pitchFamily="34" charset="0"/>
                <a:ea typeface="宋体" pitchFamily="2" charset="-122"/>
              </a:rPr>
              <a:t> (1/6) = 0.65</a:t>
            </a:r>
          </a:p>
        </p:txBody>
      </p:sp>
      <p:sp>
        <p:nvSpPr>
          <p:cNvPr id="2711" name=""/>
          <p:cNvSpPr/>
          <p:nvPr/>
        </p:nvSpPr>
        <p:spPr>
          <a:xfrm>
            <a:off x="2971800" y="5105400"/>
            <a:ext cx="61722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2/6          P(C2) = 4/6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Entropy = – (2/6) log</a:t>
            </a:r>
            <a:r>
              <a:rPr kumimoji="0" lang="en-US" altLang="zh-CN" sz="2000" b="1" u="none" baseline="-25000">
                <a:latin typeface="Arial" pitchFamily="34" charset="0"/>
                <a:ea typeface="宋体" pitchFamily="2" charset="-122"/>
              </a:rPr>
              <a:t>2</a:t>
            </a:r>
            <a:r>
              <a:rPr kumimoji="0" lang="en-US" altLang="zh-CN" sz="2000" b="1" u="none">
                <a:latin typeface="Arial" pitchFamily="34" charset="0"/>
                <a:ea typeface="宋体" pitchFamily="2" charset="-122"/>
              </a:rPr>
              <a:t> (2/6)</a:t>
            </a:r>
            <a:r>
              <a:rPr kumimoji="0" lang="en-US" altLang="zh-CN" sz="2000" b="1" u="none" baseline="30000">
                <a:latin typeface="Arial" pitchFamily="34" charset="0"/>
                <a:ea typeface="宋体" pitchFamily="2" charset="-122"/>
              </a:rPr>
              <a:t> </a:t>
            </a:r>
            <a:r>
              <a:rPr kumimoji="0" lang="en-US" altLang="zh-CN" sz="2000" b="1" u="none">
                <a:latin typeface="Arial" pitchFamily="34" charset="0"/>
                <a:ea typeface="宋体" pitchFamily="2" charset="-122"/>
              </a:rPr>
              <a:t>– (4/6) log</a:t>
            </a:r>
            <a:r>
              <a:rPr kumimoji="0" lang="en-US" altLang="zh-CN" sz="2000" b="1" u="none" baseline="-25000">
                <a:latin typeface="Arial" pitchFamily="34" charset="0"/>
                <a:ea typeface="宋体" pitchFamily="2" charset="-122"/>
              </a:rPr>
              <a:t>2</a:t>
            </a:r>
            <a:r>
              <a:rPr kumimoji="0" lang="en-US" altLang="zh-CN" sz="2000" b="1" u="none">
                <a:latin typeface="Arial" pitchFamily="34" charset="0"/>
                <a:ea typeface="宋体" pitchFamily="2" charset="-122"/>
              </a:rPr>
              <a:t> (4/6) = 0.92</a:t>
            </a:r>
          </a:p>
        </p:txBody>
      </p:sp>
      <p:graphicFrame>
        <p:nvGraphicFramePr>
          <p:cNvPr id="2712" name=""/>
          <p:cNvGraphicFramePr>
            <a:graphicFrameLocks noChangeAspect="1"/>
          </p:cNvGraphicFramePr>
          <p:nvPr/>
        </p:nvGraphicFramePr>
        <p:xfrm>
          <a:off x="1758950" y="1219200"/>
          <a:ext cx="5945188" cy="615950"/>
        </p:xfrm>
        <a:graphic>
          <a:graphicData uri="http://schemas.openxmlformats.org/presentationml/2006/ole">
            <mc:AlternateContent xmlns:mc="http://schemas.openxmlformats.org/markup-compatibility/2006">
              <mc:Choice xmlns:v="urn:schemas-microsoft-com:vml" Requires="v">
                <p:oleObj spid="_x0000_s1097" name="Equation" r:id="rId8" progId="Equation.3">
                  <p:embed/>
                </p:oleObj>
              </mc:Choice>
              <mc:Fallback>
                <p:oleObj name="Equation" r:id="rId8" progId="Equation.3">
                  <p:embed/>
                  <p:pic>
                    <p:nvPicPr>
                      <p:cNvPr id="0" name="OLE substitute image"/>
                      <p:cNvPicPr/>
                      <p:nvPr/>
                    </p:nvPicPr>
                    <p:blipFill>
                      <a:blip r:embed="rId9"/>
                      <a:stretch>
                        <a:fillRect/>
                      </a:stretch>
                    </p:blipFill>
                    <p:spPr>
                      <a:xfrm>
                        <a:off x="1758950" y="1219200"/>
                        <a:ext cx="5945188" cy="615950"/>
                      </a:xfrm>
                      <a:prstGeom prst="rect">
                        <a:avLst/>
                      </a:prstGeom>
                    </p:spPr>
                  </p:pic>
                </p:oleObj>
              </mc:Fallback>
            </mc:AlternateContent>
          </a:graphicData>
        </a:graphic>
      </p:graphicFrame>
    </p:spTree>
  </p:cSld>
  <p:clrMapOvr>
    <a:masterClrMapping/>
  </p:clrMapOvr>
  <p:transition/>
  <p:timing/>
</p:sld>
</file>

<file path=ppt/slides/slide4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1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 </a:t>
            </a:r>
            <a:r>
              <a:rPr lang="en-US" altLang="zh-CN">
                <a:ea typeface="宋体" pitchFamily="2" charset="-122"/>
              </a:rPr>
              <a:t>Information Gain</a:t>
            </a:r>
            <a:r>
              <a:rPr lang="zh-CN" altLang="en-US">
                <a:ea typeface="宋体" pitchFamily="2" charset="-122"/>
              </a:rPr>
              <a:t>的划分</a:t>
            </a:r>
            <a:r>
              <a:rPr lang="en-US" altLang="zh-CN">
                <a:ea typeface="宋体" pitchFamily="2" charset="-122"/>
              </a:rPr>
              <a:t>...</a:t>
            </a:r>
          </a:p>
        </p:txBody>
      </p:sp>
      <p:sp>
        <p:nvSpPr>
          <p:cNvPr id="2716" name=""/>
          <p:cNvSpPr/>
          <p:nvPr>
            <p:ph type="body" sz="half" idx="4294967295"/>
          </p:nvPr>
        </p:nvSpPr>
        <p:spPr>
          <a:xfrm>
            <a:off x="381000" y="1143000"/>
            <a:ext cx="8382000" cy="4953000"/>
          </a:xfrm>
          <a:prstGeom prst="rect">
            <a:avLst/>
          </a:prstGeom>
          <a:noFill/>
          <a:ln w="12700" cap="flat">
            <a:noFill/>
            <a:prstDash val="solid"/>
            <a:miter lim="800000"/>
            <a:headEnd type="none" w="med" len="med"/>
            <a:tailEnd type="none" w="med" len="med"/>
          </a:ln>
        </p:spPr>
        <p:txBody>
          <a:bodyPr/>
          <a:lstStyle>
            <a:lvl1pPr marL="342900" indent="-3429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6175" indent="-228600" algn="l"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342900" lvl="0" indent="-342900"/>
            <a:r>
              <a:rPr lang="en-US" altLang="zh-CN">
                <a:ea typeface="宋体" pitchFamily="2" charset="-122"/>
              </a:rPr>
              <a:t>Information Gain: </a:t>
            </a:r>
          </a:p>
          <a:p>
            <a:pPr marL="742950" lvl="1" indent="-285750"/>
            <a:endParaRPr lang="en-US" altLang="zh-CN">
              <a:ea typeface="宋体" pitchFamily="2" charset="-122"/>
            </a:endParaRPr>
          </a:p>
          <a:p>
            <a:pPr marL="1146175" lvl="2" indent="-228600">
              <a:buNone/>
            </a:pPr>
            <a:r>
              <a:rPr lang="en-US" altLang="zh-CN">
                <a:ea typeface="宋体" pitchFamily="2" charset="-122"/>
              </a:rPr>
              <a:t>             </a:t>
            </a:r>
          </a:p>
          <a:p>
            <a:pPr marL="1146175" lvl="2" indent="-228600">
              <a:buNone/>
            </a:pPr>
            <a:r>
              <a:rPr lang="en-US" altLang="zh-CN">
                <a:ea typeface="宋体" pitchFamily="2" charset="-122"/>
              </a:rPr>
              <a:t>             </a:t>
            </a:r>
          </a:p>
          <a:p>
            <a:pPr marL="1146175" lvl="2" indent="-228600">
              <a:buNone/>
            </a:pPr>
            <a:r>
              <a:rPr lang="en-US" altLang="zh-CN">
                <a:ea typeface="宋体" pitchFamily="2" charset="-122"/>
              </a:rPr>
              <a:t>             n</a:t>
            </a:r>
            <a:r>
              <a:rPr lang="en-US" altLang="zh-CN" baseline="-25000">
                <a:ea typeface="宋体" pitchFamily="2" charset="-122"/>
              </a:rPr>
              <a:t>i</a:t>
            </a:r>
            <a:r>
              <a:rPr lang="en-US" altLang="zh-CN">
                <a:ea typeface="宋体" pitchFamily="2" charset="-122"/>
              </a:rPr>
              <a:t> = </a:t>
            </a:r>
            <a:r>
              <a:rPr lang="zh-CN" altLang="en-US">
                <a:ea typeface="宋体" pitchFamily="2" charset="-122"/>
              </a:rPr>
              <a:t>孩子结点 </a:t>
            </a:r>
            <a:r>
              <a:rPr lang="en-US" altLang="zh-CN">
                <a:ea typeface="宋体" pitchFamily="2" charset="-122"/>
              </a:rPr>
              <a:t>i</a:t>
            </a:r>
            <a:r>
              <a:rPr lang="zh-CN" altLang="en-US">
                <a:ea typeface="宋体" pitchFamily="2" charset="-122"/>
              </a:rPr>
              <a:t>的记录数</a:t>
            </a:r>
            <a:r>
              <a:rPr lang="en-US" altLang="zh-CN">
                <a:ea typeface="宋体" pitchFamily="2" charset="-122"/>
              </a:rPr>
              <a:t>,</a:t>
            </a:r>
          </a:p>
          <a:p>
            <a:pPr marL="342900" lvl="0" indent="-342900">
              <a:buNone/>
            </a:pPr>
            <a:r>
              <a:rPr lang="en-US" altLang="zh-CN">
                <a:ea typeface="宋体" pitchFamily="2" charset="-122"/>
              </a:rPr>
              <a:t>    			n</a:t>
            </a:r>
            <a:r>
              <a:rPr lang="en-US" altLang="zh-CN" baseline="-25000">
                <a:ea typeface="宋体" pitchFamily="2" charset="-122"/>
              </a:rPr>
              <a:t> </a:t>
            </a:r>
            <a:r>
              <a:rPr lang="en-US" altLang="zh-CN">
                <a:ea typeface="宋体" pitchFamily="2" charset="-122"/>
              </a:rPr>
              <a:t> = </a:t>
            </a:r>
            <a:r>
              <a:rPr lang="zh-CN" altLang="en-US">
                <a:ea typeface="宋体" pitchFamily="2" charset="-122"/>
              </a:rPr>
              <a:t>结点 </a:t>
            </a:r>
            <a:r>
              <a:rPr lang="en-US" altLang="zh-CN">
                <a:ea typeface="宋体" pitchFamily="2" charset="-122"/>
              </a:rPr>
              <a:t>p</a:t>
            </a:r>
            <a:r>
              <a:rPr lang="zh-CN" altLang="en-US">
                <a:ea typeface="宋体" pitchFamily="2" charset="-122"/>
              </a:rPr>
              <a:t>的记录数</a:t>
            </a:r>
            <a:r>
              <a:rPr lang="en-US" altLang="zh-CN">
                <a:ea typeface="宋体" pitchFamily="2" charset="-122"/>
              </a:rPr>
              <a:t>. 		</a:t>
            </a:r>
          </a:p>
          <a:p>
            <a:pPr marL="742950" lvl="1" indent="-285750"/>
            <a:r>
              <a:rPr lang="zh-CN" altLang="en-US">
                <a:ea typeface="宋体" pitchFamily="2" charset="-122"/>
              </a:rPr>
              <a:t>在 </a:t>
            </a:r>
            <a:r>
              <a:rPr lang="en-US" altLang="zh-CN">
                <a:ea typeface="宋体" pitchFamily="2" charset="-122"/>
              </a:rPr>
              <a:t>ID3 and C4.5</a:t>
            </a:r>
            <a:r>
              <a:rPr lang="zh-CN" altLang="en-US">
                <a:ea typeface="宋体" pitchFamily="2" charset="-122"/>
              </a:rPr>
              <a:t>中使用</a:t>
            </a:r>
          </a:p>
          <a:p>
            <a:pPr marL="742950" lvl="1" indent="-285750"/>
            <a:endParaRPr lang="zh-CN" altLang="en-US">
              <a:ea typeface="宋体" pitchFamily="2" charset="-122"/>
            </a:endParaRPr>
          </a:p>
        </p:txBody>
      </p:sp>
      <p:graphicFrame>
        <p:nvGraphicFramePr>
          <p:cNvPr id="2717" name=""/>
          <p:cNvGraphicFramePr>
            <a:graphicFrameLocks noChangeAspect="1"/>
          </p:cNvGraphicFramePr>
          <p:nvPr/>
        </p:nvGraphicFramePr>
        <p:xfrm>
          <a:off x="1752600" y="1676400"/>
          <a:ext cx="6189662" cy="966788"/>
        </p:xfrm>
        <a:graphic>
          <a:graphicData uri="http://schemas.openxmlformats.org/presentationml/2006/ole">
            <mc:AlternateContent xmlns:mc="http://schemas.openxmlformats.org/markup-compatibility/2006">
              <mc:Choice xmlns:v="urn:schemas-microsoft-com:vml" Requires="v">
                <p:oleObj spid="_x0000_s1098"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1752600" y="1676400"/>
                        <a:ext cx="6189662" cy="966788"/>
                      </a:xfrm>
                      <a:prstGeom prst="rect">
                        <a:avLst/>
                      </a:prstGeom>
                    </p:spPr>
                  </p:pic>
                </p:oleObj>
              </mc:Fallback>
            </mc:AlternateContent>
          </a:graphicData>
        </a:graphic>
      </p:graphicFrame>
    </p:spTree>
  </p:cSld>
  <p:clrMapOvr>
    <a:masterClrMapping/>
  </p:clrMapOvr>
  <p:transition/>
  <p:timing/>
</p:sld>
</file>

<file path=ppt/slides/slide5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2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基于 </a:t>
            </a:r>
            <a:r>
              <a:rPr lang="en-US" altLang="zh-CN">
                <a:ea typeface="宋体" pitchFamily="2" charset="-122"/>
              </a:rPr>
              <a:t>Information Gain</a:t>
            </a:r>
            <a:r>
              <a:rPr lang="zh-CN" altLang="en-US">
                <a:ea typeface="宋体" pitchFamily="2" charset="-122"/>
              </a:rPr>
              <a:t>的划分</a:t>
            </a:r>
            <a:r>
              <a:rPr lang="en-US" altLang="zh-CN">
                <a:ea typeface="宋体" pitchFamily="2" charset="-122"/>
              </a:rPr>
              <a:t>...</a:t>
            </a:r>
          </a:p>
        </p:txBody>
      </p:sp>
      <p:sp>
        <p:nvSpPr>
          <p:cNvPr id="2721" name=""/>
          <p:cNvSpPr/>
          <p:nvPr>
            <p:ph type="body" sz="half" idx="4294967295"/>
          </p:nvPr>
        </p:nvSpPr>
        <p:spPr>
          <a:xfrm>
            <a:off x="457200" y="1143000"/>
            <a:ext cx="8382000" cy="5105400"/>
          </a:xfrm>
          <a:prstGeom prst="rect">
            <a:avLst/>
          </a:prstGeom>
          <a:noFill/>
          <a:ln w="12700" cap="flat">
            <a:noFill/>
            <a:prstDash val="solid"/>
            <a:miter lim="800000"/>
            <a:headEnd type="none" w="med" len="med"/>
            <a:tailEnd type="none" w="med" len="med"/>
          </a:ln>
        </p:spPr>
        <p:txBody>
          <a:bodyPr/>
          <a:lstStyle>
            <a:lvl1pPr marL="342900" indent="-3429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6175" indent="-228600" algn="l"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342900" lvl="0" indent="-342900"/>
            <a:r>
              <a:rPr lang="zh-CN" altLang="en-US">
                <a:ea typeface="宋体" pitchFamily="2" charset="-122"/>
              </a:rPr>
              <a:t>增益率（</a:t>
            </a:r>
            <a:r>
              <a:rPr lang="en-US" altLang="zh-CN">
                <a:ea typeface="宋体" pitchFamily="2" charset="-122"/>
              </a:rPr>
              <a:t>Gain Ratio</a:t>
            </a:r>
            <a:r>
              <a:rPr lang="zh-CN" altLang="en-US">
                <a:ea typeface="宋体" pitchFamily="2" charset="-122"/>
              </a:rPr>
              <a:t>）</a:t>
            </a:r>
            <a:r>
              <a:rPr lang="en-US" altLang="zh-CN">
                <a:ea typeface="宋体" pitchFamily="2" charset="-122"/>
              </a:rPr>
              <a:t>: </a:t>
            </a:r>
          </a:p>
          <a:p>
            <a:pPr marL="742950" lvl="1" indent="-285750"/>
            <a:endParaRPr lang="en-US" altLang="zh-CN">
              <a:ea typeface="宋体" pitchFamily="2" charset="-122"/>
            </a:endParaRPr>
          </a:p>
          <a:p>
            <a:pPr marL="742950" lvl="1" indent="-285750"/>
            <a:endParaRPr lang="en-US" altLang="zh-CN">
              <a:ea typeface="宋体" pitchFamily="2" charset="-122"/>
            </a:endParaRPr>
          </a:p>
          <a:p>
            <a:pPr marL="1146175" lvl="2" indent="-228600"/>
            <a:endParaRPr lang="en-US" altLang="zh-CN">
              <a:ea typeface="宋体" pitchFamily="2" charset="-122"/>
            </a:endParaRPr>
          </a:p>
          <a:p>
            <a:pPr marL="1146175" lvl="2" indent="-228600"/>
            <a:endParaRPr lang="en-US" altLang="zh-CN">
              <a:ea typeface="宋体" pitchFamily="2" charset="-122"/>
            </a:endParaRPr>
          </a:p>
          <a:p>
            <a:pPr marL="1146175" lvl="2" indent="-228600">
              <a:buNone/>
            </a:pPr>
            <a:endParaRPr lang="en-US" altLang="zh-CN" sz="800">
              <a:ea typeface="宋体" pitchFamily="2" charset="-122"/>
            </a:endParaRPr>
          </a:p>
          <a:p>
            <a:pPr marL="742950" lvl="1" indent="-285750"/>
            <a:r>
              <a:rPr lang="zh-CN" altLang="en-US">
                <a:ea typeface="宋体" pitchFamily="2" charset="-122"/>
              </a:rPr>
              <a:t>熵和</a:t>
            </a:r>
            <a:r>
              <a:rPr lang="en-US" altLang="zh-CN">
                <a:ea typeface="宋体" pitchFamily="2" charset="-122"/>
              </a:rPr>
              <a:t>Gini</a:t>
            </a:r>
            <a:r>
              <a:rPr lang="zh-CN" altLang="en-US">
                <a:ea typeface="宋体" pitchFamily="2" charset="-122"/>
              </a:rPr>
              <a:t>指标等不纯性趋向于有利于具有大量不同值的属性</a:t>
            </a:r>
            <a:r>
              <a:rPr lang="en-US" altLang="zh-CN">
                <a:ea typeface="宋体" pitchFamily="2" charset="-122"/>
              </a:rPr>
              <a:t>!</a:t>
            </a:r>
            <a:r>
              <a:rPr lang="zh-CN" altLang="en-US">
                <a:ea typeface="宋体" pitchFamily="2" charset="-122"/>
              </a:rPr>
              <a:t>如：利用雇员</a:t>
            </a:r>
            <a:r>
              <a:rPr lang="en-US" altLang="zh-CN">
                <a:ea typeface="宋体" pitchFamily="2" charset="-122"/>
              </a:rPr>
              <a:t>id</a:t>
            </a:r>
            <a:r>
              <a:rPr lang="zh-CN" altLang="en-US">
                <a:ea typeface="宋体" pitchFamily="2" charset="-122"/>
              </a:rPr>
              <a:t>产生更纯的划分，但它却毫无用处</a:t>
            </a:r>
          </a:p>
          <a:p>
            <a:pPr marL="742950" lvl="1" indent="-285750"/>
            <a:r>
              <a:rPr lang="zh-CN" altLang="en-US">
                <a:ea typeface="宋体" pitchFamily="2" charset="-122"/>
              </a:rPr>
              <a:t>每个划分相关联的记录数太少，将不能做出可靠的预测</a:t>
            </a:r>
          </a:p>
          <a:p>
            <a:pPr marL="742950" lvl="1" indent="-285750"/>
            <a:r>
              <a:rPr lang="zh-CN" altLang="en-US">
                <a:ea typeface="宋体" pitchFamily="2" charset="-122"/>
              </a:rPr>
              <a:t>解决该问题的策略有两种：</a:t>
            </a:r>
          </a:p>
          <a:p>
            <a:pPr marL="742950" lvl="1" indent="-285750"/>
            <a:r>
              <a:rPr lang="zh-CN" altLang="en-US">
                <a:ea typeface="宋体" pitchFamily="2" charset="-122"/>
              </a:rPr>
              <a:t>限制测试条件只能是二元划分</a:t>
            </a:r>
          </a:p>
          <a:p>
            <a:pPr marL="742950" lvl="1" indent="-285750"/>
            <a:r>
              <a:rPr lang="zh-CN" altLang="en-US">
                <a:ea typeface="宋体" pitchFamily="2" charset="-122"/>
              </a:rPr>
              <a:t>使用增益率。</a:t>
            </a:r>
            <a:r>
              <a:rPr lang="en-US" altLang="zh-CN">
                <a:ea typeface="宋体" pitchFamily="2" charset="-122"/>
              </a:rPr>
              <a:t>K</a:t>
            </a:r>
            <a:r>
              <a:rPr lang="zh-CN" altLang="en-US">
                <a:ea typeface="宋体" pitchFamily="2" charset="-122"/>
              </a:rPr>
              <a:t>越大</a:t>
            </a:r>
            <a:r>
              <a:rPr lang="en-US" altLang="zh-CN">
                <a:ea typeface="宋体" pitchFamily="2" charset="-122"/>
              </a:rPr>
              <a:t>Split Info</a:t>
            </a:r>
            <a:r>
              <a:rPr lang="zh-CN" altLang="en-US">
                <a:ea typeface="宋体" pitchFamily="2" charset="-122"/>
              </a:rPr>
              <a:t>越大增益率越小</a:t>
            </a:r>
          </a:p>
        </p:txBody>
      </p:sp>
      <p:graphicFrame>
        <p:nvGraphicFramePr>
          <p:cNvPr id="2722" name=""/>
          <p:cNvGraphicFramePr>
            <a:graphicFrameLocks noChangeAspect="1"/>
          </p:cNvGraphicFramePr>
          <p:nvPr/>
        </p:nvGraphicFramePr>
        <p:xfrm>
          <a:off x="609600" y="1752600"/>
          <a:ext cx="4114800" cy="927100"/>
        </p:xfrm>
        <a:graphic>
          <a:graphicData uri="http://schemas.openxmlformats.org/presentationml/2006/ole">
            <mc:AlternateContent xmlns:mc="http://schemas.openxmlformats.org/markup-compatibility/2006">
              <mc:Choice xmlns:v="urn:schemas-microsoft-com:vml" Requires="v">
                <p:oleObj spid="_x0000_s1099"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609600" y="1752600"/>
                        <a:ext cx="4114800" cy="927100"/>
                      </a:xfrm>
                      <a:prstGeom prst="rect">
                        <a:avLst/>
                      </a:prstGeom>
                    </p:spPr>
                  </p:pic>
                </p:oleObj>
              </mc:Fallback>
            </mc:AlternateContent>
          </a:graphicData>
        </a:graphic>
      </p:graphicFrame>
      <p:graphicFrame>
        <p:nvGraphicFramePr>
          <p:cNvPr id="2723" name=""/>
          <p:cNvGraphicFramePr>
            <a:graphicFrameLocks noChangeAspect="1"/>
          </p:cNvGraphicFramePr>
          <p:nvPr/>
        </p:nvGraphicFramePr>
        <p:xfrm>
          <a:off x="4800600" y="1752600"/>
          <a:ext cx="4194175" cy="935038"/>
        </p:xfrm>
        <a:graphic>
          <a:graphicData uri="http://schemas.openxmlformats.org/presentationml/2006/ole">
            <mc:AlternateContent xmlns:mc="http://schemas.openxmlformats.org/markup-compatibility/2006">
              <mc:Choice xmlns:v="urn:schemas-microsoft-com:vml" Requires="v">
                <p:oleObj spid="_x0000_s1100" name="Equation" r:id="rId4" progId="Equation.3">
                  <p:embed/>
                </p:oleObj>
              </mc:Choice>
              <mc:Fallback>
                <p:oleObj name="Equation" r:id="rId4" progId="Equation.3">
                  <p:embed/>
                  <p:pic>
                    <p:nvPicPr>
                      <p:cNvPr id="0" name="OLE substitute image"/>
                      <p:cNvPicPr/>
                      <p:nvPr/>
                    </p:nvPicPr>
                    <p:blipFill>
                      <a:blip r:embed="rId5"/>
                      <a:stretch>
                        <a:fillRect/>
                      </a:stretch>
                    </p:blipFill>
                    <p:spPr>
                      <a:xfrm>
                        <a:off x="4800600" y="1752600"/>
                        <a:ext cx="4194175" cy="935038"/>
                      </a:xfrm>
                      <a:prstGeom prst="rect">
                        <a:avLst/>
                      </a:prstGeom>
                    </p:spPr>
                  </p:pic>
                </p:oleObj>
              </mc:Fallback>
            </mc:AlternateContent>
          </a:graphicData>
        </a:graphic>
      </p:graphicFrame>
    </p:spTree>
  </p:cSld>
  <p:clrMapOvr>
    <a:masterClrMapping/>
  </p:clrMapOvr>
  <p:transition/>
  <p:timing/>
</p:sld>
</file>

<file path=ppt/slides/slide5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26" name=""/>
          <p:cNvSpPr/>
          <p:nvPr>
            <p:ph type="title" idx="4294967295"/>
          </p:nvPr>
        </p:nvSpPr>
        <p:spPr>
          <a:xfrm>
            <a:off x="381000" y="152400"/>
            <a:ext cx="8534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sz="2800">
                <a:ea typeface="宋体" pitchFamily="2" charset="-122"/>
              </a:rPr>
              <a:t>基于 </a:t>
            </a:r>
            <a:r>
              <a:rPr lang="en-US" altLang="zh-CN" sz="2800">
                <a:ea typeface="宋体" pitchFamily="2" charset="-122"/>
              </a:rPr>
              <a:t>Classification Error</a:t>
            </a:r>
            <a:r>
              <a:rPr lang="zh-CN" altLang="en-US" sz="2800">
                <a:ea typeface="宋体" pitchFamily="2" charset="-122"/>
              </a:rPr>
              <a:t>的划分</a:t>
            </a:r>
            <a:endParaRPr lang="zh-CN" altLang="en-US">
              <a:ea typeface="宋体" pitchFamily="2" charset="-122"/>
            </a:endParaRPr>
          </a:p>
        </p:txBody>
      </p:sp>
      <p:sp>
        <p:nvSpPr>
          <p:cNvPr id="2727"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1085850" indent="-228600" algn="l"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r>
              <a:rPr lang="zh-CN" altLang="en-US" sz="2400">
                <a:ea typeface="宋体" pitchFamily="2" charset="-122"/>
              </a:rPr>
              <a:t>给定结点</a:t>
            </a:r>
            <a:r>
              <a:rPr lang="en-US" altLang="zh-CN" sz="2400">
                <a:ea typeface="宋体" pitchFamily="2" charset="-122"/>
              </a:rPr>
              <a:t>t</a:t>
            </a:r>
            <a:r>
              <a:rPr lang="zh-CN" altLang="en-US" sz="2400">
                <a:ea typeface="宋体" pitchFamily="2" charset="-122"/>
              </a:rPr>
              <a:t>的 </a:t>
            </a:r>
            <a:r>
              <a:rPr lang="en-US" altLang="zh-CN" sz="2400">
                <a:ea typeface="宋体" pitchFamily="2" charset="-122"/>
              </a:rPr>
              <a:t>Classification Error</a:t>
            </a:r>
            <a:r>
              <a:rPr lang="zh-CN" altLang="en-US" sz="2400">
                <a:ea typeface="宋体" pitchFamily="2" charset="-122"/>
              </a:rPr>
              <a:t>值计算</a:t>
            </a:r>
            <a:r>
              <a:rPr lang="en-US" altLang="zh-CN" sz="2400">
                <a:ea typeface="宋体" pitchFamily="2" charset="-122"/>
              </a:rPr>
              <a:t> </a:t>
            </a:r>
            <a:r>
              <a:rPr lang="en-US" altLang="zh-CN">
                <a:ea typeface="宋体" pitchFamily="2" charset="-122"/>
              </a:rPr>
              <a:t>:</a:t>
            </a:r>
          </a:p>
          <a:p>
            <a:pPr marL="342900" lvl="0" indent="-342900"/>
            <a:endParaRPr lang="en-US" altLang="zh-CN">
              <a:ea typeface="宋体" pitchFamily="2" charset="-122"/>
            </a:endParaRPr>
          </a:p>
          <a:p>
            <a:pPr marL="342900" lvl="0" indent="-342900"/>
            <a:endParaRPr lang="en-US" altLang="zh-CN">
              <a:ea typeface="宋体" pitchFamily="2" charset="-122"/>
            </a:endParaRPr>
          </a:p>
          <a:p>
            <a:pPr marL="342900" lvl="0" indent="-342900"/>
            <a:endParaRPr lang="en-US" altLang="zh-CN">
              <a:ea typeface="宋体" pitchFamily="2" charset="-122"/>
            </a:endParaRPr>
          </a:p>
          <a:p>
            <a:pPr marL="1085850" lvl="2" indent="-228600"/>
            <a:r>
              <a:rPr lang="zh-CN" altLang="en-US" sz="2000">
                <a:ea typeface="宋体" pitchFamily="2" charset="-122"/>
              </a:rPr>
              <a:t>当类分布均衡时， </a:t>
            </a:r>
            <a:r>
              <a:rPr lang="en-US" altLang="zh-CN" sz="2000">
                <a:ea typeface="宋体" pitchFamily="2" charset="-122"/>
              </a:rPr>
              <a:t>error</a:t>
            </a:r>
            <a:r>
              <a:rPr lang="zh-CN" altLang="en-US" sz="2000">
                <a:ea typeface="宋体" pitchFamily="2" charset="-122"/>
              </a:rPr>
              <a:t>值达到最大值</a:t>
            </a:r>
            <a:r>
              <a:rPr lang="en-US" altLang="zh-CN" sz="2000">
                <a:ea typeface="宋体" pitchFamily="2" charset="-122"/>
              </a:rPr>
              <a:t> (1 - 1/n</a:t>
            </a:r>
            <a:r>
              <a:rPr lang="en-US" altLang="zh-CN" sz="2000" baseline="-25000">
                <a:ea typeface="宋体" pitchFamily="2" charset="-122"/>
              </a:rPr>
              <a:t>c</a:t>
            </a:r>
            <a:r>
              <a:rPr lang="en-US" altLang="zh-CN" sz="2000">
                <a:ea typeface="宋体" pitchFamily="2" charset="-122"/>
              </a:rPr>
              <a:t>) </a:t>
            </a:r>
          </a:p>
          <a:p>
            <a:pPr marL="1085850" lvl="2" indent="-228600"/>
            <a:r>
              <a:rPr lang="zh-CN" altLang="en-US" sz="2000">
                <a:ea typeface="宋体" pitchFamily="2" charset="-122"/>
              </a:rPr>
              <a:t>相反当只有一个类时， </a:t>
            </a:r>
            <a:r>
              <a:rPr lang="en-US" altLang="zh-CN" sz="2000">
                <a:ea typeface="宋体" pitchFamily="2" charset="-122"/>
              </a:rPr>
              <a:t>error</a:t>
            </a:r>
            <a:r>
              <a:rPr lang="zh-CN" altLang="en-US" sz="2000">
                <a:ea typeface="宋体" pitchFamily="2" charset="-122"/>
              </a:rPr>
              <a:t>值达到最小值</a:t>
            </a:r>
            <a:r>
              <a:rPr lang="en-US" altLang="zh-CN" sz="2000">
                <a:ea typeface="宋体" pitchFamily="2" charset="-122"/>
              </a:rPr>
              <a:t>0</a:t>
            </a:r>
          </a:p>
        </p:txBody>
      </p:sp>
      <p:graphicFrame>
        <p:nvGraphicFramePr>
          <p:cNvPr id="2728" name=""/>
          <p:cNvGraphicFramePr>
            <a:graphicFrameLocks noChangeAspect="1"/>
          </p:cNvGraphicFramePr>
          <p:nvPr/>
        </p:nvGraphicFramePr>
        <p:xfrm>
          <a:off x="1752600" y="1981200"/>
          <a:ext cx="4953000" cy="650875"/>
        </p:xfrm>
        <a:graphic>
          <a:graphicData uri="http://schemas.openxmlformats.org/presentationml/2006/ole">
            <mc:AlternateContent xmlns:mc="http://schemas.openxmlformats.org/markup-compatibility/2006">
              <mc:Choice xmlns:v="urn:schemas-microsoft-com:vml" Requires="v">
                <p:oleObj spid="_x0000_s1101" name="Equation" r:id="rId2" progId="Equation.3">
                  <p:embed/>
                </p:oleObj>
              </mc:Choice>
              <mc:Fallback>
                <p:oleObj name="Equation" r:id="rId2" progId="Equation.3">
                  <p:embed/>
                  <p:pic>
                    <p:nvPicPr>
                      <p:cNvPr id="0" name="OLE substitute image"/>
                      <p:cNvPicPr/>
                      <p:nvPr/>
                    </p:nvPicPr>
                    <p:blipFill>
                      <a:blip r:embed="rId3"/>
                      <a:stretch>
                        <a:fillRect/>
                      </a:stretch>
                    </p:blipFill>
                    <p:spPr>
                      <a:xfrm>
                        <a:off x="1752600" y="1981200"/>
                        <a:ext cx="4953000" cy="650875"/>
                      </a:xfrm>
                      <a:prstGeom prst="rect">
                        <a:avLst/>
                      </a:prstGeom>
                    </p:spPr>
                  </p:pic>
                </p:oleObj>
              </mc:Fallback>
            </mc:AlternateContent>
          </a:graphicData>
        </a:graphic>
      </p:graphicFrame>
    </p:spTree>
  </p:cSld>
  <p:clrMapOvr>
    <a:masterClrMapping/>
  </p:clrMapOvr>
  <p:transition/>
  <p:timing/>
</p:sld>
</file>

<file path=ppt/slides/slide5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3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例子</a:t>
            </a:r>
          </a:p>
        </p:txBody>
      </p:sp>
      <p:graphicFrame>
        <p:nvGraphicFramePr>
          <p:cNvPr id="2732" name=""/>
          <p:cNvGraphicFramePr>
            <a:graphicFrameLocks noChangeAspect="1"/>
          </p:cNvGraphicFramePr>
          <p:nvPr/>
        </p:nvGraphicFramePr>
        <p:xfrm>
          <a:off x="304800" y="2339975"/>
          <a:ext cx="2362200" cy="936625"/>
        </p:xfrm>
        <a:graphic>
          <a:graphicData uri="http://schemas.openxmlformats.org/presentationml/2006/ole">
            <mc:AlternateContent xmlns:mc="http://schemas.openxmlformats.org/markup-compatibility/2006">
              <mc:Choice xmlns:v="urn:schemas-microsoft-com:vml" Requires="v">
                <p:oleObj spid="_x0000_s1102"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304800" y="2339975"/>
                        <a:ext cx="2362200" cy="936625"/>
                      </a:xfrm>
                      <a:prstGeom prst="rect">
                        <a:avLst/>
                      </a:prstGeom>
                    </p:spPr>
                  </p:pic>
                </p:oleObj>
              </mc:Fallback>
            </mc:AlternateContent>
          </a:graphicData>
        </a:graphic>
      </p:graphicFrame>
      <p:graphicFrame>
        <p:nvGraphicFramePr>
          <p:cNvPr id="2733" name=""/>
          <p:cNvGraphicFramePr>
            <a:graphicFrameLocks noChangeAspect="1"/>
          </p:cNvGraphicFramePr>
          <p:nvPr/>
        </p:nvGraphicFramePr>
        <p:xfrm>
          <a:off x="381000" y="5181600"/>
          <a:ext cx="2286000" cy="938212"/>
        </p:xfrm>
        <a:graphic>
          <a:graphicData uri="http://schemas.openxmlformats.org/presentationml/2006/ole">
            <mc:AlternateContent xmlns:mc="http://schemas.openxmlformats.org/markup-compatibility/2006">
              <mc:Choice xmlns:v="urn:schemas-microsoft-com:vml" Requires="v">
                <p:oleObj spid="_x0000_s1103" name="Document" r:id="rId4" progId="Word.Document.8">
                  <p:embed/>
                </p:oleObj>
              </mc:Choice>
              <mc:Fallback>
                <p:oleObj name="Document" r:id="rId4" progId="Word.Document.8">
                  <p:embed/>
                  <p:pic>
                    <p:nvPicPr>
                      <p:cNvPr id="0" name="OLE substitute image"/>
                      <p:cNvPicPr/>
                      <p:nvPr/>
                    </p:nvPicPr>
                    <p:blipFill>
                      <a:blip r:embed="rId5"/>
                      <a:stretch>
                        <a:fillRect/>
                      </a:stretch>
                    </p:blipFill>
                    <p:spPr>
                      <a:xfrm>
                        <a:off x="381000" y="5181600"/>
                        <a:ext cx="2286000" cy="938212"/>
                      </a:xfrm>
                      <a:prstGeom prst="rect">
                        <a:avLst/>
                      </a:prstGeom>
                    </p:spPr>
                  </p:pic>
                </p:oleObj>
              </mc:Fallback>
            </mc:AlternateContent>
          </a:graphicData>
        </a:graphic>
      </p:graphicFrame>
      <p:graphicFrame>
        <p:nvGraphicFramePr>
          <p:cNvPr id="2734" name=""/>
          <p:cNvGraphicFramePr>
            <a:graphicFrameLocks noChangeAspect="1"/>
          </p:cNvGraphicFramePr>
          <p:nvPr/>
        </p:nvGraphicFramePr>
        <p:xfrm>
          <a:off x="381000" y="3817938"/>
          <a:ext cx="2286000" cy="906462"/>
        </p:xfrm>
        <a:graphic>
          <a:graphicData uri="http://schemas.openxmlformats.org/presentationml/2006/ole">
            <mc:AlternateContent xmlns:mc="http://schemas.openxmlformats.org/markup-compatibility/2006">
              <mc:Choice xmlns:v="urn:schemas-microsoft-com:vml" Requires="v">
                <p:oleObj spid="_x0000_s1104" name="Document" r:id="rId6" progId="Word.Document.8">
                  <p:embed/>
                </p:oleObj>
              </mc:Choice>
              <mc:Fallback>
                <p:oleObj name="Document" r:id="rId6" progId="Word.Document.8">
                  <p:embed/>
                  <p:pic>
                    <p:nvPicPr>
                      <p:cNvPr id="0" name="OLE substitute image"/>
                      <p:cNvPicPr/>
                      <p:nvPr/>
                    </p:nvPicPr>
                    <p:blipFill>
                      <a:blip r:embed="rId7"/>
                      <a:stretch>
                        <a:fillRect/>
                      </a:stretch>
                    </p:blipFill>
                    <p:spPr>
                      <a:xfrm>
                        <a:off x="381000" y="3817938"/>
                        <a:ext cx="2286000" cy="906462"/>
                      </a:xfrm>
                      <a:prstGeom prst="rect">
                        <a:avLst/>
                      </a:prstGeom>
                    </p:spPr>
                  </p:pic>
                </p:oleObj>
              </mc:Fallback>
            </mc:AlternateContent>
          </a:graphicData>
        </a:graphic>
      </p:graphicFrame>
      <p:sp>
        <p:nvSpPr>
          <p:cNvPr id="2735" name=""/>
          <p:cNvSpPr/>
          <p:nvPr/>
        </p:nvSpPr>
        <p:spPr>
          <a:xfrm>
            <a:off x="2895600" y="2339975"/>
            <a:ext cx="59436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0/6 = 0     P(C2) = 6/6 = 1</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Error = 1 – max (0, 1) = 1 – 1 = 0 </a:t>
            </a:r>
          </a:p>
        </p:txBody>
      </p:sp>
      <p:sp>
        <p:nvSpPr>
          <p:cNvPr id="2736" name=""/>
          <p:cNvSpPr/>
          <p:nvPr/>
        </p:nvSpPr>
        <p:spPr>
          <a:xfrm>
            <a:off x="2971800" y="3733800"/>
            <a:ext cx="51054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1/6          P(C2) = 5/6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Error = 1 – max (1/6, 5/6) = 1 – 5/6 = 1/6</a:t>
            </a:r>
          </a:p>
        </p:txBody>
      </p:sp>
      <p:sp>
        <p:nvSpPr>
          <p:cNvPr id="2737" name=""/>
          <p:cNvSpPr/>
          <p:nvPr/>
        </p:nvSpPr>
        <p:spPr>
          <a:xfrm>
            <a:off x="2971800" y="5105400"/>
            <a:ext cx="6172200" cy="8540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P(C1) = 2/6          P(C2) = 4/6</a:t>
            </a:r>
          </a:p>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Error = 1 – max (2/6, 4/6) = 1 – 4/6 = 1/3</a:t>
            </a:r>
          </a:p>
        </p:txBody>
      </p:sp>
      <p:graphicFrame>
        <p:nvGraphicFramePr>
          <p:cNvPr id="2738" name=""/>
          <p:cNvGraphicFramePr>
            <a:graphicFrameLocks noChangeAspect="1"/>
          </p:cNvGraphicFramePr>
          <p:nvPr/>
        </p:nvGraphicFramePr>
        <p:xfrm>
          <a:off x="1828800" y="1219200"/>
          <a:ext cx="4953000" cy="650875"/>
        </p:xfrm>
        <a:graphic>
          <a:graphicData uri="http://schemas.openxmlformats.org/presentationml/2006/ole">
            <mc:AlternateContent xmlns:mc="http://schemas.openxmlformats.org/markup-compatibility/2006">
              <mc:Choice xmlns:v="urn:schemas-microsoft-com:vml" Requires="v">
                <p:oleObj spid="_x0000_s1105" name="Equation" r:id="rId8" progId="Equation.3">
                  <p:embed/>
                </p:oleObj>
              </mc:Choice>
              <mc:Fallback>
                <p:oleObj name="Equation" r:id="rId8" progId="Equation.3">
                  <p:embed/>
                  <p:pic>
                    <p:nvPicPr>
                      <p:cNvPr id="0" name="OLE substitute image"/>
                      <p:cNvPicPr/>
                      <p:nvPr/>
                    </p:nvPicPr>
                    <p:blipFill>
                      <a:blip r:embed="rId9"/>
                      <a:stretch>
                        <a:fillRect/>
                      </a:stretch>
                    </p:blipFill>
                    <p:spPr>
                      <a:xfrm>
                        <a:off x="1828800" y="1219200"/>
                        <a:ext cx="4953000" cy="650875"/>
                      </a:xfrm>
                      <a:prstGeom prst="rect">
                        <a:avLst/>
                      </a:prstGeom>
                    </p:spPr>
                  </p:pic>
                </p:oleObj>
              </mc:Fallback>
            </mc:AlternateContent>
          </a:graphicData>
        </a:graphic>
      </p:graphicFrame>
    </p:spTree>
  </p:cSld>
  <p:clrMapOvr>
    <a:masterClrMapping/>
  </p:clrMapOvr>
  <p:transition/>
  <p:timing/>
</p:sld>
</file>

<file path=ppt/slides/slide5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4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不纯性度量之间的比较</a:t>
            </a:r>
          </a:p>
        </p:txBody>
      </p:sp>
      <p:pic>
        <p:nvPicPr>
          <p:cNvPr id="2742" name=""/>
          <p:cNvPicPr/>
          <p:nvPr/>
        </p:nvPicPr>
        <p:blipFill>
          <a:blip r:embed="rId2"/>
          <a:stretch>
            <a:fillRect/>
          </a:stretch>
        </p:blipFill>
        <p:spPr>
          <a:xfrm>
            <a:off x="1447800" y="1676400"/>
            <a:ext cx="6248400" cy="4686300"/>
          </a:xfrm>
          <a:prstGeom prst="rect">
            <a:avLst/>
          </a:prstGeom>
          <a:noFill/>
          <a:ln w="12700" cap="flat">
            <a:noFill/>
            <a:prstDash val="solid"/>
            <a:miter lim="800000"/>
            <a:headEnd type="none" w="med" len="med"/>
            <a:tailEnd type="none" w="med" len="med"/>
          </a:ln>
        </p:spPr>
      </p:pic>
      <p:sp>
        <p:nvSpPr>
          <p:cNvPr id="2743" name=""/>
          <p:cNvSpPr/>
          <p:nvPr/>
        </p:nvSpPr>
        <p:spPr>
          <a:xfrm>
            <a:off x="381000" y="1219200"/>
            <a:ext cx="4724400" cy="45720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2400" b="1" u="none">
                <a:latin typeface="Arial" pitchFamily="34" charset="0"/>
                <a:ea typeface="宋体" pitchFamily="2" charset="-122"/>
              </a:rPr>
              <a:t>二元分类问题</a:t>
            </a:r>
            <a:r>
              <a:rPr kumimoji="0" lang="en-US" altLang="zh-CN" sz="2400" b="1" u="none">
                <a:latin typeface="Arial" pitchFamily="34" charset="0"/>
                <a:ea typeface="宋体" pitchFamily="2" charset="-122"/>
              </a:rPr>
              <a:t>:</a:t>
            </a:r>
          </a:p>
        </p:txBody>
      </p:sp>
    </p:spTree>
  </p:cSld>
  <p:clrMapOvr>
    <a:masterClrMapping/>
  </p:clrMapOvr>
  <p:transition/>
  <p:timing/>
</p:sld>
</file>

<file path=ppt/slides/slide5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pic>
        <p:nvPicPr>
          <p:cNvPr id="2746" name=""/>
          <p:cNvPicPr/>
          <p:nvPr>
            <p:ph type="body" idx="4294967295"/>
          </p:nvPr>
        </p:nvPicPr>
        <p:blipFill>
          <a:blip r:embed="rId2"/>
          <a:stretch>
            <a:fillRect/>
          </a:stretch>
        </p:blipFill>
        <p:spPr>
          <a:xfrm>
            <a:off x="228600" y="152400"/>
            <a:ext cx="8686800" cy="6172200"/>
          </a:xfrm>
          <a:prstGeom prst="rect">
            <a:avLst/>
          </a:prstGeom>
          <a:noFill/>
          <a:ln w="12700" cap="flat">
            <a:noFill/>
            <a:prstDash val="solid"/>
            <a:miter lim="800000"/>
            <a:headEnd type="none" w="med" len="med"/>
            <a:tailEnd type="none" w="med" len="med"/>
          </a:ln>
        </p:spPr>
      </p:pic>
    </p:spTree>
  </p:cSld>
  <p:clrMapOvr>
    <a:masterClrMapping/>
  </p:clrMapOvr>
  <p:transition/>
  <p:timing/>
</p:sld>
</file>

<file path=ppt/slides/slide5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4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75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Hunt</a:t>
            </a:r>
            <a:r>
              <a:rPr lang="zh-CN" altLang="en-US">
                <a:ea typeface="宋体" pitchFamily="2" charset="-122"/>
              </a:rPr>
              <a:t>算法采用贪心策略构建决策树</a:t>
            </a:r>
            <a:r>
              <a:rPr lang="en-US" altLang="zh-CN">
                <a:ea typeface="宋体" pitchFamily="2" charset="-122"/>
              </a:rPr>
              <a:t>.</a:t>
            </a:r>
          </a:p>
          <a:p>
            <a:pPr lvl="1"/>
            <a:r>
              <a:rPr lang="zh-CN" altLang="en-US">
                <a:ea typeface="宋体" pitchFamily="2" charset="-122"/>
              </a:rPr>
              <a:t>在选择划分数据的属性时，采取一系列局部最优决策来构造决策树</a:t>
            </a:r>
            <a:r>
              <a:rPr lang="en-US" altLang="zh-CN">
                <a:ea typeface="宋体" pitchFamily="2" charset="-122"/>
              </a:rPr>
              <a:t>.</a:t>
            </a:r>
          </a:p>
          <a:p>
            <a:pPr lvl="0"/>
            <a:endParaRPr lang="en-US" altLang="zh-CN">
              <a:ea typeface="宋体" pitchFamily="2" charset="-122"/>
            </a:endParaRPr>
          </a:p>
          <a:p>
            <a:pPr lvl="0"/>
            <a:r>
              <a:rPr lang="zh-CN" altLang="en-US">
                <a:ea typeface="宋体" pitchFamily="2" charset="-122"/>
              </a:rPr>
              <a:t>决策树归纳的设计问题</a:t>
            </a:r>
          </a:p>
          <a:p>
            <a:pPr lvl="1"/>
            <a:r>
              <a:rPr lang="zh-CN" altLang="en-US">
                <a:ea typeface="宋体" pitchFamily="2" charset="-122"/>
              </a:rPr>
              <a:t>如何分裂训练记录</a:t>
            </a:r>
          </a:p>
          <a:p>
            <a:pPr lvl="2"/>
            <a:r>
              <a:rPr lang="zh-CN" altLang="en-US">
                <a:ea typeface="宋体" pitchFamily="2" charset="-122"/>
              </a:rPr>
              <a:t>怎样为不同类型的属性指定测试条件</a:t>
            </a:r>
            <a:r>
              <a:rPr lang="en-US" altLang="zh-CN">
                <a:ea typeface="宋体" pitchFamily="2" charset="-122"/>
              </a:rPr>
              <a:t>?</a:t>
            </a:r>
          </a:p>
          <a:p>
            <a:pPr lvl="2"/>
            <a:r>
              <a:rPr lang="zh-CN" altLang="en-US">
                <a:ea typeface="宋体" pitchFamily="2" charset="-122"/>
              </a:rPr>
              <a:t>怎样评估每种测试条件</a:t>
            </a:r>
            <a:r>
              <a:rPr lang="en-US" altLang="zh-CN">
                <a:ea typeface="宋体" pitchFamily="2" charset="-122"/>
              </a:rPr>
              <a:t>?</a:t>
            </a:r>
          </a:p>
          <a:p>
            <a:pPr lvl="1"/>
            <a:r>
              <a:rPr lang="zh-CN" altLang="en-US">
                <a:solidFill>
                  <a:srgbClr val="FF0000"/>
                </a:solidFill>
                <a:ea typeface="宋体" pitchFamily="2" charset="-122"/>
              </a:rPr>
              <a:t>如何停止分裂过程</a:t>
            </a:r>
          </a:p>
          <a:p>
            <a:pPr lvl="1"/>
            <a:endParaRPr lang="zh-CN" altLang="en-US">
              <a:ea typeface="宋体" pitchFamily="2" charset="-122"/>
            </a:endParaRPr>
          </a:p>
        </p:txBody>
      </p:sp>
    </p:spTree>
  </p:cSld>
  <p:clrMapOvr>
    <a:masterClrMapping/>
  </p:clrMapOvr>
  <p:transition/>
  <p:timing/>
</p:sld>
</file>

<file path=ppt/slides/slide5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5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sz="3600">
                <a:ea typeface="宋体" pitchFamily="2" charset="-122"/>
              </a:rPr>
              <a:t>停止分裂过程</a:t>
            </a:r>
            <a:endParaRPr lang="en-US" altLang="zh-CN" sz="3600">
              <a:ea typeface="宋体" pitchFamily="2" charset="-122"/>
            </a:endParaRPr>
          </a:p>
        </p:txBody>
      </p:sp>
      <p:sp>
        <p:nvSpPr>
          <p:cNvPr id="2754"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当所有的记录属于同一类时，停止分裂</a:t>
            </a:r>
          </a:p>
          <a:p>
            <a:pPr lvl="0"/>
            <a:endParaRPr lang="en-US" altLang="zh-CN">
              <a:ea typeface="宋体" pitchFamily="2" charset="-122"/>
            </a:endParaRPr>
          </a:p>
          <a:p>
            <a:pPr lvl="0"/>
            <a:r>
              <a:rPr lang="zh-CN" altLang="en-US">
                <a:ea typeface="宋体" pitchFamily="2" charset="-122"/>
              </a:rPr>
              <a:t>当所有的记录都有相同的属性时，停止分裂</a:t>
            </a:r>
          </a:p>
          <a:p>
            <a:pPr lvl="0"/>
            <a:endParaRPr lang="en-US" altLang="zh-CN">
              <a:ea typeface="宋体" pitchFamily="2" charset="-122"/>
            </a:endParaRPr>
          </a:p>
          <a:p>
            <a:pPr lvl="0"/>
            <a:r>
              <a:rPr lang="zh-CN" altLang="en-US">
                <a:ea typeface="宋体" pitchFamily="2" charset="-122"/>
              </a:rPr>
              <a:t>提前终止树的生长</a:t>
            </a:r>
            <a:endParaRPr lang="en-US" altLang="zh-CN">
              <a:ea typeface="宋体" pitchFamily="2" charset="-122"/>
            </a:endParaRPr>
          </a:p>
        </p:txBody>
      </p:sp>
    </p:spTree>
  </p:cSld>
  <p:clrMapOvr>
    <a:masterClrMapping/>
  </p:clrMapOvr>
  <p:transition/>
  <p:timing/>
</p:sld>
</file>

<file path=ppt/slides/slide5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5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758"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ea typeface="宋体" pitchFamily="2" charset="-122"/>
            </a:endParaRPr>
          </a:p>
        </p:txBody>
      </p:sp>
      <p:pic>
        <p:nvPicPr>
          <p:cNvPr id="2759" name=""/>
          <p:cNvPicPr/>
          <p:nvPr/>
        </p:nvPicPr>
        <p:blipFill>
          <a:blip r:embed="rId2"/>
          <a:stretch>
            <a:fillRect/>
          </a:stretch>
        </p:blipFill>
        <p:spPr>
          <a:xfrm>
            <a:off x="685800" y="1447800"/>
            <a:ext cx="7848600" cy="4876800"/>
          </a:xfrm>
          <a:prstGeom prst="rect">
            <a:avLst/>
          </a:prstGeom>
          <a:noFill/>
          <a:ln cap="flat">
            <a:noFill/>
            <a:prstDash val="solid"/>
            <a:miter lim="800000"/>
            <a:headEnd type="none" w="med" len="med"/>
            <a:tailEnd type="none" w="med" len="med"/>
          </a:ln>
        </p:spPr>
      </p:pic>
    </p:spTree>
  </p:cSld>
  <p:clrMapOvr>
    <a:masterClrMapping/>
  </p:clrMapOvr>
  <p:transition/>
  <p:timing/>
</p:sld>
</file>

<file path=ppt/slides/slide5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62"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三种著名的决策树</a:t>
            </a:r>
          </a:p>
        </p:txBody>
      </p:sp>
      <p:sp>
        <p:nvSpPr>
          <p:cNvPr id="2763"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Cart</a:t>
            </a:r>
            <a:r>
              <a:rPr lang="zh-CN" altLang="en-US">
                <a:ea typeface="宋体" pitchFamily="2" charset="-122"/>
              </a:rPr>
              <a:t>：基本的决策树算法</a:t>
            </a:r>
          </a:p>
          <a:p>
            <a:pPr lvl="0"/>
            <a:r>
              <a:rPr lang="en-US" altLang="zh-CN">
                <a:ea typeface="宋体" pitchFamily="2" charset="-122"/>
              </a:rPr>
              <a:t>Id3</a:t>
            </a:r>
            <a:r>
              <a:rPr lang="zh-CN" altLang="en-US">
                <a:ea typeface="宋体" pitchFamily="2" charset="-122"/>
              </a:rPr>
              <a:t>：利用增益比不纯性，树采用二叉树，停止准则为当所有的记录属于同一类时，停止分裂，或当所有的记录都有相同的属性时，停止分裂</a:t>
            </a:r>
          </a:p>
          <a:p>
            <a:pPr lvl="0"/>
            <a:r>
              <a:rPr lang="en-US" altLang="zh-CN">
                <a:ea typeface="宋体" pitchFamily="2" charset="-122"/>
              </a:rPr>
              <a:t>C4.5</a:t>
            </a:r>
            <a:r>
              <a:rPr lang="zh-CN" altLang="en-US">
                <a:ea typeface="宋体" pitchFamily="2" charset="-122"/>
              </a:rPr>
              <a:t>：</a:t>
            </a:r>
            <a:r>
              <a:rPr lang="en-US" altLang="zh-CN">
                <a:ea typeface="宋体" pitchFamily="2" charset="-122"/>
              </a:rPr>
              <a:t>id3</a:t>
            </a:r>
            <a:r>
              <a:rPr lang="zh-CN" altLang="en-US">
                <a:ea typeface="宋体" pitchFamily="2" charset="-122"/>
              </a:rPr>
              <a:t>的改进版本，也是最流行的分类数算法。采用多重分支和剪枝技术。</a:t>
            </a:r>
          </a:p>
          <a:p>
            <a:pPr lvl="0"/>
            <a:endParaRPr lang="zh-CN" altLang="en-US">
              <a:ea typeface="宋体" pitchFamily="2" charset="-122"/>
            </a:endParaRPr>
          </a:p>
          <a:p>
            <a:pPr lvl="0"/>
            <a:endParaRPr lang="en-US" altLang="zh-CN" sz="2400">
              <a:ea typeface="宋体" pitchFamily="2" charset="-122"/>
            </a:endParaRPr>
          </a:p>
        </p:txBody>
      </p:sp>
    </p:spTree>
  </p:cSld>
  <p:clrMapOvr>
    <a:masterClrMapping/>
  </p:clrMapOvr>
  <p:transition/>
  <p:timing/>
</p:sld>
</file>

<file path=ppt/slides/slide5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66"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决策树</a:t>
            </a:r>
          </a:p>
        </p:txBody>
      </p:sp>
      <p:sp>
        <p:nvSpPr>
          <p:cNvPr id="2767"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400">
                <a:ea typeface="宋体" pitchFamily="2" charset="-122"/>
              </a:rPr>
              <a:t>特点</a:t>
            </a:r>
            <a:r>
              <a:rPr lang="en-US" altLang="zh-CN" sz="2400">
                <a:ea typeface="宋体" pitchFamily="2" charset="-122"/>
              </a:rPr>
              <a:t>:</a:t>
            </a:r>
          </a:p>
          <a:p>
            <a:pPr lvl="1"/>
            <a:r>
              <a:rPr lang="zh-CN" altLang="en-US" sz="2400">
                <a:ea typeface="宋体" pitchFamily="2" charset="-122"/>
              </a:rPr>
              <a:t>决策树是一种构建分类模型的非参数方法</a:t>
            </a:r>
          </a:p>
          <a:p>
            <a:pPr lvl="1"/>
            <a:r>
              <a:rPr lang="zh-CN" altLang="en-US" sz="2400">
                <a:ea typeface="宋体" pitchFamily="2" charset="-122"/>
              </a:rPr>
              <a:t>不需要昂贵的的计算代价</a:t>
            </a:r>
          </a:p>
          <a:p>
            <a:pPr lvl="1"/>
            <a:r>
              <a:rPr lang="zh-CN" altLang="en-US" sz="2400">
                <a:ea typeface="宋体" pitchFamily="2" charset="-122"/>
              </a:rPr>
              <a:t>决策树相对容易解释</a:t>
            </a:r>
          </a:p>
          <a:p>
            <a:pPr lvl="1"/>
            <a:r>
              <a:rPr lang="zh-CN" altLang="en-US" sz="2400">
                <a:ea typeface="宋体" pitchFamily="2" charset="-122"/>
              </a:rPr>
              <a:t>决策树是学习离散值函数的典型代表</a:t>
            </a:r>
          </a:p>
          <a:p>
            <a:pPr lvl="1"/>
            <a:r>
              <a:rPr lang="zh-CN" altLang="en-US" sz="2400">
                <a:ea typeface="宋体" pitchFamily="2" charset="-122"/>
              </a:rPr>
              <a:t>决策数对于噪声的干扰具有相当好的鲁棒性</a:t>
            </a:r>
          </a:p>
          <a:p>
            <a:pPr lvl="1"/>
            <a:r>
              <a:rPr lang="zh-CN" altLang="en-US" sz="2400">
                <a:ea typeface="宋体" pitchFamily="2" charset="-122"/>
              </a:rPr>
              <a:t>冗余属性不会对决策树的准确率造成不利影响</a:t>
            </a:r>
          </a:p>
          <a:p>
            <a:pPr lvl="1"/>
            <a:r>
              <a:rPr lang="zh-CN" altLang="en-US" sz="2400">
                <a:ea typeface="宋体" pitchFamily="2" charset="-122"/>
              </a:rPr>
              <a:t>数据碎片问题。随着数的生长，可能导致叶结点记录数太少，对于叶结点代表的类，不能做出具有统计意义的判决</a:t>
            </a:r>
          </a:p>
          <a:p>
            <a:pPr lvl="1"/>
            <a:r>
              <a:rPr lang="zh-CN" altLang="en-US" sz="2400">
                <a:ea typeface="宋体" pitchFamily="2" charset="-122"/>
              </a:rPr>
              <a:t>子树可能在决策树中重复多次。使决策树过于复杂</a:t>
            </a:r>
          </a:p>
          <a:p>
            <a:pPr lvl="1"/>
            <a:endParaRPr lang="zh-CN" altLang="en-US" sz="2400">
              <a:ea typeface="宋体" pitchFamily="2" charset="-122"/>
            </a:endParaRPr>
          </a:p>
        </p:txBody>
      </p:sp>
    </p:spTree>
  </p:cSld>
  <p:clrMapOvr>
    <a:masterClrMapping/>
  </p:clrMapOvr>
  <p:transition/>
  <p:timing/>
</p:sld>
</file>

<file path=ppt/slides/slide6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7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子树重复问题</a:t>
            </a:r>
          </a:p>
        </p:txBody>
      </p:sp>
      <p:graphicFrame>
        <p:nvGraphicFramePr>
          <p:cNvPr id="2771" name=""/>
          <p:cNvGraphicFramePr>
            <a:graphicFrameLocks noChangeAspect="1"/>
          </p:cNvGraphicFramePr>
          <p:nvPr/>
        </p:nvGraphicFramePr>
        <p:xfrm>
          <a:off x="914400" y="1128712"/>
          <a:ext cx="5867400" cy="4319588"/>
        </p:xfrm>
        <a:graphic>
          <a:graphicData uri="http://schemas.openxmlformats.org/presentationml/2006/ole">
            <mc:AlternateContent xmlns:mc="http://schemas.openxmlformats.org/markup-compatibility/2006">
              <mc:Choice xmlns:v="urn:schemas-microsoft-com:vml" Requires="v">
                <p:oleObj spid="_x0000_s1106"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914400" y="1128712"/>
                        <a:ext cx="5867400" cy="4319588"/>
                      </a:xfrm>
                      <a:prstGeom prst="rect">
                        <a:avLst/>
                      </a:prstGeom>
                    </p:spPr>
                  </p:pic>
                </p:oleObj>
              </mc:Fallback>
            </mc:AlternateContent>
          </a:graphicData>
        </a:graphic>
      </p:graphicFrame>
      <p:sp>
        <p:nvSpPr>
          <p:cNvPr id="2772" name=""/>
          <p:cNvSpPr/>
          <p:nvPr/>
        </p:nvSpPr>
        <p:spPr>
          <a:xfrm>
            <a:off x="533400" y="5805488"/>
            <a:ext cx="80010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buChar char="•"/>
            </a:pPr>
            <a:r>
              <a:rPr kumimoji="0" lang="zh-CN" altLang="en-US" sz="1800" b="1" u="none">
                <a:latin typeface="Arial" pitchFamily="34" charset="0"/>
                <a:ea typeface="宋体" pitchFamily="2" charset="-122"/>
              </a:rPr>
              <a:t> </a:t>
            </a:r>
            <a:r>
              <a:rPr kumimoji="0" lang="en-US" altLang="zh-CN" sz="1800" b="1" u="none">
                <a:latin typeface="Arial" pitchFamily="34" charset="0"/>
                <a:ea typeface="宋体" pitchFamily="2" charset="-122"/>
              </a:rPr>
              <a:t>Same subtree appears in multiple branches</a:t>
            </a:r>
          </a:p>
        </p:txBody>
      </p:sp>
    </p:spTree>
  </p:cSld>
  <p:clrMapOvr>
    <a:masterClrMapping/>
  </p:clrMapOvr>
  <p:transition/>
  <p:timing/>
</p:sld>
</file>

<file path=ppt/slides/slide6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7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决策边界</a:t>
            </a:r>
          </a:p>
        </p:txBody>
      </p:sp>
      <p:graphicFrame>
        <p:nvGraphicFramePr>
          <p:cNvPr id="2776" name=""/>
          <p:cNvGraphicFramePr>
            <a:graphicFrameLocks noChangeAspect="1"/>
          </p:cNvGraphicFramePr>
          <p:nvPr>
            <p:ph idx="4294967295"/>
          </p:nvPr>
        </p:nvGraphicFramePr>
        <p:xfrm>
          <a:off x="457200" y="1143000"/>
          <a:ext cx="8318500" cy="3573462"/>
        </p:xfrm>
        <a:graphic>
          <a:graphicData uri="http://schemas.openxmlformats.org/presentationml/2006/ole">
            <mc:AlternateContent xmlns:mc="http://schemas.openxmlformats.org/markup-compatibility/2006">
              <mc:Choice xmlns:v="urn:schemas-microsoft-com:vml" Requires="v">
                <p:oleObj spid="_x0000_s1107"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457200" y="1143000"/>
                        <a:ext cx="8318500" cy="3573462"/>
                      </a:xfrm>
                      <a:prstGeom prst="rect">
                        <a:avLst/>
                      </a:prstGeom>
                    </p:spPr>
                  </p:pic>
                </p:oleObj>
              </mc:Fallback>
            </mc:AlternateContent>
          </a:graphicData>
        </a:graphic>
      </p:graphicFrame>
      <p:sp>
        <p:nvSpPr>
          <p:cNvPr id="2777" name=""/>
          <p:cNvSpPr/>
          <p:nvPr/>
        </p:nvSpPr>
        <p:spPr>
          <a:xfrm>
            <a:off x="533400" y="4876800"/>
            <a:ext cx="80010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buChar char="•"/>
            </a:pPr>
            <a:r>
              <a:rPr kumimoji="0" lang="zh-CN" altLang="en-US" sz="1800" b="1" u="none">
                <a:latin typeface="Arial" pitchFamily="34" charset="0"/>
                <a:ea typeface="宋体" pitchFamily="2" charset="-122"/>
              </a:rPr>
              <a:t> </a:t>
            </a:r>
          </a:p>
        </p:txBody>
      </p:sp>
    </p:spTree>
  </p:cSld>
  <p:clrMapOvr>
    <a:masterClrMapping/>
  </p:clrMapOvr>
  <p:transition/>
  <p:timing/>
</p:sld>
</file>

<file path=ppt/slides/slide6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8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斜决策树</a:t>
            </a:r>
          </a:p>
        </p:txBody>
      </p:sp>
      <p:pic>
        <p:nvPicPr>
          <p:cNvPr id="2781" name=""/>
          <p:cNvPicPr/>
          <p:nvPr/>
        </p:nvPicPr>
        <p:blipFill>
          <a:blip r:embed="rId2"/>
          <a:srcRect l="7352" t="6653" r="7352" b="5881"/>
          <a:stretch>
            <a:fillRect/>
          </a:stretch>
        </p:blipFill>
        <p:spPr>
          <a:xfrm>
            <a:off x="228600" y="1219200"/>
            <a:ext cx="4953000" cy="3810000"/>
          </a:xfrm>
          <a:prstGeom prst="rect">
            <a:avLst/>
          </a:prstGeom>
          <a:noFill/>
          <a:ln w="12700" cap="flat">
            <a:noFill/>
            <a:prstDash val="solid"/>
            <a:miter lim="800000"/>
            <a:headEnd type="none" w="med" len="med"/>
            <a:tailEnd type="none" w="med" len="med"/>
          </a:ln>
        </p:spPr>
      </p:pic>
      <p:grpSp>
        <p:nvGrpSpPr>
          <p:cNvPr id="2782" name=""/>
          <p:cNvGrpSpPr/>
          <p:nvPr/>
        </p:nvGrpSpPr>
        <p:grpSpPr>
          <a:xfrm>
            <a:off x="5638800" y="1981200"/>
            <a:ext cx="3200400" cy="2286000"/>
            <a:chOff x="3552" y="1248"/>
            <a:chExt cx="2016" cy="1440"/>
          </a:xfrm>
        </p:grpSpPr>
        <p:sp>
          <p:nvSpPr>
            <p:cNvPr id="2783" name=""/>
            <p:cNvSpPr/>
            <p:nvPr/>
          </p:nvSpPr>
          <p:spPr>
            <a:xfrm>
              <a:off x="4080" y="1248"/>
              <a:ext cx="1008" cy="480"/>
            </a:xfrm>
            <a:prstGeom prst="ellipse">
              <a:avLst/>
            </a:prstGeom>
            <a:noFill/>
            <a:ln w="38100" cap="flat">
              <a:solidFill>
                <a:srgbClr val="FF0000"/>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2000" b="1" u="none">
                  <a:latin typeface="Arial" pitchFamily="34" charset="0"/>
                  <a:ea typeface="宋体" pitchFamily="2" charset="-122"/>
                </a:rPr>
                <a:t>x + y &lt; 1</a:t>
              </a:r>
            </a:p>
          </p:txBody>
        </p:sp>
        <p:cxnSp>
          <p:nvCxnSpPr>
            <p:cNvPr id="2784" name=""/>
            <p:cNvCxnSpPr/>
            <p:nvPr/>
          </p:nvCxnSpPr>
          <p:spPr>
            <a:xfrm flipH="1">
              <a:off x="4032" y="1728"/>
              <a:ext cx="528" cy="480"/>
            </a:xfrm>
            <a:prstGeom prst="line">
              <a:avLst/>
            </a:prstGeom>
            <a:noFill/>
            <a:ln w="12700" cap="flat">
              <a:solidFill>
                <a:srgbClr val="000000"/>
              </a:solidFill>
              <a:prstDash val="solid"/>
              <a:miter lim="800000"/>
              <a:headEnd type="none" w="med" len="med"/>
              <a:tailEnd type="triangle" w="med" len="med"/>
            </a:ln>
          </p:spPr>
        </p:cxnSp>
        <p:cxnSp>
          <p:nvCxnSpPr>
            <p:cNvPr id="2785" name=""/>
            <p:cNvCxnSpPr/>
            <p:nvPr/>
          </p:nvCxnSpPr>
          <p:spPr>
            <a:xfrm>
              <a:off x="4560" y="1728"/>
              <a:ext cx="624" cy="432"/>
            </a:xfrm>
            <a:prstGeom prst="line">
              <a:avLst/>
            </a:prstGeom>
            <a:noFill/>
            <a:ln w="12700" cap="flat">
              <a:solidFill>
                <a:srgbClr val="000000"/>
              </a:solidFill>
              <a:prstDash val="solid"/>
              <a:miter lim="800000"/>
              <a:headEnd type="none" w="med" len="med"/>
              <a:tailEnd type="triangle" w="med" len="med"/>
            </a:ln>
          </p:spPr>
        </p:cxnSp>
        <p:sp>
          <p:nvSpPr>
            <p:cNvPr id="2786" name=""/>
            <p:cNvSpPr/>
            <p:nvPr/>
          </p:nvSpPr>
          <p:spPr>
            <a:xfrm>
              <a:off x="3552" y="2208"/>
              <a:ext cx="816" cy="480"/>
            </a:xfrm>
            <a:prstGeom prst="rect">
              <a:avLst/>
            </a:prstGeom>
            <a:noFill/>
            <a:ln w="25400" cap="flat">
              <a:solidFill>
                <a:srgbClr val="1C5A61"/>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Arial" pitchFamily="34" charset="0"/>
                  <a:ea typeface="宋体" pitchFamily="2" charset="-122"/>
                </a:rPr>
                <a:t>Class = </a:t>
              </a:r>
              <a:r>
                <a:rPr kumimoji="0" lang="en-US" altLang="zh-CN" sz="2400" b="1" u="none">
                  <a:solidFill>
                    <a:srgbClr val="FF0000"/>
                  </a:solidFill>
                  <a:latin typeface="Arial" pitchFamily="34" charset="0"/>
                  <a:ea typeface="宋体" pitchFamily="2" charset="-122"/>
                </a:rPr>
                <a:t>+</a:t>
              </a:r>
              <a:r>
                <a:rPr kumimoji="0" lang="en-US" altLang="zh-CN" sz="1800" b="1" u="none">
                  <a:latin typeface="Arial" pitchFamily="34" charset="0"/>
                  <a:ea typeface="宋体" pitchFamily="2" charset="-122"/>
                </a:rPr>
                <a:t> </a:t>
              </a:r>
            </a:p>
          </p:txBody>
        </p:sp>
        <p:sp>
          <p:nvSpPr>
            <p:cNvPr id="2787" name=""/>
            <p:cNvSpPr/>
            <p:nvPr/>
          </p:nvSpPr>
          <p:spPr>
            <a:xfrm>
              <a:off x="4752" y="2208"/>
              <a:ext cx="816" cy="480"/>
            </a:xfrm>
            <a:prstGeom prst="rect">
              <a:avLst/>
            </a:prstGeom>
            <a:noFill/>
            <a:ln w="25400" cap="flat">
              <a:solidFill>
                <a:srgbClr val="1C5A61"/>
              </a:solidFill>
              <a:prstDash val="solid"/>
              <a:miter lim="800000"/>
              <a:headEnd type="none" w="med" len="med"/>
              <a:tailEnd type="none" w="med" len="med"/>
            </a:ln>
          </p:spPr>
          <p:txBody>
            <a:bodyPr wrap="none" anchor="ctr" anchorCtr="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algn="ctr" eaLnBrk="0" fontAlgn="base" hangingPunct="0">
                <a:lnSpc>
                  <a:spcPct val="100000"/>
                </a:lnSpc>
                <a:spcBef>
                  <a:spcPct val="0"/>
                </a:spcBef>
                <a:spcAft>
                  <a:spcPct val="0"/>
                </a:spcAft>
                <a:buClrTx/>
                <a:buSzTx/>
              </a:pPr>
              <a:r>
                <a:rPr kumimoji="0" lang="en-US" altLang="zh-CN" sz="1800" b="1" u="none">
                  <a:latin typeface="Arial" pitchFamily="34" charset="0"/>
                  <a:ea typeface="宋体" pitchFamily="2" charset="-122"/>
                </a:rPr>
                <a:t>Class =     </a:t>
              </a:r>
            </a:p>
          </p:txBody>
        </p:sp>
        <p:sp>
          <p:nvSpPr>
            <p:cNvPr id="2788" name=""/>
            <p:cNvSpPr/>
            <p:nvPr/>
          </p:nvSpPr>
          <p:spPr>
            <a:xfrm>
              <a:off x="5376" y="2400"/>
              <a:ext cx="96" cy="96"/>
            </a:xfrm>
            <a:prstGeom prst="ellipse">
              <a:avLst/>
            </a:prstGeom>
            <a:solidFill>
              <a:srgbClr val="0000FF"/>
            </a:solidFill>
            <a:ln w="12700" cap="flat">
              <a:solidFill>
                <a:srgbClr val="000000"/>
              </a:solid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0"/>
                </a:spcBef>
                <a:spcAft>
                  <a:spcPct val="0"/>
                </a:spcAft>
                <a:buClrTx/>
                <a:buSzTx/>
              </a:pPr>
              <a:endParaRPr kumimoji="0" sz="2400" u="none">
                <a:latin typeface="Times New Roman" pitchFamily="18" charset="0"/>
                <a:ea typeface="Arial"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additive="base">
                                        <p:cTn id="6" dur="1" fill="hold">
                                          <p:stCondLst>
                                            <p:cond delay="499"/>
                                          </p:stCondLst>
                                        </p:cTn>
                                        <p:tgtEl>
                                          <p:spTgt spid="27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9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模型过分拟合和拟合不足</a:t>
            </a:r>
          </a:p>
        </p:txBody>
      </p:sp>
      <p:sp>
        <p:nvSpPr>
          <p:cNvPr id="2792"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分类模型的误差大致分为两种：</a:t>
            </a:r>
            <a:endParaRPr lang="en-US" altLang="zh-CN">
              <a:ea typeface="宋体" pitchFamily="2" charset="-122"/>
            </a:endParaRPr>
          </a:p>
          <a:p>
            <a:pPr lvl="1"/>
            <a:r>
              <a:rPr lang="zh-CN" altLang="en-US">
                <a:ea typeface="宋体" pitchFamily="2" charset="-122"/>
              </a:rPr>
              <a:t>训练误差：是在训练记录上误分类样本比例</a:t>
            </a:r>
          </a:p>
          <a:p>
            <a:pPr lvl="1"/>
            <a:r>
              <a:rPr lang="zh-CN" altLang="en-US">
                <a:ea typeface="宋体" pitchFamily="2" charset="-122"/>
              </a:rPr>
              <a:t>泛化误差：是模型在未知记录上的期望误差</a:t>
            </a:r>
          </a:p>
          <a:p>
            <a:pPr lvl="0"/>
            <a:r>
              <a:rPr lang="zh-CN" altLang="en-US">
                <a:ea typeface="宋体" pitchFamily="2" charset="-122"/>
              </a:rPr>
              <a:t>一个好的分类模型不仅要能够很好的拟合训练数据，而且对未知样本也要能准确分类。</a:t>
            </a:r>
          </a:p>
          <a:p>
            <a:pPr lvl="0"/>
            <a:r>
              <a:rPr lang="zh-CN" altLang="en-US">
                <a:ea typeface="宋体" pitchFamily="2" charset="-122"/>
              </a:rPr>
              <a:t>换句话说，一个好的分类模型必须具有低训练误差和低泛化误差。</a:t>
            </a:r>
          </a:p>
          <a:p>
            <a:pPr lvl="0"/>
            <a:r>
              <a:rPr lang="zh-CN" altLang="en-US">
                <a:ea typeface="宋体" pitchFamily="2" charset="-122"/>
              </a:rPr>
              <a:t>当训练数据拟合太好的模型，其泛化误差可能比具有较高训练误差的模型高，这种情况成为模型</a:t>
            </a:r>
            <a:r>
              <a:rPr lang="zh-CN" altLang="en-US">
                <a:solidFill>
                  <a:srgbClr val="FF0000"/>
                </a:solidFill>
                <a:ea typeface="宋体" pitchFamily="2" charset="-122"/>
              </a:rPr>
              <a:t>过分拟合</a:t>
            </a:r>
          </a:p>
        </p:txBody>
      </p:sp>
    </p:spTree>
  </p:cSld>
  <p:clrMapOvr>
    <a:masterClrMapping/>
  </p:clrMapOvr>
  <p:transition/>
  <p:timing/>
</p:sld>
</file>

<file path=ppt/slides/slide6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9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模型过分拟合和拟合不足</a:t>
            </a:r>
          </a:p>
        </p:txBody>
      </p:sp>
      <p:sp>
        <p:nvSpPr>
          <p:cNvPr id="2796"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当决策树很小时，训练和检验误差都很大，这种情况称为</a:t>
            </a:r>
            <a:r>
              <a:rPr lang="zh-CN" altLang="en-US">
                <a:solidFill>
                  <a:srgbClr val="FF0000"/>
                </a:solidFill>
                <a:ea typeface="宋体" pitchFamily="2" charset="-122"/>
              </a:rPr>
              <a:t>模型拟合不足</a:t>
            </a:r>
            <a:r>
              <a:rPr lang="zh-CN" altLang="en-US">
                <a:ea typeface="宋体" pitchFamily="2" charset="-122"/>
              </a:rPr>
              <a:t>。出现拟合不足的原因是模型尚未学习到数据的真实结构。</a:t>
            </a:r>
          </a:p>
          <a:p>
            <a:pPr lvl="0"/>
            <a:r>
              <a:rPr lang="zh-CN" altLang="en-US">
                <a:ea typeface="宋体" pitchFamily="2" charset="-122"/>
              </a:rPr>
              <a:t>随着决策树中结点数的增加，模型的训练误差和检验误差都会随之下降。</a:t>
            </a:r>
          </a:p>
          <a:p>
            <a:pPr lvl="0"/>
            <a:r>
              <a:rPr lang="zh-CN" altLang="en-US">
                <a:ea typeface="宋体" pitchFamily="2" charset="-122"/>
              </a:rPr>
              <a:t>当树的规模变得太大时，即使训练误差还在继续降低，但是检验误差开始增大，导致</a:t>
            </a:r>
            <a:r>
              <a:rPr lang="zh-CN" altLang="en-US">
                <a:solidFill>
                  <a:srgbClr val="FF0000"/>
                </a:solidFill>
                <a:ea typeface="宋体" pitchFamily="2" charset="-122"/>
              </a:rPr>
              <a:t>模型过分拟合</a:t>
            </a:r>
          </a:p>
        </p:txBody>
      </p:sp>
    </p:spTree>
  </p:cSld>
  <p:clrMapOvr>
    <a:masterClrMapping/>
  </p:clrMapOvr>
  <p:transition/>
  <p:timing/>
</p:sld>
</file>

<file path=ppt/slides/slide6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79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模型模型过分拟合和拟合不足</a:t>
            </a:r>
            <a:endParaRPr lang="en-US" altLang="zh-CN">
              <a:ea typeface="宋体" pitchFamily="2" charset="-122"/>
            </a:endParaRPr>
          </a:p>
        </p:txBody>
      </p:sp>
      <p:pic>
        <p:nvPicPr>
          <p:cNvPr id="2800" name=""/>
          <p:cNvPicPr/>
          <p:nvPr/>
        </p:nvPicPr>
        <p:blipFill>
          <a:blip r:embed="rId2"/>
          <a:stretch>
            <a:fillRect/>
          </a:stretch>
        </p:blipFill>
        <p:spPr>
          <a:xfrm>
            <a:off x="609600" y="1066800"/>
            <a:ext cx="6096000" cy="4572000"/>
          </a:xfrm>
          <a:prstGeom prst="rect">
            <a:avLst/>
          </a:prstGeom>
          <a:noFill/>
          <a:ln w="12700" cap="flat">
            <a:noFill/>
            <a:prstDash val="solid"/>
            <a:miter lim="800000"/>
            <a:headEnd type="none" w="med" len="med"/>
            <a:tailEnd type="none" w="med" len="med"/>
          </a:ln>
        </p:spPr>
      </p:pic>
      <p:cxnSp>
        <p:nvCxnSpPr>
          <p:cNvPr id="2801" name=""/>
          <p:cNvCxnSpPr/>
          <p:nvPr/>
        </p:nvCxnSpPr>
        <p:spPr>
          <a:xfrm flipH="1">
            <a:off x="4267200" y="1219200"/>
            <a:ext cx="0" cy="4114800"/>
          </a:xfrm>
          <a:prstGeom prst="line">
            <a:avLst/>
          </a:prstGeom>
          <a:noFill/>
          <a:ln w="25400" cap="flat">
            <a:solidFill>
              <a:srgbClr val="800000"/>
            </a:solidFill>
            <a:prstDash val="dash"/>
            <a:miter lim="800000"/>
            <a:headEnd type="none" w="med" len="med"/>
            <a:tailEnd type="none" w="med" len="med"/>
          </a:ln>
        </p:spPr>
      </p:cxnSp>
      <p:sp>
        <p:nvSpPr>
          <p:cNvPr id="2802" name=""/>
          <p:cNvSpPr/>
          <p:nvPr/>
        </p:nvSpPr>
        <p:spPr>
          <a:xfrm>
            <a:off x="4343400" y="1447800"/>
            <a:ext cx="16002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过分拟合</a:t>
            </a:r>
          </a:p>
        </p:txBody>
      </p:sp>
    </p:spTree>
  </p:cSld>
  <p:clrMapOvr>
    <a:masterClrMapping/>
  </p:clrMapOvr>
  <p:transition/>
  <p:timing/>
</p:sld>
</file>

<file path=ppt/slides/slide6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pic>
        <p:nvPicPr>
          <p:cNvPr id="2805" name=""/>
          <p:cNvPicPr/>
          <p:nvPr/>
        </p:nvPicPr>
        <p:blipFill>
          <a:blip r:embed="rId2"/>
          <a:stretch>
            <a:fillRect/>
          </a:stretch>
        </p:blipFill>
        <p:spPr>
          <a:xfrm>
            <a:off x="0" y="1219200"/>
            <a:ext cx="5715000" cy="2630488"/>
          </a:xfrm>
          <a:prstGeom prst="rect">
            <a:avLst/>
          </a:prstGeom>
          <a:noFill/>
          <a:ln cap="flat">
            <a:noFill/>
            <a:prstDash val="solid"/>
            <a:miter lim="800000"/>
            <a:headEnd type="none" w="med" len="med"/>
            <a:tailEnd type="none" w="med" len="med"/>
          </a:ln>
        </p:spPr>
      </p:pic>
      <p:pic>
        <p:nvPicPr>
          <p:cNvPr id="2806" name=""/>
          <p:cNvPicPr/>
          <p:nvPr/>
        </p:nvPicPr>
        <p:blipFill>
          <a:blip r:embed="rId3"/>
          <a:stretch>
            <a:fillRect/>
          </a:stretch>
        </p:blipFill>
        <p:spPr>
          <a:xfrm>
            <a:off x="304800" y="3733800"/>
            <a:ext cx="5334000" cy="2590800"/>
          </a:xfrm>
          <a:prstGeom prst="rect">
            <a:avLst/>
          </a:prstGeom>
          <a:noFill/>
          <a:ln cap="flat">
            <a:noFill/>
            <a:prstDash val="solid"/>
            <a:miter lim="800000"/>
            <a:headEnd type="none" w="med" len="med"/>
            <a:tailEnd type="none" w="med" len="med"/>
          </a:ln>
        </p:spPr>
      </p:pic>
      <p:pic>
        <p:nvPicPr>
          <p:cNvPr id="2807" name=""/>
          <p:cNvPicPr/>
          <p:nvPr/>
        </p:nvPicPr>
        <p:blipFill>
          <a:blip r:embed="rId4"/>
          <a:stretch>
            <a:fillRect/>
          </a:stretch>
        </p:blipFill>
        <p:spPr>
          <a:xfrm>
            <a:off x="5562600" y="1828800"/>
            <a:ext cx="3581400" cy="3886200"/>
          </a:xfrm>
          <a:prstGeom prst="rect">
            <a:avLst/>
          </a:prstGeom>
          <a:noFill/>
          <a:ln cap="flat">
            <a:noFill/>
            <a:prstDash val="solid"/>
            <a:miter lim="800000"/>
            <a:headEnd type="none" w="med" len="med"/>
            <a:tailEnd type="none" w="med" len="med"/>
          </a:ln>
        </p:spPr>
      </p:pic>
      <p:sp>
        <p:nvSpPr>
          <p:cNvPr id="2808"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rot="0" vert="horz" wrap="square" lIns="90488" tIns="44450" rIns="90488" bIns="44450"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导致过分拟合的原因</a:t>
            </a:r>
          </a:p>
        </p:txBody>
      </p:sp>
    </p:spTree>
  </p:cSld>
  <p:clrMapOvr>
    <a:masterClrMapping/>
  </p:clrMapOvr>
  <p:transition/>
  <p:timing/>
</p:sld>
</file>

<file path=ppt/slides/slide6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1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导致过分拟合的原因</a:t>
            </a:r>
          </a:p>
        </p:txBody>
      </p:sp>
      <p:sp>
        <p:nvSpPr>
          <p:cNvPr id="2812" name=""/>
          <p:cNvSpPr/>
          <p:nvPr>
            <p:ph type="body" sz="half" idx="4294967295"/>
          </p:nvPr>
        </p:nvSpPr>
        <p:spPr>
          <a:xfrm>
            <a:off x="411162" y="1143000"/>
            <a:ext cx="8428038" cy="5181600"/>
          </a:xfrm>
          <a:prstGeom prst="rect">
            <a:avLst/>
          </a:prstGeom>
          <a:noFill/>
          <a:ln w="12700" cap="flat">
            <a:noFill/>
            <a:prstDash val="solid"/>
            <a:miter lim="800000"/>
            <a:headEnd type="none" w="med" len="med"/>
            <a:tailEnd type="none" w="med" len="med"/>
          </a:ln>
        </p:spPr>
        <p:txBody>
          <a:bodyPr/>
          <a:lstStyle>
            <a:lvl1pPr marL="292100" indent="-2921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800100" indent="-342900" algn="l"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292100" lvl="0" indent="-292100" defTabSz="914400"/>
            <a:r>
              <a:rPr lang="zh-CN" altLang="en-US">
                <a:ea typeface="宋体" pitchFamily="2" charset="-122"/>
              </a:rPr>
              <a:t>噪声导致的过分拟合</a:t>
            </a:r>
            <a:endParaRPr lang="en-US" altLang="zh-CN">
              <a:ea typeface="宋体" pitchFamily="2" charset="-122"/>
            </a:endParaRPr>
          </a:p>
          <a:p>
            <a:pPr marL="800100" lvl="1" indent="-342900" defTabSz="914400"/>
            <a:r>
              <a:rPr lang="zh-CN" altLang="en-US">
                <a:ea typeface="宋体" pitchFamily="2" charset="-122"/>
              </a:rPr>
              <a:t>例子：哺乳动物的分类问题</a:t>
            </a:r>
          </a:p>
          <a:p>
            <a:pPr marL="800100" lvl="1" indent="-342900" defTabSz="914400"/>
            <a:r>
              <a:rPr lang="zh-CN" altLang="en-US">
                <a:ea typeface="宋体" pitchFamily="2" charset="-122"/>
              </a:rPr>
              <a:t>十个训练记录中有两个被错误标记：蝙蝠和鲸</a:t>
            </a:r>
          </a:p>
          <a:p>
            <a:pPr marL="800100" lvl="1" indent="-342900" defTabSz="914400"/>
            <a:r>
              <a:rPr lang="zh-CN" altLang="en-US">
                <a:ea typeface="宋体" pitchFamily="2" charset="-122"/>
              </a:rPr>
              <a:t>如果完全拟合训练数据，决策树</a:t>
            </a:r>
            <a:r>
              <a:rPr lang="en-US" altLang="zh-CN">
                <a:ea typeface="宋体" pitchFamily="2" charset="-122"/>
              </a:rPr>
              <a:t>1</a:t>
            </a:r>
            <a:r>
              <a:rPr lang="zh-CN" altLang="en-US">
                <a:ea typeface="宋体" pitchFamily="2" charset="-122"/>
              </a:rPr>
              <a:t>的训练误差为</a:t>
            </a:r>
            <a:r>
              <a:rPr lang="en-US" altLang="zh-CN">
                <a:ea typeface="宋体" pitchFamily="2" charset="-122"/>
              </a:rPr>
              <a:t>0</a:t>
            </a:r>
            <a:r>
              <a:rPr lang="zh-CN" altLang="en-US">
                <a:ea typeface="宋体" pitchFamily="2" charset="-122"/>
              </a:rPr>
              <a:t>，但它在检验数据上的误差达</a:t>
            </a:r>
            <a:r>
              <a:rPr lang="en-US" altLang="zh-CN">
                <a:ea typeface="宋体" pitchFamily="2" charset="-122"/>
              </a:rPr>
              <a:t>30%.</a:t>
            </a:r>
            <a:r>
              <a:rPr lang="zh-CN" altLang="en-US">
                <a:ea typeface="宋体" pitchFamily="2" charset="-122"/>
              </a:rPr>
              <a:t>人和海豚，针鼹误分为非哺乳动物</a:t>
            </a:r>
          </a:p>
          <a:p>
            <a:pPr marL="800100" lvl="1" indent="-342900" defTabSz="914400"/>
            <a:r>
              <a:rPr lang="zh-CN" altLang="en-US">
                <a:ea typeface="宋体" pitchFamily="2" charset="-122"/>
              </a:rPr>
              <a:t>相反，一个更简单的决策树</a:t>
            </a:r>
            <a:r>
              <a:rPr lang="en-US" altLang="zh-CN">
                <a:ea typeface="宋体" pitchFamily="2" charset="-122"/>
              </a:rPr>
              <a:t>2</a:t>
            </a:r>
            <a:r>
              <a:rPr lang="zh-CN" altLang="en-US">
                <a:ea typeface="宋体" pitchFamily="2" charset="-122"/>
              </a:rPr>
              <a:t>，具有较低的检验误差（</a:t>
            </a:r>
            <a:r>
              <a:rPr lang="en-US" altLang="zh-CN">
                <a:ea typeface="宋体" pitchFamily="2" charset="-122"/>
              </a:rPr>
              <a:t>10%</a:t>
            </a:r>
            <a:r>
              <a:rPr lang="zh-CN" altLang="en-US">
                <a:ea typeface="宋体" pitchFamily="2" charset="-122"/>
              </a:rPr>
              <a:t>），尽管它的训练误差较高，为</a:t>
            </a:r>
            <a:r>
              <a:rPr lang="en-US" altLang="zh-CN">
                <a:ea typeface="宋体" pitchFamily="2" charset="-122"/>
              </a:rPr>
              <a:t>20%</a:t>
            </a:r>
          </a:p>
          <a:p>
            <a:pPr marL="800100" lvl="1" indent="-342900" defTabSz="914400"/>
            <a:r>
              <a:rPr lang="zh-CN" altLang="en-US">
                <a:ea typeface="宋体" pitchFamily="2" charset="-122"/>
              </a:rPr>
              <a:t>决策树</a:t>
            </a:r>
            <a:r>
              <a:rPr lang="en-US" altLang="zh-CN">
                <a:ea typeface="宋体" pitchFamily="2" charset="-122"/>
              </a:rPr>
              <a:t>1</a:t>
            </a:r>
            <a:r>
              <a:rPr lang="zh-CN" altLang="en-US">
                <a:ea typeface="宋体" pitchFamily="2" charset="-122"/>
              </a:rPr>
              <a:t>过分拟合了训练数据。因为属性测试条件</a:t>
            </a:r>
            <a:r>
              <a:rPr lang="en-US" altLang="zh-CN">
                <a:ea typeface="宋体" pitchFamily="2" charset="-122"/>
              </a:rPr>
              <a:t>4</a:t>
            </a:r>
            <a:r>
              <a:rPr lang="zh-CN" altLang="en-US">
                <a:ea typeface="宋体" pitchFamily="2" charset="-122"/>
              </a:rPr>
              <a:t>条腿具有欺骗性，它拟合了误标记的训练纪录，导致了对检验集中记录的误分类</a:t>
            </a:r>
          </a:p>
          <a:p>
            <a:pPr marL="292100" lvl="0" indent="-292100" defTabSz="914400"/>
            <a:endParaRPr lang="zh-CN" altLang="en-US">
              <a:ea typeface="宋体" pitchFamily="2" charset="-122"/>
            </a:endParaRPr>
          </a:p>
        </p:txBody>
      </p:sp>
    </p:spTree>
  </p:cSld>
  <p:clrMapOvr>
    <a:masterClrMapping/>
  </p:clrMapOvr>
  <p:transition/>
  <p:timing/>
</p:sld>
</file>

<file path=ppt/slides/slide6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1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噪声导致的过分拟合（例子）</a:t>
            </a:r>
          </a:p>
        </p:txBody>
      </p:sp>
      <p:pic>
        <p:nvPicPr>
          <p:cNvPr id="2816" name=""/>
          <p:cNvPicPr/>
          <p:nvPr/>
        </p:nvPicPr>
        <p:blipFill>
          <a:blip r:embed="rId2"/>
          <a:srcRect t="4819" b="3615"/>
          <a:stretch>
            <a:fillRect/>
          </a:stretch>
        </p:blipFill>
        <p:spPr>
          <a:xfrm>
            <a:off x="1295400" y="1066800"/>
            <a:ext cx="6324600" cy="4343400"/>
          </a:xfrm>
          <a:prstGeom prst="rect">
            <a:avLst/>
          </a:prstGeom>
          <a:noFill/>
          <a:ln w="12700" cap="flat">
            <a:noFill/>
            <a:prstDash val="solid"/>
            <a:miter lim="800000"/>
            <a:headEnd type="none" w="med" len="med"/>
            <a:tailEnd type="none" w="med" len="med"/>
          </a:ln>
        </p:spPr>
      </p:pic>
      <p:sp>
        <p:nvSpPr>
          <p:cNvPr id="2817" name=""/>
          <p:cNvSpPr/>
          <p:nvPr/>
        </p:nvSpPr>
        <p:spPr>
          <a:xfrm>
            <a:off x="3200400" y="5715000"/>
            <a:ext cx="2971800" cy="366712"/>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zh-CN" altLang="en-US" sz="1800" b="1" u="none">
                <a:latin typeface="Arial" pitchFamily="34" charset="0"/>
                <a:ea typeface="宋体" pitchFamily="2" charset="-122"/>
              </a:rPr>
              <a:t>噪声导致决策边界的改变</a:t>
            </a:r>
          </a:p>
        </p:txBody>
      </p:sp>
    </p:spTree>
  </p:cSld>
  <p:clrMapOvr>
    <a:masterClrMapping/>
  </p:clrMapOvr>
  <p:transition/>
  <p:timing/>
</p:sld>
</file>

<file path=ppt/slides/slide6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2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缺乏代表性样本导致的过分拟合</a:t>
            </a:r>
          </a:p>
        </p:txBody>
      </p:sp>
      <p:sp>
        <p:nvSpPr>
          <p:cNvPr id="2821"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根据少量训练记录做出分类决策的模型也容易受过分拟合的影响。</a:t>
            </a:r>
          </a:p>
          <a:p>
            <a:pPr lvl="0"/>
            <a:r>
              <a:rPr lang="zh-CN" altLang="en-US">
                <a:ea typeface="宋体" pitchFamily="2" charset="-122"/>
              </a:rPr>
              <a:t>由于训练数据缺乏具有代表性的样本，在没有多少训练记录的情况下，学习算法仍然细化模型就会产生过分拟合。</a:t>
            </a:r>
          </a:p>
        </p:txBody>
      </p:sp>
    </p:spTree>
  </p:cSld>
  <p:clrMapOvr>
    <a:masterClrMapping/>
  </p:clrMapOvr>
  <p:transition/>
  <p:timing/>
</p:sld>
</file>

<file path=ppt/slides/slide7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2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25"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ea typeface="宋体" pitchFamily="2" charset="-122"/>
            </a:endParaRPr>
          </a:p>
        </p:txBody>
      </p:sp>
      <p:pic>
        <p:nvPicPr>
          <p:cNvPr id="2826" name=""/>
          <p:cNvPicPr/>
          <p:nvPr/>
        </p:nvPicPr>
        <p:blipFill>
          <a:blip r:embed="rId2"/>
          <a:stretch>
            <a:fillRect/>
          </a:stretch>
        </p:blipFill>
        <p:spPr>
          <a:xfrm>
            <a:off x="1600200" y="1219200"/>
            <a:ext cx="5638800" cy="5094288"/>
          </a:xfrm>
          <a:prstGeom prst="rect">
            <a:avLst/>
          </a:prstGeom>
          <a:noFill/>
          <a:ln cap="flat">
            <a:noFill/>
            <a:prstDash val="solid"/>
            <a:miter lim="800000"/>
            <a:headEnd type="none" w="med" len="med"/>
            <a:tailEnd type="none" w="med" len="med"/>
          </a:ln>
        </p:spPr>
      </p:pic>
    </p:spTree>
  </p:cSld>
  <p:clrMapOvr>
    <a:masterClrMapping/>
  </p:clrMapOvr>
  <p:transition/>
  <p:timing/>
</p:sld>
</file>

<file path=ppt/slides/slide7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2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3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例子：五个训练记录，所有的记录都是正确标记的，对应的决策树尽管训练误差为</a:t>
            </a:r>
            <a:r>
              <a:rPr lang="en-US" altLang="zh-CN">
                <a:ea typeface="宋体" pitchFamily="2" charset="-122"/>
              </a:rPr>
              <a:t>0</a:t>
            </a:r>
            <a:r>
              <a:rPr lang="zh-CN" altLang="en-US">
                <a:ea typeface="宋体" pitchFamily="2" charset="-122"/>
              </a:rPr>
              <a:t>，但检验误差高达</a:t>
            </a:r>
            <a:r>
              <a:rPr lang="en-US" altLang="zh-CN">
                <a:ea typeface="宋体" pitchFamily="2" charset="-122"/>
              </a:rPr>
              <a:t>30%</a:t>
            </a:r>
          </a:p>
          <a:p>
            <a:pPr lvl="0"/>
            <a:r>
              <a:rPr lang="zh-CN" altLang="en-US">
                <a:ea typeface="宋体" pitchFamily="2" charset="-122"/>
              </a:rPr>
              <a:t>人、大象和海豚被误分类，因为决策树把恒温但不冬眠的动物分为非哺乳动物。决策树做出这样的分类决策是因为只有一个训练记录（鹰）具有这些特征。</a:t>
            </a:r>
          </a:p>
          <a:p>
            <a:pPr lvl="0"/>
            <a:r>
              <a:rPr lang="zh-CN" altLang="en-US">
                <a:ea typeface="宋体" pitchFamily="2" charset="-122"/>
              </a:rPr>
              <a:t>这个例子清楚的表明，当决策树的叶结点没有足够的代表性样本时，很可能做出错误的预测。</a:t>
            </a:r>
          </a:p>
          <a:p>
            <a:pPr lvl="0"/>
            <a:endParaRPr lang="zh-CN" altLang="en-US">
              <a:ea typeface="宋体" pitchFamily="2" charset="-122"/>
            </a:endParaRPr>
          </a:p>
        </p:txBody>
      </p:sp>
    </p:spTree>
  </p:cSld>
  <p:clrMapOvr>
    <a:masterClrMapping/>
  </p:clrMapOvr>
  <p:transition/>
  <p:timing/>
</p:sld>
</file>

<file path=ppt/slides/slide7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3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过分拟合与多重比较</a:t>
            </a:r>
          </a:p>
        </p:txBody>
      </p:sp>
      <p:sp>
        <p:nvSpPr>
          <p:cNvPr id="2834"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400">
                <a:ea typeface="宋体" pitchFamily="2" charset="-122"/>
              </a:rPr>
              <a:t>模型的过分拟合可能出现在使用多重比较过程的算法中</a:t>
            </a:r>
          </a:p>
          <a:p>
            <a:pPr lvl="0"/>
            <a:r>
              <a:rPr lang="zh-CN" altLang="en-US" sz="2400">
                <a:ea typeface="宋体" pitchFamily="2" charset="-122"/>
              </a:rPr>
              <a:t>多重比较的例子：考虑未来十个交易日股市是升还是降</a:t>
            </a:r>
            <a:endParaRPr lang="en-US" altLang="zh-CN" sz="2400">
              <a:ea typeface="宋体" pitchFamily="2" charset="-122"/>
            </a:endParaRPr>
          </a:p>
          <a:p>
            <a:pPr lvl="1"/>
            <a:r>
              <a:rPr lang="zh-CN" altLang="en-US" sz="2400">
                <a:ea typeface="宋体" pitchFamily="2" charset="-122"/>
              </a:rPr>
              <a:t>一个人十次猜测至少正确预测八次的概率是：</a:t>
            </a:r>
            <a:r>
              <a:rPr lang="en-US" altLang="zh-CN" sz="2400">
                <a:ea typeface="宋体" pitchFamily="2" charset="-122"/>
              </a:rPr>
              <a:t>0.0547</a:t>
            </a:r>
          </a:p>
          <a:p>
            <a:pPr lvl="1"/>
            <a:r>
              <a:rPr lang="zh-CN" altLang="en-US" sz="2400">
                <a:ea typeface="宋体" pitchFamily="2" charset="-122"/>
              </a:rPr>
              <a:t>假设从</a:t>
            </a:r>
            <a:r>
              <a:rPr lang="en-US" altLang="zh-CN" sz="2400">
                <a:ea typeface="宋体" pitchFamily="2" charset="-122"/>
              </a:rPr>
              <a:t>50</a:t>
            </a:r>
            <a:r>
              <a:rPr lang="zh-CN" altLang="en-US" sz="2400">
                <a:ea typeface="宋体" pitchFamily="2" charset="-122"/>
              </a:rPr>
              <a:t>个股票分析家中选择一个投资顾问，策略是选择在未来的十个交易日做出最多正确预测的分析家。</a:t>
            </a:r>
          </a:p>
          <a:p>
            <a:pPr lvl="1"/>
            <a:r>
              <a:rPr lang="zh-CN" altLang="en-US" sz="2400">
                <a:ea typeface="宋体" pitchFamily="2" charset="-122"/>
              </a:rPr>
              <a:t>该策略的缺点是，即使所有的分析家都用随机猜测做出预测，至少有一个分析家做出八次正确预测的概率是：</a:t>
            </a:r>
            <a:r>
              <a:rPr lang="en-US" altLang="zh-CN" sz="2400">
                <a:ea typeface="宋体" pitchFamily="2" charset="-122"/>
              </a:rPr>
              <a:t>1-</a:t>
            </a:r>
            <a:r>
              <a:rPr lang="zh-CN" altLang="en-US" sz="2400">
                <a:ea typeface="宋体" pitchFamily="2" charset="-122"/>
              </a:rPr>
              <a:t>（</a:t>
            </a:r>
            <a:r>
              <a:rPr lang="en-US" altLang="zh-CN" sz="2400">
                <a:ea typeface="宋体" pitchFamily="2" charset="-122"/>
              </a:rPr>
              <a:t>1-0.0547</a:t>
            </a:r>
            <a:r>
              <a:rPr lang="zh-CN" altLang="en-US" sz="2400">
                <a:ea typeface="宋体" pitchFamily="2" charset="-122"/>
              </a:rPr>
              <a:t>）</a:t>
            </a:r>
            <a:r>
              <a:rPr lang="en-US" altLang="zh-CN" sz="2400" baseline="30000">
                <a:ea typeface="宋体" pitchFamily="2" charset="-122"/>
              </a:rPr>
              <a:t>50</a:t>
            </a:r>
            <a:r>
              <a:rPr lang="en-US" altLang="zh-CN" sz="2400">
                <a:ea typeface="宋体" pitchFamily="2" charset="-122"/>
              </a:rPr>
              <a:t>=0.9399</a:t>
            </a:r>
            <a:r>
              <a:rPr lang="zh-CN" altLang="en-US" sz="2400">
                <a:ea typeface="宋体" pitchFamily="2" charset="-122"/>
              </a:rPr>
              <a:t>，这一结果相当高。</a:t>
            </a:r>
          </a:p>
          <a:p>
            <a:pPr lvl="0"/>
            <a:endParaRPr lang="zh-CN" altLang="en-US" sz="240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additive="base">
                                        <p:cTn id="6" dur="1" fill="hold">
                                          <p:stCondLst>
                                            <p:cond delay="0"/>
                                          </p:stCondLst>
                                        </p:cTn>
                                        <p:tgtEl>
                                          <p:spTgt spid="2834">
                                            <p:txEl>
                                              <p:pRg st="4" end="4"/>
                                            </p:txEl>
                                          </p:spTgt>
                                        </p:tgtEl>
                                        <p:attrNameLst>
                                          <p:attrName>style.visibility</p:attrName>
                                        </p:attrNameLst>
                                      </p:cBhvr>
                                      <p:to>
                                        <p:strVal val="visible"/>
                                      </p:to>
                                    </p:set>
                                    <p:animEffect transition="in" filter="blinds(horizontal)">
                                      <p:cBhvr additive="base">
                                        <p:cTn id="7" dur="500"/>
                                        <p:tgtEl>
                                          <p:spTgt spid="28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3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38"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多重比较过程与模型过分拟合有什么关系？</a:t>
            </a:r>
            <a:endParaRPr lang="en-US" altLang="zh-CN">
              <a:ea typeface="宋体" pitchFamily="2" charset="-122"/>
            </a:endParaRPr>
          </a:p>
          <a:p>
            <a:pPr lvl="1"/>
            <a:r>
              <a:rPr lang="zh-CN" altLang="en-US">
                <a:ea typeface="宋体" pitchFamily="2" charset="-122"/>
              </a:rPr>
              <a:t>在决策树增长过程中，可以进行多种测试，以确定哪个属性能够最好的划分训练数据。</a:t>
            </a:r>
            <a:endParaRPr lang="en-US" altLang="zh-CN">
              <a:ea typeface="宋体" pitchFamily="2" charset="-122"/>
            </a:endParaRPr>
          </a:p>
          <a:p>
            <a:pPr lvl="1"/>
            <a:r>
              <a:rPr lang="zh-CN" altLang="en-US">
                <a:ea typeface="宋体" pitchFamily="2" charset="-122"/>
              </a:rPr>
              <a:t>在这种情况下，算法实际上是使用多重比较过程来决定是否需要扩展决策树。</a:t>
            </a:r>
          </a:p>
          <a:p>
            <a:pPr lvl="1"/>
            <a:r>
              <a:rPr lang="zh-CN" altLang="en-US">
                <a:ea typeface="宋体" pitchFamily="2" charset="-122"/>
              </a:rPr>
              <a:t>当候选属性多，训练记录数少时，这种影响就变得更加明显。</a:t>
            </a:r>
          </a:p>
        </p:txBody>
      </p:sp>
    </p:spTree>
  </p:cSld>
  <p:clrMapOvr>
    <a:masterClrMapping/>
  </p:clrMapOvr>
  <p:transition/>
  <p:timing/>
</p:sld>
</file>

<file path=ppt/slides/slide7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4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泛化误差估计</a:t>
            </a:r>
          </a:p>
        </p:txBody>
      </p:sp>
      <p:sp>
        <p:nvSpPr>
          <p:cNvPr id="2842"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lnSpc>
                <a:spcPct val="90000"/>
              </a:lnSpc>
            </a:pPr>
            <a:r>
              <a:rPr lang="zh-CN" altLang="en-US">
                <a:ea typeface="宋体" pitchFamily="2" charset="-122"/>
              </a:rPr>
              <a:t>过分拟合的主要原因一直是个争辩的话题，但大家还是普遍同意模型的复杂度对模型的过分拟合有影响。</a:t>
            </a:r>
          </a:p>
          <a:p>
            <a:pPr lvl="0">
              <a:lnSpc>
                <a:spcPct val="90000"/>
              </a:lnSpc>
            </a:pPr>
            <a:r>
              <a:rPr lang="zh-CN" altLang="en-US">
                <a:ea typeface="宋体" pitchFamily="2" charset="-122"/>
              </a:rPr>
              <a:t>如何确定正确的模型复杂度？理想的复杂度是能产生最低泛化误差的模型的复杂度。</a:t>
            </a:r>
          </a:p>
          <a:p>
            <a:pPr lvl="0">
              <a:lnSpc>
                <a:spcPct val="90000"/>
              </a:lnSpc>
            </a:pPr>
            <a:r>
              <a:rPr lang="zh-CN" altLang="en-US">
                <a:ea typeface="宋体" pitchFamily="2" charset="-122"/>
              </a:rPr>
              <a:t>估计泛化误差的方法</a:t>
            </a:r>
            <a:endParaRPr lang="en-US" altLang="zh-CN">
              <a:ea typeface="宋体" pitchFamily="2" charset="-122"/>
            </a:endParaRPr>
          </a:p>
          <a:p>
            <a:pPr lvl="1">
              <a:lnSpc>
                <a:spcPct val="90000"/>
              </a:lnSpc>
            </a:pPr>
            <a:r>
              <a:rPr lang="zh-CN" altLang="en-US">
                <a:ea typeface="宋体" pitchFamily="2" charset="-122"/>
              </a:rPr>
              <a:t>使用再代入估计。用训练误差提供对泛化误差的乐观估计</a:t>
            </a:r>
          </a:p>
          <a:p>
            <a:pPr lvl="1">
              <a:lnSpc>
                <a:spcPct val="90000"/>
              </a:lnSpc>
            </a:pPr>
            <a:r>
              <a:rPr lang="zh-CN" altLang="en-US">
                <a:ea typeface="宋体" pitchFamily="2" charset="-122"/>
              </a:rPr>
              <a:t>结合模型复杂度</a:t>
            </a:r>
          </a:p>
          <a:p>
            <a:pPr lvl="1">
              <a:lnSpc>
                <a:spcPct val="90000"/>
              </a:lnSpc>
            </a:pPr>
            <a:r>
              <a:rPr lang="zh-CN" altLang="en-US">
                <a:ea typeface="宋体" pitchFamily="2" charset="-122"/>
              </a:rPr>
              <a:t>估计统计上界</a:t>
            </a:r>
          </a:p>
          <a:p>
            <a:pPr lvl="1">
              <a:lnSpc>
                <a:spcPct val="90000"/>
              </a:lnSpc>
            </a:pPr>
            <a:r>
              <a:rPr lang="zh-CN" altLang="en-US">
                <a:ea typeface="宋体" pitchFamily="2" charset="-122"/>
              </a:rPr>
              <a:t>使用确定集</a:t>
            </a:r>
          </a:p>
          <a:p>
            <a:pPr lvl="0">
              <a:lnSpc>
                <a:spcPct val="90000"/>
              </a:lnSpc>
              <a:buNone/>
            </a:pPr>
            <a:endParaRPr lang="zh-CN" altLang="en-US">
              <a:ea typeface="宋体" pitchFamily="2" charset="-122"/>
            </a:endParaRPr>
          </a:p>
        </p:txBody>
      </p:sp>
    </p:spTree>
  </p:cSld>
  <p:clrMapOvr>
    <a:masterClrMapping/>
  </p:clrMapOvr>
  <p:transition/>
  <p:timing/>
</p:sld>
</file>

<file path=ppt/slides/slide7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4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46"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ea typeface="宋体" pitchFamily="2" charset="-122"/>
            </a:endParaRPr>
          </a:p>
        </p:txBody>
      </p:sp>
      <p:pic>
        <p:nvPicPr>
          <p:cNvPr id="2847" name=""/>
          <p:cNvPicPr/>
          <p:nvPr/>
        </p:nvPicPr>
        <p:blipFill>
          <a:blip r:embed="rId2"/>
          <a:stretch>
            <a:fillRect/>
          </a:stretch>
        </p:blipFill>
        <p:spPr>
          <a:xfrm>
            <a:off x="914400" y="1828800"/>
            <a:ext cx="7391400" cy="3810000"/>
          </a:xfrm>
          <a:prstGeom prst="rect">
            <a:avLst/>
          </a:prstGeom>
          <a:noFill/>
          <a:ln cap="flat">
            <a:noFill/>
            <a:prstDash val="solid"/>
            <a:miter lim="800000"/>
            <a:headEnd type="none" w="med" len="med"/>
            <a:tailEnd type="none" w="med" len="med"/>
          </a:ln>
        </p:spPr>
      </p:pic>
    </p:spTree>
  </p:cSld>
  <p:clrMapOvr>
    <a:masterClrMapping/>
  </p:clrMapOvr>
  <p:transition/>
  <p:timing/>
</p:sld>
</file>

<file path=ppt/slides/slide7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5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结合模型复杂度</a:t>
            </a:r>
          </a:p>
        </p:txBody>
      </p:sp>
      <p:sp>
        <p:nvSpPr>
          <p:cNvPr id="2851"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奥卡姆剃刀 （</a:t>
            </a:r>
            <a:r>
              <a:rPr lang="en-US" altLang="zh-CN">
                <a:ea typeface="宋体" pitchFamily="2" charset="-122"/>
              </a:rPr>
              <a:t>Occam's Razor </a:t>
            </a:r>
            <a:r>
              <a:rPr lang="zh-CN" altLang="en-US">
                <a:ea typeface="宋体" pitchFamily="2" charset="-122"/>
              </a:rPr>
              <a:t>）：给定两个具有相同泛化误差的模型，较简单的模型比复杂的模型更可取</a:t>
            </a:r>
          </a:p>
          <a:p>
            <a:pPr lvl="0"/>
            <a:endParaRPr lang="en-US" altLang="zh-CN">
              <a:ea typeface="宋体" pitchFamily="2" charset="-122"/>
            </a:endParaRPr>
          </a:p>
          <a:p>
            <a:pPr lvl="0"/>
            <a:r>
              <a:rPr lang="en-US" altLang="zh-CN">
                <a:ea typeface="宋体" pitchFamily="2" charset="-122"/>
              </a:rPr>
              <a:t> </a:t>
            </a:r>
            <a:r>
              <a:rPr lang="zh-CN" altLang="en-US">
                <a:ea typeface="宋体" pitchFamily="2" charset="-122"/>
              </a:rPr>
              <a:t>因为复杂模型中的附加成分很大程度上是偶然的拟合。因此，分类模型评估应把模型复杂度考虑进去</a:t>
            </a:r>
          </a:p>
          <a:p>
            <a:pPr lvl="0"/>
            <a:r>
              <a:rPr lang="zh-CN" altLang="en-US">
                <a:ea typeface="宋体" pitchFamily="2" charset="-122"/>
              </a:rPr>
              <a:t>方法：悲观误差估计、最小描述长度原则（</a:t>
            </a:r>
            <a:r>
              <a:rPr lang="en-US" altLang="zh-CN">
                <a:ea typeface="宋体" pitchFamily="2" charset="-122"/>
              </a:rPr>
              <a:t>MDL</a:t>
            </a:r>
            <a:r>
              <a:rPr lang="zh-CN" altLang="en-US">
                <a:ea typeface="宋体" pitchFamily="2" charset="-122"/>
              </a:rPr>
              <a:t>）</a:t>
            </a:r>
          </a:p>
        </p:txBody>
      </p:sp>
    </p:spTree>
  </p:cSld>
  <p:clrMapOvr>
    <a:masterClrMapping/>
  </p:clrMapOvr>
  <p:transition/>
  <p:timing/>
</p:sld>
</file>

<file path=ppt/slides/slide7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5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悲观误差评估</a:t>
            </a:r>
          </a:p>
        </p:txBody>
      </p:sp>
      <p:sp>
        <p:nvSpPr>
          <p:cNvPr id="2855" name=""/>
          <p:cNvSpPr/>
          <p:nvPr>
            <p:ph type="body" sz="half" idx="4294967295"/>
          </p:nvPr>
        </p:nvSpPr>
        <p:spPr>
          <a:xfrm>
            <a:off x="411162" y="1143000"/>
            <a:ext cx="8351838" cy="5181600"/>
          </a:xfrm>
          <a:prstGeom prst="rect">
            <a:avLst/>
          </a:prstGeom>
          <a:noFill/>
          <a:ln w="12700" cap="flat">
            <a:noFill/>
            <a:prstDash val="solid"/>
            <a:miter lim="800000"/>
            <a:headEnd type="none" w="med" len="med"/>
            <a:tailEnd type="none" w="med" len="med"/>
          </a:ln>
        </p:spPr>
        <p:txBody>
          <a:bodyPr/>
          <a:lstStyle>
            <a:lvl1pPr marL="292100" indent="-2921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400" b="0" i="0" u="none">
                <a:solidFill>
                  <a:schemeClr val="tx1"/>
                </a:solidFill>
                <a:latin typeface="Arial" pitchFamily="34" charset="0"/>
              </a:defRPr>
            </a:lvl1pPr>
            <a:lvl2pPr marL="742950" indent="-28575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400" b="0" i="0" u="none">
                <a:solidFill>
                  <a:schemeClr val="tx1"/>
                </a:solidFill>
                <a:latin typeface="Arial" pitchFamily="34" charset="0"/>
              </a:defRPr>
            </a:lvl2pPr>
            <a:lvl3pPr marL="1143000" indent="-22860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0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1800" b="0" i="0" u="none">
                <a:solidFill>
                  <a:schemeClr val="tx1"/>
                </a:solidFill>
                <a:latin typeface="Times New Roman" pitchFamily="18" charset="0"/>
              </a:defRPr>
            </a:lvl5pPr>
          </a:lstStyle>
          <a:p>
            <a:pPr marL="2057400" lvl="4" indent="-228600" defTabSz="914400"/>
            <a:endParaRPr lang="en-US" altLang="zh-CN" sz="600">
              <a:ea typeface="宋体" pitchFamily="2" charset="-122"/>
            </a:endParaRPr>
          </a:p>
          <a:p>
            <a:pPr marL="292100" lvl="0" indent="-292100" defTabSz="914400"/>
            <a:r>
              <a:rPr lang="zh-CN" altLang="en-US">
                <a:ea typeface="宋体" pitchFamily="2" charset="-122"/>
              </a:rPr>
              <a:t>悲观误差估计公式：</a:t>
            </a:r>
          </a:p>
          <a:p>
            <a:pPr marL="292100" lvl="0" indent="-292100" defTabSz="914400"/>
            <a:endParaRPr lang="zh-CN" altLang="en-US">
              <a:ea typeface="宋体" pitchFamily="2" charset="-122"/>
            </a:endParaRPr>
          </a:p>
          <a:p>
            <a:pPr marL="292100" lvl="0" indent="-292100" defTabSz="914400"/>
            <a:endParaRPr lang="zh-CN" altLang="en-US">
              <a:ea typeface="宋体" pitchFamily="2" charset="-122"/>
            </a:endParaRPr>
          </a:p>
          <a:p>
            <a:pPr marL="292100" lvl="0" indent="-292100" defTabSz="914400"/>
            <a:endParaRPr lang="en-US" altLang="zh-CN">
              <a:ea typeface="宋体" pitchFamily="2" charset="-122"/>
            </a:endParaRPr>
          </a:p>
          <a:p>
            <a:pPr marL="292100" lvl="0" indent="-292100" defTabSz="914400"/>
            <a:endParaRPr lang="en-US" altLang="zh-CN">
              <a:ea typeface="宋体" pitchFamily="2" charset="-122"/>
            </a:endParaRPr>
          </a:p>
          <a:p>
            <a:pPr marL="292100" lvl="0" indent="-292100" defTabSz="914400"/>
            <a:endParaRPr lang="en-US" altLang="zh-CN">
              <a:ea typeface="宋体" pitchFamily="2" charset="-122"/>
            </a:endParaRPr>
          </a:p>
          <a:p>
            <a:pPr marL="292100" lvl="0" indent="-292100" defTabSz="914400"/>
            <a:endParaRPr lang="en-US" altLang="zh-CN">
              <a:ea typeface="宋体" pitchFamily="2" charset="-122"/>
            </a:endParaRPr>
          </a:p>
          <a:p>
            <a:pPr marL="292100" lvl="0" indent="-292100" defTabSz="914400"/>
            <a:r>
              <a:rPr lang="en-US" altLang="zh-CN">
                <a:ea typeface="宋体" pitchFamily="2" charset="-122"/>
              </a:rPr>
              <a:t>Q(ti)</a:t>
            </a:r>
            <a:r>
              <a:rPr lang="zh-CN" altLang="en-US">
                <a:ea typeface="宋体" pitchFamily="2" charset="-122"/>
              </a:rPr>
              <a:t>为每个结点</a:t>
            </a:r>
            <a:r>
              <a:rPr lang="en-US" altLang="zh-CN">
                <a:ea typeface="宋体" pitchFamily="2" charset="-122"/>
              </a:rPr>
              <a:t>ti</a:t>
            </a:r>
            <a:r>
              <a:rPr lang="zh-CN" altLang="en-US">
                <a:ea typeface="宋体" pitchFamily="2" charset="-122"/>
              </a:rPr>
              <a:t>的罚分，</a:t>
            </a:r>
            <a:r>
              <a:rPr lang="en-US" altLang="zh-CN">
                <a:ea typeface="宋体" pitchFamily="2" charset="-122"/>
              </a:rPr>
              <a:t>e(T)</a:t>
            </a:r>
            <a:r>
              <a:rPr lang="zh-CN" altLang="en-US">
                <a:ea typeface="宋体" pitchFamily="2" charset="-122"/>
              </a:rPr>
              <a:t>为训练样本集的错分样本数，</a:t>
            </a:r>
            <a:r>
              <a:rPr lang="en-US" altLang="zh-CN">
                <a:ea typeface="宋体" pitchFamily="2" charset="-122"/>
              </a:rPr>
              <a:t>N</a:t>
            </a:r>
            <a:r>
              <a:rPr lang="en-US" altLang="zh-CN" baseline="-25000">
                <a:ea typeface="宋体" pitchFamily="2" charset="-122"/>
              </a:rPr>
              <a:t>t</a:t>
            </a:r>
            <a:r>
              <a:rPr lang="zh-CN" altLang="en-US">
                <a:ea typeface="宋体" pitchFamily="2" charset="-122"/>
              </a:rPr>
              <a:t>为训练样本总数，</a:t>
            </a:r>
            <a:r>
              <a:rPr lang="en-US" altLang="zh-CN">
                <a:ea typeface="宋体" pitchFamily="2" charset="-122"/>
              </a:rPr>
              <a:t>k</a:t>
            </a:r>
            <a:r>
              <a:rPr lang="zh-CN" altLang="en-US">
                <a:ea typeface="宋体" pitchFamily="2" charset="-122"/>
              </a:rPr>
              <a:t>为叶结点数。</a:t>
            </a:r>
          </a:p>
          <a:p>
            <a:pPr marL="292100" lvl="0" indent="-292100" defTabSz="914400"/>
            <a:endParaRPr lang="en-US" altLang="zh-CN">
              <a:ea typeface="宋体" pitchFamily="2" charset="-122"/>
            </a:endParaRPr>
          </a:p>
        </p:txBody>
      </p:sp>
      <p:graphicFrame>
        <p:nvGraphicFramePr>
          <p:cNvPr id="2856" name=""/>
          <p:cNvGraphicFramePr>
            <a:graphicFrameLocks noChangeAspect="1"/>
          </p:cNvGraphicFramePr>
          <p:nvPr>
            <p:ph sz="half" idx="4294967295"/>
          </p:nvPr>
        </p:nvGraphicFramePr>
        <p:xfrm>
          <a:off x="1219200" y="1752600"/>
          <a:ext cx="7086600" cy="2490788"/>
        </p:xfrm>
        <a:graphic>
          <a:graphicData uri="http://schemas.openxmlformats.org/presentationml/2006/ole">
            <mc:AlternateContent xmlns:mc="http://schemas.openxmlformats.org/markup-compatibility/2006">
              <mc:Choice xmlns:v="urn:schemas-microsoft-com:vml" Requires="v">
                <p:oleObj spid="_x0000_s1108" name="公式" r:id="rId2" progId="Equation.3">
                  <p:embed/>
                </p:oleObj>
              </mc:Choice>
              <mc:Fallback>
                <p:oleObj name="公式" r:id="rId2" progId="Equation.3">
                  <p:embed/>
                  <p:pic>
                    <p:nvPicPr>
                      <p:cNvPr id="0" name="OLE substitute image"/>
                      <p:cNvPicPr/>
                      <p:nvPr/>
                    </p:nvPicPr>
                    <p:blipFill>
                      <a:blip r:embed="rId3"/>
                      <a:stretch>
                        <a:fillRect/>
                      </a:stretch>
                    </p:blipFill>
                    <p:spPr>
                      <a:xfrm>
                        <a:off x="1219200" y="1752600"/>
                        <a:ext cx="7086600" cy="2490788"/>
                      </a:xfrm>
                      <a:prstGeom prst="rect">
                        <a:avLst/>
                      </a:prstGeom>
                    </p:spPr>
                  </p:pic>
                </p:oleObj>
              </mc:Fallback>
            </mc:AlternateContent>
          </a:graphicData>
        </a:graphic>
      </p:graphicFrame>
    </p:spTree>
  </p:cSld>
  <p:clrMapOvr>
    <a:masterClrMapping/>
  </p:clrMapOvr>
  <p:transition/>
  <p:timing/>
</p:sld>
</file>

<file path=ppt/slides/slide7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5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6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ea typeface="宋体" pitchFamily="2" charset="-122"/>
            </a:endParaRPr>
          </a:p>
        </p:txBody>
      </p:sp>
      <p:pic>
        <p:nvPicPr>
          <p:cNvPr id="2861" name=""/>
          <p:cNvPicPr/>
          <p:nvPr/>
        </p:nvPicPr>
        <p:blipFill>
          <a:blip r:embed="rId2"/>
          <a:stretch>
            <a:fillRect/>
          </a:stretch>
        </p:blipFill>
        <p:spPr>
          <a:xfrm>
            <a:off x="914400" y="1828800"/>
            <a:ext cx="7391400" cy="3810000"/>
          </a:xfrm>
          <a:prstGeom prst="rect">
            <a:avLst/>
          </a:prstGeom>
          <a:noFill/>
          <a:ln cap="flat">
            <a:noFill/>
            <a:prstDash val="solid"/>
            <a:miter lim="800000"/>
            <a:headEnd type="none" w="med" len="med"/>
            <a:tailEnd type="none" w="med" len="med"/>
          </a:ln>
        </p:spPr>
      </p:pic>
    </p:spTree>
  </p:cSld>
  <p:clrMapOvr>
    <a:masterClrMapping/>
  </p:clrMapOvr>
  <p:transition/>
  <p:timing/>
</p:sld>
</file>

<file path=ppt/slides/slide7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64"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865"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sz="2400">
                <a:ea typeface="宋体" pitchFamily="2" charset="-122"/>
              </a:rPr>
              <a:t>例子</a:t>
            </a:r>
            <a:r>
              <a:rPr lang="en-US" altLang="zh-CN" sz="2400">
                <a:ea typeface="宋体" pitchFamily="2" charset="-122"/>
              </a:rPr>
              <a:t>1</a:t>
            </a:r>
            <a:r>
              <a:rPr lang="zh-CN" altLang="en-US" sz="2400">
                <a:ea typeface="宋体" pitchFamily="2" charset="-122"/>
              </a:rPr>
              <a:t>：如果罚分等于</a:t>
            </a:r>
            <a:r>
              <a:rPr lang="en-US" altLang="zh-CN" sz="2400">
                <a:ea typeface="宋体" pitchFamily="2" charset="-122"/>
              </a:rPr>
              <a:t>0.5</a:t>
            </a:r>
            <a:r>
              <a:rPr lang="zh-CN" altLang="en-US" sz="2400">
                <a:ea typeface="宋体" pitchFamily="2" charset="-122"/>
              </a:rPr>
              <a:t>，训练样本集中样本数为</a:t>
            </a:r>
            <a:r>
              <a:rPr lang="en-US" altLang="zh-CN" sz="2400">
                <a:ea typeface="宋体" pitchFamily="2" charset="-122"/>
              </a:rPr>
              <a:t>24</a:t>
            </a:r>
            <a:r>
              <a:rPr lang="zh-CN" altLang="en-US" sz="2400">
                <a:ea typeface="宋体" pitchFamily="2" charset="-122"/>
              </a:rPr>
              <a:t>个，我们构建了</a:t>
            </a:r>
            <a:r>
              <a:rPr lang="en-US" altLang="zh-CN" sz="2400">
                <a:ea typeface="宋体" pitchFamily="2" charset="-122"/>
              </a:rPr>
              <a:t>7</a:t>
            </a:r>
            <a:r>
              <a:rPr lang="zh-CN" altLang="en-US" sz="2400">
                <a:ea typeface="宋体" pitchFamily="2" charset="-122"/>
              </a:rPr>
              <a:t>个叶结点的决策树，训练样本集的错分样本数为</a:t>
            </a:r>
            <a:r>
              <a:rPr lang="en-US" altLang="zh-CN" sz="2400">
                <a:ea typeface="宋体" pitchFamily="2" charset="-122"/>
              </a:rPr>
              <a:t>4</a:t>
            </a:r>
          </a:p>
          <a:p>
            <a:pPr lvl="0"/>
            <a:r>
              <a:rPr lang="zh-CN" altLang="en-US" sz="2400">
                <a:ea typeface="宋体" pitchFamily="2" charset="-122"/>
              </a:rPr>
              <a:t>根据公式我们得</a:t>
            </a:r>
            <a:r>
              <a:rPr lang="en-US" altLang="zh-CN" sz="2400">
                <a:ea typeface="宋体" pitchFamily="2" charset="-122"/>
              </a:rPr>
              <a:t>e’(T)=(4+7*0.5)/24=0.3125</a:t>
            </a:r>
            <a:endParaRPr lang="zh-CN" altLang="en-US" sz="2400">
              <a:ea typeface="宋体" pitchFamily="2" charset="-122"/>
            </a:endParaRPr>
          </a:p>
          <a:p>
            <a:pPr lvl="0"/>
            <a:r>
              <a:rPr lang="zh-CN" altLang="en-US" sz="2400">
                <a:ea typeface="宋体" pitchFamily="2" charset="-122"/>
              </a:rPr>
              <a:t>例子</a:t>
            </a:r>
            <a:r>
              <a:rPr lang="en-US" altLang="zh-CN" sz="2400">
                <a:ea typeface="宋体" pitchFamily="2" charset="-122"/>
              </a:rPr>
              <a:t>2</a:t>
            </a:r>
            <a:r>
              <a:rPr lang="zh-CN" altLang="en-US" sz="2400">
                <a:ea typeface="宋体" pitchFamily="2" charset="-122"/>
              </a:rPr>
              <a:t>：如果罚分等于</a:t>
            </a:r>
            <a:r>
              <a:rPr lang="en-US" altLang="zh-CN" sz="2400">
                <a:ea typeface="宋体" pitchFamily="2" charset="-122"/>
              </a:rPr>
              <a:t>0.5</a:t>
            </a:r>
            <a:r>
              <a:rPr lang="zh-CN" altLang="en-US" sz="2400">
                <a:ea typeface="宋体" pitchFamily="2" charset="-122"/>
              </a:rPr>
              <a:t>，训练样本集中样本数为</a:t>
            </a:r>
            <a:r>
              <a:rPr lang="en-US" altLang="zh-CN" sz="2400">
                <a:ea typeface="宋体" pitchFamily="2" charset="-122"/>
              </a:rPr>
              <a:t>24</a:t>
            </a:r>
            <a:r>
              <a:rPr lang="zh-CN" altLang="en-US" sz="2400">
                <a:ea typeface="宋体" pitchFamily="2" charset="-122"/>
              </a:rPr>
              <a:t>个，我们构建了</a:t>
            </a:r>
            <a:r>
              <a:rPr lang="en-US" altLang="zh-CN" sz="2400">
                <a:ea typeface="宋体" pitchFamily="2" charset="-122"/>
              </a:rPr>
              <a:t>4</a:t>
            </a:r>
            <a:r>
              <a:rPr lang="zh-CN" altLang="en-US" sz="2400">
                <a:ea typeface="宋体" pitchFamily="2" charset="-122"/>
              </a:rPr>
              <a:t>个叶结点的决策树，训练样本集的错分样本数为</a:t>
            </a:r>
            <a:r>
              <a:rPr lang="en-US" altLang="zh-CN" sz="2400">
                <a:ea typeface="宋体" pitchFamily="2" charset="-122"/>
              </a:rPr>
              <a:t>6</a:t>
            </a:r>
          </a:p>
          <a:p>
            <a:pPr lvl="0"/>
            <a:r>
              <a:rPr lang="zh-CN" altLang="en-US" sz="2400">
                <a:ea typeface="宋体" pitchFamily="2" charset="-122"/>
              </a:rPr>
              <a:t>根据公式我们得</a:t>
            </a:r>
            <a:r>
              <a:rPr lang="en-US" altLang="zh-CN" sz="2400">
                <a:ea typeface="宋体" pitchFamily="2" charset="-122"/>
              </a:rPr>
              <a:t>e’(T)=(6+4*0.5)/24=0.3333</a:t>
            </a:r>
          </a:p>
          <a:p>
            <a:pPr lvl="0"/>
            <a:r>
              <a:rPr lang="zh-CN" altLang="en-US" sz="2400">
                <a:ea typeface="宋体" pitchFamily="2" charset="-122"/>
              </a:rPr>
              <a:t>当罚分等于</a:t>
            </a:r>
            <a:r>
              <a:rPr lang="en-US" altLang="zh-CN" sz="2400">
                <a:ea typeface="宋体" pitchFamily="2" charset="-122"/>
              </a:rPr>
              <a:t>1</a:t>
            </a:r>
            <a:r>
              <a:rPr lang="zh-CN" altLang="en-US" sz="2400">
                <a:ea typeface="宋体" pitchFamily="2" charset="-122"/>
              </a:rPr>
              <a:t>时，例</a:t>
            </a:r>
            <a:r>
              <a:rPr lang="en-US" altLang="zh-CN" sz="2400">
                <a:ea typeface="宋体" pitchFamily="2" charset="-122"/>
              </a:rPr>
              <a:t>1</a:t>
            </a:r>
            <a:r>
              <a:rPr lang="zh-CN" altLang="en-US" sz="2400">
                <a:ea typeface="宋体" pitchFamily="2" charset="-122"/>
              </a:rPr>
              <a:t>，</a:t>
            </a:r>
            <a:r>
              <a:rPr lang="en-US" altLang="zh-CN" sz="2400">
                <a:ea typeface="宋体" pitchFamily="2" charset="-122"/>
              </a:rPr>
              <a:t>2</a:t>
            </a:r>
            <a:r>
              <a:rPr lang="zh-CN" altLang="en-US" sz="2400">
                <a:ea typeface="宋体" pitchFamily="2" charset="-122"/>
              </a:rPr>
              <a:t>为</a:t>
            </a:r>
            <a:r>
              <a:rPr lang="en-US" altLang="zh-CN" sz="2400">
                <a:ea typeface="宋体" pitchFamily="2" charset="-122"/>
              </a:rPr>
              <a:t>0.458</a:t>
            </a:r>
            <a:r>
              <a:rPr lang="zh-CN" altLang="en-US" sz="2400">
                <a:ea typeface="宋体" pitchFamily="2" charset="-122"/>
              </a:rPr>
              <a:t>，</a:t>
            </a:r>
            <a:r>
              <a:rPr lang="en-US" altLang="zh-CN" sz="2400">
                <a:ea typeface="宋体" pitchFamily="2" charset="-122"/>
              </a:rPr>
              <a:t>0.417</a:t>
            </a:r>
          </a:p>
          <a:p>
            <a:pPr lvl="0"/>
            <a:r>
              <a:rPr lang="en-US" altLang="zh-CN" sz="2400">
                <a:ea typeface="宋体" pitchFamily="2" charset="-122"/>
              </a:rPr>
              <a:t>0.5</a:t>
            </a:r>
            <a:r>
              <a:rPr lang="zh-CN" altLang="en-US" sz="2400">
                <a:ea typeface="宋体" pitchFamily="2" charset="-122"/>
              </a:rPr>
              <a:t>的罚分项表示只要至少能够改进一个训练记录的分类，结点就应当扩充，因为扩展一个结点等价于总误差增加</a:t>
            </a:r>
            <a:r>
              <a:rPr lang="en-US" altLang="zh-CN" sz="2400">
                <a:ea typeface="宋体" pitchFamily="2" charset="-122"/>
              </a:rPr>
              <a:t>0.5</a:t>
            </a:r>
            <a:r>
              <a:rPr lang="zh-CN" altLang="en-US" sz="2400">
                <a:ea typeface="宋体" pitchFamily="2" charset="-122"/>
              </a:rPr>
              <a:t>，代价比犯一个训练错误小</a:t>
            </a:r>
          </a:p>
          <a:p>
            <a:pPr lvl="0"/>
            <a:endParaRPr lang="zh-CN" altLang="en-US" sz="2400">
              <a:ea typeface="宋体" pitchFamily="2" charset="-122"/>
            </a:endParaRPr>
          </a:p>
        </p:txBody>
      </p:sp>
    </p:spTree>
  </p:cSld>
  <p:clrMapOvr>
    <a:masterClrMapping/>
  </p:clrMapOvr>
  <p:transition/>
  <p:timing/>
</p:sld>
</file>

<file path=ppt/slides/slide8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68"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最小描述长度 </a:t>
            </a:r>
            <a:r>
              <a:rPr lang="en-US" altLang="zh-CN">
                <a:ea typeface="宋体" pitchFamily="2" charset="-122"/>
              </a:rPr>
              <a:t>(MDL)</a:t>
            </a:r>
          </a:p>
        </p:txBody>
      </p:sp>
      <p:sp>
        <p:nvSpPr>
          <p:cNvPr id="2869" name=""/>
          <p:cNvSpPr/>
          <p:nvPr>
            <p:ph type="body" idx="4294967295"/>
          </p:nvPr>
        </p:nvSpPr>
        <p:spPr>
          <a:xfrm>
            <a:off x="457200" y="3714750"/>
            <a:ext cx="8229600" cy="2533650"/>
          </a:xfrm>
          <a:prstGeom prst="rect">
            <a:avLst/>
          </a:prstGeom>
          <a:noFill/>
          <a:ln w="12700" cap="flat">
            <a:noFill/>
            <a:prstDash val="solid"/>
            <a:miter lim="800000"/>
            <a:headEnd type="none" w="med" len="med"/>
            <a:tailEnd type="none" w="med" len="med"/>
          </a:ln>
        </p:spPr>
        <p:txBody>
          <a:bodyPr/>
          <a:lstStyle>
            <a:lvl1pPr marL="342900" indent="-342900" algn="l"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742950" indent="-285750" algn="l"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marL="342900" lvl="0" indent="-342900"/>
            <a:r>
              <a:rPr lang="en-US" altLang="zh-CN" sz="2400">
                <a:solidFill>
                  <a:srgbClr val="FF0000"/>
                </a:solidFill>
                <a:ea typeface="宋体" pitchFamily="2" charset="-122"/>
              </a:rPr>
              <a:t>Cost(Model,Data) = Cost(Data|Model) + Cost(Model)</a:t>
            </a:r>
          </a:p>
          <a:p>
            <a:pPr marL="742950" lvl="1" indent="-285750"/>
            <a:r>
              <a:rPr lang="en-US" altLang="zh-CN" sz="2400">
                <a:ea typeface="宋体" pitchFamily="2" charset="-122"/>
              </a:rPr>
              <a:t>Cost </a:t>
            </a:r>
            <a:r>
              <a:rPr lang="zh-CN" altLang="en-US" sz="2400">
                <a:ea typeface="宋体" pitchFamily="2" charset="-122"/>
              </a:rPr>
              <a:t>是传输总代价</a:t>
            </a:r>
            <a:r>
              <a:rPr lang="en-US" altLang="zh-CN" sz="2400">
                <a:ea typeface="宋体" pitchFamily="2" charset="-122"/>
              </a:rPr>
              <a:t>.</a:t>
            </a:r>
          </a:p>
          <a:p>
            <a:pPr marL="742950" lvl="1" indent="-285750"/>
            <a:r>
              <a:rPr lang="zh-CN" altLang="en-US" sz="2400">
                <a:ea typeface="宋体" pitchFamily="2" charset="-122"/>
              </a:rPr>
              <a:t>最小化</a:t>
            </a:r>
            <a:r>
              <a:rPr lang="en-US" altLang="zh-CN" sz="2400">
                <a:ea typeface="宋体" pitchFamily="2" charset="-122"/>
              </a:rPr>
              <a:t>cost</a:t>
            </a:r>
            <a:r>
              <a:rPr lang="zh-CN" altLang="en-US" sz="2400">
                <a:ea typeface="宋体" pitchFamily="2" charset="-122"/>
              </a:rPr>
              <a:t>值</a:t>
            </a:r>
            <a:r>
              <a:rPr lang="en-US" altLang="zh-CN" sz="2400">
                <a:ea typeface="宋体" pitchFamily="2" charset="-122"/>
              </a:rPr>
              <a:t>.</a:t>
            </a:r>
          </a:p>
          <a:p>
            <a:pPr marL="342900" lvl="0" indent="-342900"/>
            <a:r>
              <a:rPr lang="en-US" altLang="zh-CN" sz="2400">
                <a:ea typeface="宋体" pitchFamily="2" charset="-122"/>
              </a:rPr>
              <a:t>Cost(Data|Model) </a:t>
            </a:r>
            <a:r>
              <a:rPr lang="zh-CN" altLang="en-US" sz="2400">
                <a:ea typeface="宋体" pitchFamily="2" charset="-122"/>
              </a:rPr>
              <a:t>是误分类记录编码的开销</a:t>
            </a:r>
            <a:r>
              <a:rPr lang="en-US" altLang="zh-CN" sz="2400">
                <a:ea typeface="宋体" pitchFamily="2" charset="-122"/>
              </a:rPr>
              <a:t>.</a:t>
            </a:r>
          </a:p>
          <a:p>
            <a:pPr marL="342900" lvl="0" indent="-342900"/>
            <a:r>
              <a:rPr lang="en-US" altLang="zh-CN" sz="2400">
                <a:ea typeface="宋体" pitchFamily="2" charset="-122"/>
              </a:rPr>
              <a:t>Cost(Model) </a:t>
            </a:r>
            <a:r>
              <a:rPr lang="zh-CN" altLang="en-US" sz="2400">
                <a:ea typeface="宋体" pitchFamily="2" charset="-122"/>
              </a:rPr>
              <a:t>是模型编码的开销 </a:t>
            </a:r>
            <a:r>
              <a:rPr lang="en-US" altLang="zh-CN" sz="2400">
                <a:ea typeface="宋体" pitchFamily="2" charset="-122"/>
              </a:rPr>
              <a:t>.</a:t>
            </a:r>
          </a:p>
        </p:txBody>
      </p:sp>
      <p:graphicFrame>
        <p:nvGraphicFramePr>
          <p:cNvPr id="2870" name=""/>
          <p:cNvGraphicFramePr>
            <a:graphicFrameLocks noChangeAspect="1"/>
          </p:cNvGraphicFramePr>
          <p:nvPr/>
        </p:nvGraphicFramePr>
        <p:xfrm>
          <a:off x="2209800" y="1143000"/>
          <a:ext cx="4392612" cy="2406650"/>
        </p:xfrm>
        <a:graphic>
          <a:graphicData uri="http://schemas.openxmlformats.org/presentationml/2006/ole">
            <mc:AlternateContent xmlns:mc="http://schemas.openxmlformats.org/markup-compatibility/2006">
              <mc:Choice xmlns:v="urn:schemas-microsoft-com:vml" Requires="v">
                <p:oleObj spid="_x0000_s1109" name="VISIO" r:id="rId2" progId="Visio.Drawing.6">
                  <p:embed/>
                </p:oleObj>
              </mc:Choice>
              <mc:Fallback>
                <p:oleObj name="VISIO" r:id="rId2" progId="Visio.Drawing.6">
                  <p:embed/>
                  <p:pic>
                    <p:nvPicPr>
                      <p:cNvPr id="0" name="OLE substitute image"/>
                      <p:cNvPicPr/>
                      <p:nvPr/>
                    </p:nvPicPr>
                    <p:blipFill>
                      <a:blip r:embed="rId3"/>
                      <a:stretch>
                        <a:fillRect/>
                      </a:stretch>
                    </p:blipFill>
                    <p:spPr>
                      <a:xfrm>
                        <a:off x="2209800" y="1143000"/>
                        <a:ext cx="4392612" cy="2406650"/>
                      </a:xfrm>
                      <a:prstGeom prst="rect">
                        <a:avLst/>
                      </a:prstGeom>
                    </p:spPr>
                  </p:pic>
                </p:oleObj>
              </mc:Fallback>
            </mc:AlternateContent>
          </a:graphicData>
        </a:graphic>
      </p:graphicFrame>
      <p:graphicFrame>
        <p:nvGraphicFramePr>
          <p:cNvPr id="2871" name=""/>
          <p:cNvGraphicFramePr>
            <a:graphicFrameLocks noChangeAspect="1"/>
          </p:cNvGraphicFramePr>
          <p:nvPr/>
        </p:nvGraphicFramePr>
        <p:xfrm>
          <a:off x="685800" y="1219200"/>
          <a:ext cx="1131888" cy="2133600"/>
        </p:xfrm>
        <a:graphic>
          <a:graphicData uri="http://schemas.openxmlformats.org/presentationml/2006/ole">
            <mc:AlternateContent xmlns:mc="http://schemas.openxmlformats.org/markup-compatibility/2006">
              <mc:Choice xmlns:v="urn:schemas-microsoft-com:vml" Requires="v">
                <p:oleObj spid="_x0000_s1110" name="Worksheet" r:id="rId4" progId="Excel.Sheet.8">
                  <p:embed/>
                </p:oleObj>
              </mc:Choice>
              <mc:Fallback>
                <p:oleObj name="Worksheet" r:id="rId4" progId="Excel.Sheet.8">
                  <p:embed/>
                  <p:pic>
                    <p:nvPicPr>
                      <p:cNvPr id="0" name="OLE substitute image"/>
                      <p:cNvPicPr/>
                      <p:nvPr/>
                    </p:nvPicPr>
                    <p:blipFill>
                      <a:blip r:embed="rId5"/>
                      <a:stretch>
                        <a:fillRect/>
                      </a:stretch>
                    </p:blipFill>
                    <p:spPr>
                      <a:xfrm>
                        <a:off x="685800" y="1219200"/>
                        <a:ext cx="1131888" cy="2133600"/>
                      </a:xfrm>
                      <a:prstGeom prst="rect">
                        <a:avLst/>
                      </a:prstGeom>
                    </p:spPr>
                  </p:pic>
                </p:oleObj>
              </mc:Fallback>
            </mc:AlternateContent>
          </a:graphicData>
        </a:graphic>
      </p:graphicFrame>
      <p:graphicFrame>
        <p:nvGraphicFramePr>
          <p:cNvPr id="2872" name=""/>
          <p:cNvGraphicFramePr>
            <a:graphicFrameLocks noChangeAspect="1"/>
          </p:cNvGraphicFramePr>
          <p:nvPr/>
        </p:nvGraphicFramePr>
        <p:xfrm>
          <a:off x="7239000" y="1371600"/>
          <a:ext cx="1131888" cy="2133600"/>
        </p:xfrm>
        <a:graphic>
          <a:graphicData uri="http://schemas.openxmlformats.org/presentationml/2006/ole">
            <mc:AlternateContent xmlns:mc="http://schemas.openxmlformats.org/markup-compatibility/2006">
              <mc:Choice xmlns:v="urn:schemas-microsoft-com:vml" Requires="v">
                <p:oleObj spid="_x0000_s1111" name="Worksheet" r:id="rId6" progId="Excel.Sheet.8">
                  <p:embed/>
                </p:oleObj>
              </mc:Choice>
              <mc:Fallback>
                <p:oleObj name="Worksheet" r:id="rId6" progId="Excel.Sheet.8">
                  <p:embed/>
                  <p:pic>
                    <p:nvPicPr>
                      <p:cNvPr id="0" name="OLE substitute image"/>
                      <p:cNvPicPr/>
                      <p:nvPr/>
                    </p:nvPicPr>
                    <p:blipFill>
                      <a:blip r:embed="rId7"/>
                      <a:stretch>
                        <a:fillRect/>
                      </a:stretch>
                    </p:blipFill>
                    <p:spPr>
                      <a:xfrm>
                        <a:off x="7239000" y="1371600"/>
                        <a:ext cx="1131888" cy="2133600"/>
                      </a:xfrm>
                      <a:prstGeom prst="rect">
                        <a:avLst/>
                      </a:prstGeom>
                    </p:spPr>
                  </p:pic>
                </p:oleObj>
              </mc:Fallback>
            </mc:AlternateContent>
          </a:graphicData>
        </a:graphic>
      </p:graphicFrame>
    </p:spTree>
  </p:cSld>
  <p:clrMapOvr>
    <a:masterClrMapping/>
  </p:clrMapOvr>
  <p:transition/>
  <p:timing/>
</p:sld>
</file>

<file path=ppt/slides/slide8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7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使用确认集</a:t>
            </a:r>
          </a:p>
        </p:txBody>
      </p:sp>
      <p:sp>
        <p:nvSpPr>
          <p:cNvPr id="2876"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该方法中，不是用训练集估计泛化误差，而是把原始的训练数据集分为两个较小的子集，一个子集用于训练，而另一个称为确认集，用于估计泛化误差。</a:t>
            </a:r>
          </a:p>
          <a:p>
            <a:pPr lvl="0"/>
            <a:r>
              <a:rPr lang="zh-CN" altLang="en-US">
                <a:ea typeface="宋体" pitchFamily="2" charset="-122"/>
              </a:rPr>
              <a:t>该方法为评估模型在未知样本上的性能提供了较好办法。</a:t>
            </a:r>
          </a:p>
        </p:txBody>
      </p:sp>
    </p:spTree>
  </p:cSld>
  <p:clrMapOvr>
    <a:masterClrMapping/>
  </p:clrMapOvr>
  <p:transition/>
  <p:timing/>
</p:sld>
</file>

<file path=ppt/slides/slide8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7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处理决策树中的过分拟合</a:t>
            </a:r>
          </a:p>
        </p:txBody>
      </p:sp>
      <p:sp>
        <p:nvSpPr>
          <p:cNvPr id="2880" name=""/>
          <p:cNvSpPr/>
          <p:nvPr>
            <p:ph type="body" idx="4294967295"/>
          </p:nvPr>
        </p:nvSpPr>
        <p:spPr>
          <a:xfrm>
            <a:off x="228600" y="1143000"/>
            <a:ext cx="87630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solidFill>
                  <a:srgbClr val="FF0000"/>
                </a:solidFill>
                <a:ea typeface="宋体" pitchFamily="2" charset="-122"/>
              </a:rPr>
              <a:t>先剪枝 </a:t>
            </a:r>
            <a:r>
              <a:rPr lang="en-US" altLang="zh-CN">
                <a:solidFill>
                  <a:srgbClr val="FF0000"/>
                </a:solidFill>
                <a:ea typeface="宋体" pitchFamily="2" charset="-122"/>
              </a:rPr>
              <a:t>(Early Stopping Rule)</a:t>
            </a:r>
          </a:p>
          <a:p>
            <a:pPr lvl="1"/>
            <a:r>
              <a:rPr lang="zh-CN" altLang="en-US">
                <a:ea typeface="宋体" pitchFamily="2" charset="-122"/>
              </a:rPr>
              <a:t>树增长算法在产生完全拟合整个训练数据集的之前就停止决策树的生长</a:t>
            </a:r>
          </a:p>
          <a:p>
            <a:pPr lvl="1"/>
            <a:r>
              <a:rPr lang="zh-CN" altLang="en-US">
                <a:ea typeface="宋体" pitchFamily="2" charset="-122"/>
              </a:rPr>
              <a:t>为了做到这一点，需要采用更具限制性的结束条件</a:t>
            </a:r>
            <a:r>
              <a:rPr lang="en-US" altLang="zh-CN">
                <a:ea typeface="宋体" pitchFamily="2" charset="-122"/>
              </a:rPr>
              <a:t>:</a:t>
            </a:r>
          </a:p>
          <a:p>
            <a:pPr lvl="2"/>
            <a:r>
              <a:rPr lang="en-US" altLang="zh-CN">
                <a:ea typeface="宋体" pitchFamily="2" charset="-122"/>
              </a:rPr>
              <a:t> </a:t>
            </a:r>
            <a:r>
              <a:rPr lang="zh-CN" altLang="en-US">
                <a:ea typeface="宋体" pitchFamily="2" charset="-122"/>
              </a:rPr>
              <a:t>当结点的记录数少于一定阈值，则停止生长</a:t>
            </a:r>
          </a:p>
          <a:p>
            <a:pPr lvl="2"/>
            <a:r>
              <a:rPr lang="zh-CN" altLang="en-US">
                <a:ea typeface="宋体" pitchFamily="2" charset="-122"/>
              </a:rPr>
              <a:t>当不纯性度量的增益低于某个确定的阈值时，则停止生长 </a:t>
            </a:r>
            <a:r>
              <a:rPr lang="en-US" altLang="zh-CN">
                <a:ea typeface="宋体" pitchFamily="2" charset="-122"/>
              </a:rPr>
              <a:t>(e.g., information gain).</a:t>
            </a:r>
          </a:p>
          <a:p>
            <a:pPr lvl="1"/>
            <a:r>
              <a:rPr lang="zh-CN" altLang="en-US">
                <a:ea typeface="宋体" pitchFamily="2" charset="-122"/>
              </a:rPr>
              <a:t>缺点：很难为提前终止选取正确的阈值</a:t>
            </a:r>
            <a:r>
              <a:rPr lang="en-US" altLang="zh-CN">
                <a:ea typeface="宋体" pitchFamily="2" charset="-122"/>
              </a:rPr>
              <a:t>:</a:t>
            </a:r>
          </a:p>
          <a:p>
            <a:pPr lvl="2"/>
            <a:r>
              <a:rPr lang="en-US" altLang="zh-CN">
                <a:ea typeface="宋体" pitchFamily="2" charset="-122"/>
              </a:rPr>
              <a:t> </a:t>
            </a:r>
            <a:r>
              <a:rPr lang="zh-CN" altLang="en-US">
                <a:ea typeface="宋体" pitchFamily="2" charset="-122"/>
              </a:rPr>
              <a:t>阈值太高，导致拟合不足</a:t>
            </a:r>
          </a:p>
          <a:p>
            <a:pPr lvl="2"/>
            <a:r>
              <a:rPr lang="zh-CN" altLang="en-US">
                <a:ea typeface="宋体" pitchFamily="2" charset="-122"/>
              </a:rPr>
              <a:t>阈值太低，导致不能充分解决过分拟合的问题。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additive="base">
                                        <p:cTn id="6" dur="1" fill="hold">
                                          <p:stCondLst>
                                            <p:cond delay="0"/>
                                          </p:stCondLst>
                                        </p:cTn>
                                        <p:tgtEl>
                                          <p:spTgt spid="2880">
                                            <p:txEl>
                                              <p:pRg st="1" end="1"/>
                                            </p:txEl>
                                          </p:spTgt>
                                        </p:tgtEl>
                                        <p:attrNameLst>
                                          <p:attrName>style.visibility</p:attrName>
                                        </p:attrNameLst>
                                      </p:cBhvr>
                                      <p:to>
                                        <p:strVal val="visible"/>
                                      </p:to>
                                    </p:set>
                                    <p:animEffect transition="in" filter="blinds(horizontal)">
                                      <p:cBhvr additive="base">
                                        <p:cTn id="7" dur="500"/>
                                        <p:tgtEl>
                                          <p:spTgt spid="288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3" presetClass="entr" presetSubtype="10" fill="hold" nodeType="clickEffect">
                                  <p:stCondLst>
                                    <p:cond delay="0"/>
                                  </p:stCondLst>
                                  <p:childTnLst>
                                    <p:set>
                                      <p:cBhvr additive="base">
                                        <p:cTn id="12" dur="1" fill="hold">
                                          <p:stCondLst>
                                            <p:cond delay="0"/>
                                          </p:stCondLst>
                                        </p:cTn>
                                        <p:tgtEl>
                                          <p:spTgt spid="2880">
                                            <p:txEl>
                                              <p:pRg st="2" end="2"/>
                                            </p:txEl>
                                          </p:spTgt>
                                        </p:tgtEl>
                                        <p:attrNameLst>
                                          <p:attrName>style.visibility</p:attrName>
                                        </p:attrNameLst>
                                      </p:cBhvr>
                                      <p:to>
                                        <p:strVal val="visible"/>
                                      </p:to>
                                    </p:set>
                                    <p:animEffect transition="in" filter="blinds(horizontal)">
                                      <p:cBhvr additive="base">
                                        <p:cTn id="13" dur="500"/>
                                        <p:tgtEl>
                                          <p:spTgt spid="2880">
                                            <p:txEl>
                                              <p:pRg st="2" end="2"/>
                                            </p:txEl>
                                          </p:spTgt>
                                        </p:tgtEl>
                                      </p:cBhvr>
                                    </p:animEffect>
                                  </p:childTnLst>
                                </p:cTn>
                              </p:par>
                              <p:par>
                                <p:cTn id="14" presetID="3" presetClass="entr" presetSubtype="10" fill="hold" nodeType="withEffect">
                                  <p:stCondLst>
                                    <p:cond delay="0"/>
                                  </p:stCondLst>
                                  <p:childTnLst>
                                    <p:set>
                                      <p:cBhvr additive="base">
                                        <p:cTn id="15" dur="1" fill="hold">
                                          <p:stCondLst>
                                            <p:cond delay="0"/>
                                          </p:stCondLst>
                                        </p:cTn>
                                        <p:tgtEl>
                                          <p:spTgt spid="2880">
                                            <p:txEl>
                                              <p:pRg st="3" end="3"/>
                                            </p:txEl>
                                          </p:spTgt>
                                        </p:tgtEl>
                                        <p:attrNameLst>
                                          <p:attrName>style.visibility</p:attrName>
                                        </p:attrNameLst>
                                      </p:cBhvr>
                                      <p:to>
                                        <p:strVal val="visible"/>
                                      </p:to>
                                    </p:set>
                                    <p:animEffect transition="in" filter="blinds(horizontal)">
                                      <p:cBhvr additive="base">
                                        <p:cTn id="16" dur="500"/>
                                        <p:tgtEl>
                                          <p:spTgt spid="2880">
                                            <p:txEl>
                                              <p:pRg st="3" end="3"/>
                                            </p:txEl>
                                          </p:spTgt>
                                        </p:tgtEl>
                                      </p:cBhvr>
                                    </p:animEffect>
                                  </p:childTnLst>
                                </p:cTn>
                              </p:par>
                              <p:par>
                                <p:cTn id="17" presetID="3" presetClass="entr" presetSubtype="10" fill="hold" nodeType="withEffect">
                                  <p:stCondLst>
                                    <p:cond delay="0"/>
                                  </p:stCondLst>
                                  <p:childTnLst>
                                    <p:set>
                                      <p:cBhvr additive="base">
                                        <p:cTn id="18" dur="1" fill="hold">
                                          <p:stCondLst>
                                            <p:cond delay="0"/>
                                          </p:stCondLst>
                                        </p:cTn>
                                        <p:tgtEl>
                                          <p:spTgt spid="2880">
                                            <p:txEl>
                                              <p:pRg st="4" end="4"/>
                                            </p:txEl>
                                          </p:spTgt>
                                        </p:tgtEl>
                                        <p:attrNameLst>
                                          <p:attrName>style.visibility</p:attrName>
                                        </p:attrNameLst>
                                      </p:cBhvr>
                                      <p:to>
                                        <p:strVal val="visible"/>
                                      </p:to>
                                    </p:set>
                                    <p:animEffect transition="in" filter="blinds(horizontal)">
                                      <p:cBhvr additive="base">
                                        <p:cTn id="19" dur="500"/>
                                        <p:tgtEl>
                                          <p:spTgt spid="2880">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indefinite"/>
                            </p:stCondLst>
                          </p:cTn>
                        </p:par>
                        <p:par>
                          <p:cTn id="22" fill="hold" nodeType="afterGroup">
                            <p:stCondLst>
                              <p:cond delay="0"/>
                            </p:stCondLst>
                            <p:childTnLst>
                              <p:par>
                                <p:cTn id="23" presetID="3" presetClass="entr" presetSubtype="10" fill="hold" nodeType="clickEffect">
                                  <p:stCondLst>
                                    <p:cond delay="0"/>
                                  </p:stCondLst>
                                  <p:childTnLst>
                                    <p:set>
                                      <p:cBhvr additive="base">
                                        <p:cTn id="24" dur="1" fill="hold">
                                          <p:stCondLst>
                                            <p:cond delay="0"/>
                                          </p:stCondLst>
                                        </p:cTn>
                                        <p:tgtEl>
                                          <p:spTgt spid="2880">
                                            <p:txEl>
                                              <p:pRg st="5" end="5"/>
                                            </p:txEl>
                                          </p:spTgt>
                                        </p:tgtEl>
                                        <p:attrNameLst>
                                          <p:attrName>style.visibility</p:attrName>
                                        </p:attrNameLst>
                                      </p:cBhvr>
                                      <p:to>
                                        <p:strVal val="visible"/>
                                      </p:to>
                                    </p:set>
                                    <p:animEffect transition="in" filter="blinds(horizontal)">
                                      <p:cBhvr additive="base">
                                        <p:cTn id="25" dur="500"/>
                                        <p:tgtEl>
                                          <p:spTgt spid="2880">
                                            <p:txEl>
                                              <p:pRg st="5" end="5"/>
                                            </p:txEl>
                                          </p:spTgt>
                                        </p:tgtEl>
                                      </p:cBhvr>
                                    </p:animEffect>
                                  </p:childTnLst>
                                </p:cTn>
                              </p:par>
                              <p:par>
                                <p:cTn id="26" presetID="3" presetClass="entr" presetSubtype="10" fill="hold" nodeType="withEffect">
                                  <p:stCondLst>
                                    <p:cond delay="0"/>
                                  </p:stCondLst>
                                  <p:childTnLst>
                                    <p:set>
                                      <p:cBhvr additive="base">
                                        <p:cTn id="27" dur="1" fill="hold">
                                          <p:stCondLst>
                                            <p:cond delay="0"/>
                                          </p:stCondLst>
                                        </p:cTn>
                                        <p:tgtEl>
                                          <p:spTgt spid="2880">
                                            <p:txEl>
                                              <p:pRg st="6" end="6"/>
                                            </p:txEl>
                                          </p:spTgt>
                                        </p:tgtEl>
                                        <p:attrNameLst>
                                          <p:attrName>style.visibility</p:attrName>
                                        </p:attrNameLst>
                                      </p:cBhvr>
                                      <p:to>
                                        <p:strVal val="visible"/>
                                      </p:to>
                                    </p:set>
                                    <p:animEffect transition="in" filter="blinds(horizontal)">
                                      <p:cBhvr additive="base">
                                        <p:cTn id="28" dur="500"/>
                                        <p:tgtEl>
                                          <p:spTgt spid="2880">
                                            <p:txEl>
                                              <p:pRg st="6" end="6"/>
                                            </p:txEl>
                                          </p:spTgt>
                                        </p:tgtEl>
                                      </p:cBhvr>
                                    </p:animEffect>
                                  </p:childTnLst>
                                </p:cTn>
                              </p:par>
                              <p:par>
                                <p:cTn id="29" presetID="3" presetClass="entr" presetSubtype="10" fill="hold" nodeType="withEffect">
                                  <p:stCondLst>
                                    <p:cond delay="0"/>
                                  </p:stCondLst>
                                  <p:childTnLst>
                                    <p:set>
                                      <p:cBhvr additive="base">
                                        <p:cTn id="30" dur="1" fill="hold">
                                          <p:stCondLst>
                                            <p:cond delay="0"/>
                                          </p:stCondLst>
                                        </p:cTn>
                                        <p:tgtEl>
                                          <p:spTgt spid="2880">
                                            <p:txEl>
                                              <p:pRg st="7" end="7"/>
                                            </p:txEl>
                                          </p:spTgt>
                                        </p:tgtEl>
                                        <p:attrNameLst>
                                          <p:attrName>style.visibility</p:attrName>
                                        </p:attrNameLst>
                                      </p:cBhvr>
                                      <p:to>
                                        <p:strVal val="visible"/>
                                      </p:to>
                                    </p:set>
                                    <p:animEffect transition="in" filter="blinds(horizontal)">
                                      <p:cBhvr additive="base">
                                        <p:cTn id="31" dur="500"/>
                                        <p:tgtEl>
                                          <p:spTgt spid="28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8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处理决策树中的过分拟合</a:t>
            </a:r>
            <a:r>
              <a:rPr lang="en-US" altLang="zh-CN">
                <a:ea typeface="宋体" pitchFamily="2" charset="-122"/>
              </a:rPr>
              <a:t>…</a:t>
            </a:r>
          </a:p>
        </p:txBody>
      </p:sp>
      <p:sp>
        <p:nvSpPr>
          <p:cNvPr id="2884"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solidFill>
                  <a:srgbClr val="FF0000"/>
                </a:solidFill>
                <a:ea typeface="宋体" pitchFamily="2" charset="-122"/>
              </a:rPr>
              <a:t>后剪枝</a:t>
            </a:r>
          </a:p>
          <a:p>
            <a:pPr lvl="1"/>
            <a:r>
              <a:rPr lang="zh-CN" altLang="en-US">
                <a:ea typeface="宋体" pitchFamily="2" charset="-122"/>
              </a:rPr>
              <a:t>在该方法中，初始决策树按照最大规模生长，然后进行剪枝的步骤，按照自底向上的方式修剪完全增长的决策树。</a:t>
            </a:r>
          </a:p>
          <a:p>
            <a:pPr lvl="1"/>
            <a:r>
              <a:rPr lang="zh-CN" altLang="en-US">
                <a:ea typeface="宋体" pitchFamily="2" charset="-122"/>
              </a:rPr>
              <a:t>修剪有两种做法</a:t>
            </a:r>
            <a:r>
              <a:rPr lang="en-US" altLang="zh-CN">
                <a:ea typeface="宋体" pitchFamily="2" charset="-122"/>
              </a:rPr>
              <a:t>:</a:t>
            </a:r>
          </a:p>
          <a:p>
            <a:pPr lvl="2"/>
            <a:r>
              <a:rPr lang="en-US" altLang="zh-CN">
                <a:ea typeface="宋体" pitchFamily="2" charset="-122"/>
              </a:rPr>
              <a:t> </a:t>
            </a:r>
            <a:r>
              <a:rPr lang="zh-CN" altLang="en-US">
                <a:ea typeface="宋体" pitchFamily="2" charset="-122"/>
              </a:rPr>
              <a:t>用新的叶结点替换子树，该叶结点的类标号由子树下记录中的多数类确定</a:t>
            </a:r>
          </a:p>
          <a:p>
            <a:pPr lvl="2"/>
            <a:r>
              <a:rPr lang="zh-CN" altLang="en-US">
                <a:ea typeface="宋体" pitchFamily="2" charset="-122"/>
              </a:rPr>
              <a:t>用子树中最常用的分支代替子树</a:t>
            </a:r>
          </a:p>
          <a:p>
            <a:pPr lvl="1"/>
            <a:endParaRPr lang="zh-CN" altLang="en-US">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additive="base">
                                        <p:cTn id="6" dur="1" fill="hold">
                                          <p:stCondLst>
                                            <p:cond delay="0"/>
                                          </p:stCondLst>
                                        </p:cTn>
                                        <p:tgtEl>
                                          <p:spTgt spid="2884">
                                            <p:txEl>
                                              <p:pRg st="1" end="1"/>
                                            </p:txEl>
                                          </p:spTgt>
                                        </p:tgtEl>
                                        <p:attrNameLst>
                                          <p:attrName>style.visibility</p:attrName>
                                        </p:attrNameLst>
                                      </p:cBhvr>
                                      <p:to>
                                        <p:strVal val="visible"/>
                                      </p:to>
                                    </p:set>
                                    <p:animEffect transition="in" filter="blinds(horizontal)">
                                      <p:cBhvr additive="base">
                                        <p:cTn id="7" dur="500"/>
                                        <p:tgtEl>
                                          <p:spTgt spid="288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3" presetClass="entr" presetSubtype="10" fill="hold" nodeType="clickEffect">
                                  <p:stCondLst>
                                    <p:cond delay="0"/>
                                  </p:stCondLst>
                                  <p:childTnLst>
                                    <p:set>
                                      <p:cBhvr additive="base">
                                        <p:cTn id="12" dur="1" fill="hold">
                                          <p:stCondLst>
                                            <p:cond delay="0"/>
                                          </p:stCondLst>
                                        </p:cTn>
                                        <p:tgtEl>
                                          <p:spTgt spid="2884">
                                            <p:txEl>
                                              <p:pRg st="2" end="2"/>
                                            </p:txEl>
                                          </p:spTgt>
                                        </p:tgtEl>
                                        <p:attrNameLst>
                                          <p:attrName>style.visibility</p:attrName>
                                        </p:attrNameLst>
                                      </p:cBhvr>
                                      <p:to>
                                        <p:strVal val="visible"/>
                                      </p:to>
                                    </p:set>
                                    <p:animEffect transition="in" filter="blinds(horizontal)">
                                      <p:cBhvr additive="base">
                                        <p:cTn id="13" dur="500"/>
                                        <p:tgtEl>
                                          <p:spTgt spid="2884">
                                            <p:txEl>
                                              <p:pRg st="2" end="2"/>
                                            </p:txEl>
                                          </p:spTgt>
                                        </p:tgtEl>
                                      </p:cBhvr>
                                    </p:animEffect>
                                  </p:childTnLst>
                                </p:cTn>
                              </p:par>
                              <p:par>
                                <p:cTn id="14" presetID="3" presetClass="entr" presetSubtype="10" fill="hold" nodeType="withEffect">
                                  <p:stCondLst>
                                    <p:cond delay="0"/>
                                  </p:stCondLst>
                                  <p:childTnLst>
                                    <p:set>
                                      <p:cBhvr additive="base">
                                        <p:cTn id="15" dur="1" fill="hold">
                                          <p:stCondLst>
                                            <p:cond delay="0"/>
                                          </p:stCondLst>
                                        </p:cTn>
                                        <p:tgtEl>
                                          <p:spTgt spid="2884">
                                            <p:txEl>
                                              <p:pRg st="3" end="3"/>
                                            </p:txEl>
                                          </p:spTgt>
                                        </p:tgtEl>
                                        <p:attrNameLst>
                                          <p:attrName>style.visibility</p:attrName>
                                        </p:attrNameLst>
                                      </p:cBhvr>
                                      <p:to>
                                        <p:strVal val="visible"/>
                                      </p:to>
                                    </p:set>
                                    <p:animEffect transition="in" filter="blinds(horizontal)">
                                      <p:cBhvr additive="base">
                                        <p:cTn id="16" dur="500"/>
                                        <p:tgtEl>
                                          <p:spTgt spid="2884">
                                            <p:txEl>
                                              <p:pRg st="3" end="3"/>
                                            </p:txEl>
                                          </p:spTgt>
                                        </p:tgtEl>
                                      </p:cBhvr>
                                    </p:animEffect>
                                  </p:childTnLst>
                                </p:cTn>
                              </p:par>
                              <p:par>
                                <p:cTn id="17" presetID="3" presetClass="entr" presetSubtype="10" fill="hold" nodeType="withEffect">
                                  <p:stCondLst>
                                    <p:cond delay="0"/>
                                  </p:stCondLst>
                                  <p:childTnLst>
                                    <p:set>
                                      <p:cBhvr additive="base">
                                        <p:cTn id="18" dur="1" fill="hold">
                                          <p:stCondLst>
                                            <p:cond delay="0"/>
                                          </p:stCondLst>
                                        </p:cTn>
                                        <p:tgtEl>
                                          <p:spTgt spid="2884">
                                            <p:txEl>
                                              <p:pRg st="4" end="4"/>
                                            </p:txEl>
                                          </p:spTgt>
                                        </p:tgtEl>
                                        <p:attrNameLst>
                                          <p:attrName>style.visibility</p:attrName>
                                        </p:attrNameLst>
                                      </p:cBhvr>
                                      <p:to>
                                        <p:strVal val="visible"/>
                                      </p:to>
                                    </p:set>
                                    <p:animEffect transition="in" filter="blinds(horizontal)">
                                      <p:cBhvr additive="base">
                                        <p:cTn id="19" dur="500"/>
                                        <p:tgtEl>
                                          <p:spTgt spid="288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8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处理决策树中的过分拟合</a:t>
            </a:r>
            <a:r>
              <a:rPr lang="en-US" altLang="zh-CN">
                <a:ea typeface="宋体" pitchFamily="2" charset="-122"/>
              </a:rPr>
              <a:t>…</a:t>
            </a:r>
            <a:endParaRPr lang="zh-CN" altLang="en-US">
              <a:ea typeface="宋体" pitchFamily="2" charset="-122"/>
            </a:endParaRPr>
          </a:p>
        </p:txBody>
      </p:sp>
      <p:sp>
        <p:nvSpPr>
          <p:cNvPr id="2888"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1"/>
            <a:endParaRPr lang="zh-CN" altLang="en-US">
              <a:ea typeface="宋体" pitchFamily="2" charset="-122"/>
            </a:endParaRPr>
          </a:p>
          <a:p>
            <a:pPr lvl="1"/>
            <a:r>
              <a:rPr lang="zh-CN" altLang="en-US">
                <a:ea typeface="宋体" pitchFamily="2" charset="-122"/>
              </a:rPr>
              <a:t>与先剪枝相比，后剪枝技术倾向于产生更好的结果。</a:t>
            </a:r>
          </a:p>
          <a:p>
            <a:pPr lvl="1"/>
            <a:r>
              <a:rPr lang="zh-CN" altLang="en-US">
                <a:ea typeface="宋体" pitchFamily="2" charset="-122"/>
              </a:rPr>
              <a:t>因为不像先剪枝，后剪枝是根据完全增长的决策树作出的剪枝决策，先剪枝则可能过早终止决策树的生长。</a:t>
            </a:r>
          </a:p>
          <a:p>
            <a:pPr lvl="1"/>
            <a:r>
              <a:rPr lang="zh-CN" altLang="en-US">
                <a:ea typeface="宋体" pitchFamily="2" charset="-122"/>
              </a:rPr>
              <a:t>然而，对于后剪枝，当子树被剪掉后，生长完全决策树的额外开销就被浪费了。</a:t>
            </a:r>
          </a:p>
        </p:txBody>
      </p:sp>
    </p:spTree>
  </p:cSld>
  <p:clrMapOvr>
    <a:masterClrMapping/>
  </p:clrMapOvr>
  <p:transition/>
  <p:timing/>
</p:sld>
</file>

<file path=ppt/slides/slide8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891"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b="0">
                <a:ea typeface="宋体" pitchFamily="2" charset="-122"/>
              </a:rPr>
              <a:t>不平衡类问题</a:t>
            </a:r>
          </a:p>
        </p:txBody>
      </p:sp>
      <p:sp>
        <p:nvSpPr>
          <p:cNvPr id="2892"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endParaRPr lang="zh-CN" altLang="en-US">
              <a:ea typeface="宋体" pitchFamily="2" charset="-122"/>
            </a:endParaRPr>
          </a:p>
          <a:p>
            <a:pPr lvl="0"/>
            <a:endParaRPr lang="zh-CN" altLang="en-US">
              <a:ea typeface="宋体" pitchFamily="2" charset="-122"/>
            </a:endParaRPr>
          </a:p>
          <a:p>
            <a:pPr lvl="0"/>
            <a:endParaRPr lang="zh-CN" altLang="en-US">
              <a:ea typeface="宋体" pitchFamily="2" charset="-122"/>
            </a:endParaRPr>
          </a:p>
          <a:p>
            <a:pPr lvl="0"/>
            <a:endParaRPr lang="zh-CN" altLang="en-US">
              <a:ea typeface="宋体" pitchFamily="2" charset="-122"/>
            </a:endParaRPr>
          </a:p>
          <a:p>
            <a:pPr lvl="0"/>
            <a:endParaRPr lang="zh-CN" altLang="en-US">
              <a:ea typeface="宋体" pitchFamily="2" charset="-122"/>
            </a:endParaRPr>
          </a:p>
          <a:p>
            <a:pPr lvl="0"/>
            <a:endParaRPr lang="zh-CN" altLang="en-US">
              <a:ea typeface="宋体" pitchFamily="2" charset="-122"/>
            </a:endParaRPr>
          </a:p>
          <a:p>
            <a:pPr lvl="0"/>
            <a:endParaRPr lang="zh-CN" altLang="en-US">
              <a:ea typeface="宋体" pitchFamily="2" charset="-122"/>
            </a:endParaRPr>
          </a:p>
        </p:txBody>
      </p:sp>
      <p:graphicFrame>
        <p:nvGraphicFramePr>
          <p:cNvPr id="2893" name=""/>
          <p:cNvGraphicFramePr>
            <a:graphicFrameLocks noGrp="1"/>
          </p:cNvGraphicFramePr>
          <p:nvPr/>
        </p:nvGraphicFramePr>
        <p:xfrm>
          <a:off x="1524000" y="1219200"/>
          <a:ext cx="6096000" cy="2821940"/>
        </p:xfrm>
        <a:graphic>
          <a:graphicData uri="http://schemas.openxmlformats.org/drawingml/2006/table">
            <a:tbl>
              <a:tblPr/>
              <a:tblGrid>
                <a:gridCol w="1524000"/>
                <a:gridCol w="1524000"/>
                <a:gridCol w="1524000"/>
                <a:gridCol w="1524000"/>
              </a:tblGrid>
              <a:tr h="660400">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endParaRPr kumimoji="0" lang="zh-CN" altLang="en-US" sz="2400" u="none">
                        <a:latin typeface="Arial" pitchFamily="34" charset="0"/>
                        <a:ea typeface="宋体" pitchFamily="2" charset="-122"/>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400" u="none">
                          <a:latin typeface="Arial" pitchFamily="34" charset="0"/>
                          <a:ea typeface="宋体" pitchFamily="2" charset="-122"/>
                        </a:rPr>
                        <a:t>PREDICTED CLASS</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hMerge="1">
                  <a:txBody>
                    <a:bodyPr/>
                    <a:lstStyle/>
                    <a:p/>
                  </a:txBody>
                  <a:tcP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txBody>
                  <a:tcPr>
                    <a:lnR w="28575" cap="flat">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5800">
                <a:tc rowSpan="3">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br>
                        <a:rPr kumimoji="0" lang="zh-CN" altLang="en-US" sz="2400" u="none">
                          <a:latin typeface="Arial" pitchFamily="34" charset="0"/>
                          <a:ea typeface="宋体" pitchFamily="2" charset="-122"/>
                        </a:rPr>
                      </a:br>
                    </a:p>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400" u="none">
                          <a:latin typeface="Arial" pitchFamily="34" charset="0"/>
                          <a:ea typeface="宋体" pitchFamily="2" charset="-122"/>
                        </a:rPr>
                        <a:t>ACTUAL</a:t>
                      </a:r>
                      <a:br>
                        <a:rPr kumimoji="0" lang="en-US" altLang="zh-CN" sz="2400" u="none">
                          <a:latin typeface="Arial" pitchFamily="34" charset="0"/>
                          <a:ea typeface="宋体" pitchFamily="2" charset="-122"/>
                        </a:rPr>
                      </a:br>
                      <a:r>
                        <a:rPr kumimoji="0" lang="en-US" altLang="zh-CN" sz="2400" u="none">
                          <a:latin typeface="Arial" pitchFamily="34" charset="0"/>
                          <a:ea typeface="宋体" pitchFamily="2" charset="-122"/>
                        </a:rPr>
                        <a:t>CLASS</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endParaRPr kumimoji="0" lang="zh-CN" altLang="en-US" sz="2000" u="none">
                        <a:latin typeface="Arial" pitchFamily="34" charset="0"/>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Class=Yes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Class=No</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73100">
                <a:tc vMerge="1">
                  <a:txBody>
                    <a:bodyPr/>
                    <a:lstStyle/>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Class=Yes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a</a:t>
                      </a:r>
                      <a:br>
                        <a:rPr kumimoji="0" lang="en-US" altLang="zh-CN" sz="2000" u="none">
                          <a:latin typeface="Arial" pitchFamily="34" charset="0"/>
                          <a:ea typeface="宋体" pitchFamily="2" charset="-122"/>
                        </a:rPr>
                      </a:br>
                      <a:r>
                        <a:rPr kumimoji="0" lang="en-US" altLang="zh-CN" sz="2000" u="none">
                          <a:solidFill>
                            <a:srgbClr val="FF0000"/>
                          </a:solidFill>
                          <a:latin typeface="Arial" pitchFamily="34" charset="0"/>
                          <a:ea typeface="宋体" pitchFamily="2" charset="-122"/>
                        </a:rPr>
                        <a:t>(TP)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b</a:t>
                      </a:r>
                      <a:br>
                        <a:rPr kumimoji="0" lang="en-US" altLang="zh-CN" sz="2000" u="none">
                          <a:latin typeface="Arial" pitchFamily="34" charset="0"/>
                          <a:ea typeface="宋体" pitchFamily="2" charset="-122"/>
                        </a:rPr>
                      </a:br>
                      <a:r>
                        <a:rPr kumimoji="0" lang="en-US" altLang="zh-CN" sz="2000" u="none">
                          <a:solidFill>
                            <a:srgbClr val="FF0000"/>
                          </a:solidFill>
                          <a:latin typeface="Arial" pitchFamily="34" charset="0"/>
                          <a:ea typeface="宋体" pitchFamily="2" charset="-122"/>
                        </a:rPr>
                        <a:t>(FN)</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74700">
                <a:tc vMerge="1">
                  <a:txBody>
                    <a:bodyPr/>
                    <a:lstStyle/>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28575" cap="flat">
                      <a:prstDash val="solid"/>
                      <a:round/>
                      <a:headEnd type="none" w="med" len="med"/>
                      <a:tailEnd type="none" w="med" len="med"/>
                    </a:lnB>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Class=No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c</a:t>
                      </a:r>
                      <a:br>
                        <a:rPr kumimoji="0" lang="en-US" altLang="zh-CN" sz="2000" u="none">
                          <a:latin typeface="Arial" pitchFamily="34" charset="0"/>
                          <a:ea typeface="宋体" pitchFamily="2" charset="-122"/>
                        </a:rPr>
                      </a:br>
                      <a:r>
                        <a:rPr kumimoji="0" lang="en-US" altLang="zh-CN" sz="2000" u="none">
                          <a:solidFill>
                            <a:srgbClr val="FF0000"/>
                          </a:solidFill>
                          <a:latin typeface="Arial" pitchFamily="34" charset="0"/>
                          <a:ea typeface="宋体" pitchFamily="2" charset="-122"/>
                        </a:rPr>
                        <a:t>(FP)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lIns="91440" tIns="45720" rIns="91440" bIns="45720"/>
                    <a:lstStyle>
                      <a:lvl1pPr marL="0" indent="0" algn="l" defTabSz="914400" rtl="0" eaLnBrk="1" hangingPunct="1">
                        <a:buNone/>
                        <a:defRPr lang="ru-RU" altLang="en-US" sz="1800">
                          <a:solidFill>
                            <a:schemeClr val="tx1"/>
                          </a:solidFill>
                          <a:latin typeface="Calibri"/>
                          <a:ea typeface="Calibri"/>
                        </a:defRPr>
                      </a:lvl1pPr>
                      <a:lvl2pPr marL="457200" indent="0" algn="l" defTabSz="914400" rtl="0" eaLnBrk="1" hangingPunct="1">
                        <a:buNone/>
                        <a:defRPr lang="ru-RU" altLang="en-US" sz="1800">
                          <a:solidFill>
                            <a:schemeClr val="tx1"/>
                          </a:solidFill>
                          <a:latin typeface="Calibri"/>
                          <a:ea typeface="Calibri"/>
                        </a:defRPr>
                      </a:lvl2pPr>
                      <a:lvl3pPr marL="914400" indent="0" algn="l" defTabSz="914400" rtl="0" eaLnBrk="1" hangingPunct="1">
                        <a:buNone/>
                        <a:defRPr lang="ru-RU" altLang="en-US" sz="1800">
                          <a:solidFill>
                            <a:schemeClr val="tx1"/>
                          </a:solidFill>
                          <a:latin typeface="Calibri"/>
                          <a:ea typeface="Calibri"/>
                        </a:defRPr>
                      </a:lvl3pPr>
                      <a:lvl4pPr marL="1371600" indent="0" algn="l" defTabSz="914400" rtl="0" eaLnBrk="1" hangingPunct="1">
                        <a:buNone/>
                        <a:defRPr lang="ru-RU" altLang="en-US" sz="1800">
                          <a:solidFill>
                            <a:schemeClr val="tx1"/>
                          </a:solidFill>
                          <a:latin typeface="Calibri"/>
                          <a:ea typeface="Calibri"/>
                        </a:defRPr>
                      </a:lvl4pPr>
                      <a:lvl5pPr marL="1828800" indent="0" algn="l" defTabSz="914400" rtl="0" eaLnBrk="1" hangingPunct="1">
                        <a:buNone/>
                        <a:defRPr lang="ru-RU" altLang="en-US" sz="1800">
                          <a:solidFill>
                            <a:schemeClr val="tx1"/>
                          </a:solidFill>
                          <a:latin typeface="Calibri"/>
                          <a:ea typeface="Calibri"/>
                        </a:defRPr>
                      </a:lvl5pPr>
                    </a:lstStyle>
                    <a:p>
                      <a:pPr marL="0" lvl="0" indent="0" algn="ctr" eaLnBrk="0" fontAlgn="base" hangingPunct="0">
                        <a:lnSpc>
                          <a:spcPct val="100000"/>
                        </a:lnSpc>
                        <a:spcBef>
                          <a:spcPct val="10000"/>
                        </a:spcBef>
                        <a:spcAft>
                          <a:spcPts val="400"/>
                        </a:spcAft>
                        <a:buClr>
                          <a:srgbClr val="0C7B9C"/>
                        </a:buClr>
                        <a:buSzPct val="75000"/>
                        <a:buFont typeface="Monotype Sorts" pitchFamily="2" charset="2"/>
                        <a:buNone/>
                      </a:pPr>
                      <a:r>
                        <a:rPr kumimoji="0" lang="en-US" altLang="zh-CN" sz="2000" u="none">
                          <a:latin typeface="Arial" pitchFamily="34" charset="0"/>
                          <a:ea typeface="宋体" pitchFamily="2" charset="-122"/>
                        </a:rPr>
                        <a:t>d</a:t>
                      </a:r>
                      <a:br>
                        <a:rPr kumimoji="0" lang="en-US" altLang="zh-CN" sz="2000" u="none">
                          <a:latin typeface="Arial" pitchFamily="34" charset="0"/>
                          <a:ea typeface="宋体" pitchFamily="2" charset="-122"/>
                        </a:rPr>
                      </a:br>
                      <a:r>
                        <a:rPr kumimoji="0" lang="en-US" altLang="zh-CN" sz="2000" u="none">
                          <a:solidFill>
                            <a:srgbClr val="FF0000"/>
                          </a:solidFill>
                          <a:latin typeface="Arial" pitchFamily="34" charset="0"/>
                          <a:ea typeface="宋体" pitchFamily="2" charset="-122"/>
                        </a:rPr>
                        <a:t>(TN)</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aphicFrame>
        <p:nvGraphicFramePr>
          <p:cNvPr id="2916" name=""/>
          <p:cNvGraphicFramePr>
            <a:graphicFrameLocks noChangeAspect="1"/>
          </p:cNvGraphicFramePr>
          <p:nvPr/>
        </p:nvGraphicFramePr>
        <p:xfrm>
          <a:off x="152400" y="4648200"/>
          <a:ext cx="8610600" cy="990600"/>
        </p:xfrm>
        <a:graphic>
          <a:graphicData uri="http://schemas.openxmlformats.org/presentationml/2006/ole">
            <mc:AlternateContent xmlns:mc="http://schemas.openxmlformats.org/markup-compatibility/2006">
              <mc:Choice xmlns:v="urn:schemas-microsoft-com:vml" Requires="v">
                <p:oleObj spid="_x0000_s1112" name="公式" r:id="rId2" progId="Equation.3">
                  <p:embed/>
                </p:oleObj>
              </mc:Choice>
              <mc:Fallback>
                <p:oleObj name="公式" r:id="rId2" progId="Equation.3">
                  <p:embed/>
                  <p:pic>
                    <p:nvPicPr>
                      <p:cNvPr id="0" name="OLE substitute image"/>
                      <p:cNvPicPr/>
                      <p:nvPr/>
                    </p:nvPicPr>
                    <p:blipFill>
                      <a:blip r:embed="rId3"/>
                      <a:stretch>
                        <a:fillRect/>
                      </a:stretch>
                    </p:blipFill>
                    <p:spPr>
                      <a:xfrm>
                        <a:off x="152400" y="4648200"/>
                        <a:ext cx="8610600" cy="990600"/>
                      </a:xfrm>
                      <a:prstGeom prst="rect">
                        <a:avLst/>
                      </a:prstGeom>
                    </p:spPr>
                  </p:pic>
                </p:oleObj>
              </mc:Fallback>
            </mc:AlternateContent>
          </a:graphicData>
        </a:graphic>
      </p:graphicFrame>
    </p:spTree>
  </p:cSld>
  <p:clrMapOvr>
    <a:masterClrMapping/>
  </p:clrMapOvr>
  <p:transition/>
  <p:timing/>
</p:sld>
</file>

<file path=ppt/slides/slide8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19"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准确率的缺点</a:t>
            </a:r>
          </a:p>
        </p:txBody>
      </p:sp>
      <p:sp>
        <p:nvSpPr>
          <p:cNvPr id="2920"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考虑</a:t>
            </a:r>
            <a:r>
              <a:rPr lang="en-US" altLang="zh-CN">
                <a:ea typeface="宋体" pitchFamily="2" charset="-122"/>
              </a:rPr>
              <a:t>2</a:t>
            </a:r>
            <a:r>
              <a:rPr lang="zh-CN" altLang="en-US">
                <a:ea typeface="宋体" pitchFamily="2" charset="-122"/>
              </a:rPr>
              <a:t>类问题</a:t>
            </a:r>
          </a:p>
          <a:p>
            <a:pPr lvl="1"/>
            <a:r>
              <a:rPr lang="zh-CN" altLang="en-US">
                <a:ea typeface="宋体" pitchFamily="2" charset="-122"/>
              </a:rPr>
              <a:t>类</a:t>
            </a:r>
            <a:r>
              <a:rPr lang="en-US" altLang="zh-CN">
                <a:ea typeface="宋体" pitchFamily="2" charset="-122"/>
              </a:rPr>
              <a:t>0</a:t>
            </a:r>
            <a:r>
              <a:rPr lang="zh-CN" altLang="en-US">
                <a:ea typeface="宋体" pitchFamily="2" charset="-122"/>
              </a:rPr>
              <a:t>的样本数 </a:t>
            </a:r>
            <a:r>
              <a:rPr lang="en-US" altLang="zh-CN">
                <a:ea typeface="宋体" pitchFamily="2" charset="-122"/>
              </a:rPr>
              <a:t>= 9990</a:t>
            </a:r>
          </a:p>
          <a:p>
            <a:pPr lvl="1"/>
            <a:r>
              <a:rPr lang="zh-CN" altLang="en-US">
                <a:ea typeface="宋体" pitchFamily="2" charset="-122"/>
              </a:rPr>
              <a:t>类</a:t>
            </a:r>
            <a:r>
              <a:rPr lang="en-US" altLang="zh-CN">
                <a:ea typeface="宋体" pitchFamily="2" charset="-122"/>
              </a:rPr>
              <a:t>1</a:t>
            </a:r>
            <a:r>
              <a:rPr lang="zh-CN" altLang="en-US">
                <a:ea typeface="宋体" pitchFamily="2" charset="-122"/>
              </a:rPr>
              <a:t>的样本数 </a:t>
            </a:r>
            <a:r>
              <a:rPr lang="en-US" altLang="zh-CN">
                <a:ea typeface="宋体" pitchFamily="2" charset="-122"/>
              </a:rPr>
              <a:t>= 10</a:t>
            </a:r>
          </a:p>
          <a:p>
            <a:pPr lvl="1"/>
            <a:endParaRPr lang="en-US" altLang="zh-CN">
              <a:ea typeface="宋体" pitchFamily="2" charset="-122"/>
            </a:endParaRPr>
          </a:p>
          <a:p>
            <a:pPr lvl="0"/>
            <a:r>
              <a:rPr lang="zh-CN" altLang="en-US">
                <a:ea typeface="宋体" pitchFamily="2" charset="-122"/>
              </a:rPr>
              <a:t>如果模型预测所有的样本为类</a:t>
            </a:r>
            <a:r>
              <a:rPr lang="en-US" altLang="zh-CN">
                <a:ea typeface="宋体" pitchFamily="2" charset="-122"/>
              </a:rPr>
              <a:t>0, </a:t>
            </a:r>
          </a:p>
          <a:p>
            <a:pPr lvl="0">
              <a:buNone/>
            </a:pPr>
            <a:r>
              <a:rPr lang="zh-CN" altLang="en-US">
                <a:ea typeface="宋体" pitchFamily="2" charset="-122"/>
              </a:rPr>
              <a:t>   准确率为 </a:t>
            </a:r>
            <a:r>
              <a:rPr lang="en-US" altLang="zh-CN">
                <a:ea typeface="宋体" pitchFamily="2" charset="-122"/>
              </a:rPr>
              <a:t>9990/10000 = 99.9 %</a:t>
            </a:r>
          </a:p>
          <a:p>
            <a:pPr lvl="1"/>
            <a:r>
              <a:rPr lang="zh-CN" altLang="en-US">
                <a:ea typeface="宋体" pitchFamily="2" charset="-122"/>
              </a:rPr>
              <a:t>准确率的值具有欺骗性</a:t>
            </a:r>
          </a:p>
          <a:p>
            <a:pPr lvl="1"/>
            <a:r>
              <a:rPr lang="zh-CN" altLang="en-US">
                <a:ea typeface="宋体" pitchFamily="2" charset="-122"/>
              </a:rPr>
              <a:t>模型并没有分对类</a:t>
            </a:r>
            <a:r>
              <a:rPr lang="en-US" altLang="zh-CN">
                <a:ea typeface="宋体" pitchFamily="2" charset="-122"/>
              </a:rPr>
              <a:t>1</a:t>
            </a:r>
            <a:r>
              <a:rPr lang="zh-CN" altLang="en-US">
                <a:ea typeface="宋体" pitchFamily="2" charset="-122"/>
              </a:rPr>
              <a:t>的任何样本</a:t>
            </a:r>
          </a:p>
          <a:p>
            <a:pPr lvl="0"/>
            <a:endParaRPr lang="en-US" altLang="zh-CN">
              <a:ea typeface="宋体" pitchFamily="2" charset="-122"/>
            </a:endParaRPr>
          </a:p>
          <a:p>
            <a:pPr lvl="0"/>
            <a:endParaRPr lang="zh-CN" altLang="en-US">
              <a:ea typeface="宋体" pitchFamily="2" charset="-122"/>
            </a:endParaRPr>
          </a:p>
        </p:txBody>
      </p:sp>
    </p:spTree>
  </p:cSld>
  <p:clrMapOvr>
    <a:masterClrMapping/>
  </p:clrMapOvr>
  <p:transition/>
  <p:timing/>
</p:sld>
</file>

<file path=ppt/slides/slide8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23"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度量</a:t>
            </a:r>
          </a:p>
        </p:txBody>
      </p:sp>
      <p:graphicFrame>
        <p:nvGraphicFramePr>
          <p:cNvPr id="2924" name=""/>
          <p:cNvGraphicFramePr>
            <a:graphicFrameLocks noChangeAspect="1"/>
          </p:cNvGraphicFramePr>
          <p:nvPr/>
        </p:nvGraphicFramePr>
        <p:xfrm>
          <a:off x="1136650" y="1066800"/>
          <a:ext cx="6229350" cy="5087938"/>
        </p:xfrm>
        <a:graphic>
          <a:graphicData uri="http://schemas.openxmlformats.org/presentationml/2006/ole">
            <mc:AlternateContent xmlns:mc="http://schemas.openxmlformats.org/markup-compatibility/2006">
              <mc:Choice xmlns:v="urn:schemas-microsoft-com:vml" Requires="v">
                <p:oleObj spid="_x0000_s1113" name="Equation" r:id="rId2" progId="Equation.DSMT4">
                  <p:embed/>
                </p:oleObj>
              </mc:Choice>
              <mc:Fallback>
                <p:oleObj name="Equation" r:id="rId2" progId="Equation.DSMT4">
                  <p:embed/>
                  <p:pic>
                    <p:nvPicPr>
                      <p:cNvPr id="0" name="OLE substitute image"/>
                      <p:cNvPicPr/>
                      <p:nvPr/>
                    </p:nvPicPr>
                    <p:blipFill>
                      <a:blip r:embed="rId3"/>
                      <a:stretch>
                        <a:fillRect/>
                      </a:stretch>
                    </p:blipFill>
                    <p:spPr>
                      <a:xfrm>
                        <a:off x="1136650" y="1066800"/>
                        <a:ext cx="6229350" cy="5087938"/>
                      </a:xfrm>
                      <a:prstGeom prst="rect">
                        <a:avLst/>
                      </a:prstGeom>
                    </p:spPr>
                  </p:pic>
                </p:oleObj>
              </mc:Fallback>
            </mc:AlternateContent>
          </a:graphicData>
        </a:graphic>
      </p:graphicFrame>
    </p:spTree>
  </p:cSld>
  <p:clrMapOvr>
    <a:masterClrMapping/>
  </p:clrMapOvr>
  <p:transition/>
  <p:timing/>
</p:sld>
</file>

<file path=ppt/slides/slide8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27"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endParaRPr lang="zh-CN" altLang="en-US">
              <a:ea typeface="宋体" pitchFamily="2" charset="-122"/>
            </a:endParaRPr>
          </a:p>
        </p:txBody>
      </p:sp>
      <p:sp>
        <p:nvSpPr>
          <p:cNvPr id="2928"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zh-CN" altLang="en-US">
                <a:ea typeface="宋体" pitchFamily="2" charset="-122"/>
              </a:rPr>
              <a:t>精度确定在分类器断言为正类的那部分记录中实际为正类的记录所占的比例。精度越高，分类器的假正类错误率就越低。</a:t>
            </a:r>
          </a:p>
          <a:p>
            <a:pPr lvl="0"/>
            <a:r>
              <a:rPr lang="zh-CN" altLang="en-US">
                <a:ea typeface="宋体" pitchFamily="2" charset="-122"/>
              </a:rPr>
              <a:t>召回率度量被分类器正确预测的正样本的比例。具有高召回率的分类器很少将正样本误分为负样本。</a:t>
            </a:r>
          </a:p>
        </p:txBody>
      </p:sp>
    </p:spTree>
  </p:cSld>
  <p:clrMapOvr>
    <a:masterClrMapping/>
  </p:clrMapOvr>
  <p:transition/>
  <p:timing/>
</p:sld>
</file>

<file path=ppt/slides/slide8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31" name=""/>
          <p:cNvSpPr/>
          <p:nvPr>
            <p:ph type="title" idx="4294967295"/>
          </p:nvPr>
        </p:nvSpPr>
        <p:spPr>
          <a:xfrm>
            <a:off x="381000" y="152400"/>
            <a:ext cx="8534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en-US" altLang="zh-CN">
                <a:ea typeface="宋体" pitchFamily="2" charset="-122"/>
              </a:rPr>
              <a:t>ROC (Receiver Operating Characteristic)</a:t>
            </a:r>
          </a:p>
        </p:txBody>
      </p:sp>
      <p:sp>
        <p:nvSpPr>
          <p:cNvPr id="2932" name=""/>
          <p:cNvSpPr/>
          <p:nvPr>
            <p:ph type="body" idx="4294967295"/>
          </p:nvPr>
        </p:nvSpPr>
        <p:spPr>
          <a:xfrm>
            <a:off x="411162" y="1143000"/>
            <a:ext cx="8318500" cy="5181600"/>
          </a:xfrm>
          <a:prstGeom prst="rect">
            <a:avLst/>
          </a:prstGeom>
          <a:noFill/>
          <a:ln w="12700" cap="flat">
            <a:noFill/>
            <a:prstDash val="solid"/>
            <a:miter lim="800000"/>
            <a:headEnd type="none" w="med" len="med"/>
            <a:tailEnd type="none" w="med" len="med"/>
          </a:ln>
        </p:spPr>
        <p:txBody>
          <a:bodyPr/>
          <a:lstStyle>
            <a:lvl1pPr marL="292100" indent="-292100" algn="l" defTabSz="914400" rtl="0" eaLnBrk="0" fontAlgn="base" hangingPunct="0">
              <a:lnSpc>
                <a:spcPct val="100000"/>
              </a:lnSpc>
              <a:spcBef>
                <a:spcPct val="10000"/>
              </a:spcBef>
              <a:spcAft>
                <a:spcPts val="400"/>
              </a:spcAft>
              <a:buClr>
                <a:srgbClr val="0C7B9C"/>
              </a:buClr>
              <a:buSzPct val="75000"/>
              <a:buFont typeface="Monotype Sorts" pitchFamily="2" charset="2"/>
              <a:buChar char="l"/>
              <a:defRPr kumimoji="0" lang="ru-RU" altLang="en-US" sz="2800" b="0" i="0" u="none">
                <a:solidFill>
                  <a:schemeClr val="tx1"/>
                </a:solidFill>
                <a:latin typeface="Arial" pitchFamily="34" charset="0"/>
              </a:defRPr>
            </a:lvl1pPr>
            <a:lvl2pPr marL="800100" indent="-342900" algn="l" defTabSz="914400" rtl="0" eaLnBrk="0" fontAlgn="base" hangingPunct="0">
              <a:lnSpc>
                <a:spcPct val="100000"/>
              </a:lnSpc>
              <a:spcBef>
                <a:spcPct val="10000"/>
              </a:spcBef>
              <a:spcAft>
                <a:spcPts val="400"/>
              </a:spcAft>
              <a:buClr>
                <a:srgbClr val="0C7B9C"/>
              </a:buClr>
              <a:buSzTx/>
              <a:buFont typeface="Arial" pitchFamily="34" charset="0"/>
              <a:buChar char="–"/>
              <a:defRPr kumimoji="0" lang="ru-RU" altLang="en-US" sz="2800" b="0" i="0" u="none">
                <a:solidFill>
                  <a:schemeClr val="tx1"/>
                </a:solidFill>
                <a:latin typeface="Arial" pitchFamily="34" charset="0"/>
              </a:defRPr>
            </a:lvl2pPr>
            <a:lvl3pPr marL="914400" indent="0" algn="l" defTabSz="914400" rtl="0" eaLnBrk="0" fontAlgn="base" hangingPunct="0">
              <a:lnSpc>
                <a:spcPct val="100000"/>
              </a:lnSpc>
              <a:spcBef>
                <a:spcPct val="10000"/>
              </a:spcBef>
              <a:spcAft>
                <a:spcPts val="400"/>
              </a:spcAft>
              <a:buClr>
                <a:srgbClr val="0C7B9C"/>
              </a:buClr>
              <a:buSzPct val="70000"/>
              <a:buFont typeface="Wingdings" pitchFamily="2" charset="2"/>
              <a:buChar char="u"/>
              <a:defRPr kumimoji="0" lang="ru-RU" altLang="en-US" sz="2400" b="0" i="0" u="none">
                <a:solidFill>
                  <a:schemeClr val="tx1"/>
                </a:solidFill>
                <a:latin typeface="Arial" pitchFamily="34" charset="0"/>
              </a:defRPr>
            </a:lvl3pPr>
            <a:lvl4pPr marL="16002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4pPr>
            <a:lvl5pPr marL="2057400" indent="-228600" algn="l" defTabSz="914400" rtl="0" eaLnBrk="0" fontAlgn="base" hangingPunct="0">
              <a:lnSpc>
                <a:spcPct val="100000"/>
              </a:lnSpc>
              <a:spcBef>
                <a:spcPct val="20000"/>
              </a:spcBef>
              <a:spcAft>
                <a:spcPct val="0"/>
              </a:spcAft>
              <a:buClrTx/>
              <a:buSzTx/>
              <a:buFontTx/>
              <a:buChar char="•"/>
              <a:defRPr kumimoji="0" lang="ru-RU" altLang="en-US" sz="2000" b="0" i="0" u="none">
                <a:solidFill>
                  <a:schemeClr val="tx1"/>
                </a:solidFill>
                <a:latin typeface="Times New Roman" pitchFamily="18" charset="0"/>
              </a:defRPr>
            </a:lvl5pPr>
          </a:lstStyle>
          <a:p>
            <a:pPr lvl="0"/>
            <a:r>
              <a:rPr lang="en-US" altLang="zh-CN">
                <a:ea typeface="宋体" pitchFamily="2" charset="-122"/>
              </a:rPr>
              <a:t>ROC</a:t>
            </a:r>
            <a:r>
              <a:rPr lang="zh-CN" altLang="en-US">
                <a:ea typeface="宋体" pitchFamily="2" charset="-122"/>
              </a:rPr>
              <a:t>曲线是显示分类器真正率（</a:t>
            </a:r>
            <a:r>
              <a:rPr lang="en-US" altLang="zh-CN">
                <a:ea typeface="宋体" pitchFamily="2" charset="-122"/>
              </a:rPr>
              <a:t>TPR</a:t>
            </a:r>
            <a:r>
              <a:rPr lang="zh-CN" altLang="en-US">
                <a:ea typeface="宋体" pitchFamily="2" charset="-122"/>
              </a:rPr>
              <a:t>）和假正率（</a:t>
            </a:r>
            <a:r>
              <a:rPr lang="en-US" altLang="zh-CN">
                <a:ea typeface="宋体" pitchFamily="2" charset="-122"/>
              </a:rPr>
              <a:t>FPR</a:t>
            </a:r>
            <a:r>
              <a:rPr lang="zh-CN" altLang="en-US">
                <a:ea typeface="宋体" pitchFamily="2" charset="-122"/>
              </a:rPr>
              <a:t>）之间折中的一种图形化方法。</a:t>
            </a:r>
          </a:p>
          <a:p>
            <a:pPr lvl="0"/>
            <a:r>
              <a:rPr lang="en-US" altLang="zh-CN">
                <a:ea typeface="宋体" pitchFamily="2" charset="-122"/>
              </a:rPr>
              <a:t>ROC </a:t>
            </a:r>
            <a:r>
              <a:rPr lang="zh-CN" altLang="en-US">
                <a:ea typeface="宋体" pitchFamily="2" charset="-122"/>
              </a:rPr>
              <a:t>曲线上有几个关键点，它们有公认的解释：</a:t>
            </a:r>
            <a:endParaRPr lang="en-US" altLang="zh-CN">
              <a:ea typeface="宋体" pitchFamily="2" charset="-122"/>
            </a:endParaRPr>
          </a:p>
          <a:p>
            <a:pPr lvl="1"/>
            <a:r>
              <a:rPr lang="zh-CN" altLang="en-US">
                <a:ea typeface="宋体" pitchFamily="2" charset="-122"/>
              </a:rPr>
              <a:t>（</a:t>
            </a:r>
            <a:r>
              <a:rPr lang="en-US" altLang="zh-CN">
                <a:ea typeface="宋体" pitchFamily="2" charset="-122"/>
              </a:rPr>
              <a:t>TPR=0</a:t>
            </a:r>
            <a:r>
              <a:rPr lang="zh-CN" altLang="en-US">
                <a:ea typeface="宋体" pitchFamily="2" charset="-122"/>
              </a:rPr>
              <a:t>，</a:t>
            </a:r>
            <a:r>
              <a:rPr lang="en-US" altLang="zh-CN">
                <a:ea typeface="宋体" pitchFamily="2" charset="-122"/>
              </a:rPr>
              <a:t>FPR=0</a:t>
            </a:r>
            <a:r>
              <a:rPr lang="zh-CN" altLang="en-US">
                <a:ea typeface="宋体" pitchFamily="2" charset="-122"/>
              </a:rPr>
              <a:t>）：把每个实例都预测为负类的模型</a:t>
            </a:r>
          </a:p>
          <a:p>
            <a:pPr lvl="1"/>
            <a:r>
              <a:rPr lang="zh-CN" altLang="en-US">
                <a:ea typeface="宋体" pitchFamily="2" charset="-122"/>
              </a:rPr>
              <a:t>（</a:t>
            </a:r>
            <a:r>
              <a:rPr lang="en-US" altLang="zh-CN">
                <a:ea typeface="宋体" pitchFamily="2" charset="-122"/>
              </a:rPr>
              <a:t>TPR=1</a:t>
            </a:r>
            <a:r>
              <a:rPr lang="zh-CN" altLang="en-US">
                <a:ea typeface="宋体" pitchFamily="2" charset="-122"/>
              </a:rPr>
              <a:t>，</a:t>
            </a:r>
            <a:r>
              <a:rPr lang="en-US" altLang="zh-CN">
                <a:ea typeface="宋体" pitchFamily="2" charset="-122"/>
              </a:rPr>
              <a:t>FPR=1</a:t>
            </a:r>
            <a:r>
              <a:rPr lang="zh-CN" altLang="en-US">
                <a:ea typeface="宋体" pitchFamily="2" charset="-122"/>
              </a:rPr>
              <a:t>）：把每个实例都预测为正类的模型</a:t>
            </a:r>
          </a:p>
          <a:p>
            <a:pPr lvl="1"/>
            <a:r>
              <a:rPr lang="zh-CN" altLang="en-US">
                <a:ea typeface="宋体" pitchFamily="2" charset="-122"/>
              </a:rPr>
              <a:t>（</a:t>
            </a:r>
            <a:r>
              <a:rPr lang="en-US" altLang="zh-CN">
                <a:ea typeface="宋体" pitchFamily="2" charset="-122"/>
              </a:rPr>
              <a:t>TPR=1</a:t>
            </a:r>
            <a:r>
              <a:rPr lang="zh-CN" altLang="en-US">
                <a:ea typeface="宋体" pitchFamily="2" charset="-122"/>
              </a:rPr>
              <a:t>，</a:t>
            </a:r>
            <a:r>
              <a:rPr lang="en-US" altLang="zh-CN">
                <a:ea typeface="宋体" pitchFamily="2" charset="-122"/>
              </a:rPr>
              <a:t>FPR=0</a:t>
            </a:r>
            <a:r>
              <a:rPr lang="zh-CN" altLang="en-US">
                <a:ea typeface="宋体" pitchFamily="2" charset="-122"/>
              </a:rPr>
              <a:t>）：理想模型</a:t>
            </a:r>
          </a:p>
          <a:p>
            <a:pPr lvl="0"/>
            <a:endParaRPr lang="en-US" altLang="zh-CN">
              <a:ea typeface="宋体" pitchFamily="2" charset="-122"/>
            </a:endParaRPr>
          </a:p>
        </p:txBody>
      </p:sp>
    </p:spTree>
  </p:cSld>
  <p:clrMapOvr>
    <a:masterClrMapping/>
  </p:clrMapOvr>
  <p:transition/>
  <p:timing/>
</p:sld>
</file>

<file path=ppt/slides/slide9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35"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使用</a:t>
            </a:r>
            <a:r>
              <a:rPr lang="en-US" altLang="zh-CN">
                <a:ea typeface="宋体" pitchFamily="2" charset="-122"/>
              </a:rPr>
              <a:t>ROC</a:t>
            </a:r>
            <a:r>
              <a:rPr lang="zh-CN" altLang="en-US">
                <a:ea typeface="宋体" pitchFamily="2" charset="-122"/>
              </a:rPr>
              <a:t>曲线比较模型</a:t>
            </a:r>
          </a:p>
        </p:txBody>
      </p:sp>
      <p:pic>
        <p:nvPicPr>
          <p:cNvPr id="2936" name=""/>
          <p:cNvPicPr/>
          <p:nvPr/>
        </p:nvPicPr>
        <p:blipFill>
          <a:blip r:embed="rId2"/>
          <a:srcRect l="5362" r="8220"/>
          <a:stretch>
            <a:fillRect/>
          </a:stretch>
        </p:blipFill>
        <p:spPr>
          <a:xfrm>
            <a:off x="76200" y="1219200"/>
            <a:ext cx="5257800" cy="4562475"/>
          </a:xfrm>
          <a:prstGeom prst="rect">
            <a:avLst/>
          </a:prstGeom>
          <a:noFill/>
          <a:ln w="12700" cap="flat">
            <a:noFill/>
            <a:prstDash val="solid"/>
            <a:miter lim="800000"/>
            <a:headEnd type="none" w="med" len="med"/>
            <a:tailEnd type="none" w="med" len="med"/>
          </a:ln>
        </p:spPr>
      </p:pic>
      <p:sp>
        <p:nvSpPr>
          <p:cNvPr id="2937" name=""/>
          <p:cNvSpPr/>
          <p:nvPr/>
        </p:nvSpPr>
        <p:spPr>
          <a:xfrm>
            <a:off x="5410200" y="1143000"/>
            <a:ext cx="3581400" cy="5181600"/>
          </a:xfrm>
          <a:prstGeom prst="rect">
            <a:avLst/>
          </a:prstGeom>
          <a:noFill/>
          <a:ln w="12700" cap="flat">
            <a:noFill/>
            <a:prstDash val="solid"/>
            <a:miter lim="800000"/>
            <a:headEnd type="none" w="med" len="med"/>
            <a:tailEnd type="none" w="med" len="med"/>
          </a:ln>
        </p:spPr>
        <p:txBody>
          <a:bodyPr lIns="90488" tIns="44450" rIns="90488" bIns="44450"/>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marL="292100" lvl="0" indent="-2921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zh-CN" altLang="en-US" sz="2400" u="none">
                <a:latin typeface="Arial" pitchFamily="34" charset="0"/>
                <a:ea typeface="宋体" pitchFamily="2" charset="-122"/>
              </a:rPr>
              <a:t>没有哪个模型能够压倒对方</a:t>
            </a:r>
          </a:p>
          <a:p>
            <a:pPr marL="800100" lvl="1" indent="-3429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en-US" altLang="zh-CN" sz="2400" u="none">
                <a:latin typeface="Arial" pitchFamily="34" charset="0"/>
                <a:ea typeface="宋体" pitchFamily="2" charset="-122"/>
              </a:rPr>
              <a:t>FRR&lt;0.36,M</a:t>
            </a:r>
            <a:r>
              <a:rPr kumimoji="0" lang="en-US" altLang="zh-CN" sz="2400" u="none" baseline="-25000">
                <a:latin typeface="Arial" pitchFamily="34" charset="0"/>
                <a:ea typeface="宋体" pitchFamily="2" charset="-122"/>
              </a:rPr>
              <a:t>1</a:t>
            </a:r>
            <a:r>
              <a:rPr kumimoji="0" lang="en-US" altLang="zh-CN" sz="2400" u="none">
                <a:latin typeface="Arial" pitchFamily="34" charset="0"/>
                <a:ea typeface="宋体" pitchFamily="2" charset="-122"/>
              </a:rPr>
              <a:t> </a:t>
            </a:r>
            <a:r>
              <a:rPr kumimoji="0" lang="zh-CN" altLang="en-US" sz="2400" u="none">
                <a:latin typeface="Arial" pitchFamily="34" charset="0"/>
                <a:ea typeface="宋体" pitchFamily="2" charset="-122"/>
              </a:rPr>
              <a:t>较好</a:t>
            </a:r>
          </a:p>
          <a:p>
            <a:pPr marL="800100" lvl="1" indent="-3429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en-US" altLang="zh-CN" sz="2400" u="none">
                <a:latin typeface="Arial" pitchFamily="34" charset="0"/>
                <a:ea typeface="宋体" pitchFamily="2" charset="-122"/>
              </a:rPr>
              <a:t>FRR&gt;0.36, M</a:t>
            </a:r>
            <a:r>
              <a:rPr kumimoji="0" lang="en-US" altLang="zh-CN" sz="2400" u="none" baseline="-25000">
                <a:latin typeface="Arial" pitchFamily="34" charset="0"/>
                <a:ea typeface="宋体" pitchFamily="2" charset="-122"/>
              </a:rPr>
              <a:t>2</a:t>
            </a:r>
            <a:r>
              <a:rPr kumimoji="0" lang="zh-CN" altLang="en-US" sz="2400" u="none">
                <a:latin typeface="Arial" pitchFamily="34" charset="0"/>
                <a:ea typeface="宋体" pitchFamily="2" charset="-122"/>
              </a:rPr>
              <a:t>较好</a:t>
            </a:r>
          </a:p>
          <a:p>
            <a:pPr marL="800100" lvl="1" indent="-342900" eaLnBrk="0" fontAlgn="base" hangingPunct="0">
              <a:lnSpc>
                <a:spcPct val="100000"/>
              </a:lnSpc>
              <a:spcBef>
                <a:spcPct val="10000"/>
              </a:spcBef>
              <a:spcAft>
                <a:spcPts val="400"/>
              </a:spcAft>
              <a:buClr>
                <a:srgbClr val="0C7B9C"/>
              </a:buClr>
              <a:buSzPct val="75000"/>
              <a:buFont typeface="Monotype Sorts" pitchFamily="2" charset="2"/>
            </a:pPr>
            <a:endParaRPr kumimoji="0" lang="en-US" altLang="zh-CN" sz="2400" u="none">
              <a:latin typeface="Arial" pitchFamily="34" charset="0"/>
              <a:ea typeface="宋体" pitchFamily="2" charset="-122"/>
            </a:endParaRPr>
          </a:p>
          <a:p>
            <a:pPr marL="292100" lvl="0" indent="-2921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en-US" altLang="zh-CN" sz="2400" u="none">
                <a:latin typeface="Arial" pitchFamily="34" charset="0"/>
                <a:ea typeface="宋体" pitchFamily="2" charset="-122"/>
              </a:rPr>
              <a:t>ROC</a:t>
            </a:r>
            <a:r>
              <a:rPr kumimoji="0" lang="zh-CN" altLang="en-US" sz="2400" u="none">
                <a:latin typeface="Arial" pitchFamily="34" charset="0"/>
                <a:ea typeface="宋体" pitchFamily="2" charset="-122"/>
              </a:rPr>
              <a:t>曲线下方的面积</a:t>
            </a:r>
          </a:p>
          <a:p>
            <a:pPr marL="800100" lvl="1" indent="-3429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zh-CN" altLang="en-US" sz="1800" u="none">
                <a:latin typeface="Arial" pitchFamily="34" charset="0"/>
                <a:ea typeface="宋体" pitchFamily="2" charset="-122"/>
              </a:rPr>
              <a:t>理想情况</a:t>
            </a:r>
            <a:r>
              <a:rPr kumimoji="0" lang="en-US" altLang="zh-CN" sz="1800" u="none">
                <a:latin typeface="Arial" pitchFamily="34" charset="0"/>
                <a:ea typeface="宋体" pitchFamily="2" charset="-122"/>
              </a:rPr>
              <a:t>: </a:t>
            </a:r>
          </a:p>
          <a:p>
            <a:pPr marL="914400" lvl="2" indent="0" eaLnBrk="0" fontAlgn="base" hangingPunct="0">
              <a:lnSpc>
                <a:spcPct val="100000"/>
              </a:lnSpc>
              <a:spcBef>
                <a:spcPct val="10000"/>
              </a:spcBef>
              <a:spcAft>
                <a:spcPts val="400"/>
              </a:spcAft>
              <a:buClr>
                <a:schemeClr val="tx1"/>
              </a:buClr>
              <a:buSzPct val="75000"/>
              <a:buFont typeface="Wingdings" pitchFamily="2" charset="2"/>
              <a:buChar char="§"/>
            </a:pPr>
            <a:r>
              <a:rPr kumimoji="0" lang="en-US" altLang="zh-CN" sz="1800" u="none">
                <a:latin typeface="Arial" pitchFamily="34" charset="0"/>
                <a:ea typeface="宋体" pitchFamily="2" charset="-122"/>
              </a:rPr>
              <a:t> </a:t>
            </a:r>
            <a:r>
              <a:rPr kumimoji="0" lang="zh-CN" altLang="en-US" sz="1800" u="none">
                <a:latin typeface="Arial" pitchFamily="34" charset="0"/>
                <a:ea typeface="宋体" pitchFamily="2" charset="-122"/>
              </a:rPr>
              <a:t>面积</a:t>
            </a:r>
            <a:r>
              <a:rPr kumimoji="0" lang="en-US" altLang="zh-CN" sz="1800" u="none">
                <a:latin typeface="Arial" pitchFamily="34" charset="0"/>
                <a:ea typeface="宋体" pitchFamily="2" charset="-122"/>
              </a:rPr>
              <a:t>= 1</a:t>
            </a:r>
          </a:p>
          <a:p>
            <a:pPr marL="800100" lvl="1" indent="-342900" eaLnBrk="0" fontAlgn="base" hangingPunct="0">
              <a:lnSpc>
                <a:spcPct val="100000"/>
              </a:lnSpc>
              <a:spcBef>
                <a:spcPct val="10000"/>
              </a:spcBef>
              <a:spcAft>
                <a:spcPts val="400"/>
              </a:spcAft>
              <a:buClr>
                <a:srgbClr val="0C7B9C"/>
              </a:buClr>
              <a:buSzPct val="75000"/>
              <a:buFont typeface="Monotype Sorts" pitchFamily="2" charset="2"/>
              <a:buChar char="l"/>
            </a:pPr>
            <a:r>
              <a:rPr kumimoji="0" lang="zh-CN" altLang="en-US" sz="1800" u="none">
                <a:latin typeface="Arial" pitchFamily="34" charset="0"/>
                <a:ea typeface="宋体" pitchFamily="2" charset="-122"/>
              </a:rPr>
              <a:t>随机猜测</a:t>
            </a:r>
            <a:r>
              <a:rPr kumimoji="0" lang="en-US" altLang="zh-CN" sz="1800" u="none">
                <a:latin typeface="Arial" pitchFamily="34" charset="0"/>
                <a:ea typeface="宋体" pitchFamily="2" charset="-122"/>
              </a:rPr>
              <a:t>:</a:t>
            </a:r>
          </a:p>
          <a:p>
            <a:pPr marL="914400" lvl="2" indent="0" eaLnBrk="0" fontAlgn="base" hangingPunct="0">
              <a:lnSpc>
                <a:spcPct val="100000"/>
              </a:lnSpc>
              <a:spcBef>
                <a:spcPct val="10000"/>
              </a:spcBef>
              <a:spcAft>
                <a:spcPts val="400"/>
              </a:spcAft>
              <a:buClr>
                <a:schemeClr val="tx1"/>
              </a:buClr>
              <a:buSzPct val="75000"/>
              <a:buFont typeface="Wingdings" pitchFamily="2" charset="2"/>
              <a:buChar char="§"/>
            </a:pPr>
            <a:r>
              <a:rPr kumimoji="0" lang="en-US" altLang="zh-CN" sz="1800" u="none">
                <a:latin typeface="Arial" pitchFamily="34" charset="0"/>
                <a:ea typeface="宋体" pitchFamily="2" charset="-122"/>
              </a:rPr>
              <a:t> </a:t>
            </a:r>
            <a:r>
              <a:rPr kumimoji="0" lang="zh-CN" altLang="en-US" sz="1800" u="none">
                <a:latin typeface="Arial" pitchFamily="34" charset="0"/>
                <a:ea typeface="宋体" pitchFamily="2" charset="-122"/>
              </a:rPr>
              <a:t>面积 </a:t>
            </a:r>
            <a:r>
              <a:rPr kumimoji="0" lang="en-US" altLang="zh-CN" sz="1800" u="none">
                <a:latin typeface="Arial" pitchFamily="34" charset="0"/>
                <a:ea typeface="宋体" pitchFamily="2" charset="-122"/>
              </a:rPr>
              <a:t>= 0.5</a:t>
            </a:r>
          </a:p>
        </p:txBody>
      </p:sp>
    </p:spTree>
  </p:cSld>
  <p:clrMapOvr>
    <a:masterClrMapping/>
  </p:clrMapOvr>
  <p:transition/>
  <p:timing/>
</p:sld>
</file>

<file path=ppt/slides/slide9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
        <p:nvSpPr>
          <p:cNvPr id="2940" name=""/>
          <p:cNvSpPr/>
          <p:nvPr>
            <p:ph type="title" idx="4294967295"/>
          </p:nvPr>
        </p:nvSpPr>
        <p:spPr>
          <a:xfrm>
            <a:off x="381000" y="152400"/>
            <a:ext cx="8280400" cy="533400"/>
          </a:xfrm>
          <a:prstGeom prst="rect">
            <a:avLst/>
          </a:prstGeom>
          <a:noFill/>
          <a:ln w="12700" cap="flat">
            <a:noFill/>
            <a:prstDash val="solid"/>
            <a:miter lim="800000"/>
            <a:headEnd type="none" w="med" len="med"/>
            <a:tailEnd type="none" w="med" len="med"/>
          </a:ln>
        </p:spPr>
        <p:txBody>
          <a:bodyPr anchor="b" anchorCtr="0"/>
          <a:lstStyle>
            <a:lvl1pPr marL="0" indent="0" algn="l" defTabSz="914400" rtl="0" eaLnBrk="0" fontAlgn="base" hangingPunct="0">
              <a:lnSpc>
                <a:spcPts val="3600"/>
              </a:lnSpc>
              <a:spcBef>
                <a:spcPct val="0"/>
              </a:spcBef>
              <a:spcAft>
                <a:spcPct val="0"/>
              </a:spcAft>
              <a:buClrTx/>
              <a:buSzTx/>
              <a:buFontTx/>
              <a:buNone/>
              <a:defRPr kumimoji="0" lang="ru-RU" altLang="en-US" sz="3200" b="1" i="0" u="none">
                <a:solidFill>
                  <a:schemeClr val="tx1"/>
                </a:solidFill>
                <a:latin typeface="Tahoma" pitchFamily="34" charset="0"/>
              </a:defRPr>
            </a:lvl1pPr>
          </a:lstStyle>
          <a:p>
            <a:pPr lvl="0"/>
            <a:r>
              <a:rPr lang="zh-CN" altLang="en-US">
                <a:ea typeface="宋体" pitchFamily="2" charset="-122"/>
              </a:rPr>
              <a:t>怎样产生</a:t>
            </a:r>
            <a:r>
              <a:rPr lang="en-US" altLang="zh-CN">
                <a:ea typeface="宋体" pitchFamily="2" charset="-122"/>
              </a:rPr>
              <a:t>ROC</a:t>
            </a:r>
            <a:r>
              <a:rPr lang="zh-CN" altLang="en-US">
                <a:ea typeface="宋体" pitchFamily="2" charset="-122"/>
              </a:rPr>
              <a:t>曲线</a:t>
            </a:r>
          </a:p>
        </p:txBody>
      </p:sp>
      <p:graphicFrame>
        <p:nvGraphicFramePr>
          <p:cNvPr id="2941" name=""/>
          <p:cNvGraphicFramePr>
            <a:graphicFrameLocks noChangeAspect="1"/>
          </p:cNvGraphicFramePr>
          <p:nvPr/>
        </p:nvGraphicFramePr>
        <p:xfrm>
          <a:off x="1447800" y="1066800"/>
          <a:ext cx="6457950" cy="2381250"/>
        </p:xfrm>
        <a:graphic>
          <a:graphicData uri="http://schemas.openxmlformats.org/presentationml/2006/ole">
            <mc:AlternateContent xmlns:mc="http://schemas.openxmlformats.org/markup-compatibility/2006">
              <mc:Choice xmlns:v="urn:schemas-microsoft-com:vml" Requires="v">
                <p:oleObj spid="_x0000_s1114" name="Document" r:id="rId2" progId="Word.Document.8">
                  <p:embed/>
                </p:oleObj>
              </mc:Choice>
              <mc:Fallback>
                <p:oleObj name="Document" r:id="rId2" progId="Word.Document.8">
                  <p:embed/>
                  <p:pic>
                    <p:nvPicPr>
                      <p:cNvPr id="0" name="OLE substitute image"/>
                      <p:cNvPicPr/>
                      <p:nvPr/>
                    </p:nvPicPr>
                    <p:blipFill>
                      <a:blip r:embed="rId3"/>
                      <a:stretch>
                        <a:fillRect/>
                      </a:stretch>
                    </p:blipFill>
                    <p:spPr>
                      <a:xfrm>
                        <a:off x="1447800" y="1066800"/>
                        <a:ext cx="6457950" cy="2381250"/>
                      </a:xfrm>
                      <a:prstGeom prst="rect">
                        <a:avLst/>
                      </a:prstGeom>
                    </p:spPr>
                  </p:pic>
                </p:oleObj>
              </mc:Fallback>
            </mc:AlternateContent>
          </a:graphicData>
        </a:graphic>
      </p:graphicFrame>
      <p:pic>
        <p:nvPicPr>
          <p:cNvPr id="2942" name=""/>
          <p:cNvPicPr/>
          <p:nvPr/>
        </p:nvPicPr>
        <p:blipFill>
          <a:blip r:embed="rId4"/>
          <a:srcRect l="5768" t="5129" r="3847" b="5129"/>
          <a:stretch>
            <a:fillRect/>
          </a:stretch>
        </p:blipFill>
        <p:spPr>
          <a:xfrm>
            <a:off x="2819400" y="3449638"/>
            <a:ext cx="3962400" cy="2951162"/>
          </a:xfrm>
          <a:prstGeom prst="rect">
            <a:avLst/>
          </a:prstGeom>
          <a:noFill/>
          <a:ln w="12700" cap="flat">
            <a:noFill/>
            <a:prstDash val="solid"/>
            <a:miter lim="800000"/>
            <a:headEnd type="none" w="med" len="med"/>
            <a:tailEnd type="none" w="med" len="med"/>
          </a:ln>
        </p:spPr>
      </p:pic>
      <p:sp>
        <p:nvSpPr>
          <p:cNvPr id="2943" name=""/>
          <p:cNvSpPr/>
          <p:nvPr/>
        </p:nvSpPr>
        <p:spPr>
          <a:xfrm>
            <a:off x="762000" y="1371600"/>
            <a:ext cx="1295400" cy="304800"/>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1400" b="1" u="none">
                <a:latin typeface="Arial" pitchFamily="34" charset="0"/>
                <a:ea typeface="宋体" pitchFamily="2" charset="-122"/>
              </a:rPr>
              <a:t>Threshold &gt;= </a:t>
            </a:r>
          </a:p>
        </p:txBody>
      </p:sp>
      <p:sp>
        <p:nvSpPr>
          <p:cNvPr id="2944" name=""/>
          <p:cNvSpPr/>
          <p:nvPr/>
        </p:nvSpPr>
        <p:spPr>
          <a:xfrm>
            <a:off x="990600" y="4572000"/>
            <a:ext cx="1828800" cy="396875"/>
          </a:xfrm>
          <a:prstGeom prst="rect">
            <a:avLst/>
          </a:prstGeom>
          <a:noFill/>
          <a:ln w="12700" cap="flat">
            <a:noFill/>
            <a:prstDash val="solid"/>
            <a:miter lim="800000"/>
            <a:headEnd type="none" w="med" len="med"/>
            <a:tailEnd type="none" w="med" len="med"/>
          </a:ln>
        </p:spPr>
        <p:txBody>
          <a:bodyPr/>
          <a:lstStyle>
            <a:defPPr algn="l" rtl="0" eaLnBrk="1" hangingPunct="1">
              <a:defRPr kumimoji="0" lang="ru-RU" altLang="en-US"/>
            </a:defPPr>
            <a:lvl1pPr marL="0" indent="0" algn="l" defTabSz="914400" rtl="0" eaLnBrk="1" hangingPunct="1">
              <a:buNone/>
              <a:defRPr lang="ru-RU" altLang="en-US" sz="1800" kern="1200">
                <a:solidFill>
                  <a:schemeClr val="tx1"/>
                </a:solidFill>
                <a:latin typeface="Calibri"/>
                <a:ea typeface="Calibri"/>
                <a:cs typeface="Arial"/>
              </a:defRPr>
            </a:lvl1pPr>
            <a:lvl2pPr marL="457200" indent="0" algn="l" defTabSz="914400" rtl="0" eaLnBrk="1" hangingPunct="1">
              <a:buNone/>
              <a:defRPr lang="ru-RU" altLang="en-US" sz="1800" kern="1200">
                <a:solidFill>
                  <a:schemeClr val="tx1"/>
                </a:solidFill>
                <a:latin typeface="Calibri"/>
                <a:ea typeface="Calibri"/>
                <a:cs typeface="Arial"/>
              </a:defRPr>
            </a:lvl2pPr>
            <a:lvl3pPr marL="914400" indent="0" algn="l" defTabSz="914400" rtl="0" eaLnBrk="1" hangingPunct="1">
              <a:buNone/>
              <a:defRPr lang="ru-RU" altLang="en-US" sz="1800" kern="1200">
                <a:solidFill>
                  <a:schemeClr val="tx1"/>
                </a:solidFill>
                <a:latin typeface="Calibri"/>
                <a:ea typeface="Calibri"/>
                <a:cs typeface="Arial"/>
              </a:defRPr>
            </a:lvl3pPr>
            <a:lvl4pPr marL="1371600" indent="0" algn="l" defTabSz="914400" rtl="0" eaLnBrk="1" hangingPunct="1">
              <a:buNone/>
              <a:defRPr lang="ru-RU" altLang="en-US" sz="1800" kern="1200">
                <a:solidFill>
                  <a:schemeClr val="tx1"/>
                </a:solidFill>
                <a:latin typeface="Calibri"/>
                <a:ea typeface="Calibri"/>
                <a:cs typeface="Arial"/>
              </a:defRPr>
            </a:lvl4pPr>
            <a:lvl5pPr marL="1828800" indent="0" algn="l" defTabSz="914400" rtl="0" eaLnBrk="1" hangingPunct="1">
              <a:buNone/>
              <a:defRPr lang="ru-RU" altLang="en-US" sz="1800" kern="1200">
                <a:solidFill>
                  <a:schemeClr val="tx1"/>
                </a:solidFill>
                <a:latin typeface="Calibri"/>
                <a:ea typeface="Calibri"/>
                <a:cs typeface="Arial"/>
              </a:defRPr>
            </a:lvl5pPr>
          </a:lstStyle>
          <a:p>
            <a:pPr lvl="0" eaLnBrk="0" fontAlgn="base" hangingPunct="0">
              <a:lnSpc>
                <a:spcPct val="100000"/>
              </a:lnSpc>
              <a:spcBef>
                <a:spcPct val="50000"/>
              </a:spcBef>
              <a:spcAft>
                <a:spcPct val="0"/>
              </a:spcAft>
              <a:buClrTx/>
              <a:buSzTx/>
            </a:pPr>
            <a:r>
              <a:rPr kumimoji="0" lang="en-US" altLang="zh-CN" sz="2000" b="1" u="none">
                <a:latin typeface="Arial" pitchFamily="34" charset="0"/>
                <a:ea typeface="宋体" pitchFamily="2" charset="-122"/>
              </a:rPr>
              <a:t>ROC </a:t>
            </a:r>
            <a:r>
              <a:rPr kumimoji="0" lang="zh-CN" altLang="en-US" sz="2000" b="1" u="none">
                <a:latin typeface="Arial" pitchFamily="34" charset="0"/>
                <a:ea typeface="宋体" pitchFamily="2" charset="-122"/>
              </a:rPr>
              <a:t>曲线</a:t>
            </a:r>
            <a:r>
              <a:rPr kumimoji="0" lang="en-US" altLang="zh-CN" sz="2000" b="1" u="none">
                <a:latin typeface="Arial" pitchFamily="34" charset="0"/>
                <a:ea typeface="宋体" pitchFamily="2" charset="-122"/>
              </a:rPr>
              <a:t>:</a:t>
            </a:r>
          </a:p>
        </p:txBody>
      </p:sp>
      <p:cxnSp>
        <p:nvCxnSpPr>
          <p:cNvPr id="2945" name=""/>
          <p:cNvCxnSpPr/>
          <p:nvPr/>
        </p:nvCxnSpPr>
        <p:spPr>
          <a:xfrm>
            <a:off x="1219200" y="2895600"/>
            <a:ext cx="304800" cy="0"/>
          </a:xfrm>
          <a:prstGeom prst="line">
            <a:avLst/>
          </a:prstGeom>
          <a:noFill/>
          <a:ln w="12700" cap="flat">
            <a:solidFill>
              <a:srgbClr val="000000"/>
            </a:solidFill>
            <a:prstDash val="solid"/>
            <a:miter lim="800000"/>
            <a:headEnd type="none" w="med" len="med"/>
            <a:tailEnd type="triangle" w="med" len="med"/>
          </a:ln>
        </p:spPr>
      </p:cxnSp>
      <p:cxnSp>
        <p:nvCxnSpPr>
          <p:cNvPr id="2946" name=""/>
          <p:cNvCxnSpPr/>
          <p:nvPr/>
        </p:nvCxnSpPr>
        <p:spPr>
          <a:xfrm>
            <a:off x="1219200" y="3200400"/>
            <a:ext cx="304800" cy="0"/>
          </a:xfrm>
          <a:prstGeom prst="line">
            <a:avLst/>
          </a:prstGeom>
          <a:noFill/>
          <a:ln w="12700" cap="flat">
            <a:solidFill>
              <a:srgbClr val="000000"/>
            </a:solidFill>
            <a:prstDash val="solid"/>
            <a:miter lim="800000"/>
            <a:headEnd type="none" w="med" len="med"/>
            <a:tailEnd type="triangle" w="med" len="med"/>
          </a:ln>
        </p:spPr>
      </p:cxnSp>
    </p:spTree>
  </p:cSld>
  <p:clrMapOvr>
    <a:masterClrMapping/>
  </p:clrMapOvr>
  <p:transition/>
  <p:timing/>
</p:sld>
</file>

<file path=ppt/slides/slide9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p:grpSpPr>
    </p:spTree>
  </p:cSld>
  <p:clrMapOvr>
    <a:masterClrMapping/>
  </p:clrMapOvr>
  <p:transition/>
  <p:timing/>
</p:sld>
</file>

<file path=ppt/tags/tag1.xml><?xml version="1.0" encoding="utf-8"?>
<p:tagLst xmlns:p="http://schemas.openxmlformats.org/presentationml/2006/main">
  <p:tag name="AS_NET" val="4.0.30319.42000"/>
  <p:tag name="AS_OS" val="Microsoft Windows NT 6.1.7601 Service Pack 1"/>
  <p:tag name="AS_RELEASE_DATE" val="2017.06.14"/>
  <p:tag name="AS_TITLE" val="Aspose.Slides for .NET 4.0 Client Profile"/>
  <p:tag name="AS_VERSION" val="17.6"/>
</p:tagLst>
</file>

<file path=ppt/theme/theme1.xml><?xml version="1.0" encoding="utf-8"?>
<a:theme xmlns:r="http://schemas.openxmlformats.org/officeDocument/2006/relationships" xmlns:a="http://schemas.openxmlformats.org/drawingml/2006/main" name="演示文稿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Office">
      <a:dk1>
        <a:srgbClr val="000000"/>
      </a:dk1>
      <a:lt1>
        <a:srgbClr val="FFFFFF"/>
      </a:lt1>
      <a:dk2>
        <a:srgbClr val="000000"/>
      </a:dk2>
      <a:lt2>
        <a:srgbClr val="919191"/>
      </a:lt2>
      <a:accent1>
        <a:srgbClr val="618FFD"/>
      </a:accent1>
      <a:accent2>
        <a:srgbClr val="00AE00"/>
      </a:accent2>
      <a:accent3>
        <a:srgbClr val="9BBB59"/>
      </a:accent3>
      <a:accent4>
        <a:srgbClr val="8064A2"/>
      </a:accent4>
      <a:accent5>
        <a:srgbClr val="4BACC6"/>
      </a:accent5>
      <a:accent6>
        <a:srgbClr val="F79646"/>
      </a:accent6>
      <a:hlink>
        <a:srgbClr val="FC0128"/>
      </a:hlink>
      <a:folHlink>
        <a:srgbClr val="CECECE"/>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Microsoft</Company>
  <PresentationFormat>On-screen Show (4:3)</PresentationFormat>
  <Paragraphs>619</Paragraphs>
  <Slides>92</Slides>
  <Notes>1</Notes>
  <TotalTime>0</TotalTime>
  <HiddenSlides>1</HiddenSlides>
  <MMClips>0</MMClips>
  <ScaleCrop>0</ScaleCrop>
  <HeadingPairs>
    <vt:vector baseType="variant" size="4">
      <vt:variant>
        <vt:lpstr>Theme</vt:lpstr>
      </vt:variant>
      <vt:variant>
        <vt:i4>1</vt:i4>
      </vt:variant>
      <vt:variant>
        <vt:lpstr>Slide Titles</vt:lpstr>
      </vt:variant>
      <vt:variant>
        <vt:i4>92</vt:i4>
      </vt:variant>
    </vt:vector>
  </HeadingPairs>
  <TitlesOfParts>
    <vt:vector baseType="lpstr" size="93">
      <vt:lpstr>演示文稿1</vt:lpstr>
      <vt:lpstr>数据挖掘 分类：基本概念、决策树与模型评价</vt:lpstr>
      <vt:lpstr>Slide 2</vt:lpstr>
      <vt:lpstr>分类</vt:lpstr>
      <vt:lpstr>Slide 4</vt:lpstr>
      <vt:lpstr>数据分类——一个两步过程 (1)</vt:lpstr>
      <vt:lpstr>数据分类——一个两步过程 (2)</vt:lpstr>
      <vt:lpstr>有监督的学习 VS. 无监督的学习</vt:lpstr>
      <vt:lpstr>分类模型的构造方法</vt:lpstr>
      <vt:lpstr>一个决策树的例子</vt:lpstr>
      <vt:lpstr>决策树的另一个例子</vt:lpstr>
      <vt:lpstr>用决策树归纳分类</vt:lpstr>
      <vt:lpstr>Slide 12</vt:lpstr>
      <vt:lpstr>决策树分类任务</vt:lpstr>
      <vt:lpstr>一个决策树的例子</vt:lpstr>
      <vt:lpstr>应用决策树进行分类</vt:lpstr>
      <vt:lpstr>应用决策树进行分类</vt:lpstr>
      <vt:lpstr>应用决策树进行分类</vt:lpstr>
      <vt:lpstr>应用决策树进行分类</vt:lpstr>
      <vt:lpstr>应用决策树进行分类</vt:lpstr>
      <vt:lpstr>应用决策树进行分类</vt:lpstr>
      <vt:lpstr>决策树分类</vt:lpstr>
      <vt:lpstr>决策树</vt:lpstr>
      <vt:lpstr>Hunt 算法</vt:lpstr>
      <vt:lpstr>Hunt算法</vt:lpstr>
      <vt:lpstr>决策树</vt:lpstr>
      <vt:lpstr>决策树</vt:lpstr>
      <vt:lpstr>怎样为不同类型的属性指定测试条件?</vt:lpstr>
      <vt:lpstr>基于标称属性的分裂</vt:lpstr>
      <vt:lpstr>基于序数属性的划分</vt:lpstr>
      <vt:lpstr>基于连续属性的划分</vt:lpstr>
      <vt:lpstr>基于连续属性的划分</vt:lpstr>
      <vt:lpstr>决策树</vt:lpstr>
      <vt:lpstr>怎样选择最佳划分？</vt:lpstr>
      <vt:lpstr>怎样选择最佳划分？</vt:lpstr>
      <vt:lpstr>怎样找到最佳划分？</vt:lpstr>
      <vt:lpstr>结点不纯性的测量</vt:lpstr>
      <vt:lpstr>不纯性的测量: GINI</vt:lpstr>
      <vt:lpstr>计算 GINI的例子</vt:lpstr>
      <vt:lpstr>基于 GINI的划分</vt:lpstr>
      <vt:lpstr>二元属性: 计算 GINI</vt:lpstr>
      <vt:lpstr>标称属性:计算Gini</vt:lpstr>
      <vt:lpstr>连续属性: 计算 Gini</vt:lpstr>
      <vt:lpstr>连续属性: 计算 Gini...</vt:lpstr>
      <vt:lpstr>  </vt:lpstr>
      <vt:lpstr>熵---定义</vt:lpstr>
      <vt:lpstr>Slide 46</vt:lpstr>
      <vt:lpstr>基于 Information Gain的划分</vt:lpstr>
      <vt:lpstr>计算 Entropy的例子</vt:lpstr>
      <vt:lpstr>基于 Information Gain的划分...</vt:lpstr>
      <vt:lpstr>基于 Information Gain的划分...</vt:lpstr>
      <vt:lpstr>基于 Classification Error的划分</vt:lpstr>
      <vt:lpstr>例子</vt:lpstr>
      <vt:lpstr>不纯性度量之间的比较</vt:lpstr>
      <vt:lpstr>Slide 54</vt:lpstr>
      <vt:lpstr>决策树</vt:lpstr>
      <vt:lpstr>停止分裂过程</vt:lpstr>
      <vt:lpstr>Slide 57</vt:lpstr>
      <vt:lpstr>三种著名的决策树</vt:lpstr>
      <vt:lpstr>决策树</vt:lpstr>
      <vt:lpstr>子树重复问题</vt:lpstr>
      <vt:lpstr>决策边界</vt:lpstr>
      <vt:lpstr>斜决策树</vt:lpstr>
      <vt:lpstr>模型过分拟合和拟合不足</vt:lpstr>
      <vt:lpstr>模型过分拟合和拟合不足</vt:lpstr>
      <vt:lpstr>模型模型过分拟合和拟合不足</vt:lpstr>
      <vt:lpstr>导致过分拟合的原因</vt:lpstr>
      <vt:lpstr>导致过分拟合的原因</vt:lpstr>
      <vt:lpstr>噪声导致的过分拟合（例子）</vt:lpstr>
      <vt:lpstr>缺乏代表性样本导致的过分拟合</vt:lpstr>
      <vt:lpstr>Slide 70</vt:lpstr>
      <vt:lpstr>Slide 71</vt:lpstr>
      <vt:lpstr>过分拟合与多重比较</vt:lpstr>
      <vt:lpstr>Slide 73</vt:lpstr>
      <vt:lpstr>泛化误差估计</vt:lpstr>
      <vt:lpstr>Slide 75</vt:lpstr>
      <vt:lpstr>结合模型复杂度</vt:lpstr>
      <vt:lpstr>悲观误差评估</vt:lpstr>
      <vt:lpstr>Slide 78</vt:lpstr>
      <vt:lpstr>Slide 79</vt:lpstr>
      <vt:lpstr>最小描述长度 (MDL)</vt:lpstr>
      <vt:lpstr>使用确认集</vt:lpstr>
      <vt:lpstr>处理决策树中的过分拟合</vt:lpstr>
      <vt:lpstr>处理决策树中的过分拟合…</vt:lpstr>
      <vt:lpstr>处理决策树中的过分拟合…</vt:lpstr>
      <vt:lpstr>不平衡类问题</vt:lpstr>
      <vt:lpstr>准确率的缺点</vt:lpstr>
      <vt:lpstr>度量</vt:lpstr>
      <vt:lpstr>Slide 88</vt:lpstr>
      <vt:lpstr>ROC (Receiver Operating Characteristic)</vt:lpstr>
      <vt:lpstr>使用ROC曲线比较模型</vt:lpstr>
      <vt:lpstr>怎样产生ROC曲线</vt:lpstr>
      <vt:lpstr>Slide 92</vt:lpstr>
    </vt:vector>
  </TitlesOfParts>
  <LinksUpToDate>0</LinksUpToDate>
  <SharedDoc>0</SharedDoc>
  <HyperlinksChanged>0</HyperlinksChanged>
  <Application>Aspose.Slides for .NET</Application>
  <AppVersion>17.0600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幻灯片 1</dc:title>
  <dc:creator>HY</dc:creator>
  <cp:lastModifiedBy>HY</cp:lastModifiedBy>
  <cp:revision>1</cp:revision>
  <dcterms:created xsi:type="dcterms:W3CDTF">2021-02-08T06:49:50Z</dcterms:created>
  <dcterms:modified xsi:type="dcterms:W3CDTF">2021-05-04T03:22:37Z</dcterms:modified>
</cp:coreProperties>
</file>