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317" r:id="rId5"/>
    <p:sldId id="340" r:id="rId6"/>
    <p:sldId id="311" r:id="rId7"/>
    <p:sldId id="258" r:id="rId8"/>
    <p:sldId id="259" r:id="rId9"/>
    <p:sldId id="260" r:id="rId10"/>
    <p:sldId id="261" r:id="rId11"/>
    <p:sldId id="312" r:id="rId12"/>
    <p:sldId id="262" r:id="rId13"/>
    <p:sldId id="263" r:id="rId14"/>
    <p:sldId id="264" r:id="rId15"/>
    <p:sldId id="318" r:id="rId16"/>
    <p:sldId id="266" r:id="rId17"/>
    <p:sldId id="268" r:id="rId18"/>
    <p:sldId id="270" r:id="rId19"/>
    <p:sldId id="271" r:id="rId20"/>
    <p:sldId id="319" r:id="rId21"/>
    <p:sldId id="320" r:id="rId22"/>
    <p:sldId id="321" r:id="rId23"/>
    <p:sldId id="322" r:id="rId24"/>
    <p:sldId id="323" r:id="rId25"/>
    <p:sldId id="324" r:id="rId26"/>
    <p:sldId id="325" r:id="rId27"/>
    <p:sldId id="326" r:id="rId28"/>
    <p:sldId id="313" r:id="rId29"/>
    <p:sldId id="283" r:id="rId30"/>
    <p:sldId id="284" r:id="rId31"/>
    <p:sldId id="285" r:id="rId32"/>
    <p:sldId id="286" r:id="rId33"/>
    <p:sldId id="287" r:id="rId34"/>
    <p:sldId id="327" r:id="rId35"/>
    <p:sldId id="328" r:id="rId36"/>
    <p:sldId id="288" r:id="rId37"/>
    <p:sldId id="397" r:id="rId38"/>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FF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93" d="100"/>
          <a:sy n="93" d="100"/>
        </p:scale>
        <p:origin x="-912" y="-96"/>
      </p:cViewPr>
      <p:guideLst>
        <p:guide orient="horz" pos="2118"/>
        <p:guide pos="2880"/>
      </p:guideLst>
    </p:cSldViewPr>
  </p:slid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12.wmf"/><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4" Type="http://schemas.openxmlformats.org/officeDocument/2006/relationships/image" Target="../media/image20.wmf"/><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24.wmf"/><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6" Type="http://schemas.openxmlformats.org/officeDocument/2006/relationships/image" Target="../media/image30.wmf"/><Relationship Id="rId5" Type="http://schemas.openxmlformats.org/officeDocument/2006/relationships/image" Target="../media/image29.wmf"/><Relationship Id="rId4" Type="http://schemas.openxmlformats.org/officeDocument/2006/relationships/image" Target="../media/image28.wmf"/><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8.vml.rels><?xml version="1.0" encoding="UTF-8" standalone="yes"?>
<Relationships xmlns="http://schemas.openxmlformats.org/package/2006/relationships"><Relationship Id="rId6" Type="http://schemas.openxmlformats.org/officeDocument/2006/relationships/image" Target="../media/image36.wmf"/><Relationship Id="rId5" Type="http://schemas.openxmlformats.org/officeDocument/2006/relationships/image" Target="../media/image35.wmf"/><Relationship Id="rId4" Type="http://schemas.openxmlformats.org/officeDocument/2006/relationships/image" Target="../media/image34.wmf"/><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drawings/_rels/vmlDrawing11.vml.rels><?xml version="1.0" encoding="UTF-8" standalone="yes"?>
<Relationships xmlns="http://schemas.openxmlformats.org/package/2006/relationships"><Relationship Id="rId9" Type="http://schemas.openxmlformats.org/officeDocument/2006/relationships/image" Target="../media/image50.wmf"/><Relationship Id="rId8" Type="http://schemas.openxmlformats.org/officeDocument/2006/relationships/image" Target="../media/image49.wmf"/><Relationship Id="rId7" Type="http://schemas.openxmlformats.org/officeDocument/2006/relationships/image" Target="../media/image48.wmf"/><Relationship Id="rId6" Type="http://schemas.openxmlformats.org/officeDocument/2006/relationships/image" Target="../media/image34.wmf"/><Relationship Id="rId5" Type="http://schemas.openxmlformats.org/officeDocument/2006/relationships/image" Target="../media/image47.wmf"/><Relationship Id="rId4" Type="http://schemas.openxmlformats.org/officeDocument/2006/relationships/image" Target="../media/image46.wmf"/><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3.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55.wmf"/><Relationship Id="rId1" Type="http://schemas.openxmlformats.org/officeDocument/2006/relationships/image" Target="../media/image34.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image" Target="../media/image56.w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p:cSld name="标题幻灯片">
    <p:bg>
      <p:bgPr>
        <a:blipFill rotWithShape="0">
          <a:blip r:embed="rId2"/>
          <a:stretch>
            <a:fillRect/>
          </a:stretch>
        </a:blipFill>
        <a:effectLst/>
      </p:bgPr>
    </p:bg>
    <p:spTree>
      <p:nvGrpSpPr>
        <p:cNvPr id="1" name=""/>
        <p:cNvGrpSpPr/>
        <p:nvPr/>
      </p:nvGrpSpPr>
      <p:grpSpPr/>
      <p:sp>
        <p:nvSpPr>
          <p:cNvPr id="5122" name="标题 5121"/>
          <p:cNvSpPr>
            <a:spLocks noGrp="1"/>
          </p:cNvSpPr>
          <p:nvPr>
            <p:ph type="ctrTitle"/>
          </p:nvPr>
        </p:nvSpPr>
        <p:spPr>
          <a:xfrm>
            <a:off x="685800" y="2130425"/>
            <a:ext cx="7772400" cy="1470025"/>
          </a:xfrm>
          <a:prstGeom prst="rect">
            <a:avLst/>
          </a:prstGeom>
          <a:noFill/>
          <a:ln w="9525">
            <a:noFill/>
          </a:ln>
        </p:spPr>
        <p:txBody>
          <a:bodyPr anchor="ctr"/>
          <a:lstStyle>
            <a:lvl1pPr lvl="0">
              <a:defRPr sz="4800">
                <a:solidFill>
                  <a:schemeClr val="tx1"/>
                </a:solidFill>
              </a:defRPr>
            </a:lvl1pPr>
          </a:lstStyle>
          <a:p>
            <a:pPr lvl="0"/>
            <a:r>
              <a:rPr lang="zh-CN" altLang="en-US" dirty="0"/>
              <a:t>单击此处编辑母版标题样式</a:t>
            </a:r>
            <a:endParaRPr lang="zh-CN" altLang="en-US" dirty="0"/>
          </a:p>
        </p:txBody>
      </p:sp>
      <p:sp>
        <p:nvSpPr>
          <p:cNvPr id="5123" name="副标题 5122"/>
          <p:cNvSpPr>
            <a:spLocks noGrp="1"/>
          </p:cNvSpPr>
          <p:nvPr>
            <p:ph type="subTitle" idx="1"/>
          </p:nvPr>
        </p:nvSpPr>
        <p:spPr>
          <a:xfrm>
            <a:off x="1371600" y="3886200"/>
            <a:ext cx="6400800" cy="1752600"/>
          </a:xfrm>
          <a:prstGeom prst="rect">
            <a:avLst/>
          </a:prstGeom>
          <a:noFill/>
          <a:ln w="9525">
            <a:noFill/>
          </a:ln>
        </p:spPr>
        <p:txBody>
          <a:bodyPr anchor="t"/>
          <a:lstStyle>
            <a:lvl1pPr marL="0" lvl="0" indent="0" algn="ctr">
              <a:buNone/>
              <a:defRPr/>
            </a:lvl1pPr>
            <a:lvl2pPr marL="457200" lvl="1" indent="0" algn="ctr">
              <a:buNone/>
              <a:defRPr/>
            </a:lvl2pPr>
            <a:lvl3pPr marL="914400" lvl="2" indent="0" algn="ctr">
              <a:buNone/>
              <a:defRPr/>
            </a:lvl3pPr>
            <a:lvl4pPr marL="1371600" lvl="3" indent="0" algn="ctr">
              <a:buNone/>
              <a:defRPr/>
            </a:lvl4pPr>
            <a:lvl5pPr marL="1828800" lvl="4" indent="0" algn="ctr">
              <a:buNone/>
              <a:defRPr/>
            </a:lvl5pPr>
          </a:lstStyle>
          <a:p>
            <a:pPr lvl="0"/>
            <a:r>
              <a:rPr lang="zh-CN" altLang="en-US" dirty="0"/>
              <a:t>单击此处编辑母版副标题样式</a:t>
            </a:r>
            <a:endParaRPr lang="zh-CN" altLang="en-US" dirty="0"/>
          </a:p>
        </p:txBody>
      </p:sp>
      <p:sp>
        <p:nvSpPr>
          <p:cNvPr id="5124" name="日期占位符 5123"/>
          <p:cNvSpPr>
            <a:spLocks noGrp="1"/>
          </p:cNvSpPr>
          <p:nvPr>
            <p:ph type="dt" sz="half" idx="2"/>
          </p:nvPr>
        </p:nvSpPr>
        <p:spPr>
          <a:xfrm>
            <a:off x="1547813" y="6524625"/>
            <a:ext cx="2133600" cy="196850"/>
          </a:xfrm>
          <a:prstGeom prst="rect">
            <a:avLst/>
          </a:prstGeom>
          <a:noFill/>
          <a:ln w="9525">
            <a:noFill/>
          </a:ln>
        </p:spPr>
        <p:txBody>
          <a:bodyPr anchor="t"/>
          <a:lstStyle>
            <a:lvl1pPr>
              <a:defRPr sz="1400"/>
            </a:lvl1pPr>
          </a:lstStyle>
          <a:p>
            <a:endParaRPr lang="zh-CN" altLang="en-US" dirty="0">
              <a:latin typeface="Arial" panose="020B0604020202020204" pitchFamily="34" charset="0"/>
            </a:endParaRPr>
          </a:p>
        </p:txBody>
      </p:sp>
      <p:sp>
        <p:nvSpPr>
          <p:cNvPr id="5125" name="页脚占位符 5124"/>
          <p:cNvSpPr>
            <a:spLocks noGrp="1"/>
          </p:cNvSpPr>
          <p:nvPr>
            <p:ph type="ftr" sz="quarter" idx="3"/>
          </p:nvPr>
        </p:nvSpPr>
        <p:spPr>
          <a:xfrm>
            <a:off x="3124200" y="6245225"/>
            <a:ext cx="2895600" cy="476250"/>
          </a:xfrm>
          <a:prstGeom prst="rect">
            <a:avLst/>
          </a:prstGeom>
          <a:noFill/>
          <a:ln w="9525">
            <a:noFill/>
          </a:ln>
        </p:spPr>
        <p:txBody>
          <a:bodyPr anchor="t"/>
          <a:lstStyle>
            <a:lvl1pPr algn="ctr">
              <a:defRPr sz="1400"/>
            </a:lvl1pPr>
          </a:lstStyle>
          <a:p>
            <a:endParaRPr lang="zh-CN" altLang="en-US" dirty="0">
              <a:latin typeface="Arial" panose="020B0604020202020204" pitchFamily="34" charset="0"/>
            </a:endParaRPr>
          </a:p>
        </p:txBody>
      </p:sp>
      <p:sp>
        <p:nvSpPr>
          <p:cNvPr id="5126" name="灯片编号占位符 5125"/>
          <p:cNvSpPr>
            <a:spLocks noGrp="1"/>
          </p:cNvSpPr>
          <p:nvPr>
            <p:ph type="sldNum" sz="quarter" idx="4"/>
          </p:nvPr>
        </p:nvSpPr>
        <p:spPr>
          <a:xfrm>
            <a:off x="6553200" y="6524625"/>
            <a:ext cx="2133600" cy="196850"/>
          </a:xfrm>
          <a:prstGeom prst="rect">
            <a:avLst/>
          </a:prstGeom>
          <a:noFill/>
          <a:ln w="9525">
            <a:noFill/>
          </a:ln>
        </p:spPr>
        <p:txBody>
          <a:bodyPr anchor="t"/>
          <a:lstStyle>
            <a:lvl1pPr algn="r">
              <a:defRPr sz="1400"/>
            </a:lvl1pPr>
          </a:lstStyle>
          <a:p>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196975"/>
            <a:ext cx="4032504" cy="51847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4296" y="1196975"/>
            <a:ext cx="4032504" cy="51847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8" name="页脚占位符 7"/>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4" name="页脚占位符 3"/>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3" name="页脚占位符 2"/>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37760" y="0"/>
            <a:ext cx="2126853" cy="63817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0"/>
            <a:ext cx="6257264" cy="638175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29150" y="1825625"/>
            <a:ext cx="38862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629150" y="4076700"/>
            <a:ext cx="38862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日期占位符 5"/>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7" name="页脚占位符 6"/>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8" name="灯片编号占位符 7"/>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image" Target="../media/image4.png"/><Relationship Id="rId16" Type="http://schemas.openxmlformats.org/officeDocument/2006/relationships/image" Target="../media/image3.png"/><Relationship Id="rId15" Type="http://schemas.openxmlformats.org/officeDocument/2006/relationships/image" Target="../media/image2.png"/><Relationship Id="rId14" Type="http://schemas.openxmlformats.org/officeDocument/2006/relationships/image" Target="../media/image1.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p:sp>
        <p:nvSpPr>
          <p:cNvPr id="4098" name="标题 4097"/>
          <p:cNvSpPr>
            <a:spLocks noGrp="1"/>
          </p:cNvSpPr>
          <p:nvPr>
            <p:ph type="title"/>
          </p:nvPr>
        </p:nvSpPr>
        <p:spPr>
          <a:xfrm>
            <a:off x="2124075" y="0"/>
            <a:ext cx="6840538" cy="941388"/>
          </a:xfrm>
          <a:prstGeom prst="rect">
            <a:avLst/>
          </a:prstGeom>
          <a:noFill/>
          <a:ln w="9525">
            <a:noFill/>
          </a:ln>
        </p:spPr>
        <p:txBody>
          <a:bodyPr anchor="ctr"/>
          <a:p>
            <a:pPr lvl="0"/>
            <a:r>
              <a:rPr lang="zh-CN" altLang="en-US" dirty="0"/>
              <a:t>单击此处编辑母版标题样式</a:t>
            </a:r>
            <a:endParaRPr lang="zh-CN" altLang="en-US" dirty="0"/>
          </a:p>
        </p:txBody>
      </p:sp>
      <p:sp>
        <p:nvSpPr>
          <p:cNvPr id="4099" name="文本占位符 4098"/>
          <p:cNvSpPr>
            <a:spLocks noGrp="1"/>
          </p:cNvSpPr>
          <p:nvPr>
            <p:ph type="body" idx="1"/>
          </p:nvPr>
        </p:nvSpPr>
        <p:spPr>
          <a:xfrm>
            <a:off x="457200" y="1196975"/>
            <a:ext cx="8229600" cy="518477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100" name="日期占位符 4099"/>
          <p:cNvSpPr>
            <a:spLocks noGrp="1"/>
          </p:cNvSpPr>
          <p:nvPr>
            <p:ph type="dt" sz="half" idx="2"/>
          </p:nvPr>
        </p:nvSpPr>
        <p:spPr>
          <a:xfrm>
            <a:off x="1646238" y="6524625"/>
            <a:ext cx="2133600" cy="196850"/>
          </a:xfrm>
          <a:prstGeom prst="rect">
            <a:avLst/>
          </a:prstGeom>
          <a:noFill/>
          <a:ln w="9525">
            <a:noFill/>
          </a:ln>
        </p:spPr>
        <p:txBody>
          <a:bodyPr/>
          <a:lstStyle>
            <a:lvl1pPr>
              <a:defRPr sz="1400"/>
            </a:lvl1pPr>
          </a:lstStyle>
          <a:p>
            <a:pPr lvl="0"/>
            <a:endParaRPr lang="zh-CN" altLang="en-US" dirty="0">
              <a:latin typeface="Arial" panose="020B0604020202020204" pitchFamily="34" charset="0"/>
            </a:endParaRPr>
          </a:p>
        </p:txBody>
      </p:sp>
      <p:sp>
        <p:nvSpPr>
          <p:cNvPr id="4101" name="页脚占位符 4100"/>
          <p:cNvSpPr>
            <a:spLocks noGrp="1"/>
          </p:cNvSpPr>
          <p:nvPr>
            <p:ph type="ftr" sz="quarter" idx="3"/>
          </p:nvPr>
        </p:nvSpPr>
        <p:spPr>
          <a:xfrm>
            <a:off x="3124200" y="6524625"/>
            <a:ext cx="2895600" cy="196850"/>
          </a:xfrm>
          <a:prstGeom prst="rect">
            <a:avLst/>
          </a:prstGeom>
          <a:noFill/>
          <a:ln w="9525">
            <a:noFill/>
          </a:ln>
        </p:spPr>
        <p:txBody>
          <a:bodyPr/>
          <a:lstStyle>
            <a:lvl1pPr algn="ctr">
              <a:defRPr sz="1400"/>
            </a:lvl1pPr>
          </a:lstStyle>
          <a:p>
            <a:pPr lvl="0"/>
            <a:endParaRPr lang="zh-CN" altLang="en-US" dirty="0">
              <a:latin typeface="Arial" panose="020B0604020202020204" pitchFamily="34" charset="0"/>
            </a:endParaRPr>
          </a:p>
        </p:txBody>
      </p:sp>
      <p:sp>
        <p:nvSpPr>
          <p:cNvPr id="4102" name="灯片编号占位符 4101"/>
          <p:cNvSpPr>
            <a:spLocks noGrp="1"/>
          </p:cNvSpPr>
          <p:nvPr>
            <p:ph type="sldNum" sz="quarter" idx="4"/>
          </p:nvPr>
        </p:nvSpPr>
        <p:spPr>
          <a:xfrm>
            <a:off x="6553200" y="6524625"/>
            <a:ext cx="2133600" cy="196850"/>
          </a:xfrm>
          <a:prstGeom prst="rect">
            <a:avLst/>
          </a:prstGeom>
          <a:noFill/>
          <a:ln w="9525">
            <a:noFill/>
          </a:ln>
        </p:spPr>
        <p:txBody>
          <a:bodyPr/>
          <a:lstStyle>
            <a:lvl1pPr algn="r">
              <a:defRPr sz="1400"/>
            </a:lvl1p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marL="0" lvl="0" indent="0" algn="ctr" defTabSz="914400" rtl="0" eaLnBrk="1" fontAlgn="base" latinLnBrk="0" hangingPunct="1">
        <a:lnSpc>
          <a:spcPct val="100000"/>
        </a:lnSpc>
        <a:spcBef>
          <a:spcPct val="0"/>
        </a:spcBef>
        <a:spcAft>
          <a:spcPct val="0"/>
        </a:spcAft>
        <a:buNone/>
        <a:defRPr sz="4000" b="1" i="0" u="none" kern="1200" baseline="0">
          <a:solidFill>
            <a:schemeClr val="bg1"/>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Blip>
          <a:blip r:embed="rId15"/>
        </a:buBlip>
        <a:defRPr sz="3200" b="1"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16"/>
        </a:buBlip>
        <a:defRPr sz="2800" b="0" i="0" u="none" kern="1200" baseline="0">
          <a:solidFill>
            <a:schemeClr val="tx1"/>
          </a:solidFill>
          <a:latin typeface="Arial" panose="020B0604020202020204" pitchFamily="34" charset="0"/>
          <a:ea typeface="宋体" panose="02010600030101010101" pitchFamily="2" charset="-122"/>
          <a:cs typeface="+mn-cs"/>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17"/>
        </a:buBlip>
        <a:defRPr sz="2400" b="0" i="0" u="none" kern="1200" baseline="0">
          <a:solidFill>
            <a:schemeClr val="tx1"/>
          </a:solidFill>
          <a:latin typeface="Arial" panose="020B0604020202020204" pitchFamily="34" charset="0"/>
          <a:ea typeface="宋体" panose="02010600030101010101" pitchFamily="2" charset="-122"/>
          <a:cs typeface="+mn-cs"/>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cs typeface="+mn-cs"/>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cs typeface="+mn-cs"/>
        </a:defRPr>
      </a:lvl5pPr>
      <a:lvl6pPr marL="2514600" lvl="5"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cs typeface="+mn-cs"/>
        </a:defRPr>
      </a:lvl6pPr>
      <a:lvl7pPr marL="2971800" lvl="6"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cs typeface="+mn-cs"/>
        </a:defRPr>
      </a:lvl7pPr>
      <a:lvl8pPr marL="3429000" lvl="7"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cs typeface="+mn-cs"/>
        </a:defRPr>
      </a:lvl8pPr>
      <a:lvl9pPr marL="3886200" lvl="8"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cs typeface="+mn-cs"/>
        </a:defRPr>
      </a:lvl9pPr>
    </p:bodyStyle>
    <p:other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slide" Target="slide1.xml"/><Relationship Id="rId3" Type="http://schemas.openxmlformats.org/officeDocument/2006/relationships/slide" Target="slide27.xml"/><Relationship Id="rId2" Type="http://schemas.openxmlformats.org/officeDocument/2006/relationships/slide" Target="slide10.xml"/><Relationship Id="rId1" Type="http://schemas.openxmlformats.org/officeDocument/2006/relationships/slide" Target="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6.wmf"/><Relationship Id="rId1"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12.xml"/><Relationship Id="rId4" Type="http://schemas.openxmlformats.org/officeDocument/2006/relationships/image" Target="../media/image8.wmf"/><Relationship Id="rId3" Type="http://schemas.openxmlformats.org/officeDocument/2006/relationships/oleObject" Target="../embeddings/oleObject3.bin"/><Relationship Id="rId2" Type="http://schemas.openxmlformats.org/officeDocument/2006/relationships/image" Target="../media/image7.wmf"/><Relationship Id="rId1"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2.wmf"/><Relationship Id="rId7" Type="http://schemas.openxmlformats.org/officeDocument/2006/relationships/oleObject" Target="../embeddings/oleObject7.bin"/><Relationship Id="rId6" Type="http://schemas.openxmlformats.org/officeDocument/2006/relationships/image" Target="../media/image11.wmf"/><Relationship Id="rId5" Type="http://schemas.openxmlformats.org/officeDocument/2006/relationships/oleObject" Target="../embeddings/oleObject6.bin"/><Relationship Id="rId4" Type="http://schemas.openxmlformats.org/officeDocument/2006/relationships/image" Target="../media/image10.wmf"/><Relationship Id="rId3" Type="http://schemas.openxmlformats.org/officeDocument/2006/relationships/oleObject" Target="../embeddings/oleObject5.bin"/><Relationship Id="rId2" Type="http://schemas.openxmlformats.org/officeDocument/2006/relationships/image" Target="../media/image9.wmf"/><Relationship Id="rId10" Type="http://schemas.openxmlformats.org/officeDocument/2006/relationships/vmlDrawing" Target="../drawings/vmlDrawing3.vml"/><Relationship Id="rId1" Type="http://schemas.openxmlformats.org/officeDocument/2006/relationships/oleObject" Target="../embeddings/oleObject4.bin"/></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8" Type="http://schemas.openxmlformats.org/officeDocument/2006/relationships/vmlDrawing" Target="../drawings/vmlDrawing4.vml"/><Relationship Id="rId7" Type="http://schemas.openxmlformats.org/officeDocument/2006/relationships/slideLayout" Target="../slideLayouts/slideLayout4.xml"/><Relationship Id="rId6" Type="http://schemas.openxmlformats.org/officeDocument/2006/relationships/image" Target="../media/image16.wmf"/><Relationship Id="rId5" Type="http://schemas.openxmlformats.org/officeDocument/2006/relationships/oleObject" Target="../embeddings/oleObject10.bin"/><Relationship Id="rId4" Type="http://schemas.openxmlformats.org/officeDocument/2006/relationships/image" Target="../media/image15.wmf"/><Relationship Id="rId3" Type="http://schemas.openxmlformats.org/officeDocument/2006/relationships/oleObject" Target="../embeddings/oleObject9.bin"/><Relationship Id="rId2" Type="http://schemas.openxmlformats.org/officeDocument/2006/relationships/image" Target="../media/image14.wmf"/><Relationship Id="rId1" Type="http://schemas.openxmlformats.org/officeDocument/2006/relationships/oleObject" Target="../embeddings/oleObject8.bin"/></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20.wmf"/><Relationship Id="rId7" Type="http://schemas.openxmlformats.org/officeDocument/2006/relationships/oleObject" Target="../embeddings/oleObject14.bin"/><Relationship Id="rId6" Type="http://schemas.openxmlformats.org/officeDocument/2006/relationships/image" Target="../media/image19.wmf"/><Relationship Id="rId5" Type="http://schemas.openxmlformats.org/officeDocument/2006/relationships/oleObject" Target="../embeddings/oleObject13.bin"/><Relationship Id="rId4" Type="http://schemas.openxmlformats.org/officeDocument/2006/relationships/image" Target="../media/image18.wmf"/><Relationship Id="rId3" Type="http://schemas.openxmlformats.org/officeDocument/2006/relationships/oleObject" Target="../embeddings/oleObject12.bin"/><Relationship Id="rId2" Type="http://schemas.openxmlformats.org/officeDocument/2006/relationships/image" Target="../media/image17.wmf"/><Relationship Id="rId10" Type="http://schemas.openxmlformats.org/officeDocument/2006/relationships/vmlDrawing" Target="../drawings/vmlDrawing5.vml"/><Relationship Id="rId1" Type="http://schemas.openxmlformats.org/officeDocument/2006/relationships/oleObject" Target="../embeddings/oleObject11.bin"/></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24.wmf"/><Relationship Id="rId7" Type="http://schemas.openxmlformats.org/officeDocument/2006/relationships/oleObject" Target="../embeddings/oleObject18.bin"/><Relationship Id="rId6" Type="http://schemas.openxmlformats.org/officeDocument/2006/relationships/image" Target="../media/image23.wmf"/><Relationship Id="rId5" Type="http://schemas.openxmlformats.org/officeDocument/2006/relationships/oleObject" Target="../embeddings/oleObject17.bin"/><Relationship Id="rId4" Type="http://schemas.openxmlformats.org/officeDocument/2006/relationships/image" Target="../media/image22.wmf"/><Relationship Id="rId3" Type="http://schemas.openxmlformats.org/officeDocument/2006/relationships/oleObject" Target="../embeddings/oleObject16.bin"/><Relationship Id="rId2" Type="http://schemas.openxmlformats.org/officeDocument/2006/relationships/image" Target="../media/image21.wmf"/><Relationship Id="rId10" Type="http://schemas.openxmlformats.org/officeDocument/2006/relationships/vmlDrawing" Target="../drawings/vmlDrawing6.vml"/><Relationship Id="rId1" Type="http://schemas.openxmlformats.org/officeDocument/2006/relationships/oleObject" Target="../embeddings/oleObject15.bin"/></Relationships>
</file>

<file path=ppt/slides/_rels/slide18.xml.rels><?xml version="1.0" encoding="UTF-8" standalone="yes"?>
<Relationships xmlns="http://schemas.openxmlformats.org/package/2006/relationships"><Relationship Id="rId9" Type="http://schemas.openxmlformats.org/officeDocument/2006/relationships/oleObject" Target="../embeddings/oleObject23.bin"/><Relationship Id="rId8" Type="http://schemas.openxmlformats.org/officeDocument/2006/relationships/image" Target="../media/image28.wmf"/><Relationship Id="rId7" Type="http://schemas.openxmlformats.org/officeDocument/2006/relationships/oleObject" Target="../embeddings/oleObject22.bin"/><Relationship Id="rId6" Type="http://schemas.openxmlformats.org/officeDocument/2006/relationships/image" Target="../media/image27.wmf"/><Relationship Id="rId5" Type="http://schemas.openxmlformats.org/officeDocument/2006/relationships/oleObject" Target="../embeddings/oleObject21.bin"/><Relationship Id="rId4" Type="http://schemas.openxmlformats.org/officeDocument/2006/relationships/image" Target="../media/image26.wmf"/><Relationship Id="rId3" Type="http://schemas.openxmlformats.org/officeDocument/2006/relationships/oleObject" Target="../embeddings/oleObject20.bin"/><Relationship Id="rId2" Type="http://schemas.openxmlformats.org/officeDocument/2006/relationships/image" Target="../media/image25.wmf"/><Relationship Id="rId14" Type="http://schemas.openxmlformats.org/officeDocument/2006/relationships/vmlDrawing" Target="../drawings/vmlDrawing7.vml"/><Relationship Id="rId13" Type="http://schemas.openxmlformats.org/officeDocument/2006/relationships/slideLayout" Target="../slideLayouts/slideLayout2.xml"/><Relationship Id="rId12" Type="http://schemas.openxmlformats.org/officeDocument/2006/relationships/image" Target="../media/image30.wmf"/><Relationship Id="rId11" Type="http://schemas.openxmlformats.org/officeDocument/2006/relationships/oleObject" Target="../embeddings/oleObject24.bin"/><Relationship Id="rId10" Type="http://schemas.openxmlformats.org/officeDocument/2006/relationships/image" Target="../media/image29.wmf"/><Relationship Id="rId1" Type="http://schemas.openxmlformats.org/officeDocument/2006/relationships/oleObject" Target="../embeddings/oleObject19.bin"/></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29.bin"/><Relationship Id="rId8" Type="http://schemas.openxmlformats.org/officeDocument/2006/relationships/image" Target="../media/image34.wmf"/><Relationship Id="rId7" Type="http://schemas.openxmlformats.org/officeDocument/2006/relationships/oleObject" Target="../embeddings/oleObject28.bin"/><Relationship Id="rId6" Type="http://schemas.openxmlformats.org/officeDocument/2006/relationships/image" Target="../media/image33.wmf"/><Relationship Id="rId5" Type="http://schemas.openxmlformats.org/officeDocument/2006/relationships/oleObject" Target="../embeddings/oleObject27.bin"/><Relationship Id="rId4" Type="http://schemas.openxmlformats.org/officeDocument/2006/relationships/image" Target="../media/image32.wmf"/><Relationship Id="rId3" Type="http://schemas.openxmlformats.org/officeDocument/2006/relationships/oleObject" Target="../embeddings/oleObject26.bin"/><Relationship Id="rId2" Type="http://schemas.openxmlformats.org/officeDocument/2006/relationships/image" Target="../media/image31.wmf"/><Relationship Id="rId15" Type="http://schemas.openxmlformats.org/officeDocument/2006/relationships/vmlDrawing" Target="../drawings/vmlDrawing8.vml"/><Relationship Id="rId14" Type="http://schemas.openxmlformats.org/officeDocument/2006/relationships/slideLayout" Target="../slideLayouts/slideLayout2.xml"/><Relationship Id="rId13" Type="http://schemas.openxmlformats.org/officeDocument/2006/relationships/oleObject" Target="../embeddings/oleObject31.bin"/><Relationship Id="rId12" Type="http://schemas.openxmlformats.org/officeDocument/2006/relationships/image" Target="../media/image36.wmf"/><Relationship Id="rId11" Type="http://schemas.openxmlformats.org/officeDocument/2006/relationships/oleObject" Target="../embeddings/oleObject30.bin"/><Relationship Id="rId10" Type="http://schemas.openxmlformats.org/officeDocument/2006/relationships/image" Target="../media/image35.wmf"/><Relationship Id="rId1" Type="http://schemas.openxmlformats.org/officeDocument/2006/relationships/oleObject" Target="../embeddings/oleObject25.bin"/></Relationships>
</file>

<file path=ppt/slides/_rels/slide20.xml.rels><?xml version="1.0" encoding="UTF-8" standalone="yes"?>
<Relationships xmlns="http://schemas.openxmlformats.org/package/2006/relationships"><Relationship Id="rId8" Type="http://schemas.openxmlformats.org/officeDocument/2006/relationships/vmlDrawing" Target="../drawings/vmlDrawing9.vml"/><Relationship Id="rId7" Type="http://schemas.openxmlformats.org/officeDocument/2006/relationships/slideLayout" Target="../slideLayouts/slideLayout2.xml"/><Relationship Id="rId6" Type="http://schemas.openxmlformats.org/officeDocument/2006/relationships/image" Target="../media/image39.wmf"/><Relationship Id="rId5" Type="http://schemas.openxmlformats.org/officeDocument/2006/relationships/oleObject" Target="../embeddings/oleObject34.bin"/><Relationship Id="rId4" Type="http://schemas.openxmlformats.org/officeDocument/2006/relationships/image" Target="../media/image38.wmf"/><Relationship Id="rId3" Type="http://schemas.openxmlformats.org/officeDocument/2006/relationships/oleObject" Target="../embeddings/oleObject33.bin"/><Relationship Id="rId2" Type="http://schemas.openxmlformats.org/officeDocument/2006/relationships/image" Target="../media/image37.wmf"/><Relationship Id="rId1" Type="http://schemas.openxmlformats.org/officeDocument/2006/relationships/oleObject" Target="../embeddings/oleObject32.bin"/></Relationships>
</file>

<file path=ppt/slides/_rels/slide21.xml.rels><?xml version="1.0" encoding="UTF-8" standalone="yes"?>
<Relationships xmlns="http://schemas.openxmlformats.org/package/2006/relationships"><Relationship Id="rId8" Type="http://schemas.openxmlformats.org/officeDocument/2006/relationships/vmlDrawing" Target="../drawings/vmlDrawing10.vml"/><Relationship Id="rId7" Type="http://schemas.openxmlformats.org/officeDocument/2006/relationships/slideLayout" Target="../slideLayouts/slideLayout2.xml"/><Relationship Id="rId6" Type="http://schemas.openxmlformats.org/officeDocument/2006/relationships/image" Target="../media/image42.wmf"/><Relationship Id="rId5" Type="http://schemas.openxmlformats.org/officeDocument/2006/relationships/oleObject" Target="../embeddings/oleObject37.bin"/><Relationship Id="rId4" Type="http://schemas.openxmlformats.org/officeDocument/2006/relationships/image" Target="../media/image41.wmf"/><Relationship Id="rId3" Type="http://schemas.openxmlformats.org/officeDocument/2006/relationships/oleObject" Target="../embeddings/oleObject36.bin"/><Relationship Id="rId2" Type="http://schemas.openxmlformats.org/officeDocument/2006/relationships/image" Target="../media/image40.wmf"/><Relationship Id="rId1" Type="http://schemas.openxmlformats.org/officeDocument/2006/relationships/oleObject" Target="../embeddings/oleObject35.bin"/></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42.bin"/><Relationship Id="rId8" Type="http://schemas.openxmlformats.org/officeDocument/2006/relationships/image" Target="../media/image46.wmf"/><Relationship Id="rId7" Type="http://schemas.openxmlformats.org/officeDocument/2006/relationships/oleObject" Target="../embeddings/oleObject41.bin"/><Relationship Id="rId6" Type="http://schemas.openxmlformats.org/officeDocument/2006/relationships/image" Target="../media/image45.wmf"/><Relationship Id="rId5" Type="http://schemas.openxmlformats.org/officeDocument/2006/relationships/oleObject" Target="../embeddings/oleObject40.bin"/><Relationship Id="rId4" Type="http://schemas.openxmlformats.org/officeDocument/2006/relationships/image" Target="../media/image44.wmf"/><Relationship Id="rId3" Type="http://schemas.openxmlformats.org/officeDocument/2006/relationships/oleObject" Target="../embeddings/oleObject39.bin"/><Relationship Id="rId23" Type="http://schemas.openxmlformats.org/officeDocument/2006/relationships/vmlDrawing" Target="../drawings/vmlDrawing11.vml"/><Relationship Id="rId22" Type="http://schemas.openxmlformats.org/officeDocument/2006/relationships/slideLayout" Target="../slideLayouts/slideLayout2.xml"/><Relationship Id="rId21" Type="http://schemas.openxmlformats.org/officeDocument/2006/relationships/oleObject" Target="../embeddings/oleObject49.bin"/><Relationship Id="rId20" Type="http://schemas.openxmlformats.org/officeDocument/2006/relationships/image" Target="../media/image50.wmf"/><Relationship Id="rId2" Type="http://schemas.openxmlformats.org/officeDocument/2006/relationships/image" Target="../media/image43.wmf"/><Relationship Id="rId19" Type="http://schemas.openxmlformats.org/officeDocument/2006/relationships/oleObject" Target="../embeddings/oleObject48.bin"/><Relationship Id="rId18" Type="http://schemas.openxmlformats.org/officeDocument/2006/relationships/image" Target="../media/image49.wmf"/><Relationship Id="rId17" Type="http://schemas.openxmlformats.org/officeDocument/2006/relationships/oleObject" Target="../embeddings/oleObject47.bin"/><Relationship Id="rId16" Type="http://schemas.openxmlformats.org/officeDocument/2006/relationships/image" Target="../media/image48.wmf"/><Relationship Id="rId15" Type="http://schemas.openxmlformats.org/officeDocument/2006/relationships/oleObject" Target="../embeddings/oleObject46.bin"/><Relationship Id="rId14" Type="http://schemas.openxmlformats.org/officeDocument/2006/relationships/oleObject" Target="../embeddings/oleObject45.bin"/><Relationship Id="rId13" Type="http://schemas.openxmlformats.org/officeDocument/2006/relationships/image" Target="../media/image34.wmf"/><Relationship Id="rId12" Type="http://schemas.openxmlformats.org/officeDocument/2006/relationships/oleObject" Target="../embeddings/oleObject44.bin"/><Relationship Id="rId11" Type="http://schemas.openxmlformats.org/officeDocument/2006/relationships/oleObject" Target="../embeddings/oleObject43.bin"/><Relationship Id="rId10" Type="http://schemas.openxmlformats.org/officeDocument/2006/relationships/image" Target="../media/image47.wmf"/><Relationship Id="rId1" Type="http://schemas.openxmlformats.org/officeDocument/2006/relationships/oleObject" Target="../embeddings/oleObject38.bin"/></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7" Type="http://schemas.openxmlformats.org/officeDocument/2006/relationships/vmlDrawing" Target="../drawings/vmlDrawing12.vml"/><Relationship Id="rId6"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54.wmf"/><Relationship Id="rId1" Type="http://schemas.openxmlformats.org/officeDocument/2006/relationships/oleObject" Target="../embeddings/oleObject50.bin"/></Relationships>
</file>

<file path=ppt/slides/_rels/slide3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png"/><Relationship Id="rId7" Type="http://schemas.openxmlformats.org/officeDocument/2006/relationships/image" Target="../media/image3.png"/><Relationship Id="rId6" Type="http://schemas.openxmlformats.org/officeDocument/2006/relationships/image" Target="../media/image2.png"/><Relationship Id="rId5" Type="http://schemas.openxmlformats.org/officeDocument/2006/relationships/oleObject" Target="../embeddings/oleObject53.bin"/><Relationship Id="rId4" Type="http://schemas.openxmlformats.org/officeDocument/2006/relationships/image" Target="../media/image55.wmf"/><Relationship Id="rId3" Type="http://schemas.openxmlformats.org/officeDocument/2006/relationships/oleObject" Target="../embeddings/oleObject52.bin"/><Relationship Id="rId2" Type="http://schemas.openxmlformats.org/officeDocument/2006/relationships/image" Target="../media/image34.wmf"/><Relationship Id="rId10" Type="http://schemas.openxmlformats.org/officeDocument/2006/relationships/vmlDrawing" Target="../drawings/vmlDrawing13.vml"/><Relationship Id="rId1" Type="http://schemas.openxmlformats.org/officeDocument/2006/relationships/oleObject" Target="../embeddings/oleObject51.bin"/></Relationships>
</file>

<file path=ppt/slides/_rels/slide31.xml.rels><?xml version="1.0" encoding="UTF-8" standalone="yes"?>
<Relationships xmlns="http://schemas.openxmlformats.org/package/2006/relationships"><Relationship Id="rId8" Type="http://schemas.openxmlformats.org/officeDocument/2006/relationships/vmlDrawing" Target="../drawings/vmlDrawing14.vml"/><Relationship Id="rId7" Type="http://schemas.openxmlformats.org/officeDocument/2006/relationships/slideLayout" Target="../slideLayouts/slideLayout2.xml"/><Relationship Id="rId6" Type="http://schemas.openxmlformats.org/officeDocument/2006/relationships/image" Target="../media/image58.wmf"/><Relationship Id="rId5" Type="http://schemas.openxmlformats.org/officeDocument/2006/relationships/oleObject" Target="../embeddings/oleObject56.bin"/><Relationship Id="rId4" Type="http://schemas.openxmlformats.org/officeDocument/2006/relationships/image" Target="../media/image57.wmf"/><Relationship Id="rId3" Type="http://schemas.openxmlformats.org/officeDocument/2006/relationships/oleObject" Target="../embeddings/oleObject55.bin"/><Relationship Id="rId2" Type="http://schemas.openxmlformats.org/officeDocument/2006/relationships/image" Target="../media/image56.wmf"/><Relationship Id="rId1" Type="http://schemas.openxmlformats.org/officeDocument/2006/relationships/oleObject" Target="../embeddings/oleObject54.bin"/></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9.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1" name="副标题 2050"/>
          <p:cNvSpPr>
            <a:spLocks noGrp="1"/>
          </p:cNvSpPr>
          <p:nvPr>
            <p:ph type="subTitle" idx="1"/>
          </p:nvPr>
        </p:nvSpPr>
        <p:spPr>
          <a:xfrm>
            <a:off x="991553" y="2460625"/>
            <a:ext cx="7161212" cy="792163"/>
          </a:xfrm>
        </p:spPr>
        <p:txBody>
          <a:bodyPr vert="horz" wrap="square" lIns="91440" tIns="45720" rIns="91440" bIns="45720" anchor="t"/>
          <a:p>
            <a:pPr defTabSz="914400">
              <a:buSzPct val="100000"/>
            </a:pPr>
            <a:r>
              <a:rPr lang="en-US" altLang="zh-CN" sz="4000" kern="1200" baseline="0" dirty="0">
                <a:solidFill>
                  <a:srgbClr val="FF3300"/>
                </a:solidFill>
                <a:latin typeface="Arial Black" panose="020B0A04020102020204" pitchFamily="34" charset="0"/>
                <a:ea typeface="黑体" panose="02010609060101010101" pitchFamily="2" charset="-122"/>
              </a:rPr>
              <a:t>2020</a:t>
            </a:r>
            <a:r>
              <a:rPr lang="zh-CN" altLang="en-US" sz="4000" kern="1200" baseline="0" dirty="0">
                <a:solidFill>
                  <a:srgbClr val="FF3300"/>
                </a:solidFill>
                <a:latin typeface="Arial Black" panose="020B0A04020102020204" pitchFamily="34" charset="0"/>
                <a:ea typeface="黑体" panose="02010609060101010101" pitchFamily="2" charset="-122"/>
              </a:rPr>
              <a:t>美赛巅峰培训</a:t>
            </a:r>
            <a:r>
              <a:rPr lang="en-US" altLang="zh-CN" sz="4000" kern="1200" baseline="0" dirty="0">
                <a:solidFill>
                  <a:srgbClr val="FF3300"/>
                </a:solidFill>
                <a:latin typeface="Arial Black" panose="020B0A04020102020204" pitchFamily="34" charset="0"/>
                <a:ea typeface="黑体" panose="02010609060101010101" pitchFamily="2" charset="-122"/>
              </a:rPr>
              <a:t>6</a:t>
            </a:r>
            <a:r>
              <a:rPr lang="zh-CN" altLang="en-US" sz="4000" kern="1200" baseline="0" dirty="0">
                <a:solidFill>
                  <a:srgbClr val="FF3300"/>
                </a:solidFill>
                <a:latin typeface="Arial Black" panose="020B0A04020102020204" pitchFamily="34" charset="0"/>
                <a:ea typeface="黑体" panose="02010609060101010101" pitchFamily="2" charset="-122"/>
              </a:rPr>
              <a:t>：</a:t>
            </a:r>
            <a:endParaRPr lang="zh-CN" altLang="en-US" sz="4000" kern="1200" baseline="0" dirty="0">
              <a:solidFill>
                <a:srgbClr val="FF3300"/>
              </a:solidFill>
              <a:latin typeface="Arial Black" panose="020B0A04020102020204" pitchFamily="34" charset="0"/>
              <a:ea typeface="黑体" panose="02010609060101010101" pitchFamily="2" charset="-122"/>
            </a:endParaRPr>
          </a:p>
          <a:p>
            <a:pPr defTabSz="914400">
              <a:buSzPct val="100000"/>
            </a:pPr>
            <a:r>
              <a:rPr lang="zh-CN" altLang="en-US" sz="4000" kern="1200" baseline="0" dirty="0">
                <a:solidFill>
                  <a:srgbClr val="FF3300"/>
                </a:solidFill>
                <a:latin typeface="Arial Black" panose="020B0A04020102020204" pitchFamily="34" charset="0"/>
                <a:ea typeface="黑体" panose="02010609060101010101" pitchFamily="2" charset="-122"/>
              </a:rPr>
              <a:t>灰色预测模型及其应用</a:t>
            </a:r>
            <a:endParaRPr lang="zh-CN" altLang="en-US" sz="4000" kern="1200" baseline="0" dirty="0">
              <a:solidFill>
                <a:srgbClr val="FF3300"/>
              </a:solidFill>
              <a:latin typeface="Arial Black" panose="020B0A04020102020204" pitchFamily="34" charset="0"/>
              <a:ea typeface="黑体" panose="02010609060101010101" pitchFamily="2" charset="-122"/>
            </a:endParaRPr>
          </a:p>
          <a:p>
            <a:pPr defTabSz="914400">
              <a:buSzPct val="100000"/>
            </a:pPr>
            <a:endParaRPr lang="zh-CN" altLang="en-US" sz="2000" kern="1200" baseline="0" dirty="0">
              <a:latin typeface="Arial Black" panose="020B0A04020102020204" pitchFamily="34" charset="0"/>
              <a:ea typeface="黑体" panose="02010609060101010101" pitchFamily="2" charset="-122"/>
            </a:endParaRPr>
          </a:p>
          <a:p>
            <a:pPr defTabSz="914400">
              <a:buSzPct val="100000"/>
            </a:pPr>
            <a:r>
              <a:rPr lang="zh-CN" altLang="en-US" sz="2000" kern="1200" baseline="0" dirty="0">
                <a:latin typeface="Arial Black" panose="020B0A04020102020204" pitchFamily="34" charset="0"/>
                <a:ea typeface="黑体" panose="02010609060101010101" pitchFamily="2" charset="-122"/>
              </a:rPr>
              <a:t>科研交流</a:t>
            </a:r>
            <a:r>
              <a:rPr lang="en-US" altLang="zh-CN" sz="2000" kern="1200" baseline="0" dirty="0">
                <a:latin typeface="Arial Black" panose="020B0A04020102020204" pitchFamily="34" charset="0"/>
                <a:ea typeface="黑体" panose="02010609060101010101" pitchFamily="2" charset="-122"/>
              </a:rPr>
              <a:t>-</a:t>
            </a:r>
            <a:r>
              <a:rPr lang="zh-CN" altLang="en-US" sz="2000" kern="1200" baseline="0" dirty="0">
                <a:latin typeface="Arial Black" panose="020B0A04020102020204" pitchFamily="34" charset="0"/>
                <a:ea typeface="黑体" panose="02010609060101010101" pitchFamily="2" charset="-122"/>
              </a:rPr>
              <a:t>老教练（</a:t>
            </a:r>
            <a:r>
              <a:rPr lang="en-US" altLang="zh-CN" sz="2000" kern="1200" baseline="0" dirty="0">
                <a:latin typeface="Arial Black" panose="020B0A04020102020204" pitchFamily="34" charset="0"/>
                <a:ea typeface="黑体" panose="02010609060101010101" pitchFamily="2" charset="-122"/>
              </a:rPr>
              <a:t>Q3417617790</a:t>
            </a:r>
            <a:r>
              <a:rPr lang="zh-CN" altLang="en-US" sz="2000" kern="1200" baseline="0" dirty="0">
                <a:latin typeface="Arial Black" panose="020B0A04020102020204" pitchFamily="34" charset="0"/>
                <a:ea typeface="黑体" panose="02010609060101010101" pitchFamily="2" charset="-122"/>
              </a:rPr>
              <a:t>）</a:t>
            </a:r>
            <a:endParaRPr lang="zh-CN" altLang="en-US" sz="2000" kern="1200" baseline="0" dirty="0">
              <a:latin typeface="Arial Black" panose="020B0A04020102020204" pitchFamily="34" charset="0"/>
              <a:ea typeface="黑体" panose="02010609060101010101" pitchFamily="2" charset="-122"/>
            </a:endParaRPr>
          </a:p>
        </p:txBody>
      </p:sp>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051">
                                            <p:txEl>
                                              <p:charRg st="0" end="15"/>
                                            </p:txEl>
                                          </p:spTgt>
                                        </p:tgtEl>
                                        <p:attrNameLst>
                                          <p:attrName>style.visibility</p:attrName>
                                        </p:attrNameLst>
                                      </p:cBhvr>
                                      <p:to>
                                        <p:strVal val="visible"/>
                                      </p:to>
                                    </p:set>
                                    <p:animEffect transition="in" filter="wipe(up)">
                                      <p:cBhvr>
                                        <p:cTn id="7" dur="500"/>
                                        <p:tgtEl>
                                          <p:spTgt spid="2051">
                                            <p:txEl>
                                              <p:charRg st="0" end="1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051">
                                            <p:txEl>
                                              <p:charRg st="1" end="1"/>
                                            </p:txEl>
                                          </p:spTgt>
                                        </p:tgtEl>
                                        <p:attrNameLst>
                                          <p:attrName>style.visibility</p:attrName>
                                        </p:attrNameLst>
                                      </p:cBhvr>
                                      <p:to>
                                        <p:strVal val="visible"/>
                                      </p:to>
                                    </p:set>
                                    <p:animEffect transition="in" filter="wipe(up)">
                                      <p:cBhvr>
                                        <p:cTn id="12" dur="500"/>
                                        <p:tgtEl>
                                          <p:spTgt spid="2051">
                                            <p:txEl>
                                              <p:char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051">
                                            <p:txEl>
                                              <p:charRg st="1" end="1"/>
                                            </p:txEl>
                                          </p:spTgt>
                                        </p:tgtEl>
                                        <p:attrNameLst>
                                          <p:attrName>style.visibility</p:attrName>
                                        </p:attrNameLst>
                                      </p:cBhvr>
                                      <p:to>
                                        <p:strVal val="visible"/>
                                      </p:to>
                                    </p:set>
                                    <p:animEffect transition="in" filter="wipe(up)">
                                      <p:cBhvr>
                                        <p:cTn id="17" dur="500"/>
                                        <p:tgtEl>
                                          <p:spTgt spid="2051">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1" name="文本占位符 7170"/>
          <p:cNvSpPr>
            <a:spLocks noGrp="1"/>
          </p:cNvSpPr>
          <p:nvPr>
            <p:ph type="body" idx="1"/>
          </p:nvPr>
        </p:nvSpPr>
        <p:spPr/>
        <p:txBody>
          <a:bodyPr/>
          <a:p>
            <a:pPr>
              <a:lnSpc>
                <a:spcPct val="130000"/>
              </a:lnSpc>
              <a:buNone/>
            </a:pPr>
            <a:r>
              <a:rPr lang="en-US" altLang="zh-CN" b="0" dirty="0"/>
              <a:t>  </a:t>
            </a:r>
            <a:r>
              <a:rPr lang="zh-CN" altLang="en-US" sz="2800" b="0" dirty="0">
                <a:solidFill>
                  <a:srgbClr val="FF3300"/>
                </a:solidFill>
              </a:rPr>
              <a:t>灰色预测模型</a:t>
            </a:r>
            <a:r>
              <a:rPr lang="zh-CN" altLang="en-US" sz="2800" b="0" dirty="0">
                <a:latin typeface="Times New Roman" panose="02020603050405020304" pitchFamily="18" charset="0"/>
              </a:rPr>
              <a:t>（</a:t>
            </a:r>
            <a:r>
              <a:rPr lang="en-US" altLang="zh-CN" sz="2800" b="0" dirty="0">
                <a:latin typeface="Times New Roman" panose="02020603050405020304" pitchFamily="18" charset="0"/>
              </a:rPr>
              <a:t>Gray Forecast Model</a:t>
            </a:r>
            <a:r>
              <a:rPr lang="zh-CN" altLang="en-US" sz="2800" b="0" dirty="0">
                <a:latin typeface="Times New Roman" panose="02020603050405020304" pitchFamily="18" charset="0"/>
              </a:rPr>
              <a:t>）</a:t>
            </a:r>
            <a:r>
              <a:rPr lang="zh-CN" altLang="en-US" sz="2800" b="0" dirty="0"/>
              <a:t>是通过少量的、不完全的信息，建立数学模型并做出预测的一种预测方法</a:t>
            </a:r>
            <a:r>
              <a:rPr lang="en-US" altLang="zh-CN" sz="2800" b="0" dirty="0"/>
              <a:t>.</a:t>
            </a:r>
            <a:r>
              <a:rPr lang="zh-CN" altLang="en-US" sz="2800" b="0" dirty="0"/>
              <a:t>当我们应用运筹学的思想方法解决实际问题，制定发展战略和政策、进行重大问题的决策时，都必须对未来进行科学的预测</a:t>
            </a:r>
            <a:r>
              <a:rPr lang="en-US" altLang="zh-CN" sz="2800" b="0" dirty="0"/>
              <a:t>. </a:t>
            </a:r>
            <a:r>
              <a:rPr lang="zh-CN" altLang="en-US" sz="2800" b="0" dirty="0"/>
              <a:t>预测是根据客观事物的过去和现在的发展规律，借助于科学的方法对其未来的发展趋势和状况进行描述和分析，并形成科学的假设和判断</a:t>
            </a:r>
            <a:r>
              <a:rPr lang="en-US" altLang="zh-CN" sz="2800" b="0"/>
              <a:t>.</a:t>
            </a:r>
            <a:endParaRPr lang="en-US" altLang="zh-CN" sz="2800" b="0"/>
          </a:p>
        </p:txBody>
      </p:sp>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7171">
                                            <p:txEl>
                                              <p:charRg st="0" end="180"/>
                                            </p:txEl>
                                          </p:spTgt>
                                        </p:tgtEl>
                                        <p:attrNameLst>
                                          <p:attrName>style.visibility</p:attrName>
                                        </p:attrNameLst>
                                      </p:cBhvr>
                                      <p:to>
                                        <p:strVal val="visible"/>
                                      </p:to>
                                    </p:set>
                                    <p:anim calcmode="lin" valueType="num">
                                      <p:cBhvr>
                                        <p:cTn id="7" dur="1000" fill="hold"/>
                                        <p:tgtEl>
                                          <p:spTgt spid="7171">
                                            <p:txEl>
                                              <p:charRg st="0" end="180"/>
                                            </p:txEl>
                                          </p:spTgt>
                                        </p:tgtEl>
                                        <p:attrNameLst>
                                          <p:attrName>ppt_x</p:attrName>
                                        </p:attrNameLst>
                                      </p:cBhvr>
                                      <p:tavLst>
                                        <p:tav tm="0">
                                          <p:val>
                                            <p:strVal val="#ppt_x-.2"/>
                                          </p:val>
                                        </p:tav>
                                        <p:tav tm="100000">
                                          <p:val>
                                            <p:strVal val="#ppt_x"/>
                                          </p:val>
                                        </p:tav>
                                      </p:tavLst>
                                    </p:anim>
                                    <p:anim calcmode="lin" valueType="num">
                                      <p:cBhvr>
                                        <p:cTn id="8" dur="1000" fill="hold"/>
                                        <p:tgtEl>
                                          <p:spTgt spid="7171">
                                            <p:txEl>
                                              <p:charRg st="0" end="18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7171">
                                            <p:txEl>
                                              <p:charRg st="0" end="18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5" name="文本占位符 74754"/>
          <p:cNvSpPr>
            <a:spLocks noGrp="1"/>
          </p:cNvSpPr>
          <p:nvPr>
            <p:ph type="body" idx="1"/>
          </p:nvPr>
        </p:nvSpPr>
        <p:spPr/>
        <p:txBody>
          <a:bodyPr/>
          <a:p>
            <a:pPr>
              <a:lnSpc>
                <a:spcPct val="130000"/>
              </a:lnSpc>
            </a:pPr>
            <a:r>
              <a:rPr lang="zh-CN" altLang="en-US" sz="2800" b="0" dirty="0">
                <a:latin typeface="黑体" panose="02010609060101010101" pitchFamily="2" charset="-122"/>
              </a:rPr>
              <a:t>灰色系统理论是研究解决灰色系统分析、建模、预测、决策和控制的理论</a:t>
            </a:r>
            <a:r>
              <a:rPr lang="en-US" altLang="zh-CN" sz="2800" b="0" dirty="0">
                <a:latin typeface="黑体" panose="02010609060101010101" pitchFamily="2" charset="-122"/>
              </a:rPr>
              <a:t>.</a:t>
            </a:r>
            <a:r>
              <a:rPr lang="zh-CN" altLang="en-US" sz="2800" b="0" dirty="0">
                <a:latin typeface="黑体" panose="02010609060101010101" pitchFamily="2" charset="-122"/>
              </a:rPr>
              <a:t>灰色预测是对灰色系统所做的预测</a:t>
            </a:r>
            <a:r>
              <a:rPr lang="en-US" altLang="zh-CN" sz="2800" b="0" dirty="0">
                <a:latin typeface="黑体" panose="02010609060101010101" pitchFamily="2" charset="-122"/>
              </a:rPr>
              <a:t>.</a:t>
            </a:r>
            <a:r>
              <a:rPr lang="zh-CN" altLang="en-US" sz="2800" b="0" dirty="0">
                <a:latin typeface="黑体" panose="02010609060101010101" pitchFamily="2" charset="-122"/>
              </a:rPr>
              <a:t>目前常用的一些预测方法（如回归分析等），需要较大的样本</a:t>
            </a:r>
            <a:r>
              <a:rPr lang="en-US" altLang="zh-CN" sz="2800" b="0" dirty="0">
                <a:latin typeface="黑体" panose="02010609060101010101" pitchFamily="2" charset="-122"/>
              </a:rPr>
              <a:t>.</a:t>
            </a:r>
            <a:r>
              <a:rPr lang="zh-CN" altLang="en-US" sz="2800" b="0" dirty="0">
                <a:latin typeface="黑体" panose="02010609060101010101" pitchFamily="2" charset="-122"/>
              </a:rPr>
              <a:t>若样本较小，常造成较大误差，使预测目标失效</a:t>
            </a:r>
            <a:r>
              <a:rPr lang="en-US" altLang="zh-CN" sz="2800" b="0" dirty="0">
                <a:latin typeface="黑体" panose="02010609060101010101" pitchFamily="2" charset="-122"/>
              </a:rPr>
              <a:t>.</a:t>
            </a:r>
            <a:r>
              <a:rPr lang="zh-CN" altLang="en-US" sz="2800" b="0" dirty="0">
                <a:latin typeface="黑体" panose="02010609060101010101" pitchFamily="2" charset="-122"/>
              </a:rPr>
              <a:t>灰色预测模型所需建模信息少，运算方便，建模精度高，在各种预测领域都有着广泛的应用，是处理小样本预测问题的有效工具</a:t>
            </a:r>
            <a:r>
              <a:rPr lang="en-US" altLang="zh-CN" sz="2800" b="0">
                <a:latin typeface="黑体" panose="02010609060101010101" pitchFamily="2" charset="-122"/>
              </a:rPr>
              <a:t>.</a:t>
            </a:r>
            <a:endParaRPr lang="en-US" altLang="zh-CN" sz="2800" b="0">
              <a:latin typeface="黑体" panose="02010609060101010101" pitchFamily="2" charset="-122"/>
            </a:endParaRPr>
          </a:p>
        </p:txBody>
      </p:sp>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矩形 112641"/>
          <p:cNvSpPr/>
          <p:nvPr/>
        </p:nvSpPr>
        <p:spPr>
          <a:xfrm>
            <a:off x="1258888" y="2060575"/>
            <a:ext cx="5794375" cy="3816350"/>
          </a:xfrm>
          <a:prstGeom prst="rect">
            <a:avLst/>
          </a:prstGeom>
          <a:noFill/>
          <a:ln w="9525">
            <a:noFill/>
          </a:ln>
        </p:spPr>
        <p:txBody>
          <a:bodyPr/>
          <a:p>
            <a:pPr marL="342900" indent="-342900">
              <a:lnSpc>
                <a:spcPct val="130000"/>
              </a:lnSpc>
              <a:spcBef>
                <a:spcPct val="20000"/>
              </a:spcBef>
              <a:buClr>
                <a:schemeClr val="tx1"/>
              </a:buClr>
            </a:pPr>
            <a:r>
              <a:rPr lang="en-US" altLang="zh-CN" sz="2400" b="1" u="sng" dirty="0">
                <a:solidFill>
                  <a:srgbClr val="FF3300"/>
                </a:solidFill>
                <a:latin typeface="Arial" panose="020B0604020202020204" pitchFamily="34" charset="0"/>
                <a:hlinkClick r:id="rId1" action="ppaction://hlinksldjump"/>
              </a:rPr>
              <a:t>1  </a:t>
            </a:r>
            <a:r>
              <a:rPr lang="zh-CN" altLang="en-US" sz="2400" b="1" u="sng" dirty="0">
                <a:solidFill>
                  <a:srgbClr val="FF3300"/>
                </a:solidFill>
                <a:latin typeface="Arial" panose="020B0604020202020204" pitchFamily="34" charset="0"/>
                <a:hlinkClick r:id="rId1" action="ppaction://hlinksldjump"/>
              </a:rPr>
              <a:t>灰色系统的定义和特点</a:t>
            </a:r>
            <a:endParaRPr lang="zh-CN" altLang="en-US" sz="2400" b="1" u="sng" dirty="0">
              <a:solidFill>
                <a:srgbClr val="FF3300"/>
              </a:solidFill>
              <a:latin typeface="Arial" panose="020B0604020202020204" pitchFamily="34" charset="0"/>
            </a:endParaRPr>
          </a:p>
          <a:p>
            <a:pPr marL="342900" indent="-342900">
              <a:lnSpc>
                <a:spcPct val="130000"/>
              </a:lnSpc>
              <a:spcBef>
                <a:spcPct val="20000"/>
              </a:spcBef>
              <a:buClr>
                <a:schemeClr val="tx1"/>
              </a:buClr>
            </a:pPr>
            <a:r>
              <a:rPr lang="en-US" altLang="zh-CN" sz="2400" b="1" u="sng" dirty="0">
                <a:solidFill>
                  <a:srgbClr val="FF3300"/>
                </a:solidFill>
                <a:latin typeface="Arial" panose="020B0604020202020204" pitchFamily="34" charset="0"/>
                <a:hlinkClick r:id="rId2" action="ppaction://hlinksldjump"/>
              </a:rPr>
              <a:t>2  </a:t>
            </a:r>
            <a:r>
              <a:rPr lang="zh-CN" altLang="en-US" sz="2400" b="1" u="sng" dirty="0">
                <a:solidFill>
                  <a:srgbClr val="FF3300"/>
                </a:solidFill>
                <a:latin typeface="Arial" panose="020B0604020202020204" pitchFamily="34" charset="0"/>
                <a:hlinkClick r:id="rId2" action="ppaction://hlinksldjump"/>
              </a:rPr>
              <a:t>灰色系统的模型</a:t>
            </a:r>
            <a:endParaRPr lang="zh-CN" altLang="en-US" sz="2400" b="1" u="sng" dirty="0">
              <a:solidFill>
                <a:srgbClr val="FF3300"/>
              </a:solidFill>
              <a:latin typeface="Arial" panose="020B0604020202020204" pitchFamily="34" charset="0"/>
            </a:endParaRPr>
          </a:p>
          <a:p>
            <a:pPr marL="342900" indent="-342900">
              <a:lnSpc>
                <a:spcPct val="130000"/>
              </a:lnSpc>
              <a:spcBef>
                <a:spcPct val="20000"/>
              </a:spcBef>
              <a:buClr>
                <a:schemeClr val="tx1"/>
              </a:buClr>
            </a:pPr>
            <a:r>
              <a:rPr lang="en-US" altLang="zh-CN" sz="2400" b="1" u="sng" dirty="0">
                <a:solidFill>
                  <a:srgbClr val="FF3300"/>
                </a:solidFill>
                <a:latin typeface="Arial" panose="020B0604020202020204" pitchFamily="34" charset="0"/>
                <a:hlinkClick r:id="rId3" action="ppaction://hlinksldjump"/>
              </a:rPr>
              <a:t>3  </a:t>
            </a:r>
            <a:r>
              <a:rPr lang="zh-CN" altLang="en-US" sz="2400" b="1" u="sng" dirty="0">
                <a:solidFill>
                  <a:srgbClr val="FF3300"/>
                </a:solidFill>
                <a:latin typeface="Arial" panose="020B0604020202020204" pitchFamily="34" charset="0"/>
                <a:hlinkClick r:id="rId3" action="ppaction://hlinksldjump"/>
              </a:rPr>
              <a:t>销售额预测</a:t>
            </a:r>
            <a:endParaRPr lang="zh-CN" altLang="en-US" sz="2400" b="1" u="sng" dirty="0">
              <a:solidFill>
                <a:srgbClr val="FF3300"/>
              </a:solidFill>
              <a:latin typeface="Arial" panose="020B0604020202020204" pitchFamily="34" charset="0"/>
            </a:endParaRPr>
          </a:p>
          <a:p>
            <a:pPr marL="342900" indent="-342900">
              <a:lnSpc>
                <a:spcPct val="130000"/>
              </a:lnSpc>
              <a:spcBef>
                <a:spcPct val="20000"/>
              </a:spcBef>
              <a:buClr>
                <a:schemeClr val="tx1"/>
              </a:buClr>
            </a:pPr>
            <a:r>
              <a:rPr lang="en-US" altLang="zh-CN" sz="2400" b="1" u="sng" dirty="0">
                <a:solidFill>
                  <a:srgbClr val="FF3300"/>
                </a:solidFill>
                <a:latin typeface="Arial" panose="020B0604020202020204" pitchFamily="34" charset="0"/>
                <a:hlinkClick r:id="rId4" action="ppaction://hlinksldjump"/>
              </a:rPr>
              <a:t>4  </a:t>
            </a:r>
            <a:r>
              <a:rPr lang="zh-CN" altLang="en-US" sz="2400" b="1" u="sng" dirty="0">
                <a:solidFill>
                  <a:srgbClr val="FF3300"/>
                </a:solidFill>
                <a:latin typeface="Arial" panose="020B0604020202020204" pitchFamily="34" charset="0"/>
                <a:hlinkClick r:id="rId4" action="ppaction://hlinksldjump"/>
              </a:rPr>
              <a:t>城市道路交通事故次数的灰色预测</a:t>
            </a:r>
            <a:endParaRPr lang="zh-CN" altLang="en-US" sz="2400" b="1" u="sng" dirty="0">
              <a:solidFill>
                <a:srgbClr val="FF3300"/>
              </a:solidFill>
              <a:latin typeface="Arial" panose="020B0604020202020204" pitchFamily="34" charset="0"/>
            </a:endParaRPr>
          </a:p>
          <a:p>
            <a:pPr marL="342900" indent="-342900">
              <a:lnSpc>
                <a:spcPct val="130000"/>
              </a:lnSpc>
              <a:spcBef>
                <a:spcPct val="20000"/>
              </a:spcBef>
              <a:buClr>
                <a:schemeClr val="tx1"/>
              </a:buClr>
            </a:pPr>
            <a:r>
              <a:rPr lang="en-US" altLang="zh-CN" sz="2400" b="1" u="sng" dirty="0">
                <a:solidFill>
                  <a:srgbClr val="FF3300"/>
                </a:solidFill>
                <a:latin typeface="Arial" panose="020B0604020202020204" pitchFamily="34" charset="0"/>
                <a:hlinkClick r:id="rId4" action="ppaction://hlinksldjump"/>
              </a:rPr>
              <a:t>5  </a:t>
            </a:r>
            <a:r>
              <a:rPr lang="zh-CN" altLang="en-US" sz="2400" b="1" u="sng" dirty="0">
                <a:solidFill>
                  <a:srgbClr val="FF3300"/>
                </a:solidFill>
                <a:latin typeface="Arial" panose="020B0604020202020204" pitchFamily="34" charset="0"/>
                <a:hlinkClick r:id="rId4" action="ppaction://hlinksldjump"/>
              </a:rPr>
              <a:t>城市火灾发生次数的灰色预测</a:t>
            </a:r>
            <a:endParaRPr lang="zh-CN" altLang="en-US" sz="2400" b="1" u="sng" dirty="0">
              <a:solidFill>
                <a:srgbClr val="FF3300"/>
              </a:solidFill>
              <a:latin typeface="Arial" panose="020B0604020202020204" pitchFamily="34" charset="0"/>
            </a:endParaRPr>
          </a:p>
          <a:p>
            <a:pPr marL="342900" indent="-342900">
              <a:lnSpc>
                <a:spcPct val="130000"/>
              </a:lnSpc>
              <a:spcBef>
                <a:spcPct val="20000"/>
              </a:spcBef>
              <a:buClr>
                <a:schemeClr val="tx1"/>
              </a:buClr>
            </a:pPr>
            <a:r>
              <a:rPr lang="en-US" altLang="zh-CN" sz="2400" b="1" u="sng" dirty="0">
                <a:solidFill>
                  <a:srgbClr val="FF3300"/>
                </a:solidFill>
                <a:latin typeface="Arial" panose="020B0604020202020204" pitchFamily="34" charset="0"/>
                <a:hlinkClick r:id="rId4" action="ppaction://hlinksldjump"/>
              </a:rPr>
              <a:t>6  </a:t>
            </a:r>
            <a:r>
              <a:rPr lang="zh-CN" altLang="en-US" sz="2400" b="1" u="sng" dirty="0">
                <a:solidFill>
                  <a:srgbClr val="FF3300"/>
                </a:solidFill>
                <a:latin typeface="Arial" panose="020B0604020202020204" pitchFamily="34" charset="0"/>
                <a:hlinkClick r:id="rId4" action="ppaction://hlinksldjump"/>
              </a:rPr>
              <a:t>灾变与异常值预测</a:t>
            </a:r>
            <a:endParaRPr lang="zh-CN" altLang="en-US" sz="2400" b="1" u="sng" dirty="0">
              <a:solidFill>
                <a:srgbClr val="FF3300"/>
              </a:solidFill>
              <a:latin typeface="Arial" panose="020B0604020202020204" pitchFamily="34" charset="0"/>
            </a:endParaRPr>
          </a:p>
          <a:p>
            <a:pPr marL="342900" indent="-342900">
              <a:spcBef>
                <a:spcPct val="20000"/>
              </a:spcBef>
              <a:buClr>
                <a:schemeClr val="tx1"/>
              </a:buClr>
            </a:pPr>
            <a:endParaRPr lang="zh-CN" altLang="en-US" sz="2400" b="1" u="sng">
              <a:solidFill>
                <a:srgbClr val="FF3300"/>
              </a:solidFill>
              <a:latin typeface="Arial" panose="020B0604020202020204" pitchFamily="34" charset="0"/>
            </a:endParaRPr>
          </a:p>
        </p:txBody>
      </p:sp>
      <p:sp>
        <p:nvSpPr>
          <p:cNvPr id="112643" name="矩形 112642"/>
          <p:cNvSpPr/>
          <p:nvPr/>
        </p:nvSpPr>
        <p:spPr>
          <a:xfrm>
            <a:off x="1295400" y="2714625"/>
            <a:ext cx="5905500" cy="366713"/>
          </a:xfrm>
          <a:prstGeom prst="rect">
            <a:avLst/>
          </a:prstGeom>
          <a:noFill/>
          <a:ln w="9525">
            <a:noFill/>
          </a:ln>
        </p:spPr>
        <p:txBody>
          <a:bodyPr/>
          <a:p>
            <a:pPr marL="342900" indent="-342900">
              <a:spcBef>
                <a:spcPct val="20000"/>
              </a:spcBef>
              <a:buClr>
                <a:schemeClr val="tx1"/>
              </a:buClr>
            </a:pPr>
            <a:endParaRPr sz="3200" b="1" dirty="0">
              <a:latin typeface="Arial Black" panose="020B0A04020102020204" pitchFamily="34" charset="0"/>
              <a:ea typeface="黑体" panose="02010609060101010101" pitchFamily="2" charset="-122"/>
            </a:endParaRPr>
          </a:p>
        </p:txBody>
      </p:sp>
      <p:sp>
        <p:nvSpPr>
          <p:cNvPr id="112644" name="矩形 112643"/>
          <p:cNvSpPr/>
          <p:nvPr/>
        </p:nvSpPr>
        <p:spPr>
          <a:xfrm>
            <a:off x="1295400" y="3362325"/>
            <a:ext cx="4103688" cy="366713"/>
          </a:xfrm>
          <a:prstGeom prst="rect">
            <a:avLst/>
          </a:prstGeom>
          <a:noFill/>
          <a:ln w="9525">
            <a:noFill/>
          </a:ln>
        </p:spPr>
        <p:txBody>
          <a:bodyPr/>
          <a:p>
            <a:pPr marL="342900" indent="-342900">
              <a:spcBef>
                <a:spcPct val="20000"/>
              </a:spcBef>
              <a:buClr>
                <a:schemeClr val="tx1"/>
              </a:buClr>
            </a:pPr>
            <a:endParaRPr sz="3200" b="1" dirty="0">
              <a:latin typeface="Arial Black" panose="020B0A04020102020204" pitchFamily="34" charset="0"/>
              <a:ea typeface="黑体" panose="02010609060101010101" pitchFamily="2" charset="-122"/>
            </a:endParaRPr>
          </a:p>
        </p:txBody>
      </p:sp>
      <p:sp>
        <p:nvSpPr>
          <p:cNvPr id="112646" name="矩形 112645"/>
          <p:cNvSpPr/>
          <p:nvPr/>
        </p:nvSpPr>
        <p:spPr>
          <a:xfrm>
            <a:off x="1295400" y="4659313"/>
            <a:ext cx="7380288" cy="366712"/>
          </a:xfrm>
          <a:prstGeom prst="rect">
            <a:avLst/>
          </a:prstGeom>
          <a:noFill/>
          <a:ln w="9525">
            <a:noFill/>
          </a:ln>
        </p:spPr>
        <p:txBody>
          <a:bodyPr/>
          <a:p>
            <a:pPr marL="342900" indent="-342900">
              <a:spcBef>
                <a:spcPct val="20000"/>
              </a:spcBef>
              <a:buClr>
                <a:schemeClr val="tx1"/>
              </a:buClr>
            </a:pPr>
            <a:endParaRPr sz="3200" b="1" dirty="0">
              <a:latin typeface="Arial Black" panose="020B0A04020102020204" pitchFamily="34" charset="0"/>
              <a:ea typeface="黑体" panose="02010609060101010101" pitchFamily="2" charset="-122"/>
            </a:endParaRPr>
          </a:p>
        </p:txBody>
      </p:sp>
      <p:sp>
        <p:nvSpPr>
          <p:cNvPr id="112647" name="矩形 112646"/>
          <p:cNvSpPr/>
          <p:nvPr/>
        </p:nvSpPr>
        <p:spPr>
          <a:xfrm>
            <a:off x="1295400" y="5300663"/>
            <a:ext cx="6408738" cy="366712"/>
          </a:xfrm>
          <a:prstGeom prst="rect">
            <a:avLst/>
          </a:prstGeom>
          <a:noFill/>
          <a:ln w="9525">
            <a:noFill/>
          </a:ln>
        </p:spPr>
        <p:txBody>
          <a:bodyPr/>
          <a:p>
            <a:pPr marL="342900" indent="-342900">
              <a:spcBef>
                <a:spcPct val="20000"/>
              </a:spcBef>
              <a:buClr>
                <a:schemeClr val="tx1"/>
              </a:buClr>
            </a:pPr>
            <a:endParaRPr sz="3200" b="1" dirty="0">
              <a:latin typeface="Arial Black" panose="020B0A04020102020204" pitchFamily="34" charset="0"/>
              <a:ea typeface="黑体" panose="02010609060101010101" pitchFamily="2" charset="-122"/>
            </a:endParaRPr>
          </a:p>
        </p:txBody>
      </p:sp>
      <p:pic>
        <p:nvPicPr>
          <p:cNvPr id="112648" name="图片 112647"/>
          <p:cNvPicPr>
            <a:picLocks noChangeAspect="1"/>
          </p:cNvPicPr>
          <p:nvPr/>
        </p:nvPicPr>
        <p:blipFill>
          <a:blip r:embed="rId5"/>
          <a:stretch>
            <a:fillRect/>
          </a:stretch>
        </p:blipFill>
        <p:spPr>
          <a:xfrm>
            <a:off x="468313" y="1557338"/>
            <a:ext cx="2232025" cy="333375"/>
          </a:xfrm>
          <a:prstGeom prst="rect">
            <a:avLst/>
          </a:prstGeom>
          <a:noFill/>
          <a:ln w="9525">
            <a:noFill/>
          </a:ln>
        </p:spPr>
      </p:pic>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12648"/>
                                        </p:tgtEl>
                                        <p:attrNameLst>
                                          <p:attrName>style.visibility</p:attrName>
                                        </p:attrNameLst>
                                      </p:cBhvr>
                                      <p:to>
                                        <p:strVal val="visible"/>
                                      </p:to>
                                    </p:set>
                                    <p:animEffect transition="in" filter="box(in)">
                                      <p:cBhvr>
                                        <p:cTn id="7" dur="500"/>
                                        <p:tgtEl>
                                          <p:spTgt spid="11264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12642"/>
                                        </p:tgtEl>
                                        <p:attrNameLst>
                                          <p:attrName>style.visibility</p:attrName>
                                        </p:attrNameLst>
                                      </p:cBhvr>
                                      <p:to>
                                        <p:strVal val="visible"/>
                                      </p:to>
                                    </p:set>
                                    <p:animEffect transition="in" filter="checkerboard(across)">
                                      <p:cBhvr>
                                        <p:cTn id="12" dur="500"/>
                                        <p:tgtEl>
                                          <p:spTgt spid="112642"/>
                                        </p:tgtEl>
                                      </p:cBhvr>
                                    </p:animEffect>
                                  </p:childTnLst>
                                </p:cTn>
                              </p:par>
                              <p:par>
                                <p:cTn id="13" presetID="5" presetClass="entr" presetSubtype="10" fill="hold" grpId="0" nodeType="withEffect" nodePh="1">
                                  <p:stCondLst>
                                    <p:cond delay="0"/>
                                  </p:stCondLst>
                                  <p:endCondLst>
                                    <p:cond evt="begin" delay="0">
                                      <p:tn val="13"/>
                                    </p:cond>
                                  </p:endCondLst>
                                  <p:childTnLst>
                                    <p:set>
                                      <p:cBhvr>
                                        <p:cTn id="14" dur="1" fill="hold">
                                          <p:stCondLst>
                                            <p:cond delay="0"/>
                                          </p:stCondLst>
                                        </p:cTn>
                                        <p:tgtEl>
                                          <p:spTgt spid="112643"/>
                                        </p:tgtEl>
                                        <p:attrNameLst>
                                          <p:attrName>style.visibility</p:attrName>
                                        </p:attrNameLst>
                                      </p:cBhvr>
                                      <p:to>
                                        <p:strVal val="visible"/>
                                      </p:to>
                                    </p:set>
                                    <p:animEffect transition="in" filter="checkerboard(across)">
                                      <p:cBhvr>
                                        <p:cTn id="15" dur="500"/>
                                        <p:tgtEl>
                                          <p:spTgt spid="112643"/>
                                        </p:tgtEl>
                                      </p:cBhvr>
                                    </p:animEffect>
                                  </p:childTnLst>
                                </p:cTn>
                              </p:par>
                              <p:par>
                                <p:cTn id="16" presetID="5" presetClass="entr" presetSubtype="10" fill="hold" grpId="0" nodeType="withEffect" nodePh="1">
                                  <p:stCondLst>
                                    <p:cond delay="0"/>
                                  </p:stCondLst>
                                  <p:endCondLst>
                                    <p:cond evt="begin" delay="0">
                                      <p:tn val="16"/>
                                    </p:cond>
                                  </p:endCondLst>
                                  <p:childTnLst>
                                    <p:set>
                                      <p:cBhvr>
                                        <p:cTn id="17" dur="1" fill="hold">
                                          <p:stCondLst>
                                            <p:cond delay="0"/>
                                          </p:stCondLst>
                                        </p:cTn>
                                        <p:tgtEl>
                                          <p:spTgt spid="112644"/>
                                        </p:tgtEl>
                                        <p:attrNameLst>
                                          <p:attrName>style.visibility</p:attrName>
                                        </p:attrNameLst>
                                      </p:cBhvr>
                                      <p:to>
                                        <p:strVal val="visible"/>
                                      </p:to>
                                    </p:set>
                                    <p:animEffect transition="in" filter="checkerboard(across)">
                                      <p:cBhvr>
                                        <p:cTn id="18" dur="500"/>
                                        <p:tgtEl>
                                          <p:spTgt spid="112644"/>
                                        </p:tgtEl>
                                      </p:cBhvr>
                                    </p:animEffect>
                                  </p:childTnLst>
                                </p:cTn>
                              </p:par>
                              <p:par>
                                <p:cTn id="19" presetID="5" presetClass="entr" presetSubtype="10" fill="hold" grpId="0" nodeType="withEffect" nodePh="1">
                                  <p:stCondLst>
                                    <p:cond delay="0"/>
                                  </p:stCondLst>
                                  <p:endCondLst>
                                    <p:cond evt="begin" delay="0">
                                      <p:tn val="19"/>
                                    </p:cond>
                                  </p:endCondLst>
                                  <p:childTnLst>
                                    <p:set>
                                      <p:cBhvr>
                                        <p:cTn id="20" dur="1" fill="hold">
                                          <p:stCondLst>
                                            <p:cond delay="0"/>
                                          </p:stCondLst>
                                        </p:cTn>
                                        <p:tgtEl>
                                          <p:spTgt spid="112646"/>
                                        </p:tgtEl>
                                        <p:attrNameLst>
                                          <p:attrName>style.visibility</p:attrName>
                                        </p:attrNameLst>
                                      </p:cBhvr>
                                      <p:to>
                                        <p:strVal val="visible"/>
                                      </p:to>
                                    </p:set>
                                    <p:animEffect transition="in" filter="checkerboard(across)">
                                      <p:cBhvr>
                                        <p:cTn id="21" dur="500"/>
                                        <p:tgtEl>
                                          <p:spTgt spid="112646"/>
                                        </p:tgtEl>
                                      </p:cBhvr>
                                    </p:animEffect>
                                  </p:childTnLst>
                                </p:cTn>
                              </p:par>
                              <p:par>
                                <p:cTn id="22" presetID="5" presetClass="entr" presetSubtype="10" fill="hold" grpId="0" nodeType="withEffect" nodePh="1">
                                  <p:stCondLst>
                                    <p:cond delay="0"/>
                                  </p:stCondLst>
                                  <p:endCondLst>
                                    <p:cond evt="begin" delay="0">
                                      <p:tn val="22"/>
                                    </p:cond>
                                  </p:endCondLst>
                                  <p:childTnLst>
                                    <p:set>
                                      <p:cBhvr>
                                        <p:cTn id="23" dur="1" fill="hold">
                                          <p:stCondLst>
                                            <p:cond delay="0"/>
                                          </p:stCondLst>
                                        </p:cTn>
                                        <p:tgtEl>
                                          <p:spTgt spid="112647"/>
                                        </p:tgtEl>
                                        <p:attrNameLst>
                                          <p:attrName>style.visibility</p:attrName>
                                        </p:attrNameLst>
                                      </p:cBhvr>
                                      <p:to>
                                        <p:strVal val="visible"/>
                                      </p:to>
                                    </p:set>
                                    <p:animEffect transition="in" filter="checkerboard(across)">
                                      <p:cBhvr>
                                        <p:cTn id="24" dur="500"/>
                                        <p:tgtEl>
                                          <p:spTgt spid="1126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2" grpId="0"/>
      <p:bldP spid="112643" grpId="0"/>
      <p:bldP spid="112644" grpId="0"/>
      <p:bldP spid="112646" grpId="0"/>
      <p:bldP spid="11264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2" name="矩形 68611"/>
          <p:cNvSpPr/>
          <p:nvPr/>
        </p:nvSpPr>
        <p:spPr>
          <a:xfrm>
            <a:off x="1619250" y="2997200"/>
            <a:ext cx="6769100" cy="366713"/>
          </a:xfrm>
          <a:prstGeom prst="rect">
            <a:avLst/>
          </a:prstGeom>
          <a:noFill/>
          <a:ln w="9525">
            <a:noFill/>
          </a:ln>
        </p:spPr>
        <p:txBody>
          <a:bodyPr/>
          <a:p>
            <a:pPr marL="342900" indent="-342900">
              <a:spcBef>
                <a:spcPct val="20000"/>
              </a:spcBef>
              <a:buClr>
                <a:schemeClr val="tx1"/>
              </a:buClr>
            </a:pPr>
            <a:r>
              <a:rPr lang="en-US" altLang="zh-CN" sz="4000" b="1" dirty="0">
                <a:solidFill>
                  <a:srgbClr val="FF3300"/>
                </a:solidFill>
                <a:latin typeface="Arial Black" panose="020B0A04020102020204" pitchFamily="34" charset="0"/>
                <a:ea typeface="黑体" panose="02010609060101010101" pitchFamily="2" charset="-122"/>
              </a:rPr>
              <a:t>1  </a:t>
            </a:r>
            <a:r>
              <a:rPr lang="zh-CN" altLang="en-US" sz="4000" b="1" dirty="0">
                <a:solidFill>
                  <a:srgbClr val="FF3300"/>
                </a:solidFill>
                <a:latin typeface="Arial Black" panose="020B0A04020102020204" pitchFamily="34" charset="0"/>
                <a:ea typeface="黑体" panose="02010609060101010101" pitchFamily="2" charset="-122"/>
              </a:rPr>
              <a:t>灰色系统的定义和特点</a:t>
            </a:r>
            <a:endParaRPr lang="zh-CN" altLang="en-US" sz="4000" b="1" dirty="0">
              <a:solidFill>
                <a:srgbClr val="FF3300"/>
              </a:solidFill>
              <a:latin typeface="Arial Black" panose="020B0A04020102020204" pitchFamily="34" charset="0"/>
              <a:ea typeface="黑体" panose="02010609060101010101" pitchFamily="2" charset="-122"/>
            </a:endParaRPr>
          </a:p>
        </p:txBody>
      </p:sp>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8612"/>
                                        </p:tgtEl>
                                        <p:attrNameLst>
                                          <p:attrName>style.visibility</p:attrName>
                                        </p:attrNameLst>
                                      </p:cBhvr>
                                      <p:to>
                                        <p:strVal val="visible"/>
                                      </p:to>
                                    </p:set>
                                    <p:animEffect transition="in" filter="checkerboard(across)">
                                      <p:cBhvr>
                                        <p:cTn id="7" dur="500"/>
                                        <p:tgtEl>
                                          <p:spTgt spid="686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8193"/>
          <p:cNvSpPr>
            <a:spLocks noGrp="1"/>
          </p:cNvSpPr>
          <p:nvPr>
            <p:ph type="title"/>
          </p:nvPr>
        </p:nvSpPr>
        <p:spPr/>
        <p:txBody>
          <a:bodyPr anchor="ctr"/>
          <a:p>
            <a:r>
              <a:rPr lang="en-US" altLang="zh-CN" sz="2000" dirty="0"/>
              <a:t>1</a:t>
            </a:r>
            <a:r>
              <a:rPr lang="zh-CN" altLang="en-US" sz="2000" dirty="0"/>
              <a:t>灰色系统的定义和特点</a:t>
            </a:r>
            <a:endParaRPr lang="zh-CN" altLang="en-US" sz="2000" dirty="0"/>
          </a:p>
        </p:txBody>
      </p:sp>
      <p:sp>
        <p:nvSpPr>
          <p:cNvPr id="8195" name="文本占位符 8194"/>
          <p:cNvSpPr>
            <a:spLocks noGrp="1"/>
          </p:cNvSpPr>
          <p:nvPr>
            <p:ph type="body" idx="1"/>
          </p:nvPr>
        </p:nvSpPr>
        <p:spPr>
          <a:xfrm>
            <a:off x="156210" y="1127760"/>
            <a:ext cx="8686800" cy="5184775"/>
          </a:xfrm>
        </p:spPr>
        <p:txBody>
          <a:bodyPr/>
          <a:p>
            <a:pPr>
              <a:lnSpc>
                <a:spcPct val="120000"/>
              </a:lnSpc>
              <a:buNone/>
            </a:pPr>
            <a:r>
              <a:rPr lang="en-US" altLang="zh-CN" b="0" dirty="0">
                <a:latin typeface="Times New Roman" panose="02020603050405020304" pitchFamily="18" charset="0"/>
              </a:rPr>
              <a:t>       </a:t>
            </a:r>
            <a:r>
              <a:rPr lang="zh-CN" altLang="en-US" sz="2800" b="0" dirty="0">
                <a:latin typeface="黑体" panose="02010609060101010101" pitchFamily="2" charset="-122"/>
              </a:rPr>
              <a:t>灰色系统理论是由</a:t>
            </a:r>
            <a:r>
              <a:rPr lang="zh-CN" altLang="en-US" sz="2800" b="0" dirty="0">
                <a:solidFill>
                  <a:srgbClr val="FF3300"/>
                </a:solidFill>
                <a:latin typeface="黑体" panose="02010609060101010101" pitchFamily="2" charset="-122"/>
              </a:rPr>
              <a:t>华中理工大学邓聚龙教授</a:t>
            </a:r>
            <a:r>
              <a:rPr lang="zh-CN" altLang="en-US" sz="2800" b="0" dirty="0">
                <a:latin typeface="黑体" panose="02010609060101010101" pitchFamily="2" charset="-122"/>
              </a:rPr>
              <a:t>于</a:t>
            </a:r>
            <a:r>
              <a:rPr lang="en-US" altLang="zh-CN" sz="2800" b="0" dirty="0">
                <a:latin typeface="黑体" panose="02010609060101010101" pitchFamily="2" charset="-122"/>
              </a:rPr>
              <a:t>1982</a:t>
            </a:r>
            <a:r>
              <a:rPr lang="zh-CN" altLang="en-US" sz="2800" b="0" dirty="0">
                <a:latin typeface="黑体" panose="02010609060101010101" pitchFamily="2" charset="-122"/>
              </a:rPr>
              <a:t>年提出并加以发展的。二十几年来，引起了不少国内外学者的关注，得到了长足的发展。目前，在我国已经成为社会、经济、科学技术在等诸多领域进行预测、决策、评估、规划控制、系统分析与建模的重要方法之一。特别是它对时间序列短、统计数据少、信息不完全系统的分析与建模，具有独特的功效，因此得到了广泛的应用</a:t>
            </a:r>
            <a:r>
              <a:rPr lang="en-US" altLang="zh-CN" sz="2800" b="0" dirty="0">
                <a:latin typeface="黑体" panose="02010609060101010101" pitchFamily="2" charset="-122"/>
              </a:rPr>
              <a:t>.</a:t>
            </a:r>
            <a:r>
              <a:rPr lang="zh-CN" altLang="en-US" sz="2800" b="0" dirty="0">
                <a:latin typeface="黑体" panose="02010609060101010101" pitchFamily="2" charset="-122"/>
              </a:rPr>
              <a:t>在这里我们将简要地介绍灰色建模与预测的方法。</a:t>
            </a:r>
            <a:endParaRPr lang="zh-CN" altLang="en-US" sz="2800" b="0" dirty="0">
              <a:latin typeface="黑体" panose="02010609060101010101" pitchFamily="2" charset="-122"/>
            </a:endParaRPr>
          </a:p>
        </p:txBody>
      </p:sp>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8195">
                                            <p:txEl>
                                              <p:charRg st="0" end="227"/>
                                            </p:txEl>
                                          </p:spTgt>
                                        </p:tgtEl>
                                        <p:attrNameLst>
                                          <p:attrName>style.visibility</p:attrName>
                                        </p:attrNameLst>
                                      </p:cBhvr>
                                      <p:to>
                                        <p:strVal val="visible"/>
                                      </p:to>
                                    </p:set>
                                    <p:animEffect transition="in" filter="wedge">
                                      <p:cBhvr>
                                        <p:cTn id="7" dur="2000"/>
                                        <p:tgtEl>
                                          <p:spTgt spid="8195">
                                            <p:txEl>
                                              <p:charRg st="0" end="22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标题 9217"/>
          <p:cNvSpPr>
            <a:spLocks noGrp="1"/>
          </p:cNvSpPr>
          <p:nvPr>
            <p:ph type="title"/>
          </p:nvPr>
        </p:nvSpPr>
        <p:spPr/>
        <p:txBody>
          <a:bodyPr anchor="ctr"/>
          <a:p>
            <a:r>
              <a:rPr lang="en-US" altLang="zh-CN" sz="2000" dirty="0"/>
              <a:t>1</a:t>
            </a:r>
            <a:r>
              <a:rPr lang="zh-CN" altLang="en-US" sz="2000" dirty="0"/>
              <a:t>灰色系统的定义和特点</a:t>
            </a:r>
            <a:endParaRPr lang="zh-CN" altLang="en-US" sz="2000" dirty="0"/>
          </a:p>
        </p:txBody>
      </p:sp>
      <p:sp>
        <p:nvSpPr>
          <p:cNvPr id="9219" name="文本占位符 9218"/>
          <p:cNvSpPr>
            <a:spLocks noGrp="1"/>
          </p:cNvSpPr>
          <p:nvPr>
            <p:ph type="body" idx="1"/>
          </p:nvPr>
        </p:nvSpPr>
        <p:spPr>
          <a:xfrm>
            <a:off x="-417512" y="1268413"/>
            <a:ext cx="5349875" cy="647700"/>
          </a:xfrm>
        </p:spPr>
        <p:txBody>
          <a:bodyPr/>
          <a:p>
            <a:pPr>
              <a:buNone/>
            </a:pPr>
            <a:r>
              <a:rPr lang="zh-CN" altLang="en-US" sz="4400" dirty="0"/>
              <a:t>　</a:t>
            </a:r>
            <a:r>
              <a:rPr lang="en-US" altLang="zh-CN" b="0" dirty="0">
                <a:solidFill>
                  <a:schemeClr val="hlink"/>
                </a:solidFill>
                <a:latin typeface="黑体" panose="02010609060101010101" pitchFamily="2" charset="-122"/>
              </a:rPr>
              <a:t>1. </a:t>
            </a:r>
            <a:r>
              <a:rPr lang="zh-CN" altLang="en-US" b="0" dirty="0">
                <a:solidFill>
                  <a:schemeClr val="hlink"/>
                </a:solidFill>
                <a:latin typeface="黑体" panose="02010609060101010101" pitchFamily="2" charset="-122"/>
              </a:rPr>
              <a:t>灰色系统的定义</a:t>
            </a:r>
            <a:endParaRPr lang="zh-CN" altLang="en-US" b="0" dirty="0">
              <a:solidFill>
                <a:schemeClr val="hlink"/>
              </a:solidFill>
              <a:latin typeface="黑体" panose="02010609060101010101" pitchFamily="2" charset="-122"/>
            </a:endParaRPr>
          </a:p>
        </p:txBody>
      </p:sp>
      <p:sp>
        <p:nvSpPr>
          <p:cNvPr id="9220" name="矩形 9219"/>
          <p:cNvSpPr/>
          <p:nvPr/>
        </p:nvSpPr>
        <p:spPr>
          <a:xfrm>
            <a:off x="229870" y="1985645"/>
            <a:ext cx="8683625" cy="3609975"/>
          </a:xfrm>
          <a:prstGeom prst="rect">
            <a:avLst/>
          </a:prstGeom>
          <a:noFill/>
          <a:ln w="9525">
            <a:noFill/>
          </a:ln>
        </p:spPr>
        <p:txBody>
          <a:bodyPr wrap="square">
            <a:spAutoFit/>
          </a:bodyPr>
          <a:p>
            <a:pPr>
              <a:lnSpc>
                <a:spcPct val="130000"/>
              </a:lnSpc>
              <a:spcBef>
                <a:spcPct val="20000"/>
              </a:spcBef>
              <a:buClr>
                <a:schemeClr val="tx1"/>
              </a:buClr>
            </a:pPr>
            <a:r>
              <a:rPr lang="en-US" altLang="zh-CN" sz="3600" dirty="0">
                <a:latin typeface="Arial" panose="020B0604020202020204" pitchFamily="34" charset="0"/>
              </a:rPr>
              <a:t>   </a:t>
            </a:r>
            <a:r>
              <a:rPr lang="zh-CN" altLang="en-US" sz="2800" dirty="0">
                <a:latin typeface="黑体" panose="02010609060101010101" pitchFamily="2" charset="-122"/>
                <a:ea typeface="黑体" panose="02010609060101010101" pitchFamily="2" charset="-122"/>
              </a:rPr>
              <a:t>灰色系统是黑箱概念的一种推广。我们把既含有已知信息又含有未知信息的系统称为灰色系统</a:t>
            </a:r>
            <a:r>
              <a:rPr lang="en-US" altLang="zh-CN" sz="2800" dirty="0">
                <a:latin typeface="黑体" panose="02010609060101010101" pitchFamily="2" charset="-122"/>
                <a:ea typeface="黑体" panose="02010609060101010101" pitchFamily="2" charset="-122"/>
              </a:rPr>
              <a:t>.</a:t>
            </a:r>
            <a:r>
              <a:rPr lang="zh-CN" altLang="en-US" sz="2800" dirty="0">
                <a:latin typeface="黑体" panose="02010609060101010101" pitchFamily="2" charset="-122"/>
                <a:ea typeface="黑体" panose="02010609060101010101" pitchFamily="2" charset="-122"/>
              </a:rPr>
              <a:t>作为两个极端，我们将称信息完全未确定的系统为黑色系统；称信息完全确定的系统为白色系统</a:t>
            </a:r>
            <a:r>
              <a:rPr lang="en-US" altLang="zh-CN" sz="2800" dirty="0">
                <a:latin typeface="黑体" panose="02010609060101010101" pitchFamily="2" charset="-122"/>
                <a:ea typeface="黑体" panose="02010609060101010101" pitchFamily="2" charset="-122"/>
              </a:rPr>
              <a:t>.</a:t>
            </a:r>
            <a:r>
              <a:rPr lang="zh-CN" altLang="en-US" sz="2800" dirty="0">
                <a:latin typeface="黑体" panose="02010609060101010101" pitchFamily="2" charset="-122"/>
                <a:ea typeface="黑体" panose="02010609060101010101" pitchFamily="2" charset="-122"/>
              </a:rPr>
              <a:t>区别白色系统与黑色系统的重要标志是系统各因素之间是否具有确定的关系。</a:t>
            </a:r>
            <a:endParaRPr lang="zh-CN" altLang="en-US" sz="2800" dirty="0">
              <a:latin typeface="黑体" panose="02010609060101010101" pitchFamily="2" charset="-122"/>
              <a:ea typeface="黑体" panose="02010609060101010101" pitchFamily="2" charset="-122"/>
            </a:endParaRPr>
          </a:p>
        </p:txBody>
      </p:sp>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9219">
                                            <p:txEl>
                                              <p:charRg st="0" end="12"/>
                                            </p:txEl>
                                          </p:spTgt>
                                        </p:tgtEl>
                                        <p:attrNameLst>
                                          <p:attrName>style.visibility</p:attrName>
                                        </p:attrNameLst>
                                      </p:cBhvr>
                                      <p:to>
                                        <p:strVal val="visible"/>
                                      </p:to>
                                    </p:set>
                                    <p:animEffect transition="in" filter="fade">
                                      <p:cBhvr>
                                        <p:cTn id="7" dur="1000"/>
                                        <p:tgtEl>
                                          <p:spTgt spid="9219">
                                            <p:txEl>
                                              <p:charRg st="0" end="12"/>
                                            </p:txEl>
                                          </p:spTgt>
                                        </p:tgtEl>
                                      </p:cBhvr>
                                    </p:animEffect>
                                    <p:anim calcmode="lin" valueType="num">
                                      <p:cBhvr>
                                        <p:cTn id="8" dur="1000" fill="hold"/>
                                        <p:tgtEl>
                                          <p:spTgt spid="9219">
                                            <p:txEl>
                                              <p:charRg st="0" end="12"/>
                                            </p:txEl>
                                          </p:spTgt>
                                        </p:tgtEl>
                                        <p:attrNameLst>
                                          <p:attrName>style.rotation</p:attrName>
                                        </p:attrNameLst>
                                      </p:cBhvr>
                                      <p:tavLst>
                                        <p:tav tm="0">
                                          <p:val>
                                            <p:fltVal val="720.000000"/>
                                          </p:val>
                                        </p:tav>
                                        <p:tav tm="100000">
                                          <p:val>
                                            <p:fltVal val="0.000000"/>
                                          </p:val>
                                        </p:tav>
                                      </p:tavLst>
                                    </p:anim>
                                    <p:anim calcmode="lin" valueType="num">
                                      <p:cBhvr>
                                        <p:cTn id="9" dur="1000" fill="hold"/>
                                        <p:tgtEl>
                                          <p:spTgt spid="9219">
                                            <p:txEl>
                                              <p:charRg st="0" end="12"/>
                                            </p:txEl>
                                          </p:spTgt>
                                        </p:tgtEl>
                                        <p:attrNameLst>
                                          <p:attrName>ppt_h</p:attrName>
                                        </p:attrNameLst>
                                      </p:cBhvr>
                                      <p:tavLst>
                                        <p:tav tm="0">
                                          <p:val>
                                            <p:fltVal val="0.000000"/>
                                          </p:val>
                                        </p:tav>
                                        <p:tav tm="100000">
                                          <p:val>
                                            <p:strVal val="#ppt_h"/>
                                          </p:val>
                                        </p:tav>
                                      </p:tavLst>
                                    </p:anim>
                                    <p:anim calcmode="lin" valueType="num">
                                      <p:cBhvr>
                                        <p:cTn id="10" dur="1000" fill="hold"/>
                                        <p:tgtEl>
                                          <p:spTgt spid="9219">
                                            <p:txEl>
                                              <p:charRg st="0" end="12"/>
                                            </p:txEl>
                                          </p:spTgt>
                                        </p:tgtEl>
                                        <p:attrNameLst>
                                          <p:attrName>ppt_w</p:attrName>
                                        </p:attrNameLst>
                                      </p:cBhvr>
                                      <p:tavLst>
                                        <p:tav tm="0">
                                          <p:val>
                                            <p:fltVal val="0.00000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55" presetClass="entr" presetSubtype="0" fill="hold" grpId="0" nodeType="clickEffect">
                                  <p:stCondLst>
                                    <p:cond delay="0"/>
                                  </p:stCondLst>
                                  <p:childTnLst>
                                    <p:set>
                                      <p:cBhvr>
                                        <p:cTn id="14" dur="1" fill="hold">
                                          <p:stCondLst>
                                            <p:cond delay="0"/>
                                          </p:stCondLst>
                                        </p:cTn>
                                        <p:tgtEl>
                                          <p:spTgt spid="9220"/>
                                        </p:tgtEl>
                                        <p:attrNameLst>
                                          <p:attrName>style.visibility</p:attrName>
                                        </p:attrNameLst>
                                      </p:cBhvr>
                                      <p:to>
                                        <p:strVal val="visible"/>
                                      </p:to>
                                    </p:set>
                                    <p:anim calcmode="lin" valueType="num">
                                      <p:cBhvr>
                                        <p:cTn id="15" dur="1000" fill="hold"/>
                                        <p:tgtEl>
                                          <p:spTgt spid="9220"/>
                                        </p:tgtEl>
                                        <p:attrNameLst>
                                          <p:attrName>ppt_w</p:attrName>
                                        </p:attrNameLst>
                                      </p:cBhvr>
                                      <p:tavLst>
                                        <p:tav tm="0">
                                          <p:val>
                                            <p:strVal val="#ppt_w*0.70"/>
                                          </p:val>
                                        </p:tav>
                                        <p:tav tm="100000">
                                          <p:val>
                                            <p:strVal val="#ppt_w"/>
                                          </p:val>
                                        </p:tav>
                                      </p:tavLst>
                                    </p:anim>
                                    <p:anim calcmode="lin" valueType="num">
                                      <p:cBhvr>
                                        <p:cTn id="16" dur="1000" fill="hold"/>
                                        <p:tgtEl>
                                          <p:spTgt spid="9220"/>
                                        </p:tgtEl>
                                        <p:attrNameLst>
                                          <p:attrName>ppt_h</p:attrName>
                                        </p:attrNameLst>
                                      </p:cBhvr>
                                      <p:tavLst>
                                        <p:tav tm="0">
                                          <p:val>
                                            <p:strVal val="#ppt_h"/>
                                          </p:val>
                                        </p:tav>
                                        <p:tav tm="100000">
                                          <p:val>
                                            <p:strVal val="#ppt_h"/>
                                          </p:val>
                                        </p:tav>
                                      </p:tavLst>
                                    </p:anim>
                                    <p:animEffect transition="in" filter="fade">
                                      <p:cBhvr>
                                        <p:cTn id="17" dur="1000"/>
                                        <p:tgtEl>
                                          <p:spTgt spid="9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P spid="922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标题 10241"/>
          <p:cNvSpPr>
            <a:spLocks noGrp="1"/>
          </p:cNvSpPr>
          <p:nvPr>
            <p:ph type="title"/>
          </p:nvPr>
        </p:nvSpPr>
        <p:spPr/>
        <p:txBody>
          <a:bodyPr anchor="ctr"/>
          <a:p>
            <a:r>
              <a:rPr lang="en-US" altLang="zh-CN" sz="2000" dirty="0"/>
              <a:t>1</a:t>
            </a:r>
            <a:r>
              <a:rPr lang="zh-CN" altLang="en-US" sz="2000" dirty="0"/>
              <a:t>灰色系统的定义和特点</a:t>
            </a:r>
            <a:endParaRPr lang="zh-CN" altLang="en-US" sz="2000" dirty="0"/>
          </a:p>
        </p:txBody>
      </p:sp>
      <p:sp>
        <p:nvSpPr>
          <p:cNvPr id="10243" name="文本占位符 10242"/>
          <p:cNvSpPr>
            <a:spLocks noGrp="1"/>
          </p:cNvSpPr>
          <p:nvPr>
            <p:ph type="body" idx="1"/>
          </p:nvPr>
        </p:nvSpPr>
        <p:spPr>
          <a:xfrm>
            <a:off x="-128587" y="1484313"/>
            <a:ext cx="8229600" cy="792162"/>
          </a:xfrm>
        </p:spPr>
        <p:txBody>
          <a:bodyPr vert="horz" wrap="square" lIns="91440" tIns="45720" rIns="91440" bIns="45720" anchor="t"/>
          <a:p>
            <a:pPr>
              <a:buNone/>
            </a:pPr>
            <a:r>
              <a:rPr lang="zh-CN" altLang="en-US" sz="4400" dirty="0"/>
              <a:t>　</a:t>
            </a:r>
            <a:r>
              <a:rPr lang="en-US" altLang="zh-CN" b="0" dirty="0">
                <a:solidFill>
                  <a:schemeClr val="hlink"/>
                </a:solidFill>
              </a:rPr>
              <a:t>2. </a:t>
            </a:r>
            <a:r>
              <a:rPr lang="zh-CN" altLang="en-US" b="0" dirty="0">
                <a:solidFill>
                  <a:schemeClr val="hlink"/>
                </a:solidFill>
              </a:rPr>
              <a:t>灰色系统的特点</a:t>
            </a:r>
            <a:endParaRPr lang="zh-CN" altLang="en-US" b="0" dirty="0">
              <a:solidFill>
                <a:schemeClr val="hlink"/>
              </a:solidFill>
            </a:endParaRPr>
          </a:p>
        </p:txBody>
      </p:sp>
      <p:sp>
        <p:nvSpPr>
          <p:cNvPr id="10244" name="矩形 10243"/>
          <p:cNvSpPr/>
          <p:nvPr/>
        </p:nvSpPr>
        <p:spPr>
          <a:xfrm>
            <a:off x="287338" y="2544445"/>
            <a:ext cx="8497887" cy="519113"/>
          </a:xfrm>
          <a:prstGeom prst="rect">
            <a:avLst/>
          </a:prstGeom>
          <a:noFill/>
          <a:ln w="9525">
            <a:noFill/>
          </a:ln>
        </p:spPr>
        <p:txBody>
          <a:bodyPr>
            <a:spAutoFit/>
          </a:bodyPr>
          <a:p>
            <a:r>
              <a:rPr lang="zh-CN" altLang="en-US"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1</a:t>
            </a:r>
            <a:r>
              <a:rPr lang="zh-CN" altLang="en-US" sz="2800" dirty="0">
                <a:latin typeface="黑体" panose="02010609060101010101" pitchFamily="2" charset="-122"/>
                <a:ea typeface="黑体" panose="02010609060101010101" pitchFamily="2" charset="-122"/>
              </a:rPr>
              <a:t>）用灰色数学处理不确定量，使之量化</a:t>
            </a:r>
            <a:r>
              <a:rPr lang="en-US" altLang="zh-CN" sz="2800">
                <a:latin typeface="黑体" panose="02010609060101010101" pitchFamily="2" charset="-122"/>
                <a:ea typeface="黑体" panose="02010609060101010101" pitchFamily="2" charset="-122"/>
              </a:rPr>
              <a:t>.</a:t>
            </a:r>
            <a:endParaRPr lang="en-US" altLang="zh-CN" sz="2800">
              <a:latin typeface="黑体" panose="02010609060101010101" pitchFamily="2" charset="-122"/>
              <a:ea typeface="黑体" panose="02010609060101010101" pitchFamily="2" charset="-122"/>
            </a:endParaRPr>
          </a:p>
        </p:txBody>
      </p:sp>
      <p:sp>
        <p:nvSpPr>
          <p:cNvPr id="10245" name="矩形 10244"/>
          <p:cNvSpPr/>
          <p:nvPr/>
        </p:nvSpPr>
        <p:spPr>
          <a:xfrm>
            <a:off x="250825" y="3570288"/>
            <a:ext cx="8893175" cy="519112"/>
          </a:xfrm>
          <a:prstGeom prst="rect">
            <a:avLst/>
          </a:prstGeom>
          <a:noFill/>
          <a:ln w="9525">
            <a:noFill/>
          </a:ln>
        </p:spPr>
        <p:txBody>
          <a:bodyPr>
            <a:spAutoFit/>
          </a:bodyPr>
          <a:p>
            <a:r>
              <a:rPr lang="zh-CN" altLang="en-US"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2</a:t>
            </a:r>
            <a:r>
              <a:rPr lang="zh-CN" altLang="en-US" sz="2800" dirty="0">
                <a:latin typeface="黑体" panose="02010609060101010101" pitchFamily="2" charset="-122"/>
                <a:ea typeface="黑体" panose="02010609060101010101" pitchFamily="2" charset="-122"/>
              </a:rPr>
              <a:t>）充分利用已知信息寻求系统的运动规律</a:t>
            </a:r>
            <a:r>
              <a:rPr lang="en-US" altLang="zh-CN" sz="2800">
                <a:latin typeface="黑体" panose="02010609060101010101" pitchFamily="2" charset="-122"/>
                <a:ea typeface="黑体" panose="02010609060101010101" pitchFamily="2" charset="-122"/>
              </a:rPr>
              <a:t>.</a:t>
            </a:r>
            <a:endParaRPr lang="en-US" altLang="zh-CN" sz="2800">
              <a:latin typeface="黑体" panose="02010609060101010101" pitchFamily="2" charset="-122"/>
              <a:ea typeface="黑体" panose="02010609060101010101" pitchFamily="2" charset="-122"/>
            </a:endParaRPr>
          </a:p>
        </p:txBody>
      </p:sp>
      <p:sp>
        <p:nvSpPr>
          <p:cNvPr id="10246" name="矩形 10245"/>
          <p:cNvSpPr/>
          <p:nvPr/>
        </p:nvSpPr>
        <p:spPr>
          <a:xfrm>
            <a:off x="287338" y="4578350"/>
            <a:ext cx="8101012" cy="519113"/>
          </a:xfrm>
          <a:prstGeom prst="rect">
            <a:avLst/>
          </a:prstGeom>
          <a:noFill/>
          <a:ln w="9525">
            <a:noFill/>
          </a:ln>
        </p:spPr>
        <p:txBody>
          <a:bodyPr>
            <a:spAutoFit/>
          </a:bodyPr>
          <a:p>
            <a:r>
              <a:rPr lang="zh-CN" altLang="en-US" sz="2800" dirty="0">
                <a:latin typeface="黑体" panose="02010609060101010101" pitchFamily="2" charset="-122"/>
                <a:ea typeface="黑体" panose="02010609060101010101" pitchFamily="2" charset="-122"/>
              </a:rPr>
              <a:t>（</a:t>
            </a:r>
            <a:r>
              <a:rPr lang="en-US" altLang="zh-CN" sz="2800" dirty="0">
                <a:latin typeface="黑体" panose="02010609060101010101" pitchFamily="2" charset="-122"/>
                <a:ea typeface="黑体" panose="02010609060101010101" pitchFamily="2" charset="-122"/>
              </a:rPr>
              <a:t>3</a:t>
            </a:r>
            <a:r>
              <a:rPr lang="zh-CN" altLang="en-US" sz="2800" dirty="0">
                <a:latin typeface="黑体" panose="02010609060101010101" pitchFamily="2" charset="-122"/>
                <a:ea typeface="黑体" panose="02010609060101010101" pitchFamily="2" charset="-122"/>
              </a:rPr>
              <a:t>）灰色系统理论能处理贫信息系统</a:t>
            </a:r>
            <a:r>
              <a:rPr lang="en-US" altLang="zh-CN" sz="2800">
                <a:latin typeface="黑体" panose="02010609060101010101" pitchFamily="2" charset="-122"/>
                <a:ea typeface="黑体" panose="02010609060101010101" pitchFamily="2" charset="-122"/>
              </a:rPr>
              <a:t>.</a:t>
            </a:r>
            <a:endParaRPr lang="en-US" altLang="zh-CN" sz="2800">
              <a:latin typeface="黑体" panose="02010609060101010101" pitchFamily="2" charset="-122"/>
              <a:ea typeface="黑体" panose="02010609060101010101" pitchFamily="2" charset="-122"/>
            </a:endParaRPr>
          </a:p>
        </p:txBody>
      </p:sp>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10243">
                                            <p:txEl>
                                              <p:charRg st="0" end="12"/>
                                            </p:txEl>
                                          </p:spTgt>
                                        </p:tgtEl>
                                        <p:attrNameLst>
                                          <p:attrName>style.visibility</p:attrName>
                                        </p:attrNameLst>
                                      </p:cBhvr>
                                      <p:to>
                                        <p:strVal val="visible"/>
                                      </p:to>
                                    </p:set>
                                    <p:animEffect transition="in" filter="fade">
                                      <p:cBhvr>
                                        <p:cTn id="7" dur="1000"/>
                                        <p:tgtEl>
                                          <p:spTgt spid="10243">
                                            <p:txEl>
                                              <p:charRg st="0" end="12"/>
                                            </p:txEl>
                                          </p:spTgt>
                                        </p:tgtEl>
                                      </p:cBhvr>
                                    </p:animEffect>
                                    <p:anim calcmode="lin" valueType="num">
                                      <p:cBhvr>
                                        <p:cTn id="8" dur="1000" fill="hold"/>
                                        <p:tgtEl>
                                          <p:spTgt spid="10243">
                                            <p:txEl>
                                              <p:charRg st="0" end="12"/>
                                            </p:txEl>
                                          </p:spTgt>
                                        </p:tgtEl>
                                        <p:attrNameLst>
                                          <p:attrName>style.rotation</p:attrName>
                                        </p:attrNameLst>
                                      </p:cBhvr>
                                      <p:tavLst>
                                        <p:tav tm="0">
                                          <p:val>
                                            <p:fltVal val="720.000000"/>
                                          </p:val>
                                        </p:tav>
                                        <p:tav tm="100000">
                                          <p:val>
                                            <p:fltVal val="0.000000"/>
                                          </p:val>
                                        </p:tav>
                                      </p:tavLst>
                                    </p:anim>
                                    <p:anim calcmode="lin" valueType="num">
                                      <p:cBhvr>
                                        <p:cTn id="9" dur="1000" fill="hold"/>
                                        <p:tgtEl>
                                          <p:spTgt spid="10243">
                                            <p:txEl>
                                              <p:charRg st="0" end="12"/>
                                            </p:txEl>
                                          </p:spTgt>
                                        </p:tgtEl>
                                        <p:attrNameLst>
                                          <p:attrName>ppt_h</p:attrName>
                                        </p:attrNameLst>
                                      </p:cBhvr>
                                      <p:tavLst>
                                        <p:tav tm="0">
                                          <p:val>
                                            <p:fltVal val="0.000000"/>
                                          </p:val>
                                        </p:tav>
                                        <p:tav tm="100000">
                                          <p:val>
                                            <p:strVal val="#ppt_h"/>
                                          </p:val>
                                        </p:tav>
                                      </p:tavLst>
                                    </p:anim>
                                    <p:anim calcmode="lin" valueType="num">
                                      <p:cBhvr>
                                        <p:cTn id="10" dur="1000" fill="hold"/>
                                        <p:tgtEl>
                                          <p:spTgt spid="10243">
                                            <p:txEl>
                                              <p:charRg st="0" end="12"/>
                                            </p:txEl>
                                          </p:spTgt>
                                        </p:tgtEl>
                                        <p:attrNameLst>
                                          <p:attrName>ppt_w</p:attrName>
                                        </p:attrNameLst>
                                      </p:cBhvr>
                                      <p:tavLst>
                                        <p:tav tm="0">
                                          <p:val>
                                            <p:fltVal val="0.00000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grpId="0" nodeType="clickEffect">
                                  <p:stCondLst>
                                    <p:cond delay="0"/>
                                  </p:stCondLst>
                                  <p:childTnLst>
                                    <p:set>
                                      <p:cBhvr>
                                        <p:cTn id="14" dur="1" fill="hold">
                                          <p:stCondLst>
                                            <p:cond delay="0"/>
                                          </p:stCondLst>
                                        </p:cTn>
                                        <p:tgtEl>
                                          <p:spTgt spid="10244"/>
                                        </p:tgtEl>
                                        <p:attrNameLst>
                                          <p:attrName>style.visibility</p:attrName>
                                        </p:attrNameLst>
                                      </p:cBhvr>
                                      <p:to>
                                        <p:strVal val="visible"/>
                                      </p:to>
                                    </p:set>
                                    <p:animEffect transition="in" filter="diamond(in)">
                                      <p:cBhvr>
                                        <p:cTn id="15" dur="1000"/>
                                        <p:tgtEl>
                                          <p:spTgt spid="10244"/>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10245"/>
                                        </p:tgtEl>
                                        <p:attrNameLst>
                                          <p:attrName>style.visibility</p:attrName>
                                        </p:attrNameLst>
                                      </p:cBhvr>
                                      <p:to>
                                        <p:strVal val="visible"/>
                                      </p:to>
                                    </p:set>
                                    <p:animEffect transition="in" filter="diamond(in)">
                                      <p:cBhvr>
                                        <p:cTn id="20" dur="1000"/>
                                        <p:tgtEl>
                                          <p:spTgt spid="10245"/>
                                        </p:tgtEl>
                                      </p:cBhvr>
                                    </p:animEffect>
                                  </p:childTnLst>
                                </p:cTn>
                              </p:par>
                            </p:childTnLst>
                          </p:cTn>
                        </p:par>
                      </p:childTnLst>
                    </p:cTn>
                  </p:par>
                  <p:par>
                    <p:cTn id="21" fill="hold">
                      <p:stCondLst>
                        <p:cond delay="indefinite"/>
                      </p:stCondLst>
                      <p:childTnLst>
                        <p:par>
                          <p:cTn id="22" fill="hold">
                            <p:stCondLst>
                              <p:cond delay="0"/>
                            </p:stCondLst>
                            <p:childTnLst>
                              <p:par>
                                <p:cTn id="23" presetID="35" presetClass="entr" presetSubtype="0" fill="hold" grpId="0" nodeType="clickEffect">
                                  <p:stCondLst>
                                    <p:cond delay="0"/>
                                  </p:stCondLst>
                                  <p:childTnLst>
                                    <p:set>
                                      <p:cBhvr>
                                        <p:cTn id="24" dur="1" fill="hold">
                                          <p:stCondLst>
                                            <p:cond delay="0"/>
                                          </p:stCondLst>
                                        </p:cTn>
                                        <p:tgtEl>
                                          <p:spTgt spid="10246"/>
                                        </p:tgtEl>
                                        <p:attrNameLst>
                                          <p:attrName>style.visibility</p:attrName>
                                        </p:attrNameLst>
                                      </p:cBhvr>
                                      <p:to>
                                        <p:strVal val="visible"/>
                                      </p:to>
                                    </p:set>
                                    <p:animEffect transition="in" filter="fade">
                                      <p:cBhvr>
                                        <p:cTn id="25" dur="1000"/>
                                        <p:tgtEl>
                                          <p:spTgt spid="10246"/>
                                        </p:tgtEl>
                                      </p:cBhvr>
                                    </p:animEffect>
                                    <p:anim calcmode="lin" valueType="num">
                                      <p:cBhvr>
                                        <p:cTn id="26" dur="1000" fill="hold"/>
                                        <p:tgtEl>
                                          <p:spTgt spid="10246"/>
                                        </p:tgtEl>
                                        <p:attrNameLst>
                                          <p:attrName>style.rotation</p:attrName>
                                        </p:attrNameLst>
                                      </p:cBhvr>
                                      <p:tavLst>
                                        <p:tav tm="0">
                                          <p:val>
                                            <p:fltVal val="720.000000"/>
                                          </p:val>
                                        </p:tav>
                                        <p:tav tm="100000">
                                          <p:val>
                                            <p:fltVal val="0.000000"/>
                                          </p:val>
                                        </p:tav>
                                      </p:tavLst>
                                    </p:anim>
                                    <p:anim calcmode="lin" valueType="num">
                                      <p:cBhvr>
                                        <p:cTn id="27" dur="1000" fill="hold"/>
                                        <p:tgtEl>
                                          <p:spTgt spid="10246"/>
                                        </p:tgtEl>
                                        <p:attrNameLst>
                                          <p:attrName>ppt_h</p:attrName>
                                        </p:attrNameLst>
                                      </p:cBhvr>
                                      <p:tavLst>
                                        <p:tav tm="0">
                                          <p:val>
                                            <p:fltVal val="0.000000"/>
                                          </p:val>
                                        </p:tav>
                                        <p:tav tm="100000">
                                          <p:val>
                                            <p:strVal val="#ppt_h"/>
                                          </p:val>
                                        </p:tav>
                                      </p:tavLst>
                                    </p:anim>
                                    <p:anim calcmode="lin" valueType="num">
                                      <p:cBhvr>
                                        <p:cTn id="28" dur="1000" fill="hold"/>
                                        <p:tgtEl>
                                          <p:spTgt spid="10246"/>
                                        </p:tgtEl>
                                        <p:attrNameLst>
                                          <p:attrName>ppt_w</p:attrName>
                                        </p:attrNameLst>
                                      </p:cBhvr>
                                      <p:tavLst>
                                        <p:tav tm="0">
                                          <p:val>
                                            <p:fltVal val="0.00000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P spid="10244" grpId="0"/>
      <p:bldP spid="10245" grpId="0"/>
      <p:bldP spid="1024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1265"/>
          <p:cNvSpPr>
            <a:spLocks noGrp="1"/>
          </p:cNvSpPr>
          <p:nvPr>
            <p:ph type="title"/>
          </p:nvPr>
        </p:nvSpPr>
        <p:spPr>
          <a:xfrm>
            <a:off x="1790065" y="-11430"/>
            <a:ext cx="6840538" cy="941388"/>
          </a:xfrm>
        </p:spPr>
        <p:txBody>
          <a:bodyPr anchor="ctr"/>
          <a:p>
            <a:r>
              <a:rPr lang="en-US" altLang="zh-CN" dirty="0"/>
              <a:t>1</a:t>
            </a:r>
            <a:r>
              <a:rPr lang="zh-CN" altLang="en-US" dirty="0"/>
              <a:t>灰色系统的定义和特点</a:t>
            </a:r>
            <a:endParaRPr lang="zh-CN" altLang="en-US" dirty="0"/>
          </a:p>
        </p:txBody>
      </p:sp>
      <p:sp>
        <p:nvSpPr>
          <p:cNvPr id="11267" name="文本占位符 11266"/>
          <p:cNvSpPr>
            <a:spLocks noGrp="1"/>
          </p:cNvSpPr>
          <p:nvPr>
            <p:ph type="body" idx="1"/>
          </p:nvPr>
        </p:nvSpPr>
        <p:spPr>
          <a:xfrm>
            <a:off x="-57150" y="1123950"/>
            <a:ext cx="8229600" cy="576263"/>
          </a:xfrm>
        </p:spPr>
        <p:txBody>
          <a:bodyPr/>
          <a:p>
            <a:pPr>
              <a:lnSpc>
                <a:spcPct val="90000"/>
              </a:lnSpc>
              <a:buNone/>
            </a:pPr>
            <a:r>
              <a:rPr lang="zh-CN" altLang="en-US" dirty="0"/>
              <a:t>　</a:t>
            </a:r>
            <a:r>
              <a:rPr lang="zh-CN" altLang="en-US" dirty="0">
                <a:solidFill>
                  <a:srgbClr val="FF3300"/>
                </a:solidFill>
              </a:rPr>
              <a:t>常用的</a:t>
            </a:r>
            <a:r>
              <a:rPr lang="zh-TW" altLang="en-US" dirty="0">
                <a:solidFill>
                  <a:srgbClr val="FF3300"/>
                </a:solidFill>
              </a:rPr>
              <a:t>灰色</a:t>
            </a:r>
            <a:r>
              <a:rPr lang="zh-CN" altLang="en-US" dirty="0">
                <a:solidFill>
                  <a:srgbClr val="FF3300"/>
                </a:solidFill>
              </a:rPr>
              <a:t>预测有</a:t>
            </a:r>
            <a:r>
              <a:rPr lang="zh-TW" altLang="en-US" dirty="0">
                <a:solidFill>
                  <a:srgbClr val="FF3300"/>
                </a:solidFill>
              </a:rPr>
              <a:t>五</a:t>
            </a:r>
            <a:r>
              <a:rPr lang="zh-CN" altLang="en-US" dirty="0">
                <a:solidFill>
                  <a:srgbClr val="FF3300"/>
                </a:solidFill>
              </a:rPr>
              <a:t>种：</a:t>
            </a:r>
            <a:r>
              <a:rPr lang="zh-CN" altLang="en-US" dirty="0"/>
              <a:t> </a:t>
            </a:r>
            <a:endParaRPr lang="zh-CN" altLang="en-US" dirty="0"/>
          </a:p>
        </p:txBody>
      </p:sp>
      <p:sp>
        <p:nvSpPr>
          <p:cNvPr id="11268" name="矩形 11267"/>
          <p:cNvSpPr/>
          <p:nvPr/>
        </p:nvSpPr>
        <p:spPr>
          <a:xfrm>
            <a:off x="0" y="1593850"/>
            <a:ext cx="9144000" cy="1187450"/>
          </a:xfrm>
          <a:prstGeom prst="rect">
            <a:avLst/>
          </a:prstGeom>
          <a:noFill/>
          <a:ln w="9525">
            <a:noFill/>
          </a:ln>
        </p:spPr>
        <p:txBody>
          <a:bodyPr>
            <a:spAutoFit/>
          </a:bodyPr>
          <a:p>
            <a:r>
              <a:rPr lang="zh-CN" altLang="en-US" sz="2400" b="1" dirty="0">
                <a:latin typeface="Arial" panose="020B0604020202020204" pitchFamily="34" charset="0"/>
              </a:rPr>
              <a:t>　（</a:t>
            </a:r>
            <a:r>
              <a:rPr lang="en-US" altLang="zh-TW" sz="2400" b="1">
                <a:latin typeface="Arial" panose="020B0604020202020204" pitchFamily="34" charset="0"/>
              </a:rPr>
              <a:t>1</a:t>
            </a:r>
            <a:r>
              <a:rPr lang="zh-CN" altLang="en-US" sz="2400" b="1" dirty="0">
                <a:latin typeface="Arial" panose="020B0604020202020204" pitchFamily="34" charset="0"/>
              </a:rPr>
              <a:t>）</a:t>
            </a:r>
            <a:r>
              <a:rPr lang="zh-CN" altLang="en-US" sz="2400" b="1" dirty="0">
                <a:solidFill>
                  <a:srgbClr val="FF3300"/>
                </a:solidFill>
                <a:latin typeface="Arial" panose="020B0604020202020204" pitchFamily="34" charset="0"/>
              </a:rPr>
              <a:t>数</a:t>
            </a:r>
            <a:r>
              <a:rPr lang="zh-TW" altLang="en-US" sz="2400" b="1" dirty="0">
                <a:solidFill>
                  <a:srgbClr val="FF3300"/>
                </a:solidFill>
                <a:latin typeface="Arial" panose="020B0604020202020204" pitchFamily="34" charset="0"/>
              </a:rPr>
              <a:t>列</a:t>
            </a:r>
            <a:r>
              <a:rPr lang="zh-CN" altLang="en-US" sz="2400" b="1" dirty="0">
                <a:solidFill>
                  <a:srgbClr val="FF3300"/>
                </a:solidFill>
                <a:latin typeface="Arial" panose="020B0604020202020204" pitchFamily="34" charset="0"/>
              </a:rPr>
              <a:t>预测</a:t>
            </a:r>
            <a:r>
              <a:rPr lang="zh-CN" altLang="en-US" sz="2400" b="1" dirty="0">
                <a:latin typeface="Arial" panose="020B0604020202020204" pitchFamily="34" charset="0"/>
              </a:rPr>
              <a:t>，即用观察到的反映预测对象特征的时间序列来构造灰色预测模型，预测未来某一时刻的特征量，或达到某一特征量的时间。</a:t>
            </a:r>
            <a:endParaRPr lang="zh-CN" altLang="en-US" sz="2400" b="1" dirty="0">
              <a:latin typeface="Arial" panose="020B0604020202020204" pitchFamily="34" charset="0"/>
            </a:endParaRPr>
          </a:p>
        </p:txBody>
      </p:sp>
      <p:sp>
        <p:nvSpPr>
          <p:cNvPr id="11269" name="矩形 11268"/>
          <p:cNvSpPr/>
          <p:nvPr/>
        </p:nvSpPr>
        <p:spPr>
          <a:xfrm>
            <a:off x="0" y="2678113"/>
            <a:ext cx="9144000" cy="822325"/>
          </a:xfrm>
          <a:prstGeom prst="rect">
            <a:avLst/>
          </a:prstGeom>
          <a:noFill/>
          <a:ln w="9525">
            <a:noFill/>
          </a:ln>
        </p:spPr>
        <p:txBody>
          <a:bodyPr>
            <a:spAutoFit/>
          </a:bodyPr>
          <a:p>
            <a:r>
              <a:rPr lang="zh-CN" altLang="en-US" sz="2400" b="1" dirty="0">
                <a:latin typeface="Arial" panose="020B0604020202020204" pitchFamily="34" charset="0"/>
              </a:rPr>
              <a:t>　（</a:t>
            </a:r>
            <a:r>
              <a:rPr lang="en-US" altLang="zh-TW" sz="2400" b="1">
                <a:latin typeface="Arial" panose="020B0604020202020204" pitchFamily="34" charset="0"/>
              </a:rPr>
              <a:t>2</a:t>
            </a:r>
            <a:r>
              <a:rPr lang="zh-CN" altLang="en-US" sz="2400" b="1" dirty="0">
                <a:latin typeface="Arial" panose="020B0604020202020204" pitchFamily="34" charset="0"/>
              </a:rPr>
              <a:t>）</a:t>
            </a:r>
            <a:r>
              <a:rPr lang="zh-CN" altLang="en-US" sz="2400" b="1" dirty="0">
                <a:solidFill>
                  <a:srgbClr val="FF3300"/>
                </a:solidFill>
                <a:latin typeface="Arial" panose="020B0604020202020204" pitchFamily="34" charset="0"/>
              </a:rPr>
              <a:t>灾变与异常值预测</a:t>
            </a:r>
            <a:r>
              <a:rPr lang="zh-CN" altLang="en-US" sz="2400" b="1" dirty="0">
                <a:latin typeface="Arial" panose="020B0604020202020204" pitchFamily="34" charset="0"/>
              </a:rPr>
              <a:t>，即通过灰色模型预测异常值出现的时刻，预测异常值什么时候出现在特定时区内。</a:t>
            </a:r>
            <a:endParaRPr lang="zh-CN" altLang="en-US" sz="2400" b="1" dirty="0">
              <a:latin typeface="Arial" panose="020B0604020202020204" pitchFamily="34" charset="0"/>
            </a:endParaRPr>
          </a:p>
        </p:txBody>
      </p:sp>
      <p:sp>
        <p:nvSpPr>
          <p:cNvPr id="11270" name="矩形 11269"/>
          <p:cNvSpPr/>
          <p:nvPr/>
        </p:nvSpPr>
        <p:spPr>
          <a:xfrm>
            <a:off x="0" y="3398838"/>
            <a:ext cx="9144000" cy="822325"/>
          </a:xfrm>
          <a:prstGeom prst="rect">
            <a:avLst/>
          </a:prstGeom>
          <a:noFill/>
          <a:ln w="9525">
            <a:noFill/>
          </a:ln>
        </p:spPr>
        <p:txBody>
          <a:bodyPr>
            <a:spAutoFit/>
          </a:bodyPr>
          <a:p>
            <a:r>
              <a:rPr lang="zh-CN" altLang="en-US" sz="2400" b="1" dirty="0">
                <a:latin typeface="Arial" panose="020B0604020202020204" pitchFamily="34" charset="0"/>
              </a:rPr>
              <a:t>　（</a:t>
            </a:r>
            <a:r>
              <a:rPr lang="en-US" altLang="zh-TW" sz="2400" b="1">
                <a:latin typeface="Arial" panose="020B0604020202020204" pitchFamily="34" charset="0"/>
              </a:rPr>
              <a:t>3</a:t>
            </a:r>
            <a:r>
              <a:rPr lang="zh-CN" altLang="en-US" sz="2400" b="1" dirty="0">
                <a:latin typeface="Arial" panose="020B0604020202020204" pitchFamily="34" charset="0"/>
              </a:rPr>
              <a:t>）</a:t>
            </a:r>
            <a:r>
              <a:rPr lang="zh-CN" altLang="en-US" sz="2400" b="1" dirty="0">
                <a:solidFill>
                  <a:srgbClr val="FF3300"/>
                </a:solidFill>
                <a:latin typeface="Arial" panose="020B0604020202020204" pitchFamily="34" charset="0"/>
              </a:rPr>
              <a:t>季节灾变与异常值预测</a:t>
            </a:r>
            <a:r>
              <a:rPr lang="zh-CN" altLang="en-US" sz="2400" b="1" dirty="0">
                <a:latin typeface="Arial" panose="020B0604020202020204" pitchFamily="34" charset="0"/>
              </a:rPr>
              <a:t>，即通过灰色模型预测灾变值发生在一年内某个特定的时区或季节的灾变预测。</a:t>
            </a:r>
            <a:endParaRPr lang="zh-CN" altLang="en-US" sz="2400" b="1" dirty="0">
              <a:latin typeface="Arial" panose="020B0604020202020204" pitchFamily="34" charset="0"/>
            </a:endParaRPr>
          </a:p>
        </p:txBody>
      </p:sp>
      <p:sp>
        <p:nvSpPr>
          <p:cNvPr id="11271" name="矩形 11270"/>
          <p:cNvSpPr/>
          <p:nvPr/>
        </p:nvSpPr>
        <p:spPr>
          <a:xfrm>
            <a:off x="0" y="4149725"/>
            <a:ext cx="9144000" cy="1187450"/>
          </a:xfrm>
          <a:prstGeom prst="rect">
            <a:avLst/>
          </a:prstGeom>
          <a:noFill/>
          <a:ln w="9525">
            <a:noFill/>
          </a:ln>
        </p:spPr>
        <p:txBody>
          <a:bodyPr>
            <a:spAutoFit/>
          </a:bodyPr>
          <a:p>
            <a:r>
              <a:rPr lang="zh-CN" altLang="en-US" sz="2400" b="1" dirty="0">
                <a:latin typeface="Arial" panose="020B0604020202020204" pitchFamily="34" charset="0"/>
              </a:rPr>
              <a:t>　（</a:t>
            </a:r>
            <a:r>
              <a:rPr lang="en-US" altLang="zh-TW" sz="2400" b="1">
                <a:latin typeface="Arial" panose="020B0604020202020204" pitchFamily="34" charset="0"/>
              </a:rPr>
              <a:t>4</a:t>
            </a:r>
            <a:r>
              <a:rPr lang="zh-CN" altLang="en-US" sz="2400" b="1" dirty="0">
                <a:latin typeface="Arial" panose="020B0604020202020204" pitchFamily="34" charset="0"/>
              </a:rPr>
              <a:t>）</a:t>
            </a:r>
            <a:r>
              <a:rPr lang="zh-CN" altLang="en-US" sz="2400" b="1" dirty="0">
                <a:solidFill>
                  <a:srgbClr val="FF3300"/>
                </a:solidFill>
                <a:latin typeface="Arial" panose="020B0604020202020204" pitchFamily="34" charset="0"/>
              </a:rPr>
              <a:t>拓扑预测</a:t>
            </a:r>
            <a:r>
              <a:rPr lang="zh-CN" altLang="en-US" sz="2400" b="1" dirty="0">
                <a:latin typeface="Arial" panose="020B0604020202020204" pitchFamily="34" charset="0"/>
              </a:rPr>
              <a:t>，将原始数据作曲线，在曲线上按定值寻找该定值发生的所有时点，并以该定值为框架构成时点数列，然后建立模型预测该定值所发生的时点。</a:t>
            </a:r>
            <a:endParaRPr lang="zh-CN" altLang="en-US" sz="2400" b="1" dirty="0">
              <a:latin typeface="Arial" panose="020B0604020202020204" pitchFamily="34" charset="0"/>
            </a:endParaRPr>
          </a:p>
        </p:txBody>
      </p:sp>
      <p:sp>
        <p:nvSpPr>
          <p:cNvPr id="11272" name="矩形 11271"/>
          <p:cNvSpPr/>
          <p:nvPr/>
        </p:nvSpPr>
        <p:spPr>
          <a:xfrm>
            <a:off x="0" y="5270500"/>
            <a:ext cx="9144000" cy="822325"/>
          </a:xfrm>
          <a:prstGeom prst="rect">
            <a:avLst/>
          </a:prstGeom>
          <a:noFill/>
          <a:ln w="9525">
            <a:noFill/>
          </a:ln>
        </p:spPr>
        <p:txBody>
          <a:bodyPr>
            <a:spAutoFit/>
          </a:bodyPr>
          <a:p>
            <a:r>
              <a:rPr lang="zh-CN" altLang="en-US" sz="2400" b="1" dirty="0">
                <a:latin typeface="Arial" panose="020B0604020202020204" pitchFamily="34" charset="0"/>
              </a:rPr>
              <a:t>　（</a:t>
            </a:r>
            <a:r>
              <a:rPr lang="en-US" altLang="zh-TW" sz="2400" b="1">
                <a:latin typeface="Arial" panose="020B0604020202020204" pitchFamily="34" charset="0"/>
              </a:rPr>
              <a:t>5</a:t>
            </a:r>
            <a:r>
              <a:rPr lang="zh-CN" altLang="en-US" sz="2400" b="1" dirty="0">
                <a:latin typeface="Arial" panose="020B0604020202020204" pitchFamily="34" charset="0"/>
              </a:rPr>
              <a:t>）</a:t>
            </a:r>
            <a:r>
              <a:rPr lang="zh-CN" altLang="en-US" sz="2400" b="1" dirty="0">
                <a:solidFill>
                  <a:srgbClr val="FF3300"/>
                </a:solidFill>
                <a:latin typeface="Arial" panose="020B0604020202020204" pitchFamily="34" charset="0"/>
              </a:rPr>
              <a:t>系统预测</a:t>
            </a:r>
            <a:r>
              <a:rPr lang="en-US" altLang="zh-CN" sz="2400" b="1" dirty="0">
                <a:latin typeface="Arial" panose="020B0604020202020204" pitchFamily="34" charset="0"/>
              </a:rPr>
              <a:t>. </a:t>
            </a:r>
            <a:r>
              <a:rPr lang="zh-CN" altLang="en-US" sz="2400" b="1" dirty="0">
                <a:latin typeface="Arial" panose="020B0604020202020204" pitchFamily="34" charset="0"/>
              </a:rPr>
              <a:t>通过对系统行为特征指标建立一组相互关联的灰色预测模型，预测系统中众多变量间的相互协调关系的变化。</a:t>
            </a:r>
            <a:endParaRPr lang="zh-CN" altLang="en-US" sz="2400" b="1" dirty="0">
              <a:latin typeface="Arial" panose="020B0604020202020204" pitchFamily="34" charset="0"/>
            </a:endParaRPr>
          </a:p>
        </p:txBody>
      </p:sp>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1267">
                                            <p:txEl>
                                              <p:charRg st="0" end="14"/>
                                            </p:txEl>
                                          </p:spTgt>
                                        </p:tgtEl>
                                        <p:attrNameLst>
                                          <p:attrName>style.visibility</p:attrName>
                                        </p:attrNameLst>
                                      </p:cBhvr>
                                      <p:to>
                                        <p:strVal val="visible"/>
                                      </p:to>
                                    </p:set>
                                    <p:animEffect transition="in" filter="checkerboard(across)">
                                      <p:cBhvr>
                                        <p:cTn id="7" dur="500"/>
                                        <p:tgtEl>
                                          <p:spTgt spid="11267">
                                            <p:txEl>
                                              <p:charRg st="0" end="14"/>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1268"/>
                                        </p:tgtEl>
                                        <p:attrNameLst>
                                          <p:attrName>style.visibility</p:attrName>
                                        </p:attrNameLst>
                                      </p:cBhvr>
                                      <p:to>
                                        <p:strVal val="visible"/>
                                      </p:to>
                                    </p:set>
                                    <p:animEffect transition="in" filter="checkerboard(across)">
                                      <p:cBhvr>
                                        <p:cTn id="12" dur="500"/>
                                        <p:tgtEl>
                                          <p:spTgt spid="11268"/>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1269"/>
                                        </p:tgtEl>
                                        <p:attrNameLst>
                                          <p:attrName>style.visibility</p:attrName>
                                        </p:attrNameLst>
                                      </p:cBhvr>
                                      <p:to>
                                        <p:strVal val="visible"/>
                                      </p:to>
                                    </p:set>
                                    <p:animEffect transition="in" filter="checkerboard(across)">
                                      <p:cBhvr>
                                        <p:cTn id="17" dur="500"/>
                                        <p:tgtEl>
                                          <p:spTgt spid="11269"/>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1270"/>
                                        </p:tgtEl>
                                        <p:attrNameLst>
                                          <p:attrName>style.visibility</p:attrName>
                                        </p:attrNameLst>
                                      </p:cBhvr>
                                      <p:to>
                                        <p:strVal val="visible"/>
                                      </p:to>
                                    </p:set>
                                    <p:animEffect transition="in" filter="checkerboard(across)">
                                      <p:cBhvr>
                                        <p:cTn id="22" dur="500"/>
                                        <p:tgtEl>
                                          <p:spTgt spid="11270"/>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1271"/>
                                        </p:tgtEl>
                                        <p:attrNameLst>
                                          <p:attrName>style.visibility</p:attrName>
                                        </p:attrNameLst>
                                      </p:cBhvr>
                                      <p:to>
                                        <p:strVal val="visible"/>
                                      </p:to>
                                    </p:set>
                                    <p:animEffect transition="in" filter="checkerboard(across)">
                                      <p:cBhvr>
                                        <p:cTn id="27" dur="500"/>
                                        <p:tgtEl>
                                          <p:spTgt spid="11271"/>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1272"/>
                                        </p:tgtEl>
                                        <p:attrNameLst>
                                          <p:attrName>style.visibility</p:attrName>
                                        </p:attrNameLst>
                                      </p:cBhvr>
                                      <p:to>
                                        <p:strVal val="visible"/>
                                      </p:to>
                                    </p:set>
                                    <p:animEffect transition="in" filter="checkerboard(across)">
                                      <p:cBhvr>
                                        <p:cTn id="32" dur="500"/>
                                        <p:tgtEl>
                                          <p:spTgt spid="112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P spid="11268" grpId="0"/>
      <p:bldP spid="11269" grpId="0"/>
      <p:bldP spid="11270" grpId="0"/>
      <p:bldP spid="11271" grpId="0"/>
      <p:bldP spid="1127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6" name="矩形 69635"/>
          <p:cNvSpPr/>
          <p:nvPr/>
        </p:nvSpPr>
        <p:spPr>
          <a:xfrm>
            <a:off x="1906588" y="2924175"/>
            <a:ext cx="5905500" cy="720725"/>
          </a:xfrm>
          <a:prstGeom prst="rect">
            <a:avLst/>
          </a:prstGeom>
          <a:noFill/>
          <a:ln w="9525">
            <a:noFill/>
          </a:ln>
        </p:spPr>
        <p:txBody>
          <a:bodyPr/>
          <a:p>
            <a:pPr marL="342900" indent="-342900">
              <a:spcBef>
                <a:spcPct val="20000"/>
              </a:spcBef>
              <a:buClr>
                <a:schemeClr val="tx1"/>
              </a:buClr>
            </a:pPr>
            <a:r>
              <a:rPr lang="en-US" altLang="zh-CN" sz="4000" b="1" dirty="0">
                <a:solidFill>
                  <a:srgbClr val="FF3300"/>
                </a:solidFill>
                <a:latin typeface="Arial Black" panose="020B0A04020102020204" pitchFamily="34" charset="0"/>
                <a:ea typeface="黑体" panose="02010609060101010101" pitchFamily="2" charset="-122"/>
              </a:rPr>
              <a:t>2  </a:t>
            </a:r>
            <a:r>
              <a:rPr lang="zh-CN" altLang="en-US" sz="4000" b="1" dirty="0">
                <a:solidFill>
                  <a:srgbClr val="FF3300"/>
                </a:solidFill>
                <a:latin typeface="Arial Black" panose="020B0A04020102020204" pitchFamily="34" charset="0"/>
                <a:ea typeface="黑体" panose="02010609060101010101" pitchFamily="2" charset="-122"/>
              </a:rPr>
              <a:t>灰色系统的模型</a:t>
            </a:r>
            <a:endParaRPr lang="zh-CN" altLang="en-US" sz="4000" b="1" dirty="0">
              <a:solidFill>
                <a:srgbClr val="FF3300"/>
              </a:solidFill>
              <a:latin typeface="Arial Black" panose="020B0A04020102020204" pitchFamily="34" charset="0"/>
              <a:ea typeface="黑体" panose="02010609060101010101" pitchFamily="2" charset="-122"/>
            </a:endParaRPr>
          </a:p>
        </p:txBody>
      </p:sp>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69636"/>
                                        </p:tgtEl>
                                        <p:attrNameLst>
                                          <p:attrName>style.visibility</p:attrName>
                                        </p:attrNameLst>
                                      </p:cBhvr>
                                      <p:to>
                                        <p:strVal val="visible"/>
                                      </p:to>
                                    </p:set>
                                    <p:animEffect transition="in" filter="checkerboard(across)">
                                      <p:cBhvr>
                                        <p:cTn id="7" dur="500"/>
                                        <p:tgtEl>
                                          <p:spTgt spid="696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标题 12289"/>
          <p:cNvSpPr>
            <a:spLocks noGrp="1"/>
          </p:cNvSpPr>
          <p:nvPr>
            <p:ph type="title"/>
          </p:nvPr>
        </p:nvSpPr>
        <p:spPr/>
        <p:txBody>
          <a:bodyPr anchor="ctr"/>
          <a:p>
            <a:r>
              <a:rPr lang="en-US" altLang="zh-CN" sz="2000" dirty="0"/>
              <a:t>2 </a:t>
            </a:r>
            <a:r>
              <a:rPr lang="zh-CN" altLang="en-US" sz="2000" dirty="0"/>
              <a:t>灰色系统的模型</a:t>
            </a:r>
            <a:endParaRPr lang="zh-CN" altLang="en-US" sz="2000" dirty="0"/>
          </a:p>
        </p:txBody>
      </p:sp>
      <p:sp>
        <p:nvSpPr>
          <p:cNvPr id="12291" name="文本占位符 12290"/>
          <p:cNvSpPr>
            <a:spLocks noGrp="1"/>
          </p:cNvSpPr>
          <p:nvPr>
            <p:ph type="body" idx="1"/>
          </p:nvPr>
        </p:nvSpPr>
        <p:spPr>
          <a:xfrm>
            <a:off x="0" y="1196975"/>
            <a:ext cx="9144000" cy="5184775"/>
          </a:xfrm>
        </p:spPr>
        <p:txBody>
          <a:bodyPr/>
          <a:p>
            <a:pPr>
              <a:buNone/>
            </a:pPr>
            <a:r>
              <a:rPr lang="zh-CN" altLang="en-US" dirty="0"/>
              <a:t>　  </a:t>
            </a:r>
            <a:r>
              <a:rPr lang="zh-CN" altLang="en-US" sz="2800" b="0" dirty="0"/>
              <a:t>通过下面的数据分析、处理过程，我们将了解到，有了一个时间数据序列后，如何建立一个基于模型的灰色预测。</a:t>
            </a:r>
            <a:endParaRPr lang="zh-CN" altLang="en-US" sz="2800" b="0" dirty="0"/>
          </a:p>
          <a:p>
            <a:pPr>
              <a:buNone/>
            </a:pPr>
            <a:r>
              <a:rPr lang="zh-CN" altLang="en-US" dirty="0"/>
              <a:t>　</a:t>
            </a:r>
            <a:r>
              <a:rPr lang="en-US" altLang="zh-CN" sz="2800" b="0" dirty="0">
                <a:solidFill>
                  <a:schemeClr val="hlink"/>
                </a:solidFill>
                <a:latin typeface="黑体" panose="02010609060101010101" pitchFamily="2" charset="-122"/>
              </a:rPr>
              <a:t>1. </a:t>
            </a:r>
            <a:r>
              <a:rPr lang="zh-CN" altLang="en-US" sz="2800" b="0" dirty="0">
                <a:solidFill>
                  <a:schemeClr val="hlink"/>
                </a:solidFill>
                <a:latin typeface="黑体" panose="02010609060101010101" pitchFamily="2" charset="-122"/>
              </a:rPr>
              <a:t>数据的预处理</a:t>
            </a:r>
            <a:endParaRPr lang="zh-CN" altLang="en-US" sz="2800" b="0" dirty="0">
              <a:solidFill>
                <a:schemeClr val="hlink"/>
              </a:solidFill>
              <a:latin typeface="黑体" panose="02010609060101010101" pitchFamily="2" charset="-122"/>
            </a:endParaRPr>
          </a:p>
          <a:p>
            <a:pPr>
              <a:buNone/>
            </a:pPr>
            <a:r>
              <a:rPr lang="zh-CN" altLang="en-US" sz="2800" b="0" dirty="0">
                <a:latin typeface="黑体" panose="02010609060101010101" pitchFamily="2" charset="-122"/>
              </a:rPr>
              <a:t>  首先我们从一个简单例子来考察问题</a:t>
            </a:r>
            <a:r>
              <a:rPr lang="en-US" altLang="zh-CN" sz="2800" b="0">
                <a:latin typeface="黑体" panose="02010609060101010101" pitchFamily="2" charset="-122"/>
              </a:rPr>
              <a:t>.</a:t>
            </a:r>
            <a:endParaRPr lang="en-US" altLang="zh-CN" sz="2800" b="0">
              <a:latin typeface="黑体" panose="02010609060101010101" pitchFamily="2" charset="-122"/>
            </a:endParaRPr>
          </a:p>
          <a:p>
            <a:pPr>
              <a:buNone/>
            </a:pPr>
            <a:r>
              <a:rPr lang="en-US" altLang="zh-CN" sz="2800" b="0">
                <a:latin typeface="黑体" panose="02010609060101010101" pitchFamily="2" charset="-122"/>
              </a:rPr>
              <a:t> </a:t>
            </a:r>
            <a:r>
              <a:rPr lang="zh-CN" altLang="en-US" sz="2800" b="0" dirty="0">
                <a:solidFill>
                  <a:srgbClr val="FF3300"/>
                </a:solidFill>
                <a:latin typeface="黑体" panose="02010609060101010101" pitchFamily="2" charset="-122"/>
              </a:rPr>
              <a:t>【例</a:t>
            </a:r>
            <a:r>
              <a:rPr lang="en-US" altLang="zh-CN" sz="2800" b="0">
                <a:solidFill>
                  <a:srgbClr val="FF3300"/>
                </a:solidFill>
                <a:latin typeface="黑体" panose="02010609060101010101" pitchFamily="2" charset="-122"/>
              </a:rPr>
              <a:t>7.1</a:t>
            </a:r>
            <a:r>
              <a:rPr lang="zh-CN" altLang="en-US" sz="2800" b="0">
                <a:solidFill>
                  <a:srgbClr val="FF3300"/>
                </a:solidFill>
                <a:latin typeface="黑体" panose="02010609060101010101" pitchFamily="2" charset="-122"/>
              </a:rPr>
              <a:t>】</a:t>
            </a:r>
            <a:r>
              <a:rPr lang="zh-CN" altLang="en-US" sz="2800" b="0" dirty="0">
                <a:latin typeface="黑体" panose="02010609060101010101" pitchFamily="2" charset="-122"/>
              </a:rPr>
              <a:t> 设原始数据序列</a:t>
            </a:r>
            <a:endParaRPr lang="zh-CN" altLang="en-US" sz="2800" b="0" dirty="0">
              <a:latin typeface="黑体" panose="02010609060101010101" pitchFamily="2" charset="-122"/>
            </a:endParaRPr>
          </a:p>
        </p:txBody>
      </p:sp>
      <p:sp>
        <p:nvSpPr>
          <p:cNvPr id="12293" name="矩形 12292"/>
          <p:cNvSpPr/>
          <p:nvPr/>
        </p:nvSpPr>
        <p:spPr>
          <a:xfrm>
            <a:off x="0" y="0"/>
            <a:ext cx="9144000" cy="0"/>
          </a:xfrm>
          <a:prstGeom prst="rect">
            <a:avLst/>
          </a:prstGeom>
          <a:noFill/>
          <a:ln w="9525">
            <a:noFill/>
          </a:ln>
        </p:spPr>
        <p:txBody>
          <a:bodyPr/>
          <a:p>
            <a:endParaRPr lang="zh-CN" altLang="en-US"/>
          </a:p>
        </p:txBody>
      </p:sp>
      <p:sp>
        <p:nvSpPr>
          <p:cNvPr id="12295" name="矩形 12294"/>
          <p:cNvSpPr/>
          <p:nvPr/>
        </p:nvSpPr>
        <p:spPr>
          <a:xfrm>
            <a:off x="0" y="3314700"/>
            <a:ext cx="9144000" cy="0"/>
          </a:xfrm>
          <a:prstGeom prst="rect">
            <a:avLst/>
          </a:prstGeom>
          <a:noFill/>
          <a:ln w="9525">
            <a:noFill/>
          </a:ln>
        </p:spPr>
        <p:txBody>
          <a:bodyPr/>
          <a:p>
            <a:endParaRPr lang="zh-CN" altLang="en-US"/>
          </a:p>
        </p:txBody>
      </p:sp>
      <p:graphicFrame>
        <p:nvGraphicFramePr>
          <p:cNvPr id="12294" name="对象 12293"/>
          <p:cNvGraphicFramePr/>
          <p:nvPr/>
        </p:nvGraphicFramePr>
        <p:xfrm>
          <a:off x="755650" y="4581525"/>
          <a:ext cx="7273925" cy="544513"/>
        </p:xfrm>
        <a:graphic>
          <a:graphicData uri="http://schemas.openxmlformats.org/presentationml/2006/ole">
            <mc:AlternateContent xmlns:mc="http://schemas.openxmlformats.org/markup-compatibility/2006">
              <mc:Choice xmlns:v="urn:schemas-microsoft-com:vml" Requires="v">
                <p:oleObj spid="_x0000_s3076" name="" r:id="rId1" imgW="3060700" imgH="228600" progId="Equation.3">
                  <p:embed/>
                </p:oleObj>
              </mc:Choice>
              <mc:Fallback>
                <p:oleObj name="" r:id="rId1" imgW="3060700" imgH="228600" progId="Equation.3">
                  <p:embed/>
                  <p:pic>
                    <p:nvPicPr>
                      <p:cNvPr id="0" name="图片 3075"/>
                      <p:cNvPicPr/>
                      <p:nvPr/>
                    </p:nvPicPr>
                    <p:blipFill>
                      <a:blip r:embed="rId2"/>
                      <a:stretch>
                        <a:fillRect/>
                      </a:stretch>
                    </p:blipFill>
                    <p:spPr>
                      <a:xfrm>
                        <a:off x="755650" y="4581525"/>
                        <a:ext cx="7273925" cy="544513"/>
                      </a:xfrm>
                      <a:prstGeom prst="rect">
                        <a:avLst/>
                      </a:prstGeom>
                      <a:noFill/>
                      <a:ln w="38100">
                        <a:noFill/>
                        <a:miter/>
                      </a:ln>
                    </p:spPr>
                  </p:pic>
                </p:oleObj>
              </mc:Fallback>
            </mc:AlternateContent>
          </a:graphicData>
        </a:graphic>
      </p:graphicFrame>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2291">
                                            <p:txEl>
                                              <p:charRg st="0" end="54"/>
                                            </p:txEl>
                                          </p:spTgt>
                                        </p:tgtEl>
                                        <p:attrNameLst>
                                          <p:attrName>style.visibility</p:attrName>
                                        </p:attrNameLst>
                                      </p:cBhvr>
                                      <p:to>
                                        <p:strVal val="visible"/>
                                      </p:to>
                                    </p:set>
                                    <p:animEffect transition="in" filter="wipe(up)">
                                      <p:cBhvr>
                                        <p:cTn id="7" dur="500"/>
                                        <p:tgtEl>
                                          <p:spTgt spid="12291">
                                            <p:txEl>
                                              <p:charRg st="0" end="5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291">
                                            <p:txEl>
                                              <p:charRg st="54" end="65"/>
                                            </p:txEl>
                                          </p:spTgt>
                                        </p:tgtEl>
                                        <p:attrNameLst>
                                          <p:attrName>style.visibility</p:attrName>
                                        </p:attrNameLst>
                                      </p:cBhvr>
                                      <p:to>
                                        <p:strVal val="visible"/>
                                      </p:to>
                                    </p:set>
                                    <p:animEffect transition="in" filter="wipe(up)">
                                      <p:cBhvr>
                                        <p:cTn id="12" dur="500"/>
                                        <p:tgtEl>
                                          <p:spTgt spid="12291">
                                            <p:txEl>
                                              <p:charRg st="54" end="6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2291">
                                            <p:txEl>
                                              <p:charRg st="65" end="85"/>
                                            </p:txEl>
                                          </p:spTgt>
                                        </p:tgtEl>
                                        <p:attrNameLst>
                                          <p:attrName>style.visibility</p:attrName>
                                        </p:attrNameLst>
                                      </p:cBhvr>
                                      <p:to>
                                        <p:strVal val="visible"/>
                                      </p:to>
                                    </p:set>
                                    <p:animEffect transition="in" filter="wipe(up)">
                                      <p:cBhvr>
                                        <p:cTn id="17" dur="500"/>
                                        <p:tgtEl>
                                          <p:spTgt spid="12291">
                                            <p:txEl>
                                              <p:charRg st="65" end="8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2291">
                                            <p:txEl>
                                              <p:charRg st="85" end="101"/>
                                            </p:txEl>
                                          </p:spTgt>
                                        </p:tgtEl>
                                        <p:attrNameLst>
                                          <p:attrName>style.visibility</p:attrName>
                                        </p:attrNameLst>
                                      </p:cBhvr>
                                      <p:to>
                                        <p:strVal val="visible"/>
                                      </p:to>
                                    </p:set>
                                    <p:animEffect transition="in" filter="wipe(up)">
                                      <p:cBhvr>
                                        <p:cTn id="22" dur="500"/>
                                        <p:tgtEl>
                                          <p:spTgt spid="12291">
                                            <p:txEl>
                                              <p:charRg st="85" end="101"/>
                                            </p:txEl>
                                          </p:spTgt>
                                        </p:tgtEl>
                                      </p:cBhvr>
                                    </p:animEffect>
                                  </p:childTnLst>
                                </p:cTn>
                              </p:par>
                              <p:par>
                                <p:cTn id="23" presetID="22" presetClass="entr" presetSubtype="1" fill="hold" nodeType="withEffect">
                                  <p:stCondLst>
                                    <p:cond delay="0"/>
                                  </p:stCondLst>
                                  <p:childTnLst>
                                    <p:set>
                                      <p:cBhvr>
                                        <p:cTn id="24" dur="1" fill="hold">
                                          <p:stCondLst>
                                            <p:cond delay="0"/>
                                          </p:stCondLst>
                                        </p:cTn>
                                        <p:tgtEl>
                                          <p:spTgt spid="12295"/>
                                        </p:tgtEl>
                                        <p:attrNameLst>
                                          <p:attrName>style.visibility</p:attrName>
                                        </p:attrNameLst>
                                      </p:cBhvr>
                                      <p:to>
                                        <p:strVal val="visible"/>
                                      </p:to>
                                    </p:set>
                                    <p:animEffect transition="in" filter="wipe(up)">
                                      <p:cBhvr>
                                        <p:cTn id="25" dur="500"/>
                                        <p:tgtEl>
                                          <p:spTgt spid="12295"/>
                                        </p:tgtEl>
                                      </p:cBhvr>
                                    </p:animEffect>
                                  </p:childTnLst>
                                </p:cTn>
                              </p:par>
                              <p:par>
                                <p:cTn id="26" presetID="22" presetClass="entr" presetSubtype="1" fill="hold" nodeType="withEffect">
                                  <p:stCondLst>
                                    <p:cond delay="0"/>
                                  </p:stCondLst>
                                  <p:childTnLst>
                                    <p:set>
                                      <p:cBhvr>
                                        <p:cTn id="27" dur="1" fill="hold">
                                          <p:stCondLst>
                                            <p:cond delay="0"/>
                                          </p:stCondLst>
                                        </p:cTn>
                                        <p:tgtEl>
                                          <p:spTgt spid="12294"/>
                                        </p:tgtEl>
                                        <p:attrNameLst>
                                          <p:attrName>style.visibility</p:attrName>
                                        </p:attrNameLst>
                                      </p:cBhvr>
                                      <p:to>
                                        <p:strVal val="visible"/>
                                      </p:to>
                                    </p:set>
                                    <p:animEffect transition="in" filter="wipe(up)">
                                      <p:cBhvr>
                                        <p:cTn id="28" dur="500"/>
                                        <p:tgtEl>
                                          <p:spTgt spid="12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标题 13313"/>
          <p:cNvSpPr>
            <a:spLocks noGrp="1"/>
          </p:cNvSpPr>
          <p:nvPr>
            <p:ph type="title"/>
          </p:nvPr>
        </p:nvSpPr>
        <p:spPr/>
        <p:txBody>
          <a:bodyPr anchor="ctr"/>
          <a:p>
            <a:r>
              <a:rPr lang="en-US" altLang="zh-CN" sz="2000" dirty="0"/>
              <a:t>7.2 </a:t>
            </a:r>
            <a:r>
              <a:rPr lang="zh-CN" altLang="en-US" sz="2000" dirty="0"/>
              <a:t>灰色系统的模型</a:t>
            </a:r>
            <a:endParaRPr lang="zh-CN" altLang="en-US" sz="2000" dirty="0"/>
          </a:p>
        </p:txBody>
      </p:sp>
      <p:sp>
        <p:nvSpPr>
          <p:cNvPr id="13316" name="文本占位符 13315"/>
          <p:cNvSpPr>
            <a:spLocks noGrp="1"/>
          </p:cNvSpPr>
          <p:nvPr>
            <p:ph type="body" sz="half" idx="1"/>
          </p:nvPr>
        </p:nvSpPr>
        <p:spPr>
          <a:xfrm>
            <a:off x="457200" y="1196975"/>
            <a:ext cx="4038600" cy="5184775"/>
          </a:xfrm>
        </p:spPr>
        <p:txBody>
          <a:bodyPr/>
          <a:p>
            <a:endParaRPr lang="en-US" altLang="zh-CN" sz="2800" dirty="0"/>
          </a:p>
          <a:p>
            <a:endParaRPr lang="en-US" altLang="zh-CN" sz="2800" dirty="0"/>
          </a:p>
        </p:txBody>
      </p:sp>
      <p:sp>
        <p:nvSpPr>
          <p:cNvPr id="13318" name="矩形 13317"/>
          <p:cNvSpPr/>
          <p:nvPr/>
        </p:nvSpPr>
        <p:spPr>
          <a:xfrm>
            <a:off x="0" y="0"/>
            <a:ext cx="9144000" cy="0"/>
          </a:xfrm>
          <a:prstGeom prst="rect">
            <a:avLst/>
          </a:prstGeom>
          <a:noFill/>
          <a:ln w="9525">
            <a:noFill/>
          </a:ln>
        </p:spPr>
        <p:txBody>
          <a:bodyPr/>
          <a:p>
            <a:endParaRPr lang="zh-CN" altLang="en-US"/>
          </a:p>
        </p:txBody>
      </p:sp>
      <p:graphicFrame>
        <p:nvGraphicFramePr>
          <p:cNvPr id="13317" name="对象 13316"/>
          <p:cNvGraphicFramePr/>
          <p:nvPr/>
        </p:nvGraphicFramePr>
        <p:xfrm>
          <a:off x="755650" y="1700213"/>
          <a:ext cx="8137525" cy="2944812"/>
        </p:xfrm>
        <a:graphic>
          <a:graphicData uri="http://schemas.openxmlformats.org/presentationml/2006/ole">
            <mc:AlternateContent xmlns:mc="http://schemas.openxmlformats.org/markup-compatibility/2006">
              <mc:Choice xmlns:v="urn:schemas-microsoft-com:vml" Requires="v">
                <p:oleObj spid="_x0000_s3081" name="" r:id="rId1" imgW="3721100" imgH="1447800" progId="Equation.DSMT4">
                  <p:embed/>
                </p:oleObj>
              </mc:Choice>
              <mc:Fallback>
                <p:oleObj name="" r:id="rId1" imgW="3721100" imgH="1447800" progId="Equation.DSMT4">
                  <p:embed/>
                  <p:pic>
                    <p:nvPicPr>
                      <p:cNvPr id="0" name="图片 3080"/>
                      <p:cNvPicPr/>
                      <p:nvPr/>
                    </p:nvPicPr>
                    <p:blipFill>
                      <a:blip r:embed="rId2"/>
                      <a:stretch>
                        <a:fillRect/>
                      </a:stretch>
                    </p:blipFill>
                    <p:spPr>
                      <a:xfrm>
                        <a:off x="755650" y="1700213"/>
                        <a:ext cx="8137525" cy="2944812"/>
                      </a:xfrm>
                      <a:prstGeom prst="rect">
                        <a:avLst/>
                      </a:prstGeom>
                      <a:noFill/>
                      <a:ln w="38100">
                        <a:noFill/>
                        <a:miter/>
                      </a:ln>
                    </p:spPr>
                  </p:pic>
                </p:oleObj>
              </mc:Fallback>
            </mc:AlternateContent>
          </a:graphicData>
        </a:graphic>
      </p:graphicFrame>
      <p:sp>
        <p:nvSpPr>
          <p:cNvPr id="13319" name="矩形 13318"/>
          <p:cNvSpPr/>
          <p:nvPr/>
        </p:nvSpPr>
        <p:spPr>
          <a:xfrm>
            <a:off x="468313" y="1125538"/>
            <a:ext cx="2592387" cy="519112"/>
          </a:xfrm>
          <a:prstGeom prst="rect">
            <a:avLst/>
          </a:prstGeom>
          <a:noFill/>
          <a:ln w="9525">
            <a:noFill/>
          </a:ln>
        </p:spPr>
        <p:txBody>
          <a:bodyPr anchor="ctr">
            <a:spAutoFit/>
          </a:bodyPr>
          <a:p>
            <a:r>
              <a:rPr lang="zh-CN" altLang="en-US" sz="2800" dirty="0">
                <a:latin typeface="Arial" panose="020B0604020202020204" pitchFamily="34" charset="0"/>
                <a:ea typeface="黑体" panose="02010609060101010101" pitchFamily="2" charset="-122"/>
              </a:rPr>
              <a:t>对数据累加</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13320" name="矩形 13319"/>
          <p:cNvSpPr/>
          <p:nvPr/>
        </p:nvSpPr>
        <p:spPr>
          <a:xfrm>
            <a:off x="611188" y="4648200"/>
            <a:ext cx="4095750" cy="519113"/>
          </a:xfrm>
          <a:prstGeom prst="rect">
            <a:avLst/>
          </a:prstGeom>
          <a:noFill/>
          <a:ln w="9525">
            <a:noFill/>
          </a:ln>
        </p:spPr>
        <p:txBody>
          <a:bodyPr wrap="none" anchor="ctr">
            <a:spAutoFit/>
          </a:bodyPr>
          <a:p>
            <a:r>
              <a:rPr lang="zh-CN" altLang="en-US" sz="2800" dirty="0">
                <a:latin typeface="Arial" panose="020B0604020202020204" pitchFamily="34" charset="0"/>
                <a:ea typeface="黑体" panose="02010609060101010101" pitchFamily="2" charset="-122"/>
              </a:rPr>
              <a:t>于是得到一个新数据序列</a:t>
            </a:r>
            <a:endParaRPr lang="zh-CN" altLang="en-US" sz="2800" dirty="0">
              <a:latin typeface="Arial" panose="020B0604020202020204" pitchFamily="34" charset="0"/>
              <a:ea typeface="黑体" panose="02010609060101010101" pitchFamily="2" charset="-122"/>
            </a:endParaRPr>
          </a:p>
        </p:txBody>
      </p:sp>
      <p:graphicFrame>
        <p:nvGraphicFramePr>
          <p:cNvPr id="13321" name="内容占位符 13320"/>
          <p:cNvGraphicFramePr/>
          <p:nvPr>
            <p:ph sz="half" idx="2"/>
          </p:nvPr>
        </p:nvGraphicFramePr>
        <p:xfrm>
          <a:off x="1331913" y="5229225"/>
          <a:ext cx="3600450" cy="600075"/>
        </p:xfrm>
        <a:graphic>
          <a:graphicData uri="http://schemas.openxmlformats.org/presentationml/2006/ole">
            <mc:AlternateContent xmlns:mc="http://schemas.openxmlformats.org/markup-compatibility/2006">
              <mc:Choice xmlns:v="urn:schemas-microsoft-com:vml" Requires="v">
                <p:oleObj spid="_x0000_s3082" name="" r:id="rId3" imgW="1371600" imgH="228600" progId="Equation.DSMT4">
                  <p:embed/>
                </p:oleObj>
              </mc:Choice>
              <mc:Fallback>
                <p:oleObj name="" r:id="rId3" imgW="1371600" imgH="228600" progId="Equation.DSMT4">
                  <p:embed/>
                  <p:pic>
                    <p:nvPicPr>
                      <p:cNvPr id="0" name="图片 3081"/>
                      <p:cNvPicPr/>
                      <p:nvPr/>
                    </p:nvPicPr>
                    <p:blipFill>
                      <a:blip r:embed="rId4"/>
                      <a:stretch>
                        <a:fillRect/>
                      </a:stretch>
                    </p:blipFill>
                    <p:spPr>
                      <a:xfrm>
                        <a:off x="1331913" y="5229225"/>
                        <a:ext cx="3600450" cy="600075"/>
                      </a:xfrm>
                      <a:prstGeom prst="rect">
                        <a:avLst/>
                      </a:prstGeom>
                      <a:noFill/>
                      <a:ln w="38100">
                        <a:miter/>
                      </a:ln>
                    </p:spPr>
                  </p:pic>
                </p:oleObj>
              </mc:Fallback>
            </mc:AlternateContent>
          </a:graphicData>
        </a:graphic>
      </p:graphicFrame>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4337"/>
          <p:cNvSpPr>
            <a:spLocks noGrp="1"/>
          </p:cNvSpPr>
          <p:nvPr>
            <p:ph type="title"/>
          </p:nvPr>
        </p:nvSpPr>
        <p:spPr/>
        <p:txBody>
          <a:bodyPr anchor="ctr"/>
          <a:p>
            <a:r>
              <a:rPr lang="en-US" altLang="zh-CN" sz="2000" dirty="0"/>
              <a:t>7.2 </a:t>
            </a:r>
            <a:r>
              <a:rPr lang="zh-CN" altLang="en-US" sz="2000" dirty="0"/>
              <a:t>灰色系统的模型</a:t>
            </a:r>
            <a:endParaRPr lang="zh-CN" altLang="en-US" sz="2000" dirty="0"/>
          </a:p>
        </p:txBody>
      </p:sp>
      <p:sp>
        <p:nvSpPr>
          <p:cNvPr id="14339" name="文本占位符 14338"/>
          <p:cNvSpPr>
            <a:spLocks noGrp="1"/>
          </p:cNvSpPr>
          <p:nvPr>
            <p:ph type="body" sz="half" idx="1"/>
          </p:nvPr>
        </p:nvSpPr>
        <p:spPr>
          <a:xfrm>
            <a:off x="250825" y="1196975"/>
            <a:ext cx="8713788" cy="5184775"/>
          </a:xfrm>
        </p:spPr>
        <p:txBody>
          <a:bodyPr/>
          <a:p>
            <a:pPr>
              <a:buNone/>
            </a:pPr>
            <a:r>
              <a:rPr lang="en-US" altLang="zh-CN" sz="2800" dirty="0"/>
              <a:t>   </a:t>
            </a:r>
            <a:r>
              <a:rPr lang="zh-CN" altLang="en-US" sz="2800" b="0" dirty="0">
                <a:latin typeface="黑体" panose="02010609060101010101" pitchFamily="2" charset="-122"/>
              </a:rPr>
              <a:t>归纳上面的式子可写为 </a:t>
            </a:r>
            <a:endParaRPr lang="zh-CN" altLang="en-US" sz="2800" b="0" dirty="0">
              <a:latin typeface="黑体" panose="02010609060101010101" pitchFamily="2" charset="-122"/>
            </a:endParaRPr>
          </a:p>
          <a:p>
            <a:endParaRPr lang="zh-CN" altLang="en-US" sz="2800" b="0" dirty="0">
              <a:latin typeface="黑体" panose="02010609060101010101" pitchFamily="2" charset="-122"/>
            </a:endParaRPr>
          </a:p>
          <a:p>
            <a:pPr>
              <a:buNone/>
            </a:pPr>
            <a:r>
              <a:rPr lang="zh-CN" altLang="en-US" sz="2800" b="0" dirty="0">
                <a:latin typeface="黑体" panose="02010609060101010101" pitchFamily="2" charset="-122"/>
              </a:rPr>
              <a:t>   称此式所表示的数据列为原始数据列的一次累加生成，简称为</a:t>
            </a:r>
            <a:r>
              <a:rPr lang="zh-CN" altLang="en-US" sz="2800" b="0" dirty="0">
                <a:solidFill>
                  <a:srgbClr val="FF3300"/>
                </a:solidFill>
                <a:latin typeface="黑体" panose="02010609060101010101" pitchFamily="2" charset="-122"/>
              </a:rPr>
              <a:t>一次累加生成</a:t>
            </a:r>
            <a:r>
              <a:rPr lang="en-US" altLang="zh-CN" sz="2800" b="0" dirty="0">
                <a:latin typeface="黑体" panose="02010609060101010101" pitchFamily="2" charset="-122"/>
              </a:rPr>
              <a:t>.</a:t>
            </a:r>
            <a:r>
              <a:rPr lang="zh-CN" altLang="en-US" sz="2800" b="0" dirty="0">
                <a:latin typeface="黑体" panose="02010609060101010101" pitchFamily="2" charset="-122"/>
              </a:rPr>
              <a:t>显然有</a:t>
            </a:r>
            <a:r>
              <a:rPr lang="zh-CN" altLang="en-US" sz="2800" dirty="0"/>
              <a:t> </a:t>
            </a:r>
            <a:endParaRPr lang="zh-CN" altLang="en-US" sz="2800" dirty="0"/>
          </a:p>
        </p:txBody>
      </p:sp>
      <p:sp>
        <p:nvSpPr>
          <p:cNvPr id="14342" name="矩形 14341"/>
          <p:cNvSpPr/>
          <p:nvPr/>
        </p:nvSpPr>
        <p:spPr>
          <a:xfrm>
            <a:off x="0" y="3314700"/>
            <a:ext cx="9144000" cy="0"/>
          </a:xfrm>
          <a:prstGeom prst="rect">
            <a:avLst/>
          </a:prstGeom>
          <a:noFill/>
          <a:ln w="9525">
            <a:noFill/>
          </a:ln>
        </p:spPr>
        <p:txBody>
          <a:bodyPr/>
          <a:p>
            <a:endParaRPr lang="zh-CN" altLang="en-US"/>
          </a:p>
        </p:txBody>
      </p:sp>
      <p:sp>
        <p:nvSpPr>
          <p:cNvPr id="14346" name="矩形 14345"/>
          <p:cNvSpPr/>
          <p:nvPr/>
        </p:nvSpPr>
        <p:spPr>
          <a:xfrm>
            <a:off x="0" y="3205163"/>
            <a:ext cx="9144000" cy="0"/>
          </a:xfrm>
          <a:prstGeom prst="rect">
            <a:avLst/>
          </a:prstGeom>
          <a:noFill/>
          <a:ln w="9525">
            <a:noFill/>
          </a:ln>
        </p:spPr>
        <p:txBody>
          <a:bodyPr/>
          <a:p>
            <a:endParaRPr lang="zh-CN" altLang="en-US"/>
          </a:p>
        </p:txBody>
      </p:sp>
      <p:sp>
        <p:nvSpPr>
          <p:cNvPr id="14348" name="矩形 14347"/>
          <p:cNvSpPr/>
          <p:nvPr/>
        </p:nvSpPr>
        <p:spPr>
          <a:xfrm>
            <a:off x="0" y="3314700"/>
            <a:ext cx="9144000" cy="0"/>
          </a:xfrm>
          <a:prstGeom prst="rect">
            <a:avLst/>
          </a:prstGeom>
          <a:noFill/>
          <a:ln w="9525">
            <a:noFill/>
          </a:ln>
        </p:spPr>
        <p:txBody>
          <a:bodyPr/>
          <a:p>
            <a:endParaRPr lang="zh-CN" altLang="en-US"/>
          </a:p>
        </p:txBody>
      </p:sp>
      <p:graphicFrame>
        <p:nvGraphicFramePr>
          <p:cNvPr id="14347" name="对象 14346"/>
          <p:cNvGraphicFramePr/>
          <p:nvPr/>
        </p:nvGraphicFramePr>
        <p:xfrm>
          <a:off x="5165090" y="2665413"/>
          <a:ext cx="2251075" cy="539750"/>
        </p:xfrm>
        <a:graphic>
          <a:graphicData uri="http://schemas.openxmlformats.org/presentationml/2006/ole">
            <mc:AlternateContent xmlns:mc="http://schemas.openxmlformats.org/markup-compatibility/2006">
              <mc:Choice xmlns:v="urn:schemas-microsoft-com:vml" Requires="v">
                <p:oleObj spid="_x0000_s3077" name="" r:id="rId1" imgW="951865" imgH="228600" progId="Equation.DSMT4">
                  <p:embed/>
                </p:oleObj>
              </mc:Choice>
              <mc:Fallback>
                <p:oleObj name="" r:id="rId1" imgW="951865" imgH="228600" progId="Equation.DSMT4">
                  <p:embed/>
                  <p:pic>
                    <p:nvPicPr>
                      <p:cNvPr id="0" name="图片 3076"/>
                      <p:cNvPicPr/>
                      <p:nvPr/>
                    </p:nvPicPr>
                    <p:blipFill>
                      <a:blip r:embed="rId2"/>
                      <a:stretch>
                        <a:fillRect/>
                      </a:stretch>
                    </p:blipFill>
                    <p:spPr>
                      <a:xfrm>
                        <a:off x="5165090" y="2665413"/>
                        <a:ext cx="2251075" cy="539750"/>
                      </a:xfrm>
                      <a:prstGeom prst="rect">
                        <a:avLst/>
                      </a:prstGeom>
                      <a:noFill/>
                      <a:ln w="38100">
                        <a:noFill/>
                        <a:miter/>
                      </a:ln>
                    </p:spPr>
                  </p:pic>
                </p:oleObj>
              </mc:Fallback>
            </mc:AlternateContent>
          </a:graphicData>
        </a:graphic>
      </p:graphicFrame>
      <p:graphicFrame>
        <p:nvGraphicFramePr>
          <p:cNvPr id="14349" name="内容占位符 14348"/>
          <p:cNvGraphicFramePr/>
          <p:nvPr>
            <p:ph sz="half" idx="2"/>
          </p:nvPr>
        </p:nvGraphicFramePr>
        <p:xfrm>
          <a:off x="2817495" y="1638935"/>
          <a:ext cx="3629660" cy="687070"/>
        </p:xfrm>
        <a:graphic>
          <a:graphicData uri="http://schemas.openxmlformats.org/presentationml/2006/ole">
            <mc:AlternateContent xmlns:mc="http://schemas.openxmlformats.org/markup-compatibility/2006">
              <mc:Choice xmlns:v="urn:schemas-microsoft-com:vml" Requires="v">
                <p:oleObj spid="_x0000_s3078" name="" r:id="rId3" imgW="2082165" imgH="444500" progId="Equation.DSMT4">
                  <p:embed/>
                </p:oleObj>
              </mc:Choice>
              <mc:Fallback>
                <p:oleObj name="" r:id="rId3" imgW="2082165" imgH="444500" progId="Equation.DSMT4">
                  <p:embed/>
                  <p:pic>
                    <p:nvPicPr>
                      <p:cNvPr id="0" name="图片 3077"/>
                      <p:cNvPicPr/>
                      <p:nvPr/>
                    </p:nvPicPr>
                    <p:blipFill>
                      <a:blip r:embed="rId4"/>
                      <a:stretch>
                        <a:fillRect/>
                      </a:stretch>
                    </p:blipFill>
                    <p:spPr>
                      <a:xfrm>
                        <a:off x="2817495" y="1638935"/>
                        <a:ext cx="3629660" cy="687070"/>
                      </a:xfrm>
                      <a:prstGeom prst="rect">
                        <a:avLst/>
                      </a:prstGeom>
                      <a:noFill/>
                      <a:ln w="38100">
                        <a:miter/>
                      </a:ln>
                    </p:spPr>
                  </p:pic>
                </p:oleObj>
              </mc:Fallback>
            </mc:AlternateContent>
          </a:graphicData>
        </a:graphic>
      </p:graphicFrame>
      <p:sp>
        <p:nvSpPr>
          <p:cNvPr id="14351" name="矩形 14350"/>
          <p:cNvSpPr/>
          <p:nvPr/>
        </p:nvSpPr>
        <p:spPr>
          <a:xfrm>
            <a:off x="827088" y="3138488"/>
            <a:ext cx="2835275" cy="519112"/>
          </a:xfrm>
          <a:prstGeom prst="rect">
            <a:avLst/>
          </a:prstGeom>
          <a:noFill/>
          <a:ln w="9525">
            <a:noFill/>
          </a:ln>
        </p:spPr>
        <p:txBody>
          <a:bodyPr wrap="none" anchor="ctr">
            <a:spAutoFit/>
          </a:bodyPr>
          <a:p>
            <a:r>
              <a:rPr lang="en-US" altLang="zh-CN" sz="2800" dirty="0">
                <a:latin typeface="Arial" panose="020B0604020202020204" pitchFamily="34" charset="0"/>
                <a:ea typeface="黑体" panose="02010609060101010101" pitchFamily="2" charset="-122"/>
              </a:rPr>
              <a:t> </a:t>
            </a:r>
            <a:r>
              <a:rPr lang="zh-CN" altLang="en-US" sz="2800" dirty="0">
                <a:latin typeface="Arial" panose="020B0604020202020204" pitchFamily="34" charset="0"/>
                <a:ea typeface="黑体" panose="02010609060101010101" pitchFamily="2" charset="-122"/>
              </a:rPr>
              <a:t>将上述例子中的</a:t>
            </a:r>
            <a:r>
              <a:rPr lang="zh-CN" altLang="en-US" dirty="0">
                <a:latin typeface="Arial" panose="020B0604020202020204" pitchFamily="34" charset="0"/>
              </a:rPr>
              <a:t> </a:t>
            </a:r>
            <a:endParaRPr lang="zh-CN" altLang="en-US" dirty="0">
              <a:latin typeface="Arial" panose="020B0604020202020204" pitchFamily="34" charset="0"/>
            </a:endParaRPr>
          </a:p>
        </p:txBody>
      </p:sp>
      <p:graphicFrame>
        <p:nvGraphicFramePr>
          <p:cNvPr id="14352" name="对象 14351"/>
          <p:cNvGraphicFramePr/>
          <p:nvPr/>
        </p:nvGraphicFramePr>
        <p:xfrm>
          <a:off x="3492500" y="3141663"/>
          <a:ext cx="1320800" cy="479425"/>
        </p:xfrm>
        <a:graphic>
          <a:graphicData uri="http://schemas.openxmlformats.org/presentationml/2006/ole">
            <mc:AlternateContent xmlns:mc="http://schemas.openxmlformats.org/markup-compatibility/2006">
              <mc:Choice xmlns:v="urn:schemas-microsoft-com:vml" Requires="v">
                <p:oleObj spid="_x0000_s3079" name="" r:id="rId5" imgW="558165" imgH="203200" progId="Equation.DSMT4">
                  <p:embed/>
                </p:oleObj>
              </mc:Choice>
              <mc:Fallback>
                <p:oleObj name="" r:id="rId5" imgW="558165" imgH="203200" progId="Equation.DSMT4">
                  <p:embed/>
                  <p:pic>
                    <p:nvPicPr>
                      <p:cNvPr id="0" name="图片 3078"/>
                      <p:cNvPicPr/>
                      <p:nvPr/>
                    </p:nvPicPr>
                    <p:blipFill>
                      <a:blip r:embed="rId6"/>
                      <a:stretch>
                        <a:fillRect/>
                      </a:stretch>
                    </p:blipFill>
                    <p:spPr>
                      <a:xfrm>
                        <a:off x="3492500" y="3141663"/>
                        <a:ext cx="1320800" cy="479425"/>
                      </a:xfrm>
                      <a:prstGeom prst="rect">
                        <a:avLst/>
                      </a:prstGeom>
                      <a:noFill/>
                      <a:ln w="38100">
                        <a:noFill/>
                        <a:miter/>
                      </a:ln>
                    </p:spPr>
                  </p:pic>
                </p:oleObj>
              </mc:Fallback>
            </mc:AlternateContent>
          </a:graphicData>
        </a:graphic>
      </p:graphicFrame>
      <p:sp>
        <p:nvSpPr>
          <p:cNvPr id="14353" name="直接连接符 14352"/>
          <p:cNvSpPr/>
          <p:nvPr/>
        </p:nvSpPr>
        <p:spPr>
          <a:xfrm>
            <a:off x="1600200" y="3282950"/>
            <a:ext cx="0" cy="0"/>
          </a:xfrm>
          <a:prstGeom prst="line">
            <a:avLst/>
          </a:prstGeom>
          <a:ln w="9525" cap="flat" cmpd="sng">
            <a:solidFill>
              <a:srgbClr val="000000"/>
            </a:solidFill>
            <a:prstDash val="solid"/>
            <a:headEnd type="none" w="med" len="med"/>
            <a:tailEnd type="none" w="med" len="med"/>
          </a:ln>
        </p:spPr>
      </p:sp>
      <p:sp>
        <p:nvSpPr>
          <p:cNvPr id="14354" name="直接连接符 14353"/>
          <p:cNvSpPr/>
          <p:nvPr/>
        </p:nvSpPr>
        <p:spPr>
          <a:xfrm>
            <a:off x="1600200" y="3282950"/>
            <a:ext cx="0" cy="0"/>
          </a:xfrm>
          <a:prstGeom prst="line">
            <a:avLst/>
          </a:prstGeom>
          <a:ln w="9525" cap="flat" cmpd="sng">
            <a:solidFill>
              <a:srgbClr val="000000"/>
            </a:solidFill>
            <a:prstDash val="solid"/>
            <a:headEnd type="none" w="med" len="med"/>
            <a:tailEnd type="none" w="med" len="med"/>
          </a:ln>
        </p:spPr>
      </p:sp>
      <p:sp>
        <p:nvSpPr>
          <p:cNvPr id="14355" name="矩形 14354"/>
          <p:cNvSpPr/>
          <p:nvPr/>
        </p:nvSpPr>
        <p:spPr>
          <a:xfrm>
            <a:off x="4787900" y="3140234"/>
            <a:ext cx="3065780" cy="521970"/>
          </a:xfrm>
          <a:prstGeom prst="rect">
            <a:avLst/>
          </a:prstGeom>
          <a:noFill/>
          <a:ln w="9525">
            <a:noFill/>
          </a:ln>
        </p:spPr>
        <p:txBody>
          <a:bodyPr wrap="none" anchor="ctr">
            <a:spAutoFit/>
          </a:bodyPr>
          <a:p>
            <a:r>
              <a:rPr lang="zh-CN" altLang="en-US" sz="2800" dirty="0">
                <a:latin typeface="黑体" panose="02010609060101010101" pitchFamily="2" charset="-122"/>
                <a:ea typeface="黑体" panose="02010609060101010101" pitchFamily="2" charset="-122"/>
              </a:rPr>
              <a:t>分别做成图</a:t>
            </a:r>
            <a:r>
              <a:rPr lang="en-US" altLang="zh-CN" sz="2800" dirty="0">
                <a:latin typeface="黑体" panose="02010609060101010101" pitchFamily="2" charset="-122"/>
                <a:ea typeface="黑体" panose="02010609060101010101" pitchFamily="2" charset="-122"/>
              </a:rPr>
              <a:t>1</a:t>
            </a:r>
            <a:r>
              <a:rPr lang="zh-CN" altLang="en-US" sz="2800" dirty="0">
                <a:latin typeface="黑体" panose="02010609060101010101" pitchFamily="2" charset="-122"/>
                <a:ea typeface="黑体" panose="02010609060101010101" pitchFamily="2" charset="-122"/>
              </a:rPr>
              <a:t>、图</a:t>
            </a:r>
            <a:r>
              <a:rPr lang="en-US" altLang="zh-CN" sz="2800">
                <a:latin typeface="黑体" panose="02010609060101010101" pitchFamily="2" charset="-122"/>
                <a:ea typeface="黑体" panose="02010609060101010101" pitchFamily="2" charset="-122"/>
              </a:rPr>
              <a:t>2</a:t>
            </a:r>
            <a:endParaRPr lang="en-US" altLang="zh-CN" sz="2800">
              <a:latin typeface="黑体" panose="02010609060101010101" pitchFamily="2" charset="-122"/>
              <a:ea typeface="黑体" panose="02010609060101010101" pitchFamily="2" charset="-122"/>
            </a:endParaRPr>
          </a:p>
        </p:txBody>
      </p:sp>
      <p:sp>
        <p:nvSpPr>
          <p:cNvPr id="14357" name="矩形 14356"/>
          <p:cNvSpPr/>
          <p:nvPr/>
        </p:nvSpPr>
        <p:spPr>
          <a:xfrm>
            <a:off x="539750" y="3709036"/>
            <a:ext cx="8104505" cy="1814830"/>
          </a:xfrm>
          <a:prstGeom prst="rect">
            <a:avLst/>
          </a:prstGeom>
          <a:noFill/>
          <a:ln w="9525">
            <a:noFill/>
          </a:ln>
        </p:spPr>
        <p:txBody>
          <a:bodyPr wrap="none" anchor="ctr">
            <a:spAutoFit/>
          </a:bodyPr>
          <a:p>
            <a:r>
              <a:rPr lang="zh-CN" altLang="en-US" sz="2800" dirty="0">
                <a:latin typeface="黑体" panose="02010609060101010101" pitchFamily="2" charset="-122"/>
                <a:ea typeface="黑体" panose="02010609060101010101" pitchFamily="2" charset="-122"/>
              </a:rPr>
              <a:t>可见图</a:t>
            </a:r>
            <a:r>
              <a:rPr lang="en-US" altLang="zh-CN" sz="2800" dirty="0">
                <a:latin typeface="黑体" panose="02010609060101010101" pitchFamily="2" charset="-122"/>
                <a:ea typeface="黑体" panose="02010609060101010101" pitchFamily="2" charset="-122"/>
              </a:rPr>
              <a:t>1</a:t>
            </a:r>
            <a:r>
              <a:rPr lang="zh-CN" altLang="en-US" sz="2800" dirty="0">
                <a:latin typeface="黑体" panose="02010609060101010101" pitchFamily="2" charset="-122"/>
                <a:ea typeface="黑体" panose="02010609060101010101" pitchFamily="2" charset="-122"/>
              </a:rPr>
              <a:t>上的曲线有明显的摆动，图</a:t>
            </a:r>
            <a:r>
              <a:rPr lang="en-US" altLang="zh-CN" sz="2800" dirty="0">
                <a:latin typeface="黑体" panose="02010609060101010101" pitchFamily="2" charset="-122"/>
                <a:ea typeface="黑体" panose="02010609060101010101" pitchFamily="2" charset="-122"/>
              </a:rPr>
              <a:t>7.2</a:t>
            </a:r>
            <a:r>
              <a:rPr lang="zh-CN" altLang="en-US" sz="2800" dirty="0">
                <a:latin typeface="黑体" panose="02010609060101010101" pitchFamily="2" charset="-122"/>
                <a:ea typeface="黑体" panose="02010609060101010101" pitchFamily="2" charset="-122"/>
              </a:rPr>
              <a:t>呈现逐渐</a:t>
            </a:r>
            <a:endParaRPr lang="zh-CN" altLang="en-US" sz="2800" dirty="0">
              <a:latin typeface="黑体" panose="02010609060101010101" pitchFamily="2" charset="-122"/>
              <a:ea typeface="黑体" panose="02010609060101010101" pitchFamily="2" charset="-122"/>
            </a:endParaRPr>
          </a:p>
          <a:p>
            <a:r>
              <a:rPr lang="zh-CN" altLang="en-US" sz="2800" dirty="0">
                <a:latin typeface="黑体" panose="02010609060101010101" pitchFamily="2" charset="-122"/>
                <a:ea typeface="黑体" panose="02010609060101010101" pitchFamily="2" charset="-122"/>
              </a:rPr>
              <a:t>递增的形式，说明原始数据的起伏已显著弱化</a:t>
            </a:r>
            <a:r>
              <a:rPr lang="en-US" altLang="zh-CN" sz="2800" dirty="0">
                <a:latin typeface="黑体" panose="02010609060101010101" pitchFamily="2" charset="-122"/>
                <a:ea typeface="黑体" panose="02010609060101010101" pitchFamily="2" charset="-122"/>
              </a:rPr>
              <a:t>.</a:t>
            </a:r>
            <a:r>
              <a:rPr lang="zh-CN" altLang="en-US" sz="2800" dirty="0">
                <a:latin typeface="黑体" panose="02010609060101010101" pitchFamily="2" charset="-122"/>
                <a:ea typeface="黑体" panose="02010609060101010101" pitchFamily="2" charset="-122"/>
              </a:rPr>
              <a:t>可以</a:t>
            </a:r>
            <a:endParaRPr lang="zh-CN" altLang="en-US" sz="2800" dirty="0">
              <a:latin typeface="黑体" panose="02010609060101010101" pitchFamily="2" charset="-122"/>
              <a:ea typeface="黑体" panose="02010609060101010101" pitchFamily="2" charset="-122"/>
            </a:endParaRPr>
          </a:p>
          <a:p>
            <a:r>
              <a:rPr lang="zh-CN" altLang="en-US" sz="2800" dirty="0">
                <a:latin typeface="黑体" panose="02010609060101010101" pitchFamily="2" charset="-122"/>
                <a:ea typeface="黑体" panose="02010609060101010101" pitchFamily="2" charset="-122"/>
              </a:rPr>
              <a:t>设想用一条指数曲线乃至一条直线来逼近累加生成</a:t>
            </a:r>
            <a:endParaRPr lang="zh-CN" altLang="en-US" sz="2800" dirty="0">
              <a:latin typeface="黑体" panose="02010609060101010101" pitchFamily="2" charset="-122"/>
              <a:ea typeface="黑体" panose="02010609060101010101" pitchFamily="2" charset="-122"/>
            </a:endParaRPr>
          </a:p>
          <a:p>
            <a:r>
              <a:rPr lang="zh-CN" altLang="en-US" sz="2800" dirty="0">
                <a:latin typeface="黑体" panose="02010609060101010101" pitchFamily="2" charset="-122"/>
                <a:ea typeface="黑体" panose="02010609060101010101" pitchFamily="2" charset="-122"/>
              </a:rPr>
              <a:t>数列</a:t>
            </a:r>
            <a:r>
              <a:rPr lang="zh-CN" altLang="en-US" sz="900" dirty="0">
                <a:latin typeface="Arial" panose="020B0604020202020204" pitchFamily="34" charset="0"/>
                <a:ea typeface="黑体" panose="02010609060101010101" pitchFamily="2" charset="-122"/>
              </a:rPr>
              <a:t> </a:t>
            </a:r>
            <a:endParaRPr lang="zh-CN" altLang="en-US" dirty="0">
              <a:latin typeface="Arial" panose="020B0604020202020204" pitchFamily="34" charset="0"/>
              <a:ea typeface="黑体" panose="02010609060101010101" pitchFamily="2" charset="-122"/>
            </a:endParaRPr>
          </a:p>
        </p:txBody>
      </p:sp>
      <p:graphicFrame>
        <p:nvGraphicFramePr>
          <p:cNvPr id="14358" name="对象 14357"/>
          <p:cNvGraphicFramePr/>
          <p:nvPr/>
        </p:nvGraphicFramePr>
        <p:xfrm>
          <a:off x="1287463" y="5013325"/>
          <a:ext cx="631825" cy="479425"/>
        </p:xfrm>
        <a:graphic>
          <a:graphicData uri="http://schemas.openxmlformats.org/presentationml/2006/ole">
            <mc:AlternateContent xmlns:mc="http://schemas.openxmlformats.org/markup-compatibility/2006">
              <mc:Choice xmlns:v="urn:schemas-microsoft-com:vml" Requires="v">
                <p:oleObj spid="_x0000_s3080" name="" r:id="rId7" imgW="266065" imgH="203200" progId="Equation.DSMT4">
                  <p:embed/>
                </p:oleObj>
              </mc:Choice>
              <mc:Fallback>
                <p:oleObj name="" r:id="rId7" imgW="266065" imgH="203200" progId="Equation.DSMT4">
                  <p:embed/>
                  <p:pic>
                    <p:nvPicPr>
                      <p:cNvPr id="0" name="图片 3079"/>
                      <p:cNvPicPr/>
                      <p:nvPr/>
                    </p:nvPicPr>
                    <p:blipFill>
                      <a:blip r:embed="rId8"/>
                      <a:stretch>
                        <a:fillRect/>
                      </a:stretch>
                    </p:blipFill>
                    <p:spPr>
                      <a:xfrm>
                        <a:off x="1287463" y="5013325"/>
                        <a:ext cx="631825" cy="479425"/>
                      </a:xfrm>
                      <a:prstGeom prst="rect">
                        <a:avLst/>
                      </a:prstGeom>
                      <a:noFill/>
                      <a:ln w="38100">
                        <a:noFill/>
                        <a:miter/>
                      </a:ln>
                    </p:spPr>
                  </p:pic>
                </p:oleObj>
              </mc:Fallback>
            </mc:AlternateContent>
          </a:graphicData>
        </a:graphic>
      </p:graphicFrame>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339">
                                            <p:txEl>
                                              <p:charRg st="0" end="15"/>
                                            </p:txEl>
                                          </p:spTgt>
                                        </p:tgtEl>
                                        <p:attrNameLst>
                                          <p:attrName>style.visibility</p:attrName>
                                        </p:attrNameLst>
                                      </p:cBhvr>
                                      <p:to>
                                        <p:strVal val="visible"/>
                                      </p:to>
                                    </p:set>
                                    <p:animEffect transition="in" filter="wipe(up)">
                                      <p:cBhvr>
                                        <p:cTn id="7" dur="500"/>
                                        <p:tgtEl>
                                          <p:spTgt spid="14339">
                                            <p:txEl>
                                              <p:charRg st="0" end="1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349"/>
                                        </p:tgtEl>
                                        <p:attrNameLst>
                                          <p:attrName>style.visibility</p:attrName>
                                        </p:attrNameLst>
                                      </p:cBhvr>
                                      <p:to>
                                        <p:strVal val="visible"/>
                                      </p:to>
                                    </p:set>
                                    <p:animEffect transition="in" filter="wipe(left)">
                                      <p:cBhvr>
                                        <p:cTn id="12" dur="500"/>
                                        <p:tgtEl>
                                          <p:spTgt spid="1434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339">
                                            <p:txEl>
                                              <p:charRg st="16" end="57"/>
                                            </p:txEl>
                                          </p:spTgt>
                                        </p:tgtEl>
                                        <p:attrNameLst>
                                          <p:attrName>style.visibility</p:attrName>
                                        </p:attrNameLst>
                                      </p:cBhvr>
                                      <p:to>
                                        <p:strVal val="visible"/>
                                      </p:to>
                                    </p:set>
                                    <p:animEffect transition="in" filter="wipe(left)">
                                      <p:cBhvr>
                                        <p:cTn id="17" dur="500"/>
                                        <p:tgtEl>
                                          <p:spTgt spid="14339">
                                            <p:txEl>
                                              <p:charRg st="16" end="57"/>
                                            </p:txEl>
                                          </p:spTgt>
                                        </p:tgtEl>
                                      </p:cBhvr>
                                    </p:animEffect>
                                  </p:childTnLst>
                                </p:cTn>
                              </p:par>
                              <p:par>
                                <p:cTn id="18" presetID="22" presetClass="entr" presetSubtype="1" fill="hold" nodeType="withEffect">
                                  <p:stCondLst>
                                    <p:cond delay="0"/>
                                  </p:stCondLst>
                                  <p:childTnLst>
                                    <p:set>
                                      <p:cBhvr>
                                        <p:cTn id="19" dur="1" fill="hold">
                                          <p:stCondLst>
                                            <p:cond delay="0"/>
                                          </p:stCondLst>
                                        </p:cTn>
                                        <p:tgtEl>
                                          <p:spTgt spid="14347"/>
                                        </p:tgtEl>
                                        <p:attrNameLst>
                                          <p:attrName>style.visibility</p:attrName>
                                        </p:attrNameLst>
                                      </p:cBhvr>
                                      <p:to>
                                        <p:strVal val="visible"/>
                                      </p:to>
                                    </p:set>
                                    <p:animEffect transition="in" filter="wipe(up)">
                                      <p:cBhvr>
                                        <p:cTn id="20" dur="500"/>
                                        <p:tgtEl>
                                          <p:spTgt spid="1434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4351"/>
                                        </p:tgtEl>
                                        <p:attrNameLst>
                                          <p:attrName>style.visibility</p:attrName>
                                        </p:attrNameLst>
                                      </p:cBhvr>
                                      <p:to>
                                        <p:strVal val="visible"/>
                                      </p:to>
                                    </p:set>
                                    <p:animEffect transition="in" filter="wipe(left)">
                                      <p:cBhvr>
                                        <p:cTn id="25" dur="500"/>
                                        <p:tgtEl>
                                          <p:spTgt spid="14351"/>
                                        </p:tgtEl>
                                      </p:cBhvr>
                                    </p:animEffect>
                                  </p:childTnLst>
                                </p:cTn>
                              </p:par>
                              <p:par>
                                <p:cTn id="26" presetID="22" presetClass="entr" presetSubtype="1" fill="hold" nodeType="withEffect">
                                  <p:stCondLst>
                                    <p:cond delay="0"/>
                                  </p:stCondLst>
                                  <p:childTnLst>
                                    <p:set>
                                      <p:cBhvr>
                                        <p:cTn id="27" dur="1" fill="hold">
                                          <p:stCondLst>
                                            <p:cond delay="0"/>
                                          </p:stCondLst>
                                        </p:cTn>
                                        <p:tgtEl>
                                          <p:spTgt spid="14352"/>
                                        </p:tgtEl>
                                        <p:attrNameLst>
                                          <p:attrName>style.visibility</p:attrName>
                                        </p:attrNameLst>
                                      </p:cBhvr>
                                      <p:to>
                                        <p:strVal val="visible"/>
                                      </p:to>
                                    </p:set>
                                    <p:animEffect transition="in" filter="wipe(up)">
                                      <p:cBhvr>
                                        <p:cTn id="28" dur="500"/>
                                        <p:tgtEl>
                                          <p:spTgt spid="1435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4355"/>
                                        </p:tgtEl>
                                        <p:attrNameLst>
                                          <p:attrName>style.visibility</p:attrName>
                                        </p:attrNameLst>
                                      </p:cBhvr>
                                      <p:to>
                                        <p:strVal val="visible"/>
                                      </p:to>
                                    </p:set>
                                    <p:animEffect transition="in" filter="wipe(left)">
                                      <p:cBhvr>
                                        <p:cTn id="33" dur="500"/>
                                        <p:tgtEl>
                                          <p:spTgt spid="1435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4357">
                                            <p:txEl>
                                              <p:charRg st="0" end="26"/>
                                            </p:txEl>
                                          </p:spTgt>
                                        </p:tgtEl>
                                        <p:attrNameLst>
                                          <p:attrName>style.visibility</p:attrName>
                                        </p:attrNameLst>
                                      </p:cBhvr>
                                      <p:to>
                                        <p:strVal val="visible"/>
                                      </p:to>
                                    </p:set>
                                    <p:animEffect transition="in" filter="wipe(left)">
                                      <p:cBhvr>
                                        <p:cTn id="38" dur="500"/>
                                        <p:tgtEl>
                                          <p:spTgt spid="14357">
                                            <p:txEl>
                                              <p:charRg st="0" end="2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4357">
                                            <p:txEl>
                                              <p:charRg st="26" end="50"/>
                                            </p:txEl>
                                          </p:spTgt>
                                        </p:tgtEl>
                                        <p:attrNameLst>
                                          <p:attrName>style.visibility</p:attrName>
                                        </p:attrNameLst>
                                      </p:cBhvr>
                                      <p:to>
                                        <p:strVal val="visible"/>
                                      </p:to>
                                    </p:set>
                                    <p:animEffect transition="in" filter="wipe(left)">
                                      <p:cBhvr>
                                        <p:cTn id="43" dur="500"/>
                                        <p:tgtEl>
                                          <p:spTgt spid="14357">
                                            <p:txEl>
                                              <p:charRg st="26" end="5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4357">
                                            <p:txEl>
                                              <p:charRg st="50" end="73"/>
                                            </p:txEl>
                                          </p:spTgt>
                                        </p:tgtEl>
                                        <p:attrNameLst>
                                          <p:attrName>style.visibility</p:attrName>
                                        </p:attrNameLst>
                                      </p:cBhvr>
                                      <p:to>
                                        <p:strVal val="visible"/>
                                      </p:to>
                                    </p:set>
                                    <p:animEffect transition="in" filter="wipe(left)">
                                      <p:cBhvr>
                                        <p:cTn id="48" dur="500"/>
                                        <p:tgtEl>
                                          <p:spTgt spid="14357">
                                            <p:txEl>
                                              <p:charRg st="50" end="73"/>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14357">
                                            <p:txEl>
                                              <p:charRg st="73" end="77"/>
                                            </p:txEl>
                                          </p:spTgt>
                                        </p:tgtEl>
                                        <p:attrNameLst>
                                          <p:attrName>style.visibility</p:attrName>
                                        </p:attrNameLst>
                                      </p:cBhvr>
                                      <p:to>
                                        <p:strVal val="visible"/>
                                      </p:to>
                                    </p:set>
                                    <p:animEffect transition="in" filter="wipe(left)">
                                      <p:cBhvr>
                                        <p:cTn id="53" dur="500"/>
                                        <p:tgtEl>
                                          <p:spTgt spid="14357">
                                            <p:txEl>
                                              <p:charRg st="73" end="77"/>
                                            </p:txEl>
                                          </p:spTgt>
                                        </p:tgtEl>
                                      </p:cBhvr>
                                    </p:animEffect>
                                  </p:childTnLst>
                                </p:cTn>
                              </p:par>
                              <p:par>
                                <p:cTn id="54" presetID="22" presetClass="entr" presetSubtype="1" fill="hold" nodeType="withEffect">
                                  <p:stCondLst>
                                    <p:cond delay="0"/>
                                  </p:stCondLst>
                                  <p:childTnLst>
                                    <p:set>
                                      <p:cBhvr>
                                        <p:cTn id="55" dur="1" fill="hold">
                                          <p:stCondLst>
                                            <p:cond delay="0"/>
                                          </p:stCondLst>
                                        </p:cTn>
                                        <p:tgtEl>
                                          <p:spTgt spid="14358"/>
                                        </p:tgtEl>
                                        <p:attrNameLst>
                                          <p:attrName>style.visibility</p:attrName>
                                        </p:attrNameLst>
                                      </p:cBhvr>
                                      <p:to>
                                        <p:strVal val="visible"/>
                                      </p:to>
                                    </p:set>
                                    <p:animEffect transition="in" filter="wipe(up)">
                                      <p:cBhvr>
                                        <p:cTn id="56" dur="500"/>
                                        <p:tgtEl>
                                          <p:spTgt spid="14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uiExpand="1" build="p"/>
      <p:bldP spid="14351" grpId="0"/>
      <p:bldP spid="1435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标题 77825"/>
          <p:cNvSpPr>
            <a:spLocks noGrp="1"/>
          </p:cNvSpPr>
          <p:nvPr>
            <p:ph type="title"/>
          </p:nvPr>
        </p:nvSpPr>
        <p:spPr/>
        <p:txBody>
          <a:bodyPr anchor="ctr"/>
          <a:p>
            <a:r>
              <a:rPr lang="en-US" altLang="zh-CN" sz="2000" dirty="0"/>
              <a:t>7.2 </a:t>
            </a:r>
            <a:r>
              <a:rPr lang="zh-CN" altLang="en-US" sz="2000" dirty="0"/>
              <a:t>灰色系统的模型</a:t>
            </a:r>
            <a:endParaRPr lang="zh-CN" altLang="en-US" sz="2000" dirty="0"/>
          </a:p>
        </p:txBody>
      </p:sp>
      <p:pic>
        <p:nvPicPr>
          <p:cNvPr id="77828" name="图片 77827"/>
          <p:cNvPicPr>
            <a:picLocks noChangeAspect="1"/>
          </p:cNvPicPr>
          <p:nvPr/>
        </p:nvPicPr>
        <p:blipFill>
          <a:blip r:embed="rId1"/>
          <a:stretch>
            <a:fillRect/>
          </a:stretch>
        </p:blipFill>
        <p:spPr>
          <a:xfrm>
            <a:off x="827088" y="1341438"/>
            <a:ext cx="7561262" cy="2932112"/>
          </a:xfrm>
          <a:prstGeom prst="rect">
            <a:avLst/>
          </a:prstGeom>
          <a:noFill/>
          <a:ln w="9525">
            <a:noFill/>
          </a:ln>
        </p:spPr>
      </p:pic>
      <p:sp>
        <p:nvSpPr>
          <p:cNvPr id="77829" name="矩形 77828"/>
          <p:cNvSpPr/>
          <p:nvPr/>
        </p:nvSpPr>
        <p:spPr>
          <a:xfrm>
            <a:off x="6372225" y="4292600"/>
            <a:ext cx="793750" cy="366713"/>
          </a:xfrm>
          <a:prstGeom prst="rect">
            <a:avLst/>
          </a:prstGeom>
          <a:noFill/>
          <a:ln w="9525">
            <a:noFill/>
          </a:ln>
        </p:spPr>
        <p:txBody>
          <a:bodyPr wrap="none" anchor="ctr">
            <a:spAutoFit/>
          </a:bodyPr>
          <a:p>
            <a:r>
              <a:rPr lang="zh-CN" altLang="en-US" dirty="0">
                <a:latin typeface="Arial" panose="020B0604020202020204" pitchFamily="34" charset="0"/>
              </a:rPr>
              <a:t>图</a:t>
            </a:r>
            <a:r>
              <a:rPr lang="en-US" altLang="zh-CN">
                <a:latin typeface="Arial" panose="020B0604020202020204" pitchFamily="34" charset="0"/>
              </a:rPr>
              <a:t>7.2 </a:t>
            </a:r>
            <a:endParaRPr lang="en-US" altLang="zh-CN">
              <a:latin typeface="Arial" panose="020B0604020202020204" pitchFamily="34" charset="0"/>
            </a:endParaRPr>
          </a:p>
        </p:txBody>
      </p:sp>
      <p:sp>
        <p:nvSpPr>
          <p:cNvPr id="77830" name="矩形 77829"/>
          <p:cNvSpPr/>
          <p:nvPr/>
        </p:nvSpPr>
        <p:spPr>
          <a:xfrm>
            <a:off x="2195513" y="4365625"/>
            <a:ext cx="730250" cy="366713"/>
          </a:xfrm>
          <a:prstGeom prst="rect">
            <a:avLst/>
          </a:prstGeom>
          <a:noFill/>
          <a:ln w="9525">
            <a:noFill/>
          </a:ln>
        </p:spPr>
        <p:txBody>
          <a:bodyPr wrap="none" anchor="t">
            <a:spAutoFit/>
          </a:bodyPr>
          <a:p>
            <a:r>
              <a:rPr lang="zh-CN" altLang="en-US" dirty="0">
                <a:latin typeface="Arial" panose="020B0604020202020204" pitchFamily="34" charset="0"/>
              </a:rPr>
              <a:t>图</a:t>
            </a:r>
            <a:r>
              <a:rPr lang="en-US" altLang="zh-CN">
                <a:latin typeface="Arial" panose="020B0604020202020204" pitchFamily="34" charset="0"/>
              </a:rPr>
              <a:t>7.1</a:t>
            </a:r>
            <a:endParaRPr lang="en-US" altLang="zh-CN">
              <a:latin typeface="Arial" panose="020B0604020202020204" pitchFamily="34" charset="0"/>
            </a:endParaRPr>
          </a:p>
        </p:txBody>
      </p:sp>
      <p:sp>
        <p:nvSpPr>
          <p:cNvPr id="77831" name="矩形 77830"/>
          <p:cNvSpPr/>
          <p:nvPr/>
        </p:nvSpPr>
        <p:spPr>
          <a:xfrm>
            <a:off x="323850" y="4594225"/>
            <a:ext cx="8362950" cy="946150"/>
          </a:xfrm>
          <a:prstGeom prst="rect">
            <a:avLst/>
          </a:prstGeom>
          <a:noFill/>
          <a:ln w="9525">
            <a:noFill/>
          </a:ln>
        </p:spPr>
        <p:txBody>
          <a:bodyPr wrap="none" anchor="t">
            <a:spAutoFit/>
          </a:bodyPr>
          <a:p>
            <a:r>
              <a:rPr lang="zh-CN" altLang="en-US" sz="2800" dirty="0">
                <a:latin typeface="Arial" panose="020B0604020202020204" pitchFamily="34" charset="0"/>
                <a:ea typeface="黑体" panose="02010609060101010101" pitchFamily="2" charset="-122"/>
              </a:rPr>
              <a:t>为了把累加数据列还原为原始数列，需进行后减运算</a:t>
            </a:r>
            <a:endParaRPr lang="zh-CN" altLang="en-US" sz="2800" dirty="0">
              <a:latin typeface="Arial" panose="020B0604020202020204" pitchFamily="34" charset="0"/>
              <a:ea typeface="黑体" panose="02010609060101010101" pitchFamily="2" charset="-122"/>
            </a:endParaRPr>
          </a:p>
          <a:p>
            <a:r>
              <a:rPr lang="zh-CN" altLang="en-US" sz="2800" dirty="0">
                <a:latin typeface="Arial" panose="020B0604020202020204" pitchFamily="34" charset="0"/>
                <a:ea typeface="黑体" panose="02010609060101010101" pitchFamily="2" charset="-122"/>
              </a:rPr>
              <a:t>或称相减生成，它是指后前两个数据之差，如上例中</a:t>
            </a:r>
            <a:endParaRPr lang="zh-CN" altLang="en-US" sz="2800" dirty="0">
              <a:latin typeface="Arial" panose="020B0604020202020204" pitchFamily="34" charset="0"/>
              <a:ea typeface="黑体" panose="02010609060101010101" pitchFamily="2" charset="-122"/>
            </a:endParaRPr>
          </a:p>
        </p:txBody>
      </p:sp>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16385"/>
          <p:cNvSpPr>
            <a:spLocks noGrp="1"/>
          </p:cNvSpPr>
          <p:nvPr>
            <p:ph type="title"/>
          </p:nvPr>
        </p:nvSpPr>
        <p:spPr/>
        <p:txBody>
          <a:bodyPr anchor="ctr"/>
          <a:p>
            <a:r>
              <a:rPr lang="en-US" altLang="zh-CN" sz="2000" dirty="0"/>
              <a:t>7.2 </a:t>
            </a:r>
            <a:r>
              <a:rPr lang="zh-CN" altLang="en-US" sz="2000" dirty="0"/>
              <a:t>灰色系统的模型</a:t>
            </a:r>
            <a:endParaRPr lang="zh-CN" altLang="en-US" sz="2000" dirty="0"/>
          </a:p>
        </p:txBody>
      </p:sp>
      <p:graphicFrame>
        <p:nvGraphicFramePr>
          <p:cNvPr id="16400" name="内容占位符 16399"/>
          <p:cNvGraphicFramePr/>
          <p:nvPr>
            <p:ph sz="half" idx="1"/>
          </p:nvPr>
        </p:nvGraphicFramePr>
        <p:xfrm>
          <a:off x="1692275" y="4652963"/>
          <a:ext cx="5543550" cy="569912"/>
        </p:xfrm>
        <a:graphic>
          <a:graphicData uri="http://schemas.openxmlformats.org/presentationml/2006/ole">
            <mc:AlternateContent xmlns:mc="http://schemas.openxmlformats.org/markup-compatibility/2006">
              <mc:Choice xmlns:v="urn:schemas-microsoft-com:vml" Requires="v">
                <p:oleObj spid="_x0000_s3088" name="" r:id="rId1" imgW="2222500" imgH="228600" progId="Equation.3">
                  <p:embed/>
                </p:oleObj>
              </mc:Choice>
              <mc:Fallback>
                <p:oleObj name="" r:id="rId1" imgW="2222500" imgH="228600" progId="Equation.3">
                  <p:embed/>
                  <p:pic>
                    <p:nvPicPr>
                      <p:cNvPr id="0" name="图片 3087"/>
                      <p:cNvPicPr/>
                      <p:nvPr/>
                    </p:nvPicPr>
                    <p:blipFill>
                      <a:blip r:embed="rId2"/>
                      <a:stretch>
                        <a:fillRect/>
                      </a:stretch>
                    </p:blipFill>
                    <p:spPr>
                      <a:xfrm>
                        <a:off x="1692275" y="4652963"/>
                        <a:ext cx="5543550" cy="569912"/>
                      </a:xfrm>
                      <a:prstGeom prst="rect">
                        <a:avLst/>
                      </a:prstGeom>
                      <a:solidFill>
                        <a:srgbClr val="FFFF00"/>
                      </a:solidFill>
                      <a:ln w="38100">
                        <a:miter/>
                      </a:ln>
                    </p:spPr>
                  </p:pic>
                </p:oleObj>
              </mc:Fallback>
            </mc:AlternateContent>
          </a:graphicData>
        </a:graphic>
      </p:graphicFrame>
      <p:sp>
        <p:nvSpPr>
          <p:cNvPr id="16389" name="矩形 16388"/>
          <p:cNvSpPr/>
          <p:nvPr/>
        </p:nvSpPr>
        <p:spPr>
          <a:xfrm>
            <a:off x="0" y="3314700"/>
            <a:ext cx="9144000" cy="0"/>
          </a:xfrm>
          <a:prstGeom prst="rect">
            <a:avLst/>
          </a:prstGeom>
          <a:noFill/>
          <a:ln w="9525">
            <a:noFill/>
          </a:ln>
        </p:spPr>
        <p:txBody>
          <a:bodyPr/>
          <a:p>
            <a:endParaRPr lang="zh-CN" altLang="en-US"/>
          </a:p>
        </p:txBody>
      </p:sp>
      <p:graphicFrame>
        <p:nvGraphicFramePr>
          <p:cNvPr id="16388" name="对象 16387"/>
          <p:cNvGraphicFramePr/>
          <p:nvPr/>
        </p:nvGraphicFramePr>
        <p:xfrm>
          <a:off x="1692275" y="1196975"/>
          <a:ext cx="5905500" cy="2932113"/>
        </p:xfrm>
        <a:graphic>
          <a:graphicData uri="http://schemas.openxmlformats.org/presentationml/2006/ole">
            <mc:AlternateContent xmlns:mc="http://schemas.openxmlformats.org/markup-compatibility/2006">
              <mc:Choice xmlns:v="urn:schemas-microsoft-com:vml" Requires="v">
                <p:oleObj spid="_x0000_s3087" name="" r:id="rId3" imgW="2451100" imgH="1219200" progId="Equation.DSMT4">
                  <p:embed/>
                </p:oleObj>
              </mc:Choice>
              <mc:Fallback>
                <p:oleObj name="" r:id="rId3" imgW="2451100" imgH="1219200" progId="Equation.DSMT4">
                  <p:embed/>
                  <p:pic>
                    <p:nvPicPr>
                      <p:cNvPr id="0" name="图片 3086"/>
                      <p:cNvPicPr/>
                      <p:nvPr/>
                    </p:nvPicPr>
                    <p:blipFill>
                      <a:blip r:embed="rId4"/>
                      <a:stretch>
                        <a:fillRect/>
                      </a:stretch>
                    </p:blipFill>
                    <p:spPr>
                      <a:xfrm>
                        <a:off x="1692275" y="1196975"/>
                        <a:ext cx="5905500" cy="2932113"/>
                      </a:xfrm>
                      <a:prstGeom prst="rect">
                        <a:avLst/>
                      </a:prstGeom>
                      <a:noFill/>
                      <a:ln w="38100">
                        <a:noFill/>
                        <a:miter/>
                      </a:ln>
                    </p:spPr>
                  </p:pic>
                </p:oleObj>
              </mc:Fallback>
            </mc:AlternateContent>
          </a:graphicData>
        </a:graphic>
      </p:graphicFrame>
      <p:sp>
        <p:nvSpPr>
          <p:cNvPr id="16391" name="矩形 16390"/>
          <p:cNvSpPr/>
          <p:nvPr/>
        </p:nvSpPr>
        <p:spPr>
          <a:xfrm>
            <a:off x="0" y="3314700"/>
            <a:ext cx="9144000" cy="0"/>
          </a:xfrm>
          <a:prstGeom prst="rect">
            <a:avLst/>
          </a:prstGeom>
          <a:noFill/>
          <a:ln w="9525">
            <a:noFill/>
          </a:ln>
        </p:spPr>
        <p:txBody>
          <a:bodyPr/>
          <a:p>
            <a:endParaRPr lang="zh-CN" altLang="en-US"/>
          </a:p>
        </p:txBody>
      </p:sp>
      <p:sp>
        <p:nvSpPr>
          <p:cNvPr id="16393" name="矩形 16392"/>
          <p:cNvSpPr/>
          <p:nvPr/>
        </p:nvSpPr>
        <p:spPr>
          <a:xfrm>
            <a:off x="0" y="3314700"/>
            <a:ext cx="9144000" cy="0"/>
          </a:xfrm>
          <a:prstGeom prst="rect">
            <a:avLst/>
          </a:prstGeom>
          <a:noFill/>
          <a:ln w="9525">
            <a:noFill/>
          </a:ln>
        </p:spPr>
        <p:txBody>
          <a:bodyPr/>
          <a:p>
            <a:endParaRPr lang="zh-CN" altLang="en-US"/>
          </a:p>
        </p:txBody>
      </p:sp>
      <p:sp>
        <p:nvSpPr>
          <p:cNvPr id="16395" name="矩形 16394"/>
          <p:cNvSpPr/>
          <p:nvPr/>
        </p:nvSpPr>
        <p:spPr>
          <a:xfrm>
            <a:off x="3563938" y="4005263"/>
            <a:ext cx="9144000" cy="0"/>
          </a:xfrm>
          <a:prstGeom prst="rect">
            <a:avLst/>
          </a:prstGeom>
          <a:noFill/>
          <a:ln w="9525">
            <a:noFill/>
          </a:ln>
        </p:spPr>
        <p:txBody>
          <a:bodyPr/>
          <a:p>
            <a:endParaRPr lang="zh-CN" altLang="en-US"/>
          </a:p>
        </p:txBody>
      </p:sp>
      <p:sp>
        <p:nvSpPr>
          <p:cNvPr id="16399" name="矩形 16398"/>
          <p:cNvSpPr/>
          <p:nvPr/>
        </p:nvSpPr>
        <p:spPr>
          <a:xfrm>
            <a:off x="395288" y="4103688"/>
            <a:ext cx="6584950" cy="476250"/>
          </a:xfrm>
          <a:prstGeom prst="rect">
            <a:avLst/>
          </a:prstGeom>
          <a:noFill/>
          <a:ln w="9525">
            <a:noFill/>
          </a:ln>
        </p:spPr>
        <p:txBody>
          <a:bodyPr wrap="none" anchor="t">
            <a:spAutoFit/>
          </a:bodyPr>
          <a:p>
            <a:pPr>
              <a:lnSpc>
                <a:spcPct val="90000"/>
              </a:lnSpc>
              <a:spcBef>
                <a:spcPct val="20000"/>
              </a:spcBef>
              <a:buClr>
                <a:schemeClr val="tx1"/>
              </a:buClr>
            </a:pPr>
            <a:r>
              <a:rPr lang="zh-CN" altLang="en-US" sz="2800" dirty="0">
                <a:latin typeface="Arial" panose="020B0604020202020204" pitchFamily="34" charset="0"/>
                <a:ea typeface="黑体" panose="02010609060101010101" pitchFamily="2" charset="-122"/>
              </a:rPr>
              <a:t>归纳上面的式子得到如下结果：一次后减</a:t>
            </a:r>
            <a:endParaRPr lang="zh-CN" altLang="en-US" sz="2800" dirty="0">
              <a:latin typeface="Arial" panose="020B0604020202020204" pitchFamily="34" charset="0"/>
              <a:ea typeface="黑体" panose="02010609060101010101" pitchFamily="2" charset="-122"/>
            </a:endParaRPr>
          </a:p>
        </p:txBody>
      </p:sp>
      <p:sp>
        <p:nvSpPr>
          <p:cNvPr id="16402" name="矩形 16401"/>
          <p:cNvSpPr/>
          <p:nvPr/>
        </p:nvSpPr>
        <p:spPr>
          <a:xfrm>
            <a:off x="395288" y="5373688"/>
            <a:ext cx="1079500" cy="519112"/>
          </a:xfrm>
          <a:prstGeom prst="rect">
            <a:avLst/>
          </a:prstGeom>
          <a:noFill/>
          <a:ln w="9525">
            <a:noFill/>
          </a:ln>
        </p:spPr>
        <p:txBody>
          <a:bodyPr anchor="ctr">
            <a:spAutoFit/>
          </a:bodyPr>
          <a:p>
            <a:r>
              <a:rPr lang="zh-CN" altLang="en-US" sz="2800" dirty="0">
                <a:latin typeface="黑体" panose="02010609060101010101" pitchFamily="2" charset="-122"/>
                <a:ea typeface="黑体" panose="02010609060101010101" pitchFamily="2" charset="-122"/>
              </a:rPr>
              <a:t>其中</a:t>
            </a:r>
            <a:endParaRPr lang="zh-CN" altLang="en-US" sz="2800" dirty="0">
              <a:latin typeface="黑体" panose="02010609060101010101" pitchFamily="2" charset="-122"/>
              <a:ea typeface="黑体" panose="02010609060101010101" pitchFamily="2" charset="-122"/>
            </a:endParaRPr>
          </a:p>
        </p:txBody>
      </p:sp>
      <p:graphicFrame>
        <p:nvGraphicFramePr>
          <p:cNvPr id="16403" name="内容占位符 16402"/>
          <p:cNvGraphicFramePr/>
          <p:nvPr>
            <p:ph sz="half" idx="2"/>
          </p:nvPr>
        </p:nvGraphicFramePr>
        <p:xfrm>
          <a:off x="2268538" y="5661025"/>
          <a:ext cx="4103687" cy="611188"/>
        </p:xfrm>
        <a:graphic>
          <a:graphicData uri="http://schemas.openxmlformats.org/presentationml/2006/ole">
            <mc:AlternateContent xmlns:mc="http://schemas.openxmlformats.org/markup-compatibility/2006">
              <mc:Choice xmlns:v="urn:schemas-microsoft-com:vml" Requires="v">
                <p:oleObj spid="_x0000_s3083" name="" r:id="rId5" imgW="1536700" imgH="228600" progId="Equation.DSMT4">
                  <p:embed/>
                </p:oleObj>
              </mc:Choice>
              <mc:Fallback>
                <p:oleObj name="" r:id="rId5" imgW="1536700" imgH="228600" progId="Equation.DSMT4">
                  <p:embed/>
                  <p:pic>
                    <p:nvPicPr>
                      <p:cNvPr id="0" name="图片 3082"/>
                      <p:cNvPicPr/>
                      <p:nvPr/>
                    </p:nvPicPr>
                    <p:blipFill>
                      <a:blip r:embed="rId6"/>
                      <a:stretch>
                        <a:fillRect/>
                      </a:stretch>
                    </p:blipFill>
                    <p:spPr>
                      <a:xfrm>
                        <a:off x="2268538" y="5661025"/>
                        <a:ext cx="4103687" cy="611188"/>
                      </a:xfrm>
                      <a:prstGeom prst="rect">
                        <a:avLst/>
                      </a:prstGeom>
                      <a:noFill/>
                      <a:ln w="38100">
                        <a:miter/>
                      </a:ln>
                    </p:spPr>
                  </p:pic>
                </p:oleObj>
              </mc:Fallback>
            </mc:AlternateContent>
          </a:graphicData>
        </a:graphic>
      </p:graphicFrame>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6388"/>
                                        </p:tgtEl>
                                        <p:attrNameLst>
                                          <p:attrName>style.visibility</p:attrName>
                                        </p:attrNameLst>
                                      </p:cBhvr>
                                      <p:to>
                                        <p:strVal val="visible"/>
                                      </p:to>
                                    </p:set>
                                    <p:anim calcmode="lin" valueType="num">
                                      <p:cBhvr>
                                        <p:cTn id="7" dur="1000" fill="hold"/>
                                        <p:tgtEl>
                                          <p:spTgt spid="16388"/>
                                        </p:tgtEl>
                                        <p:attrNameLst>
                                          <p:attrName>ppt_w</p:attrName>
                                        </p:attrNameLst>
                                      </p:cBhvr>
                                      <p:tavLst>
                                        <p:tav tm="0">
                                          <p:val>
                                            <p:strVal val="#ppt_w*0.70"/>
                                          </p:val>
                                        </p:tav>
                                        <p:tav tm="100000">
                                          <p:val>
                                            <p:strVal val="#ppt_w"/>
                                          </p:val>
                                        </p:tav>
                                      </p:tavLst>
                                    </p:anim>
                                    <p:anim calcmode="lin" valueType="num">
                                      <p:cBhvr>
                                        <p:cTn id="8" dur="1000" fill="hold"/>
                                        <p:tgtEl>
                                          <p:spTgt spid="16388"/>
                                        </p:tgtEl>
                                        <p:attrNameLst>
                                          <p:attrName>ppt_h</p:attrName>
                                        </p:attrNameLst>
                                      </p:cBhvr>
                                      <p:tavLst>
                                        <p:tav tm="0">
                                          <p:val>
                                            <p:strVal val="#ppt_h"/>
                                          </p:val>
                                        </p:tav>
                                        <p:tav tm="100000">
                                          <p:val>
                                            <p:strVal val="#ppt_h"/>
                                          </p:val>
                                        </p:tav>
                                      </p:tavLst>
                                    </p:anim>
                                    <p:animEffect transition="in" filter="fade">
                                      <p:cBhvr>
                                        <p:cTn id="9" dur="1000"/>
                                        <p:tgtEl>
                                          <p:spTgt spid="16388"/>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16399"/>
                                        </p:tgtEl>
                                        <p:attrNameLst>
                                          <p:attrName>style.visibility</p:attrName>
                                        </p:attrNameLst>
                                      </p:cBhvr>
                                      <p:to>
                                        <p:strVal val="visible"/>
                                      </p:to>
                                    </p:set>
                                    <p:animEffect transition="in" filter="wipe(left)">
                                      <p:cBhvr>
                                        <p:cTn id="14" dur="500"/>
                                        <p:tgtEl>
                                          <p:spTgt spid="1639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6400"/>
                                        </p:tgtEl>
                                        <p:attrNameLst>
                                          <p:attrName>style.visibility</p:attrName>
                                        </p:attrNameLst>
                                      </p:cBhvr>
                                      <p:to>
                                        <p:strVal val="visible"/>
                                      </p:to>
                                    </p:set>
                                    <p:animEffect transition="in" filter="fade">
                                      <p:cBhvr>
                                        <p:cTn id="19" dur="1000"/>
                                        <p:tgtEl>
                                          <p:spTgt spid="1640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402"/>
                                        </p:tgtEl>
                                        <p:attrNameLst>
                                          <p:attrName>style.visibility</p:attrName>
                                        </p:attrNameLst>
                                      </p:cBhvr>
                                      <p:to>
                                        <p:strVal val="visible"/>
                                      </p:to>
                                    </p:set>
                                    <p:animEffect transition="in" filter="fade">
                                      <p:cBhvr>
                                        <p:cTn id="22" dur="1000"/>
                                        <p:tgtEl>
                                          <p:spTgt spid="16402"/>
                                        </p:tgtEl>
                                      </p:cBhvr>
                                    </p:animEffect>
                                  </p:childTnLst>
                                </p:cTn>
                              </p:par>
                              <p:par>
                                <p:cTn id="23" presetID="10" presetClass="entr" presetSubtype="0" fill="hold" nodeType="withEffect">
                                  <p:stCondLst>
                                    <p:cond delay="0"/>
                                  </p:stCondLst>
                                  <p:childTnLst>
                                    <p:set>
                                      <p:cBhvr>
                                        <p:cTn id="24" dur="1" fill="hold">
                                          <p:stCondLst>
                                            <p:cond delay="0"/>
                                          </p:stCondLst>
                                        </p:cTn>
                                        <p:tgtEl>
                                          <p:spTgt spid="16403"/>
                                        </p:tgtEl>
                                        <p:attrNameLst>
                                          <p:attrName>style.visibility</p:attrName>
                                        </p:attrNameLst>
                                      </p:cBhvr>
                                      <p:to>
                                        <p:strVal val="visible"/>
                                      </p:to>
                                    </p:set>
                                    <p:animEffect transition="in" filter="fade">
                                      <p:cBhvr>
                                        <p:cTn id="25" dur="1000"/>
                                        <p:tgtEl>
                                          <p:spTgt spid="164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9" grpId="0"/>
      <p:bldP spid="1640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标题 18433"/>
          <p:cNvSpPr>
            <a:spLocks noGrp="1"/>
          </p:cNvSpPr>
          <p:nvPr>
            <p:ph type="title"/>
          </p:nvPr>
        </p:nvSpPr>
        <p:spPr/>
        <p:txBody>
          <a:bodyPr anchor="ctr"/>
          <a:p>
            <a:r>
              <a:rPr lang="en-US" altLang="zh-CN" sz="2000" dirty="0"/>
              <a:t>7.2 </a:t>
            </a:r>
            <a:r>
              <a:rPr lang="zh-CN" altLang="en-US" sz="2000" dirty="0"/>
              <a:t>灰色系统的模型</a:t>
            </a:r>
            <a:endParaRPr lang="zh-CN" altLang="en-US" sz="2000" dirty="0"/>
          </a:p>
        </p:txBody>
      </p:sp>
      <p:sp>
        <p:nvSpPr>
          <p:cNvPr id="18435" name="文本占位符 18434"/>
          <p:cNvSpPr>
            <a:spLocks noGrp="1"/>
          </p:cNvSpPr>
          <p:nvPr>
            <p:ph type="body" sz="half" idx="1"/>
          </p:nvPr>
        </p:nvSpPr>
        <p:spPr>
          <a:xfrm>
            <a:off x="457200" y="1196975"/>
            <a:ext cx="8218488" cy="5184775"/>
          </a:xfrm>
        </p:spPr>
        <p:txBody>
          <a:bodyPr/>
          <a:p>
            <a:pPr>
              <a:buNone/>
            </a:pPr>
            <a:r>
              <a:rPr lang="en-US" altLang="zh-CN" sz="2800" b="0" dirty="0">
                <a:solidFill>
                  <a:schemeClr val="hlink"/>
                </a:solidFill>
                <a:latin typeface="黑体" panose="02010609060101010101" pitchFamily="2" charset="-122"/>
              </a:rPr>
              <a:t>2. </a:t>
            </a:r>
            <a:r>
              <a:rPr lang="zh-CN" altLang="en-US" sz="2800" b="0" dirty="0">
                <a:solidFill>
                  <a:schemeClr val="hlink"/>
                </a:solidFill>
                <a:latin typeface="黑体" panose="02010609060101010101" pitchFamily="2" charset="-122"/>
              </a:rPr>
              <a:t>建模原理</a:t>
            </a:r>
            <a:endParaRPr lang="zh-CN" altLang="en-US" sz="2800" b="0" dirty="0">
              <a:solidFill>
                <a:schemeClr val="hlink"/>
              </a:solidFill>
              <a:latin typeface="黑体" panose="02010609060101010101" pitchFamily="2" charset="-122"/>
            </a:endParaRPr>
          </a:p>
          <a:p>
            <a:pPr>
              <a:buNone/>
            </a:pPr>
            <a:r>
              <a:rPr lang="zh-CN" altLang="en-US" sz="2800" b="0" dirty="0">
                <a:latin typeface="黑体" panose="02010609060101010101" pitchFamily="2" charset="-122"/>
              </a:rPr>
              <a:t>给定观测数据列</a:t>
            </a:r>
            <a:endParaRPr lang="zh-CN" altLang="en-US" sz="2800" b="0" dirty="0">
              <a:latin typeface="黑体" panose="02010609060101010101" pitchFamily="2" charset="-122"/>
            </a:endParaRPr>
          </a:p>
          <a:p>
            <a:endParaRPr lang="zh-CN" altLang="en-US" sz="2800" b="0" dirty="0">
              <a:latin typeface="黑体" panose="02010609060101010101" pitchFamily="2" charset="-122"/>
            </a:endParaRPr>
          </a:p>
          <a:p>
            <a:r>
              <a:rPr lang="zh-CN" altLang="en-US" sz="2800" b="0" dirty="0">
                <a:latin typeface="黑体" panose="02010609060101010101" pitchFamily="2" charset="-122"/>
              </a:rPr>
              <a:t>经一次累加得</a:t>
            </a:r>
            <a:endParaRPr lang="zh-CN" altLang="en-US" sz="2800" b="0" dirty="0">
              <a:latin typeface="黑体" panose="02010609060101010101" pitchFamily="2" charset="-122"/>
            </a:endParaRPr>
          </a:p>
        </p:txBody>
      </p:sp>
      <p:graphicFrame>
        <p:nvGraphicFramePr>
          <p:cNvPr id="18442" name="内容占位符 18441"/>
          <p:cNvGraphicFramePr/>
          <p:nvPr>
            <p:ph sz="quarter" idx="2"/>
          </p:nvPr>
        </p:nvGraphicFramePr>
        <p:xfrm>
          <a:off x="1476375" y="4508500"/>
          <a:ext cx="2808288" cy="1077913"/>
        </p:xfrm>
        <a:graphic>
          <a:graphicData uri="http://schemas.openxmlformats.org/presentationml/2006/ole">
            <mc:AlternateContent xmlns:mc="http://schemas.openxmlformats.org/markup-compatibility/2006">
              <mc:Choice xmlns:v="urn:schemas-microsoft-com:vml" Requires="v">
                <p:oleObj spid="_x0000_s3084" name="" r:id="rId1" imgW="1091565" imgH="419100" progId="Equation.DSMT4">
                  <p:embed/>
                </p:oleObj>
              </mc:Choice>
              <mc:Fallback>
                <p:oleObj name="" r:id="rId1" imgW="1091565" imgH="419100" progId="Equation.DSMT4">
                  <p:embed/>
                  <p:pic>
                    <p:nvPicPr>
                      <p:cNvPr id="0" name="图片 3083"/>
                      <p:cNvPicPr/>
                      <p:nvPr/>
                    </p:nvPicPr>
                    <p:blipFill>
                      <a:blip r:embed="rId2"/>
                      <a:stretch>
                        <a:fillRect/>
                      </a:stretch>
                    </p:blipFill>
                    <p:spPr>
                      <a:xfrm>
                        <a:off x="1476375" y="4508500"/>
                        <a:ext cx="2808288" cy="1077913"/>
                      </a:xfrm>
                      <a:prstGeom prst="rect">
                        <a:avLst/>
                      </a:prstGeom>
                      <a:noFill/>
                      <a:ln w="38100">
                        <a:miter/>
                      </a:ln>
                    </p:spPr>
                  </p:pic>
                </p:oleObj>
              </mc:Fallback>
            </mc:AlternateContent>
          </a:graphicData>
        </a:graphic>
      </p:graphicFrame>
      <p:sp>
        <p:nvSpPr>
          <p:cNvPr id="18437" name="矩形 18436"/>
          <p:cNvSpPr/>
          <p:nvPr/>
        </p:nvSpPr>
        <p:spPr>
          <a:xfrm>
            <a:off x="0" y="3314700"/>
            <a:ext cx="9144000" cy="0"/>
          </a:xfrm>
          <a:prstGeom prst="rect">
            <a:avLst/>
          </a:prstGeom>
          <a:noFill/>
          <a:ln w="9525">
            <a:noFill/>
          </a:ln>
        </p:spPr>
        <p:txBody>
          <a:bodyPr/>
          <a:p>
            <a:endParaRPr lang="zh-CN" altLang="en-US"/>
          </a:p>
        </p:txBody>
      </p:sp>
      <p:graphicFrame>
        <p:nvGraphicFramePr>
          <p:cNvPr id="18436" name="对象 18435"/>
          <p:cNvGraphicFramePr/>
          <p:nvPr/>
        </p:nvGraphicFramePr>
        <p:xfrm>
          <a:off x="755650" y="2205038"/>
          <a:ext cx="5545138" cy="596900"/>
        </p:xfrm>
        <a:graphic>
          <a:graphicData uri="http://schemas.openxmlformats.org/presentationml/2006/ole">
            <mc:AlternateContent xmlns:mc="http://schemas.openxmlformats.org/markup-compatibility/2006">
              <mc:Choice xmlns:v="urn:schemas-microsoft-com:vml" Requires="v">
                <p:oleObj spid="_x0000_s3085" name="" r:id="rId3" imgW="2120900" imgH="228600" progId="Equation.3">
                  <p:embed/>
                </p:oleObj>
              </mc:Choice>
              <mc:Fallback>
                <p:oleObj name="" r:id="rId3" imgW="2120900" imgH="228600" progId="Equation.3">
                  <p:embed/>
                  <p:pic>
                    <p:nvPicPr>
                      <p:cNvPr id="0" name="图片 3084"/>
                      <p:cNvPicPr/>
                      <p:nvPr/>
                    </p:nvPicPr>
                    <p:blipFill>
                      <a:blip r:embed="rId4"/>
                      <a:stretch>
                        <a:fillRect/>
                      </a:stretch>
                    </p:blipFill>
                    <p:spPr>
                      <a:xfrm>
                        <a:off x="755650" y="2205038"/>
                        <a:ext cx="5545138" cy="596900"/>
                      </a:xfrm>
                      <a:prstGeom prst="rect">
                        <a:avLst/>
                      </a:prstGeom>
                      <a:solidFill>
                        <a:srgbClr val="FFFF00"/>
                      </a:solidFill>
                      <a:ln w="38100">
                        <a:noFill/>
                        <a:miter/>
                      </a:ln>
                    </p:spPr>
                  </p:pic>
                </p:oleObj>
              </mc:Fallback>
            </mc:AlternateContent>
          </a:graphicData>
        </a:graphic>
      </p:graphicFrame>
      <p:sp>
        <p:nvSpPr>
          <p:cNvPr id="18440" name="矩形 18439"/>
          <p:cNvSpPr/>
          <p:nvPr/>
        </p:nvSpPr>
        <p:spPr>
          <a:xfrm>
            <a:off x="0" y="3314700"/>
            <a:ext cx="9144000" cy="0"/>
          </a:xfrm>
          <a:prstGeom prst="rect">
            <a:avLst/>
          </a:prstGeom>
          <a:noFill/>
          <a:ln w="9525">
            <a:noFill/>
          </a:ln>
        </p:spPr>
        <p:txBody>
          <a:bodyPr/>
          <a:p>
            <a:endParaRPr lang="zh-CN" altLang="en-US"/>
          </a:p>
        </p:txBody>
      </p:sp>
      <p:graphicFrame>
        <p:nvGraphicFramePr>
          <p:cNvPr id="18439" name="对象 18438"/>
          <p:cNvGraphicFramePr/>
          <p:nvPr/>
        </p:nvGraphicFramePr>
        <p:xfrm>
          <a:off x="755650" y="3284538"/>
          <a:ext cx="5545138" cy="604837"/>
        </p:xfrm>
        <a:graphic>
          <a:graphicData uri="http://schemas.openxmlformats.org/presentationml/2006/ole">
            <mc:AlternateContent xmlns:mc="http://schemas.openxmlformats.org/markup-compatibility/2006">
              <mc:Choice xmlns:v="urn:schemas-microsoft-com:vml" Requires="v">
                <p:oleObj spid="_x0000_s3089" name="" r:id="rId5" imgW="2095500" imgH="228600" progId="Equation.DSMT4">
                  <p:embed/>
                </p:oleObj>
              </mc:Choice>
              <mc:Fallback>
                <p:oleObj name="" r:id="rId5" imgW="2095500" imgH="228600" progId="Equation.DSMT4">
                  <p:embed/>
                  <p:pic>
                    <p:nvPicPr>
                      <p:cNvPr id="0" name="图片 3088"/>
                      <p:cNvPicPr/>
                      <p:nvPr/>
                    </p:nvPicPr>
                    <p:blipFill>
                      <a:blip r:embed="rId6"/>
                      <a:stretch>
                        <a:fillRect/>
                      </a:stretch>
                    </p:blipFill>
                    <p:spPr>
                      <a:xfrm>
                        <a:off x="755650" y="3284538"/>
                        <a:ext cx="5545138" cy="604837"/>
                      </a:xfrm>
                      <a:prstGeom prst="rect">
                        <a:avLst/>
                      </a:prstGeom>
                      <a:solidFill>
                        <a:srgbClr val="FFFF00"/>
                      </a:solidFill>
                      <a:ln w="38100">
                        <a:noFill/>
                        <a:miter/>
                      </a:ln>
                    </p:spPr>
                  </p:pic>
                </p:oleObj>
              </mc:Fallback>
            </mc:AlternateContent>
          </a:graphicData>
        </a:graphic>
      </p:graphicFrame>
      <p:sp>
        <p:nvSpPr>
          <p:cNvPr id="18441" name="矩形 18440"/>
          <p:cNvSpPr/>
          <p:nvPr/>
        </p:nvSpPr>
        <p:spPr>
          <a:xfrm>
            <a:off x="468313" y="3932238"/>
            <a:ext cx="4272280" cy="521970"/>
          </a:xfrm>
          <a:prstGeom prst="rect">
            <a:avLst/>
          </a:prstGeom>
          <a:noFill/>
          <a:ln w="9525">
            <a:noFill/>
          </a:ln>
        </p:spPr>
        <p:txBody>
          <a:bodyPr wrap="none" anchor="t">
            <a:spAutoFit/>
          </a:bodyPr>
          <a:p>
            <a:r>
              <a:rPr lang="zh-CN" altLang="en-US" sz="2800" dirty="0">
                <a:latin typeface="黑体" panose="02010609060101010101" pitchFamily="2" charset="-122"/>
                <a:ea typeface="黑体" panose="02010609060101010101" pitchFamily="2" charset="-122"/>
              </a:rPr>
              <a:t>设      满足一阶常微分方程</a:t>
            </a:r>
            <a:endParaRPr lang="zh-CN" altLang="en-US" sz="2800" dirty="0">
              <a:latin typeface="黑体" panose="02010609060101010101" pitchFamily="2" charset="-122"/>
              <a:ea typeface="黑体" panose="02010609060101010101" pitchFamily="2" charset="-122"/>
            </a:endParaRPr>
          </a:p>
        </p:txBody>
      </p:sp>
      <p:graphicFrame>
        <p:nvGraphicFramePr>
          <p:cNvPr id="18446" name="内容占位符 18445"/>
          <p:cNvGraphicFramePr/>
          <p:nvPr>
            <p:ph sz="quarter" idx="3"/>
          </p:nvPr>
        </p:nvGraphicFramePr>
        <p:xfrm>
          <a:off x="971550" y="3968433"/>
          <a:ext cx="504825" cy="449262"/>
        </p:xfrm>
        <a:graphic>
          <a:graphicData uri="http://schemas.openxmlformats.org/presentationml/2006/ole">
            <mc:AlternateContent xmlns:mc="http://schemas.openxmlformats.org/markup-compatibility/2006">
              <mc:Choice xmlns:v="urn:schemas-microsoft-com:vml" Requires="v">
                <p:oleObj spid="_x0000_s3086" name="" r:id="rId7" imgW="228600" imgH="203200" progId="Equation.DSMT4">
                  <p:embed/>
                </p:oleObj>
              </mc:Choice>
              <mc:Fallback>
                <p:oleObj name="" r:id="rId7" imgW="228600" imgH="203200" progId="Equation.DSMT4">
                  <p:embed/>
                  <p:pic>
                    <p:nvPicPr>
                      <p:cNvPr id="0" name="图片 3085"/>
                      <p:cNvPicPr/>
                      <p:nvPr/>
                    </p:nvPicPr>
                    <p:blipFill>
                      <a:blip r:embed="rId8"/>
                      <a:stretch>
                        <a:fillRect/>
                      </a:stretch>
                    </p:blipFill>
                    <p:spPr>
                      <a:xfrm>
                        <a:off x="971550" y="3968433"/>
                        <a:ext cx="504825" cy="449262"/>
                      </a:xfrm>
                      <a:prstGeom prst="rect">
                        <a:avLst/>
                      </a:prstGeom>
                      <a:noFill/>
                      <a:ln w="38100">
                        <a:miter/>
                      </a:ln>
                    </p:spPr>
                  </p:pic>
                </p:oleObj>
              </mc:Fallback>
            </mc:AlternateContent>
          </a:graphicData>
        </a:graphic>
      </p:graphicFrame>
      <p:sp>
        <p:nvSpPr>
          <p:cNvPr id="18450" name="矩形 18449"/>
          <p:cNvSpPr/>
          <p:nvPr/>
        </p:nvSpPr>
        <p:spPr>
          <a:xfrm>
            <a:off x="7380288" y="2232025"/>
            <a:ext cx="1281112" cy="457200"/>
          </a:xfrm>
          <a:prstGeom prst="rect">
            <a:avLst/>
          </a:prstGeom>
          <a:noFill/>
          <a:ln w="9525">
            <a:noFill/>
          </a:ln>
        </p:spPr>
        <p:txBody>
          <a:bodyPr wrap="none" anchor="ctr">
            <a:spAutoFit/>
          </a:bodyPr>
          <a:p>
            <a:r>
              <a:rPr lang="zh-CN" altLang="en-US" sz="2400" dirty="0">
                <a:latin typeface="Arial" panose="020B0604020202020204" pitchFamily="34" charset="0"/>
              </a:rPr>
              <a:t>（</a:t>
            </a:r>
            <a:r>
              <a:rPr lang="en-US" altLang="zh-CN" sz="2400" dirty="0">
                <a:latin typeface="Arial" panose="020B0604020202020204" pitchFamily="34" charset="0"/>
              </a:rPr>
              <a:t>7.1</a:t>
            </a:r>
            <a:r>
              <a:rPr lang="zh-CN" altLang="en-US" sz="2400" dirty="0">
                <a:latin typeface="Arial" panose="020B0604020202020204" pitchFamily="34" charset="0"/>
              </a:rPr>
              <a:t>）</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18451" name="矩形 18450"/>
          <p:cNvSpPr/>
          <p:nvPr/>
        </p:nvSpPr>
        <p:spPr>
          <a:xfrm>
            <a:off x="7380288" y="3357563"/>
            <a:ext cx="1281112" cy="457200"/>
          </a:xfrm>
          <a:prstGeom prst="rect">
            <a:avLst/>
          </a:prstGeom>
          <a:noFill/>
          <a:ln w="9525">
            <a:noFill/>
          </a:ln>
        </p:spPr>
        <p:txBody>
          <a:bodyPr wrap="none" anchor="ctr">
            <a:spAutoFit/>
          </a:bodyPr>
          <a:p>
            <a:r>
              <a:rPr lang="zh-CN" altLang="en-US" sz="2400" dirty="0">
                <a:latin typeface="Arial" panose="020B0604020202020204" pitchFamily="34" charset="0"/>
              </a:rPr>
              <a:t>（</a:t>
            </a:r>
            <a:r>
              <a:rPr lang="en-US" altLang="zh-CN" sz="2400" dirty="0">
                <a:latin typeface="Arial" panose="020B0604020202020204" pitchFamily="34" charset="0"/>
              </a:rPr>
              <a:t>7.2</a:t>
            </a:r>
            <a:r>
              <a:rPr lang="zh-CN" altLang="en-US" sz="2400" dirty="0">
                <a:latin typeface="Arial" panose="020B0604020202020204" pitchFamily="34" charset="0"/>
              </a:rPr>
              <a:t>）</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18452" name="矩形 18451"/>
          <p:cNvSpPr/>
          <p:nvPr/>
        </p:nvSpPr>
        <p:spPr>
          <a:xfrm>
            <a:off x="7451725" y="4797425"/>
            <a:ext cx="1281113" cy="457200"/>
          </a:xfrm>
          <a:prstGeom prst="rect">
            <a:avLst/>
          </a:prstGeom>
          <a:noFill/>
          <a:ln w="9525">
            <a:noFill/>
          </a:ln>
        </p:spPr>
        <p:txBody>
          <a:bodyPr wrap="none" anchor="ctr">
            <a:spAutoFit/>
          </a:bodyPr>
          <a:p>
            <a:r>
              <a:rPr lang="zh-CN" altLang="en-US" sz="2400" dirty="0">
                <a:latin typeface="Arial" panose="020B0604020202020204" pitchFamily="34" charset="0"/>
              </a:rPr>
              <a:t>（</a:t>
            </a:r>
            <a:r>
              <a:rPr lang="en-US" altLang="zh-CN" sz="2400" dirty="0">
                <a:latin typeface="Arial" panose="020B0604020202020204" pitchFamily="34" charset="0"/>
              </a:rPr>
              <a:t>7.3</a:t>
            </a:r>
            <a:r>
              <a:rPr lang="zh-CN" altLang="en-US" sz="2400" dirty="0">
                <a:latin typeface="Arial" panose="020B0604020202020204" pitchFamily="34" charset="0"/>
              </a:rPr>
              <a:t>）</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8435">
                                            <p:txEl>
                                              <p:charRg st="0" end="8"/>
                                            </p:txEl>
                                          </p:spTgt>
                                        </p:tgtEl>
                                        <p:attrNameLst>
                                          <p:attrName>style.visibility</p:attrName>
                                        </p:attrNameLst>
                                      </p:cBhvr>
                                      <p:to>
                                        <p:strVal val="visible"/>
                                      </p:to>
                                    </p:set>
                                    <p:animEffect transition="in" filter="checkerboard(across)">
                                      <p:cBhvr>
                                        <p:cTn id="7" dur="500"/>
                                        <p:tgtEl>
                                          <p:spTgt spid="18435">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8435">
                                            <p:txEl>
                                              <p:charRg st="8" end="16"/>
                                            </p:txEl>
                                          </p:spTgt>
                                        </p:tgtEl>
                                        <p:attrNameLst>
                                          <p:attrName>style.visibility</p:attrName>
                                        </p:attrNameLst>
                                      </p:cBhvr>
                                      <p:to>
                                        <p:strVal val="visible"/>
                                      </p:to>
                                    </p:set>
                                    <p:animEffect transition="in" filter="checkerboard(across)">
                                      <p:cBhvr>
                                        <p:cTn id="12" dur="500"/>
                                        <p:tgtEl>
                                          <p:spTgt spid="18435">
                                            <p:txEl>
                                              <p:charRg st="8" end="16"/>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18436"/>
                                        </p:tgtEl>
                                        <p:attrNameLst>
                                          <p:attrName>style.visibility</p:attrName>
                                        </p:attrNameLst>
                                      </p:cBhvr>
                                      <p:to>
                                        <p:strVal val="visible"/>
                                      </p:to>
                                    </p:set>
                                    <p:animEffect transition="in" filter="checkerboard(across)">
                                      <p:cBhvr>
                                        <p:cTn id="15" dur="500"/>
                                        <p:tgtEl>
                                          <p:spTgt spid="1843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grpId="0" nodeType="clickEffect">
                                  <p:stCondLst>
                                    <p:cond delay="0"/>
                                  </p:stCondLst>
                                  <p:childTnLst>
                                    <p:set>
                                      <p:cBhvr>
                                        <p:cTn id="19" dur="1" fill="hold">
                                          <p:stCondLst>
                                            <p:cond delay="0"/>
                                          </p:stCondLst>
                                        </p:cTn>
                                        <p:tgtEl>
                                          <p:spTgt spid="18450"/>
                                        </p:tgtEl>
                                        <p:attrNameLst>
                                          <p:attrName>style.visibility</p:attrName>
                                        </p:attrNameLst>
                                      </p:cBhvr>
                                      <p:to>
                                        <p:strVal val="visible"/>
                                      </p:to>
                                    </p:set>
                                    <p:animEffect transition="in" filter="wipe(right)">
                                      <p:cBhvr>
                                        <p:cTn id="20" dur="500"/>
                                        <p:tgtEl>
                                          <p:spTgt spid="18450"/>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grpId="0" nodeType="clickEffect">
                                  <p:stCondLst>
                                    <p:cond delay="0"/>
                                  </p:stCondLst>
                                  <p:childTnLst>
                                    <p:set>
                                      <p:cBhvr>
                                        <p:cTn id="24" dur="1" fill="hold">
                                          <p:stCondLst>
                                            <p:cond delay="0"/>
                                          </p:stCondLst>
                                        </p:cTn>
                                        <p:tgtEl>
                                          <p:spTgt spid="18435">
                                            <p:txEl>
                                              <p:charRg st="17" end="24"/>
                                            </p:txEl>
                                          </p:spTgt>
                                        </p:tgtEl>
                                        <p:attrNameLst>
                                          <p:attrName>style.visibility</p:attrName>
                                        </p:attrNameLst>
                                      </p:cBhvr>
                                      <p:to>
                                        <p:strVal val="visible"/>
                                      </p:to>
                                    </p:set>
                                    <p:animEffect transition="in" filter="checkerboard(across)">
                                      <p:cBhvr>
                                        <p:cTn id="25" dur="500"/>
                                        <p:tgtEl>
                                          <p:spTgt spid="18435">
                                            <p:txEl>
                                              <p:charRg st="17" end="24"/>
                                            </p:txEl>
                                          </p:spTgt>
                                        </p:tgtEl>
                                      </p:cBhvr>
                                    </p:animEffect>
                                  </p:childTnLst>
                                </p:cTn>
                              </p:par>
                              <p:par>
                                <p:cTn id="26" presetID="5" presetClass="entr" presetSubtype="10" fill="hold" nodeType="withEffect">
                                  <p:stCondLst>
                                    <p:cond delay="0"/>
                                  </p:stCondLst>
                                  <p:childTnLst>
                                    <p:set>
                                      <p:cBhvr>
                                        <p:cTn id="27" dur="1" fill="hold">
                                          <p:stCondLst>
                                            <p:cond delay="0"/>
                                          </p:stCondLst>
                                        </p:cTn>
                                        <p:tgtEl>
                                          <p:spTgt spid="18439"/>
                                        </p:tgtEl>
                                        <p:attrNameLst>
                                          <p:attrName>style.visibility</p:attrName>
                                        </p:attrNameLst>
                                      </p:cBhvr>
                                      <p:to>
                                        <p:strVal val="visible"/>
                                      </p:to>
                                    </p:set>
                                    <p:animEffect transition="in" filter="checkerboard(across)">
                                      <p:cBhvr>
                                        <p:cTn id="28" dur="500"/>
                                        <p:tgtEl>
                                          <p:spTgt spid="1843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2" fill="hold" grpId="0" nodeType="clickEffect">
                                  <p:stCondLst>
                                    <p:cond delay="0"/>
                                  </p:stCondLst>
                                  <p:childTnLst>
                                    <p:set>
                                      <p:cBhvr>
                                        <p:cTn id="32" dur="1" fill="hold">
                                          <p:stCondLst>
                                            <p:cond delay="0"/>
                                          </p:stCondLst>
                                        </p:cTn>
                                        <p:tgtEl>
                                          <p:spTgt spid="18451"/>
                                        </p:tgtEl>
                                        <p:attrNameLst>
                                          <p:attrName>style.visibility</p:attrName>
                                        </p:attrNameLst>
                                      </p:cBhvr>
                                      <p:to>
                                        <p:strVal val="visible"/>
                                      </p:to>
                                    </p:set>
                                    <p:animEffect transition="in" filter="wipe(right)">
                                      <p:cBhvr>
                                        <p:cTn id="33" dur="500"/>
                                        <p:tgtEl>
                                          <p:spTgt spid="1845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8441"/>
                                        </p:tgtEl>
                                        <p:attrNameLst>
                                          <p:attrName>style.visibility</p:attrName>
                                        </p:attrNameLst>
                                      </p:cBhvr>
                                      <p:to>
                                        <p:strVal val="visible"/>
                                      </p:to>
                                    </p:set>
                                    <p:animEffect transition="in" filter="wipe(left)">
                                      <p:cBhvr>
                                        <p:cTn id="38" dur="500"/>
                                        <p:tgtEl>
                                          <p:spTgt spid="18441"/>
                                        </p:tgtEl>
                                      </p:cBhvr>
                                    </p:animEffect>
                                  </p:childTnLst>
                                </p:cTn>
                              </p:par>
                              <p:par>
                                <p:cTn id="39" presetID="22" presetClass="entr" presetSubtype="8" fill="hold" nodeType="withEffect">
                                  <p:stCondLst>
                                    <p:cond delay="0"/>
                                  </p:stCondLst>
                                  <p:childTnLst>
                                    <p:set>
                                      <p:cBhvr>
                                        <p:cTn id="40" dur="1" fill="hold">
                                          <p:stCondLst>
                                            <p:cond delay="0"/>
                                          </p:stCondLst>
                                        </p:cTn>
                                        <p:tgtEl>
                                          <p:spTgt spid="18446"/>
                                        </p:tgtEl>
                                        <p:attrNameLst>
                                          <p:attrName>style.visibility</p:attrName>
                                        </p:attrNameLst>
                                      </p:cBhvr>
                                      <p:to>
                                        <p:strVal val="visible"/>
                                      </p:to>
                                    </p:set>
                                    <p:animEffect transition="in" filter="wipe(left)">
                                      <p:cBhvr>
                                        <p:cTn id="41" dur="500"/>
                                        <p:tgtEl>
                                          <p:spTgt spid="18446"/>
                                        </p:tgtEl>
                                      </p:cBhvr>
                                    </p:animEffect>
                                  </p:childTnLst>
                                </p:cTn>
                              </p:par>
                              <p:par>
                                <p:cTn id="42" presetID="10" presetClass="entr" presetSubtype="0" fill="hold" nodeType="withEffect">
                                  <p:stCondLst>
                                    <p:cond delay="0"/>
                                  </p:stCondLst>
                                  <p:childTnLst>
                                    <p:set>
                                      <p:cBhvr>
                                        <p:cTn id="43" dur="1" fill="hold">
                                          <p:stCondLst>
                                            <p:cond delay="0"/>
                                          </p:stCondLst>
                                        </p:cTn>
                                        <p:tgtEl>
                                          <p:spTgt spid="18442"/>
                                        </p:tgtEl>
                                        <p:attrNameLst>
                                          <p:attrName>style.visibility</p:attrName>
                                        </p:attrNameLst>
                                      </p:cBhvr>
                                      <p:to>
                                        <p:strVal val="visible"/>
                                      </p:to>
                                    </p:set>
                                    <p:animEffect transition="in" filter="fade">
                                      <p:cBhvr>
                                        <p:cTn id="44" dur="1000"/>
                                        <p:tgtEl>
                                          <p:spTgt spid="1844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2" fill="hold" grpId="0" nodeType="clickEffect">
                                  <p:stCondLst>
                                    <p:cond delay="0"/>
                                  </p:stCondLst>
                                  <p:childTnLst>
                                    <p:set>
                                      <p:cBhvr>
                                        <p:cTn id="48" dur="1" fill="hold">
                                          <p:stCondLst>
                                            <p:cond delay="0"/>
                                          </p:stCondLst>
                                        </p:cTn>
                                        <p:tgtEl>
                                          <p:spTgt spid="18452"/>
                                        </p:tgtEl>
                                        <p:attrNameLst>
                                          <p:attrName>style.visibility</p:attrName>
                                        </p:attrNameLst>
                                      </p:cBhvr>
                                      <p:to>
                                        <p:strVal val="visible"/>
                                      </p:to>
                                    </p:set>
                                    <p:animEffect transition="in" filter="wipe(right)">
                                      <p:cBhvr>
                                        <p:cTn id="49" dur="500"/>
                                        <p:tgtEl>
                                          <p:spTgt spid="184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P spid="18441" grpId="0"/>
      <p:bldP spid="18450" grpId="0" uiExpand="1"/>
      <p:bldP spid="18451" grpId="0"/>
      <p:bldP spid="1845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标题 20481"/>
          <p:cNvSpPr>
            <a:spLocks noGrp="1"/>
          </p:cNvSpPr>
          <p:nvPr>
            <p:ph type="title"/>
          </p:nvPr>
        </p:nvSpPr>
        <p:spPr/>
        <p:txBody>
          <a:bodyPr anchor="ctr"/>
          <a:p>
            <a:r>
              <a:rPr lang="en-US" altLang="zh-CN" sz="2000" dirty="0"/>
              <a:t>7.2 </a:t>
            </a:r>
            <a:r>
              <a:rPr lang="zh-CN" altLang="en-US" sz="2000" dirty="0"/>
              <a:t>灰色系统的模型</a:t>
            </a:r>
            <a:endParaRPr lang="zh-CN" altLang="en-US" sz="2000" dirty="0"/>
          </a:p>
        </p:txBody>
      </p:sp>
      <p:sp>
        <p:nvSpPr>
          <p:cNvPr id="20483" name="文本占位符 20482"/>
          <p:cNvSpPr>
            <a:spLocks noGrp="1"/>
          </p:cNvSpPr>
          <p:nvPr>
            <p:ph type="body" sz="half" idx="1"/>
          </p:nvPr>
        </p:nvSpPr>
        <p:spPr>
          <a:xfrm>
            <a:off x="323850" y="1196975"/>
            <a:ext cx="8424863" cy="5184775"/>
          </a:xfrm>
        </p:spPr>
        <p:txBody>
          <a:bodyPr/>
          <a:p>
            <a:pPr>
              <a:buNone/>
            </a:pPr>
            <a:r>
              <a:rPr lang="zh-CN" altLang="en-US" sz="2800" dirty="0"/>
              <a:t>　   </a:t>
            </a:r>
            <a:r>
              <a:rPr lang="zh-CN" altLang="en-US" sz="2400" b="0" dirty="0">
                <a:latin typeface="黑体" panose="02010609060101010101" pitchFamily="2" charset="-122"/>
              </a:rPr>
              <a:t>其中</a:t>
            </a:r>
            <a:r>
              <a:rPr lang="en-US" altLang="zh-CN" sz="2400" b="0" dirty="0">
                <a:latin typeface="黑体" panose="02010609060101010101" pitchFamily="2" charset="-122"/>
              </a:rPr>
              <a:t>a</a:t>
            </a:r>
            <a:r>
              <a:rPr lang="zh-CN" altLang="en-US" sz="2400" b="0" dirty="0">
                <a:latin typeface="黑体" panose="02010609060101010101" pitchFamily="2" charset="-122"/>
              </a:rPr>
              <a:t>是常数，</a:t>
            </a:r>
            <a:r>
              <a:rPr lang="en-US" altLang="zh-CN" sz="2400" b="0" dirty="0">
                <a:latin typeface="黑体" panose="02010609060101010101" pitchFamily="2" charset="-122"/>
              </a:rPr>
              <a:t>u</a:t>
            </a:r>
            <a:r>
              <a:rPr lang="zh-CN" altLang="en-US" sz="2400" b="0" dirty="0">
                <a:latin typeface="黑体" panose="02010609060101010101" pitchFamily="2" charset="-122"/>
              </a:rPr>
              <a:t>称为发展灰数</a:t>
            </a:r>
            <a:r>
              <a:rPr lang="en-US" altLang="zh-CN" sz="2400" b="0" dirty="0">
                <a:latin typeface="黑体" panose="02010609060101010101" pitchFamily="2" charset="-122"/>
              </a:rPr>
              <a:t>,</a:t>
            </a:r>
            <a:r>
              <a:rPr lang="zh-CN" altLang="en-US" sz="2400" b="0" dirty="0">
                <a:latin typeface="黑体" panose="02010609060101010101" pitchFamily="2" charset="-122"/>
              </a:rPr>
              <a:t>为内生控制灰数，是对系统的常定输入</a:t>
            </a:r>
            <a:r>
              <a:rPr lang="en-US" altLang="zh-CN" sz="2400" b="0" dirty="0">
                <a:latin typeface="黑体" panose="02010609060101010101" pitchFamily="2" charset="-122"/>
              </a:rPr>
              <a:t>.</a:t>
            </a:r>
            <a:r>
              <a:rPr lang="zh-CN" altLang="en-US" sz="2400" b="0" dirty="0">
                <a:latin typeface="黑体" panose="02010609060101010101" pitchFamily="2" charset="-122"/>
              </a:rPr>
              <a:t>此方程满足初始条件</a:t>
            </a:r>
            <a:endParaRPr lang="zh-CN" altLang="en-US" sz="2400" b="0" dirty="0">
              <a:latin typeface="黑体" panose="02010609060101010101" pitchFamily="2" charset="-122"/>
            </a:endParaRPr>
          </a:p>
        </p:txBody>
      </p:sp>
      <p:graphicFrame>
        <p:nvGraphicFramePr>
          <p:cNvPr id="20486" name="内容占位符 20485"/>
          <p:cNvGraphicFramePr/>
          <p:nvPr>
            <p:ph sz="quarter" idx="2"/>
          </p:nvPr>
        </p:nvGraphicFramePr>
        <p:xfrm>
          <a:off x="2627313" y="2105025"/>
          <a:ext cx="2881312" cy="506413"/>
        </p:xfrm>
        <a:graphic>
          <a:graphicData uri="http://schemas.openxmlformats.org/presentationml/2006/ole">
            <mc:AlternateContent xmlns:mc="http://schemas.openxmlformats.org/markup-compatibility/2006">
              <mc:Choice xmlns:v="urn:schemas-microsoft-com:vml" Requires="v">
                <p:oleObj spid="_x0000_s3096" name="" r:id="rId1" imgW="1370965" imgH="241300" progId="Equation.DSMT4">
                  <p:embed/>
                </p:oleObj>
              </mc:Choice>
              <mc:Fallback>
                <p:oleObj name="" r:id="rId1" imgW="1370965" imgH="241300" progId="Equation.DSMT4">
                  <p:embed/>
                  <p:pic>
                    <p:nvPicPr>
                      <p:cNvPr id="0" name="图片 3095"/>
                      <p:cNvPicPr/>
                      <p:nvPr/>
                    </p:nvPicPr>
                    <p:blipFill>
                      <a:blip r:embed="rId2"/>
                      <a:stretch>
                        <a:fillRect/>
                      </a:stretch>
                    </p:blipFill>
                    <p:spPr>
                      <a:xfrm>
                        <a:off x="2627313" y="2105025"/>
                        <a:ext cx="2881312" cy="506413"/>
                      </a:xfrm>
                      <a:prstGeom prst="rect">
                        <a:avLst/>
                      </a:prstGeom>
                      <a:noFill/>
                      <a:ln w="38100">
                        <a:miter/>
                      </a:ln>
                    </p:spPr>
                  </p:pic>
                </p:oleObj>
              </mc:Fallback>
            </mc:AlternateContent>
          </a:graphicData>
        </a:graphic>
      </p:graphicFrame>
      <p:sp>
        <p:nvSpPr>
          <p:cNvPr id="20488" name="矩形 20487"/>
          <p:cNvSpPr/>
          <p:nvPr/>
        </p:nvSpPr>
        <p:spPr>
          <a:xfrm>
            <a:off x="684213" y="2349500"/>
            <a:ext cx="1098550" cy="457200"/>
          </a:xfrm>
          <a:prstGeom prst="rect">
            <a:avLst/>
          </a:prstGeom>
          <a:noFill/>
          <a:ln w="9525">
            <a:noFill/>
          </a:ln>
        </p:spPr>
        <p:txBody>
          <a:bodyPr wrap="none" anchor="ctr">
            <a:spAutoFit/>
          </a:bodyPr>
          <a:p>
            <a:r>
              <a:rPr lang="zh-CN" altLang="en-US" sz="2400" dirty="0">
                <a:latin typeface="Arial" panose="020B0604020202020204" pitchFamily="34" charset="0"/>
                <a:ea typeface="黑体" panose="02010609060101010101" pitchFamily="2" charset="-122"/>
              </a:rPr>
              <a:t>的解为</a:t>
            </a:r>
            <a:endParaRPr lang="zh-CN" altLang="en-US" sz="2400" dirty="0">
              <a:latin typeface="Arial" panose="020B0604020202020204" pitchFamily="34" charset="0"/>
              <a:ea typeface="黑体" panose="02010609060101010101" pitchFamily="2" charset="-122"/>
            </a:endParaRPr>
          </a:p>
        </p:txBody>
      </p:sp>
      <p:graphicFrame>
        <p:nvGraphicFramePr>
          <p:cNvPr id="20489" name="内容占位符 20488"/>
          <p:cNvGraphicFramePr/>
          <p:nvPr>
            <p:ph sz="quarter" idx="3"/>
          </p:nvPr>
        </p:nvGraphicFramePr>
        <p:xfrm>
          <a:off x="2268538" y="2852738"/>
          <a:ext cx="3671887" cy="774700"/>
        </p:xfrm>
        <a:graphic>
          <a:graphicData uri="http://schemas.openxmlformats.org/presentationml/2006/ole">
            <mc:AlternateContent xmlns:mc="http://schemas.openxmlformats.org/markup-compatibility/2006">
              <mc:Choice xmlns:v="urn:schemas-microsoft-com:vml" Requires="v">
                <p:oleObj spid="_x0000_s3092" name="" r:id="rId3" imgW="2044065" imgH="431800" progId="Equation.DSMT4">
                  <p:embed/>
                </p:oleObj>
              </mc:Choice>
              <mc:Fallback>
                <p:oleObj name="" r:id="rId3" imgW="2044065" imgH="431800" progId="Equation.DSMT4">
                  <p:embed/>
                  <p:pic>
                    <p:nvPicPr>
                      <p:cNvPr id="0" name="图片 3091"/>
                      <p:cNvPicPr/>
                      <p:nvPr/>
                    </p:nvPicPr>
                    <p:blipFill>
                      <a:blip r:embed="rId4"/>
                      <a:stretch>
                        <a:fillRect/>
                      </a:stretch>
                    </p:blipFill>
                    <p:spPr>
                      <a:xfrm>
                        <a:off x="2268538" y="2852738"/>
                        <a:ext cx="3671887" cy="774700"/>
                      </a:xfrm>
                      <a:prstGeom prst="rect">
                        <a:avLst/>
                      </a:prstGeom>
                      <a:solidFill>
                        <a:srgbClr val="FFFF00"/>
                      </a:solidFill>
                      <a:ln w="38100">
                        <a:miter/>
                      </a:ln>
                    </p:spPr>
                  </p:pic>
                </p:oleObj>
              </mc:Fallback>
            </mc:AlternateContent>
          </a:graphicData>
        </a:graphic>
      </p:graphicFrame>
      <p:sp>
        <p:nvSpPr>
          <p:cNvPr id="20491" name="矩形 20490"/>
          <p:cNvSpPr/>
          <p:nvPr/>
        </p:nvSpPr>
        <p:spPr>
          <a:xfrm>
            <a:off x="7380288" y="2060575"/>
            <a:ext cx="942975" cy="457200"/>
          </a:xfrm>
          <a:prstGeom prst="rect">
            <a:avLst/>
          </a:prstGeom>
          <a:noFill/>
          <a:ln w="9525">
            <a:noFill/>
          </a:ln>
        </p:spPr>
        <p:txBody>
          <a:bodyPr wrap="none" anchor="ctr">
            <a:spAutoFit/>
          </a:bodyPr>
          <a:p>
            <a:r>
              <a:rPr lang="en-US" altLang="zh-CN" sz="2400">
                <a:latin typeface="Arial" panose="020B0604020202020204" pitchFamily="34" charset="0"/>
              </a:rPr>
              <a:t>(7.3)’</a:t>
            </a:r>
            <a:r>
              <a:rPr lang="en-US" altLang="zh-CN">
                <a:latin typeface="Arial" panose="020B0604020202020204" pitchFamily="34" charset="0"/>
              </a:rPr>
              <a:t> </a:t>
            </a:r>
            <a:endParaRPr lang="en-US" altLang="zh-CN">
              <a:latin typeface="Arial" panose="020B0604020202020204" pitchFamily="34" charset="0"/>
            </a:endParaRPr>
          </a:p>
        </p:txBody>
      </p:sp>
      <p:sp>
        <p:nvSpPr>
          <p:cNvPr id="20492" name="矩形 20491"/>
          <p:cNvSpPr/>
          <p:nvPr/>
        </p:nvSpPr>
        <p:spPr>
          <a:xfrm>
            <a:off x="684213" y="3816350"/>
            <a:ext cx="5983287" cy="457200"/>
          </a:xfrm>
          <a:prstGeom prst="rect">
            <a:avLst/>
          </a:prstGeom>
          <a:noFill/>
          <a:ln w="9525">
            <a:noFill/>
          </a:ln>
        </p:spPr>
        <p:txBody>
          <a:bodyPr wrap="none" anchor="ctr">
            <a:spAutoFit/>
          </a:bodyPr>
          <a:p>
            <a:r>
              <a:rPr lang="zh-CN" altLang="en-US" sz="2400" dirty="0">
                <a:latin typeface="Arial" panose="020B0604020202020204" pitchFamily="34" charset="0"/>
                <a:ea typeface="黑体" panose="02010609060101010101" pitchFamily="2" charset="-122"/>
              </a:rPr>
              <a:t>对等间隔取样的离散值 </a:t>
            </a:r>
            <a:r>
              <a:rPr lang="en-US" altLang="zh-CN" sz="2400" dirty="0">
                <a:latin typeface="Arial" panose="020B0604020202020204" pitchFamily="34" charset="0"/>
                <a:ea typeface="黑体" panose="02010609060101010101" pitchFamily="2" charset="-122"/>
              </a:rPr>
              <a:t>(</a:t>
            </a:r>
            <a:r>
              <a:rPr lang="zh-CN" altLang="en-US" sz="2400" dirty="0">
                <a:latin typeface="Arial" panose="020B0604020202020204" pitchFamily="34" charset="0"/>
                <a:ea typeface="黑体" panose="02010609060101010101" pitchFamily="2" charset="-122"/>
              </a:rPr>
              <a:t>注意到        </a:t>
            </a:r>
            <a:r>
              <a:rPr lang="zh-CN" altLang="en-US" sz="2400" dirty="0">
                <a:latin typeface="黑体" panose="02010609060101010101" pitchFamily="2" charset="-122"/>
                <a:ea typeface="黑体" panose="02010609060101010101" pitchFamily="2" charset="-122"/>
              </a:rPr>
              <a:t>）</a:t>
            </a:r>
            <a:r>
              <a:rPr lang="zh-CN" altLang="en-US" sz="2400" dirty="0">
                <a:latin typeface="Arial" panose="020B0604020202020204" pitchFamily="34" charset="0"/>
                <a:ea typeface="黑体" panose="02010609060101010101" pitchFamily="2" charset="-122"/>
              </a:rPr>
              <a:t>则为</a:t>
            </a:r>
            <a:r>
              <a:rPr lang="zh-CN" altLang="en-US" dirty="0">
                <a:latin typeface="Arial" panose="020B0604020202020204" pitchFamily="34" charset="0"/>
              </a:rPr>
              <a:t> </a:t>
            </a:r>
            <a:endParaRPr lang="zh-CN" altLang="en-US" dirty="0">
              <a:latin typeface="Arial" panose="020B0604020202020204" pitchFamily="34" charset="0"/>
            </a:endParaRPr>
          </a:p>
        </p:txBody>
      </p:sp>
      <p:graphicFrame>
        <p:nvGraphicFramePr>
          <p:cNvPr id="20493" name="对象 20492"/>
          <p:cNvGraphicFramePr/>
          <p:nvPr/>
        </p:nvGraphicFramePr>
        <p:xfrm>
          <a:off x="4932363" y="3789363"/>
          <a:ext cx="720725" cy="481012"/>
        </p:xfrm>
        <a:graphic>
          <a:graphicData uri="http://schemas.openxmlformats.org/presentationml/2006/ole">
            <mc:AlternateContent xmlns:mc="http://schemas.openxmlformats.org/markup-compatibility/2006">
              <mc:Choice xmlns:v="urn:schemas-microsoft-com:vml" Requires="v">
                <p:oleObj spid="_x0000_s3093" name="" r:id="rId5" imgW="342900" imgH="228600" progId="Equation.DSMT4">
                  <p:embed/>
                </p:oleObj>
              </mc:Choice>
              <mc:Fallback>
                <p:oleObj name="" r:id="rId5" imgW="342900" imgH="228600" progId="Equation.DSMT4">
                  <p:embed/>
                  <p:pic>
                    <p:nvPicPr>
                      <p:cNvPr id="0" name="图片 3092"/>
                      <p:cNvPicPr/>
                      <p:nvPr/>
                    </p:nvPicPr>
                    <p:blipFill>
                      <a:blip r:embed="rId6"/>
                      <a:stretch>
                        <a:fillRect/>
                      </a:stretch>
                    </p:blipFill>
                    <p:spPr>
                      <a:xfrm>
                        <a:off x="4932363" y="3789363"/>
                        <a:ext cx="720725" cy="481012"/>
                      </a:xfrm>
                      <a:prstGeom prst="rect">
                        <a:avLst/>
                      </a:prstGeom>
                      <a:noFill/>
                      <a:ln w="38100">
                        <a:noFill/>
                        <a:miter/>
                      </a:ln>
                    </p:spPr>
                  </p:pic>
                </p:oleObj>
              </mc:Fallback>
            </mc:AlternateContent>
          </a:graphicData>
        </a:graphic>
      </p:graphicFrame>
      <p:graphicFrame>
        <p:nvGraphicFramePr>
          <p:cNvPr id="20494" name="对象 20493"/>
          <p:cNvGraphicFramePr/>
          <p:nvPr/>
        </p:nvGraphicFramePr>
        <p:xfrm>
          <a:off x="2305050" y="4292600"/>
          <a:ext cx="3597275" cy="719138"/>
        </p:xfrm>
        <a:graphic>
          <a:graphicData uri="http://schemas.openxmlformats.org/presentationml/2006/ole">
            <mc:AlternateContent xmlns:mc="http://schemas.openxmlformats.org/markup-compatibility/2006">
              <mc:Choice xmlns:v="urn:schemas-microsoft-com:vml" Requires="v">
                <p:oleObj spid="_x0000_s3099" name="" r:id="rId7" imgW="1967865" imgH="393700" progId="Equation.DSMT4">
                  <p:embed/>
                </p:oleObj>
              </mc:Choice>
              <mc:Fallback>
                <p:oleObj name="" r:id="rId7" imgW="1967865" imgH="393700" progId="Equation.DSMT4">
                  <p:embed/>
                  <p:pic>
                    <p:nvPicPr>
                      <p:cNvPr id="0" name="图片 3098"/>
                      <p:cNvPicPr/>
                      <p:nvPr/>
                    </p:nvPicPr>
                    <p:blipFill>
                      <a:blip r:embed="rId8"/>
                      <a:stretch>
                        <a:fillRect/>
                      </a:stretch>
                    </p:blipFill>
                    <p:spPr>
                      <a:xfrm>
                        <a:off x="2305050" y="4292600"/>
                        <a:ext cx="3597275" cy="719138"/>
                      </a:xfrm>
                      <a:prstGeom prst="rect">
                        <a:avLst/>
                      </a:prstGeom>
                      <a:solidFill>
                        <a:srgbClr val="FFFF00"/>
                      </a:solidFill>
                      <a:ln w="38100">
                        <a:noFill/>
                        <a:miter/>
                      </a:ln>
                    </p:spPr>
                  </p:pic>
                </p:oleObj>
              </mc:Fallback>
            </mc:AlternateContent>
          </a:graphicData>
        </a:graphic>
      </p:graphicFrame>
      <p:sp>
        <p:nvSpPr>
          <p:cNvPr id="20495" name="矩形 20494"/>
          <p:cNvSpPr/>
          <p:nvPr/>
        </p:nvSpPr>
        <p:spPr>
          <a:xfrm>
            <a:off x="7451725" y="4365625"/>
            <a:ext cx="874713" cy="457200"/>
          </a:xfrm>
          <a:prstGeom prst="rect">
            <a:avLst/>
          </a:prstGeom>
          <a:noFill/>
          <a:ln w="9525">
            <a:noFill/>
          </a:ln>
        </p:spPr>
        <p:txBody>
          <a:bodyPr wrap="none" anchor="ctr">
            <a:spAutoFit/>
          </a:bodyPr>
          <a:p>
            <a:r>
              <a:rPr lang="en-US" altLang="zh-CN" sz="2400">
                <a:latin typeface="Arial" panose="020B0604020202020204" pitchFamily="34" charset="0"/>
              </a:rPr>
              <a:t>(7.4)</a:t>
            </a:r>
            <a:r>
              <a:rPr lang="en-US" altLang="zh-CN">
                <a:latin typeface="Arial" panose="020B0604020202020204" pitchFamily="34" charset="0"/>
              </a:rPr>
              <a:t> </a:t>
            </a:r>
            <a:endParaRPr lang="en-US" altLang="zh-CN">
              <a:latin typeface="Arial" panose="020B0604020202020204" pitchFamily="34" charset="0"/>
            </a:endParaRPr>
          </a:p>
        </p:txBody>
      </p:sp>
      <p:sp>
        <p:nvSpPr>
          <p:cNvPr id="20496" name="矩形 20495"/>
          <p:cNvSpPr/>
          <p:nvPr/>
        </p:nvSpPr>
        <p:spPr>
          <a:xfrm>
            <a:off x="755650" y="5218113"/>
            <a:ext cx="7956550" cy="822325"/>
          </a:xfrm>
          <a:prstGeom prst="rect">
            <a:avLst/>
          </a:prstGeom>
          <a:noFill/>
          <a:ln w="9525">
            <a:noFill/>
          </a:ln>
        </p:spPr>
        <p:txBody>
          <a:bodyPr wrap="none" anchor="ctr">
            <a:spAutoFit/>
          </a:bodyPr>
          <a:p>
            <a:r>
              <a:rPr lang="zh-CN" altLang="en-US" sz="2400" dirty="0">
                <a:latin typeface="黑体" panose="02010609060101010101" pitchFamily="2" charset="-122"/>
                <a:ea typeface="黑体" panose="02010609060101010101" pitchFamily="2" charset="-122"/>
              </a:rPr>
              <a:t>灰色建模的途径是一次累加序列（</a:t>
            </a:r>
            <a:r>
              <a:rPr lang="en-US" altLang="zh-CN" sz="2400" dirty="0">
                <a:latin typeface="黑体" panose="02010609060101010101" pitchFamily="2" charset="-122"/>
                <a:ea typeface="黑体" panose="02010609060101010101" pitchFamily="2" charset="-122"/>
              </a:rPr>
              <a:t>7.2</a:t>
            </a:r>
            <a:r>
              <a:rPr lang="zh-CN" altLang="en-US" sz="2400" dirty="0">
                <a:latin typeface="黑体" panose="02010609060101010101" pitchFamily="2" charset="-122"/>
                <a:ea typeface="黑体" panose="02010609060101010101" pitchFamily="2" charset="-122"/>
              </a:rPr>
              <a:t>）通过最小二乘法来</a:t>
            </a:r>
            <a:endParaRPr lang="zh-CN" altLang="en-US" sz="2400" dirty="0">
              <a:latin typeface="黑体" panose="02010609060101010101" pitchFamily="2" charset="-122"/>
              <a:ea typeface="黑体" panose="02010609060101010101" pitchFamily="2" charset="-122"/>
            </a:endParaRPr>
          </a:p>
          <a:p>
            <a:r>
              <a:rPr lang="zh-CN" altLang="en-US" sz="2400" dirty="0">
                <a:latin typeface="黑体" panose="02010609060101010101" pitchFamily="2" charset="-122"/>
                <a:ea typeface="黑体" panose="02010609060101010101" pitchFamily="2" charset="-122"/>
              </a:rPr>
              <a:t>估计常数</a:t>
            </a:r>
            <a:r>
              <a:rPr lang="en-US" altLang="zh-CN" sz="2400" i="1">
                <a:latin typeface="Times New Roman" panose="02020603050405020304" pitchFamily="18" charset="0"/>
                <a:ea typeface="黑体" panose="02010609060101010101" pitchFamily="2" charset="-122"/>
              </a:rPr>
              <a:t>a</a:t>
            </a:r>
            <a:r>
              <a:rPr lang="zh-CN" altLang="en-US" sz="2400" dirty="0">
                <a:latin typeface="黑体" panose="02010609060101010101" pitchFamily="2" charset="-122"/>
                <a:ea typeface="黑体" panose="02010609060101010101" pitchFamily="2" charset="-122"/>
              </a:rPr>
              <a:t>与</a:t>
            </a:r>
            <a:r>
              <a:rPr lang="en-US" altLang="zh-CN" sz="2400" i="1">
                <a:latin typeface="Times New Roman" panose="02020603050405020304" pitchFamily="18" charset="0"/>
                <a:ea typeface="黑体" panose="02010609060101010101" pitchFamily="2" charset="-122"/>
              </a:rPr>
              <a:t>u</a:t>
            </a:r>
            <a:r>
              <a:rPr lang="en-US" altLang="zh-CN" sz="2400">
                <a:latin typeface="黑体" panose="02010609060101010101" pitchFamily="2" charset="-122"/>
                <a:ea typeface="黑体" panose="02010609060101010101" pitchFamily="2" charset="-122"/>
              </a:rPr>
              <a:t>. </a:t>
            </a:r>
            <a:endParaRPr lang="en-US" altLang="zh-CN" sz="2400">
              <a:latin typeface="黑体" panose="02010609060101010101" pitchFamily="2" charset="-122"/>
              <a:ea typeface="黑体" panose="02010609060101010101" pitchFamily="2" charset="-122"/>
            </a:endParaRPr>
          </a:p>
        </p:txBody>
      </p:sp>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483">
                                            <p:txEl>
                                              <p:charRg st="0" end="46"/>
                                            </p:txEl>
                                          </p:spTgt>
                                        </p:tgtEl>
                                        <p:attrNameLst>
                                          <p:attrName>style.visibility</p:attrName>
                                        </p:attrNameLst>
                                      </p:cBhvr>
                                      <p:to>
                                        <p:strVal val="visible"/>
                                      </p:to>
                                    </p:set>
                                    <p:animEffect transition="in" filter="wipe(left)">
                                      <p:cBhvr>
                                        <p:cTn id="7" dur="500"/>
                                        <p:tgtEl>
                                          <p:spTgt spid="20483">
                                            <p:txEl>
                                              <p:charRg st="0" end="46"/>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486"/>
                                        </p:tgtEl>
                                        <p:attrNameLst>
                                          <p:attrName>style.visibility</p:attrName>
                                        </p:attrNameLst>
                                      </p:cBhvr>
                                      <p:to>
                                        <p:strVal val="visible"/>
                                      </p:to>
                                    </p:set>
                                    <p:animEffect transition="in" filter="wipe(left)">
                                      <p:cBhvr>
                                        <p:cTn id="12" dur="500"/>
                                        <p:tgtEl>
                                          <p:spTgt spid="20486"/>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0491"/>
                                        </p:tgtEl>
                                        <p:attrNameLst>
                                          <p:attrName>style.visibility</p:attrName>
                                        </p:attrNameLst>
                                      </p:cBhvr>
                                      <p:to>
                                        <p:strVal val="visible"/>
                                      </p:to>
                                    </p:set>
                                    <p:animEffect transition="in" filter="wipe(left)">
                                      <p:cBhvr>
                                        <p:cTn id="15" dur="500"/>
                                        <p:tgtEl>
                                          <p:spTgt spid="2049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0488"/>
                                        </p:tgtEl>
                                        <p:attrNameLst>
                                          <p:attrName>style.visibility</p:attrName>
                                        </p:attrNameLst>
                                      </p:cBhvr>
                                      <p:to>
                                        <p:strVal val="visible"/>
                                      </p:to>
                                    </p:set>
                                    <p:animEffect transition="in" filter="wipe(left)">
                                      <p:cBhvr>
                                        <p:cTn id="20" dur="500"/>
                                        <p:tgtEl>
                                          <p:spTgt spid="20488"/>
                                        </p:tgtEl>
                                      </p:cBhvr>
                                    </p:animEffect>
                                  </p:childTnLst>
                                </p:cTn>
                              </p:par>
                              <p:par>
                                <p:cTn id="21" presetID="22" presetClass="entr" presetSubtype="8" fill="hold" nodeType="withEffect">
                                  <p:stCondLst>
                                    <p:cond delay="0"/>
                                  </p:stCondLst>
                                  <p:childTnLst>
                                    <p:set>
                                      <p:cBhvr>
                                        <p:cTn id="22" dur="1" fill="hold">
                                          <p:stCondLst>
                                            <p:cond delay="0"/>
                                          </p:stCondLst>
                                        </p:cTn>
                                        <p:tgtEl>
                                          <p:spTgt spid="20489"/>
                                        </p:tgtEl>
                                        <p:attrNameLst>
                                          <p:attrName>style.visibility</p:attrName>
                                        </p:attrNameLst>
                                      </p:cBhvr>
                                      <p:to>
                                        <p:strVal val="visible"/>
                                      </p:to>
                                    </p:set>
                                    <p:animEffect transition="in" filter="wipe(left)">
                                      <p:cBhvr>
                                        <p:cTn id="23" dur="500"/>
                                        <p:tgtEl>
                                          <p:spTgt spid="2048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0492"/>
                                        </p:tgtEl>
                                        <p:attrNameLst>
                                          <p:attrName>style.visibility</p:attrName>
                                        </p:attrNameLst>
                                      </p:cBhvr>
                                      <p:to>
                                        <p:strVal val="visible"/>
                                      </p:to>
                                    </p:set>
                                    <p:animEffect transition="in" filter="wipe(left)">
                                      <p:cBhvr>
                                        <p:cTn id="28" dur="500"/>
                                        <p:tgtEl>
                                          <p:spTgt spid="20492"/>
                                        </p:tgtEl>
                                      </p:cBhvr>
                                    </p:animEffect>
                                  </p:childTnLst>
                                </p:cTn>
                              </p:par>
                              <p:par>
                                <p:cTn id="29" presetID="22" presetClass="entr" presetSubtype="8" fill="hold" nodeType="withEffect">
                                  <p:stCondLst>
                                    <p:cond delay="0"/>
                                  </p:stCondLst>
                                  <p:childTnLst>
                                    <p:set>
                                      <p:cBhvr>
                                        <p:cTn id="30" dur="1" fill="hold">
                                          <p:stCondLst>
                                            <p:cond delay="0"/>
                                          </p:stCondLst>
                                        </p:cTn>
                                        <p:tgtEl>
                                          <p:spTgt spid="20493"/>
                                        </p:tgtEl>
                                        <p:attrNameLst>
                                          <p:attrName>style.visibility</p:attrName>
                                        </p:attrNameLst>
                                      </p:cBhvr>
                                      <p:to>
                                        <p:strVal val="visible"/>
                                      </p:to>
                                    </p:set>
                                    <p:animEffect transition="in" filter="wipe(left)">
                                      <p:cBhvr>
                                        <p:cTn id="31" dur="500"/>
                                        <p:tgtEl>
                                          <p:spTgt spid="2049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0494"/>
                                        </p:tgtEl>
                                        <p:attrNameLst>
                                          <p:attrName>style.visibility</p:attrName>
                                        </p:attrNameLst>
                                      </p:cBhvr>
                                      <p:to>
                                        <p:strVal val="visible"/>
                                      </p:to>
                                    </p:set>
                                    <p:animEffect transition="in" filter="wipe(left)">
                                      <p:cBhvr>
                                        <p:cTn id="36" dur="500"/>
                                        <p:tgtEl>
                                          <p:spTgt spid="2049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0495"/>
                                        </p:tgtEl>
                                        <p:attrNameLst>
                                          <p:attrName>style.visibility</p:attrName>
                                        </p:attrNameLst>
                                      </p:cBhvr>
                                      <p:to>
                                        <p:strVal val="visible"/>
                                      </p:to>
                                    </p:set>
                                    <p:animEffect transition="in" filter="wipe(left)">
                                      <p:cBhvr>
                                        <p:cTn id="41" dur="500"/>
                                        <p:tgtEl>
                                          <p:spTgt spid="2049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20496"/>
                                        </p:tgtEl>
                                        <p:attrNameLst>
                                          <p:attrName>style.visibility</p:attrName>
                                        </p:attrNameLst>
                                      </p:cBhvr>
                                      <p:to>
                                        <p:strVal val="visible"/>
                                      </p:to>
                                    </p:set>
                                    <p:animEffect transition="in" filter="wipe(down)">
                                      <p:cBhvr>
                                        <p:cTn id="46" dur="500"/>
                                        <p:tgtEl>
                                          <p:spTgt spid="204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8" grpId="0"/>
      <p:bldP spid="20491" grpId="0"/>
      <p:bldP spid="20492" grpId="0"/>
      <p:bldP spid="20495" grpId="0"/>
      <p:bldP spid="2049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标题 21505"/>
          <p:cNvSpPr>
            <a:spLocks noGrp="1"/>
          </p:cNvSpPr>
          <p:nvPr>
            <p:ph type="title"/>
          </p:nvPr>
        </p:nvSpPr>
        <p:spPr/>
        <p:txBody>
          <a:bodyPr anchor="ctr"/>
          <a:p>
            <a:r>
              <a:rPr lang="en-US" altLang="zh-CN" sz="2000" dirty="0"/>
              <a:t>7.2 </a:t>
            </a:r>
            <a:r>
              <a:rPr lang="zh-CN" altLang="en-US" sz="2000" dirty="0"/>
              <a:t>灰色系统的模型</a:t>
            </a:r>
            <a:endParaRPr lang="zh-CN" altLang="en-US" sz="2000" dirty="0"/>
          </a:p>
        </p:txBody>
      </p:sp>
      <p:sp>
        <p:nvSpPr>
          <p:cNvPr id="21510" name="矩形 21509"/>
          <p:cNvSpPr/>
          <p:nvPr/>
        </p:nvSpPr>
        <p:spPr>
          <a:xfrm>
            <a:off x="0" y="3314700"/>
            <a:ext cx="9144000" cy="0"/>
          </a:xfrm>
          <a:prstGeom prst="rect">
            <a:avLst/>
          </a:prstGeom>
          <a:noFill/>
          <a:ln w="9525">
            <a:noFill/>
          </a:ln>
        </p:spPr>
        <p:txBody>
          <a:bodyPr/>
          <a:p>
            <a:endParaRPr lang="zh-CN" altLang="en-US"/>
          </a:p>
        </p:txBody>
      </p:sp>
      <p:graphicFrame>
        <p:nvGraphicFramePr>
          <p:cNvPr id="21509" name="对象 21508"/>
          <p:cNvGraphicFramePr/>
          <p:nvPr/>
        </p:nvGraphicFramePr>
        <p:xfrm>
          <a:off x="539750" y="1628775"/>
          <a:ext cx="719138" cy="401638"/>
        </p:xfrm>
        <a:graphic>
          <a:graphicData uri="http://schemas.openxmlformats.org/presentationml/2006/ole">
            <mc:AlternateContent xmlns:mc="http://schemas.openxmlformats.org/markup-compatibility/2006">
              <mc:Choice xmlns:v="urn:schemas-microsoft-com:vml" Requires="v">
                <p:oleObj spid="_x0000_s3097" name="" r:id="rId1" imgW="405765" imgH="228600" progId="Equation.DSMT4">
                  <p:embed/>
                </p:oleObj>
              </mc:Choice>
              <mc:Fallback>
                <p:oleObj name="" r:id="rId1" imgW="405765" imgH="228600" progId="Equation.DSMT4">
                  <p:embed/>
                  <p:pic>
                    <p:nvPicPr>
                      <p:cNvPr id="0" name="图片 3096"/>
                      <p:cNvPicPr/>
                      <p:nvPr/>
                    </p:nvPicPr>
                    <p:blipFill>
                      <a:blip r:embed="rId2"/>
                      <a:stretch>
                        <a:fillRect/>
                      </a:stretch>
                    </p:blipFill>
                    <p:spPr>
                      <a:xfrm>
                        <a:off x="539750" y="1628775"/>
                        <a:ext cx="719138" cy="401638"/>
                      </a:xfrm>
                      <a:prstGeom prst="rect">
                        <a:avLst/>
                      </a:prstGeom>
                      <a:noFill/>
                      <a:ln w="38100">
                        <a:noFill/>
                        <a:miter/>
                      </a:ln>
                    </p:spPr>
                  </p:pic>
                </p:oleObj>
              </mc:Fallback>
            </mc:AlternateContent>
          </a:graphicData>
        </a:graphic>
      </p:graphicFrame>
      <p:sp>
        <p:nvSpPr>
          <p:cNvPr id="21512" name="矩形 21511"/>
          <p:cNvSpPr/>
          <p:nvPr/>
        </p:nvSpPr>
        <p:spPr>
          <a:xfrm>
            <a:off x="0" y="3314700"/>
            <a:ext cx="9144000" cy="0"/>
          </a:xfrm>
          <a:prstGeom prst="rect">
            <a:avLst/>
          </a:prstGeom>
          <a:noFill/>
          <a:ln w="9525">
            <a:noFill/>
          </a:ln>
        </p:spPr>
        <p:txBody>
          <a:bodyPr/>
          <a:p>
            <a:endParaRPr lang="zh-CN" altLang="en-US"/>
          </a:p>
        </p:txBody>
      </p:sp>
      <p:graphicFrame>
        <p:nvGraphicFramePr>
          <p:cNvPr id="21511" name="对象 21510"/>
          <p:cNvGraphicFramePr/>
          <p:nvPr/>
        </p:nvGraphicFramePr>
        <p:xfrm>
          <a:off x="3779838" y="1628775"/>
          <a:ext cx="2520950" cy="385763"/>
        </p:xfrm>
        <a:graphic>
          <a:graphicData uri="http://schemas.openxmlformats.org/presentationml/2006/ole">
            <mc:AlternateContent xmlns:mc="http://schemas.openxmlformats.org/markup-compatibility/2006">
              <mc:Choice xmlns:v="urn:schemas-microsoft-com:vml" Requires="v">
                <p:oleObj spid="_x0000_s3090" name="" r:id="rId3" imgW="1498600" imgH="228600" progId="Equation.DSMT4">
                  <p:embed/>
                </p:oleObj>
              </mc:Choice>
              <mc:Fallback>
                <p:oleObj name="" r:id="rId3" imgW="1498600" imgH="228600" progId="Equation.DSMT4">
                  <p:embed/>
                  <p:pic>
                    <p:nvPicPr>
                      <p:cNvPr id="0" name="图片 3089"/>
                      <p:cNvPicPr/>
                      <p:nvPr/>
                    </p:nvPicPr>
                    <p:blipFill>
                      <a:blip r:embed="rId4"/>
                      <a:stretch>
                        <a:fillRect/>
                      </a:stretch>
                    </p:blipFill>
                    <p:spPr>
                      <a:xfrm>
                        <a:off x="3779838" y="1628775"/>
                        <a:ext cx="2520950" cy="385763"/>
                      </a:xfrm>
                      <a:prstGeom prst="rect">
                        <a:avLst/>
                      </a:prstGeom>
                      <a:noFill/>
                      <a:ln w="38100">
                        <a:noFill/>
                        <a:miter/>
                      </a:ln>
                    </p:spPr>
                  </p:pic>
                </p:oleObj>
              </mc:Fallback>
            </mc:AlternateContent>
          </a:graphicData>
        </a:graphic>
      </p:graphicFrame>
      <p:graphicFrame>
        <p:nvGraphicFramePr>
          <p:cNvPr id="21513" name="对象 21512"/>
          <p:cNvGraphicFramePr/>
          <p:nvPr/>
        </p:nvGraphicFramePr>
        <p:xfrm>
          <a:off x="5003800" y="2205038"/>
          <a:ext cx="2016125" cy="368300"/>
        </p:xfrm>
        <a:graphic>
          <a:graphicData uri="http://schemas.openxmlformats.org/presentationml/2006/ole">
            <mc:AlternateContent xmlns:mc="http://schemas.openxmlformats.org/markup-compatibility/2006">
              <mc:Choice xmlns:v="urn:schemas-microsoft-com:vml" Requires="v">
                <p:oleObj spid="_x0000_s3091" name="" r:id="rId5" imgW="1091565" imgH="203200" progId="Equation.DSMT4">
                  <p:embed/>
                </p:oleObj>
              </mc:Choice>
              <mc:Fallback>
                <p:oleObj name="" r:id="rId5" imgW="1091565" imgH="203200" progId="Equation.DSMT4">
                  <p:embed/>
                  <p:pic>
                    <p:nvPicPr>
                      <p:cNvPr id="0" name="图片 3090"/>
                      <p:cNvPicPr/>
                      <p:nvPr/>
                    </p:nvPicPr>
                    <p:blipFill>
                      <a:blip r:embed="rId6"/>
                      <a:stretch>
                        <a:fillRect/>
                      </a:stretch>
                    </p:blipFill>
                    <p:spPr>
                      <a:xfrm>
                        <a:off x="5003800" y="2205038"/>
                        <a:ext cx="2016125" cy="368300"/>
                      </a:xfrm>
                      <a:prstGeom prst="rect">
                        <a:avLst/>
                      </a:prstGeom>
                      <a:noFill/>
                      <a:ln w="38100">
                        <a:noFill/>
                        <a:miter/>
                      </a:ln>
                    </p:spPr>
                  </p:pic>
                </p:oleObj>
              </mc:Fallback>
            </mc:AlternateContent>
          </a:graphicData>
        </a:graphic>
      </p:graphicFrame>
      <p:graphicFrame>
        <p:nvGraphicFramePr>
          <p:cNvPr id="21515" name="对象 21514"/>
          <p:cNvGraphicFramePr/>
          <p:nvPr/>
        </p:nvGraphicFramePr>
        <p:xfrm>
          <a:off x="2268538" y="2565400"/>
          <a:ext cx="5040312" cy="768350"/>
        </p:xfrm>
        <a:graphic>
          <a:graphicData uri="http://schemas.openxmlformats.org/presentationml/2006/ole">
            <mc:AlternateContent xmlns:mc="http://schemas.openxmlformats.org/markup-compatibility/2006">
              <mc:Choice xmlns:v="urn:schemas-microsoft-com:vml" Requires="v">
                <p:oleObj spid="_x0000_s3098" name="" r:id="rId7" imgW="2755900" imgH="419100" progId="Equation.DSMT4">
                  <p:embed/>
                </p:oleObj>
              </mc:Choice>
              <mc:Fallback>
                <p:oleObj name="" r:id="rId7" imgW="2755900" imgH="419100" progId="Equation.DSMT4">
                  <p:embed/>
                  <p:pic>
                    <p:nvPicPr>
                      <p:cNvPr id="0" name="图片 3097"/>
                      <p:cNvPicPr/>
                      <p:nvPr/>
                    </p:nvPicPr>
                    <p:blipFill>
                      <a:blip r:embed="rId8"/>
                      <a:stretch>
                        <a:fillRect/>
                      </a:stretch>
                    </p:blipFill>
                    <p:spPr>
                      <a:xfrm>
                        <a:off x="2268538" y="2565400"/>
                        <a:ext cx="5040312" cy="768350"/>
                      </a:xfrm>
                      <a:prstGeom prst="rect">
                        <a:avLst/>
                      </a:prstGeom>
                      <a:noFill/>
                      <a:ln w="38100">
                        <a:noFill/>
                        <a:miter/>
                      </a:ln>
                    </p:spPr>
                  </p:pic>
                </p:oleObj>
              </mc:Fallback>
            </mc:AlternateContent>
          </a:graphicData>
        </a:graphic>
      </p:graphicFrame>
      <p:graphicFrame>
        <p:nvGraphicFramePr>
          <p:cNvPr id="21517" name="对象 21516"/>
          <p:cNvGraphicFramePr/>
          <p:nvPr/>
        </p:nvGraphicFramePr>
        <p:xfrm>
          <a:off x="2339975" y="3357563"/>
          <a:ext cx="4248150" cy="727075"/>
        </p:xfrm>
        <a:graphic>
          <a:graphicData uri="http://schemas.openxmlformats.org/presentationml/2006/ole">
            <mc:AlternateContent xmlns:mc="http://schemas.openxmlformats.org/markup-compatibility/2006">
              <mc:Choice xmlns:v="urn:schemas-microsoft-com:vml" Requires="v">
                <p:oleObj spid="_x0000_s3094" name="" r:id="rId9" imgW="2451100" imgH="419100" progId="Equation.DSMT4">
                  <p:embed/>
                </p:oleObj>
              </mc:Choice>
              <mc:Fallback>
                <p:oleObj name="" r:id="rId9" imgW="2451100" imgH="419100" progId="Equation.DSMT4">
                  <p:embed/>
                  <p:pic>
                    <p:nvPicPr>
                      <p:cNvPr id="0" name="图片 3093"/>
                      <p:cNvPicPr/>
                      <p:nvPr/>
                    </p:nvPicPr>
                    <p:blipFill>
                      <a:blip r:embed="rId10"/>
                      <a:stretch>
                        <a:fillRect/>
                      </a:stretch>
                    </p:blipFill>
                    <p:spPr>
                      <a:xfrm>
                        <a:off x="2339975" y="3357563"/>
                        <a:ext cx="4248150" cy="727075"/>
                      </a:xfrm>
                      <a:prstGeom prst="rect">
                        <a:avLst/>
                      </a:prstGeom>
                      <a:noFill/>
                      <a:ln w="38100">
                        <a:noFill/>
                        <a:miter/>
                      </a:ln>
                    </p:spPr>
                  </p:pic>
                </p:oleObj>
              </mc:Fallback>
            </mc:AlternateContent>
          </a:graphicData>
        </a:graphic>
      </p:graphicFrame>
      <p:graphicFrame>
        <p:nvGraphicFramePr>
          <p:cNvPr id="21519" name="对象 21518"/>
          <p:cNvGraphicFramePr/>
          <p:nvPr/>
        </p:nvGraphicFramePr>
        <p:xfrm>
          <a:off x="3635375" y="4221163"/>
          <a:ext cx="2881313" cy="2066925"/>
        </p:xfrm>
        <a:graphic>
          <a:graphicData uri="http://schemas.openxmlformats.org/presentationml/2006/ole">
            <mc:AlternateContent xmlns:mc="http://schemas.openxmlformats.org/markup-compatibility/2006">
              <mc:Choice xmlns:v="urn:schemas-microsoft-com:vml" Requires="v">
                <p:oleObj spid="_x0000_s3095" name="" r:id="rId11" imgW="1549400" imgH="1117600" progId="Equation.DSMT4">
                  <p:embed/>
                </p:oleObj>
              </mc:Choice>
              <mc:Fallback>
                <p:oleObj name="" r:id="rId11" imgW="1549400" imgH="1117600" progId="Equation.DSMT4">
                  <p:embed/>
                  <p:pic>
                    <p:nvPicPr>
                      <p:cNvPr id="0" name="图片 3094"/>
                      <p:cNvPicPr/>
                      <p:nvPr/>
                    </p:nvPicPr>
                    <p:blipFill>
                      <a:blip r:embed="rId12"/>
                      <a:stretch>
                        <a:fillRect/>
                      </a:stretch>
                    </p:blipFill>
                    <p:spPr>
                      <a:xfrm>
                        <a:off x="3635375" y="4221163"/>
                        <a:ext cx="2881313" cy="2066925"/>
                      </a:xfrm>
                      <a:prstGeom prst="rect">
                        <a:avLst/>
                      </a:prstGeom>
                      <a:noFill/>
                      <a:ln w="38100">
                        <a:noFill/>
                        <a:miter/>
                      </a:ln>
                    </p:spPr>
                  </p:pic>
                </p:oleObj>
              </mc:Fallback>
            </mc:AlternateContent>
          </a:graphicData>
        </a:graphic>
      </p:graphicFrame>
      <p:sp>
        <p:nvSpPr>
          <p:cNvPr id="21521" name="矩形 21520"/>
          <p:cNvSpPr/>
          <p:nvPr/>
        </p:nvSpPr>
        <p:spPr>
          <a:xfrm>
            <a:off x="179388" y="1584325"/>
            <a:ext cx="552450" cy="457200"/>
          </a:xfrm>
          <a:prstGeom prst="rect">
            <a:avLst/>
          </a:prstGeom>
          <a:noFill/>
          <a:ln w="9525">
            <a:noFill/>
          </a:ln>
        </p:spPr>
        <p:txBody>
          <a:bodyPr wrap="none" anchor="ctr">
            <a:spAutoFit/>
          </a:bodyPr>
          <a:p>
            <a:r>
              <a:rPr lang="zh-CN" altLang="en-US" sz="2400" dirty="0">
                <a:latin typeface="Arial" panose="020B0604020202020204" pitchFamily="34" charset="0"/>
                <a:ea typeface="黑体" panose="02010609060101010101" pitchFamily="2" charset="-122"/>
              </a:rPr>
              <a:t>因</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21522" name="矩形 21521"/>
          <p:cNvSpPr/>
          <p:nvPr/>
        </p:nvSpPr>
        <p:spPr>
          <a:xfrm>
            <a:off x="1258888" y="1584325"/>
            <a:ext cx="2686050" cy="457200"/>
          </a:xfrm>
          <a:prstGeom prst="rect">
            <a:avLst/>
          </a:prstGeom>
          <a:noFill/>
          <a:ln w="9525">
            <a:noFill/>
          </a:ln>
        </p:spPr>
        <p:txBody>
          <a:bodyPr wrap="none" anchor="ctr">
            <a:spAutoFit/>
          </a:bodyPr>
          <a:p>
            <a:r>
              <a:rPr lang="zh-CN" altLang="en-US" sz="2400" dirty="0">
                <a:latin typeface="Arial" panose="020B0604020202020204" pitchFamily="34" charset="0"/>
                <a:ea typeface="黑体" panose="02010609060101010101" pitchFamily="2" charset="-122"/>
              </a:rPr>
              <a:t>留作初值用，故将</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21523" name="矩形 21522"/>
          <p:cNvSpPr/>
          <p:nvPr/>
        </p:nvSpPr>
        <p:spPr>
          <a:xfrm>
            <a:off x="179388" y="2133600"/>
            <a:ext cx="5124450" cy="457200"/>
          </a:xfrm>
          <a:prstGeom prst="rect">
            <a:avLst/>
          </a:prstGeom>
          <a:noFill/>
          <a:ln w="9525">
            <a:noFill/>
          </a:ln>
        </p:spPr>
        <p:txBody>
          <a:bodyPr wrap="none" anchor="ctr">
            <a:spAutoFit/>
          </a:bodyPr>
          <a:p>
            <a:r>
              <a:rPr lang="zh-CN" altLang="en-US" sz="2400" dirty="0">
                <a:latin typeface="黑体" panose="02010609060101010101" pitchFamily="2" charset="-122"/>
                <a:ea typeface="黑体" panose="02010609060101010101" pitchFamily="2" charset="-122"/>
              </a:rPr>
              <a:t>用差分代替微分，又因等间隔取样，</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21524" name="矩形 21523"/>
          <p:cNvSpPr/>
          <p:nvPr/>
        </p:nvSpPr>
        <p:spPr>
          <a:xfrm>
            <a:off x="6216650" y="1557338"/>
            <a:ext cx="2927350" cy="457200"/>
          </a:xfrm>
          <a:prstGeom prst="rect">
            <a:avLst/>
          </a:prstGeom>
          <a:noFill/>
          <a:ln w="9525">
            <a:noFill/>
          </a:ln>
        </p:spPr>
        <p:txBody>
          <a:bodyPr wrap="none" anchor="t">
            <a:spAutoFit/>
          </a:bodyPr>
          <a:p>
            <a:r>
              <a:rPr lang="zh-CN" altLang="en-US" sz="2400" dirty="0">
                <a:latin typeface="黑体" panose="02010609060101010101" pitchFamily="2" charset="-122"/>
                <a:ea typeface="黑体" panose="02010609060101010101" pitchFamily="2" charset="-122"/>
              </a:rPr>
              <a:t>分别代入方程</a:t>
            </a:r>
            <a:r>
              <a:rPr lang="en-US" altLang="zh-CN" sz="2400">
                <a:latin typeface="黑体" panose="02010609060101010101" pitchFamily="2" charset="-122"/>
                <a:ea typeface="黑体" panose="02010609060101010101" pitchFamily="2" charset="-122"/>
              </a:rPr>
              <a:t>(7.3),</a:t>
            </a:r>
            <a:endParaRPr lang="en-US" altLang="zh-CN" sz="2400">
              <a:latin typeface="黑体" panose="02010609060101010101" pitchFamily="2" charset="-122"/>
              <a:ea typeface="黑体" panose="02010609060101010101" pitchFamily="2" charset="-122"/>
            </a:endParaRPr>
          </a:p>
        </p:txBody>
      </p:sp>
      <p:sp>
        <p:nvSpPr>
          <p:cNvPr id="21525" name="矩形 21524"/>
          <p:cNvSpPr/>
          <p:nvPr/>
        </p:nvSpPr>
        <p:spPr>
          <a:xfrm>
            <a:off x="7019925" y="2060575"/>
            <a:ext cx="857250" cy="457200"/>
          </a:xfrm>
          <a:prstGeom prst="rect">
            <a:avLst/>
          </a:prstGeom>
          <a:noFill/>
          <a:ln w="9525">
            <a:noFill/>
          </a:ln>
        </p:spPr>
        <p:txBody>
          <a:bodyPr wrap="none" anchor="ctr">
            <a:spAutoFit/>
          </a:bodyPr>
          <a:p>
            <a:r>
              <a:rPr lang="zh-CN" altLang="en-US" sz="2400" dirty="0">
                <a:latin typeface="Arial" panose="020B0604020202020204" pitchFamily="34" charset="0"/>
                <a:ea typeface="黑体" panose="02010609060101010101" pitchFamily="2" charset="-122"/>
              </a:rPr>
              <a:t>故得</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21526" name="矩形 21525"/>
          <p:cNvSpPr/>
          <p:nvPr/>
        </p:nvSpPr>
        <p:spPr>
          <a:xfrm>
            <a:off x="179388" y="3357563"/>
            <a:ext cx="1403350" cy="457200"/>
          </a:xfrm>
          <a:prstGeom prst="rect">
            <a:avLst/>
          </a:prstGeom>
          <a:noFill/>
          <a:ln w="9525">
            <a:noFill/>
          </a:ln>
        </p:spPr>
        <p:txBody>
          <a:bodyPr wrap="none" anchor="ctr">
            <a:spAutoFit/>
          </a:bodyPr>
          <a:p>
            <a:r>
              <a:rPr lang="zh-CN" altLang="en-US" sz="2400" dirty="0">
                <a:latin typeface="Arial" panose="020B0604020202020204" pitchFamily="34" charset="0"/>
                <a:ea typeface="黑体" panose="02010609060101010101" pitchFamily="2" charset="-122"/>
              </a:rPr>
              <a:t>类似地有</a:t>
            </a:r>
            <a:endParaRPr lang="zh-CN" altLang="en-US" sz="2400" dirty="0">
              <a:latin typeface="Arial" panose="020B0604020202020204" pitchFamily="34" charset="0"/>
              <a:ea typeface="黑体" panose="02010609060101010101" pitchFamily="2" charset="-122"/>
            </a:endParaRPr>
          </a:p>
        </p:txBody>
      </p:sp>
      <p:sp>
        <p:nvSpPr>
          <p:cNvPr id="21527" name="矩形 21526"/>
          <p:cNvSpPr/>
          <p:nvPr/>
        </p:nvSpPr>
        <p:spPr>
          <a:xfrm>
            <a:off x="179388" y="4321175"/>
            <a:ext cx="3143250" cy="457200"/>
          </a:xfrm>
          <a:prstGeom prst="rect">
            <a:avLst/>
          </a:prstGeom>
          <a:noFill/>
          <a:ln w="9525">
            <a:noFill/>
          </a:ln>
        </p:spPr>
        <p:txBody>
          <a:bodyPr wrap="none" anchor="ctr">
            <a:spAutoFit/>
          </a:bodyPr>
          <a:p>
            <a:r>
              <a:rPr lang="zh-CN" altLang="en-US" sz="2400" dirty="0">
                <a:latin typeface="黑体" panose="02010609060101010101" pitchFamily="2" charset="-122"/>
                <a:ea typeface="黑体" panose="02010609060101010101" pitchFamily="2" charset="-122"/>
              </a:rPr>
              <a:t>于是，由式（</a:t>
            </a:r>
            <a:r>
              <a:rPr lang="en-US" altLang="zh-CN" sz="2400" dirty="0">
                <a:latin typeface="黑体" panose="02010609060101010101" pitchFamily="2" charset="-122"/>
                <a:ea typeface="黑体" panose="02010609060101010101" pitchFamily="2" charset="-122"/>
              </a:rPr>
              <a:t>7.3</a:t>
            </a:r>
            <a:r>
              <a:rPr lang="zh-CN" altLang="en-US" sz="2400" dirty="0">
                <a:latin typeface="黑体" panose="02010609060101010101" pitchFamily="2" charset="-122"/>
                <a:ea typeface="黑体" panose="02010609060101010101" pitchFamily="2" charset="-122"/>
              </a:rPr>
              <a:t>）有</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33" name="标题 86032"/>
          <p:cNvSpPr>
            <a:spLocks noGrp="1"/>
          </p:cNvSpPr>
          <p:nvPr>
            <p:ph type="title"/>
          </p:nvPr>
        </p:nvSpPr>
        <p:spPr/>
        <p:txBody>
          <a:bodyPr anchor="ctr"/>
          <a:p>
            <a:r>
              <a:rPr lang="en-US" altLang="zh-CN" sz="2000" dirty="0"/>
              <a:t>7.2 </a:t>
            </a:r>
            <a:r>
              <a:rPr lang="zh-CN" altLang="en-US" sz="2000" dirty="0"/>
              <a:t>灰色系统的模型</a:t>
            </a:r>
            <a:endParaRPr lang="zh-CN" altLang="en-US" sz="2000" dirty="0"/>
          </a:p>
        </p:txBody>
      </p:sp>
      <p:graphicFrame>
        <p:nvGraphicFramePr>
          <p:cNvPr id="86020" name="对象 86019"/>
          <p:cNvGraphicFramePr/>
          <p:nvPr/>
        </p:nvGraphicFramePr>
        <p:xfrm>
          <a:off x="684213" y="1125538"/>
          <a:ext cx="1152525" cy="563562"/>
        </p:xfrm>
        <a:graphic>
          <a:graphicData uri="http://schemas.openxmlformats.org/presentationml/2006/ole">
            <mc:AlternateContent xmlns:mc="http://schemas.openxmlformats.org/markup-compatibility/2006">
              <mc:Choice xmlns:v="urn:schemas-microsoft-com:vml" Requires="v">
                <p:oleObj spid="_x0000_s3106" name="" r:id="rId1" imgW="469900" imgH="228600" progId="Equation.DSMT4">
                  <p:embed/>
                </p:oleObj>
              </mc:Choice>
              <mc:Fallback>
                <p:oleObj name="" r:id="rId1" imgW="469900" imgH="228600" progId="Equation.DSMT4">
                  <p:embed/>
                  <p:pic>
                    <p:nvPicPr>
                      <p:cNvPr id="0" name="图片 3105"/>
                      <p:cNvPicPr/>
                      <p:nvPr/>
                    </p:nvPicPr>
                    <p:blipFill>
                      <a:blip r:embed="rId2"/>
                      <a:stretch>
                        <a:fillRect/>
                      </a:stretch>
                    </p:blipFill>
                    <p:spPr>
                      <a:xfrm>
                        <a:off x="684213" y="1125538"/>
                        <a:ext cx="1152525" cy="563562"/>
                      </a:xfrm>
                      <a:prstGeom prst="rect">
                        <a:avLst/>
                      </a:prstGeom>
                      <a:noFill/>
                      <a:ln w="38100">
                        <a:noFill/>
                        <a:miter/>
                      </a:ln>
                    </p:spPr>
                  </p:pic>
                </p:oleObj>
              </mc:Fallback>
            </mc:AlternateContent>
          </a:graphicData>
        </a:graphic>
      </p:graphicFrame>
      <p:graphicFrame>
        <p:nvGraphicFramePr>
          <p:cNvPr id="86022" name="对象 86021"/>
          <p:cNvGraphicFramePr/>
          <p:nvPr/>
        </p:nvGraphicFramePr>
        <p:xfrm>
          <a:off x="1908175" y="1700213"/>
          <a:ext cx="3240088" cy="3221037"/>
        </p:xfrm>
        <a:graphic>
          <a:graphicData uri="http://schemas.openxmlformats.org/presentationml/2006/ole">
            <mc:AlternateContent xmlns:mc="http://schemas.openxmlformats.org/markup-compatibility/2006">
              <mc:Choice xmlns:v="urn:schemas-microsoft-com:vml" Requires="v">
                <p:oleObj spid="_x0000_s3105" name="" r:id="rId3" imgW="1689100" imgH="1676400" progId="Equation.DSMT4">
                  <p:embed/>
                </p:oleObj>
              </mc:Choice>
              <mc:Fallback>
                <p:oleObj name="" r:id="rId3" imgW="1689100" imgH="1676400" progId="Equation.DSMT4">
                  <p:embed/>
                  <p:pic>
                    <p:nvPicPr>
                      <p:cNvPr id="0" name="图片 3104"/>
                      <p:cNvPicPr/>
                      <p:nvPr/>
                    </p:nvPicPr>
                    <p:blipFill>
                      <a:blip r:embed="rId4"/>
                      <a:stretch>
                        <a:fillRect/>
                      </a:stretch>
                    </p:blipFill>
                    <p:spPr>
                      <a:xfrm>
                        <a:off x="1908175" y="1700213"/>
                        <a:ext cx="3240088" cy="3221037"/>
                      </a:xfrm>
                      <a:prstGeom prst="rect">
                        <a:avLst/>
                      </a:prstGeom>
                      <a:noFill/>
                      <a:ln w="38100">
                        <a:noFill/>
                        <a:miter/>
                      </a:ln>
                    </p:spPr>
                  </p:pic>
                </p:oleObj>
              </mc:Fallback>
            </mc:AlternateContent>
          </a:graphicData>
        </a:graphic>
      </p:graphicFrame>
      <p:sp>
        <p:nvSpPr>
          <p:cNvPr id="86025" name="矩形 86024"/>
          <p:cNvSpPr/>
          <p:nvPr/>
        </p:nvSpPr>
        <p:spPr>
          <a:xfrm>
            <a:off x="0" y="3219450"/>
            <a:ext cx="9144000" cy="0"/>
          </a:xfrm>
          <a:prstGeom prst="rect">
            <a:avLst/>
          </a:prstGeom>
          <a:noFill/>
          <a:ln w="9525">
            <a:noFill/>
          </a:ln>
        </p:spPr>
        <p:txBody>
          <a:bodyPr/>
          <a:p>
            <a:endParaRPr lang="zh-CN" altLang="en-US"/>
          </a:p>
        </p:txBody>
      </p:sp>
      <p:graphicFrame>
        <p:nvGraphicFramePr>
          <p:cNvPr id="86024" name="对象 86023"/>
          <p:cNvGraphicFramePr/>
          <p:nvPr/>
        </p:nvGraphicFramePr>
        <p:xfrm>
          <a:off x="827088" y="5013325"/>
          <a:ext cx="638175" cy="720725"/>
        </p:xfrm>
        <a:graphic>
          <a:graphicData uri="http://schemas.openxmlformats.org/presentationml/2006/ole">
            <mc:AlternateContent xmlns:mc="http://schemas.openxmlformats.org/markup-compatibility/2006">
              <mc:Choice xmlns:v="urn:schemas-microsoft-com:vml" Requires="v">
                <p:oleObj spid="_x0000_s3102" name="" r:id="rId5" imgW="368300" imgH="419100" progId="Equation.DSMT4">
                  <p:embed/>
                </p:oleObj>
              </mc:Choice>
              <mc:Fallback>
                <p:oleObj name="" r:id="rId5" imgW="368300" imgH="419100" progId="Equation.DSMT4">
                  <p:embed/>
                  <p:pic>
                    <p:nvPicPr>
                      <p:cNvPr id="0" name="图片 3101"/>
                      <p:cNvPicPr/>
                      <p:nvPr/>
                    </p:nvPicPr>
                    <p:blipFill>
                      <a:blip r:embed="rId6"/>
                      <a:stretch>
                        <a:fillRect/>
                      </a:stretch>
                    </p:blipFill>
                    <p:spPr>
                      <a:xfrm>
                        <a:off x="827088" y="5013325"/>
                        <a:ext cx="638175" cy="720725"/>
                      </a:xfrm>
                      <a:prstGeom prst="rect">
                        <a:avLst/>
                      </a:prstGeom>
                      <a:noFill/>
                      <a:ln w="38100">
                        <a:noFill/>
                        <a:miter/>
                      </a:ln>
                    </p:spPr>
                  </p:pic>
                </p:oleObj>
              </mc:Fallback>
            </mc:AlternateContent>
          </a:graphicData>
        </a:graphic>
      </p:graphicFrame>
      <p:sp>
        <p:nvSpPr>
          <p:cNvPr id="86027" name="矩形 86026"/>
          <p:cNvSpPr/>
          <p:nvPr/>
        </p:nvSpPr>
        <p:spPr>
          <a:xfrm>
            <a:off x="0" y="3328988"/>
            <a:ext cx="9144000" cy="0"/>
          </a:xfrm>
          <a:prstGeom prst="rect">
            <a:avLst/>
          </a:prstGeom>
          <a:noFill/>
          <a:ln w="9525">
            <a:noFill/>
          </a:ln>
        </p:spPr>
        <p:txBody>
          <a:bodyPr/>
          <a:p>
            <a:endParaRPr lang="zh-CN" altLang="en-US"/>
          </a:p>
        </p:txBody>
      </p:sp>
      <p:graphicFrame>
        <p:nvGraphicFramePr>
          <p:cNvPr id="86026" name="对象 86025"/>
          <p:cNvGraphicFramePr/>
          <p:nvPr/>
        </p:nvGraphicFramePr>
        <p:xfrm>
          <a:off x="3276600" y="5157788"/>
          <a:ext cx="647700" cy="542925"/>
        </p:xfrm>
        <a:graphic>
          <a:graphicData uri="http://schemas.openxmlformats.org/presentationml/2006/ole">
            <mc:AlternateContent xmlns:mc="http://schemas.openxmlformats.org/markup-compatibility/2006">
              <mc:Choice xmlns:v="urn:schemas-microsoft-com:vml" Requires="v">
                <p:oleObj spid="_x0000_s3103" name="" r:id="rId7" imgW="241300" imgH="203200" progId="Equation.DSMT4">
                  <p:embed/>
                </p:oleObj>
              </mc:Choice>
              <mc:Fallback>
                <p:oleObj name="" r:id="rId7" imgW="241300" imgH="203200" progId="Equation.DSMT4">
                  <p:embed/>
                  <p:pic>
                    <p:nvPicPr>
                      <p:cNvPr id="0" name="图片 3102"/>
                      <p:cNvPicPr/>
                      <p:nvPr/>
                    </p:nvPicPr>
                    <p:blipFill>
                      <a:blip r:embed="rId8"/>
                      <a:stretch>
                        <a:fillRect/>
                      </a:stretch>
                    </p:blipFill>
                    <p:spPr>
                      <a:xfrm>
                        <a:off x="3276600" y="5157788"/>
                        <a:ext cx="647700" cy="542925"/>
                      </a:xfrm>
                      <a:prstGeom prst="rect">
                        <a:avLst/>
                      </a:prstGeom>
                      <a:noFill/>
                      <a:ln w="38100">
                        <a:noFill/>
                        <a:miter/>
                      </a:ln>
                    </p:spPr>
                  </p:pic>
                </p:oleObj>
              </mc:Fallback>
            </mc:AlternateContent>
          </a:graphicData>
        </a:graphic>
      </p:graphicFrame>
      <p:sp>
        <p:nvSpPr>
          <p:cNvPr id="86029" name="矩形 86028"/>
          <p:cNvSpPr/>
          <p:nvPr/>
        </p:nvSpPr>
        <p:spPr>
          <a:xfrm>
            <a:off x="0" y="3314700"/>
            <a:ext cx="9144000" cy="0"/>
          </a:xfrm>
          <a:prstGeom prst="rect">
            <a:avLst/>
          </a:prstGeom>
          <a:noFill/>
          <a:ln w="9525">
            <a:noFill/>
          </a:ln>
        </p:spPr>
        <p:txBody>
          <a:bodyPr/>
          <a:p>
            <a:endParaRPr lang="zh-CN" altLang="en-US"/>
          </a:p>
        </p:txBody>
      </p:sp>
      <p:graphicFrame>
        <p:nvGraphicFramePr>
          <p:cNvPr id="86028" name="对象 86027"/>
          <p:cNvGraphicFramePr/>
          <p:nvPr/>
        </p:nvGraphicFramePr>
        <p:xfrm>
          <a:off x="7164388" y="5157788"/>
          <a:ext cx="936625" cy="547687"/>
        </p:xfrm>
        <a:graphic>
          <a:graphicData uri="http://schemas.openxmlformats.org/presentationml/2006/ole">
            <mc:AlternateContent xmlns:mc="http://schemas.openxmlformats.org/markup-compatibility/2006">
              <mc:Choice xmlns:v="urn:schemas-microsoft-com:vml" Requires="v">
                <p:oleObj spid="_x0000_s3101" name="" r:id="rId9" imgW="393700" imgH="228600" progId="Equation.DSMT4">
                  <p:embed/>
                </p:oleObj>
              </mc:Choice>
              <mc:Fallback>
                <p:oleObj name="" r:id="rId9" imgW="393700" imgH="228600" progId="Equation.DSMT4">
                  <p:embed/>
                  <p:pic>
                    <p:nvPicPr>
                      <p:cNvPr id="0" name="图片 3100"/>
                      <p:cNvPicPr/>
                      <p:nvPr/>
                    </p:nvPicPr>
                    <p:blipFill>
                      <a:blip r:embed="rId10"/>
                      <a:stretch>
                        <a:fillRect/>
                      </a:stretch>
                    </p:blipFill>
                    <p:spPr>
                      <a:xfrm>
                        <a:off x="7164388" y="5157788"/>
                        <a:ext cx="936625" cy="547687"/>
                      </a:xfrm>
                      <a:prstGeom prst="rect">
                        <a:avLst/>
                      </a:prstGeom>
                      <a:noFill/>
                      <a:ln w="38100">
                        <a:noFill/>
                        <a:miter/>
                      </a:ln>
                    </p:spPr>
                  </p:pic>
                </p:oleObj>
              </mc:Fallback>
            </mc:AlternateContent>
          </a:graphicData>
        </a:graphic>
      </p:graphicFrame>
      <p:sp>
        <p:nvSpPr>
          <p:cNvPr id="86031" name="矩形 86030"/>
          <p:cNvSpPr/>
          <p:nvPr/>
        </p:nvSpPr>
        <p:spPr>
          <a:xfrm>
            <a:off x="0" y="3314700"/>
            <a:ext cx="9144000" cy="0"/>
          </a:xfrm>
          <a:prstGeom prst="rect">
            <a:avLst/>
          </a:prstGeom>
          <a:noFill/>
          <a:ln w="9525">
            <a:noFill/>
          </a:ln>
        </p:spPr>
        <p:txBody>
          <a:bodyPr/>
          <a:p>
            <a:endParaRPr lang="zh-CN" altLang="en-US"/>
          </a:p>
        </p:txBody>
      </p:sp>
      <p:sp>
        <p:nvSpPr>
          <p:cNvPr id="86035" name="矩形 86034"/>
          <p:cNvSpPr/>
          <p:nvPr/>
        </p:nvSpPr>
        <p:spPr>
          <a:xfrm>
            <a:off x="179388" y="5157788"/>
            <a:ext cx="857250" cy="457200"/>
          </a:xfrm>
          <a:prstGeom prst="rect">
            <a:avLst/>
          </a:prstGeom>
          <a:noFill/>
          <a:ln w="9525">
            <a:noFill/>
          </a:ln>
        </p:spPr>
        <p:txBody>
          <a:bodyPr wrap="none" anchor="ctr">
            <a:spAutoFit/>
          </a:bodyPr>
          <a:p>
            <a:r>
              <a:rPr lang="zh-CN" altLang="en-US" sz="2400" dirty="0">
                <a:latin typeface="Arial" panose="020B0604020202020204" pitchFamily="34" charset="0"/>
                <a:ea typeface="黑体" panose="02010609060101010101" pitchFamily="2" charset="-122"/>
              </a:rPr>
              <a:t>由于</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86036" name="矩形 86035"/>
          <p:cNvSpPr/>
          <p:nvPr/>
        </p:nvSpPr>
        <p:spPr>
          <a:xfrm>
            <a:off x="1403350" y="5229225"/>
            <a:ext cx="2076450" cy="457200"/>
          </a:xfrm>
          <a:prstGeom prst="rect">
            <a:avLst/>
          </a:prstGeom>
          <a:noFill/>
          <a:ln w="9525">
            <a:noFill/>
          </a:ln>
        </p:spPr>
        <p:txBody>
          <a:bodyPr wrap="none" anchor="ctr">
            <a:spAutoFit/>
          </a:bodyPr>
          <a:p>
            <a:r>
              <a:rPr lang="zh-CN" altLang="en-US" sz="2400" dirty="0">
                <a:latin typeface="Arial" panose="020B0604020202020204" pitchFamily="34" charset="0"/>
                <a:ea typeface="黑体" panose="02010609060101010101" pitchFamily="2" charset="-122"/>
              </a:rPr>
              <a:t>涉及到累加列</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86037" name="矩形 86036"/>
          <p:cNvSpPr/>
          <p:nvPr/>
        </p:nvSpPr>
        <p:spPr>
          <a:xfrm>
            <a:off x="3851275" y="5229225"/>
            <a:ext cx="3600450" cy="457200"/>
          </a:xfrm>
          <a:prstGeom prst="rect">
            <a:avLst/>
          </a:prstGeom>
          <a:noFill/>
          <a:ln w="9525">
            <a:noFill/>
          </a:ln>
        </p:spPr>
        <p:txBody>
          <a:bodyPr wrap="none" anchor="ctr">
            <a:spAutoFit/>
          </a:bodyPr>
          <a:p>
            <a:r>
              <a:rPr lang="zh-CN" altLang="en-US" sz="2400" dirty="0">
                <a:latin typeface="Arial" panose="020B0604020202020204" pitchFamily="34" charset="0"/>
                <a:ea typeface="黑体" panose="02010609060101010101" pitchFamily="2" charset="-122"/>
              </a:rPr>
              <a:t>的两个时刻的值，因此，</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86038" name="矩形 86037"/>
          <p:cNvSpPr/>
          <p:nvPr/>
        </p:nvSpPr>
        <p:spPr>
          <a:xfrm>
            <a:off x="0" y="5734050"/>
            <a:ext cx="6207125" cy="457200"/>
          </a:xfrm>
          <a:prstGeom prst="rect">
            <a:avLst/>
          </a:prstGeom>
          <a:noFill/>
          <a:ln w="9525">
            <a:noFill/>
          </a:ln>
        </p:spPr>
        <p:txBody>
          <a:bodyPr wrap="none" anchor="ctr">
            <a:spAutoFit/>
          </a:bodyPr>
          <a:p>
            <a:r>
              <a:rPr lang="en-US" altLang="zh-CN" sz="2400" dirty="0">
                <a:latin typeface="Arial" panose="020B0604020202020204" pitchFamily="34" charset="0"/>
                <a:ea typeface="黑体" panose="02010609060101010101" pitchFamily="2" charset="-122"/>
              </a:rPr>
              <a:t>  </a:t>
            </a:r>
            <a:r>
              <a:rPr lang="zh-CN" altLang="en-US" sz="2400" dirty="0">
                <a:latin typeface="Arial" panose="020B0604020202020204" pitchFamily="34" charset="0"/>
                <a:ea typeface="黑体" panose="02010609060101010101" pitchFamily="2" charset="-122"/>
              </a:rPr>
              <a:t>取前后两个时刻的平均代替更为合理，即将</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86039" name="矩形 86038"/>
          <p:cNvSpPr/>
          <p:nvPr/>
        </p:nvSpPr>
        <p:spPr>
          <a:xfrm>
            <a:off x="6948488" y="5661025"/>
            <a:ext cx="1162050" cy="457200"/>
          </a:xfrm>
          <a:prstGeom prst="rect">
            <a:avLst/>
          </a:prstGeom>
          <a:noFill/>
          <a:ln w="9525">
            <a:noFill/>
          </a:ln>
        </p:spPr>
        <p:txBody>
          <a:bodyPr wrap="none" anchor="ctr">
            <a:spAutoFit/>
          </a:bodyPr>
          <a:p>
            <a:r>
              <a:rPr lang="zh-CN" altLang="en-US" sz="2400" dirty="0">
                <a:latin typeface="Arial" panose="020B0604020202020204" pitchFamily="34" charset="0"/>
                <a:ea typeface="黑体" panose="02010609060101010101" pitchFamily="2" charset="-122"/>
              </a:rPr>
              <a:t>替换为</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86041" name="矩形 86040"/>
          <p:cNvSpPr/>
          <p:nvPr/>
        </p:nvSpPr>
        <p:spPr>
          <a:xfrm>
            <a:off x="323850" y="1223963"/>
            <a:ext cx="552450" cy="457200"/>
          </a:xfrm>
          <a:prstGeom prst="rect">
            <a:avLst/>
          </a:prstGeom>
          <a:noFill/>
          <a:ln w="9525">
            <a:noFill/>
          </a:ln>
        </p:spPr>
        <p:txBody>
          <a:bodyPr wrap="none" anchor="ctr">
            <a:spAutoFit/>
          </a:bodyPr>
          <a:p>
            <a:r>
              <a:rPr lang="zh-CN" altLang="en-US" sz="2400" dirty="0">
                <a:latin typeface="Arial" panose="020B0604020202020204" pitchFamily="34" charset="0"/>
                <a:ea typeface="黑体" panose="02010609060101010101" pitchFamily="2" charset="-122"/>
              </a:rPr>
              <a:t>把</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86042" name="矩形 86041"/>
          <p:cNvSpPr/>
          <p:nvPr/>
        </p:nvSpPr>
        <p:spPr>
          <a:xfrm>
            <a:off x="1835150" y="1196975"/>
            <a:ext cx="5429250" cy="457200"/>
          </a:xfrm>
          <a:prstGeom prst="rect">
            <a:avLst/>
          </a:prstGeom>
          <a:noFill/>
          <a:ln w="9525">
            <a:noFill/>
          </a:ln>
        </p:spPr>
        <p:txBody>
          <a:bodyPr wrap="none" anchor="ctr">
            <a:spAutoFit/>
          </a:bodyPr>
          <a:p>
            <a:r>
              <a:rPr lang="zh-CN" altLang="en-US" sz="2400" dirty="0">
                <a:latin typeface="Arial" panose="020B0604020202020204" pitchFamily="34" charset="0"/>
                <a:ea typeface="黑体" panose="02010609060101010101" pitchFamily="2" charset="-122"/>
              </a:rPr>
              <a:t>项移到右边，并写成向量的数量积形式</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86046" name="矩形 86045"/>
          <p:cNvSpPr/>
          <p:nvPr/>
        </p:nvSpPr>
        <p:spPr>
          <a:xfrm>
            <a:off x="7380288" y="3068638"/>
            <a:ext cx="874712" cy="457200"/>
          </a:xfrm>
          <a:prstGeom prst="rect">
            <a:avLst/>
          </a:prstGeom>
          <a:noFill/>
          <a:ln w="9525">
            <a:noFill/>
          </a:ln>
        </p:spPr>
        <p:txBody>
          <a:bodyPr wrap="none" anchor="ctr">
            <a:spAutoFit/>
          </a:bodyPr>
          <a:p>
            <a:r>
              <a:rPr lang="en-US" altLang="zh-CN" sz="2400">
                <a:latin typeface="Arial" panose="020B0604020202020204" pitchFamily="34" charset="0"/>
              </a:rPr>
              <a:t>(7.5)</a:t>
            </a:r>
            <a:r>
              <a:rPr lang="en-US" altLang="zh-CN">
                <a:latin typeface="Arial" panose="020B0604020202020204" pitchFamily="34" charset="0"/>
              </a:rPr>
              <a:t> </a:t>
            </a:r>
            <a:endParaRPr lang="en-US" altLang="zh-CN">
              <a:latin typeface="Arial" panose="020B0604020202020204" pitchFamily="34" charset="0"/>
            </a:endParaRPr>
          </a:p>
        </p:txBody>
      </p:sp>
      <p:graphicFrame>
        <p:nvGraphicFramePr>
          <p:cNvPr id="2" name="对象 1">
            <a:hlinkClick r:id="" action="ppaction://ole?verb="/>
          </p:cNvPr>
          <p:cNvGraphicFramePr>
            <a:graphicFrameLocks noChangeAspect="1"/>
          </p:cNvGraphicFramePr>
          <p:nvPr/>
        </p:nvGraphicFramePr>
        <p:xfrm>
          <a:off x="4375150" y="3314700"/>
          <a:ext cx="393700" cy="228600"/>
        </p:xfrm>
        <a:graphic>
          <a:graphicData uri="http://schemas.openxmlformats.org/presentationml/2006/ole">
            <mc:AlternateContent xmlns:mc="http://schemas.openxmlformats.org/markup-compatibility/2006">
              <mc:Choice xmlns:v="urn:schemas-microsoft-com:vml" Requires="v">
                <p:oleObj spid="_x0000_s1025" name="" r:id="rId11" imgW="393700" imgH="228600" progId="Equation.KSEE3">
                  <p:embed/>
                </p:oleObj>
              </mc:Choice>
              <mc:Fallback>
                <p:oleObj name="" r:id="rId11" imgW="393700" imgH="228600" progId="Equation.KSEE3">
                  <p:embed/>
                  <p:pic>
                    <p:nvPicPr>
                      <p:cNvPr id="0" name="图片 1024"/>
                      <p:cNvPicPr/>
                      <p:nvPr/>
                    </p:nvPicPr>
                    <p:blipFill>
                      <a:blip r:embed="rId12"/>
                      <a:stretch>
                        <a:fillRect/>
                      </a:stretch>
                    </p:blipFill>
                    <p:spPr>
                      <a:xfrm>
                        <a:off x="4375150" y="3314700"/>
                        <a:ext cx="393700" cy="228600"/>
                      </a:xfrm>
                      <a:prstGeom prst="rect">
                        <a:avLst/>
                      </a:prstGeom>
                    </p:spPr>
                  </p:pic>
                </p:oleObj>
              </mc:Fallback>
            </mc:AlternateContent>
          </a:graphicData>
        </a:graphic>
      </p:graphicFrame>
      <p:graphicFrame>
        <p:nvGraphicFramePr>
          <p:cNvPr id="3" name="对象 2"/>
          <p:cNvGraphicFramePr/>
          <p:nvPr/>
        </p:nvGraphicFramePr>
        <p:xfrm>
          <a:off x="6084253" y="5615623"/>
          <a:ext cx="936625" cy="547687"/>
        </p:xfrm>
        <a:graphic>
          <a:graphicData uri="http://schemas.openxmlformats.org/presentationml/2006/ole">
            <mc:AlternateContent xmlns:mc="http://schemas.openxmlformats.org/markup-compatibility/2006">
              <mc:Choice xmlns:v="urn:schemas-microsoft-com:vml" Requires="v">
                <p:oleObj spid="_x0000_s4" name="" r:id="rId13" imgW="393700" imgH="228600" progId="Equation.DSMT4">
                  <p:embed/>
                </p:oleObj>
              </mc:Choice>
              <mc:Fallback>
                <p:oleObj name="" r:id="rId13" imgW="393700" imgH="228600" progId="Equation.DSMT4">
                  <p:embed/>
                  <p:pic>
                    <p:nvPicPr>
                      <p:cNvPr id="0" name="图片 3100"/>
                      <p:cNvPicPr/>
                      <p:nvPr/>
                    </p:nvPicPr>
                    <p:blipFill>
                      <a:blip r:embed="rId10"/>
                      <a:stretch>
                        <a:fillRect/>
                      </a:stretch>
                    </p:blipFill>
                    <p:spPr>
                      <a:xfrm>
                        <a:off x="6084253" y="5615623"/>
                        <a:ext cx="936625" cy="547687"/>
                      </a:xfrm>
                      <a:prstGeom prst="rect">
                        <a:avLst/>
                      </a:prstGeom>
                      <a:noFill/>
                      <a:ln w="38100">
                        <a:noFill/>
                        <a:miter/>
                      </a:ln>
                    </p:spPr>
                  </p:pic>
                </p:oleObj>
              </mc:Fallback>
            </mc:AlternateContent>
          </a:graphicData>
        </a:graphic>
      </p:graphicFrame>
      <p:sp>
        <p:nvSpPr>
          <p:cNvPr id="5" name="圆角矩形 4"/>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70" name="标题 88069"/>
          <p:cNvSpPr>
            <a:spLocks noGrp="1"/>
          </p:cNvSpPr>
          <p:nvPr>
            <p:ph type="title"/>
          </p:nvPr>
        </p:nvSpPr>
        <p:spPr/>
        <p:txBody>
          <a:bodyPr anchor="ctr"/>
          <a:p>
            <a:r>
              <a:rPr lang="en-US" altLang="zh-CN" sz="2000" dirty="0"/>
              <a:t>7.2 </a:t>
            </a:r>
            <a:r>
              <a:rPr lang="zh-CN" altLang="en-US" sz="2000" dirty="0"/>
              <a:t>灰色系统的模型</a:t>
            </a:r>
            <a:endParaRPr lang="zh-CN" altLang="en-US" sz="2000" dirty="0"/>
          </a:p>
        </p:txBody>
      </p:sp>
      <p:sp>
        <p:nvSpPr>
          <p:cNvPr id="88068" name="矩形 88067"/>
          <p:cNvSpPr/>
          <p:nvPr/>
        </p:nvSpPr>
        <p:spPr>
          <a:xfrm>
            <a:off x="179388" y="2060575"/>
            <a:ext cx="3956050" cy="457200"/>
          </a:xfrm>
          <a:prstGeom prst="rect">
            <a:avLst/>
          </a:prstGeom>
          <a:noFill/>
          <a:ln w="9525">
            <a:noFill/>
          </a:ln>
        </p:spPr>
        <p:txBody>
          <a:bodyPr wrap="none" anchor="ctr">
            <a:spAutoFit/>
          </a:bodyPr>
          <a:p>
            <a:r>
              <a:rPr lang="zh-CN" altLang="en-US" sz="2400" dirty="0">
                <a:latin typeface="黑体" panose="02010609060101010101" pitchFamily="2" charset="-122"/>
                <a:ea typeface="黑体" panose="02010609060101010101" pitchFamily="2" charset="-122"/>
              </a:rPr>
              <a:t>将（</a:t>
            </a:r>
            <a:r>
              <a:rPr lang="en-US" altLang="zh-CN" sz="2400" dirty="0">
                <a:latin typeface="黑体" panose="02010609060101010101" pitchFamily="2" charset="-122"/>
                <a:ea typeface="黑体" panose="02010609060101010101" pitchFamily="2" charset="-122"/>
              </a:rPr>
              <a:t>7.5</a:t>
            </a:r>
            <a:r>
              <a:rPr lang="zh-CN" altLang="en-US" sz="2400" dirty="0">
                <a:latin typeface="黑体" panose="02010609060101010101" pitchFamily="2" charset="-122"/>
                <a:ea typeface="黑体" panose="02010609060101010101" pitchFamily="2" charset="-122"/>
              </a:rPr>
              <a:t>）写为矩阵表达式</a:t>
            </a:r>
            <a:endParaRPr lang="zh-CN" altLang="en-US" sz="2400" dirty="0">
              <a:latin typeface="黑体" panose="02010609060101010101" pitchFamily="2" charset="-122"/>
              <a:ea typeface="黑体" panose="02010609060101010101" pitchFamily="2" charset="-122"/>
            </a:endParaRPr>
          </a:p>
        </p:txBody>
      </p:sp>
      <p:graphicFrame>
        <p:nvGraphicFramePr>
          <p:cNvPr id="88069" name="内容占位符 88068"/>
          <p:cNvGraphicFramePr/>
          <p:nvPr>
            <p:ph idx="1"/>
          </p:nvPr>
        </p:nvGraphicFramePr>
        <p:xfrm>
          <a:off x="2124075" y="4508500"/>
          <a:ext cx="4535488" cy="500063"/>
        </p:xfrm>
        <a:graphic>
          <a:graphicData uri="http://schemas.openxmlformats.org/presentationml/2006/ole">
            <mc:AlternateContent xmlns:mc="http://schemas.openxmlformats.org/markup-compatibility/2006">
              <mc:Choice xmlns:v="urn:schemas-microsoft-com:vml" Requires="v">
                <p:oleObj spid="_x0000_s3100" name="" r:id="rId1" imgW="2070100" imgH="228600" progId="Equation.DSMT4">
                  <p:embed/>
                </p:oleObj>
              </mc:Choice>
              <mc:Fallback>
                <p:oleObj name="" r:id="rId1" imgW="2070100" imgH="228600" progId="Equation.DSMT4">
                  <p:embed/>
                  <p:pic>
                    <p:nvPicPr>
                      <p:cNvPr id="0" name="图片 3099"/>
                      <p:cNvPicPr/>
                      <p:nvPr/>
                    </p:nvPicPr>
                    <p:blipFill>
                      <a:blip r:embed="rId2"/>
                      <a:stretch>
                        <a:fillRect/>
                      </a:stretch>
                    </p:blipFill>
                    <p:spPr>
                      <a:xfrm>
                        <a:off x="2124075" y="4508500"/>
                        <a:ext cx="4535488" cy="500063"/>
                      </a:xfrm>
                      <a:prstGeom prst="rect">
                        <a:avLst/>
                      </a:prstGeom>
                      <a:noFill/>
                      <a:ln w="38100">
                        <a:miter/>
                      </a:ln>
                    </p:spPr>
                  </p:pic>
                </p:oleObj>
              </mc:Fallback>
            </mc:AlternateContent>
          </a:graphicData>
        </a:graphic>
      </p:graphicFrame>
      <p:sp>
        <p:nvSpPr>
          <p:cNvPr id="88073" name="矩形 88072"/>
          <p:cNvSpPr/>
          <p:nvPr/>
        </p:nvSpPr>
        <p:spPr>
          <a:xfrm>
            <a:off x="0" y="2957513"/>
            <a:ext cx="9144000" cy="0"/>
          </a:xfrm>
          <a:prstGeom prst="rect">
            <a:avLst/>
          </a:prstGeom>
          <a:noFill/>
          <a:ln w="9525">
            <a:noFill/>
          </a:ln>
        </p:spPr>
        <p:txBody>
          <a:bodyPr/>
          <a:p>
            <a:endParaRPr lang="zh-CN" altLang="en-US"/>
          </a:p>
        </p:txBody>
      </p:sp>
      <p:graphicFrame>
        <p:nvGraphicFramePr>
          <p:cNvPr id="88072" name="对象 88071"/>
          <p:cNvGraphicFramePr/>
          <p:nvPr/>
        </p:nvGraphicFramePr>
        <p:xfrm>
          <a:off x="1619250" y="2565400"/>
          <a:ext cx="5472113" cy="1806575"/>
        </p:xfrm>
        <a:graphic>
          <a:graphicData uri="http://schemas.openxmlformats.org/presentationml/2006/ole">
            <mc:AlternateContent xmlns:mc="http://schemas.openxmlformats.org/markup-compatibility/2006">
              <mc:Choice xmlns:v="urn:schemas-microsoft-com:vml" Requires="v">
                <p:oleObj spid="_x0000_s3110" name="" r:id="rId3" imgW="2857500" imgH="939800" progId="Equation.DSMT4">
                  <p:embed/>
                </p:oleObj>
              </mc:Choice>
              <mc:Fallback>
                <p:oleObj name="" r:id="rId3" imgW="2857500" imgH="939800" progId="Equation.DSMT4">
                  <p:embed/>
                  <p:pic>
                    <p:nvPicPr>
                      <p:cNvPr id="0" name="图片 3109"/>
                      <p:cNvPicPr/>
                      <p:nvPr/>
                    </p:nvPicPr>
                    <p:blipFill>
                      <a:blip r:embed="rId4"/>
                      <a:stretch>
                        <a:fillRect/>
                      </a:stretch>
                    </p:blipFill>
                    <p:spPr>
                      <a:xfrm>
                        <a:off x="1619250" y="2565400"/>
                        <a:ext cx="5472113" cy="1806575"/>
                      </a:xfrm>
                      <a:prstGeom prst="rect">
                        <a:avLst/>
                      </a:prstGeom>
                      <a:noFill/>
                      <a:ln w="38100">
                        <a:noFill/>
                        <a:miter/>
                      </a:ln>
                    </p:spPr>
                  </p:pic>
                </p:oleObj>
              </mc:Fallback>
            </mc:AlternateContent>
          </a:graphicData>
        </a:graphic>
      </p:graphicFrame>
      <p:sp>
        <p:nvSpPr>
          <p:cNvPr id="88074" name="矩形 88073"/>
          <p:cNvSpPr/>
          <p:nvPr/>
        </p:nvSpPr>
        <p:spPr>
          <a:xfrm>
            <a:off x="179388" y="4464050"/>
            <a:ext cx="755650" cy="457200"/>
          </a:xfrm>
          <a:prstGeom prst="rect">
            <a:avLst/>
          </a:prstGeom>
          <a:noFill/>
          <a:ln w="9525">
            <a:noFill/>
          </a:ln>
        </p:spPr>
        <p:txBody>
          <a:bodyPr wrap="none" anchor="ctr">
            <a:spAutoFit/>
          </a:bodyPr>
          <a:p>
            <a:r>
              <a:rPr lang="zh-CN" altLang="en-US" sz="2400" dirty="0">
                <a:latin typeface="Arial" panose="020B0604020202020204" pitchFamily="34" charset="0"/>
                <a:ea typeface="黑体" panose="02010609060101010101" pitchFamily="2" charset="-122"/>
              </a:rPr>
              <a:t>令</a:t>
            </a:r>
            <a:endParaRPr lang="zh-CN" altLang="en-US" sz="2400" dirty="0">
              <a:latin typeface="Arial" panose="020B0604020202020204" pitchFamily="34" charset="0"/>
              <a:ea typeface="黑体" panose="02010609060101010101" pitchFamily="2" charset="-122"/>
            </a:endParaRPr>
          </a:p>
        </p:txBody>
      </p:sp>
      <p:sp>
        <p:nvSpPr>
          <p:cNvPr id="88078" name="矩形 88077"/>
          <p:cNvSpPr/>
          <p:nvPr/>
        </p:nvSpPr>
        <p:spPr>
          <a:xfrm>
            <a:off x="395288" y="5472113"/>
            <a:ext cx="2927350" cy="457200"/>
          </a:xfrm>
          <a:prstGeom prst="rect">
            <a:avLst/>
          </a:prstGeom>
          <a:noFill/>
          <a:ln w="9525">
            <a:noFill/>
          </a:ln>
        </p:spPr>
        <p:txBody>
          <a:bodyPr wrap="none" anchor="ctr">
            <a:spAutoFit/>
          </a:bodyPr>
          <a:p>
            <a:r>
              <a:rPr lang="zh-CN" altLang="en-US" sz="2400" dirty="0">
                <a:latin typeface="黑体" panose="02010609060101010101" pitchFamily="2" charset="-122"/>
                <a:ea typeface="黑体" panose="02010609060101010101" pitchFamily="2" charset="-122"/>
              </a:rPr>
              <a:t>这里，</a:t>
            </a:r>
            <a:r>
              <a:rPr lang="en-US" altLang="zh-CN" sz="2400" dirty="0">
                <a:latin typeface="黑体" panose="02010609060101010101" pitchFamily="2" charset="-122"/>
                <a:ea typeface="黑体" panose="02010609060101010101" pitchFamily="2" charset="-122"/>
              </a:rPr>
              <a:t>T</a:t>
            </a:r>
            <a:r>
              <a:rPr lang="zh-CN" altLang="en-US" sz="2400" dirty="0">
                <a:latin typeface="黑体" panose="02010609060101010101" pitchFamily="2" charset="-122"/>
                <a:ea typeface="黑体" panose="02010609060101010101" pitchFamily="2" charset="-122"/>
              </a:rPr>
              <a:t>表示转置</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令</a:t>
            </a:r>
            <a:endParaRPr lang="zh-CN" altLang="en-US" sz="2400" dirty="0">
              <a:latin typeface="黑体" panose="02010609060101010101" pitchFamily="2" charset="-122"/>
              <a:ea typeface="黑体" panose="02010609060101010101" pitchFamily="2" charset="-122"/>
            </a:endParaRPr>
          </a:p>
        </p:txBody>
      </p:sp>
      <p:sp>
        <p:nvSpPr>
          <p:cNvPr id="88080" name="矩形 88079"/>
          <p:cNvSpPr/>
          <p:nvPr/>
        </p:nvSpPr>
        <p:spPr>
          <a:xfrm>
            <a:off x="7380288" y="3141663"/>
            <a:ext cx="874712" cy="457200"/>
          </a:xfrm>
          <a:prstGeom prst="rect">
            <a:avLst/>
          </a:prstGeom>
          <a:noFill/>
          <a:ln w="9525">
            <a:noFill/>
          </a:ln>
        </p:spPr>
        <p:txBody>
          <a:bodyPr wrap="none" anchor="ctr">
            <a:spAutoFit/>
          </a:bodyPr>
          <a:p>
            <a:r>
              <a:rPr lang="en-US" altLang="zh-CN" sz="2400">
                <a:latin typeface="Arial" panose="020B0604020202020204" pitchFamily="34" charset="0"/>
              </a:rPr>
              <a:t>(7.6)</a:t>
            </a:r>
            <a:r>
              <a:rPr lang="en-US" altLang="zh-CN">
                <a:latin typeface="Arial" panose="020B0604020202020204" pitchFamily="34" charset="0"/>
              </a:rPr>
              <a:t> </a:t>
            </a:r>
            <a:endParaRPr lang="en-US" altLang="zh-CN">
              <a:latin typeface="Arial" panose="020B0604020202020204" pitchFamily="34" charset="0"/>
            </a:endParaRPr>
          </a:p>
        </p:txBody>
      </p:sp>
      <p:graphicFrame>
        <p:nvGraphicFramePr>
          <p:cNvPr id="3" name="对象 2">
            <a:hlinkClick r:id="" action="ppaction://ole?verb="/>
          </p:cNvPr>
          <p:cNvGraphicFramePr>
            <a:graphicFrameLocks noChangeAspect="1"/>
          </p:cNvGraphicFramePr>
          <p:nvPr/>
        </p:nvGraphicFramePr>
        <p:xfrm>
          <a:off x="2211705" y="1228090"/>
          <a:ext cx="4286885" cy="707390"/>
        </p:xfrm>
        <a:graphic>
          <a:graphicData uri="http://schemas.openxmlformats.org/presentationml/2006/ole">
            <mc:AlternateContent xmlns:mc="http://schemas.openxmlformats.org/markup-compatibility/2006">
              <mc:Choice xmlns:v="urn:schemas-microsoft-com:vml" Requires="v">
                <p:oleObj spid="_x0000_s2050" name="" r:id="rId5" imgW="2120900" imgH="393700" progId="Equation.KSEE3">
                  <p:embed/>
                </p:oleObj>
              </mc:Choice>
              <mc:Fallback>
                <p:oleObj name="" r:id="rId5" imgW="2120900" imgH="393700" progId="Equation.KSEE3">
                  <p:embed/>
                  <p:pic>
                    <p:nvPicPr>
                      <p:cNvPr id="0" name="图片 2049"/>
                      <p:cNvPicPr/>
                      <p:nvPr/>
                    </p:nvPicPr>
                    <p:blipFill>
                      <a:blip r:embed="rId6"/>
                      <a:stretch>
                        <a:fillRect/>
                      </a:stretch>
                    </p:blipFill>
                    <p:spPr>
                      <a:xfrm>
                        <a:off x="2211705" y="1228090"/>
                        <a:ext cx="4286885" cy="707390"/>
                      </a:xfrm>
                      <a:prstGeom prst="rect">
                        <a:avLst/>
                      </a:prstGeom>
                    </p:spPr>
                  </p:pic>
                </p:oleObj>
              </mc:Fallback>
            </mc:AlternateContent>
          </a:graphicData>
        </a:graphic>
      </p:graphicFrame>
      <p:sp>
        <p:nvSpPr>
          <p:cNvPr id="4" name="圆角矩形 3"/>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标题 91137"/>
          <p:cNvSpPr>
            <a:spLocks noGrp="1"/>
          </p:cNvSpPr>
          <p:nvPr>
            <p:ph type="title"/>
          </p:nvPr>
        </p:nvSpPr>
        <p:spPr/>
        <p:txBody>
          <a:bodyPr anchor="ctr"/>
          <a:p>
            <a:r>
              <a:rPr lang="en-US" altLang="zh-CN" sz="2000" dirty="0"/>
              <a:t>7.2 </a:t>
            </a:r>
            <a:r>
              <a:rPr lang="zh-CN" altLang="en-US" sz="2000" dirty="0"/>
              <a:t>灰色系统的模型</a:t>
            </a:r>
            <a:endParaRPr lang="zh-CN" altLang="en-US" sz="2000" dirty="0"/>
          </a:p>
        </p:txBody>
      </p:sp>
      <p:sp>
        <p:nvSpPr>
          <p:cNvPr id="91141" name="矩形 91140"/>
          <p:cNvSpPr/>
          <p:nvPr/>
        </p:nvSpPr>
        <p:spPr>
          <a:xfrm>
            <a:off x="0" y="2957513"/>
            <a:ext cx="9144000" cy="0"/>
          </a:xfrm>
          <a:prstGeom prst="rect">
            <a:avLst/>
          </a:prstGeom>
          <a:noFill/>
          <a:ln w="9525">
            <a:noFill/>
          </a:ln>
        </p:spPr>
        <p:txBody>
          <a:bodyPr/>
          <a:p>
            <a:endParaRPr lang="zh-CN" altLang="en-US"/>
          </a:p>
        </p:txBody>
      </p:sp>
      <p:graphicFrame>
        <p:nvGraphicFramePr>
          <p:cNvPr id="91140" name="对象 91139"/>
          <p:cNvGraphicFramePr/>
          <p:nvPr/>
        </p:nvGraphicFramePr>
        <p:xfrm>
          <a:off x="2124075" y="1268413"/>
          <a:ext cx="5832475" cy="2062162"/>
        </p:xfrm>
        <a:graphic>
          <a:graphicData uri="http://schemas.openxmlformats.org/presentationml/2006/ole">
            <mc:AlternateContent xmlns:mc="http://schemas.openxmlformats.org/markup-compatibility/2006">
              <mc:Choice xmlns:v="urn:schemas-microsoft-com:vml" Requires="v">
                <p:oleObj spid="_x0000_s3113" name="" r:id="rId1" imgW="2667000" imgH="939800" progId="Equation.DSMT4">
                  <p:embed/>
                </p:oleObj>
              </mc:Choice>
              <mc:Fallback>
                <p:oleObj name="" r:id="rId1" imgW="2667000" imgH="939800" progId="Equation.DSMT4">
                  <p:embed/>
                  <p:pic>
                    <p:nvPicPr>
                      <p:cNvPr id="0" name="图片 3112"/>
                      <p:cNvPicPr/>
                      <p:nvPr/>
                    </p:nvPicPr>
                    <p:blipFill>
                      <a:blip r:embed="rId2"/>
                      <a:stretch>
                        <a:fillRect/>
                      </a:stretch>
                    </p:blipFill>
                    <p:spPr>
                      <a:xfrm>
                        <a:off x="2124075" y="1268413"/>
                        <a:ext cx="5832475" cy="2062162"/>
                      </a:xfrm>
                      <a:prstGeom prst="rect">
                        <a:avLst/>
                      </a:prstGeom>
                      <a:noFill/>
                      <a:ln w="38100">
                        <a:noFill/>
                        <a:miter/>
                      </a:ln>
                    </p:spPr>
                  </p:pic>
                </p:oleObj>
              </mc:Fallback>
            </mc:AlternateContent>
          </a:graphicData>
        </a:graphic>
      </p:graphicFrame>
      <p:sp>
        <p:nvSpPr>
          <p:cNvPr id="91142" name="矩形 91141"/>
          <p:cNvSpPr/>
          <p:nvPr/>
        </p:nvSpPr>
        <p:spPr>
          <a:xfrm>
            <a:off x="179388" y="3455988"/>
            <a:ext cx="3384550" cy="457200"/>
          </a:xfrm>
          <a:prstGeom prst="rect">
            <a:avLst/>
          </a:prstGeom>
          <a:noFill/>
          <a:ln w="9525">
            <a:noFill/>
          </a:ln>
        </p:spPr>
        <p:txBody>
          <a:bodyPr wrap="none" anchor="ctr">
            <a:spAutoFit/>
          </a:bodyPr>
          <a:p>
            <a:pPr defTabSz="0">
              <a:tabLst>
                <a:tab pos="457200" algn="l"/>
              </a:tabLst>
            </a:pPr>
            <a:r>
              <a:rPr lang="zh-CN" altLang="en-US" sz="2400" dirty="0">
                <a:latin typeface="黑体" panose="02010609060101010101" pitchFamily="2" charset="-122"/>
                <a:ea typeface="黑体" panose="02010609060101010101" pitchFamily="2" charset="-122"/>
              </a:rPr>
              <a:t>则</a:t>
            </a:r>
            <a:r>
              <a:rPr lang="en-US" altLang="zh-CN" sz="2400" dirty="0">
                <a:latin typeface="黑体" panose="02010609060101010101" pitchFamily="2" charset="-122"/>
                <a:ea typeface="黑体" panose="02010609060101010101" pitchFamily="2" charset="-122"/>
              </a:rPr>
              <a:t>(7.6)</a:t>
            </a:r>
            <a:r>
              <a:rPr lang="zh-CN" altLang="en-US" sz="2400" dirty="0">
                <a:latin typeface="黑体" panose="02010609060101010101" pitchFamily="2" charset="-122"/>
                <a:ea typeface="黑体" panose="02010609060101010101" pitchFamily="2" charset="-122"/>
              </a:rPr>
              <a:t>式的矩阵形式为</a:t>
            </a:r>
            <a:endParaRPr lang="zh-CN" altLang="en-US" sz="2400" dirty="0">
              <a:latin typeface="黑体" panose="02010609060101010101" pitchFamily="2" charset="-122"/>
              <a:ea typeface="黑体" panose="02010609060101010101" pitchFamily="2" charset="-122"/>
            </a:endParaRPr>
          </a:p>
        </p:txBody>
      </p:sp>
      <p:sp>
        <p:nvSpPr>
          <p:cNvPr id="91144" name="矩形 91143"/>
          <p:cNvSpPr/>
          <p:nvPr/>
        </p:nvSpPr>
        <p:spPr>
          <a:xfrm>
            <a:off x="0" y="3328988"/>
            <a:ext cx="9144000" cy="0"/>
          </a:xfrm>
          <a:prstGeom prst="rect">
            <a:avLst/>
          </a:prstGeom>
          <a:noFill/>
          <a:ln w="9525">
            <a:noFill/>
          </a:ln>
        </p:spPr>
        <p:txBody>
          <a:bodyPr/>
          <a:p>
            <a:endParaRPr lang="zh-CN" altLang="en-US"/>
          </a:p>
        </p:txBody>
      </p:sp>
      <p:graphicFrame>
        <p:nvGraphicFramePr>
          <p:cNvPr id="91143" name="对象 91142"/>
          <p:cNvGraphicFramePr/>
          <p:nvPr/>
        </p:nvGraphicFramePr>
        <p:xfrm>
          <a:off x="3419475" y="3860800"/>
          <a:ext cx="1296988" cy="512763"/>
        </p:xfrm>
        <a:graphic>
          <a:graphicData uri="http://schemas.openxmlformats.org/presentationml/2006/ole">
            <mc:AlternateContent xmlns:mc="http://schemas.openxmlformats.org/markup-compatibility/2006">
              <mc:Choice xmlns:v="urn:schemas-microsoft-com:vml" Requires="v">
                <p:oleObj spid="_x0000_s3114" name="" r:id="rId3" imgW="508000" imgH="203200" progId="Equation.DSMT4">
                  <p:embed/>
                </p:oleObj>
              </mc:Choice>
              <mc:Fallback>
                <p:oleObj name="" r:id="rId3" imgW="508000" imgH="203200" progId="Equation.DSMT4">
                  <p:embed/>
                  <p:pic>
                    <p:nvPicPr>
                      <p:cNvPr id="0" name="图片 3113"/>
                      <p:cNvPicPr/>
                      <p:nvPr/>
                    </p:nvPicPr>
                    <p:blipFill>
                      <a:blip r:embed="rId4"/>
                      <a:stretch>
                        <a:fillRect/>
                      </a:stretch>
                    </p:blipFill>
                    <p:spPr>
                      <a:xfrm>
                        <a:off x="3419475" y="3860800"/>
                        <a:ext cx="1296988" cy="512763"/>
                      </a:xfrm>
                      <a:prstGeom prst="rect">
                        <a:avLst/>
                      </a:prstGeom>
                      <a:noFill/>
                      <a:ln w="38100">
                        <a:noFill/>
                        <a:miter/>
                      </a:ln>
                    </p:spPr>
                  </p:pic>
                </p:oleObj>
              </mc:Fallback>
            </mc:AlternateContent>
          </a:graphicData>
        </a:graphic>
      </p:graphicFrame>
      <p:sp>
        <p:nvSpPr>
          <p:cNvPr id="91145" name="矩形 91144"/>
          <p:cNvSpPr/>
          <p:nvPr/>
        </p:nvSpPr>
        <p:spPr>
          <a:xfrm>
            <a:off x="107950" y="4292600"/>
            <a:ext cx="5327650" cy="457200"/>
          </a:xfrm>
          <a:prstGeom prst="rect">
            <a:avLst/>
          </a:prstGeom>
          <a:noFill/>
          <a:ln w="9525">
            <a:noFill/>
          </a:ln>
        </p:spPr>
        <p:txBody>
          <a:bodyPr anchor="ctr">
            <a:spAutoFit/>
          </a:bodyPr>
          <a:p>
            <a:r>
              <a:rPr lang="zh-CN" altLang="en-US" sz="2400" dirty="0">
                <a:latin typeface="黑体" panose="02010609060101010101" pitchFamily="2" charset="-122"/>
                <a:ea typeface="黑体" panose="02010609060101010101" pitchFamily="2" charset="-122"/>
              </a:rPr>
              <a:t>方程组</a:t>
            </a:r>
            <a:r>
              <a:rPr lang="en-US" altLang="zh-CN" sz="2400" dirty="0">
                <a:latin typeface="黑体" panose="02010609060101010101" pitchFamily="2" charset="-122"/>
                <a:ea typeface="黑体" panose="02010609060101010101" pitchFamily="2" charset="-122"/>
              </a:rPr>
              <a:t>(7.6)’</a:t>
            </a:r>
            <a:r>
              <a:rPr lang="zh-CN" altLang="en-US" sz="2400" dirty="0">
                <a:latin typeface="黑体" panose="02010609060101010101" pitchFamily="2" charset="-122"/>
                <a:ea typeface="黑体" panose="02010609060101010101" pitchFamily="2" charset="-122"/>
              </a:rPr>
              <a:t>的最小二乘估计为</a:t>
            </a:r>
            <a:r>
              <a:rPr lang="zh-CN" altLang="en-US" dirty="0">
                <a:latin typeface="Arial" panose="020B0604020202020204" pitchFamily="34" charset="0"/>
              </a:rPr>
              <a:t> </a:t>
            </a:r>
            <a:endParaRPr lang="zh-CN" altLang="en-US" dirty="0">
              <a:latin typeface="Arial" panose="020B0604020202020204" pitchFamily="34" charset="0"/>
            </a:endParaRPr>
          </a:p>
        </p:txBody>
      </p:sp>
      <p:graphicFrame>
        <p:nvGraphicFramePr>
          <p:cNvPr id="91146" name="对象 91145"/>
          <p:cNvGraphicFramePr/>
          <p:nvPr/>
        </p:nvGraphicFramePr>
        <p:xfrm>
          <a:off x="3276600" y="4797425"/>
          <a:ext cx="3455988" cy="1098550"/>
        </p:xfrm>
        <a:graphic>
          <a:graphicData uri="http://schemas.openxmlformats.org/presentationml/2006/ole">
            <mc:AlternateContent xmlns:mc="http://schemas.openxmlformats.org/markup-compatibility/2006">
              <mc:Choice xmlns:v="urn:schemas-microsoft-com:vml" Requires="v">
                <p:oleObj spid="_x0000_s3111" name="" r:id="rId5" imgW="1435100" imgH="457200" progId="Equation.DSMT4">
                  <p:embed/>
                </p:oleObj>
              </mc:Choice>
              <mc:Fallback>
                <p:oleObj name="" r:id="rId5" imgW="1435100" imgH="457200" progId="Equation.DSMT4">
                  <p:embed/>
                  <p:pic>
                    <p:nvPicPr>
                      <p:cNvPr id="0" name="图片 3110"/>
                      <p:cNvPicPr/>
                      <p:nvPr/>
                    </p:nvPicPr>
                    <p:blipFill>
                      <a:blip r:embed="rId6"/>
                      <a:stretch>
                        <a:fillRect/>
                      </a:stretch>
                    </p:blipFill>
                    <p:spPr>
                      <a:xfrm>
                        <a:off x="3276600" y="4797425"/>
                        <a:ext cx="3455988" cy="1098550"/>
                      </a:xfrm>
                      <a:prstGeom prst="rect">
                        <a:avLst/>
                      </a:prstGeom>
                      <a:noFill/>
                      <a:ln w="38100">
                        <a:noFill/>
                        <a:miter/>
                      </a:ln>
                    </p:spPr>
                  </p:pic>
                </p:oleObj>
              </mc:Fallback>
            </mc:AlternateContent>
          </a:graphicData>
        </a:graphic>
      </p:graphicFrame>
      <p:sp>
        <p:nvSpPr>
          <p:cNvPr id="91149" name="矩形 91148"/>
          <p:cNvSpPr/>
          <p:nvPr/>
        </p:nvSpPr>
        <p:spPr>
          <a:xfrm>
            <a:off x="7308850" y="3787775"/>
            <a:ext cx="879475" cy="457200"/>
          </a:xfrm>
          <a:prstGeom prst="rect">
            <a:avLst/>
          </a:prstGeom>
          <a:noFill/>
          <a:ln w="9525">
            <a:noFill/>
          </a:ln>
        </p:spPr>
        <p:txBody>
          <a:bodyPr wrap="none" anchor="t">
            <a:spAutoFit/>
          </a:bodyPr>
          <a:p>
            <a:r>
              <a:rPr lang="en-US" altLang="zh-CN" sz="2400">
                <a:latin typeface="Arial" panose="020B0604020202020204" pitchFamily="34" charset="0"/>
              </a:rPr>
              <a:t>(7.6)’</a:t>
            </a:r>
            <a:endParaRPr lang="en-US" altLang="zh-CN" sz="2400">
              <a:latin typeface="Arial" panose="020B0604020202020204" pitchFamily="34" charset="0"/>
            </a:endParaRPr>
          </a:p>
        </p:txBody>
      </p:sp>
      <p:sp>
        <p:nvSpPr>
          <p:cNvPr id="91150" name="矩形 91149"/>
          <p:cNvSpPr/>
          <p:nvPr/>
        </p:nvSpPr>
        <p:spPr>
          <a:xfrm>
            <a:off x="7308850" y="5084763"/>
            <a:ext cx="811213" cy="457200"/>
          </a:xfrm>
          <a:prstGeom prst="rect">
            <a:avLst/>
          </a:prstGeom>
          <a:noFill/>
          <a:ln w="9525">
            <a:noFill/>
          </a:ln>
        </p:spPr>
        <p:txBody>
          <a:bodyPr wrap="none" anchor="t">
            <a:spAutoFit/>
          </a:bodyPr>
          <a:p>
            <a:r>
              <a:rPr lang="en-US" altLang="zh-CN" sz="2400">
                <a:latin typeface="Arial" panose="020B0604020202020204" pitchFamily="34" charset="0"/>
              </a:rPr>
              <a:t>(7.7)</a:t>
            </a:r>
            <a:endParaRPr lang="en-US" altLang="zh-CN" sz="2400">
              <a:latin typeface="Arial" panose="020B0604020202020204" pitchFamily="34" charset="0"/>
            </a:endParaRPr>
          </a:p>
        </p:txBody>
      </p:sp>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标题 92161"/>
          <p:cNvSpPr>
            <a:spLocks noGrp="1"/>
          </p:cNvSpPr>
          <p:nvPr>
            <p:ph type="title"/>
          </p:nvPr>
        </p:nvSpPr>
        <p:spPr/>
        <p:txBody>
          <a:bodyPr anchor="ctr"/>
          <a:p>
            <a:r>
              <a:rPr lang="en-US" altLang="zh-CN" sz="2000" dirty="0"/>
              <a:t>7.2 </a:t>
            </a:r>
            <a:r>
              <a:rPr lang="zh-CN" altLang="en-US" sz="2000" dirty="0"/>
              <a:t>灰色系统的模型</a:t>
            </a:r>
            <a:endParaRPr lang="zh-CN" altLang="en-US" sz="2000" dirty="0"/>
          </a:p>
        </p:txBody>
      </p:sp>
      <p:sp>
        <p:nvSpPr>
          <p:cNvPr id="92164" name="矩形 92163"/>
          <p:cNvSpPr/>
          <p:nvPr/>
        </p:nvSpPr>
        <p:spPr>
          <a:xfrm>
            <a:off x="395288" y="1296988"/>
            <a:ext cx="1466850" cy="457200"/>
          </a:xfrm>
          <a:prstGeom prst="rect">
            <a:avLst/>
          </a:prstGeom>
          <a:noFill/>
          <a:ln w="9525">
            <a:noFill/>
          </a:ln>
        </p:spPr>
        <p:txBody>
          <a:bodyPr wrap="none" anchor="ctr">
            <a:spAutoFit/>
          </a:bodyPr>
          <a:p>
            <a:r>
              <a:rPr lang="zh-CN" altLang="en-US" sz="2400" dirty="0">
                <a:latin typeface="Arial" panose="020B0604020202020204" pitchFamily="34" charset="0"/>
                <a:ea typeface="黑体" panose="02010609060101010101" pitchFamily="2" charset="-122"/>
              </a:rPr>
              <a:t>把估计值</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92166" name="矩形 92165"/>
          <p:cNvSpPr/>
          <p:nvPr/>
        </p:nvSpPr>
        <p:spPr>
          <a:xfrm>
            <a:off x="0" y="3328988"/>
            <a:ext cx="9144000" cy="0"/>
          </a:xfrm>
          <a:prstGeom prst="rect">
            <a:avLst/>
          </a:prstGeom>
          <a:noFill/>
          <a:ln w="9525">
            <a:noFill/>
          </a:ln>
        </p:spPr>
        <p:txBody>
          <a:bodyPr/>
          <a:p>
            <a:endParaRPr lang="zh-CN" altLang="en-US"/>
          </a:p>
        </p:txBody>
      </p:sp>
      <p:graphicFrame>
        <p:nvGraphicFramePr>
          <p:cNvPr id="92165" name="对象 92164"/>
          <p:cNvGraphicFramePr/>
          <p:nvPr/>
        </p:nvGraphicFramePr>
        <p:xfrm>
          <a:off x="1692275" y="1341438"/>
          <a:ext cx="720725" cy="409575"/>
        </p:xfrm>
        <a:graphic>
          <a:graphicData uri="http://schemas.openxmlformats.org/presentationml/2006/ole">
            <mc:AlternateContent xmlns:mc="http://schemas.openxmlformats.org/markup-compatibility/2006">
              <mc:Choice xmlns:v="urn:schemas-microsoft-com:vml" Requires="v">
                <p:oleObj spid="_x0000_s3112" name="" r:id="rId1" imgW="355600" imgH="203200" progId="Equation.DSMT4">
                  <p:embed/>
                </p:oleObj>
              </mc:Choice>
              <mc:Fallback>
                <p:oleObj name="" r:id="rId1" imgW="355600" imgH="203200" progId="Equation.DSMT4">
                  <p:embed/>
                  <p:pic>
                    <p:nvPicPr>
                      <p:cNvPr id="0" name="图片 3111"/>
                      <p:cNvPicPr/>
                      <p:nvPr/>
                    </p:nvPicPr>
                    <p:blipFill>
                      <a:blip r:embed="rId2"/>
                      <a:stretch>
                        <a:fillRect/>
                      </a:stretch>
                    </p:blipFill>
                    <p:spPr>
                      <a:xfrm>
                        <a:off x="1692275" y="1341438"/>
                        <a:ext cx="720725" cy="409575"/>
                      </a:xfrm>
                      <a:prstGeom prst="rect">
                        <a:avLst/>
                      </a:prstGeom>
                      <a:noFill/>
                      <a:ln w="38100">
                        <a:noFill/>
                        <a:miter/>
                      </a:ln>
                    </p:spPr>
                  </p:pic>
                </p:oleObj>
              </mc:Fallback>
            </mc:AlternateContent>
          </a:graphicData>
        </a:graphic>
      </p:graphicFrame>
      <p:sp>
        <p:nvSpPr>
          <p:cNvPr id="92167" name="矩形 92166"/>
          <p:cNvSpPr/>
          <p:nvPr/>
        </p:nvSpPr>
        <p:spPr>
          <a:xfrm>
            <a:off x="2411413" y="1311275"/>
            <a:ext cx="4451350" cy="457200"/>
          </a:xfrm>
          <a:prstGeom prst="rect">
            <a:avLst/>
          </a:prstGeom>
          <a:noFill/>
          <a:ln w="9525">
            <a:noFill/>
          </a:ln>
        </p:spPr>
        <p:txBody>
          <a:bodyPr wrap="none" anchor="ctr">
            <a:spAutoFit/>
          </a:bodyPr>
          <a:p>
            <a:r>
              <a:rPr lang="zh-CN" altLang="en-US" sz="2400" dirty="0">
                <a:latin typeface="黑体" panose="02010609060101010101" pitchFamily="2" charset="-122"/>
                <a:ea typeface="黑体" panose="02010609060101010101" pitchFamily="2" charset="-122"/>
              </a:rPr>
              <a:t>代入（</a:t>
            </a:r>
            <a:r>
              <a:rPr lang="en-US" altLang="zh-CN" sz="2400" dirty="0">
                <a:latin typeface="黑体" panose="02010609060101010101" pitchFamily="2" charset="-122"/>
                <a:ea typeface="黑体" panose="02010609060101010101" pitchFamily="2" charset="-122"/>
              </a:rPr>
              <a:t>7.4</a:t>
            </a:r>
            <a:r>
              <a:rPr lang="zh-CN" altLang="en-US" sz="2400" dirty="0">
                <a:latin typeface="黑体" panose="02010609060101010101" pitchFamily="2" charset="-122"/>
                <a:ea typeface="黑体" panose="02010609060101010101" pitchFamily="2" charset="-122"/>
              </a:rPr>
              <a:t>）式得时间响应方程 </a:t>
            </a:r>
            <a:endParaRPr lang="zh-CN" altLang="en-US" sz="2400" dirty="0">
              <a:latin typeface="黑体" panose="02010609060101010101" pitchFamily="2" charset="-122"/>
              <a:ea typeface="黑体" panose="02010609060101010101" pitchFamily="2" charset="-122"/>
            </a:endParaRPr>
          </a:p>
        </p:txBody>
      </p:sp>
      <p:sp>
        <p:nvSpPr>
          <p:cNvPr id="92169" name="矩形 92168"/>
          <p:cNvSpPr/>
          <p:nvPr/>
        </p:nvSpPr>
        <p:spPr>
          <a:xfrm>
            <a:off x="0" y="3214688"/>
            <a:ext cx="9144000" cy="0"/>
          </a:xfrm>
          <a:prstGeom prst="rect">
            <a:avLst/>
          </a:prstGeom>
          <a:noFill/>
          <a:ln w="9525">
            <a:noFill/>
          </a:ln>
        </p:spPr>
        <p:txBody>
          <a:bodyPr/>
          <a:p>
            <a:endParaRPr lang="zh-CN" altLang="en-US"/>
          </a:p>
        </p:txBody>
      </p:sp>
      <p:graphicFrame>
        <p:nvGraphicFramePr>
          <p:cNvPr id="92168" name="对象 92167"/>
          <p:cNvGraphicFramePr/>
          <p:nvPr/>
        </p:nvGraphicFramePr>
        <p:xfrm>
          <a:off x="1619250" y="1844675"/>
          <a:ext cx="3889375" cy="838200"/>
        </p:xfrm>
        <a:graphic>
          <a:graphicData uri="http://schemas.openxmlformats.org/presentationml/2006/ole">
            <mc:AlternateContent xmlns:mc="http://schemas.openxmlformats.org/markup-compatibility/2006">
              <mc:Choice xmlns:v="urn:schemas-microsoft-com:vml" Requires="v">
                <p:oleObj spid="_x0000_s3108" name="" r:id="rId3" imgW="1993900" imgH="431800" progId="Equation.DSMT4">
                  <p:embed/>
                </p:oleObj>
              </mc:Choice>
              <mc:Fallback>
                <p:oleObj name="" r:id="rId3" imgW="1993900" imgH="431800" progId="Equation.DSMT4">
                  <p:embed/>
                  <p:pic>
                    <p:nvPicPr>
                      <p:cNvPr id="0" name="图片 3107"/>
                      <p:cNvPicPr/>
                      <p:nvPr/>
                    </p:nvPicPr>
                    <p:blipFill>
                      <a:blip r:embed="rId4"/>
                      <a:stretch>
                        <a:fillRect/>
                      </a:stretch>
                    </p:blipFill>
                    <p:spPr>
                      <a:xfrm>
                        <a:off x="1619250" y="1844675"/>
                        <a:ext cx="3889375" cy="838200"/>
                      </a:xfrm>
                      <a:prstGeom prst="rect">
                        <a:avLst/>
                      </a:prstGeom>
                      <a:noFill/>
                      <a:ln w="38100">
                        <a:noFill/>
                        <a:miter/>
                      </a:ln>
                    </p:spPr>
                  </p:pic>
                </p:oleObj>
              </mc:Fallback>
            </mc:AlternateContent>
          </a:graphicData>
        </a:graphic>
      </p:graphicFrame>
      <p:sp>
        <p:nvSpPr>
          <p:cNvPr id="92171" name="矩形 92170"/>
          <p:cNvSpPr/>
          <p:nvPr/>
        </p:nvSpPr>
        <p:spPr>
          <a:xfrm>
            <a:off x="0" y="3319463"/>
            <a:ext cx="9144000" cy="0"/>
          </a:xfrm>
          <a:prstGeom prst="rect">
            <a:avLst/>
          </a:prstGeom>
          <a:noFill/>
          <a:ln w="9525">
            <a:noFill/>
          </a:ln>
        </p:spPr>
        <p:txBody>
          <a:bodyPr/>
          <a:p>
            <a:endParaRPr lang="zh-CN" altLang="en-US"/>
          </a:p>
        </p:txBody>
      </p:sp>
      <p:graphicFrame>
        <p:nvGraphicFramePr>
          <p:cNvPr id="92170" name="对象 92169"/>
          <p:cNvGraphicFramePr/>
          <p:nvPr/>
        </p:nvGraphicFramePr>
        <p:xfrm>
          <a:off x="539750" y="2781300"/>
          <a:ext cx="3168650" cy="515938"/>
        </p:xfrm>
        <a:graphic>
          <a:graphicData uri="http://schemas.openxmlformats.org/presentationml/2006/ole">
            <mc:AlternateContent xmlns:mc="http://schemas.openxmlformats.org/markup-compatibility/2006">
              <mc:Choice xmlns:v="urn:schemas-microsoft-com:vml" Requires="v">
                <p:oleObj spid="_x0000_s3107" name="" r:id="rId5" imgW="1345565" imgH="215900" progId="Equation.DSMT4">
                  <p:embed/>
                </p:oleObj>
              </mc:Choice>
              <mc:Fallback>
                <p:oleObj name="" r:id="rId5" imgW="1345565" imgH="215900" progId="Equation.DSMT4">
                  <p:embed/>
                  <p:pic>
                    <p:nvPicPr>
                      <p:cNvPr id="0" name="图片 3106"/>
                      <p:cNvPicPr/>
                      <p:nvPr/>
                    </p:nvPicPr>
                    <p:blipFill>
                      <a:blip r:embed="rId6"/>
                      <a:stretch>
                        <a:fillRect/>
                      </a:stretch>
                    </p:blipFill>
                    <p:spPr>
                      <a:xfrm>
                        <a:off x="539750" y="2781300"/>
                        <a:ext cx="3168650" cy="515938"/>
                      </a:xfrm>
                      <a:prstGeom prst="rect">
                        <a:avLst/>
                      </a:prstGeom>
                      <a:noFill/>
                      <a:ln w="38100">
                        <a:noFill/>
                        <a:miter/>
                      </a:ln>
                    </p:spPr>
                  </p:pic>
                </p:oleObj>
              </mc:Fallback>
            </mc:AlternateContent>
          </a:graphicData>
        </a:graphic>
      </p:graphicFrame>
      <p:sp>
        <p:nvSpPr>
          <p:cNvPr id="92172" name="矩形 92171"/>
          <p:cNvSpPr/>
          <p:nvPr/>
        </p:nvSpPr>
        <p:spPr>
          <a:xfrm>
            <a:off x="3708400" y="2708275"/>
            <a:ext cx="2533650" cy="457200"/>
          </a:xfrm>
          <a:prstGeom prst="rect">
            <a:avLst/>
          </a:prstGeom>
          <a:noFill/>
          <a:ln w="9525">
            <a:noFill/>
          </a:ln>
        </p:spPr>
        <p:txBody>
          <a:bodyPr wrap="none" anchor="ctr">
            <a:spAutoFit/>
          </a:bodyPr>
          <a:p>
            <a:r>
              <a:rPr lang="zh-CN" altLang="en-US" sz="2400" dirty="0">
                <a:latin typeface="黑体" panose="02010609060101010101" pitchFamily="2" charset="-122"/>
                <a:ea typeface="黑体" panose="02010609060101010101" pitchFamily="2" charset="-122"/>
              </a:rPr>
              <a:t>由</a:t>
            </a:r>
            <a:r>
              <a:rPr lang="en-US" altLang="zh-CN" sz="2400" dirty="0">
                <a:latin typeface="黑体" panose="02010609060101010101" pitchFamily="2" charset="-122"/>
                <a:ea typeface="黑体" panose="02010609060101010101" pitchFamily="2" charset="-122"/>
              </a:rPr>
              <a:t>(7.8)</a:t>
            </a:r>
            <a:r>
              <a:rPr lang="zh-CN" altLang="en-US" sz="2400" dirty="0">
                <a:latin typeface="黑体" panose="02010609060101010101" pitchFamily="2" charset="-122"/>
                <a:ea typeface="黑体" panose="02010609060101010101" pitchFamily="2" charset="-122"/>
              </a:rPr>
              <a:t>式算得的</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92174" name="矩形 92173"/>
          <p:cNvSpPr/>
          <p:nvPr/>
        </p:nvSpPr>
        <p:spPr>
          <a:xfrm>
            <a:off x="0" y="3314700"/>
            <a:ext cx="9144000" cy="0"/>
          </a:xfrm>
          <a:prstGeom prst="rect">
            <a:avLst/>
          </a:prstGeom>
          <a:noFill/>
          <a:ln w="9525">
            <a:noFill/>
          </a:ln>
        </p:spPr>
        <p:txBody>
          <a:bodyPr/>
          <a:p>
            <a:endParaRPr lang="zh-CN" altLang="en-US"/>
          </a:p>
        </p:txBody>
      </p:sp>
      <p:graphicFrame>
        <p:nvGraphicFramePr>
          <p:cNvPr id="92173" name="对象 92172"/>
          <p:cNvGraphicFramePr/>
          <p:nvPr/>
        </p:nvGraphicFramePr>
        <p:xfrm>
          <a:off x="6084888" y="2708275"/>
          <a:ext cx="1152525" cy="425450"/>
        </p:xfrm>
        <a:graphic>
          <a:graphicData uri="http://schemas.openxmlformats.org/presentationml/2006/ole">
            <mc:AlternateContent xmlns:mc="http://schemas.openxmlformats.org/markup-compatibility/2006">
              <mc:Choice xmlns:v="urn:schemas-microsoft-com:vml" Requires="v">
                <p:oleObj spid="_x0000_s3120" name="" r:id="rId7" imgW="622300" imgH="228600" progId="Equation.DSMT4">
                  <p:embed/>
                </p:oleObj>
              </mc:Choice>
              <mc:Fallback>
                <p:oleObj name="" r:id="rId7" imgW="622300" imgH="228600" progId="Equation.DSMT4">
                  <p:embed/>
                  <p:pic>
                    <p:nvPicPr>
                      <p:cNvPr id="0" name="图片 3119"/>
                      <p:cNvPicPr/>
                      <p:nvPr/>
                    </p:nvPicPr>
                    <p:blipFill>
                      <a:blip r:embed="rId8"/>
                      <a:stretch>
                        <a:fillRect/>
                      </a:stretch>
                    </p:blipFill>
                    <p:spPr>
                      <a:xfrm>
                        <a:off x="6084888" y="2708275"/>
                        <a:ext cx="1152525" cy="425450"/>
                      </a:xfrm>
                      <a:prstGeom prst="rect">
                        <a:avLst/>
                      </a:prstGeom>
                      <a:noFill/>
                      <a:ln w="38100">
                        <a:noFill/>
                        <a:miter/>
                      </a:ln>
                    </p:spPr>
                  </p:pic>
                </p:oleObj>
              </mc:Fallback>
            </mc:AlternateContent>
          </a:graphicData>
        </a:graphic>
      </p:graphicFrame>
      <p:sp>
        <p:nvSpPr>
          <p:cNvPr id="92175" name="矩形 92174"/>
          <p:cNvSpPr/>
          <p:nvPr/>
        </p:nvSpPr>
        <p:spPr>
          <a:xfrm>
            <a:off x="7164388" y="2708275"/>
            <a:ext cx="1771650" cy="457200"/>
          </a:xfrm>
          <a:prstGeom prst="rect">
            <a:avLst/>
          </a:prstGeom>
          <a:noFill/>
          <a:ln w="9525">
            <a:noFill/>
          </a:ln>
        </p:spPr>
        <p:txBody>
          <a:bodyPr wrap="none" anchor="ctr">
            <a:spAutoFit/>
          </a:bodyPr>
          <a:p>
            <a:r>
              <a:rPr lang="zh-CN" altLang="en-US" sz="2400" dirty="0">
                <a:latin typeface="Arial" panose="020B0604020202020204" pitchFamily="34" charset="0"/>
                <a:ea typeface="黑体" panose="02010609060101010101" pitchFamily="2" charset="-122"/>
              </a:rPr>
              <a:t>是拟合值；</a:t>
            </a:r>
            <a:r>
              <a:rPr lang="zh-CN" altLang="en-US" dirty="0">
                <a:latin typeface="Arial" panose="020B0604020202020204" pitchFamily="34" charset="0"/>
              </a:rPr>
              <a:t> </a:t>
            </a:r>
            <a:endParaRPr lang="zh-CN" altLang="en-US" dirty="0">
              <a:latin typeface="Arial" panose="020B0604020202020204" pitchFamily="34" charset="0"/>
            </a:endParaRPr>
          </a:p>
        </p:txBody>
      </p:sp>
      <p:graphicFrame>
        <p:nvGraphicFramePr>
          <p:cNvPr id="92176" name="对象 92175"/>
          <p:cNvGraphicFramePr/>
          <p:nvPr/>
        </p:nvGraphicFramePr>
        <p:xfrm>
          <a:off x="539750" y="3357563"/>
          <a:ext cx="1800225" cy="514350"/>
        </p:xfrm>
        <a:graphic>
          <a:graphicData uri="http://schemas.openxmlformats.org/presentationml/2006/ole">
            <mc:AlternateContent xmlns:mc="http://schemas.openxmlformats.org/markup-compatibility/2006">
              <mc:Choice xmlns:v="urn:schemas-microsoft-com:vml" Requires="v">
                <p:oleObj spid="_x0000_s3116" name="" r:id="rId9" imgW="723265" imgH="203200" progId="Equation.DSMT4">
                  <p:embed/>
                </p:oleObj>
              </mc:Choice>
              <mc:Fallback>
                <p:oleObj name="" r:id="rId9" imgW="723265" imgH="203200" progId="Equation.DSMT4">
                  <p:embed/>
                  <p:pic>
                    <p:nvPicPr>
                      <p:cNvPr id="0" name="图片 3115"/>
                      <p:cNvPicPr/>
                      <p:nvPr/>
                    </p:nvPicPr>
                    <p:blipFill>
                      <a:blip r:embed="rId10"/>
                      <a:stretch>
                        <a:fillRect/>
                      </a:stretch>
                    </p:blipFill>
                    <p:spPr>
                      <a:xfrm>
                        <a:off x="539750" y="3357563"/>
                        <a:ext cx="1800225" cy="514350"/>
                      </a:xfrm>
                      <a:prstGeom prst="rect">
                        <a:avLst/>
                      </a:prstGeom>
                      <a:noFill/>
                      <a:ln w="38100">
                        <a:noFill/>
                        <a:miter/>
                      </a:ln>
                    </p:spPr>
                  </p:pic>
                </p:oleObj>
              </mc:Fallback>
            </mc:AlternateContent>
          </a:graphicData>
        </a:graphic>
      </p:graphicFrame>
      <p:sp>
        <p:nvSpPr>
          <p:cNvPr id="92178" name="矩形 92177"/>
          <p:cNvSpPr/>
          <p:nvPr/>
        </p:nvSpPr>
        <p:spPr>
          <a:xfrm>
            <a:off x="0" y="3314700"/>
            <a:ext cx="9144000" cy="0"/>
          </a:xfrm>
          <a:prstGeom prst="rect">
            <a:avLst/>
          </a:prstGeom>
          <a:noFill/>
          <a:ln w="9525">
            <a:noFill/>
          </a:ln>
        </p:spPr>
        <p:txBody>
          <a:bodyPr/>
          <a:p>
            <a:endParaRPr lang="zh-CN" altLang="en-US"/>
          </a:p>
        </p:txBody>
      </p:sp>
      <p:graphicFrame>
        <p:nvGraphicFramePr>
          <p:cNvPr id="92177" name="对象 92176"/>
          <p:cNvGraphicFramePr/>
          <p:nvPr/>
        </p:nvGraphicFramePr>
        <p:xfrm>
          <a:off x="2411413" y="3357563"/>
          <a:ext cx="1368425" cy="506412"/>
        </p:xfrm>
        <a:graphic>
          <a:graphicData uri="http://schemas.openxmlformats.org/presentationml/2006/ole">
            <mc:AlternateContent xmlns:mc="http://schemas.openxmlformats.org/markup-compatibility/2006">
              <mc:Choice xmlns:v="urn:schemas-microsoft-com:vml" Requires="v">
                <p:oleObj spid="_x0000_s3122" name="" r:id="rId11" imgW="622300" imgH="228600" progId="Equation.DSMT4">
                  <p:embed/>
                </p:oleObj>
              </mc:Choice>
              <mc:Fallback>
                <p:oleObj name="" r:id="rId11" imgW="622300" imgH="228600" progId="Equation.DSMT4">
                  <p:embed/>
                  <p:pic>
                    <p:nvPicPr>
                      <p:cNvPr id="0" name="图片 3121"/>
                      <p:cNvPicPr/>
                      <p:nvPr/>
                    </p:nvPicPr>
                    <p:blipFill>
                      <a:blip r:embed="rId8"/>
                      <a:stretch>
                        <a:fillRect/>
                      </a:stretch>
                    </p:blipFill>
                    <p:spPr>
                      <a:xfrm>
                        <a:off x="2411413" y="3357563"/>
                        <a:ext cx="1368425" cy="506412"/>
                      </a:xfrm>
                      <a:prstGeom prst="rect">
                        <a:avLst/>
                      </a:prstGeom>
                      <a:noFill/>
                      <a:ln w="38100">
                        <a:noFill/>
                        <a:miter/>
                      </a:ln>
                    </p:spPr>
                  </p:pic>
                </p:oleObj>
              </mc:Fallback>
            </mc:AlternateContent>
          </a:graphicData>
        </a:graphic>
      </p:graphicFrame>
      <p:sp>
        <p:nvSpPr>
          <p:cNvPr id="92179" name="矩形 92178"/>
          <p:cNvSpPr/>
          <p:nvPr/>
        </p:nvSpPr>
        <p:spPr>
          <a:xfrm>
            <a:off x="3708400" y="3284538"/>
            <a:ext cx="4972050" cy="457200"/>
          </a:xfrm>
          <a:prstGeom prst="rect">
            <a:avLst/>
          </a:prstGeom>
          <a:noFill/>
          <a:ln w="9525">
            <a:noFill/>
          </a:ln>
        </p:spPr>
        <p:txBody>
          <a:bodyPr wrap="none" anchor="ctr">
            <a:spAutoFit/>
          </a:bodyPr>
          <a:p>
            <a:r>
              <a:rPr lang="zh-CN" altLang="en-US" sz="2400" dirty="0">
                <a:latin typeface="黑体" panose="02010609060101010101" pitchFamily="2" charset="-122"/>
                <a:ea typeface="黑体" panose="02010609060101010101" pitchFamily="2" charset="-122"/>
              </a:rPr>
              <a:t>为预报值</a:t>
            </a:r>
            <a:r>
              <a:rPr lang="en-US"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这是相对于一次累加序列</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92181" name="矩形 92180"/>
          <p:cNvSpPr/>
          <p:nvPr/>
        </p:nvSpPr>
        <p:spPr>
          <a:xfrm>
            <a:off x="0" y="3328988"/>
            <a:ext cx="9144000" cy="0"/>
          </a:xfrm>
          <a:prstGeom prst="rect">
            <a:avLst/>
          </a:prstGeom>
          <a:noFill/>
          <a:ln w="9525">
            <a:noFill/>
          </a:ln>
        </p:spPr>
        <p:txBody>
          <a:bodyPr/>
          <a:p>
            <a:endParaRPr lang="zh-CN" altLang="en-US"/>
          </a:p>
        </p:txBody>
      </p:sp>
      <p:graphicFrame>
        <p:nvGraphicFramePr>
          <p:cNvPr id="92180" name="对象 92179"/>
          <p:cNvGraphicFramePr/>
          <p:nvPr/>
        </p:nvGraphicFramePr>
        <p:xfrm>
          <a:off x="611188" y="3860800"/>
          <a:ext cx="576262" cy="484188"/>
        </p:xfrm>
        <a:graphic>
          <a:graphicData uri="http://schemas.openxmlformats.org/presentationml/2006/ole">
            <mc:AlternateContent xmlns:mc="http://schemas.openxmlformats.org/markup-compatibility/2006">
              <mc:Choice xmlns:v="urn:schemas-microsoft-com:vml" Requires="v">
                <p:oleObj spid="_x0000_s3123" name="" r:id="rId12" imgW="241300" imgH="203200" progId="Equation.DSMT4">
                  <p:embed/>
                </p:oleObj>
              </mc:Choice>
              <mc:Fallback>
                <p:oleObj name="" r:id="rId12" imgW="241300" imgH="203200" progId="Equation.DSMT4">
                  <p:embed/>
                  <p:pic>
                    <p:nvPicPr>
                      <p:cNvPr id="0" name="图片 3122"/>
                      <p:cNvPicPr/>
                      <p:nvPr/>
                    </p:nvPicPr>
                    <p:blipFill>
                      <a:blip r:embed="rId13"/>
                      <a:stretch>
                        <a:fillRect/>
                      </a:stretch>
                    </p:blipFill>
                    <p:spPr>
                      <a:xfrm>
                        <a:off x="611188" y="3860800"/>
                        <a:ext cx="576262" cy="484188"/>
                      </a:xfrm>
                      <a:prstGeom prst="rect">
                        <a:avLst/>
                      </a:prstGeom>
                      <a:noFill/>
                      <a:ln w="38100">
                        <a:noFill/>
                        <a:miter/>
                      </a:ln>
                    </p:spPr>
                  </p:pic>
                </p:oleObj>
              </mc:Fallback>
            </mc:AlternateContent>
          </a:graphicData>
        </a:graphic>
      </p:graphicFrame>
      <p:sp>
        <p:nvSpPr>
          <p:cNvPr id="92182" name="矩形 92181"/>
          <p:cNvSpPr/>
          <p:nvPr/>
        </p:nvSpPr>
        <p:spPr>
          <a:xfrm>
            <a:off x="1116013" y="3933825"/>
            <a:ext cx="4210050" cy="457200"/>
          </a:xfrm>
          <a:prstGeom prst="rect">
            <a:avLst/>
          </a:prstGeom>
          <a:noFill/>
          <a:ln w="9525">
            <a:noFill/>
          </a:ln>
        </p:spPr>
        <p:txBody>
          <a:bodyPr wrap="none" anchor="ctr">
            <a:spAutoFit/>
          </a:bodyPr>
          <a:p>
            <a:r>
              <a:rPr lang="zh-CN" altLang="en-US" sz="2400" dirty="0">
                <a:latin typeface="Arial" panose="020B0604020202020204" pitchFamily="34" charset="0"/>
                <a:ea typeface="黑体" panose="02010609060101010101" pitchFamily="2" charset="-122"/>
              </a:rPr>
              <a:t>的拟合值，用后减运算还原，</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92184" name="矩形 92183"/>
          <p:cNvSpPr/>
          <p:nvPr/>
        </p:nvSpPr>
        <p:spPr>
          <a:xfrm>
            <a:off x="0" y="3319463"/>
            <a:ext cx="9144000" cy="0"/>
          </a:xfrm>
          <a:prstGeom prst="rect">
            <a:avLst/>
          </a:prstGeom>
          <a:noFill/>
          <a:ln w="9525">
            <a:noFill/>
          </a:ln>
        </p:spPr>
        <p:txBody>
          <a:bodyPr/>
          <a:p>
            <a:endParaRPr lang="zh-CN" altLang="en-US"/>
          </a:p>
        </p:txBody>
      </p:sp>
      <p:graphicFrame>
        <p:nvGraphicFramePr>
          <p:cNvPr id="92183" name="对象 92182"/>
          <p:cNvGraphicFramePr/>
          <p:nvPr/>
        </p:nvGraphicFramePr>
        <p:xfrm>
          <a:off x="5003800" y="3933825"/>
          <a:ext cx="3097213" cy="504825"/>
        </p:xfrm>
        <a:graphic>
          <a:graphicData uri="http://schemas.openxmlformats.org/presentationml/2006/ole">
            <mc:AlternateContent xmlns:mc="http://schemas.openxmlformats.org/markup-compatibility/2006">
              <mc:Choice xmlns:v="urn:schemas-microsoft-com:vml" Requires="v">
                <p:oleObj spid="_x0000_s3119" name="" r:id="rId14" imgW="1345565" imgH="215900" progId="Equation.DSMT4">
                  <p:embed/>
                </p:oleObj>
              </mc:Choice>
              <mc:Fallback>
                <p:oleObj name="" r:id="rId14" imgW="1345565" imgH="215900" progId="Equation.DSMT4">
                  <p:embed/>
                  <p:pic>
                    <p:nvPicPr>
                      <p:cNvPr id="0" name="图片 3118"/>
                      <p:cNvPicPr/>
                      <p:nvPr/>
                    </p:nvPicPr>
                    <p:blipFill>
                      <a:blip r:embed="rId6"/>
                      <a:stretch>
                        <a:fillRect/>
                      </a:stretch>
                    </p:blipFill>
                    <p:spPr>
                      <a:xfrm>
                        <a:off x="5003800" y="3933825"/>
                        <a:ext cx="3097213" cy="504825"/>
                      </a:xfrm>
                      <a:prstGeom prst="rect">
                        <a:avLst/>
                      </a:prstGeom>
                      <a:noFill/>
                      <a:ln w="38100">
                        <a:noFill/>
                        <a:miter/>
                      </a:ln>
                    </p:spPr>
                  </p:pic>
                </p:oleObj>
              </mc:Fallback>
            </mc:AlternateContent>
          </a:graphicData>
        </a:graphic>
      </p:graphicFrame>
      <p:sp>
        <p:nvSpPr>
          <p:cNvPr id="92185" name="矩形 92184"/>
          <p:cNvSpPr/>
          <p:nvPr/>
        </p:nvSpPr>
        <p:spPr>
          <a:xfrm>
            <a:off x="539750" y="4508500"/>
            <a:ext cx="2381250" cy="457200"/>
          </a:xfrm>
          <a:prstGeom prst="rect">
            <a:avLst/>
          </a:prstGeom>
          <a:noFill/>
          <a:ln w="9525">
            <a:noFill/>
          </a:ln>
        </p:spPr>
        <p:txBody>
          <a:bodyPr wrap="none" anchor="ctr">
            <a:spAutoFit/>
          </a:bodyPr>
          <a:p>
            <a:r>
              <a:rPr lang="zh-CN" altLang="en-US" sz="2400" dirty="0">
                <a:latin typeface="Arial" panose="020B0604020202020204" pitchFamily="34" charset="0"/>
                <a:ea typeface="黑体" panose="02010609060101010101" pitchFamily="2" charset="-122"/>
              </a:rPr>
              <a:t>就可得原始序列</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92187" name="矩形 92186"/>
          <p:cNvSpPr/>
          <p:nvPr/>
        </p:nvSpPr>
        <p:spPr>
          <a:xfrm>
            <a:off x="0" y="3328988"/>
            <a:ext cx="9144000" cy="0"/>
          </a:xfrm>
          <a:prstGeom prst="rect">
            <a:avLst/>
          </a:prstGeom>
          <a:noFill/>
          <a:ln w="9525">
            <a:noFill/>
          </a:ln>
        </p:spPr>
        <p:txBody>
          <a:bodyPr/>
          <a:p>
            <a:endParaRPr lang="zh-CN" altLang="en-US"/>
          </a:p>
        </p:txBody>
      </p:sp>
      <p:graphicFrame>
        <p:nvGraphicFramePr>
          <p:cNvPr id="92186" name="对象 92185"/>
          <p:cNvGraphicFramePr/>
          <p:nvPr/>
        </p:nvGraphicFramePr>
        <p:xfrm>
          <a:off x="2771775" y="4508500"/>
          <a:ext cx="546100" cy="425450"/>
        </p:xfrm>
        <a:graphic>
          <a:graphicData uri="http://schemas.openxmlformats.org/presentationml/2006/ole">
            <mc:AlternateContent xmlns:mc="http://schemas.openxmlformats.org/markup-compatibility/2006">
              <mc:Choice xmlns:v="urn:schemas-microsoft-com:vml" Requires="v">
                <p:oleObj spid="_x0000_s3117" name="" r:id="rId15" imgW="254000" imgH="203200" progId="Equation.DSMT4">
                  <p:embed/>
                </p:oleObj>
              </mc:Choice>
              <mc:Fallback>
                <p:oleObj name="" r:id="rId15" imgW="254000" imgH="203200" progId="Equation.DSMT4">
                  <p:embed/>
                  <p:pic>
                    <p:nvPicPr>
                      <p:cNvPr id="0" name="图片 3116"/>
                      <p:cNvPicPr/>
                      <p:nvPr/>
                    </p:nvPicPr>
                    <p:blipFill>
                      <a:blip r:embed="rId16"/>
                      <a:stretch>
                        <a:fillRect/>
                      </a:stretch>
                    </p:blipFill>
                    <p:spPr>
                      <a:xfrm>
                        <a:off x="2771775" y="4508500"/>
                        <a:ext cx="546100" cy="425450"/>
                      </a:xfrm>
                      <a:prstGeom prst="rect">
                        <a:avLst/>
                      </a:prstGeom>
                      <a:noFill/>
                      <a:ln w="38100">
                        <a:noFill/>
                        <a:miter/>
                      </a:ln>
                    </p:spPr>
                  </p:pic>
                </p:oleObj>
              </mc:Fallback>
            </mc:AlternateContent>
          </a:graphicData>
        </a:graphic>
      </p:graphicFrame>
      <p:sp>
        <p:nvSpPr>
          <p:cNvPr id="92188" name="矩形 92187"/>
          <p:cNvSpPr/>
          <p:nvPr/>
        </p:nvSpPr>
        <p:spPr>
          <a:xfrm>
            <a:off x="3276600" y="4508500"/>
            <a:ext cx="1466850" cy="457200"/>
          </a:xfrm>
          <a:prstGeom prst="rect">
            <a:avLst/>
          </a:prstGeom>
          <a:noFill/>
          <a:ln w="9525">
            <a:noFill/>
          </a:ln>
        </p:spPr>
        <p:txBody>
          <a:bodyPr wrap="none" anchor="ctr">
            <a:spAutoFit/>
          </a:bodyPr>
          <a:p>
            <a:r>
              <a:rPr lang="zh-CN" altLang="en-US" sz="2400" dirty="0">
                <a:latin typeface="Arial" panose="020B0604020202020204" pitchFamily="34" charset="0"/>
                <a:ea typeface="黑体" panose="02010609060101010101" pitchFamily="2" charset="-122"/>
              </a:rPr>
              <a:t>的拟合值</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92190" name="矩形 92189"/>
          <p:cNvSpPr/>
          <p:nvPr/>
        </p:nvSpPr>
        <p:spPr>
          <a:xfrm>
            <a:off x="0" y="3314700"/>
            <a:ext cx="9144000" cy="0"/>
          </a:xfrm>
          <a:prstGeom prst="rect">
            <a:avLst/>
          </a:prstGeom>
          <a:noFill/>
          <a:ln w="9525">
            <a:noFill/>
          </a:ln>
        </p:spPr>
        <p:txBody>
          <a:bodyPr/>
          <a:p>
            <a:endParaRPr lang="zh-CN" altLang="en-US"/>
          </a:p>
        </p:txBody>
      </p:sp>
      <p:graphicFrame>
        <p:nvGraphicFramePr>
          <p:cNvPr id="92189" name="对象 92188"/>
          <p:cNvGraphicFramePr/>
          <p:nvPr/>
        </p:nvGraphicFramePr>
        <p:xfrm>
          <a:off x="4572000" y="4508500"/>
          <a:ext cx="1439863" cy="495300"/>
        </p:xfrm>
        <a:graphic>
          <a:graphicData uri="http://schemas.openxmlformats.org/presentationml/2006/ole">
            <mc:AlternateContent xmlns:mc="http://schemas.openxmlformats.org/markup-compatibility/2006">
              <mc:Choice xmlns:v="urn:schemas-microsoft-com:vml" Requires="v">
                <p:oleObj spid="_x0000_s3115" name="" r:id="rId17" imgW="660400" imgH="228600" progId="Equation.DSMT4">
                  <p:embed/>
                </p:oleObj>
              </mc:Choice>
              <mc:Fallback>
                <p:oleObj name="" r:id="rId17" imgW="660400" imgH="228600" progId="Equation.DSMT4">
                  <p:embed/>
                  <p:pic>
                    <p:nvPicPr>
                      <p:cNvPr id="0" name="图片 3114"/>
                      <p:cNvPicPr/>
                      <p:nvPr/>
                    </p:nvPicPr>
                    <p:blipFill>
                      <a:blip r:embed="rId18"/>
                      <a:stretch>
                        <a:fillRect/>
                      </a:stretch>
                    </p:blipFill>
                    <p:spPr>
                      <a:xfrm>
                        <a:off x="4572000" y="4508500"/>
                        <a:ext cx="1439863" cy="495300"/>
                      </a:xfrm>
                      <a:prstGeom prst="rect">
                        <a:avLst/>
                      </a:prstGeom>
                      <a:noFill/>
                      <a:ln w="38100">
                        <a:noFill/>
                        <a:miter/>
                      </a:ln>
                    </p:spPr>
                  </p:pic>
                </p:oleObj>
              </mc:Fallback>
            </mc:AlternateContent>
          </a:graphicData>
        </a:graphic>
      </p:graphicFrame>
      <p:graphicFrame>
        <p:nvGraphicFramePr>
          <p:cNvPr id="92191" name="对象 92190"/>
          <p:cNvGraphicFramePr/>
          <p:nvPr/>
        </p:nvGraphicFramePr>
        <p:xfrm>
          <a:off x="6084888" y="4508500"/>
          <a:ext cx="1582737" cy="452438"/>
        </p:xfrm>
        <a:graphic>
          <a:graphicData uri="http://schemas.openxmlformats.org/presentationml/2006/ole">
            <mc:AlternateContent xmlns:mc="http://schemas.openxmlformats.org/markup-compatibility/2006">
              <mc:Choice xmlns:v="urn:schemas-microsoft-com:vml" Requires="v">
                <p:oleObj spid="_x0000_s3121" name="" r:id="rId19" imgW="723265" imgH="203200" progId="Equation.DSMT4">
                  <p:embed/>
                </p:oleObj>
              </mc:Choice>
              <mc:Fallback>
                <p:oleObj name="" r:id="rId19" imgW="723265" imgH="203200" progId="Equation.DSMT4">
                  <p:embed/>
                  <p:pic>
                    <p:nvPicPr>
                      <p:cNvPr id="0" name="图片 3120"/>
                      <p:cNvPicPr/>
                      <p:nvPr/>
                    </p:nvPicPr>
                    <p:blipFill>
                      <a:blip r:embed="rId20"/>
                      <a:stretch>
                        <a:fillRect/>
                      </a:stretch>
                    </p:blipFill>
                    <p:spPr>
                      <a:xfrm>
                        <a:off x="6084888" y="4508500"/>
                        <a:ext cx="1582737" cy="452438"/>
                      </a:xfrm>
                      <a:prstGeom prst="rect">
                        <a:avLst/>
                      </a:prstGeom>
                      <a:noFill/>
                      <a:ln w="38100">
                        <a:noFill/>
                        <a:miter/>
                      </a:ln>
                    </p:spPr>
                  </p:pic>
                </p:oleObj>
              </mc:Fallback>
            </mc:AlternateContent>
          </a:graphicData>
        </a:graphic>
      </p:graphicFrame>
      <p:sp>
        <p:nvSpPr>
          <p:cNvPr id="92192" name="矩形 92191"/>
          <p:cNvSpPr/>
          <p:nvPr/>
        </p:nvSpPr>
        <p:spPr>
          <a:xfrm>
            <a:off x="468313" y="5084763"/>
            <a:ext cx="2076450" cy="457200"/>
          </a:xfrm>
          <a:prstGeom prst="rect">
            <a:avLst/>
          </a:prstGeom>
          <a:noFill/>
          <a:ln w="9525">
            <a:noFill/>
          </a:ln>
        </p:spPr>
        <p:txBody>
          <a:bodyPr wrap="none" anchor="ctr">
            <a:spAutoFit/>
          </a:bodyPr>
          <a:p>
            <a:r>
              <a:rPr lang="zh-CN" altLang="en-US" sz="2400" dirty="0">
                <a:latin typeface="Arial" panose="020B0604020202020204" pitchFamily="34" charset="0"/>
                <a:ea typeface="黑体" panose="02010609060101010101" pitchFamily="2" charset="-122"/>
              </a:rPr>
              <a:t>可得原始序列</a:t>
            </a:r>
            <a:r>
              <a:rPr lang="zh-CN" altLang="en-US" dirty="0">
                <a:latin typeface="Arial" panose="020B0604020202020204" pitchFamily="34" charset="0"/>
              </a:rPr>
              <a:t> </a:t>
            </a:r>
            <a:endParaRPr lang="zh-CN" altLang="en-US" dirty="0">
              <a:latin typeface="Arial" panose="020B0604020202020204" pitchFamily="34" charset="0"/>
            </a:endParaRPr>
          </a:p>
        </p:txBody>
      </p:sp>
      <p:graphicFrame>
        <p:nvGraphicFramePr>
          <p:cNvPr id="92193" name="对象 92192"/>
          <p:cNvGraphicFramePr/>
          <p:nvPr/>
        </p:nvGraphicFramePr>
        <p:xfrm>
          <a:off x="2411413" y="5084763"/>
          <a:ext cx="576262" cy="449262"/>
        </p:xfrm>
        <a:graphic>
          <a:graphicData uri="http://schemas.openxmlformats.org/presentationml/2006/ole">
            <mc:AlternateContent xmlns:mc="http://schemas.openxmlformats.org/markup-compatibility/2006">
              <mc:Choice xmlns:v="urn:schemas-microsoft-com:vml" Requires="v">
                <p:oleObj spid="_x0000_s3118" name="" r:id="rId21" imgW="254000" imgH="203200" progId="Equation.DSMT4">
                  <p:embed/>
                </p:oleObj>
              </mc:Choice>
              <mc:Fallback>
                <p:oleObj name="" r:id="rId21" imgW="254000" imgH="203200" progId="Equation.DSMT4">
                  <p:embed/>
                  <p:pic>
                    <p:nvPicPr>
                      <p:cNvPr id="0" name="图片 3117"/>
                      <p:cNvPicPr/>
                      <p:nvPr/>
                    </p:nvPicPr>
                    <p:blipFill>
                      <a:blip r:embed="rId16"/>
                      <a:stretch>
                        <a:fillRect/>
                      </a:stretch>
                    </p:blipFill>
                    <p:spPr>
                      <a:xfrm>
                        <a:off x="2411413" y="5084763"/>
                        <a:ext cx="576262" cy="449262"/>
                      </a:xfrm>
                      <a:prstGeom prst="rect">
                        <a:avLst/>
                      </a:prstGeom>
                      <a:noFill/>
                      <a:ln w="38100">
                        <a:noFill/>
                        <a:miter/>
                      </a:ln>
                    </p:spPr>
                  </p:pic>
                </p:oleObj>
              </mc:Fallback>
            </mc:AlternateContent>
          </a:graphicData>
        </a:graphic>
      </p:graphicFrame>
      <p:sp>
        <p:nvSpPr>
          <p:cNvPr id="92194" name="矩形 92193"/>
          <p:cNvSpPr/>
          <p:nvPr/>
        </p:nvSpPr>
        <p:spPr>
          <a:xfrm>
            <a:off x="2987675" y="5084763"/>
            <a:ext cx="1250950" cy="457200"/>
          </a:xfrm>
          <a:prstGeom prst="rect">
            <a:avLst/>
          </a:prstGeom>
          <a:noFill/>
          <a:ln w="9525">
            <a:noFill/>
          </a:ln>
        </p:spPr>
        <p:txBody>
          <a:bodyPr wrap="none" anchor="t">
            <a:spAutoFit/>
          </a:bodyPr>
          <a:p>
            <a:r>
              <a:rPr lang="zh-CN" altLang="en-US" sz="2400" dirty="0">
                <a:latin typeface="黑体" panose="02010609060101010101" pitchFamily="2" charset="-122"/>
                <a:ea typeface="黑体" panose="02010609060101010101" pitchFamily="2" charset="-122"/>
              </a:rPr>
              <a:t>预报值</a:t>
            </a:r>
            <a:r>
              <a:rPr lang="en-US" altLang="zh-CN" sz="2400">
                <a:latin typeface="黑体" panose="02010609060101010101" pitchFamily="2" charset="-122"/>
                <a:ea typeface="黑体" panose="02010609060101010101" pitchFamily="2" charset="-122"/>
              </a:rPr>
              <a:t>.</a:t>
            </a:r>
            <a:endParaRPr lang="en-US" altLang="zh-CN" sz="2400">
              <a:latin typeface="黑体" panose="02010609060101010101" pitchFamily="2" charset="-122"/>
              <a:ea typeface="黑体" panose="02010609060101010101" pitchFamily="2" charset="-122"/>
            </a:endParaRPr>
          </a:p>
        </p:txBody>
      </p:sp>
      <p:sp>
        <p:nvSpPr>
          <p:cNvPr id="92195" name="矩形 92194"/>
          <p:cNvSpPr/>
          <p:nvPr/>
        </p:nvSpPr>
        <p:spPr>
          <a:xfrm>
            <a:off x="7308850" y="1989138"/>
            <a:ext cx="811213" cy="457200"/>
          </a:xfrm>
          <a:prstGeom prst="rect">
            <a:avLst/>
          </a:prstGeom>
          <a:noFill/>
          <a:ln w="9525">
            <a:noFill/>
          </a:ln>
        </p:spPr>
        <p:txBody>
          <a:bodyPr wrap="none" anchor="t">
            <a:spAutoFit/>
          </a:bodyPr>
          <a:p>
            <a:r>
              <a:rPr lang="en-US" altLang="zh-CN" sz="2400">
                <a:latin typeface="Arial" panose="020B0604020202020204" pitchFamily="34" charset="0"/>
              </a:rPr>
              <a:t>(7.8)</a:t>
            </a:r>
            <a:endParaRPr lang="en-US" altLang="zh-CN" sz="2400">
              <a:latin typeface="Arial" panose="020B0604020202020204" pitchFamily="34" charset="0"/>
            </a:endParaRPr>
          </a:p>
        </p:txBody>
      </p:sp>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标题 93185"/>
          <p:cNvSpPr>
            <a:spLocks noGrp="1"/>
          </p:cNvSpPr>
          <p:nvPr>
            <p:ph type="title"/>
          </p:nvPr>
        </p:nvSpPr>
        <p:spPr/>
        <p:txBody>
          <a:bodyPr anchor="ctr"/>
          <a:p>
            <a:r>
              <a:rPr lang="en-US" altLang="zh-CN" sz="2000" dirty="0"/>
              <a:t>7.2 </a:t>
            </a:r>
            <a:r>
              <a:rPr lang="zh-CN" altLang="en-US" sz="2000" dirty="0"/>
              <a:t>灰色系统的模型</a:t>
            </a:r>
            <a:endParaRPr lang="zh-CN" altLang="en-US" sz="2000" dirty="0"/>
          </a:p>
        </p:txBody>
      </p:sp>
      <p:sp>
        <p:nvSpPr>
          <p:cNvPr id="93187" name="文本占位符 93186"/>
          <p:cNvSpPr>
            <a:spLocks noGrp="1"/>
          </p:cNvSpPr>
          <p:nvPr>
            <p:ph type="body" idx="1"/>
          </p:nvPr>
        </p:nvSpPr>
        <p:spPr>
          <a:xfrm>
            <a:off x="468313" y="1052513"/>
            <a:ext cx="8229600" cy="5184775"/>
          </a:xfrm>
        </p:spPr>
        <p:txBody>
          <a:bodyPr/>
          <a:p>
            <a:pPr>
              <a:buNone/>
            </a:pPr>
            <a:r>
              <a:rPr lang="en-US" altLang="zh-CN" sz="2400" b="0" dirty="0">
                <a:solidFill>
                  <a:schemeClr val="hlink"/>
                </a:solidFill>
                <a:latin typeface="黑体" panose="02010609060101010101" pitchFamily="2" charset="-122"/>
              </a:rPr>
              <a:t>3.</a:t>
            </a:r>
            <a:r>
              <a:rPr lang="zh-CN" altLang="en-US" sz="2400" b="0" dirty="0">
                <a:solidFill>
                  <a:schemeClr val="hlink"/>
                </a:solidFill>
                <a:latin typeface="黑体" panose="02010609060101010101" pitchFamily="2" charset="-122"/>
              </a:rPr>
              <a:t>精度检验</a:t>
            </a:r>
            <a:endParaRPr lang="zh-CN" altLang="en-US" sz="2400" b="0" dirty="0">
              <a:solidFill>
                <a:schemeClr val="hlink"/>
              </a:solidFill>
              <a:latin typeface="黑体" panose="02010609060101010101" pitchFamily="2" charset="-122"/>
            </a:endParaRPr>
          </a:p>
          <a:p>
            <a:pPr>
              <a:buNone/>
            </a:pPr>
            <a:r>
              <a:rPr lang="zh-CN" altLang="en-US" sz="2000" b="0" dirty="0">
                <a:latin typeface="黑体" panose="02010609060101010101" pitchFamily="2" charset="-122"/>
              </a:rPr>
              <a:t>   </a:t>
            </a:r>
            <a:r>
              <a:rPr lang="en-US" altLang="zh-CN" sz="2000" b="0" dirty="0">
                <a:latin typeface="黑体" panose="02010609060101010101" pitchFamily="2" charset="-122"/>
              </a:rPr>
              <a:t>(1)</a:t>
            </a:r>
            <a:r>
              <a:rPr lang="zh-CN" altLang="en-US" sz="2000" b="0" dirty="0">
                <a:latin typeface="黑体" panose="02010609060101010101" pitchFamily="2" charset="-122"/>
              </a:rPr>
              <a:t>残差检验：分别计算</a:t>
            </a:r>
            <a:endParaRPr lang="zh-CN" altLang="en-US" sz="2000" b="0" dirty="0">
              <a:latin typeface="黑体" panose="02010609060101010101" pitchFamily="2" charset="-122"/>
            </a:endParaRPr>
          </a:p>
        </p:txBody>
      </p:sp>
      <p:pic>
        <p:nvPicPr>
          <p:cNvPr id="93189" name="图片 93188"/>
          <p:cNvPicPr>
            <a:picLocks noChangeAspect="1"/>
          </p:cNvPicPr>
          <p:nvPr/>
        </p:nvPicPr>
        <p:blipFill>
          <a:blip r:embed="rId1"/>
          <a:stretch>
            <a:fillRect/>
          </a:stretch>
        </p:blipFill>
        <p:spPr>
          <a:xfrm>
            <a:off x="755650" y="1858963"/>
            <a:ext cx="7056438" cy="4594225"/>
          </a:xfrm>
          <a:prstGeom prst="rect">
            <a:avLst/>
          </a:prstGeom>
          <a:noFill/>
          <a:ln w="9525">
            <a:noFill/>
          </a:ln>
        </p:spPr>
      </p:pic>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标题 94209"/>
          <p:cNvSpPr>
            <a:spLocks noGrp="1"/>
          </p:cNvSpPr>
          <p:nvPr>
            <p:ph type="title"/>
          </p:nvPr>
        </p:nvSpPr>
        <p:spPr/>
        <p:txBody>
          <a:bodyPr anchor="ctr"/>
          <a:p>
            <a:r>
              <a:rPr lang="en-US" altLang="zh-CN" sz="2000" dirty="0"/>
              <a:t>7.2 </a:t>
            </a:r>
            <a:r>
              <a:rPr lang="zh-CN" altLang="en-US" sz="2000" dirty="0"/>
              <a:t>灰色系统的模型</a:t>
            </a:r>
            <a:endParaRPr lang="zh-CN" altLang="en-US" sz="2000" dirty="0"/>
          </a:p>
        </p:txBody>
      </p:sp>
      <p:sp>
        <p:nvSpPr>
          <p:cNvPr id="94211" name="文本占位符 94210"/>
          <p:cNvSpPr>
            <a:spLocks noGrp="1"/>
          </p:cNvSpPr>
          <p:nvPr>
            <p:ph type="body" idx="1"/>
          </p:nvPr>
        </p:nvSpPr>
        <p:spPr/>
        <p:txBody>
          <a:bodyPr/>
          <a:p>
            <a:r>
              <a:rPr lang="zh-CN" altLang="en-US" sz="2400" b="0" dirty="0">
                <a:latin typeface="黑体" panose="02010609060101010101" pitchFamily="2" charset="-122"/>
              </a:rPr>
              <a:t>（</a:t>
            </a:r>
            <a:r>
              <a:rPr lang="en-US" altLang="zh-CN" sz="2400" b="0" dirty="0">
                <a:latin typeface="黑体" panose="02010609060101010101" pitchFamily="2" charset="-122"/>
              </a:rPr>
              <a:t>3</a:t>
            </a:r>
            <a:r>
              <a:rPr lang="zh-CN" altLang="en-US" sz="2400" b="0" dirty="0">
                <a:latin typeface="黑体" panose="02010609060101010101" pitchFamily="2" charset="-122"/>
              </a:rPr>
              <a:t>）预测精度等级对照表，见表</a:t>
            </a:r>
            <a:r>
              <a:rPr lang="en-US" altLang="zh-CN" sz="2400" b="0">
                <a:latin typeface="黑体" panose="02010609060101010101" pitchFamily="2" charset="-122"/>
              </a:rPr>
              <a:t>7.1.</a:t>
            </a:r>
            <a:r>
              <a:rPr lang="en-US" altLang="zh-CN"/>
              <a:t> </a:t>
            </a:r>
            <a:endParaRPr lang="en-US" altLang="zh-CN"/>
          </a:p>
        </p:txBody>
      </p:sp>
      <p:pic>
        <p:nvPicPr>
          <p:cNvPr id="94212" name="图片 94211"/>
          <p:cNvPicPr>
            <a:picLocks noChangeAspect="1"/>
          </p:cNvPicPr>
          <p:nvPr/>
        </p:nvPicPr>
        <p:blipFill>
          <a:blip r:embed="rId1"/>
          <a:stretch>
            <a:fillRect/>
          </a:stretch>
        </p:blipFill>
        <p:spPr>
          <a:xfrm>
            <a:off x="1116013" y="1844675"/>
            <a:ext cx="7056437" cy="2906713"/>
          </a:xfrm>
          <a:prstGeom prst="rect">
            <a:avLst/>
          </a:prstGeom>
          <a:noFill/>
          <a:ln w="9525">
            <a:noFill/>
          </a:ln>
        </p:spPr>
      </p:pic>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标题 95233"/>
          <p:cNvSpPr>
            <a:spLocks noGrp="1"/>
          </p:cNvSpPr>
          <p:nvPr>
            <p:ph type="title"/>
          </p:nvPr>
        </p:nvSpPr>
        <p:spPr/>
        <p:txBody>
          <a:bodyPr anchor="ctr"/>
          <a:p>
            <a:r>
              <a:rPr lang="en-US" altLang="zh-CN" sz="2000" dirty="0"/>
              <a:t>7.2 </a:t>
            </a:r>
            <a:r>
              <a:rPr lang="zh-CN" altLang="en-US" sz="2000" dirty="0"/>
              <a:t>灰色系统的模型</a:t>
            </a:r>
            <a:endParaRPr lang="zh-CN" altLang="en-US" sz="2000" dirty="0"/>
          </a:p>
        </p:txBody>
      </p:sp>
      <p:sp>
        <p:nvSpPr>
          <p:cNvPr id="95235" name="文本占位符 95234"/>
          <p:cNvSpPr>
            <a:spLocks noGrp="1"/>
          </p:cNvSpPr>
          <p:nvPr>
            <p:ph type="body" idx="1"/>
          </p:nvPr>
        </p:nvSpPr>
        <p:spPr>
          <a:xfrm>
            <a:off x="323850" y="1268413"/>
            <a:ext cx="8229600" cy="5184775"/>
          </a:xfrm>
        </p:spPr>
        <p:txBody>
          <a:bodyPr/>
          <a:p>
            <a:pPr>
              <a:lnSpc>
                <a:spcPct val="120000"/>
              </a:lnSpc>
            </a:pPr>
            <a:r>
              <a:rPr lang="zh-CN" altLang="en-US" sz="2400" b="0" dirty="0">
                <a:latin typeface="黑体" panose="02010609060101010101" pitchFamily="2" charset="-122"/>
              </a:rPr>
              <a:t>由于模型是基于一阶常微分方程（</a:t>
            </a:r>
            <a:r>
              <a:rPr lang="en-US" altLang="zh-CN" sz="2400" b="0" dirty="0">
                <a:latin typeface="黑体" panose="02010609060101010101" pitchFamily="2" charset="-122"/>
              </a:rPr>
              <a:t>7.3</a:t>
            </a:r>
            <a:r>
              <a:rPr lang="zh-CN" altLang="en-US" sz="2400" b="0" dirty="0">
                <a:latin typeface="黑体" panose="02010609060101010101" pitchFamily="2" charset="-122"/>
              </a:rPr>
              <a:t>）建立的，故称为一阶一元灰色模型，记为</a:t>
            </a:r>
            <a:r>
              <a:rPr lang="en-US" altLang="zh-CN" sz="2400" b="0" dirty="0">
                <a:latin typeface="黑体" panose="02010609060101010101" pitchFamily="2" charset="-122"/>
              </a:rPr>
              <a:t>GM(1,1).</a:t>
            </a:r>
            <a:r>
              <a:rPr lang="zh-CN" altLang="en-US" sz="2400" b="0" dirty="0">
                <a:latin typeface="黑体" panose="02010609060101010101" pitchFamily="2" charset="-122"/>
              </a:rPr>
              <a:t>须指出的是， 建模时先要作一次累加，因此要求原始数据均为非负数</a:t>
            </a:r>
            <a:r>
              <a:rPr lang="en-US" altLang="zh-CN" sz="2400" b="0" dirty="0">
                <a:latin typeface="黑体" panose="02010609060101010101" pitchFamily="2" charset="-122"/>
              </a:rPr>
              <a:t>.</a:t>
            </a:r>
            <a:r>
              <a:rPr lang="zh-CN" altLang="en-US" sz="2400" b="0" dirty="0">
                <a:latin typeface="黑体" panose="02010609060101010101" pitchFamily="2" charset="-122"/>
              </a:rPr>
              <a:t>否则，累加时会正负抵消，达不到使数据序列随时间递增的目的</a:t>
            </a:r>
            <a:r>
              <a:rPr lang="en-US" altLang="zh-CN" sz="2400" b="0" dirty="0">
                <a:latin typeface="黑体" panose="02010609060101010101" pitchFamily="2" charset="-122"/>
              </a:rPr>
              <a:t>.</a:t>
            </a:r>
            <a:r>
              <a:rPr lang="zh-CN" altLang="en-US" sz="2400" b="0" dirty="0">
                <a:latin typeface="黑体" panose="02010609060101010101" pitchFamily="2" charset="-122"/>
              </a:rPr>
              <a:t>如果实际问题的原始数据列出现负数，可对原始数据列进行</a:t>
            </a:r>
            <a:r>
              <a:rPr lang="zh-CN" altLang="en-US" sz="2400" b="0" dirty="0">
                <a:latin typeface="Times New Roman" panose="02020603050405020304" pitchFamily="18" charset="0"/>
              </a:rPr>
              <a:t>“数据整体提升</a:t>
            </a:r>
            <a:r>
              <a:rPr lang="zh-CN" altLang="en-US" sz="2400" b="0">
                <a:latin typeface="Times New Roman" panose="02020603050405020304" pitchFamily="18" charset="0"/>
              </a:rPr>
              <a:t>”</a:t>
            </a:r>
            <a:r>
              <a:rPr lang="zh-CN" altLang="en-US" sz="2400" b="0" dirty="0">
                <a:latin typeface="黑体" panose="02010609060101010101" pitchFamily="2" charset="-122"/>
              </a:rPr>
              <a:t>处理</a:t>
            </a:r>
            <a:r>
              <a:rPr lang="en-US" altLang="zh-CN" sz="2400" b="0">
                <a:latin typeface="黑体" panose="02010609060101010101" pitchFamily="2" charset="-122"/>
              </a:rPr>
              <a:t>.</a:t>
            </a:r>
            <a:endParaRPr lang="en-US" altLang="zh-CN" sz="2400" b="0">
              <a:latin typeface="黑体" panose="02010609060101010101" pitchFamily="2" charset="-122"/>
            </a:endParaRPr>
          </a:p>
          <a:p>
            <a:pPr>
              <a:lnSpc>
                <a:spcPct val="120000"/>
              </a:lnSpc>
            </a:pPr>
            <a:r>
              <a:rPr lang="zh-CN" altLang="en-US" sz="2400" b="0" dirty="0">
                <a:latin typeface="黑体" panose="02010609060101010101" pitchFamily="2" charset="-122"/>
              </a:rPr>
              <a:t>注意到一阶常微分方程是导出</a:t>
            </a:r>
            <a:r>
              <a:rPr lang="en-US" altLang="zh-CN" sz="2400" b="0" dirty="0">
                <a:latin typeface="黑体" panose="02010609060101010101" pitchFamily="2" charset="-122"/>
              </a:rPr>
              <a:t>GM(1,1)</a:t>
            </a:r>
            <a:r>
              <a:rPr lang="zh-CN" altLang="en-US" sz="2400" b="0" dirty="0">
                <a:latin typeface="黑体" panose="02010609060101010101" pitchFamily="2" charset="-122"/>
              </a:rPr>
              <a:t>模型的桥梁，在我们应用</a:t>
            </a:r>
            <a:r>
              <a:rPr lang="en-US" altLang="zh-CN" sz="2400" b="0" dirty="0">
                <a:latin typeface="黑体" panose="02010609060101010101" pitchFamily="2" charset="-122"/>
              </a:rPr>
              <a:t>GM(1,1)</a:t>
            </a:r>
            <a:r>
              <a:rPr lang="zh-CN" altLang="en-US" sz="2400" b="0" dirty="0">
                <a:latin typeface="黑体" panose="02010609060101010101" pitchFamily="2" charset="-122"/>
              </a:rPr>
              <a:t>模型于实际问题预测时，不必求解一阶常微分方程（</a:t>
            </a:r>
            <a:r>
              <a:rPr lang="en-US" altLang="zh-CN" sz="2400" b="0" dirty="0">
                <a:latin typeface="黑体" panose="02010609060101010101" pitchFamily="2" charset="-122"/>
              </a:rPr>
              <a:t>7.3</a:t>
            </a:r>
            <a:r>
              <a:rPr lang="zh-CN" altLang="en-US" sz="2400" b="0" dirty="0">
                <a:latin typeface="黑体" panose="02010609060101010101" pitchFamily="2" charset="-122"/>
              </a:rPr>
              <a:t>）</a:t>
            </a:r>
            <a:r>
              <a:rPr lang="en-US" altLang="zh-CN" sz="2400" b="0">
                <a:latin typeface="黑体" panose="02010609060101010101" pitchFamily="2" charset="-122"/>
              </a:rPr>
              <a:t>. </a:t>
            </a:r>
            <a:endParaRPr lang="en-US" altLang="zh-CN" sz="2400" b="0">
              <a:latin typeface="黑体" panose="02010609060101010101" pitchFamily="2" charset="-122"/>
            </a:endParaRPr>
          </a:p>
        </p:txBody>
      </p:sp>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5235">
                                            <p:txEl>
                                              <p:charRg st="0" end="144"/>
                                            </p:txEl>
                                          </p:spTgt>
                                        </p:tgtEl>
                                        <p:attrNameLst>
                                          <p:attrName>style.visibility</p:attrName>
                                        </p:attrNameLst>
                                      </p:cBhvr>
                                      <p:to>
                                        <p:strVal val="visible"/>
                                      </p:to>
                                    </p:set>
                                    <p:animEffect transition="in" filter="wipe(left)">
                                      <p:cBhvr>
                                        <p:cTn id="7" dur="500"/>
                                        <p:tgtEl>
                                          <p:spTgt spid="95235">
                                            <p:txEl>
                                              <p:charRg st="0" end="14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5235">
                                            <p:txEl>
                                              <p:charRg st="144" end="212"/>
                                            </p:txEl>
                                          </p:spTgt>
                                        </p:tgtEl>
                                        <p:attrNameLst>
                                          <p:attrName>style.visibility</p:attrName>
                                        </p:attrNameLst>
                                      </p:cBhvr>
                                      <p:to>
                                        <p:strVal val="visible"/>
                                      </p:to>
                                    </p:set>
                                    <p:animEffect transition="in" filter="wipe(left)">
                                      <p:cBhvr>
                                        <p:cTn id="12" dur="500"/>
                                        <p:tgtEl>
                                          <p:spTgt spid="95235">
                                            <p:txEl>
                                              <p:charRg st="144" end="2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标题 96257"/>
          <p:cNvSpPr>
            <a:spLocks noGrp="1"/>
          </p:cNvSpPr>
          <p:nvPr>
            <p:ph type="title"/>
          </p:nvPr>
        </p:nvSpPr>
        <p:spPr/>
        <p:txBody>
          <a:bodyPr anchor="ctr"/>
          <a:p>
            <a:r>
              <a:rPr lang="en-US" altLang="zh-CN" sz="2000" dirty="0"/>
              <a:t>7.2 </a:t>
            </a:r>
            <a:r>
              <a:rPr lang="zh-CN" altLang="en-US" sz="2000" dirty="0"/>
              <a:t>灰色系统的模型</a:t>
            </a:r>
            <a:endParaRPr lang="zh-CN" altLang="en-US" sz="2000" dirty="0"/>
          </a:p>
        </p:txBody>
      </p:sp>
      <p:sp>
        <p:nvSpPr>
          <p:cNvPr id="96259" name="文本占位符 96258"/>
          <p:cNvSpPr>
            <a:spLocks noGrp="1"/>
          </p:cNvSpPr>
          <p:nvPr>
            <p:ph type="body" idx="1"/>
          </p:nvPr>
        </p:nvSpPr>
        <p:spPr>
          <a:xfrm>
            <a:off x="179388" y="1268413"/>
            <a:ext cx="8686800" cy="5184775"/>
          </a:xfrm>
        </p:spPr>
        <p:txBody>
          <a:bodyPr/>
          <a:p>
            <a:pPr>
              <a:buNone/>
            </a:pPr>
            <a:r>
              <a:rPr lang="en-US" altLang="zh-CN" sz="2800" b="0">
                <a:solidFill>
                  <a:schemeClr val="hlink"/>
                </a:solidFill>
                <a:latin typeface="黑体" panose="02010609060101010101" pitchFamily="2" charset="-122"/>
              </a:rPr>
              <a:t>4.GM(1,1)</a:t>
            </a:r>
            <a:r>
              <a:rPr lang="zh-CN" altLang="en-US" sz="2800" dirty="0">
                <a:solidFill>
                  <a:schemeClr val="hlink"/>
                </a:solidFill>
              </a:rPr>
              <a:t>的建模步骤</a:t>
            </a:r>
            <a:endParaRPr lang="zh-CN" altLang="en-US" sz="2800" dirty="0">
              <a:solidFill>
                <a:schemeClr val="hlink"/>
              </a:solidFill>
            </a:endParaRPr>
          </a:p>
          <a:p>
            <a:pPr>
              <a:buNone/>
            </a:pPr>
            <a:r>
              <a:rPr lang="zh-CN" altLang="en-US" sz="2800" b="0" dirty="0">
                <a:latin typeface="黑体" panose="02010609060101010101" pitchFamily="2" charset="-122"/>
              </a:rPr>
              <a:t>  综上所述，</a:t>
            </a:r>
            <a:r>
              <a:rPr lang="en-US" altLang="zh-CN" sz="2800" b="0" dirty="0">
                <a:latin typeface="黑体" panose="02010609060101010101" pitchFamily="2" charset="-122"/>
              </a:rPr>
              <a:t>GM(1,1)</a:t>
            </a:r>
            <a:r>
              <a:rPr lang="zh-CN" altLang="en-US" sz="2800" b="0" dirty="0">
                <a:latin typeface="黑体" panose="02010609060101010101" pitchFamily="2" charset="-122"/>
              </a:rPr>
              <a:t>的建模步骤如下：</a:t>
            </a:r>
            <a:endParaRPr lang="zh-CN" altLang="en-US" sz="2800" b="0" dirty="0">
              <a:latin typeface="黑体" panose="02010609060101010101" pitchFamily="2" charset="-122"/>
            </a:endParaRPr>
          </a:p>
        </p:txBody>
      </p:sp>
      <p:pic>
        <p:nvPicPr>
          <p:cNvPr id="96260" name="图片 96259"/>
          <p:cNvPicPr>
            <a:picLocks noChangeAspect="1"/>
          </p:cNvPicPr>
          <p:nvPr/>
        </p:nvPicPr>
        <p:blipFill>
          <a:blip r:embed="rId1"/>
          <a:stretch>
            <a:fillRect/>
          </a:stretch>
        </p:blipFill>
        <p:spPr>
          <a:xfrm>
            <a:off x="827088" y="2349500"/>
            <a:ext cx="8137525" cy="2786063"/>
          </a:xfrm>
          <a:prstGeom prst="rect">
            <a:avLst/>
          </a:prstGeom>
          <a:noFill/>
          <a:ln w="9525">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60" name="矩形 70659"/>
          <p:cNvSpPr/>
          <p:nvPr/>
        </p:nvSpPr>
        <p:spPr>
          <a:xfrm>
            <a:off x="2628900" y="3141663"/>
            <a:ext cx="4103688" cy="366712"/>
          </a:xfrm>
          <a:prstGeom prst="rect">
            <a:avLst/>
          </a:prstGeom>
          <a:noFill/>
          <a:ln w="9525">
            <a:noFill/>
          </a:ln>
        </p:spPr>
        <p:txBody>
          <a:bodyPr/>
          <a:p>
            <a:pPr marL="342900" indent="-342900">
              <a:spcBef>
                <a:spcPct val="20000"/>
              </a:spcBef>
              <a:buClr>
                <a:schemeClr val="tx1"/>
              </a:buClr>
            </a:pPr>
            <a:r>
              <a:rPr lang="en-US" altLang="zh-CN" sz="4000" b="1" dirty="0">
                <a:solidFill>
                  <a:srgbClr val="FF3300"/>
                </a:solidFill>
                <a:latin typeface="Arial Black" panose="020B0A04020102020204" pitchFamily="34" charset="0"/>
                <a:ea typeface="黑体" panose="02010609060101010101" pitchFamily="2" charset="-122"/>
              </a:rPr>
              <a:t>3  </a:t>
            </a:r>
            <a:r>
              <a:rPr lang="zh-CN" altLang="en-US" sz="4000" b="1" dirty="0">
                <a:solidFill>
                  <a:srgbClr val="FF3300"/>
                </a:solidFill>
                <a:latin typeface="Arial Black" panose="020B0A04020102020204" pitchFamily="34" charset="0"/>
                <a:ea typeface="黑体" panose="02010609060101010101" pitchFamily="2" charset="-122"/>
              </a:rPr>
              <a:t>销售额预测</a:t>
            </a:r>
            <a:endParaRPr lang="zh-CN" altLang="en-US" sz="4000" b="1" dirty="0">
              <a:solidFill>
                <a:srgbClr val="FF3300"/>
              </a:solidFill>
              <a:latin typeface="Arial Black" panose="020B0A04020102020204" pitchFamily="34" charset="0"/>
              <a:ea typeface="黑体" panose="02010609060101010101" pitchFamily="2" charset="-122"/>
            </a:endParaRPr>
          </a:p>
        </p:txBody>
      </p:sp>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70660"/>
                                        </p:tgtEl>
                                        <p:attrNameLst>
                                          <p:attrName>style.visibility</p:attrName>
                                        </p:attrNameLst>
                                      </p:cBhvr>
                                      <p:to>
                                        <p:strVal val="visible"/>
                                      </p:to>
                                    </p:set>
                                    <p:animEffect transition="in" filter="checkerboard(across)">
                                      <p:cBhvr>
                                        <p:cTn id="7" dur="500"/>
                                        <p:tgtEl>
                                          <p:spTgt spid="70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标题 37889"/>
          <p:cNvSpPr>
            <a:spLocks noGrp="1"/>
          </p:cNvSpPr>
          <p:nvPr>
            <p:ph type="title"/>
          </p:nvPr>
        </p:nvSpPr>
        <p:spPr/>
        <p:txBody>
          <a:bodyPr anchor="ctr"/>
          <a:p>
            <a:r>
              <a:rPr lang="en-US" altLang="zh-CN" sz="2000" dirty="0"/>
              <a:t>7.3  </a:t>
            </a:r>
            <a:r>
              <a:rPr lang="zh-CN" altLang="en-US" sz="2000" dirty="0"/>
              <a:t>销售额预测</a:t>
            </a:r>
            <a:endParaRPr lang="zh-CN" altLang="en-US" sz="2000" dirty="0"/>
          </a:p>
        </p:txBody>
      </p:sp>
      <p:sp>
        <p:nvSpPr>
          <p:cNvPr id="37891" name="文本占位符 37890"/>
          <p:cNvSpPr>
            <a:spLocks noGrp="1"/>
          </p:cNvSpPr>
          <p:nvPr>
            <p:ph type="body" idx="1"/>
          </p:nvPr>
        </p:nvSpPr>
        <p:spPr>
          <a:xfrm>
            <a:off x="0" y="1196975"/>
            <a:ext cx="8893175" cy="2160588"/>
          </a:xfrm>
        </p:spPr>
        <p:txBody>
          <a:bodyPr/>
          <a:p>
            <a:pPr>
              <a:buNone/>
            </a:pPr>
            <a:r>
              <a:rPr lang="en-US" altLang="zh-CN" dirty="0"/>
              <a:t>     </a:t>
            </a:r>
            <a:r>
              <a:rPr lang="zh-CN" altLang="en-US" sz="2800" b="0" dirty="0">
                <a:latin typeface="黑体" panose="02010609060101010101" pitchFamily="2" charset="-122"/>
              </a:rPr>
              <a:t>随着生产的发展、消费的扩大，市场需求通常总是增加的，一个商店、一个地区的销售额常常呈增长趋势</a:t>
            </a:r>
            <a:r>
              <a:rPr lang="en-US" altLang="zh-CN" sz="2800" b="0" dirty="0">
                <a:latin typeface="黑体" panose="02010609060101010101" pitchFamily="2" charset="-122"/>
              </a:rPr>
              <a:t>. </a:t>
            </a:r>
            <a:r>
              <a:rPr lang="zh-CN" altLang="en-US" sz="2800" b="0" dirty="0">
                <a:latin typeface="黑体" panose="02010609060101010101" pitchFamily="2" charset="-122"/>
              </a:rPr>
              <a:t>因此，这些数据符合建立灰色预测模型的要求。</a:t>
            </a:r>
            <a:endParaRPr lang="zh-CN" altLang="en-US" sz="2800" b="0" dirty="0">
              <a:latin typeface="黑体" panose="02010609060101010101" pitchFamily="2" charset="-122"/>
            </a:endParaRPr>
          </a:p>
        </p:txBody>
      </p:sp>
      <p:sp>
        <p:nvSpPr>
          <p:cNvPr id="37892" name="矩形 37891"/>
          <p:cNvSpPr/>
          <p:nvPr/>
        </p:nvSpPr>
        <p:spPr>
          <a:xfrm>
            <a:off x="0" y="2852738"/>
            <a:ext cx="9144000" cy="1944687"/>
          </a:xfrm>
          <a:prstGeom prst="rect">
            <a:avLst/>
          </a:prstGeom>
          <a:noFill/>
          <a:ln w="9525">
            <a:noFill/>
          </a:ln>
        </p:spPr>
        <p:txBody>
          <a:bodyPr/>
          <a:p>
            <a:pPr marL="342900" indent="-342900">
              <a:spcBef>
                <a:spcPct val="20000"/>
              </a:spcBef>
              <a:buClr>
                <a:schemeClr val="tx1"/>
              </a:buClr>
            </a:pPr>
            <a:r>
              <a:rPr lang="en-US" altLang="zh-CN" sz="3200" b="1">
                <a:latin typeface="Arial Black" panose="020B0A04020102020204" pitchFamily="34" charset="0"/>
                <a:ea typeface="黑体" panose="02010609060101010101" pitchFamily="2" charset="-122"/>
              </a:rPr>
              <a:t> </a:t>
            </a:r>
            <a:r>
              <a:rPr lang="zh-CN" altLang="en-US" sz="2800" dirty="0">
                <a:solidFill>
                  <a:srgbClr val="FF3300"/>
                </a:solidFill>
                <a:latin typeface="黑体" panose="02010609060101010101" pitchFamily="2" charset="-122"/>
                <a:ea typeface="黑体" panose="02010609060101010101" pitchFamily="2" charset="-122"/>
              </a:rPr>
              <a:t>【例</a:t>
            </a:r>
            <a:r>
              <a:rPr lang="en-US" altLang="zh-CN" sz="2800">
                <a:solidFill>
                  <a:srgbClr val="FF3300"/>
                </a:solidFill>
                <a:latin typeface="黑体" panose="02010609060101010101" pitchFamily="2" charset="-122"/>
                <a:ea typeface="黑体" panose="02010609060101010101" pitchFamily="2" charset="-122"/>
              </a:rPr>
              <a:t>7.2</a:t>
            </a:r>
            <a:r>
              <a:rPr lang="zh-CN" altLang="en-US" sz="2800">
                <a:solidFill>
                  <a:srgbClr val="FF3300"/>
                </a:solidFill>
                <a:latin typeface="黑体" panose="02010609060101010101" pitchFamily="2" charset="-122"/>
                <a:ea typeface="黑体" panose="02010609060101010101" pitchFamily="2" charset="-122"/>
              </a:rPr>
              <a:t>】</a:t>
            </a:r>
            <a:r>
              <a:rPr lang="zh-CN" altLang="en-US" sz="2800" dirty="0">
                <a:latin typeface="黑体" panose="02010609060101010101" pitchFamily="2" charset="-122"/>
                <a:ea typeface="黑体" panose="02010609060101010101" pitchFamily="2" charset="-122"/>
              </a:rPr>
              <a:t> 表</a:t>
            </a:r>
            <a:r>
              <a:rPr lang="en-US" altLang="zh-CN" sz="2800" dirty="0">
                <a:latin typeface="黑体" panose="02010609060101010101" pitchFamily="2" charset="-122"/>
                <a:ea typeface="黑体" panose="02010609060101010101" pitchFamily="2" charset="-122"/>
              </a:rPr>
              <a:t>7.2</a:t>
            </a:r>
            <a:r>
              <a:rPr lang="zh-CN" altLang="en-US" sz="2800" dirty="0">
                <a:latin typeface="黑体" panose="02010609060101010101" pitchFamily="2" charset="-122"/>
                <a:ea typeface="黑体" panose="02010609060101010101" pitchFamily="2" charset="-122"/>
              </a:rPr>
              <a:t>列出了某公司</a:t>
            </a:r>
            <a:r>
              <a:rPr lang="en-US" altLang="zh-CN" sz="2800">
                <a:latin typeface="黑体" panose="02010609060101010101" pitchFamily="2" charset="-122"/>
                <a:ea typeface="黑体" panose="02010609060101010101" pitchFamily="2" charset="-122"/>
              </a:rPr>
              <a:t>1999</a:t>
            </a:r>
            <a:r>
              <a:rPr lang="en-US" altLang="zh-CN" sz="2800">
                <a:latin typeface="Arial Black" panose="020B0A04020102020204" pitchFamily="34" charset="0"/>
                <a:ea typeface="黑体" panose="02010609060101010101" pitchFamily="2" charset="-122"/>
              </a:rPr>
              <a:t>—</a:t>
            </a:r>
            <a:r>
              <a:rPr lang="en-US" altLang="zh-CN" sz="2800" dirty="0">
                <a:latin typeface="黑体" panose="02010609060101010101" pitchFamily="2" charset="-122"/>
                <a:ea typeface="黑体" panose="02010609060101010101" pitchFamily="2" charset="-122"/>
              </a:rPr>
              <a:t>2003</a:t>
            </a:r>
            <a:r>
              <a:rPr lang="zh-CN" altLang="en-US" sz="2800" dirty="0">
                <a:latin typeface="黑体" panose="02010609060101010101" pitchFamily="2" charset="-122"/>
                <a:ea typeface="黑体" panose="02010609060101010101" pitchFamily="2" charset="-122"/>
              </a:rPr>
              <a:t>年逐年的销</a:t>
            </a:r>
            <a:endParaRPr lang="zh-CN" altLang="en-US" sz="2800" dirty="0">
              <a:latin typeface="黑体" panose="02010609060101010101" pitchFamily="2" charset="-122"/>
              <a:ea typeface="黑体" panose="02010609060101010101" pitchFamily="2" charset="-122"/>
            </a:endParaRPr>
          </a:p>
          <a:p>
            <a:pPr marL="342900" indent="-342900">
              <a:spcBef>
                <a:spcPct val="20000"/>
              </a:spcBef>
              <a:buClr>
                <a:schemeClr val="tx1"/>
              </a:buClr>
            </a:pPr>
            <a:r>
              <a:rPr lang="zh-CN" altLang="en-US" sz="2800" dirty="0">
                <a:latin typeface="黑体" panose="02010609060101010101" pitchFamily="2" charset="-122"/>
                <a:ea typeface="黑体" panose="02010609060101010101" pitchFamily="2" charset="-122"/>
              </a:rPr>
              <a:t>  售额</a:t>
            </a:r>
            <a:r>
              <a:rPr lang="en-US" altLang="zh-CN" sz="2800" dirty="0">
                <a:latin typeface="黑体" panose="02010609060101010101" pitchFamily="2" charset="-122"/>
                <a:ea typeface="黑体" panose="02010609060101010101" pitchFamily="2" charset="-122"/>
              </a:rPr>
              <a:t>.</a:t>
            </a:r>
            <a:r>
              <a:rPr lang="zh-CN" altLang="en-US" sz="2800" dirty="0">
                <a:latin typeface="黑体" panose="02010609060101010101" pitchFamily="2" charset="-122"/>
                <a:ea typeface="黑体" panose="02010609060101010101" pitchFamily="2" charset="-122"/>
              </a:rPr>
              <a:t>试用建立预测模型，预测</a:t>
            </a:r>
            <a:r>
              <a:rPr lang="en-US" altLang="zh-CN" sz="2800" dirty="0">
                <a:latin typeface="黑体" panose="02010609060101010101" pitchFamily="2" charset="-122"/>
                <a:ea typeface="黑体" panose="02010609060101010101" pitchFamily="2" charset="-122"/>
              </a:rPr>
              <a:t>2004</a:t>
            </a:r>
            <a:r>
              <a:rPr lang="zh-CN" altLang="en-US" sz="2800" dirty="0">
                <a:latin typeface="黑体" panose="02010609060101010101" pitchFamily="2" charset="-122"/>
                <a:ea typeface="黑体" panose="02010609060101010101" pitchFamily="2" charset="-122"/>
              </a:rPr>
              <a:t>年的销售额，要求作精度检验。</a:t>
            </a:r>
            <a:endParaRPr lang="zh-CN" altLang="en-US" sz="2800" dirty="0">
              <a:latin typeface="黑体" panose="02010609060101010101" pitchFamily="2" charset="-122"/>
              <a:ea typeface="黑体" panose="02010609060101010101" pitchFamily="2" charset="-122"/>
            </a:endParaRPr>
          </a:p>
        </p:txBody>
      </p:sp>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7891">
                                            <p:txEl>
                                              <p:charRg st="0" end="75"/>
                                            </p:txEl>
                                          </p:spTgt>
                                        </p:tgtEl>
                                        <p:attrNameLst>
                                          <p:attrName>style.visibility</p:attrName>
                                        </p:attrNameLst>
                                      </p:cBhvr>
                                      <p:to>
                                        <p:strVal val="visible"/>
                                      </p:to>
                                    </p:set>
                                    <p:animEffect transition="in" filter="wipe(up)">
                                      <p:cBhvr>
                                        <p:cTn id="7" dur="500"/>
                                        <p:tgtEl>
                                          <p:spTgt spid="37891">
                                            <p:txEl>
                                              <p:charRg st="0" end="7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7892"/>
                                        </p:tgtEl>
                                        <p:attrNameLst>
                                          <p:attrName>style.visibility</p:attrName>
                                        </p:attrNameLst>
                                      </p:cBhvr>
                                      <p:to>
                                        <p:strVal val="visible"/>
                                      </p:to>
                                    </p:set>
                                    <p:animEffect transition="in" filter="wipe(up)">
                                      <p:cBhvr>
                                        <p:cTn id="12" dur="500"/>
                                        <p:tgtEl>
                                          <p:spTgt spid="378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P spid="3789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标题 39937"/>
          <p:cNvSpPr>
            <a:spLocks noGrp="1"/>
          </p:cNvSpPr>
          <p:nvPr>
            <p:ph type="title"/>
          </p:nvPr>
        </p:nvSpPr>
        <p:spPr/>
        <p:txBody>
          <a:bodyPr anchor="ctr"/>
          <a:p>
            <a:r>
              <a:rPr lang="en-US" altLang="zh-CN" sz="2000" dirty="0"/>
              <a:t>7.3  </a:t>
            </a:r>
            <a:r>
              <a:rPr lang="zh-CN" altLang="en-US" sz="2000" dirty="0"/>
              <a:t>销售额预测</a:t>
            </a:r>
            <a:endParaRPr lang="zh-CN" altLang="en-US" sz="2000" dirty="0"/>
          </a:p>
        </p:txBody>
      </p:sp>
      <p:sp>
        <p:nvSpPr>
          <p:cNvPr id="39939" name="文本占位符 39938"/>
          <p:cNvSpPr>
            <a:spLocks noGrp="1"/>
          </p:cNvSpPr>
          <p:nvPr>
            <p:ph type="body" idx="1"/>
          </p:nvPr>
        </p:nvSpPr>
        <p:spPr>
          <a:xfrm>
            <a:off x="250825" y="2852738"/>
            <a:ext cx="8229600" cy="5184775"/>
          </a:xfrm>
        </p:spPr>
        <p:txBody>
          <a:bodyPr/>
          <a:p>
            <a:pPr>
              <a:buNone/>
            </a:pPr>
            <a:r>
              <a:rPr lang="en-US" altLang="zh-CN" dirty="0"/>
              <a:t>               </a:t>
            </a:r>
            <a:r>
              <a:rPr lang="zh-CN" altLang="en-US" sz="2400" b="0" dirty="0">
                <a:latin typeface="黑体" panose="02010609060101010101" pitchFamily="2" charset="-122"/>
              </a:rPr>
              <a:t>表</a:t>
            </a:r>
            <a:r>
              <a:rPr lang="en-US" altLang="zh-CN" sz="2400" b="0" dirty="0">
                <a:latin typeface="黑体" panose="02010609060101010101" pitchFamily="2" charset="-122"/>
              </a:rPr>
              <a:t>7.2  </a:t>
            </a:r>
            <a:r>
              <a:rPr lang="zh-CN" altLang="en-US" sz="2400" b="0" dirty="0">
                <a:latin typeface="黑体" panose="02010609060101010101" pitchFamily="2" charset="-122"/>
              </a:rPr>
              <a:t>逐年销售额（百万元）</a:t>
            </a:r>
            <a:endParaRPr lang="zh-CN" altLang="en-US" sz="2400" b="0" dirty="0">
              <a:latin typeface="黑体" panose="02010609060101010101" pitchFamily="2" charset="-122"/>
            </a:endParaRPr>
          </a:p>
          <a:p>
            <a:endParaRPr lang="zh-CN" altLang="en-US" dirty="0"/>
          </a:p>
        </p:txBody>
      </p:sp>
      <p:sp>
        <p:nvSpPr>
          <p:cNvPr id="39953" name="矩形 39952"/>
          <p:cNvSpPr/>
          <p:nvPr/>
        </p:nvSpPr>
        <p:spPr>
          <a:xfrm>
            <a:off x="0" y="2925763"/>
            <a:ext cx="9144000" cy="0"/>
          </a:xfrm>
          <a:prstGeom prst="rect">
            <a:avLst/>
          </a:prstGeom>
          <a:noFill/>
          <a:ln w="9525">
            <a:noFill/>
          </a:ln>
        </p:spPr>
        <p:txBody>
          <a:bodyPr/>
          <a:p>
            <a:endParaRPr lang="zh-CN" altLang="en-US"/>
          </a:p>
        </p:txBody>
      </p:sp>
      <p:graphicFrame>
        <p:nvGraphicFramePr>
          <p:cNvPr id="39940" name="对象 39939"/>
          <p:cNvGraphicFramePr/>
          <p:nvPr/>
        </p:nvGraphicFramePr>
        <p:xfrm>
          <a:off x="684213" y="4797425"/>
          <a:ext cx="647700" cy="503238"/>
        </p:xfrm>
        <a:graphic>
          <a:graphicData uri="http://schemas.openxmlformats.org/presentationml/2006/ole">
            <mc:AlternateContent xmlns:mc="http://schemas.openxmlformats.org/markup-compatibility/2006">
              <mc:Choice xmlns:v="urn:schemas-microsoft-com:vml" Requires="v">
                <p:oleObj spid="_x0000_s3125" name="" r:id="rId1" imgW="254000" imgH="203200" progId="Equation.3">
                  <p:embed/>
                </p:oleObj>
              </mc:Choice>
              <mc:Fallback>
                <p:oleObj name="" r:id="rId1" imgW="254000" imgH="203200" progId="Equation.3">
                  <p:embed/>
                  <p:pic>
                    <p:nvPicPr>
                      <p:cNvPr id="0" name="图片 3124"/>
                      <p:cNvPicPr/>
                      <p:nvPr/>
                    </p:nvPicPr>
                    <p:blipFill>
                      <a:blip r:embed="rId2"/>
                      <a:stretch>
                        <a:fillRect/>
                      </a:stretch>
                    </p:blipFill>
                    <p:spPr>
                      <a:xfrm>
                        <a:off x="684213" y="4797425"/>
                        <a:ext cx="647700" cy="503238"/>
                      </a:xfrm>
                      <a:prstGeom prst="rect">
                        <a:avLst/>
                      </a:prstGeom>
                      <a:noFill/>
                      <a:ln w="38100">
                        <a:noFill/>
                        <a:miter/>
                      </a:ln>
                    </p:spPr>
                  </p:pic>
                </p:oleObj>
              </mc:Fallback>
            </mc:AlternateContent>
          </a:graphicData>
        </a:graphic>
      </p:graphicFrame>
      <p:graphicFrame>
        <p:nvGraphicFramePr>
          <p:cNvPr id="40066" name="表格 40065"/>
          <p:cNvGraphicFramePr/>
          <p:nvPr/>
        </p:nvGraphicFramePr>
        <p:xfrm>
          <a:off x="323850" y="3573463"/>
          <a:ext cx="8316913" cy="1800225"/>
        </p:xfrm>
        <a:graphic>
          <a:graphicData uri="http://schemas.openxmlformats.org/drawingml/2006/table">
            <a:tbl>
              <a:tblPr/>
              <a:tblGrid>
                <a:gridCol w="1306513"/>
                <a:gridCol w="1403350"/>
                <a:gridCol w="1401762"/>
                <a:gridCol w="1400175"/>
                <a:gridCol w="1403350"/>
                <a:gridCol w="1401763"/>
              </a:tblGrid>
              <a:tr h="576263">
                <a:tc>
                  <a:txBody>
                    <a:bodyPr/>
                    <a:lstStyle>
                      <a:lvl1pPr marL="342900" lvl="0" indent="-342900" algn="l" defTabSz="914400" rtl="0" eaLnBrk="1" fontAlgn="base" latinLnBrk="0" hangingPunct="1">
                        <a:lnSpc>
                          <a:spcPct val="100000"/>
                        </a:lnSpc>
                        <a:spcBef>
                          <a:spcPct val="20000"/>
                        </a:spcBef>
                        <a:spcAft>
                          <a:spcPct val="0"/>
                        </a:spcAft>
                        <a:buBlip>
                          <a:blip r:embed="rId3"/>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4"/>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5"/>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zh-CN" altLang="en-US" b="0" dirty="0">
                          <a:latin typeface="黑体" panose="02010609060101010101" pitchFamily="2" charset="-122"/>
                          <a:cs typeface="Times New Roman" panose="02020603050405020304" pitchFamily="18" charset="0"/>
                        </a:rPr>
                        <a:t>年份</a:t>
                      </a:r>
                      <a:endParaRPr lang="zh-CN" altLang="en-US" b="0" dirty="0">
                        <a:latin typeface="黑体" panose="02010609060101010101" pitchFamily="2" charset="-122"/>
                        <a:ea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3"/>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4"/>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5"/>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b="0">
                          <a:latin typeface="黑体" panose="02010609060101010101" pitchFamily="2" charset="-122"/>
                          <a:cs typeface="Times New Roman" panose="02020603050405020304" pitchFamily="18" charset="0"/>
                        </a:rPr>
                        <a:t>1999</a:t>
                      </a:r>
                      <a:endParaRPr lang="zh-CN" altLang="en-US" b="0">
                        <a:latin typeface="黑体" panose="02010609060101010101" pitchFamily="2" charset="-122"/>
                        <a:ea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3"/>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4"/>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5"/>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b="0">
                          <a:latin typeface="黑体" panose="02010609060101010101" pitchFamily="2" charset="-122"/>
                          <a:cs typeface="Times New Roman" panose="02020603050405020304" pitchFamily="18" charset="0"/>
                        </a:rPr>
                        <a:t>2000</a:t>
                      </a:r>
                      <a:endParaRPr lang="zh-CN" altLang="en-US" b="0">
                        <a:latin typeface="黑体" panose="02010609060101010101" pitchFamily="2" charset="-122"/>
                        <a:ea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3"/>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4"/>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5"/>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b="0">
                          <a:latin typeface="黑体" panose="02010609060101010101" pitchFamily="2" charset="-122"/>
                          <a:cs typeface="Times New Roman" panose="02020603050405020304" pitchFamily="18" charset="0"/>
                        </a:rPr>
                        <a:t>2001</a:t>
                      </a:r>
                      <a:endParaRPr lang="zh-CN" altLang="en-US" b="0">
                        <a:latin typeface="黑体" panose="02010609060101010101" pitchFamily="2" charset="-122"/>
                        <a:ea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3"/>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4"/>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5"/>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b="0">
                          <a:latin typeface="黑体" panose="02010609060101010101" pitchFamily="2" charset="-122"/>
                          <a:cs typeface="Times New Roman" panose="02020603050405020304" pitchFamily="18" charset="0"/>
                        </a:rPr>
                        <a:t>2002</a:t>
                      </a:r>
                      <a:endParaRPr lang="zh-CN" altLang="en-US" b="0">
                        <a:latin typeface="黑体" panose="02010609060101010101" pitchFamily="2" charset="-122"/>
                        <a:ea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3"/>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4"/>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5"/>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b="0">
                          <a:latin typeface="黑体" panose="02010609060101010101" pitchFamily="2" charset="-122"/>
                          <a:cs typeface="Times New Roman" panose="02020603050405020304" pitchFamily="18" charset="0"/>
                        </a:rPr>
                        <a:t>2003</a:t>
                      </a:r>
                      <a:endParaRPr lang="zh-CN" altLang="en-US" b="0">
                        <a:latin typeface="黑体" panose="02010609060101010101" pitchFamily="2" charset="-122"/>
                        <a:ea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17525">
                <a:tc>
                  <a:txBody>
                    <a:bodyPr/>
                    <a:lstStyle>
                      <a:lvl1pPr marL="342900" lvl="0" indent="-342900" algn="l" defTabSz="914400" rtl="0" eaLnBrk="1" fontAlgn="base" latinLnBrk="0" hangingPunct="1">
                        <a:lnSpc>
                          <a:spcPct val="100000"/>
                        </a:lnSpc>
                        <a:spcBef>
                          <a:spcPct val="20000"/>
                        </a:spcBef>
                        <a:spcAft>
                          <a:spcPct val="0"/>
                        </a:spcAft>
                        <a:buBlip>
                          <a:blip r:embed="rId3"/>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4"/>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5"/>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spcBef>
                          <a:spcPct val="0"/>
                        </a:spcBef>
                        <a:buClrTx/>
                        <a:buNone/>
                      </a:pPr>
                      <a:r>
                        <a:rPr lang="en-US" altLang="zh-CN" b="0" dirty="0">
                          <a:latin typeface="黑体" panose="02010609060101010101" pitchFamily="2" charset="-122"/>
                          <a:cs typeface="Times New Roman" panose="02020603050405020304" pitchFamily="18" charset="0"/>
                        </a:rPr>
                        <a:t> </a:t>
                      </a:r>
                      <a:r>
                        <a:rPr lang="zh-CN" altLang="en-US" b="0" dirty="0">
                          <a:latin typeface="黑体" panose="02010609060101010101" pitchFamily="2" charset="-122"/>
                          <a:cs typeface="Times New Roman" panose="02020603050405020304" pitchFamily="18" charset="0"/>
                        </a:rPr>
                        <a:t>序号</a:t>
                      </a:r>
                      <a:endParaRPr lang="zh-CN" altLang="en-US" b="0" dirty="0">
                        <a:latin typeface="黑体" panose="02010609060101010101" pitchFamily="2" charset="-122"/>
                        <a:ea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3"/>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4"/>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5"/>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b="0">
                          <a:latin typeface="黑体" panose="02010609060101010101" pitchFamily="2" charset="-122"/>
                          <a:cs typeface="Times New Roman" panose="02020603050405020304" pitchFamily="18" charset="0"/>
                        </a:rPr>
                        <a:t>1</a:t>
                      </a:r>
                      <a:endParaRPr lang="zh-CN" altLang="en-US" b="0">
                        <a:latin typeface="黑体" panose="02010609060101010101" pitchFamily="2" charset="-122"/>
                        <a:ea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3"/>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4"/>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5"/>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b="0">
                          <a:latin typeface="黑体" panose="02010609060101010101" pitchFamily="2" charset="-122"/>
                          <a:cs typeface="Times New Roman" panose="02020603050405020304" pitchFamily="18" charset="0"/>
                        </a:rPr>
                        <a:t>2</a:t>
                      </a:r>
                      <a:endParaRPr lang="zh-CN" altLang="en-US" b="0">
                        <a:latin typeface="黑体" panose="02010609060101010101" pitchFamily="2" charset="-122"/>
                        <a:ea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3"/>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4"/>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5"/>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b="0">
                          <a:latin typeface="黑体" panose="02010609060101010101" pitchFamily="2" charset="-122"/>
                          <a:cs typeface="Times New Roman" panose="02020603050405020304" pitchFamily="18" charset="0"/>
                        </a:rPr>
                        <a:t>3</a:t>
                      </a:r>
                      <a:endParaRPr lang="zh-CN" altLang="en-US" b="0">
                        <a:latin typeface="黑体" panose="02010609060101010101" pitchFamily="2" charset="-122"/>
                        <a:ea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3"/>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4"/>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5"/>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b="0">
                          <a:latin typeface="黑体" panose="02010609060101010101" pitchFamily="2" charset="-122"/>
                          <a:cs typeface="Times New Roman" panose="02020603050405020304" pitchFamily="18" charset="0"/>
                        </a:rPr>
                        <a:t>4</a:t>
                      </a:r>
                      <a:endParaRPr lang="zh-CN" altLang="en-US" b="0">
                        <a:latin typeface="黑体" panose="02010609060101010101" pitchFamily="2" charset="-122"/>
                        <a:ea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3"/>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4"/>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5"/>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b="0">
                          <a:latin typeface="黑体" panose="02010609060101010101" pitchFamily="2" charset="-122"/>
                          <a:cs typeface="Times New Roman" panose="02020603050405020304" pitchFamily="18" charset="0"/>
                        </a:rPr>
                        <a:t>5</a:t>
                      </a:r>
                      <a:endParaRPr lang="zh-CN" altLang="en-US" b="0">
                        <a:latin typeface="黑体" panose="02010609060101010101" pitchFamily="2" charset="-122"/>
                        <a:ea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706437">
                <a:tc>
                  <a:txBody>
                    <a:bodyPr/>
                    <a:lstStyle>
                      <a:lvl1pPr marL="342900" lvl="0" indent="-342900" algn="l" defTabSz="914400" rtl="0" eaLnBrk="1" fontAlgn="base" latinLnBrk="0" hangingPunct="1">
                        <a:lnSpc>
                          <a:spcPct val="100000"/>
                        </a:lnSpc>
                        <a:spcBef>
                          <a:spcPct val="20000"/>
                        </a:spcBef>
                        <a:spcAft>
                          <a:spcPct val="0"/>
                        </a:spcAft>
                        <a:buBlip>
                          <a:blip r:embed="rId3"/>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4"/>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5"/>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dirty="0">
                          <a:latin typeface="黑体" panose="02010609060101010101" pitchFamily="2" charset="-122"/>
                        </a:rPr>
                        <a:t> </a:t>
                      </a:r>
                      <a:endParaRPr lang="zh-CN" altLang="en-US" dirty="0">
                        <a:latin typeface="黑体" panose="02010609060101010101" pitchFamily="2"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3"/>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4"/>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5"/>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b="0">
                          <a:latin typeface="黑体" panose="02010609060101010101" pitchFamily="2" charset="-122"/>
                          <a:cs typeface="Times New Roman" panose="02020603050405020304" pitchFamily="18" charset="0"/>
                        </a:rPr>
                        <a:t>2.874</a:t>
                      </a:r>
                      <a:endParaRPr lang="zh-CN" altLang="en-US" b="0">
                        <a:latin typeface="黑体" panose="02010609060101010101" pitchFamily="2" charset="-122"/>
                        <a:ea typeface="Times New Roman" panose="02020603050405020304" pitchFamily="18"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3"/>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4"/>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5"/>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b="0">
                          <a:latin typeface="黑体" panose="02010609060101010101" pitchFamily="2" charset="-122"/>
                          <a:cs typeface="Times New Roman" panose="02020603050405020304" pitchFamily="18" charset="0"/>
                        </a:rPr>
                        <a:t>3.278</a:t>
                      </a:r>
                      <a:endParaRPr lang="zh-CN" altLang="en-US" b="0">
                        <a:latin typeface="黑体" panose="02010609060101010101" pitchFamily="2" charset="-122"/>
                        <a:ea typeface="Times New Roman" panose="02020603050405020304" pitchFamily="18"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3"/>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4"/>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5"/>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b="0">
                          <a:latin typeface="黑体" panose="02010609060101010101" pitchFamily="2" charset="-122"/>
                          <a:cs typeface="Times New Roman" panose="02020603050405020304" pitchFamily="18" charset="0"/>
                        </a:rPr>
                        <a:t>3.337</a:t>
                      </a:r>
                      <a:endParaRPr lang="zh-CN" altLang="en-US" b="0">
                        <a:latin typeface="黑体" panose="02010609060101010101" pitchFamily="2" charset="-122"/>
                        <a:ea typeface="Times New Roman" panose="02020603050405020304" pitchFamily="18"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3"/>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4"/>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5"/>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b="0">
                          <a:latin typeface="黑体" panose="02010609060101010101" pitchFamily="2" charset="-122"/>
                          <a:cs typeface="Times New Roman" panose="02020603050405020304" pitchFamily="18" charset="0"/>
                        </a:rPr>
                        <a:t>3.390</a:t>
                      </a:r>
                      <a:endParaRPr lang="zh-CN" altLang="en-US" b="0">
                        <a:latin typeface="黑体" panose="02010609060101010101" pitchFamily="2" charset="-122"/>
                        <a:ea typeface="Times New Roman" panose="02020603050405020304" pitchFamily="18"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3"/>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4"/>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5"/>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b="0">
                          <a:latin typeface="黑体" panose="02010609060101010101" pitchFamily="2" charset="-122"/>
                          <a:cs typeface="Times New Roman" panose="02020603050405020304" pitchFamily="18" charset="0"/>
                        </a:rPr>
                        <a:t>3.679</a:t>
                      </a:r>
                      <a:endParaRPr lang="zh-CN" altLang="en-US" b="0">
                        <a:latin typeface="黑体" panose="02010609060101010101" pitchFamily="2" charset="-122"/>
                        <a:ea typeface="Times New Roman" panose="02020603050405020304" pitchFamily="18"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40067" name="矩形 40066"/>
          <p:cNvSpPr/>
          <p:nvPr/>
        </p:nvSpPr>
        <p:spPr>
          <a:xfrm>
            <a:off x="179388" y="1341438"/>
            <a:ext cx="8964612" cy="1944687"/>
          </a:xfrm>
          <a:prstGeom prst="rect">
            <a:avLst/>
          </a:prstGeom>
          <a:noFill/>
          <a:ln w="9525">
            <a:noFill/>
          </a:ln>
        </p:spPr>
        <p:txBody>
          <a:bodyPr/>
          <a:p>
            <a:pPr marL="342900" indent="-342900">
              <a:spcBef>
                <a:spcPct val="20000"/>
              </a:spcBef>
              <a:buClr>
                <a:schemeClr val="tx1"/>
              </a:buClr>
            </a:pPr>
            <a:r>
              <a:rPr lang="en-US" altLang="zh-CN" sz="3200" b="1">
                <a:latin typeface="Arial Black" panose="020B0A04020102020204" pitchFamily="34" charset="0"/>
                <a:ea typeface="黑体" panose="02010609060101010101" pitchFamily="2" charset="-122"/>
              </a:rPr>
              <a:t> </a:t>
            </a:r>
            <a:r>
              <a:rPr lang="zh-CN" altLang="en-US" sz="2800" dirty="0">
                <a:solidFill>
                  <a:srgbClr val="FF3300"/>
                </a:solidFill>
                <a:latin typeface="黑体" panose="02010609060101010101" pitchFamily="2" charset="-122"/>
                <a:ea typeface="黑体" panose="02010609060101010101" pitchFamily="2" charset="-122"/>
              </a:rPr>
              <a:t>【例</a:t>
            </a:r>
            <a:r>
              <a:rPr lang="en-US" altLang="zh-CN" sz="2800">
                <a:solidFill>
                  <a:srgbClr val="FF3300"/>
                </a:solidFill>
                <a:latin typeface="黑体" panose="02010609060101010101" pitchFamily="2" charset="-122"/>
                <a:ea typeface="黑体" panose="02010609060101010101" pitchFamily="2" charset="-122"/>
              </a:rPr>
              <a:t>7.2</a:t>
            </a:r>
            <a:r>
              <a:rPr lang="zh-CN" altLang="en-US" sz="2800">
                <a:solidFill>
                  <a:srgbClr val="FF3300"/>
                </a:solidFill>
                <a:latin typeface="黑体" panose="02010609060101010101" pitchFamily="2" charset="-122"/>
                <a:ea typeface="黑体" panose="02010609060101010101" pitchFamily="2" charset="-122"/>
              </a:rPr>
              <a:t>】</a:t>
            </a:r>
            <a:r>
              <a:rPr lang="zh-CN" altLang="en-US" sz="2800" dirty="0">
                <a:latin typeface="黑体" panose="02010609060101010101" pitchFamily="2" charset="-122"/>
                <a:ea typeface="黑体" panose="02010609060101010101" pitchFamily="2" charset="-122"/>
              </a:rPr>
              <a:t> 表</a:t>
            </a:r>
            <a:r>
              <a:rPr lang="en-US" altLang="zh-CN" sz="2800" dirty="0">
                <a:latin typeface="黑体" panose="02010609060101010101" pitchFamily="2" charset="-122"/>
                <a:ea typeface="黑体" panose="02010609060101010101" pitchFamily="2" charset="-122"/>
              </a:rPr>
              <a:t>7.2</a:t>
            </a:r>
            <a:r>
              <a:rPr lang="zh-CN" altLang="en-US" sz="2800" dirty="0">
                <a:latin typeface="黑体" panose="02010609060101010101" pitchFamily="2" charset="-122"/>
                <a:ea typeface="黑体" panose="02010609060101010101" pitchFamily="2" charset="-122"/>
              </a:rPr>
              <a:t>列出了某公司</a:t>
            </a:r>
            <a:r>
              <a:rPr lang="en-US" altLang="zh-CN" sz="2800">
                <a:latin typeface="黑体" panose="02010609060101010101" pitchFamily="2" charset="-122"/>
                <a:ea typeface="黑体" panose="02010609060101010101" pitchFamily="2" charset="-122"/>
              </a:rPr>
              <a:t>1999</a:t>
            </a:r>
            <a:r>
              <a:rPr lang="en-US" altLang="zh-CN" sz="2800">
                <a:latin typeface="Arial Black" panose="020B0A04020102020204" pitchFamily="34" charset="0"/>
                <a:ea typeface="黑体" panose="02010609060101010101" pitchFamily="2" charset="-122"/>
              </a:rPr>
              <a:t>—</a:t>
            </a:r>
            <a:r>
              <a:rPr lang="en-US" altLang="zh-CN" sz="2800" dirty="0">
                <a:latin typeface="黑体" panose="02010609060101010101" pitchFamily="2" charset="-122"/>
                <a:ea typeface="黑体" panose="02010609060101010101" pitchFamily="2" charset="-122"/>
              </a:rPr>
              <a:t>2003</a:t>
            </a:r>
            <a:r>
              <a:rPr lang="zh-CN" altLang="en-US" sz="2800" dirty="0">
                <a:latin typeface="黑体" panose="02010609060101010101" pitchFamily="2" charset="-122"/>
                <a:ea typeface="黑体" panose="02010609060101010101" pitchFamily="2" charset="-122"/>
              </a:rPr>
              <a:t>年逐年的销</a:t>
            </a:r>
            <a:endParaRPr lang="zh-CN" altLang="en-US" sz="2800" dirty="0">
              <a:latin typeface="黑体" panose="02010609060101010101" pitchFamily="2" charset="-122"/>
              <a:ea typeface="黑体" panose="02010609060101010101" pitchFamily="2" charset="-122"/>
            </a:endParaRPr>
          </a:p>
          <a:p>
            <a:pPr marL="342900" indent="-342900">
              <a:spcBef>
                <a:spcPct val="20000"/>
              </a:spcBef>
              <a:buClr>
                <a:schemeClr val="tx1"/>
              </a:buClr>
            </a:pPr>
            <a:r>
              <a:rPr lang="zh-CN" altLang="en-US" sz="2800" dirty="0">
                <a:latin typeface="黑体" panose="02010609060101010101" pitchFamily="2" charset="-122"/>
                <a:ea typeface="黑体" panose="02010609060101010101" pitchFamily="2" charset="-122"/>
              </a:rPr>
              <a:t>  售额</a:t>
            </a:r>
            <a:r>
              <a:rPr lang="en-US" altLang="zh-CN" sz="2800" dirty="0">
                <a:latin typeface="黑体" panose="02010609060101010101" pitchFamily="2" charset="-122"/>
                <a:ea typeface="黑体" panose="02010609060101010101" pitchFamily="2" charset="-122"/>
              </a:rPr>
              <a:t>.</a:t>
            </a:r>
            <a:r>
              <a:rPr lang="zh-CN" altLang="en-US" sz="2800" dirty="0">
                <a:latin typeface="黑体" panose="02010609060101010101" pitchFamily="2" charset="-122"/>
                <a:ea typeface="黑体" panose="02010609060101010101" pitchFamily="2" charset="-122"/>
              </a:rPr>
              <a:t>试用建立预测模型，预测</a:t>
            </a:r>
            <a:r>
              <a:rPr lang="en-US" altLang="zh-CN" sz="2800" dirty="0">
                <a:latin typeface="黑体" panose="02010609060101010101" pitchFamily="2" charset="-122"/>
                <a:ea typeface="黑体" panose="02010609060101010101" pitchFamily="2" charset="-122"/>
              </a:rPr>
              <a:t>2004</a:t>
            </a:r>
            <a:r>
              <a:rPr lang="zh-CN" altLang="en-US" sz="2800" dirty="0">
                <a:latin typeface="黑体" panose="02010609060101010101" pitchFamily="2" charset="-122"/>
                <a:ea typeface="黑体" panose="02010609060101010101" pitchFamily="2" charset="-122"/>
              </a:rPr>
              <a:t>年的销售额，要求作精度检验。</a:t>
            </a:r>
            <a:endParaRPr lang="zh-CN" altLang="en-US" sz="2800" dirty="0">
              <a:latin typeface="黑体" panose="02010609060101010101" pitchFamily="2" charset="-122"/>
              <a:ea typeface="黑体" panose="02010609060101010101" pitchFamily="2" charset="-122"/>
            </a:endParaRPr>
          </a:p>
        </p:txBody>
      </p:sp>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9939">
                                            <p:txEl>
                                              <p:charRg st="0" end="32"/>
                                            </p:txEl>
                                          </p:spTgt>
                                        </p:tgtEl>
                                        <p:attrNameLst>
                                          <p:attrName>style.visibility</p:attrName>
                                        </p:attrNameLst>
                                      </p:cBhvr>
                                      <p:to>
                                        <p:strVal val="visible"/>
                                      </p:to>
                                    </p:set>
                                    <p:animEffect transition="in" filter="wipe(up)">
                                      <p:cBhvr>
                                        <p:cTn id="7" dur="500"/>
                                        <p:tgtEl>
                                          <p:spTgt spid="39939">
                                            <p:txEl>
                                              <p:charRg st="0" end="32"/>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9953"/>
                                        </p:tgtEl>
                                        <p:attrNameLst>
                                          <p:attrName>style.visibility</p:attrName>
                                        </p:attrNameLst>
                                      </p:cBhvr>
                                      <p:to>
                                        <p:strVal val="visible"/>
                                      </p:to>
                                    </p:set>
                                    <p:animEffect transition="in" filter="wipe(up)">
                                      <p:cBhvr>
                                        <p:cTn id="11" dur="500"/>
                                        <p:tgtEl>
                                          <p:spTgt spid="39953"/>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39940"/>
                                        </p:tgtEl>
                                        <p:attrNameLst>
                                          <p:attrName>style.visibility</p:attrName>
                                        </p:attrNameLst>
                                      </p:cBhvr>
                                      <p:to>
                                        <p:strVal val="visible"/>
                                      </p:to>
                                    </p:set>
                                    <p:animEffect transition="in" filter="wipe(up)">
                                      <p:cBhvr>
                                        <p:cTn id="15" dur="500"/>
                                        <p:tgtEl>
                                          <p:spTgt spid="39940"/>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40066"/>
                                        </p:tgtEl>
                                        <p:attrNameLst>
                                          <p:attrName>style.visibility</p:attrName>
                                        </p:attrNameLst>
                                      </p:cBhvr>
                                      <p:to>
                                        <p:strVal val="visible"/>
                                      </p:to>
                                    </p:set>
                                    <p:animEffect transition="in" filter="wipe(up)">
                                      <p:cBhvr>
                                        <p:cTn id="19" dur="500"/>
                                        <p:tgtEl>
                                          <p:spTgt spid="400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标题 40961"/>
          <p:cNvSpPr>
            <a:spLocks noGrp="1"/>
          </p:cNvSpPr>
          <p:nvPr>
            <p:ph type="title"/>
          </p:nvPr>
        </p:nvSpPr>
        <p:spPr/>
        <p:txBody>
          <a:bodyPr anchor="ctr"/>
          <a:p>
            <a:r>
              <a:rPr lang="en-US" altLang="zh-CN" sz="2000" dirty="0"/>
              <a:t>7.3  </a:t>
            </a:r>
            <a:r>
              <a:rPr lang="zh-CN" altLang="en-US" sz="2000" dirty="0"/>
              <a:t>销售额预测</a:t>
            </a:r>
            <a:endParaRPr lang="zh-CN" altLang="en-US" sz="2000" dirty="0"/>
          </a:p>
        </p:txBody>
      </p:sp>
      <p:sp>
        <p:nvSpPr>
          <p:cNvPr id="40963" name="文本占位符 40962"/>
          <p:cNvSpPr>
            <a:spLocks noGrp="1"/>
          </p:cNvSpPr>
          <p:nvPr>
            <p:ph type="body" idx="1"/>
          </p:nvPr>
        </p:nvSpPr>
        <p:spPr/>
        <p:txBody>
          <a:bodyPr/>
          <a:p>
            <a:pPr>
              <a:buNone/>
            </a:pPr>
            <a:r>
              <a:rPr lang="en-US" altLang="zh-CN" dirty="0"/>
              <a:t>  </a:t>
            </a:r>
            <a:r>
              <a:rPr lang="zh-CN" altLang="en-US" sz="2800" b="0" dirty="0">
                <a:latin typeface="黑体" panose="02010609060101010101" pitchFamily="2" charset="-122"/>
              </a:rPr>
              <a:t>解（</a:t>
            </a:r>
            <a:r>
              <a:rPr lang="en-US" altLang="zh-CN" sz="2800" b="0" dirty="0">
                <a:latin typeface="黑体" panose="02010609060101010101" pitchFamily="2" charset="-122"/>
              </a:rPr>
              <a:t>1</a:t>
            </a:r>
            <a:r>
              <a:rPr lang="zh-CN" altLang="en-US" sz="2800" b="0" dirty="0">
                <a:latin typeface="黑体" panose="02010609060101010101" pitchFamily="2" charset="-122"/>
              </a:rPr>
              <a:t>）由原始数据列计算一次累加序列    ，结果见表</a:t>
            </a:r>
            <a:r>
              <a:rPr lang="en-US" altLang="zh-CN" sz="2800" b="0">
                <a:latin typeface="黑体" panose="02010609060101010101" pitchFamily="2" charset="-122"/>
              </a:rPr>
              <a:t>7.3.</a:t>
            </a:r>
            <a:endParaRPr lang="en-US" altLang="zh-CN" sz="2800" b="0">
              <a:latin typeface="黑体" panose="02010609060101010101" pitchFamily="2" charset="-122"/>
            </a:endParaRPr>
          </a:p>
          <a:p>
            <a:pPr algn="ctr">
              <a:buNone/>
            </a:pPr>
            <a:r>
              <a:rPr lang="en-US" altLang="zh-CN"/>
              <a:t> </a:t>
            </a:r>
            <a:r>
              <a:rPr lang="zh-CN" altLang="en-US" sz="2000" b="0" dirty="0">
                <a:latin typeface="黑体" panose="02010609060101010101" pitchFamily="2" charset="-122"/>
              </a:rPr>
              <a:t>表</a:t>
            </a:r>
            <a:r>
              <a:rPr lang="en-US" altLang="zh-CN" sz="2000" b="0" dirty="0">
                <a:latin typeface="黑体" panose="02010609060101010101" pitchFamily="2" charset="-122"/>
              </a:rPr>
              <a:t>7.3 </a:t>
            </a:r>
            <a:r>
              <a:rPr lang="zh-CN" altLang="en-US" sz="2000" b="0" dirty="0">
                <a:latin typeface="黑体" panose="02010609060101010101" pitchFamily="2" charset="-122"/>
              </a:rPr>
              <a:t>一次累加数据</a:t>
            </a:r>
            <a:endParaRPr lang="zh-CN" altLang="en-US" sz="2000" b="0" dirty="0">
              <a:latin typeface="黑体" panose="02010609060101010101" pitchFamily="2" charset="-122"/>
            </a:endParaRPr>
          </a:p>
        </p:txBody>
      </p:sp>
      <p:sp>
        <p:nvSpPr>
          <p:cNvPr id="40965" name="矩形 40964"/>
          <p:cNvSpPr/>
          <p:nvPr/>
        </p:nvSpPr>
        <p:spPr>
          <a:xfrm>
            <a:off x="0" y="3328988"/>
            <a:ext cx="9144000" cy="0"/>
          </a:xfrm>
          <a:prstGeom prst="rect">
            <a:avLst/>
          </a:prstGeom>
          <a:noFill/>
          <a:ln w="9525">
            <a:noFill/>
          </a:ln>
        </p:spPr>
        <p:txBody>
          <a:bodyPr/>
          <a:p>
            <a:endParaRPr lang="zh-CN" altLang="en-US"/>
          </a:p>
        </p:txBody>
      </p:sp>
      <p:graphicFrame>
        <p:nvGraphicFramePr>
          <p:cNvPr id="40964" name="对象 40963"/>
          <p:cNvGraphicFramePr/>
          <p:nvPr/>
        </p:nvGraphicFramePr>
        <p:xfrm>
          <a:off x="7019925" y="1125538"/>
          <a:ext cx="720725" cy="604837"/>
        </p:xfrm>
        <a:graphic>
          <a:graphicData uri="http://schemas.openxmlformats.org/presentationml/2006/ole">
            <mc:AlternateContent xmlns:mc="http://schemas.openxmlformats.org/markup-compatibility/2006">
              <mc:Choice xmlns:v="urn:schemas-microsoft-com:vml" Requires="v">
                <p:oleObj spid="_x0000_s3126" name="" r:id="rId1" imgW="241300" imgH="203200" progId="Equation.3">
                  <p:embed/>
                </p:oleObj>
              </mc:Choice>
              <mc:Fallback>
                <p:oleObj name="" r:id="rId1" imgW="241300" imgH="203200" progId="Equation.3">
                  <p:embed/>
                  <p:pic>
                    <p:nvPicPr>
                      <p:cNvPr id="0" name="图片 3125"/>
                      <p:cNvPicPr/>
                      <p:nvPr/>
                    </p:nvPicPr>
                    <p:blipFill>
                      <a:blip r:embed="rId2"/>
                      <a:stretch>
                        <a:fillRect/>
                      </a:stretch>
                    </p:blipFill>
                    <p:spPr>
                      <a:xfrm>
                        <a:off x="7019925" y="1125538"/>
                        <a:ext cx="720725" cy="604837"/>
                      </a:xfrm>
                      <a:prstGeom prst="rect">
                        <a:avLst/>
                      </a:prstGeom>
                      <a:noFill/>
                      <a:ln w="38100">
                        <a:noFill/>
                        <a:miter/>
                      </a:ln>
                    </p:spPr>
                  </p:pic>
                </p:oleObj>
              </mc:Fallback>
            </mc:AlternateContent>
          </a:graphicData>
        </a:graphic>
      </p:graphicFrame>
      <p:graphicFrame>
        <p:nvGraphicFramePr>
          <p:cNvPr id="40967" name="对象 40966"/>
          <p:cNvGraphicFramePr/>
          <p:nvPr/>
        </p:nvGraphicFramePr>
        <p:xfrm>
          <a:off x="1187450" y="3716338"/>
          <a:ext cx="576263" cy="447675"/>
        </p:xfrm>
        <a:graphic>
          <a:graphicData uri="http://schemas.openxmlformats.org/presentationml/2006/ole">
            <mc:AlternateContent xmlns:mc="http://schemas.openxmlformats.org/markup-compatibility/2006">
              <mc:Choice xmlns:v="urn:schemas-microsoft-com:vml" Requires="v">
                <p:oleObj spid="_x0000_s3124" name="" r:id="rId3" imgW="254000" imgH="203200" progId="Equation.3">
                  <p:embed/>
                </p:oleObj>
              </mc:Choice>
              <mc:Fallback>
                <p:oleObj name="" r:id="rId3" imgW="254000" imgH="203200" progId="Equation.3">
                  <p:embed/>
                  <p:pic>
                    <p:nvPicPr>
                      <p:cNvPr id="0" name="图片 3123"/>
                      <p:cNvPicPr/>
                      <p:nvPr/>
                    </p:nvPicPr>
                    <p:blipFill>
                      <a:blip r:embed="rId4"/>
                      <a:stretch>
                        <a:fillRect/>
                      </a:stretch>
                    </p:blipFill>
                    <p:spPr>
                      <a:xfrm>
                        <a:off x="1187450" y="3716338"/>
                        <a:ext cx="576263" cy="447675"/>
                      </a:xfrm>
                      <a:prstGeom prst="rect">
                        <a:avLst/>
                      </a:prstGeom>
                      <a:noFill/>
                      <a:ln w="38100">
                        <a:noFill/>
                        <a:miter/>
                      </a:ln>
                    </p:spPr>
                  </p:pic>
                </p:oleObj>
              </mc:Fallback>
            </mc:AlternateContent>
          </a:graphicData>
        </a:graphic>
      </p:graphicFrame>
      <p:graphicFrame>
        <p:nvGraphicFramePr>
          <p:cNvPr id="40966" name="对象 40965"/>
          <p:cNvGraphicFramePr/>
          <p:nvPr/>
        </p:nvGraphicFramePr>
        <p:xfrm>
          <a:off x="1116013" y="4292600"/>
          <a:ext cx="576262" cy="484188"/>
        </p:xfrm>
        <a:graphic>
          <a:graphicData uri="http://schemas.openxmlformats.org/presentationml/2006/ole">
            <mc:AlternateContent xmlns:mc="http://schemas.openxmlformats.org/markup-compatibility/2006">
              <mc:Choice xmlns:v="urn:schemas-microsoft-com:vml" Requires="v">
                <p:oleObj spid="_x0000_s3129" name="" r:id="rId5" imgW="241300" imgH="203200" progId="Equation.3">
                  <p:embed/>
                </p:oleObj>
              </mc:Choice>
              <mc:Fallback>
                <p:oleObj name="" r:id="rId5" imgW="241300" imgH="203200" progId="Equation.3">
                  <p:embed/>
                  <p:pic>
                    <p:nvPicPr>
                      <p:cNvPr id="0" name="图片 3128"/>
                      <p:cNvPicPr/>
                      <p:nvPr/>
                    </p:nvPicPr>
                    <p:blipFill>
                      <a:blip r:embed="rId2"/>
                      <a:stretch>
                        <a:fillRect/>
                      </a:stretch>
                    </p:blipFill>
                    <p:spPr>
                      <a:xfrm>
                        <a:off x="1116013" y="4292600"/>
                        <a:ext cx="576262" cy="484188"/>
                      </a:xfrm>
                      <a:prstGeom prst="rect">
                        <a:avLst/>
                      </a:prstGeom>
                      <a:noFill/>
                      <a:ln w="38100">
                        <a:noFill/>
                        <a:miter/>
                      </a:ln>
                    </p:spPr>
                  </p:pic>
                </p:oleObj>
              </mc:Fallback>
            </mc:AlternateContent>
          </a:graphicData>
        </a:graphic>
      </p:graphicFrame>
      <p:sp>
        <p:nvSpPr>
          <p:cNvPr id="40980" name="矩形 40979"/>
          <p:cNvSpPr/>
          <p:nvPr/>
        </p:nvSpPr>
        <p:spPr>
          <a:xfrm>
            <a:off x="0" y="2667000"/>
            <a:ext cx="9144000" cy="0"/>
          </a:xfrm>
          <a:prstGeom prst="rect">
            <a:avLst/>
          </a:prstGeom>
          <a:noFill/>
          <a:ln w="9525">
            <a:noFill/>
          </a:ln>
        </p:spPr>
        <p:txBody>
          <a:bodyPr/>
          <a:p>
            <a:endParaRPr lang="zh-CN" altLang="en-US"/>
          </a:p>
        </p:txBody>
      </p:sp>
      <p:sp>
        <p:nvSpPr>
          <p:cNvPr id="40987" name="矩形 40986"/>
          <p:cNvSpPr/>
          <p:nvPr/>
        </p:nvSpPr>
        <p:spPr>
          <a:xfrm>
            <a:off x="0" y="2667000"/>
            <a:ext cx="9144000" cy="0"/>
          </a:xfrm>
          <a:prstGeom prst="rect">
            <a:avLst/>
          </a:prstGeom>
          <a:noFill/>
          <a:ln w="9525">
            <a:noFill/>
          </a:ln>
        </p:spPr>
        <p:txBody>
          <a:bodyPr/>
          <a:p>
            <a:endParaRPr lang="zh-CN" altLang="en-US"/>
          </a:p>
        </p:txBody>
      </p:sp>
      <p:graphicFrame>
        <p:nvGraphicFramePr>
          <p:cNvPr id="41130" name="表格 41129"/>
          <p:cNvGraphicFramePr/>
          <p:nvPr/>
        </p:nvGraphicFramePr>
        <p:xfrm>
          <a:off x="827088" y="2781300"/>
          <a:ext cx="8064500" cy="2016125"/>
        </p:xfrm>
        <a:graphic>
          <a:graphicData uri="http://schemas.openxmlformats.org/drawingml/2006/table">
            <a:tbl>
              <a:tblPr/>
              <a:tblGrid>
                <a:gridCol w="1212850"/>
                <a:gridCol w="1300163"/>
                <a:gridCol w="1300162"/>
                <a:gridCol w="1300163"/>
                <a:gridCol w="1474787"/>
                <a:gridCol w="1476375"/>
              </a:tblGrid>
              <a:tr h="455613">
                <a:tc>
                  <a:txBody>
                    <a:bodyPr/>
                    <a:lstStyle>
                      <a:lvl1pPr marL="342900" lvl="0" indent="-342900" algn="l" defTabSz="914400" rtl="0" eaLnBrk="1" fontAlgn="base" latinLnBrk="0" hangingPunct="1">
                        <a:lnSpc>
                          <a:spcPct val="100000"/>
                        </a:lnSpc>
                        <a:spcBef>
                          <a:spcPct val="20000"/>
                        </a:spcBef>
                        <a:spcAft>
                          <a:spcPct val="0"/>
                        </a:spcAft>
                        <a:buBlip>
                          <a:blip r:embed="rId6"/>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7"/>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8"/>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zh-CN" altLang="en-US" sz="2400" b="0" dirty="0">
                          <a:latin typeface="黑体" panose="02010609060101010101" pitchFamily="2" charset="-122"/>
                          <a:cs typeface="Times New Roman" panose="02020603050405020304" pitchFamily="18" charset="0"/>
                        </a:rPr>
                        <a:t>年份</a:t>
                      </a:r>
                      <a:endParaRPr lang="zh-CN" altLang="en-US" sz="2400" b="0" dirty="0">
                        <a:latin typeface="黑体" panose="02010609060101010101" pitchFamily="2" charset="-122"/>
                        <a:ea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6"/>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7"/>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8"/>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2400" b="0">
                          <a:latin typeface="黑体" panose="02010609060101010101" pitchFamily="2" charset="-122"/>
                          <a:cs typeface="Times New Roman" panose="02020603050405020304" pitchFamily="18" charset="0"/>
                        </a:rPr>
                        <a:t>1999</a:t>
                      </a:r>
                      <a:endParaRPr lang="zh-CN" altLang="en-US" sz="2400" b="0">
                        <a:latin typeface="黑体" panose="02010609060101010101" pitchFamily="2" charset="-122"/>
                        <a:ea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6"/>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7"/>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8"/>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2400" b="0">
                          <a:latin typeface="黑体" panose="02010609060101010101" pitchFamily="2" charset="-122"/>
                          <a:cs typeface="Times New Roman" panose="02020603050405020304" pitchFamily="18" charset="0"/>
                        </a:rPr>
                        <a:t>2000</a:t>
                      </a:r>
                      <a:endParaRPr lang="zh-CN" altLang="en-US" sz="2400" b="0">
                        <a:latin typeface="黑体" panose="02010609060101010101" pitchFamily="2" charset="-122"/>
                        <a:ea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6"/>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7"/>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8"/>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2400" b="0">
                          <a:latin typeface="黑体" panose="02010609060101010101" pitchFamily="2" charset="-122"/>
                          <a:cs typeface="Times New Roman" panose="02020603050405020304" pitchFamily="18" charset="0"/>
                        </a:rPr>
                        <a:t>2001</a:t>
                      </a:r>
                      <a:endParaRPr lang="zh-CN" altLang="en-US" sz="2400" b="0">
                        <a:latin typeface="黑体" panose="02010609060101010101" pitchFamily="2" charset="-122"/>
                        <a:ea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6"/>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7"/>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8"/>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2400" b="0">
                          <a:latin typeface="黑体" panose="02010609060101010101" pitchFamily="2" charset="-122"/>
                          <a:cs typeface="Times New Roman" panose="02020603050405020304" pitchFamily="18" charset="0"/>
                        </a:rPr>
                        <a:t>2002</a:t>
                      </a:r>
                      <a:endParaRPr lang="zh-CN" altLang="en-US" sz="2400" b="0">
                        <a:latin typeface="黑体" panose="02010609060101010101" pitchFamily="2" charset="-122"/>
                        <a:ea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6"/>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7"/>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8"/>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2400" b="0">
                          <a:latin typeface="黑体" panose="02010609060101010101" pitchFamily="2" charset="-122"/>
                          <a:cs typeface="Times New Roman" panose="02020603050405020304" pitchFamily="18" charset="0"/>
                        </a:rPr>
                        <a:t>2003</a:t>
                      </a:r>
                      <a:endParaRPr lang="zh-CN" altLang="en-US" sz="2400" b="0">
                        <a:latin typeface="黑体" panose="02010609060101010101" pitchFamily="2" charset="-122"/>
                        <a:ea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612">
                <a:tc>
                  <a:txBody>
                    <a:bodyPr/>
                    <a:lstStyle>
                      <a:lvl1pPr marL="342900" lvl="0" indent="-342900" algn="l" defTabSz="914400" rtl="0" eaLnBrk="1" fontAlgn="base" latinLnBrk="0" hangingPunct="1">
                        <a:lnSpc>
                          <a:spcPct val="100000"/>
                        </a:lnSpc>
                        <a:spcBef>
                          <a:spcPct val="20000"/>
                        </a:spcBef>
                        <a:spcAft>
                          <a:spcPct val="0"/>
                        </a:spcAft>
                        <a:buBlip>
                          <a:blip r:embed="rId6"/>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7"/>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8"/>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zh-CN" altLang="en-US" sz="2400" b="0" dirty="0">
                          <a:latin typeface="黑体" panose="02010609060101010101" pitchFamily="2" charset="-122"/>
                          <a:cs typeface="Times New Roman" panose="02020603050405020304" pitchFamily="18" charset="0"/>
                        </a:rPr>
                        <a:t>序号</a:t>
                      </a:r>
                      <a:endParaRPr lang="zh-CN" altLang="en-US" sz="2400" b="0" dirty="0">
                        <a:latin typeface="黑体" panose="02010609060101010101" pitchFamily="2" charset="-122"/>
                        <a:ea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6"/>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7"/>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8"/>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2400" b="0">
                          <a:latin typeface="黑体" panose="02010609060101010101" pitchFamily="2" charset="-122"/>
                          <a:cs typeface="Times New Roman" panose="02020603050405020304" pitchFamily="18" charset="0"/>
                        </a:rPr>
                        <a:t>1</a:t>
                      </a:r>
                      <a:endParaRPr lang="zh-CN" altLang="en-US" sz="2400" b="0">
                        <a:latin typeface="黑体" panose="02010609060101010101" pitchFamily="2" charset="-122"/>
                        <a:ea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6"/>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7"/>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8"/>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2400" b="0">
                          <a:latin typeface="黑体" panose="02010609060101010101" pitchFamily="2" charset="-122"/>
                          <a:cs typeface="Times New Roman" panose="02020603050405020304" pitchFamily="18" charset="0"/>
                        </a:rPr>
                        <a:t>2</a:t>
                      </a:r>
                      <a:endParaRPr lang="zh-CN" altLang="en-US" sz="2400" b="0">
                        <a:latin typeface="黑体" panose="02010609060101010101" pitchFamily="2" charset="-122"/>
                        <a:ea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6"/>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7"/>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8"/>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2400" b="0">
                          <a:latin typeface="黑体" panose="02010609060101010101" pitchFamily="2" charset="-122"/>
                          <a:cs typeface="Times New Roman" panose="02020603050405020304" pitchFamily="18" charset="0"/>
                        </a:rPr>
                        <a:t>3</a:t>
                      </a:r>
                      <a:endParaRPr lang="zh-CN" altLang="en-US" sz="2400" b="0">
                        <a:latin typeface="黑体" panose="02010609060101010101" pitchFamily="2" charset="-122"/>
                        <a:ea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6"/>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7"/>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8"/>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2400" b="0">
                          <a:latin typeface="黑体" panose="02010609060101010101" pitchFamily="2" charset="-122"/>
                          <a:cs typeface="Times New Roman" panose="02020603050405020304" pitchFamily="18" charset="0"/>
                        </a:rPr>
                        <a:t>4</a:t>
                      </a:r>
                      <a:endParaRPr lang="zh-CN" altLang="en-US" sz="2400" b="0">
                        <a:latin typeface="黑体" panose="02010609060101010101" pitchFamily="2" charset="-122"/>
                        <a:ea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6"/>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7"/>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8"/>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2400" b="0">
                          <a:latin typeface="黑体" panose="02010609060101010101" pitchFamily="2" charset="-122"/>
                          <a:cs typeface="Times New Roman" panose="02020603050405020304" pitchFamily="18" charset="0"/>
                        </a:rPr>
                        <a:t>5</a:t>
                      </a:r>
                      <a:endParaRPr lang="zh-CN" altLang="en-US" sz="2400" b="0">
                        <a:latin typeface="黑体" panose="02010609060101010101" pitchFamily="2" charset="-122"/>
                        <a:ea typeface="Times New Roman" panose="02020603050405020304" pitchFamily="18"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28638">
                <a:tc>
                  <a:txBody>
                    <a:bodyPr/>
                    <a:lstStyle>
                      <a:lvl1pPr marL="342900" lvl="0" indent="-342900" algn="l" defTabSz="914400" rtl="0" eaLnBrk="1" fontAlgn="base" latinLnBrk="0" hangingPunct="1">
                        <a:lnSpc>
                          <a:spcPct val="100000"/>
                        </a:lnSpc>
                        <a:spcBef>
                          <a:spcPct val="20000"/>
                        </a:spcBef>
                        <a:spcAft>
                          <a:spcPct val="0"/>
                        </a:spcAft>
                        <a:buBlip>
                          <a:blip r:embed="rId6"/>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7"/>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8"/>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endParaRPr lang="zh-CN" altLang="en-US" sz="2400" dirty="0">
                        <a:latin typeface="黑体" panose="02010609060101010101" pitchFamily="2"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6"/>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7"/>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8"/>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2400" b="0">
                          <a:latin typeface="黑体" panose="02010609060101010101" pitchFamily="2" charset="-122"/>
                          <a:cs typeface="Times New Roman" panose="02020603050405020304" pitchFamily="18" charset="0"/>
                        </a:rPr>
                        <a:t>2.874</a:t>
                      </a:r>
                      <a:endParaRPr lang="zh-CN" altLang="en-US" sz="2400" b="0">
                        <a:latin typeface="黑体" panose="02010609060101010101" pitchFamily="2" charset="-122"/>
                        <a:ea typeface="Times New Roman" panose="02020603050405020304" pitchFamily="18"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6"/>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7"/>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8"/>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2400" b="0">
                          <a:latin typeface="黑体" panose="02010609060101010101" pitchFamily="2" charset="-122"/>
                          <a:cs typeface="Times New Roman" panose="02020603050405020304" pitchFamily="18" charset="0"/>
                        </a:rPr>
                        <a:t>3.278</a:t>
                      </a:r>
                      <a:endParaRPr lang="zh-CN" altLang="en-US" sz="2400" b="0">
                        <a:latin typeface="黑体" panose="02010609060101010101" pitchFamily="2" charset="-122"/>
                        <a:ea typeface="Times New Roman" panose="02020603050405020304" pitchFamily="18"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6"/>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7"/>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8"/>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2400" b="0">
                          <a:latin typeface="黑体" panose="02010609060101010101" pitchFamily="2" charset="-122"/>
                          <a:cs typeface="Times New Roman" panose="02020603050405020304" pitchFamily="18" charset="0"/>
                        </a:rPr>
                        <a:t>3.337</a:t>
                      </a:r>
                      <a:endParaRPr lang="zh-CN" altLang="en-US" sz="2400" b="0">
                        <a:latin typeface="黑体" panose="02010609060101010101" pitchFamily="2" charset="-122"/>
                        <a:ea typeface="Times New Roman" panose="02020603050405020304" pitchFamily="18"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6"/>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7"/>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8"/>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2400" b="0">
                          <a:latin typeface="黑体" panose="02010609060101010101" pitchFamily="2" charset="-122"/>
                          <a:cs typeface="Times New Roman" panose="02020603050405020304" pitchFamily="18" charset="0"/>
                        </a:rPr>
                        <a:t>3.390</a:t>
                      </a:r>
                      <a:endParaRPr lang="zh-CN" altLang="en-US" sz="2400" b="0">
                        <a:latin typeface="黑体" panose="02010609060101010101" pitchFamily="2" charset="-122"/>
                        <a:ea typeface="Times New Roman" panose="02020603050405020304" pitchFamily="18"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6"/>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7"/>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8"/>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2400" b="0">
                          <a:latin typeface="黑体" panose="02010609060101010101" pitchFamily="2" charset="-122"/>
                          <a:cs typeface="Times New Roman" panose="02020603050405020304" pitchFamily="18" charset="0"/>
                        </a:rPr>
                        <a:t>3.679</a:t>
                      </a:r>
                      <a:endParaRPr lang="zh-CN" altLang="en-US" sz="2400" b="0">
                        <a:latin typeface="黑体" panose="02010609060101010101" pitchFamily="2" charset="-122"/>
                        <a:ea typeface="Times New Roman" panose="02020603050405020304" pitchFamily="18"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76262">
                <a:tc>
                  <a:txBody>
                    <a:bodyPr/>
                    <a:lstStyle>
                      <a:lvl1pPr marL="342900" lvl="0" indent="-342900" algn="l" defTabSz="914400" rtl="0" eaLnBrk="1" fontAlgn="base" latinLnBrk="0" hangingPunct="1">
                        <a:lnSpc>
                          <a:spcPct val="100000"/>
                        </a:lnSpc>
                        <a:spcBef>
                          <a:spcPct val="20000"/>
                        </a:spcBef>
                        <a:spcAft>
                          <a:spcPct val="0"/>
                        </a:spcAft>
                        <a:buBlip>
                          <a:blip r:embed="rId6"/>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7"/>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8"/>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endParaRPr lang="zh-CN" altLang="en-US" sz="2400" dirty="0">
                        <a:latin typeface="黑体" panose="02010609060101010101" pitchFamily="2"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6"/>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7"/>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8"/>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2400" b="0">
                          <a:latin typeface="黑体" panose="02010609060101010101" pitchFamily="2" charset="-122"/>
                          <a:cs typeface="Times New Roman" panose="02020603050405020304" pitchFamily="18" charset="0"/>
                        </a:rPr>
                        <a:t>2.874</a:t>
                      </a:r>
                      <a:endParaRPr lang="zh-CN" altLang="en-US" sz="2400" b="0">
                        <a:latin typeface="黑体" panose="02010609060101010101" pitchFamily="2" charset="-122"/>
                        <a:ea typeface="Times New Roman" panose="02020603050405020304" pitchFamily="18"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6"/>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7"/>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8"/>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2400" b="0">
                          <a:latin typeface="黑体" panose="02010609060101010101" pitchFamily="2" charset="-122"/>
                          <a:cs typeface="Times New Roman" panose="02020603050405020304" pitchFamily="18" charset="0"/>
                        </a:rPr>
                        <a:t>6.152</a:t>
                      </a:r>
                      <a:endParaRPr lang="zh-CN" altLang="en-US" sz="2400" b="0">
                        <a:latin typeface="黑体" panose="02010609060101010101" pitchFamily="2" charset="-122"/>
                        <a:ea typeface="Times New Roman" panose="02020603050405020304" pitchFamily="18"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6"/>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7"/>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8"/>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2400" b="0">
                          <a:latin typeface="黑体" panose="02010609060101010101" pitchFamily="2" charset="-122"/>
                          <a:cs typeface="Times New Roman" panose="02020603050405020304" pitchFamily="18" charset="0"/>
                        </a:rPr>
                        <a:t>9.489</a:t>
                      </a:r>
                      <a:endParaRPr lang="zh-CN" altLang="en-US" sz="2400" b="0">
                        <a:latin typeface="黑体" panose="02010609060101010101" pitchFamily="2" charset="-122"/>
                        <a:ea typeface="Times New Roman" panose="02020603050405020304" pitchFamily="18"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6"/>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7"/>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8"/>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2400" b="0">
                          <a:latin typeface="黑体" panose="02010609060101010101" pitchFamily="2" charset="-122"/>
                          <a:cs typeface="Times New Roman" panose="02020603050405020304" pitchFamily="18" charset="0"/>
                        </a:rPr>
                        <a:t>12.879</a:t>
                      </a:r>
                      <a:endParaRPr lang="zh-CN" altLang="en-US" sz="2400" b="0">
                        <a:latin typeface="黑体" panose="02010609060101010101" pitchFamily="2" charset="-122"/>
                        <a:ea typeface="Times New Roman" panose="02020603050405020304" pitchFamily="18"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Blip>
                          <a:blip r:embed="rId6"/>
                        </a:buBlip>
                        <a:defRPr sz="2800" b="1" u="none" kern="1200" baseline="0">
                          <a:solidFill>
                            <a:schemeClr val="tx1"/>
                          </a:solidFill>
                          <a:latin typeface="Arial Black" panose="020B0A04020102020204" pitchFamily="34" charset="0"/>
                          <a:ea typeface="黑体" panose="02010609060101010101" pitchFamily="2" charset="-122"/>
                        </a:defRPr>
                      </a:lvl1pPr>
                      <a:lvl2pPr marL="742950" lvl="1" indent="-285750" algn="l" defTabSz="914400" rtl="0" eaLnBrk="1" fontAlgn="base" latinLnBrk="0" hangingPunct="1">
                        <a:lnSpc>
                          <a:spcPct val="100000"/>
                        </a:lnSpc>
                        <a:spcBef>
                          <a:spcPct val="20000"/>
                        </a:spcBef>
                        <a:spcAft>
                          <a:spcPct val="0"/>
                        </a:spcAft>
                        <a:buClr>
                          <a:srgbClr val="0099FF"/>
                        </a:buClr>
                        <a:buFont typeface="Wingdings" panose="05000000000000000000" pitchFamily="2" charset="2"/>
                        <a:buBlip>
                          <a:blip r:embed="rId7"/>
                        </a:buBlip>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Font typeface="Wingdings" panose="05000000000000000000" pitchFamily="2" charset="2"/>
                        <a:buBlip>
                          <a:blip r:embed="rId8"/>
                        </a:buBlip>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ClrTx/>
                        <a:buNone/>
                      </a:pPr>
                      <a:r>
                        <a:rPr lang="en-US" altLang="zh-CN" sz="2400" b="0">
                          <a:latin typeface="黑体" panose="02010609060101010101" pitchFamily="2" charset="-122"/>
                          <a:cs typeface="Times New Roman" panose="02020603050405020304" pitchFamily="18" charset="0"/>
                        </a:rPr>
                        <a:t>16.558</a:t>
                      </a:r>
                      <a:endParaRPr lang="zh-CN" altLang="en-US" sz="2400" b="0">
                        <a:latin typeface="黑体" panose="02010609060101010101" pitchFamily="2" charset="-122"/>
                        <a:ea typeface="Times New Roman" panose="02020603050405020304" pitchFamily="18"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0963">
                                            <p:txEl>
                                              <p:charRg st="0" end="34"/>
                                            </p:txEl>
                                          </p:spTgt>
                                        </p:tgtEl>
                                        <p:attrNameLst>
                                          <p:attrName>style.visibility</p:attrName>
                                        </p:attrNameLst>
                                      </p:cBhvr>
                                      <p:to>
                                        <p:strVal val="visible"/>
                                      </p:to>
                                    </p:set>
                                    <p:animEffect transition="in" filter="wipe(up)">
                                      <p:cBhvr>
                                        <p:cTn id="7" dur="500"/>
                                        <p:tgtEl>
                                          <p:spTgt spid="40963">
                                            <p:txEl>
                                              <p:charRg st="0" end="34"/>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40964"/>
                                        </p:tgtEl>
                                        <p:attrNameLst>
                                          <p:attrName>style.visibility</p:attrName>
                                        </p:attrNameLst>
                                      </p:cBhvr>
                                      <p:to>
                                        <p:strVal val="visible"/>
                                      </p:to>
                                    </p:set>
                                    <p:animEffect transition="in" filter="wipe(up)">
                                      <p:cBhvr>
                                        <p:cTn id="10" dur="500"/>
                                        <p:tgtEl>
                                          <p:spTgt spid="4096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40963">
                                            <p:txEl>
                                              <p:charRg st="34" end="47"/>
                                            </p:txEl>
                                          </p:spTgt>
                                        </p:tgtEl>
                                        <p:attrNameLst>
                                          <p:attrName>style.visibility</p:attrName>
                                        </p:attrNameLst>
                                      </p:cBhvr>
                                      <p:to>
                                        <p:strVal val="visible"/>
                                      </p:to>
                                    </p:set>
                                    <p:animEffect transition="in" filter="wipe(up)">
                                      <p:cBhvr>
                                        <p:cTn id="15" dur="500"/>
                                        <p:tgtEl>
                                          <p:spTgt spid="40963">
                                            <p:txEl>
                                              <p:charRg st="34" end="47"/>
                                            </p:txEl>
                                          </p:spTgt>
                                        </p:tgtEl>
                                      </p:cBhvr>
                                    </p:animEffect>
                                  </p:childTnLst>
                                </p:cTn>
                              </p:par>
                            </p:childTnLst>
                          </p:cTn>
                        </p:par>
                        <p:par>
                          <p:cTn id="16" fill="hold">
                            <p:stCondLst>
                              <p:cond delay="500"/>
                            </p:stCondLst>
                            <p:childTnLst>
                              <p:par>
                                <p:cTn id="17" presetID="22" presetClass="entr" presetSubtype="1" fill="hold" nodeType="afterEffect">
                                  <p:stCondLst>
                                    <p:cond delay="0"/>
                                  </p:stCondLst>
                                  <p:childTnLst>
                                    <p:set>
                                      <p:cBhvr>
                                        <p:cTn id="18" dur="1" fill="hold">
                                          <p:stCondLst>
                                            <p:cond delay="0"/>
                                          </p:stCondLst>
                                        </p:cTn>
                                        <p:tgtEl>
                                          <p:spTgt spid="40965"/>
                                        </p:tgtEl>
                                        <p:attrNameLst>
                                          <p:attrName>style.visibility</p:attrName>
                                        </p:attrNameLst>
                                      </p:cBhvr>
                                      <p:to>
                                        <p:strVal val="visible"/>
                                      </p:to>
                                    </p:set>
                                    <p:animEffect transition="in" filter="wipe(up)">
                                      <p:cBhvr>
                                        <p:cTn id="19" dur="500"/>
                                        <p:tgtEl>
                                          <p:spTgt spid="40965"/>
                                        </p:tgtEl>
                                      </p:cBhvr>
                                    </p:animEffec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40967"/>
                                        </p:tgtEl>
                                        <p:attrNameLst>
                                          <p:attrName>style.visibility</p:attrName>
                                        </p:attrNameLst>
                                      </p:cBhvr>
                                      <p:to>
                                        <p:strVal val="visible"/>
                                      </p:to>
                                    </p:set>
                                    <p:animEffect transition="in" filter="wipe(up)">
                                      <p:cBhvr>
                                        <p:cTn id="23" dur="500"/>
                                        <p:tgtEl>
                                          <p:spTgt spid="40967"/>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40966"/>
                                        </p:tgtEl>
                                        <p:attrNameLst>
                                          <p:attrName>style.visibility</p:attrName>
                                        </p:attrNameLst>
                                      </p:cBhvr>
                                      <p:to>
                                        <p:strVal val="visible"/>
                                      </p:to>
                                    </p:set>
                                    <p:animEffect transition="in" filter="wipe(up)">
                                      <p:cBhvr>
                                        <p:cTn id="27" dur="500"/>
                                        <p:tgtEl>
                                          <p:spTgt spid="40966"/>
                                        </p:tgtEl>
                                      </p:cBhvr>
                                    </p:animEffect>
                                  </p:childTnLst>
                                </p:cTn>
                              </p:par>
                            </p:childTnLst>
                          </p:cTn>
                        </p:par>
                        <p:par>
                          <p:cTn id="28" fill="hold">
                            <p:stCondLst>
                              <p:cond delay="2000"/>
                            </p:stCondLst>
                            <p:childTnLst>
                              <p:par>
                                <p:cTn id="29" presetID="22" presetClass="entr" presetSubtype="1" fill="hold" nodeType="afterEffect">
                                  <p:stCondLst>
                                    <p:cond delay="0"/>
                                  </p:stCondLst>
                                  <p:childTnLst>
                                    <p:set>
                                      <p:cBhvr>
                                        <p:cTn id="30" dur="1" fill="hold">
                                          <p:stCondLst>
                                            <p:cond delay="0"/>
                                          </p:stCondLst>
                                        </p:cTn>
                                        <p:tgtEl>
                                          <p:spTgt spid="40980"/>
                                        </p:tgtEl>
                                        <p:attrNameLst>
                                          <p:attrName>style.visibility</p:attrName>
                                        </p:attrNameLst>
                                      </p:cBhvr>
                                      <p:to>
                                        <p:strVal val="visible"/>
                                      </p:to>
                                    </p:set>
                                    <p:animEffect transition="in" filter="wipe(up)">
                                      <p:cBhvr>
                                        <p:cTn id="31" dur="500"/>
                                        <p:tgtEl>
                                          <p:spTgt spid="40980"/>
                                        </p:tgtEl>
                                      </p:cBhvr>
                                    </p:animEffect>
                                  </p:childTnLst>
                                </p:cTn>
                              </p:par>
                            </p:childTnLst>
                          </p:cTn>
                        </p:par>
                        <p:par>
                          <p:cTn id="32" fill="hold">
                            <p:stCondLst>
                              <p:cond delay="2500"/>
                            </p:stCondLst>
                            <p:childTnLst>
                              <p:par>
                                <p:cTn id="33" presetID="22" presetClass="entr" presetSubtype="1" fill="hold" nodeType="afterEffect">
                                  <p:stCondLst>
                                    <p:cond delay="0"/>
                                  </p:stCondLst>
                                  <p:childTnLst>
                                    <p:set>
                                      <p:cBhvr>
                                        <p:cTn id="34" dur="1" fill="hold">
                                          <p:stCondLst>
                                            <p:cond delay="0"/>
                                          </p:stCondLst>
                                        </p:cTn>
                                        <p:tgtEl>
                                          <p:spTgt spid="40987"/>
                                        </p:tgtEl>
                                        <p:attrNameLst>
                                          <p:attrName>style.visibility</p:attrName>
                                        </p:attrNameLst>
                                      </p:cBhvr>
                                      <p:to>
                                        <p:strVal val="visible"/>
                                      </p:to>
                                    </p:set>
                                    <p:animEffect transition="in" filter="wipe(up)">
                                      <p:cBhvr>
                                        <p:cTn id="35" dur="500"/>
                                        <p:tgtEl>
                                          <p:spTgt spid="40987"/>
                                        </p:tgtEl>
                                      </p:cBhvr>
                                    </p:animEffect>
                                  </p:childTnLst>
                                </p:cTn>
                              </p:par>
                            </p:childTnLst>
                          </p:cTn>
                        </p:par>
                        <p:par>
                          <p:cTn id="36" fill="hold">
                            <p:stCondLst>
                              <p:cond delay="3000"/>
                            </p:stCondLst>
                            <p:childTnLst>
                              <p:par>
                                <p:cTn id="37" presetID="22" presetClass="entr" presetSubtype="1" fill="hold" nodeType="afterEffect">
                                  <p:stCondLst>
                                    <p:cond delay="0"/>
                                  </p:stCondLst>
                                  <p:childTnLst>
                                    <p:set>
                                      <p:cBhvr>
                                        <p:cTn id="38" dur="1" fill="hold">
                                          <p:stCondLst>
                                            <p:cond delay="0"/>
                                          </p:stCondLst>
                                        </p:cTn>
                                        <p:tgtEl>
                                          <p:spTgt spid="41130"/>
                                        </p:tgtEl>
                                        <p:attrNameLst>
                                          <p:attrName>style.visibility</p:attrName>
                                        </p:attrNameLst>
                                      </p:cBhvr>
                                      <p:to>
                                        <p:strVal val="visible"/>
                                      </p:to>
                                    </p:set>
                                    <p:animEffect transition="in" filter="wipe(up)">
                                      <p:cBhvr>
                                        <p:cTn id="39" dur="500"/>
                                        <p:tgtEl>
                                          <p:spTgt spid="41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标题 41985"/>
          <p:cNvSpPr>
            <a:spLocks noGrp="1"/>
          </p:cNvSpPr>
          <p:nvPr>
            <p:ph type="title"/>
          </p:nvPr>
        </p:nvSpPr>
        <p:spPr/>
        <p:txBody>
          <a:bodyPr anchor="ctr"/>
          <a:p>
            <a:r>
              <a:rPr lang="en-US" altLang="zh-CN" sz="2000" dirty="0"/>
              <a:t>7.3  </a:t>
            </a:r>
            <a:r>
              <a:rPr lang="zh-CN" altLang="en-US" sz="2000" dirty="0"/>
              <a:t>销售额预测</a:t>
            </a:r>
            <a:endParaRPr lang="zh-CN" altLang="en-US" sz="2000" dirty="0"/>
          </a:p>
        </p:txBody>
      </p:sp>
      <p:sp>
        <p:nvSpPr>
          <p:cNvPr id="41987" name="文本占位符 41986"/>
          <p:cNvSpPr>
            <a:spLocks noGrp="1"/>
          </p:cNvSpPr>
          <p:nvPr>
            <p:ph type="body" idx="1"/>
          </p:nvPr>
        </p:nvSpPr>
        <p:spPr/>
        <p:txBody>
          <a:bodyPr/>
          <a:p>
            <a:pPr>
              <a:buNone/>
            </a:pPr>
            <a:r>
              <a:rPr lang="zh-CN" altLang="en-US" sz="2800" b="0" dirty="0">
                <a:latin typeface="黑体" panose="02010609060101010101" pitchFamily="2" charset="-122"/>
              </a:rPr>
              <a:t>（</a:t>
            </a:r>
            <a:r>
              <a:rPr lang="en-US" altLang="zh-CN" sz="2800" b="0" dirty="0">
                <a:latin typeface="黑体" panose="02010609060101010101" pitchFamily="2" charset="-122"/>
              </a:rPr>
              <a:t>2</a:t>
            </a:r>
            <a:r>
              <a:rPr lang="zh-CN" altLang="en-US" sz="2800" b="0" dirty="0">
                <a:latin typeface="黑体" panose="02010609060101010101" pitchFamily="2" charset="-122"/>
              </a:rPr>
              <a:t>）建立矩阵：</a:t>
            </a:r>
            <a:endParaRPr lang="zh-CN" altLang="en-US" sz="2800" b="0">
              <a:latin typeface="黑体" panose="02010609060101010101" pitchFamily="2" charset="-122"/>
            </a:endParaRPr>
          </a:p>
          <a:p>
            <a:pPr>
              <a:buNone/>
            </a:pPr>
            <a:endParaRPr lang="zh-CN" altLang="en-US" dirty="0"/>
          </a:p>
        </p:txBody>
      </p:sp>
      <p:sp>
        <p:nvSpPr>
          <p:cNvPr id="41989" name="矩形 41988"/>
          <p:cNvSpPr/>
          <p:nvPr/>
        </p:nvSpPr>
        <p:spPr>
          <a:xfrm>
            <a:off x="0" y="3328988"/>
            <a:ext cx="9144000" cy="0"/>
          </a:xfrm>
          <a:prstGeom prst="rect">
            <a:avLst/>
          </a:prstGeom>
          <a:noFill/>
          <a:ln w="9525">
            <a:noFill/>
          </a:ln>
        </p:spPr>
        <p:txBody>
          <a:bodyPr/>
          <a:p>
            <a:endParaRPr lang="zh-CN" altLang="en-US"/>
          </a:p>
        </p:txBody>
      </p:sp>
      <p:graphicFrame>
        <p:nvGraphicFramePr>
          <p:cNvPr id="41988" name="对象 41987"/>
          <p:cNvGraphicFramePr/>
          <p:nvPr/>
        </p:nvGraphicFramePr>
        <p:xfrm>
          <a:off x="3059113" y="1268413"/>
          <a:ext cx="649287" cy="439737"/>
        </p:xfrm>
        <a:graphic>
          <a:graphicData uri="http://schemas.openxmlformats.org/presentationml/2006/ole">
            <mc:AlternateContent xmlns:mc="http://schemas.openxmlformats.org/markup-compatibility/2006">
              <mc:Choice xmlns:v="urn:schemas-microsoft-com:vml" Requires="v">
                <p:oleObj spid="_x0000_s3130" name="" r:id="rId1" imgW="292100" imgH="203200" progId="Equation.3">
                  <p:embed/>
                </p:oleObj>
              </mc:Choice>
              <mc:Fallback>
                <p:oleObj name="" r:id="rId1" imgW="292100" imgH="203200" progId="Equation.3">
                  <p:embed/>
                  <p:pic>
                    <p:nvPicPr>
                      <p:cNvPr id="0" name="图片 3129"/>
                      <p:cNvPicPr/>
                      <p:nvPr/>
                    </p:nvPicPr>
                    <p:blipFill>
                      <a:blip r:embed="rId2"/>
                      <a:stretch>
                        <a:fillRect/>
                      </a:stretch>
                    </p:blipFill>
                    <p:spPr>
                      <a:xfrm>
                        <a:off x="3059113" y="1268413"/>
                        <a:ext cx="649287" cy="439737"/>
                      </a:xfrm>
                      <a:prstGeom prst="rect">
                        <a:avLst/>
                      </a:prstGeom>
                      <a:noFill/>
                      <a:ln w="38100">
                        <a:noFill/>
                        <a:miter/>
                      </a:ln>
                    </p:spPr>
                  </p:pic>
                </p:oleObj>
              </mc:Fallback>
            </mc:AlternateContent>
          </a:graphicData>
        </a:graphic>
      </p:graphicFrame>
      <p:sp>
        <p:nvSpPr>
          <p:cNvPr id="41991" name="矩形 41990"/>
          <p:cNvSpPr/>
          <p:nvPr/>
        </p:nvSpPr>
        <p:spPr>
          <a:xfrm>
            <a:off x="0" y="2957513"/>
            <a:ext cx="9144000" cy="0"/>
          </a:xfrm>
          <a:prstGeom prst="rect">
            <a:avLst/>
          </a:prstGeom>
          <a:noFill/>
          <a:ln w="9525">
            <a:noFill/>
          </a:ln>
        </p:spPr>
        <p:txBody>
          <a:bodyPr/>
          <a:p>
            <a:endParaRPr lang="zh-CN" altLang="en-US"/>
          </a:p>
        </p:txBody>
      </p:sp>
      <p:graphicFrame>
        <p:nvGraphicFramePr>
          <p:cNvPr id="41990" name="对象 41989"/>
          <p:cNvGraphicFramePr/>
          <p:nvPr/>
        </p:nvGraphicFramePr>
        <p:xfrm>
          <a:off x="827088" y="2060575"/>
          <a:ext cx="6985000" cy="2305050"/>
        </p:xfrm>
        <a:graphic>
          <a:graphicData uri="http://schemas.openxmlformats.org/presentationml/2006/ole">
            <mc:AlternateContent xmlns:mc="http://schemas.openxmlformats.org/markup-compatibility/2006">
              <mc:Choice xmlns:v="urn:schemas-microsoft-com:vml" Requires="v">
                <p:oleObj spid="_x0000_s3128" name="" r:id="rId3" imgW="2857500" imgH="939800" progId="Equation.3">
                  <p:embed/>
                </p:oleObj>
              </mc:Choice>
              <mc:Fallback>
                <p:oleObj name="" r:id="rId3" imgW="2857500" imgH="939800" progId="Equation.3">
                  <p:embed/>
                  <p:pic>
                    <p:nvPicPr>
                      <p:cNvPr id="0" name="图片 3127"/>
                      <p:cNvPicPr/>
                      <p:nvPr/>
                    </p:nvPicPr>
                    <p:blipFill>
                      <a:blip r:embed="rId4"/>
                      <a:stretch>
                        <a:fillRect/>
                      </a:stretch>
                    </p:blipFill>
                    <p:spPr>
                      <a:xfrm>
                        <a:off x="827088" y="2060575"/>
                        <a:ext cx="6985000" cy="2305050"/>
                      </a:xfrm>
                      <a:prstGeom prst="rect">
                        <a:avLst/>
                      </a:prstGeom>
                      <a:noFill/>
                      <a:ln w="38100">
                        <a:noFill/>
                        <a:miter/>
                      </a:ln>
                    </p:spPr>
                  </p:pic>
                </p:oleObj>
              </mc:Fallback>
            </mc:AlternateContent>
          </a:graphicData>
        </a:graphic>
      </p:graphicFrame>
      <p:sp>
        <p:nvSpPr>
          <p:cNvPr id="41993" name="矩形 41992"/>
          <p:cNvSpPr/>
          <p:nvPr/>
        </p:nvSpPr>
        <p:spPr>
          <a:xfrm>
            <a:off x="0" y="3290888"/>
            <a:ext cx="9144000" cy="0"/>
          </a:xfrm>
          <a:prstGeom prst="rect">
            <a:avLst/>
          </a:prstGeom>
          <a:noFill/>
          <a:ln w="9525">
            <a:noFill/>
          </a:ln>
        </p:spPr>
        <p:txBody>
          <a:bodyPr/>
          <a:p>
            <a:endParaRPr lang="zh-CN" altLang="en-US"/>
          </a:p>
        </p:txBody>
      </p:sp>
      <p:graphicFrame>
        <p:nvGraphicFramePr>
          <p:cNvPr id="41992" name="对象 41991"/>
          <p:cNvGraphicFramePr/>
          <p:nvPr/>
        </p:nvGraphicFramePr>
        <p:xfrm>
          <a:off x="827088" y="4508500"/>
          <a:ext cx="6049962" cy="1471613"/>
        </p:xfrm>
        <a:graphic>
          <a:graphicData uri="http://schemas.openxmlformats.org/presentationml/2006/ole">
            <mc:AlternateContent xmlns:mc="http://schemas.openxmlformats.org/markup-compatibility/2006">
              <mc:Choice xmlns:v="urn:schemas-microsoft-com:vml" Requires="v">
                <p:oleObj spid="_x0000_s3127" name="" r:id="rId5" imgW="2273300" imgH="558800" progId="Equation.DSMT4">
                  <p:embed/>
                </p:oleObj>
              </mc:Choice>
              <mc:Fallback>
                <p:oleObj name="" r:id="rId5" imgW="2273300" imgH="558800" progId="Equation.DSMT4">
                  <p:embed/>
                  <p:pic>
                    <p:nvPicPr>
                      <p:cNvPr id="0" name="图片 3126"/>
                      <p:cNvPicPr/>
                      <p:nvPr/>
                    </p:nvPicPr>
                    <p:blipFill>
                      <a:blip r:embed="rId6"/>
                      <a:stretch>
                        <a:fillRect/>
                      </a:stretch>
                    </p:blipFill>
                    <p:spPr>
                      <a:xfrm>
                        <a:off x="827088" y="4508500"/>
                        <a:ext cx="6049962" cy="1471613"/>
                      </a:xfrm>
                      <a:prstGeom prst="rect">
                        <a:avLst/>
                      </a:prstGeom>
                      <a:noFill/>
                      <a:ln w="38100">
                        <a:noFill/>
                        <a:miter/>
                      </a:ln>
                    </p:spPr>
                  </p:pic>
                </p:oleObj>
              </mc:Fallback>
            </mc:AlternateContent>
          </a:graphicData>
        </a:graphic>
      </p:graphicFrame>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1987">
                                            <p:txEl>
                                              <p:charRg st="0" end="9"/>
                                            </p:txEl>
                                          </p:spTgt>
                                        </p:tgtEl>
                                        <p:attrNameLst>
                                          <p:attrName>style.visibility</p:attrName>
                                        </p:attrNameLst>
                                      </p:cBhvr>
                                      <p:to>
                                        <p:strVal val="visible"/>
                                      </p:to>
                                    </p:set>
                                    <p:animEffect transition="in" filter="wipe(up)">
                                      <p:cBhvr>
                                        <p:cTn id="7" dur="500"/>
                                        <p:tgtEl>
                                          <p:spTgt spid="41987">
                                            <p:txEl>
                                              <p:charRg st="0" end="9"/>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41988"/>
                                        </p:tgtEl>
                                        <p:attrNameLst>
                                          <p:attrName>style.visibility</p:attrName>
                                        </p:attrNameLst>
                                      </p:cBhvr>
                                      <p:to>
                                        <p:strVal val="visible"/>
                                      </p:to>
                                    </p:set>
                                    <p:animEffect transition="in" filter="wipe(up)">
                                      <p:cBhvr>
                                        <p:cTn id="10" dur="500"/>
                                        <p:tgtEl>
                                          <p:spTgt spid="4198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41990"/>
                                        </p:tgtEl>
                                        <p:attrNameLst>
                                          <p:attrName>style.visibility</p:attrName>
                                        </p:attrNameLst>
                                      </p:cBhvr>
                                      <p:to>
                                        <p:strVal val="visible"/>
                                      </p:to>
                                    </p:set>
                                    <p:animEffect transition="in" filter="wipe(up)">
                                      <p:cBhvr>
                                        <p:cTn id="15" dur="500"/>
                                        <p:tgtEl>
                                          <p:spTgt spid="41990"/>
                                        </p:tgtEl>
                                      </p:cBhvr>
                                    </p:animEffect>
                                  </p:childTnLst>
                                </p:cTn>
                              </p:par>
                              <p:par>
                                <p:cTn id="16" presetID="22" presetClass="entr" presetSubtype="1" fill="hold" nodeType="withEffect">
                                  <p:stCondLst>
                                    <p:cond delay="0"/>
                                  </p:stCondLst>
                                  <p:childTnLst>
                                    <p:set>
                                      <p:cBhvr>
                                        <p:cTn id="17" dur="1" fill="hold">
                                          <p:stCondLst>
                                            <p:cond delay="0"/>
                                          </p:stCondLst>
                                        </p:cTn>
                                        <p:tgtEl>
                                          <p:spTgt spid="41993"/>
                                        </p:tgtEl>
                                        <p:attrNameLst>
                                          <p:attrName>style.visibility</p:attrName>
                                        </p:attrNameLst>
                                      </p:cBhvr>
                                      <p:to>
                                        <p:strVal val="visible"/>
                                      </p:to>
                                    </p:set>
                                    <p:animEffect transition="in" filter="wipe(up)">
                                      <p:cBhvr>
                                        <p:cTn id="18" dur="500"/>
                                        <p:tgtEl>
                                          <p:spTgt spid="4199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41992"/>
                                        </p:tgtEl>
                                        <p:attrNameLst>
                                          <p:attrName>style.visibility</p:attrName>
                                        </p:attrNameLst>
                                      </p:cBhvr>
                                      <p:to>
                                        <p:strVal val="visible"/>
                                      </p:to>
                                    </p:set>
                                    <p:animEffect transition="in" filter="wipe(left)">
                                      <p:cBhvr>
                                        <p:cTn id="23" dur="500"/>
                                        <p:tgtEl>
                                          <p:spTgt spid="419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标题 43009"/>
          <p:cNvSpPr>
            <a:spLocks noGrp="1"/>
          </p:cNvSpPr>
          <p:nvPr>
            <p:ph type="title"/>
          </p:nvPr>
        </p:nvSpPr>
        <p:spPr/>
        <p:txBody>
          <a:bodyPr anchor="ctr"/>
          <a:p>
            <a:r>
              <a:rPr lang="en-US" altLang="zh-CN" sz="2000" dirty="0"/>
              <a:t>7.3  </a:t>
            </a:r>
            <a:r>
              <a:rPr lang="zh-CN" altLang="en-US" sz="2000" dirty="0"/>
              <a:t>销售额预测</a:t>
            </a:r>
            <a:endParaRPr lang="zh-CN" altLang="en-US" sz="2000" dirty="0"/>
          </a:p>
        </p:txBody>
      </p:sp>
      <p:pic>
        <p:nvPicPr>
          <p:cNvPr id="43013" name="图片 43012"/>
          <p:cNvPicPr>
            <a:picLocks noChangeAspect="1"/>
          </p:cNvPicPr>
          <p:nvPr/>
        </p:nvPicPr>
        <p:blipFill>
          <a:blip r:embed="rId1"/>
          <a:stretch>
            <a:fillRect/>
          </a:stretch>
        </p:blipFill>
        <p:spPr>
          <a:xfrm>
            <a:off x="539750" y="1196975"/>
            <a:ext cx="7921625" cy="4833938"/>
          </a:xfrm>
          <a:prstGeom prst="rect">
            <a:avLst/>
          </a:prstGeom>
          <a:noFill/>
          <a:ln w="9525">
            <a:noFill/>
          </a:ln>
        </p:spPr>
      </p:pic>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标题 97281"/>
          <p:cNvSpPr>
            <a:spLocks noGrp="1"/>
          </p:cNvSpPr>
          <p:nvPr>
            <p:ph type="title"/>
          </p:nvPr>
        </p:nvSpPr>
        <p:spPr/>
        <p:txBody>
          <a:bodyPr anchor="ctr"/>
          <a:p>
            <a:r>
              <a:rPr lang="en-US" altLang="zh-CN" sz="2000" dirty="0"/>
              <a:t>7.3  </a:t>
            </a:r>
            <a:r>
              <a:rPr lang="zh-CN" altLang="en-US" sz="2000" dirty="0"/>
              <a:t>销售额预测</a:t>
            </a:r>
            <a:endParaRPr lang="zh-CN" altLang="en-US" sz="2000" dirty="0"/>
          </a:p>
        </p:txBody>
      </p:sp>
      <p:pic>
        <p:nvPicPr>
          <p:cNvPr id="97284" name="图片 97283"/>
          <p:cNvPicPr>
            <a:picLocks noChangeAspect="1"/>
          </p:cNvPicPr>
          <p:nvPr/>
        </p:nvPicPr>
        <p:blipFill>
          <a:blip r:embed="rId1"/>
          <a:stretch>
            <a:fillRect/>
          </a:stretch>
        </p:blipFill>
        <p:spPr>
          <a:xfrm>
            <a:off x="395288" y="1196975"/>
            <a:ext cx="8497887" cy="4297363"/>
          </a:xfrm>
          <a:prstGeom prst="rect">
            <a:avLst/>
          </a:prstGeom>
          <a:noFill/>
          <a:ln w="9525">
            <a:noFill/>
          </a:ln>
        </p:spPr>
      </p:pic>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标题 98305"/>
          <p:cNvSpPr>
            <a:spLocks noGrp="1"/>
          </p:cNvSpPr>
          <p:nvPr>
            <p:ph type="title"/>
          </p:nvPr>
        </p:nvSpPr>
        <p:spPr/>
        <p:txBody>
          <a:bodyPr anchor="ctr"/>
          <a:p>
            <a:r>
              <a:rPr lang="en-US" altLang="zh-CN" sz="2000" dirty="0"/>
              <a:t>7.3  </a:t>
            </a:r>
            <a:r>
              <a:rPr lang="zh-CN" altLang="en-US" sz="2000" dirty="0"/>
              <a:t>销售额预测</a:t>
            </a:r>
            <a:endParaRPr lang="zh-CN" altLang="en-US" sz="2000" dirty="0"/>
          </a:p>
        </p:txBody>
      </p:sp>
      <p:pic>
        <p:nvPicPr>
          <p:cNvPr id="98308" name="图片 98307"/>
          <p:cNvPicPr>
            <a:picLocks noChangeAspect="1"/>
          </p:cNvPicPr>
          <p:nvPr/>
        </p:nvPicPr>
        <p:blipFill>
          <a:blip r:embed="rId1"/>
          <a:stretch>
            <a:fillRect/>
          </a:stretch>
        </p:blipFill>
        <p:spPr>
          <a:xfrm>
            <a:off x="684213" y="765175"/>
            <a:ext cx="7775575" cy="5457825"/>
          </a:xfrm>
          <a:prstGeom prst="rect">
            <a:avLst/>
          </a:prstGeom>
          <a:noFill/>
          <a:ln w="9525">
            <a:noFill/>
          </a:ln>
        </p:spPr>
      </p:pic>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标题 44033"/>
          <p:cNvSpPr>
            <a:spLocks noGrp="1"/>
          </p:cNvSpPr>
          <p:nvPr>
            <p:ph type="title"/>
          </p:nvPr>
        </p:nvSpPr>
        <p:spPr/>
        <p:txBody>
          <a:bodyPr anchor="ctr"/>
          <a:p>
            <a:r>
              <a:rPr lang="en-US" altLang="zh-CN" sz="2000" dirty="0"/>
              <a:t>7.3  </a:t>
            </a:r>
            <a:r>
              <a:rPr lang="zh-CN" altLang="en-US" sz="2000" dirty="0"/>
              <a:t>销售额预测</a:t>
            </a:r>
            <a:endParaRPr lang="zh-CN" altLang="en-US" sz="2000" dirty="0"/>
          </a:p>
        </p:txBody>
      </p:sp>
      <p:sp>
        <p:nvSpPr>
          <p:cNvPr id="44037" name="矩形 44036"/>
          <p:cNvSpPr/>
          <p:nvPr/>
        </p:nvSpPr>
        <p:spPr>
          <a:xfrm>
            <a:off x="0" y="3338513"/>
            <a:ext cx="9144000" cy="0"/>
          </a:xfrm>
          <a:prstGeom prst="rect">
            <a:avLst/>
          </a:prstGeom>
          <a:noFill/>
          <a:ln w="9525">
            <a:noFill/>
          </a:ln>
        </p:spPr>
        <p:txBody>
          <a:bodyPr/>
          <a:p>
            <a:endParaRPr lang="zh-CN" altLang="en-US"/>
          </a:p>
        </p:txBody>
      </p:sp>
      <p:sp>
        <p:nvSpPr>
          <p:cNvPr id="44039" name="矩形 44038"/>
          <p:cNvSpPr/>
          <p:nvPr/>
        </p:nvSpPr>
        <p:spPr>
          <a:xfrm>
            <a:off x="0" y="3338513"/>
            <a:ext cx="9144000" cy="0"/>
          </a:xfrm>
          <a:prstGeom prst="rect">
            <a:avLst/>
          </a:prstGeom>
          <a:noFill/>
          <a:ln w="9525">
            <a:noFill/>
          </a:ln>
        </p:spPr>
        <p:txBody>
          <a:bodyPr/>
          <a:p>
            <a:endParaRPr lang="zh-CN" altLang="en-US"/>
          </a:p>
        </p:txBody>
      </p:sp>
      <p:sp>
        <p:nvSpPr>
          <p:cNvPr id="44041" name="矩形 44040"/>
          <p:cNvSpPr/>
          <p:nvPr/>
        </p:nvSpPr>
        <p:spPr>
          <a:xfrm>
            <a:off x="0" y="3314700"/>
            <a:ext cx="9144000" cy="0"/>
          </a:xfrm>
          <a:prstGeom prst="rect">
            <a:avLst/>
          </a:prstGeom>
          <a:noFill/>
          <a:ln w="9525">
            <a:noFill/>
          </a:ln>
        </p:spPr>
        <p:txBody>
          <a:bodyPr/>
          <a:p>
            <a:endParaRPr lang="zh-CN" altLang="en-US"/>
          </a:p>
        </p:txBody>
      </p:sp>
      <p:sp>
        <p:nvSpPr>
          <p:cNvPr id="44043" name="矩形 44042"/>
          <p:cNvSpPr/>
          <p:nvPr/>
        </p:nvSpPr>
        <p:spPr>
          <a:xfrm>
            <a:off x="0" y="3233738"/>
            <a:ext cx="9144000" cy="0"/>
          </a:xfrm>
          <a:prstGeom prst="rect">
            <a:avLst/>
          </a:prstGeom>
          <a:noFill/>
          <a:ln w="9525">
            <a:noFill/>
          </a:ln>
        </p:spPr>
        <p:txBody>
          <a:bodyPr/>
          <a:p>
            <a:endParaRPr lang="zh-CN" altLang="en-US"/>
          </a:p>
        </p:txBody>
      </p:sp>
      <p:sp>
        <p:nvSpPr>
          <p:cNvPr id="44045" name="矩形 44044"/>
          <p:cNvSpPr/>
          <p:nvPr/>
        </p:nvSpPr>
        <p:spPr>
          <a:xfrm>
            <a:off x="0" y="3314700"/>
            <a:ext cx="9144000" cy="0"/>
          </a:xfrm>
          <a:prstGeom prst="rect">
            <a:avLst/>
          </a:prstGeom>
          <a:noFill/>
          <a:ln w="9525">
            <a:noFill/>
          </a:ln>
        </p:spPr>
        <p:txBody>
          <a:bodyPr/>
          <a:p>
            <a:endParaRPr lang="zh-CN" altLang="en-US"/>
          </a:p>
        </p:txBody>
      </p:sp>
      <p:pic>
        <p:nvPicPr>
          <p:cNvPr id="44050" name="图片 44049"/>
          <p:cNvPicPr>
            <a:picLocks noChangeAspect="1"/>
          </p:cNvPicPr>
          <p:nvPr/>
        </p:nvPicPr>
        <p:blipFill>
          <a:blip r:embed="rId1"/>
          <a:stretch>
            <a:fillRect/>
          </a:stretch>
        </p:blipFill>
        <p:spPr>
          <a:xfrm>
            <a:off x="501650" y="1090613"/>
            <a:ext cx="8391525" cy="4819650"/>
          </a:xfrm>
          <a:prstGeom prst="rect">
            <a:avLst/>
          </a:prstGeom>
          <a:noFill/>
          <a:ln w="9525">
            <a:noFill/>
          </a:ln>
        </p:spPr>
      </p:pic>
      <p:sp>
        <p:nvSpPr>
          <p:cNvPr id="2" name="圆角矩形 1"/>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4037"/>
                                        </p:tgtEl>
                                        <p:attrNameLst>
                                          <p:attrName>style.visibility</p:attrName>
                                        </p:attrNameLst>
                                      </p:cBhvr>
                                      <p:to>
                                        <p:strVal val="visible"/>
                                      </p:to>
                                    </p:set>
                                    <p:animEffect transition="in" filter="fade">
                                      <p:cBhvr>
                                        <p:cTn id="7" dur="1000"/>
                                        <p:tgtEl>
                                          <p:spTgt spid="44037"/>
                                        </p:tgtEl>
                                      </p:cBhvr>
                                    </p:animEffect>
                                  </p:childTnLst>
                                </p:cTn>
                              </p:par>
                              <p:par>
                                <p:cTn id="8" presetID="10" presetClass="entr" presetSubtype="0" fill="hold" nodeType="withEffect">
                                  <p:stCondLst>
                                    <p:cond delay="0"/>
                                  </p:stCondLst>
                                  <p:childTnLst>
                                    <p:set>
                                      <p:cBhvr>
                                        <p:cTn id="9" dur="1" fill="hold">
                                          <p:stCondLst>
                                            <p:cond delay="0"/>
                                          </p:stCondLst>
                                        </p:cTn>
                                        <p:tgtEl>
                                          <p:spTgt spid="44039"/>
                                        </p:tgtEl>
                                        <p:attrNameLst>
                                          <p:attrName>style.visibility</p:attrName>
                                        </p:attrNameLst>
                                      </p:cBhvr>
                                      <p:to>
                                        <p:strVal val="visible"/>
                                      </p:to>
                                    </p:set>
                                    <p:animEffect transition="in" filter="fade">
                                      <p:cBhvr>
                                        <p:cTn id="10" dur="1000"/>
                                        <p:tgtEl>
                                          <p:spTgt spid="44039"/>
                                        </p:tgtEl>
                                      </p:cBhvr>
                                    </p:animEffect>
                                  </p:childTnLst>
                                </p:cTn>
                              </p:par>
                              <p:par>
                                <p:cTn id="11" presetID="10" presetClass="entr" presetSubtype="0" fill="hold" nodeType="withEffect">
                                  <p:stCondLst>
                                    <p:cond delay="0"/>
                                  </p:stCondLst>
                                  <p:childTnLst>
                                    <p:set>
                                      <p:cBhvr>
                                        <p:cTn id="12" dur="1" fill="hold">
                                          <p:stCondLst>
                                            <p:cond delay="0"/>
                                          </p:stCondLst>
                                        </p:cTn>
                                        <p:tgtEl>
                                          <p:spTgt spid="44041"/>
                                        </p:tgtEl>
                                        <p:attrNameLst>
                                          <p:attrName>style.visibility</p:attrName>
                                        </p:attrNameLst>
                                      </p:cBhvr>
                                      <p:to>
                                        <p:strVal val="visible"/>
                                      </p:to>
                                    </p:set>
                                    <p:animEffect transition="in" filter="fade">
                                      <p:cBhvr>
                                        <p:cTn id="13" dur="1000"/>
                                        <p:tgtEl>
                                          <p:spTgt spid="44041"/>
                                        </p:tgtEl>
                                      </p:cBhvr>
                                    </p:animEffect>
                                  </p:childTnLst>
                                </p:cTn>
                              </p:par>
                              <p:par>
                                <p:cTn id="14" presetID="10" presetClass="entr" presetSubtype="0" fill="hold" nodeType="withEffect">
                                  <p:stCondLst>
                                    <p:cond delay="0"/>
                                  </p:stCondLst>
                                  <p:childTnLst>
                                    <p:set>
                                      <p:cBhvr>
                                        <p:cTn id="15" dur="1" fill="hold">
                                          <p:stCondLst>
                                            <p:cond delay="0"/>
                                          </p:stCondLst>
                                        </p:cTn>
                                        <p:tgtEl>
                                          <p:spTgt spid="44043"/>
                                        </p:tgtEl>
                                        <p:attrNameLst>
                                          <p:attrName>style.visibility</p:attrName>
                                        </p:attrNameLst>
                                      </p:cBhvr>
                                      <p:to>
                                        <p:strVal val="visible"/>
                                      </p:to>
                                    </p:set>
                                    <p:animEffect transition="in" filter="fade">
                                      <p:cBhvr>
                                        <p:cTn id="16" dur="1000"/>
                                        <p:tgtEl>
                                          <p:spTgt spid="44043"/>
                                        </p:tgtEl>
                                      </p:cBhvr>
                                    </p:animEffect>
                                  </p:childTnLst>
                                </p:cTn>
                              </p:par>
                              <p:par>
                                <p:cTn id="17" presetID="10" presetClass="entr" presetSubtype="0" fill="hold" nodeType="withEffect">
                                  <p:stCondLst>
                                    <p:cond delay="0"/>
                                  </p:stCondLst>
                                  <p:childTnLst>
                                    <p:set>
                                      <p:cBhvr>
                                        <p:cTn id="18" dur="1" fill="hold">
                                          <p:stCondLst>
                                            <p:cond delay="0"/>
                                          </p:stCondLst>
                                        </p:cTn>
                                        <p:tgtEl>
                                          <p:spTgt spid="44045"/>
                                        </p:tgtEl>
                                        <p:attrNameLst>
                                          <p:attrName>style.visibility</p:attrName>
                                        </p:attrNameLst>
                                      </p:cBhvr>
                                      <p:to>
                                        <p:strVal val="visible"/>
                                      </p:to>
                                    </p:set>
                                    <p:animEffect transition="in" filter="fade">
                                      <p:cBhvr>
                                        <p:cTn id="19" dur="1000"/>
                                        <p:tgtEl>
                                          <p:spTgt spid="440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
        <p:nvSpPr>
          <p:cNvPr id="4" name="文本框 3"/>
          <p:cNvSpPr txBox="1"/>
          <p:nvPr/>
        </p:nvSpPr>
        <p:spPr>
          <a:xfrm>
            <a:off x="1183640" y="2728595"/>
            <a:ext cx="6776720" cy="922020"/>
          </a:xfrm>
          <a:prstGeom prst="rect">
            <a:avLst/>
          </a:prstGeom>
          <a:noFill/>
        </p:spPr>
        <p:txBody>
          <a:bodyPr wrap="square" rtlCol="0">
            <a:spAutoFit/>
          </a:bodyPr>
          <a:p>
            <a:pPr algn="ctr"/>
            <a:r>
              <a:rPr lang="zh-CN" altLang="en-US" sz="5400" i="1">
                <a:solidFill>
                  <a:srgbClr val="FF0000"/>
                </a:solidFill>
              </a:rPr>
              <a:t>谢谢观看！</a:t>
            </a:r>
            <a:endParaRPr lang="zh-CN" altLang="en-US" sz="5400" i="1">
              <a:solidFill>
                <a:srgbClr val="FF0000"/>
              </a:solidFill>
            </a:endParaRPr>
          </a:p>
        </p:txBody>
      </p:sp>
      <p:sp>
        <p:nvSpPr>
          <p:cNvPr id="5" name="圆角矩形 4"/>
          <p:cNvSpPr/>
          <p:nvPr/>
        </p:nvSpPr>
        <p:spPr>
          <a:xfrm>
            <a:off x="26670" y="6549390"/>
            <a:ext cx="2961005" cy="305435"/>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微信公众号：科研交流</a:t>
            </a:r>
            <a:endParaRPr lang="zh-CN" altLang="en-US"/>
          </a:p>
        </p:txBody>
      </p:sp>
    </p:spTree>
  </p:cSld>
  <p:clrMapOvr>
    <a:masterClrMapping/>
  </p:clrMapOvr>
</p:sld>
</file>

<file path=ppt/theme/theme1.xml><?xml version="1.0" encoding="utf-8"?>
<a:theme xmlns:a="http://schemas.openxmlformats.org/drawingml/2006/main" name="运筹学">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Black"/>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运筹学</Template>
  <TotalTime>0</TotalTime>
  <Words>3373</Words>
  <Application>WPS 演示</Application>
  <PresentationFormat>在屏幕上显示</PresentationFormat>
  <Paragraphs>414</Paragraphs>
  <Slides>36</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56</vt:i4>
      </vt:variant>
      <vt:variant>
        <vt:lpstr>幻灯片标题</vt:lpstr>
      </vt:variant>
      <vt:variant>
        <vt:i4>36</vt:i4>
      </vt:variant>
    </vt:vector>
  </HeadingPairs>
  <TitlesOfParts>
    <vt:vector size="102" baseType="lpstr">
      <vt:lpstr>Arial</vt:lpstr>
      <vt:lpstr>宋体</vt:lpstr>
      <vt:lpstr>Wingdings</vt:lpstr>
      <vt:lpstr>Arial Black</vt:lpstr>
      <vt:lpstr>黑体</vt:lpstr>
      <vt:lpstr>Times New Roman</vt:lpstr>
      <vt:lpstr>微软雅黑</vt:lpstr>
      <vt:lpstr>Arial Unicode MS</vt:lpstr>
      <vt:lpstr>Calibri</vt:lpstr>
      <vt:lpstr>运筹学</vt:lpstr>
      <vt:lpstr>Equation.3</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Equation.3</vt:lpstr>
      <vt:lpstr>Equation.DSMT4</vt:lpstr>
      <vt:lpstr>Equation.DSMT4</vt:lpstr>
      <vt:lpstr>Equation.DSMT4</vt:lpstr>
      <vt:lpstr>Equation.3</vt:lpstr>
      <vt:lpstr>Equation.DSMT4</vt:lpstr>
      <vt:lpstr>PowerPoint 演示文稿</vt:lpstr>
      <vt:lpstr>PowerPoint 演示文稿</vt:lpstr>
      <vt:lpstr>PowerPoint 演示文稿</vt:lpstr>
      <vt:lpstr>PowerPoint 演示文稿</vt:lpstr>
      <vt:lpstr>PowerPoint 演示文稿</vt:lpstr>
      <vt:lpstr>1灰色系统的定义和特点</vt:lpstr>
      <vt:lpstr>1灰色系统的定义和特点</vt:lpstr>
      <vt:lpstr>1灰色系统的定义和特点</vt:lpstr>
      <vt:lpstr>1灰色系统的定义和特点</vt:lpstr>
      <vt:lpstr>PowerPoint 演示文稿</vt:lpstr>
      <vt:lpstr>2 灰色系统的模型</vt:lpstr>
      <vt:lpstr>7.2 灰色系统的模型</vt:lpstr>
      <vt:lpstr>7.2 灰色系统的模型</vt:lpstr>
      <vt:lpstr>7.2 灰色系统的模型</vt:lpstr>
      <vt:lpstr>7.2 灰色系统的模型</vt:lpstr>
      <vt:lpstr>7.2 灰色系统的模型</vt:lpstr>
      <vt:lpstr>7.2 灰色系统的模型</vt:lpstr>
      <vt:lpstr>7.2 灰色系统的模型</vt:lpstr>
      <vt:lpstr>7.2 灰色系统的模型</vt:lpstr>
      <vt:lpstr>7.2 灰色系统的模型</vt:lpstr>
      <vt:lpstr>7.2 灰色系统的模型</vt:lpstr>
      <vt:lpstr>7.2 灰色系统的模型</vt:lpstr>
      <vt:lpstr>7.2 灰色系统的模型</vt:lpstr>
      <vt:lpstr>7.2 灰色系统的模型</vt:lpstr>
      <vt:lpstr>7.2 灰色系统的模型</vt:lpstr>
      <vt:lpstr>7.2 灰色系统的模型</vt:lpstr>
      <vt:lpstr>PowerPoint 演示文稿</vt:lpstr>
      <vt:lpstr>7.3  销售额预测</vt:lpstr>
      <vt:lpstr>7.3  销售额预测</vt:lpstr>
      <vt:lpstr>7.3  销售额预测</vt:lpstr>
      <vt:lpstr>7.3  销售额预测</vt:lpstr>
      <vt:lpstr>7.3  销售额预测</vt:lpstr>
      <vt:lpstr>7.3  销售额预测</vt:lpstr>
      <vt:lpstr>7.3  销售额预测</vt:lpstr>
      <vt:lpstr>7.3  销售额预测</vt:lpstr>
      <vt:lpstr>PowerPoint 演示文稿</vt:lpstr>
    </vt:vector>
  </TitlesOfParts>
  <Company>MC SYSTEM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运筹学</dc:title>
  <dc:creator>MC SYSTEM</dc:creator>
  <cp:lastModifiedBy>gongzuo123456789</cp:lastModifiedBy>
  <cp:revision>89</cp:revision>
  <dcterms:created xsi:type="dcterms:W3CDTF">2018-11-07T13:46:00Z</dcterms:created>
  <dcterms:modified xsi:type="dcterms:W3CDTF">2019-11-24T15:48:40Z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2052-11.1.0.9175</vt:lpwstr>
  </property>
</Properties>
</file>