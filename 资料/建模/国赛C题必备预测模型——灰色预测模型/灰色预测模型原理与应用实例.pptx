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341" r:id="rId3"/>
    <p:sldId id="257" r:id="rId4"/>
    <p:sldId id="311" r:id="rId5"/>
    <p:sldId id="258" r:id="rId6"/>
    <p:sldId id="312" r:id="rId7"/>
    <p:sldId id="262" r:id="rId8"/>
    <p:sldId id="263" r:id="rId9"/>
    <p:sldId id="264" r:id="rId10"/>
    <p:sldId id="318" r:id="rId11"/>
    <p:sldId id="266" r:id="rId12"/>
    <p:sldId id="268" r:id="rId13"/>
    <p:sldId id="270" r:id="rId14"/>
    <p:sldId id="271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13" r:id="rId24"/>
    <p:sldId id="284" r:id="rId25"/>
    <p:sldId id="285" r:id="rId26"/>
    <p:sldId id="286" r:id="rId27"/>
    <p:sldId id="287" r:id="rId28"/>
    <p:sldId id="327" r:id="rId29"/>
    <p:sldId id="288" r:id="rId30"/>
    <p:sldId id="314" r:id="rId31"/>
    <p:sldId id="298" r:id="rId32"/>
    <p:sldId id="334" r:id="rId33"/>
    <p:sldId id="335" r:id="rId34"/>
    <p:sldId id="315" r:id="rId35"/>
    <p:sldId id="300" r:id="rId36"/>
    <p:sldId id="301" r:id="rId37"/>
    <p:sldId id="336" r:id="rId38"/>
    <p:sldId id="316" r:id="rId39"/>
    <p:sldId id="303" r:id="rId40"/>
    <p:sldId id="305" r:id="rId41"/>
    <p:sldId id="306" r:id="rId42"/>
    <p:sldId id="338" r:id="rId43"/>
    <p:sldId id="307" r:id="rId44"/>
    <p:sldId id="308" r:id="rId45"/>
    <p:sldId id="309" r:id="rId4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4.wmf"/><Relationship Id="rId7" Type="http://schemas.openxmlformats.org/officeDocument/2006/relationships/image" Target="../media/image47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33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Relationship Id="rId9" Type="http://schemas.openxmlformats.org/officeDocument/2006/relationships/image" Target="../media/image4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3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547813" y="6524625"/>
            <a:ext cx="2133600" cy="1968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7FF5E3A-3248-49E8-A3E2-E2706ED08C5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82745-57E9-4911-98A2-A2874381924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319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8B5F0B-E092-4D81-B183-CB4FD4558F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4233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96975"/>
            <a:ext cx="4038600" cy="5184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5184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57520E-DB79-416B-8000-9FE11B9C63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841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9268A4-5C1E-40EA-920F-DFC7094CBC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245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9EB10E-FE1E-4895-8D13-C17A6C4F7AC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2121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3AE09-62B9-42EB-90E2-12B7FCE42E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034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C73E31-53D5-4A6C-BDF2-599AF4A935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6116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6AE4C0-BFD0-4925-A6B2-1006DAB63D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8954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8C5ED6-D1C5-4818-BEAB-B2056FF1A63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4638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38950" y="0"/>
            <a:ext cx="2125663" cy="6381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229350" cy="6381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49A26F-D61F-4697-8ED5-F7E54B61F5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1715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075" y="0"/>
            <a:ext cx="6840538" cy="9413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96975"/>
            <a:ext cx="4038600" cy="5184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5184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646238" y="6524625"/>
            <a:ext cx="2133600" cy="1968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524625"/>
            <a:ext cx="2895600" cy="1968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524625"/>
            <a:ext cx="2133600" cy="196850"/>
          </a:xfrm>
        </p:spPr>
        <p:txBody>
          <a:bodyPr/>
          <a:lstStyle>
            <a:lvl1pPr>
              <a:defRPr/>
            </a:lvl1pPr>
          </a:lstStyle>
          <a:p>
            <a:fld id="{E4FE59B9-4AE8-4996-9F61-14BDC84BB8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9820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075" y="0"/>
            <a:ext cx="6840538" cy="9413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96975"/>
            <a:ext cx="4038600" cy="51847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196975"/>
            <a:ext cx="4038600" cy="25161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865563"/>
            <a:ext cx="4038600" cy="2516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646238" y="6524625"/>
            <a:ext cx="2133600" cy="1968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524625"/>
            <a:ext cx="2895600" cy="1968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524625"/>
            <a:ext cx="2133600" cy="196850"/>
          </a:xfrm>
        </p:spPr>
        <p:txBody>
          <a:bodyPr/>
          <a:lstStyle>
            <a:lvl1pPr>
              <a:defRPr/>
            </a:lvl1pPr>
          </a:lstStyle>
          <a:p>
            <a:fld id="{DB52C4B7-8B63-4A31-B44B-BFA42730C0D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943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24075" y="0"/>
            <a:ext cx="6840538" cy="94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975"/>
            <a:ext cx="8229600" cy="51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6238" y="6524625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24625"/>
            <a:ext cx="2895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24625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2993CBC-8D70-4AAC-A728-85BB0DCA92D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Blip>
          <a:blip r:embed="rId16"/>
        </a:buBlip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0099FF"/>
        </a:buClr>
        <a:buFont typeface="Wingdings" panose="05000000000000000000" pitchFamily="2" charset="2"/>
        <a:buBlip>
          <a:blip r:embed="rId17"/>
        </a:buBlip>
        <a:defRPr sz="2800" kern="1200">
          <a:solidFill>
            <a:schemeClr val="tx1"/>
          </a:solidFill>
          <a:latin typeface="+mj-lt"/>
          <a:ea typeface="宋体" panose="02010600030101010101" pitchFamily="2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Blip>
          <a:blip r:embed="rId18"/>
        </a:buBlip>
        <a:defRPr sz="2400" kern="1200">
          <a:solidFill>
            <a:schemeClr val="tx1"/>
          </a:solidFill>
          <a:latin typeface="+mj-lt"/>
          <a:ea typeface="宋体" panose="02010600030101010101" pitchFamily="2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j-lt"/>
          <a:ea typeface="宋体" panose="02010600030101010101" pitchFamily="2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j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47.w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4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4.bin"/><Relationship Id="rId20" Type="http://schemas.openxmlformats.org/officeDocument/2006/relationships/image" Target="../media/image48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image" Target="../media/image33.wmf"/><Relationship Id="rId23" Type="http://schemas.openxmlformats.org/officeDocument/2006/relationships/oleObject" Target="../embeddings/oleObject48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46.bin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0.bin"/><Relationship Id="rId14" Type="http://schemas.openxmlformats.org/officeDocument/2006/relationships/oleObject" Target="../embeddings/oleObject43.bin"/><Relationship Id="rId22" Type="http://schemas.openxmlformats.org/officeDocument/2006/relationships/image" Target="../media/image49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3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5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71600" y="2348880"/>
            <a:ext cx="7161212" cy="79216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4000" dirty="0">
                <a:solidFill>
                  <a:srgbClr val="FF3300"/>
                </a:solidFill>
              </a:rPr>
              <a:t>第</a:t>
            </a:r>
            <a:r>
              <a:rPr lang="en-US" altLang="zh-CN" sz="4000" dirty="0">
                <a:solidFill>
                  <a:srgbClr val="FF3300"/>
                </a:solidFill>
              </a:rPr>
              <a:t>11</a:t>
            </a:r>
            <a:r>
              <a:rPr lang="zh-CN" altLang="en-US" sz="4000" dirty="0">
                <a:solidFill>
                  <a:srgbClr val="FF3300"/>
                </a:solidFill>
              </a:rPr>
              <a:t>讲 </a:t>
            </a:r>
            <a:endParaRPr lang="en-US" altLang="zh-CN" sz="4000" dirty="0">
              <a:solidFill>
                <a:srgbClr val="FF3300"/>
              </a:solidFill>
            </a:endParaRPr>
          </a:p>
          <a:p>
            <a:r>
              <a:rPr lang="zh-CN" altLang="en-US" sz="4000" dirty="0">
                <a:solidFill>
                  <a:srgbClr val="FF3300"/>
                </a:solidFill>
              </a:rPr>
              <a:t>灰色预测模型及其应用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如何预测？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2673" y="1700808"/>
            <a:ext cx="8229600" cy="4248249"/>
          </a:xfrm>
        </p:spPr>
        <p:txBody>
          <a:bodyPr/>
          <a:lstStyle/>
          <a:p>
            <a:r>
              <a:rPr lang="zh-CN" altLang="en-US" dirty="0"/>
              <a:t>数据插值与拟合</a:t>
            </a:r>
            <a:endParaRPr lang="en-US" altLang="zh-CN" dirty="0"/>
          </a:p>
          <a:p>
            <a:r>
              <a:rPr lang="zh-CN" altLang="en-US" dirty="0"/>
              <a:t>微分方程建模预测</a:t>
            </a:r>
            <a:endParaRPr lang="en-US" altLang="zh-CN" dirty="0"/>
          </a:p>
          <a:p>
            <a:r>
              <a:rPr lang="zh-CN" altLang="en-US" dirty="0"/>
              <a:t>差分方程</a:t>
            </a:r>
            <a:endParaRPr lang="en-US" altLang="zh-CN" dirty="0"/>
          </a:p>
          <a:p>
            <a:r>
              <a:rPr lang="zh-CN" altLang="en-US" dirty="0"/>
              <a:t>时间序列</a:t>
            </a:r>
            <a:endParaRPr lang="en-US" altLang="zh-CN" dirty="0"/>
          </a:p>
          <a:p>
            <a:r>
              <a:rPr lang="zh-CN" altLang="en-US" dirty="0"/>
              <a:t>回归分析</a:t>
            </a:r>
            <a:endParaRPr lang="en-US" altLang="zh-CN" dirty="0"/>
          </a:p>
          <a:p>
            <a:r>
              <a:rPr lang="zh-CN" altLang="en-US" dirty="0"/>
              <a:t>神经网络</a:t>
            </a:r>
            <a:endParaRPr lang="en-US" altLang="zh-CN" dirty="0"/>
          </a:p>
          <a:p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630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1340768"/>
            <a:ext cx="7848872" cy="1612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zh-CN" altLang="en-US" sz="2800" b="1" dirty="0">
                <a:solidFill>
                  <a:srgbClr val="FF3300"/>
                </a:solidFill>
              </a:rPr>
              <a:t>灰色预测模型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Gray Forecast Model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FontTx/>
              <a:buNone/>
            </a:pPr>
            <a:r>
              <a:rPr lang="zh-CN" altLang="en-US" sz="2400" dirty="0"/>
              <a:t>是通过</a:t>
            </a:r>
            <a:r>
              <a:rPr lang="zh-CN" altLang="en-US" sz="2400" b="1" dirty="0">
                <a:solidFill>
                  <a:srgbClr val="0000FF"/>
                </a:solidFill>
              </a:rPr>
              <a:t>少量的、不完全的</a:t>
            </a:r>
            <a:r>
              <a:rPr lang="zh-CN" altLang="en-US" sz="2400" dirty="0"/>
              <a:t>信息，建立数学模型并给出预测的一种预测方法</a:t>
            </a:r>
            <a:r>
              <a:rPr lang="en-US" altLang="zh-CN" sz="2400" dirty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373685" y="3284984"/>
            <a:ext cx="7992888" cy="2973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latin typeface="黑体" panose="02010609060101010101" pitchFamily="49" charset="-122"/>
              </a:rPr>
              <a:t>目前常用的一些预测方法（如回归分析等），需要较大的样本</a:t>
            </a:r>
            <a:r>
              <a:rPr lang="en-US" altLang="zh-CN" sz="2400" dirty="0">
                <a:latin typeface="黑体" panose="02010609060101010101" pitchFamily="49" charset="-122"/>
              </a:rPr>
              <a:t>.</a:t>
            </a:r>
            <a:r>
              <a:rPr lang="zh-CN" altLang="en-US" sz="2400" dirty="0">
                <a:latin typeface="黑体" panose="02010609060101010101" pitchFamily="49" charset="-122"/>
              </a:rPr>
              <a:t>若样本较小，常造成较大误差，使预测目标失效</a:t>
            </a:r>
            <a:r>
              <a:rPr lang="en-US" altLang="zh-CN" sz="2400" dirty="0">
                <a:latin typeface="黑体" panose="02010609060101010101" pitchFamily="49" charset="-122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zh-CN" sz="2400" dirty="0">
              <a:latin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黑体" panose="02010609060101010101" pitchFamily="49" charset="-122"/>
              </a:rPr>
              <a:t>灰色预测模型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</a:rPr>
              <a:t>所需建模信息少</a:t>
            </a:r>
            <a:r>
              <a:rPr lang="zh-CN" altLang="en-US" sz="2400" dirty="0">
                <a:latin typeface="黑体" panose="02010609060101010101" pitchFamily="49" charset="-122"/>
              </a:rPr>
              <a:t>，运算方便，</a:t>
            </a:r>
            <a:r>
              <a:rPr lang="zh-CN" altLang="en-US" sz="2400" b="1" dirty="0">
                <a:latin typeface="黑体" panose="02010609060101010101" pitchFamily="49" charset="-122"/>
              </a:rPr>
              <a:t>建模精度高</a:t>
            </a:r>
            <a:r>
              <a:rPr lang="zh-CN" altLang="en-US" sz="2400" dirty="0">
                <a:latin typeface="黑体" panose="02010609060101010101" pitchFamily="49" charset="-122"/>
              </a:rPr>
              <a:t>，在各种预测领域都有着广泛的应用，是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</a:rPr>
              <a:t>处理小样本预测</a:t>
            </a:r>
            <a:r>
              <a:rPr lang="zh-CN" altLang="en-US" sz="2400" dirty="0">
                <a:latin typeface="黑体" panose="02010609060101010101" pitchFamily="49" charset="-122"/>
              </a:rPr>
              <a:t>问题的有效工具</a:t>
            </a:r>
            <a:r>
              <a:rPr lang="en-US" altLang="zh-CN" sz="2400" dirty="0">
                <a:latin typeface="黑体" panose="02010609060101010101" pitchFamily="49" charset="-122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1619250" y="2997200"/>
            <a:ext cx="6769100" cy="7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4000" b="1" dirty="0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7.1  </a:t>
            </a:r>
            <a:r>
              <a:rPr lang="zh-CN" altLang="en-US" sz="4000" b="1" dirty="0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灰色系统的定义和特点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7.1</a:t>
            </a:r>
            <a:r>
              <a:rPr lang="zh-CN" altLang="en-US" sz="2000" dirty="0"/>
              <a:t>灰色系统的定义和特点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350" y="1196975"/>
            <a:ext cx="8686800" cy="1485791"/>
          </a:xfrm>
        </p:spPr>
        <p:txBody>
          <a:bodyPr/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0" dirty="0">
                <a:latin typeface="黑体" panose="02010609060101010101" pitchFamily="49" charset="-122"/>
              </a:rPr>
              <a:t>灰色系统理论是由</a:t>
            </a:r>
            <a:r>
              <a:rPr lang="zh-CN" altLang="en-US" sz="2400" b="0" dirty="0">
                <a:solidFill>
                  <a:srgbClr val="FF3300"/>
                </a:solidFill>
                <a:latin typeface="黑体" panose="02010609060101010101" pitchFamily="49" charset="-122"/>
              </a:rPr>
              <a:t>华中科技大学邓聚龙教授</a:t>
            </a:r>
            <a:r>
              <a:rPr lang="zh-CN" altLang="en-US" sz="2400" b="0" dirty="0">
                <a:latin typeface="黑体" panose="02010609060101010101" pitchFamily="49" charset="-122"/>
              </a:rPr>
              <a:t>于</a:t>
            </a:r>
            <a:r>
              <a:rPr lang="en-US" altLang="zh-CN" sz="2400" b="0" dirty="0">
                <a:latin typeface="黑体" panose="02010609060101010101" pitchFamily="49" charset="-122"/>
              </a:rPr>
              <a:t>1982</a:t>
            </a:r>
            <a:r>
              <a:rPr lang="zh-CN" altLang="en-US" sz="2400" b="0" dirty="0">
                <a:latin typeface="黑体" panose="02010609060101010101" pitchFamily="49" charset="-122"/>
              </a:rPr>
              <a:t>年提出并加以发展的。它对时间序列短、统计数据少、信息不完全系统的分析与建模，具有独特的功效，因此得到了广泛的应用</a:t>
            </a:r>
            <a:r>
              <a:rPr lang="en-US" altLang="zh-CN" sz="2400" b="0" dirty="0">
                <a:latin typeface="黑体" panose="02010609060101010101" pitchFamily="49" charset="-122"/>
              </a:rPr>
              <a:t>.</a:t>
            </a:r>
            <a:endParaRPr lang="zh-CN" altLang="en-US" sz="2400" b="0" dirty="0">
              <a:latin typeface="黑体" panose="02010609060101010101" pitchFamily="49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0" y="2732578"/>
            <a:ext cx="5349876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Font typeface="Wingdings" panose="05000000000000000000" pitchFamily="2" charset="2"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400" dirty="0">
                <a:latin typeface="+mj-ea"/>
                <a:ea typeface="+mj-ea"/>
              </a:rPr>
              <a:t>　</a:t>
            </a:r>
            <a:r>
              <a:rPr lang="en-US" altLang="zh-CN" sz="2400" b="0" dirty="0">
                <a:solidFill>
                  <a:schemeClr val="hlink"/>
                </a:solidFill>
                <a:latin typeface="+mj-ea"/>
                <a:ea typeface="+mj-ea"/>
              </a:rPr>
              <a:t>1. </a:t>
            </a:r>
            <a:r>
              <a:rPr lang="zh-CN" altLang="en-US" sz="2400" b="0" dirty="0">
                <a:solidFill>
                  <a:schemeClr val="hlink"/>
                </a:solidFill>
                <a:latin typeface="+mj-ea"/>
                <a:ea typeface="+mj-ea"/>
              </a:rPr>
              <a:t>灰色系统的定义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5647" y="3197761"/>
            <a:ext cx="9144000" cy="105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altLang="zh-CN" sz="2400" dirty="0"/>
              <a:t>   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灰色系统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是黑箱概念的一种推广。我们把既含有已知信息又含有未知信息的系统称为灰色系统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647" y="4257782"/>
            <a:ext cx="8229601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0099FF"/>
              </a:buClr>
              <a:buFont typeface="Wingdings" panose="05000000000000000000" pitchFamily="2" charset="2"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j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400" dirty="0">
                <a:latin typeface="+mn-ea"/>
              </a:rPr>
              <a:t>　</a:t>
            </a:r>
            <a:r>
              <a:rPr lang="en-US" altLang="zh-CN" sz="2400" b="0" dirty="0">
                <a:solidFill>
                  <a:schemeClr val="hlink"/>
                </a:solidFill>
                <a:latin typeface="+mn-ea"/>
              </a:rPr>
              <a:t>2. </a:t>
            </a:r>
            <a:r>
              <a:rPr lang="zh-CN" altLang="en-US" sz="2400" b="0" dirty="0">
                <a:solidFill>
                  <a:schemeClr val="hlink"/>
                </a:solidFill>
                <a:latin typeface="+mn-ea"/>
              </a:rPr>
              <a:t>灰色系统的特点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10011" y="4839569"/>
            <a:ext cx="84978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）用灰色数学处理不确定量，使之量化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0011" y="5338298"/>
            <a:ext cx="88931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）充分利用已知信息寻求系统的运动规律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99941" y="5837027"/>
            <a:ext cx="8101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）灰色系统理论能处理贫信息系统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  <p:bldP spid="4" grpId="0" build="p"/>
      <p:bldP spid="5" grpId="0"/>
      <p:bldP spid="6" grpId="0" build="p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1906588" y="2924175"/>
            <a:ext cx="5905500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4000" b="1" dirty="0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7.2  </a:t>
            </a:r>
            <a:r>
              <a:rPr lang="zh-CN" altLang="en-US" sz="4000" b="1" dirty="0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灰色系统的模型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7.2 </a:t>
            </a:r>
            <a:r>
              <a:rPr lang="zh-CN" altLang="en-US" sz="2000" dirty="0"/>
              <a:t>灰色系统的模型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96975"/>
            <a:ext cx="9144000" cy="5184775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dirty="0"/>
              <a:t>　</a:t>
            </a:r>
            <a:r>
              <a:rPr lang="zh-CN" altLang="en-US" sz="2800" b="0" dirty="0"/>
              <a:t>有了一个时间数据序列后，</a:t>
            </a:r>
            <a:endParaRPr lang="en-US" altLang="zh-CN" sz="2800" b="0" dirty="0"/>
          </a:p>
          <a:p>
            <a:pPr>
              <a:buFontTx/>
              <a:buNone/>
            </a:pPr>
            <a:r>
              <a:rPr lang="en-US" altLang="zh-CN" sz="2800" b="0" dirty="0"/>
              <a:t>    </a:t>
            </a:r>
            <a:r>
              <a:rPr lang="zh-CN" altLang="en-US" sz="2800" b="0" dirty="0"/>
              <a:t>如何建立一个基于模型的灰色预测？</a:t>
            </a:r>
            <a:endParaRPr lang="en-US" altLang="zh-CN" sz="2800" b="0" dirty="0"/>
          </a:p>
          <a:p>
            <a:pPr>
              <a:buFontTx/>
              <a:buNone/>
            </a:pPr>
            <a:endParaRPr lang="zh-CN" altLang="en-US" sz="2800" b="0" dirty="0"/>
          </a:p>
          <a:p>
            <a:pPr>
              <a:buFontTx/>
              <a:buNone/>
            </a:pPr>
            <a:r>
              <a:rPr lang="zh-CN" altLang="en-US" dirty="0"/>
              <a:t>　</a:t>
            </a:r>
            <a:r>
              <a:rPr lang="en-US" altLang="zh-CN" sz="2800" b="0" dirty="0">
                <a:solidFill>
                  <a:schemeClr val="hlink"/>
                </a:solidFill>
                <a:latin typeface="黑体" panose="02010609060101010101" pitchFamily="49" charset="-122"/>
              </a:rPr>
              <a:t>1. </a:t>
            </a:r>
            <a:r>
              <a:rPr lang="zh-CN" altLang="en-US" sz="2800" b="0" dirty="0">
                <a:solidFill>
                  <a:schemeClr val="hlink"/>
                </a:solidFill>
                <a:latin typeface="黑体" panose="02010609060101010101" pitchFamily="49" charset="-122"/>
              </a:rPr>
              <a:t>数据的预处理</a:t>
            </a:r>
          </a:p>
          <a:p>
            <a:pPr>
              <a:buFontTx/>
              <a:buNone/>
            </a:pPr>
            <a:r>
              <a:rPr lang="zh-CN" altLang="en-US" sz="2800" b="0" dirty="0">
                <a:latin typeface="黑体" panose="02010609060101010101" pitchFamily="49" charset="-122"/>
              </a:rPr>
              <a:t>  首先我们从一个简单例子来考察问题</a:t>
            </a:r>
            <a:r>
              <a:rPr lang="en-US" altLang="zh-CN" sz="2800" b="0" dirty="0">
                <a:latin typeface="黑体" panose="02010609060101010101" pitchFamily="49" charset="-122"/>
              </a:rPr>
              <a:t>.</a:t>
            </a:r>
          </a:p>
          <a:p>
            <a:pPr>
              <a:buFontTx/>
              <a:buNone/>
            </a:pPr>
            <a:r>
              <a:rPr lang="en-US" altLang="zh-CN" sz="2800" b="0" dirty="0">
                <a:latin typeface="黑体" panose="02010609060101010101" pitchFamily="49" charset="-122"/>
              </a:rPr>
              <a:t> </a:t>
            </a:r>
            <a:r>
              <a:rPr lang="en-US" altLang="zh-CN" sz="2800" b="0" dirty="0">
                <a:solidFill>
                  <a:srgbClr val="FF3300"/>
                </a:solidFill>
                <a:latin typeface="黑体" panose="02010609060101010101" pitchFamily="49" charset="-122"/>
              </a:rPr>
              <a:t>【</a:t>
            </a:r>
            <a:r>
              <a:rPr lang="zh-CN" altLang="en-US" sz="2800" b="0" dirty="0">
                <a:solidFill>
                  <a:srgbClr val="FF3300"/>
                </a:solidFill>
                <a:latin typeface="黑体" panose="02010609060101010101" pitchFamily="49" charset="-122"/>
              </a:rPr>
              <a:t>例</a:t>
            </a:r>
            <a:r>
              <a:rPr lang="en-US" altLang="zh-CN" sz="2800" b="0" dirty="0">
                <a:solidFill>
                  <a:srgbClr val="FF3300"/>
                </a:solidFill>
                <a:latin typeface="黑体" panose="02010609060101010101" pitchFamily="49" charset="-122"/>
              </a:rPr>
              <a:t>7.1】</a:t>
            </a:r>
            <a:r>
              <a:rPr lang="en-US" altLang="zh-CN" sz="2800" b="0" dirty="0">
                <a:latin typeface="黑体" panose="02010609060101010101" pitchFamily="49" charset="-122"/>
              </a:rPr>
              <a:t> </a:t>
            </a:r>
            <a:r>
              <a:rPr lang="zh-CN" altLang="en-US" sz="2800" b="0" dirty="0">
                <a:latin typeface="黑体" panose="02010609060101010101" pitchFamily="49" charset="-122"/>
              </a:rPr>
              <a:t>设原始数据序列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755650" y="4581525"/>
          <a:ext cx="727392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1" name="Equation" r:id="rId3" imgW="3060700" imgH="228600" progId="Equation.DSMT4">
                  <p:embed/>
                </p:oleObj>
              </mc:Choice>
              <mc:Fallback>
                <p:oleObj name="Equation" r:id="rId3" imgW="3060700" imgH="22860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581525"/>
                        <a:ext cx="7273925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  <p:bldP spid="1229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17663"/>
            <a:ext cx="4038600" cy="5184775"/>
          </a:xfrm>
        </p:spPr>
        <p:txBody>
          <a:bodyPr/>
          <a:lstStyle/>
          <a:p>
            <a:endParaRPr lang="en-US" altLang="zh-CN" sz="2800"/>
          </a:p>
          <a:p>
            <a:endParaRPr lang="en-US" altLang="zh-CN" sz="2800"/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0" y="620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335737"/>
              </p:ext>
            </p:extLst>
          </p:nvPr>
        </p:nvGraphicFramePr>
        <p:xfrm>
          <a:off x="755650" y="2320901"/>
          <a:ext cx="8137525" cy="294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8" name="Equation" r:id="rId3" imgW="3721100" imgH="1447800" progId="Equation.DSMT4">
                  <p:embed/>
                </p:oleObj>
              </mc:Choice>
              <mc:Fallback>
                <p:oleObj name="Equation" r:id="rId3" imgW="3721100" imgH="1447800" progId="Equation.DSMT4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320901"/>
                        <a:ext cx="8137525" cy="294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468313" y="1774949"/>
            <a:ext cx="25923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dirty="0">
                <a:ea typeface="黑体" panose="02010609060101010101" pitchFamily="49" charset="-122"/>
              </a:rPr>
              <a:t>对数据累加</a:t>
            </a:r>
            <a:r>
              <a:rPr lang="zh-CN" altLang="en-US" sz="2400" dirty="0"/>
              <a:t> </a:t>
            </a: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611188" y="5297612"/>
            <a:ext cx="35702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ea typeface="黑体" panose="02010609060101010101" pitchFamily="49" charset="-122"/>
              </a:rPr>
              <a:t>于是得到一个新数据序列</a:t>
            </a:r>
          </a:p>
        </p:txBody>
      </p:sp>
      <p:graphicFrame>
        <p:nvGraphicFramePr>
          <p:cNvPr id="13321" name="Object 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52035508"/>
              </p:ext>
            </p:extLst>
          </p:nvPr>
        </p:nvGraphicFramePr>
        <p:xfrm>
          <a:off x="1331913" y="5849913"/>
          <a:ext cx="36004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9" name="Equation" r:id="rId5" imgW="1371600" imgH="228600" progId="Equation.DSMT4">
                  <p:embed/>
                </p:oleObj>
              </mc:Choice>
              <mc:Fallback>
                <p:oleObj name="Equation" r:id="rId5" imgW="1371600" imgH="228600" progId="Equation.DSMT4">
                  <p:embed/>
                  <p:pic>
                    <p:nvPicPr>
                      <p:cNvPr id="0" name="Picture 4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849913"/>
                        <a:ext cx="36004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973546"/>
              </p:ext>
            </p:extLst>
          </p:nvPr>
        </p:nvGraphicFramePr>
        <p:xfrm>
          <a:off x="544433" y="1139800"/>
          <a:ext cx="727392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0" name="Equation" r:id="rId7" imgW="3060700" imgH="228600" progId="Equation.DSMT4">
                  <p:embed/>
                </p:oleObj>
              </mc:Choice>
              <mc:Fallback>
                <p:oleObj name="Equation" r:id="rId7" imgW="3060700" imgH="228600" progId="Equation.DSMT4">
                  <p:embed/>
                  <p:pic>
                    <p:nvPicPr>
                      <p:cNvPr id="122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433" y="1139800"/>
                        <a:ext cx="7273925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7.2 </a:t>
            </a:r>
            <a:r>
              <a:rPr lang="zh-CN" altLang="en-US" sz="2000" dirty="0"/>
              <a:t>灰色系统的模型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196975"/>
            <a:ext cx="8713788" cy="518477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/>
              <a:t>   </a:t>
            </a:r>
            <a:r>
              <a:rPr lang="zh-CN" altLang="en-US" sz="2800" b="0">
                <a:latin typeface="黑体" panose="02010609060101010101" pitchFamily="49" charset="-122"/>
              </a:rPr>
              <a:t>归纳上面的式子可写为 </a:t>
            </a:r>
          </a:p>
          <a:p>
            <a:endParaRPr lang="zh-CN" altLang="en-US" sz="2800" b="0">
              <a:latin typeface="黑体" panose="02010609060101010101" pitchFamily="49" charset="-122"/>
            </a:endParaRPr>
          </a:p>
          <a:p>
            <a:pPr>
              <a:buFontTx/>
              <a:buNone/>
            </a:pPr>
            <a:r>
              <a:rPr lang="zh-CN" altLang="en-US" sz="2800" b="0">
                <a:latin typeface="黑体" panose="02010609060101010101" pitchFamily="49" charset="-122"/>
              </a:rPr>
              <a:t>  称此式所表示的数据列为原始数据列的一次累加生成，简称为</a:t>
            </a:r>
            <a:r>
              <a:rPr lang="zh-CN" altLang="en-US" sz="2800" b="0">
                <a:solidFill>
                  <a:srgbClr val="FF3300"/>
                </a:solidFill>
                <a:latin typeface="黑体" panose="02010609060101010101" pitchFamily="49" charset="-122"/>
              </a:rPr>
              <a:t>一次累加生成</a:t>
            </a:r>
            <a:r>
              <a:rPr lang="en-US" altLang="zh-CN" sz="2800" b="0">
                <a:latin typeface="黑体" panose="02010609060101010101" pitchFamily="49" charset="-122"/>
              </a:rPr>
              <a:t>.</a:t>
            </a:r>
            <a:r>
              <a:rPr lang="zh-CN" altLang="en-US" sz="2800" b="0">
                <a:latin typeface="黑体" panose="02010609060101010101" pitchFamily="49" charset="-122"/>
              </a:rPr>
              <a:t>显然有</a:t>
            </a:r>
            <a:r>
              <a:rPr lang="zh-CN" altLang="en-US" sz="2800"/>
              <a:t> 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347" name="Object 11"/>
          <p:cNvGraphicFramePr>
            <a:graphicFrameLocks noChangeAspect="1"/>
          </p:cNvGraphicFramePr>
          <p:nvPr/>
        </p:nvGraphicFramePr>
        <p:xfrm>
          <a:off x="6156325" y="2636838"/>
          <a:ext cx="22510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9" name="Equation" r:id="rId3" imgW="952087" imgH="228501" progId="Equation.DSMT4">
                  <p:embed/>
                </p:oleObj>
              </mc:Choice>
              <mc:Fallback>
                <p:oleObj name="Equation" r:id="rId3" imgW="952087" imgH="228501" progId="Equation.DSMT4">
                  <p:embed/>
                  <p:pic>
                    <p:nvPicPr>
                      <p:cNvPr id="0" name="Picture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2636838"/>
                        <a:ext cx="225107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13"/>
          <p:cNvGraphicFramePr>
            <a:graphicFrameLocks noGrp="1" noChangeAspect="1"/>
          </p:cNvGraphicFramePr>
          <p:nvPr>
            <p:ph sz="half" idx="2"/>
          </p:nvPr>
        </p:nvGraphicFramePr>
        <p:xfrm>
          <a:off x="2484438" y="1557338"/>
          <a:ext cx="40322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0" name="Equation" r:id="rId5" imgW="2082800" imgH="444500" progId="Equation.DSMT4">
                  <p:embed/>
                </p:oleObj>
              </mc:Choice>
              <mc:Fallback>
                <p:oleObj name="Equation" r:id="rId5" imgW="2082800" imgH="444500" progId="Equation.DSMT4">
                  <p:embed/>
                  <p:pic>
                    <p:nvPicPr>
                      <p:cNvPr id="0" name="Picture 8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557338"/>
                        <a:ext cx="403225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15"/>
          <p:cNvSpPr>
            <a:spLocks noChangeArrowheads="1"/>
          </p:cNvSpPr>
          <p:nvPr/>
        </p:nvSpPr>
        <p:spPr bwMode="auto">
          <a:xfrm>
            <a:off x="827088" y="3571205"/>
            <a:ext cx="2835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ea typeface="黑体" panose="02010609060101010101" pitchFamily="49" charset="-122"/>
              </a:rPr>
              <a:t>将上述例子中的</a:t>
            </a:r>
            <a:r>
              <a:rPr lang="zh-CN" altLang="en-US" dirty="0"/>
              <a:t> </a:t>
            </a:r>
          </a:p>
        </p:txBody>
      </p:sp>
      <p:graphicFrame>
        <p:nvGraphicFramePr>
          <p:cNvPr id="1435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876307"/>
              </p:ext>
            </p:extLst>
          </p:nvPr>
        </p:nvGraphicFramePr>
        <p:xfrm>
          <a:off x="3492500" y="3574380"/>
          <a:ext cx="13208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1" name="Equation" r:id="rId7" imgW="558558" imgH="203112" progId="Equation.DSMT4">
                  <p:embed/>
                </p:oleObj>
              </mc:Choice>
              <mc:Fallback>
                <p:oleObj name="Equation" r:id="rId7" imgW="558558" imgH="203112" progId="Equation.DSMT4">
                  <p:embed/>
                  <p:pic>
                    <p:nvPicPr>
                      <p:cNvPr id="0" name="Picture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574380"/>
                        <a:ext cx="132080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3" name="Line 17"/>
          <p:cNvSpPr>
            <a:spLocks noChangeShapeType="1"/>
          </p:cNvSpPr>
          <p:nvPr/>
        </p:nvSpPr>
        <p:spPr bwMode="auto">
          <a:xfrm>
            <a:off x="1600200" y="3282950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>
            <a:off x="1600200" y="3282950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5" name="Rectangle 19"/>
          <p:cNvSpPr>
            <a:spLocks noChangeArrowheads="1"/>
          </p:cNvSpPr>
          <p:nvPr/>
        </p:nvSpPr>
        <p:spPr bwMode="auto">
          <a:xfrm>
            <a:off x="4787900" y="3574380"/>
            <a:ext cx="3917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分别做成图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7.1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、图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7.2.</a:t>
            </a:r>
          </a:p>
        </p:txBody>
      </p:sp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539750" y="4149055"/>
            <a:ext cx="81851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可见图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7.1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上的曲线有明显的摆动，图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7.2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呈现逐渐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递增的形式，说明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原始数据的起伏已显著弱化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可以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设想用一条指数曲线乃至一条直线来逼近累加生成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zh-CN" altLang="en-US" sz="90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35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58426"/>
              </p:ext>
            </p:extLst>
          </p:nvPr>
        </p:nvGraphicFramePr>
        <p:xfrm>
          <a:off x="1331640" y="5468939"/>
          <a:ext cx="6318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2" name="Equation" r:id="rId9" imgW="266469" imgH="203024" progId="Equation.DSMT4">
                  <p:embed/>
                </p:oleObj>
              </mc:Choice>
              <mc:Fallback>
                <p:oleObj name="Equation" r:id="rId9" imgW="266469" imgH="203024" progId="Equation.DSMT4">
                  <p:embed/>
                  <p:pic>
                    <p:nvPicPr>
                      <p:cNvPr id="0" name="Picture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5468939"/>
                        <a:ext cx="631825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3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  <p:bldP spid="14351" grpId="0"/>
      <p:bldP spid="143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7.2 </a:t>
            </a:r>
            <a:r>
              <a:rPr lang="zh-CN" altLang="en-US" sz="2000" dirty="0"/>
              <a:t>灰色系统的模型</a:t>
            </a:r>
          </a:p>
        </p:txBody>
      </p:sp>
      <p:pic>
        <p:nvPicPr>
          <p:cNvPr id="778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341438"/>
            <a:ext cx="7561262" cy="293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6372225" y="4292600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/>
              <a:t>图</a:t>
            </a:r>
            <a:r>
              <a:rPr lang="en-US" altLang="zh-CN"/>
              <a:t>7.2 </a:t>
            </a:r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2195513" y="4365625"/>
            <a:ext cx="73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图</a:t>
            </a:r>
            <a:r>
              <a:rPr lang="en-US" altLang="zh-CN"/>
              <a:t>7.1</a:t>
            </a:r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323850" y="4594225"/>
            <a:ext cx="83629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ea typeface="黑体" panose="02010609060101010101" pitchFamily="49" charset="-122"/>
              </a:rPr>
              <a:t>为了把累加数据列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还原</a:t>
            </a:r>
            <a:r>
              <a:rPr lang="zh-CN" altLang="en-US" sz="2800" dirty="0">
                <a:ea typeface="黑体" panose="02010609060101010101" pitchFamily="49" charset="-122"/>
              </a:rPr>
              <a:t>为原始数列，需进行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后减</a:t>
            </a:r>
            <a:r>
              <a:rPr lang="zh-CN" altLang="en-US" sz="2800" dirty="0">
                <a:ea typeface="黑体" panose="02010609060101010101" pitchFamily="49" charset="-122"/>
              </a:rPr>
              <a:t>运算</a:t>
            </a:r>
          </a:p>
          <a:p>
            <a:r>
              <a:rPr lang="zh-CN" altLang="en-US" sz="2800" dirty="0">
                <a:ea typeface="黑体" panose="02010609060101010101" pitchFamily="49" charset="-122"/>
              </a:rPr>
              <a:t>或称相减生成，它是指后前两个数据之差，如上例中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7.2 </a:t>
            </a:r>
            <a:r>
              <a:rPr lang="zh-CN" altLang="en-US" sz="2000" dirty="0"/>
              <a:t>灰色系统的模型</a:t>
            </a:r>
          </a:p>
        </p:txBody>
      </p:sp>
      <p:graphicFrame>
        <p:nvGraphicFramePr>
          <p:cNvPr id="16400" name="Object 16"/>
          <p:cNvGraphicFramePr>
            <a:graphicFrameLocks noGrp="1" noChangeAspect="1"/>
          </p:cNvGraphicFramePr>
          <p:nvPr>
            <p:ph sz="half" idx="1"/>
          </p:nvPr>
        </p:nvGraphicFramePr>
        <p:xfrm>
          <a:off x="1692275" y="4652963"/>
          <a:ext cx="55435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0" name="Equation" r:id="rId3" imgW="2222500" imgH="228600" progId="Equation.DSMT4">
                  <p:embed/>
                </p:oleObj>
              </mc:Choice>
              <mc:Fallback>
                <p:oleObj name="Equation" r:id="rId3" imgW="2222500" imgH="228600" progId="Equation.DSMT4">
                  <p:embed/>
                  <p:pic>
                    <p:nvPicPr>
                      <p:cNvPr id="0" name="Picture 6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652963"/>
                        <a:ext cx="5543550" cy="5699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1692275" y="1196975"/>
          <a:ext cx="5905500" cy="293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1" name="Equation" r:id="rId5" imgW="2451100" imgH="1219200" progId="Equation.DSMT4">
                  <p:embed/>
                </p:oleObj>
              </mc:Choice>
              <mc:Fallback>
                <p:oleObj name="Equation" r:id="rId5" imgW="2451100" imgH="1219200" progId="Equation.DSMT4">
                  <p:embed/>
                  <p:pic>
                    <p:nvPicPr>
                      <p:cNvPr id="0" name="Picture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196975"/>
                        <a:ext cx="5905500" cy="293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93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95" name="Rectangle 11"/>
          <p:cNvSpPr>
            <a:spLocks noChangeArrowheads="1"/>
          </p:cNvSpPr>
          <p:nvPr/>
        </p:nvSpPr>
        <p:spPr bwMode="auto">
          <a:xfrm>
            <a:off x="3563938" y="4005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395288" y="4103688"/>
            <a:ext cx="65849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>
                <a:ea typeface="黑体" panose="02010609060101010101" pitchFamily="49" charset="-122"/>
              </a:rPr>
              <a:t>归纳上面的式子得到如下结果：一次后减</a:t>
            </a:r>
          </a:p>
        </p:txBody>
      </p:sp>
      <p:sp>
        <p:nvSpPr>
          <p:cNvPr id="16402" name="Rectangle 18"/>
          <p:cNvSpPr>
            <a:spLocks noChangeArrowheads="1"/>
          </p:cNvSpPr>
          <p:nvPr/>
        </p:nvSpPr>
        <p:spPr bwMode="auto">
          <a:xfrm>
            <a:off x="395288" y="5373688"/>
            <a:ext cx="1079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</a:p>
        </p:txBody>
      </p:sp>
      <p:graphicFrame>
        <p:nvGraphicFramePr>
          <p:cNvPr id="16403" name="Object 19"/>
          <p:cNvGraphicFramePr>
            <a:graphicFrameLocks noGrp="1" noChangeAspect="1"/>
          </p:cNvGraphicFramePr>
          <p:nvPr>
            <p:ph sz="half" idx="2"/>
          </p:nvPr>
        </p:nvGraphicFramePr>
        <p:xfrm>
          <a:off x="2268538" y="5661025"/>
          <a:ext cx="4103687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32" name="Equation" r:id="rId7" imgW="1536700" imgH="228600" progId="Equation.DSMT4">
                  <p:embed/>
                </p:oleObj>
              </mc:Choice>
              <mc:Fallback>
                <p:oleObj name="Equation" r:id="rId7" imgW="1536700" imgH="228600" progId="Equation.DSMT4">
                  <p:embed/>
                  <p:pic>
                    <p:nvPicPr>
                      <p:cNvPr id="0" name="Picture 7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661025"/>
                        <a:ext cx="4103687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9" grpId="0"/>
      <p:bldP spid="1640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7.2 </a:t>
            </a:r>
            <a:r>
              <a:rPr lang="zh-CN" altLang="en-US" sz="2000" dirty="0"/>
              <a:t>灰色系统的模型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218488" cy="518477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 b="0" dirty="0">
                <a:solidFill>
                  <a:schemeClr val="hlink"/>
                </a:solidFill>
                <a:latin typeface="黑体" panose="02010609060101010101" pitchFamily="49" charset="-122"/>
              </a:rPr>
              <a:t>2. </a:t>
            </a:r>
            <a:r>
              <a:rPr lang="zh-CN" altLang="en-US" sz="2800" b="0" dirty="0">
                <a:solidFill>
                  <a:schemeClr val="hlink"/>
                </a:solidFill>
                <a:latin typeface="黑体" panose="02010609060101010101" pitchFamily="49" charset="-122"/>
              </a:rPr>
              <a:t>建模原理</a:t>
            </a:r>
          </a:p>
          <a:p>
            <a:pPr>
              <a:buFontTx/>
              <a:buNone/>
            </a:pPr>
            <a:r>
              <a:rPr lang="zh-CN" altLang="en-US" sz="2800" b="0" dirty="0">
                <a:latin typeface="黑体" panose="02010609060101010101" pitchFamily="49" charset="-122"/>
              </a:rPr>
              <a:t>给定观测数据列</a:t>
            </a:r>
          </a:p>
          <a:p>
            <a:endParaRPr lang="zh-CN" altLang="en-US" sz="2800" b="0" dirty="0">
              <a:latin typeface="黑体" panose="02010609060101010101" pitchFamily="49" charset="-122"/>
            </a:endParaRPr>
          </a:p>
          <a:p>
            <a:r>
              <a:rPr lang="zh-CN" altLang="en-US" sz="2800" b="0" dirty="0">
                <a:latin typeface="黑体" panose="02010609060101010101" pitchFamily="49" charset="-122"/>
              </a:rPr>
              <a:t>经一次累加得</a:t>
            </a:r>
          </a:p>
        </p:txBody>
      </p:sp>
      <p:graphicFrame>
        <p:nvGraphicFramePr>
          <p:cNvPr id="18442" name="Object 1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476375" y="4508500"/>
          <a:ext cx="2808288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3" name="Equation" r:id="rId3" imgW="1091726" imgH="418918" progId="Equation.DSMT4">
                  <p:embed/>
                </p:oleObj>
              </mc:Choice>
              <mc:Fallback>
                <p:oleObj name="Equation" r:id="rId3" imgW="1091726" imgH="418918" progId="Equation.DSMT4">
                  <p:embed/>
                  <p:pic>
                    <p:nvPicPr>
                      <p:cNvPr id="0" name="Picture 8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508500"/>
                        <a:ext cx="2808288" cy="1077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275759"/>
              </p:ext>
            </p:extLst>
          </p:nvPr>
        </p:nvGraphicFramePr>
        <p:xfrm>
          <a:off x="755650" y="2205038"/>
          <a:ext cx="554513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4" name="Equation" r:id="rId5" imgW="2120900" imgH="228600" progId="Equation.DSMT4">
                  <p:embed/>
                </p:oleObj>
              </mc:Choice>
              <mc:Fallback>
                <p:oleObj name="Equation" r:id="rId5" imgW="2120900" imgH="228600" progId="Equation.DSMT4">
                  <p:embed/>
                  <p:pic>
                    <p:nvPicPr>
                      <p:cNvPr id="0" name="Picture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205038"/>
                        <a:ext cx="5545138" cy="596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755650" y="3284538"/>
          <a:ext cx="554513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5" name="Equation" r:id="rId7" imgW="2095500" imgH="228600" progId="Equation.DSMT4">
                  <p:embed/>
                </p:oleObj>
              </mc:Choice>
              <mc:Fallback>
                <p:oleObj name="Equation" r:id="rId7" imgW="2095500" imgH="228600" progId="Equation.DSMT4">
                  <p:embed/>
                  <p:pic>
                    <p:nvPicPr>
                      <p:cNvPr id="0" name="Picture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284538"/>
                        <a:ext cx="5545138" cy="6048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468313" y="3932238"/>
            <a:ext cx="4273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设   满足一阶常微分方程</a:t>
            </a:r>
          </a:p>
        </p:txBody>
      </p:sp>
      <p:graphicFrame>
        <p:nvGraphicFramePr>
          <p:cNvPr id="18446" name="Object 1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71550" y="4005263"/>
          <a:ext cx="5048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6" name="Equation" r:id="rId9" imgW="228501" imgH="203112" progId="Equation.DSMT4">
                  <p:embed/>
                </p:oleObj>
              </mc:Choice>
              <mc:Fallback>
                <p:oleObj name="Equation" r:id="rId9" imgW="228501" imgH="203112" progId="Equation.DSMT4">
                  <p:embed/>
                  <p:pic>
                    <p:nvPicPr>
                      <p:cNvPr id="0" name="Picture 8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005263"/>
                        <a:ext cx="50482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7380288" y="2232025"/>
            <a:ext cx="1281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/>
              <a:t>（</a:t>
            </a:r>
            <a:r>
              <a:rPr lang="en-US" altLang="zh-CN" sz="2400"/>
              <a:t>7.1</a:t>
            </a:r>
            <a:r>
              <a:rPr lang="zh-CN" altLang="en-US" sz="2400"/>
              <a:t>）</a:t>
            </a:r>
            <a:r>
              <a:rPr lang="zh-CN" altLang="en-US"/>
              <a:t> </a:t>
            </a:r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7380288" y="3357563"/>
            <a:ext cx="1281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/>
              <a:t>（</a:t>
            </a:r>
            <a:r>
              <a:rPr lang="en-US" altLang="zh-CN" sz="2400"/>
              <a:t>7.2</a:t>
            </a:r>
            <a:r>
              <a:rPr lang="zh-CN" altLang="en-US" sz="2400"/>
              <a:t>）</a:t>
            </a:r>
            <a:r>
              <a:rPr lang="zh-CN" altLang="en-US"/>
              <a:t> </a:t>
            </a:r>
          </a:p>
        </p:txBody>
      </p:sp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7451725" y="4797425"/>
            <a:ext cx="1281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/>
              <a:t>（</a:t>
            </a:r>
            <a:r>
              <a:rPr lang="en-US" altLang="zh-CN" sz="2400"/>
              <a:t>7.3</a:t>
            </a:r>
            <a:r>
              <a:rPr lang="zh-CN" altLang="en-US" sz="2400"/>
              <a:t>）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  <p:bldP spid="18441" grpId="0"/>
      <p:bldP spid="18450" grpId="0" uiExpand="1"/>
      <p:bldP spid="18451" grpId="0"/>
      <p:bldP spid="1845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7.2 </a:t>
            </a:r>
            <a:r>
              <a:rPr lang="zh-CN" altLang="en-US" sz="2000" dirty="0"/>
              <a:t>灰色系统的模型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196975"/>
            <a:ext cx="8424863" cy="5184775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 dirty="0"/>
              <a:t>　   </a:t>
            </a:r>
            <a:r>
              <a:rPr lang="zh-CN" altLang="en-US" sz="2400" b="0" dirty="0">
                <a:latin typeface="黑体" panose="02010609060101010101" pitchFamily="49" charset="-122"/>
              </a:rPr>
              <a:t>其中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黑体" panose="02010609060101010101" pitchFamily="49" charset="-122"/>
              </a:rPr>
              <a:t>是常数，称为发展灰数；称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400" b="0" dirty="0">
                <a:latin typeface="黑体" panose="02010609060101010101" pitchFamily="49" charset="-122"/>
              </a:rPr>
              <a:t>为内生控制灰数，是对系统的常定输入</a:t>
            </a:r>
            <a:r>
              <a:rPr lang="en-US" altLang="zh-CN" sz="2400" b="0" dirty="0">
                <a:latin typeface="黑体" panose="02010609060101010101" pitchFamily="49" charset="-122"/>
              </a:rPr>
              <a:t>.</a:t>
            </a:r>
            <a:r>
              <a:rPr lang="zh-CN" altLang="en-US" sz="2400" b="0" dirty="0">
                <a:latin typeface="黑体" panose="02010609060101010101" pitchFamily="49" charset="-122"/>
              </a:rPr>
              <a:t>此方程满足初始条件</a:t>
            </a:r>
          </a:p>
        </p:txBody>
      </p:sp>
      <p:graphicFrame>
        <p:nvGraphicFramePr>
          <p:cNvPr id="20486" name="Object 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44312358"/>
              </p:ext>
            </p:extLst>
          </p:nvPr>
        </p:nvGraphicFramePr>
        <p:xfrm>
          <a:off x="2627313" y="2105025"/>
          <a:ext cx="28813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7" name="Equation" r:id="rId3" imgW="1371600" imgH="241300" progId="Equation.DSMT4">
                  <p:embed/>
                </p:oleObj>
              </mc:Choice>
              <mc:Fallback>
                <p:oleObj name="Equation" r:id="rId3" imgW="1371600" imgH="241300" progId="Equation.DSMT4">
                  <p:embed/>
                  <p:pic>
                    <p:nvPicPr>
                      <p:cNvPr id="0" name="Picture 8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105025"/>
                        <a:ext cx="2881312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684213" y="2349500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的解为</a:t>
            </a:r>
          </a:p>
        </p:txBody>
      </p:sp>
      <p:graphicFrame>
        <p:nvGraphicFramePr>
          <p:cNvPr id="20489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68538" y="2852738"/>
          <a:ext cx="367188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8" name="Equation" r:id="rId5" imgW="2044700" imgH="431800" progId="Equation.DSMT4">
                  <p:embed/>
                </p:oleObj>
              </mc:Choice>
              <mc:Fallback>
                <p:oleObj name="Equation" r:id="rId5" imgW="2044700" imgH="431800" progId="Equation.DSMT4">
                  <p:embed/>
                  <p:pic>
                    <p:nvPicPr>
                      <p:cNvPr id="0" name="Picture 8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852738"/>
                        <a:ext cx="3671887" cy="7747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7380288" y="2060575"/>
            <a:ext cx="942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/>
              <a:t>(7.3)’</a:t>
            </a:r>
            <a:r>
              <a:rPr lang="en-US" altLang="zh-CN"/>
              <a:t> </a:t>
            </a: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684213" y="3816350"/>
            <a:ext cx="5983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ea typeface="黑体" panose="02010609060101010101" pitchFamily="49" charset="-122"/>
              </a:rPr>
              <a:t>对等间隔取样的离散值 </a:t>
            </a:r>
            <a:r>
              <a:rPr lang="en-US" altLang="zh-CN" sz="2400" dirty="0"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ea typeface="黑体" panose="02010609060101010101" pitchFamily="49" charset="-122"/>
              </a:rPr>
              <a:t>注意到    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dirty="0">
                <a:ea typeface="黑体" panose="02010609060101010101" pitchFamily="49" charset="-122"/>
              </a:rPr>
              <a:t>则为</a:t>
            </a:r>
            <a:r>
              <a:rPr lang="zh-CN" altLang="en-US" dirty="0"/>
              <a:t> </a:t>
            </a:r>
          </a:p>
        </p:txBody>
      </p:sp>
      <p:graphicFrame>
        <p:nvGraphicFramePr>
          <p:cNvPr id="20493" name="Object 13"/>
          <p:cNvGraphicFramePr>
            <a:graphicFrameLocks noChangeAspect="1"/>
          </p:cNvGraphicFramePr>
          <p:nvPr/>
        </p:nvGraphicFramePr>
        <p:xfrm>
          <a:off x="4932363" y="3789363"/>
          <a:ext cx="7207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9" name="Equation" r:id="rId7" imgW="342751" imgH="228501" progId="Equation.DSMT4">
                  <p:embed/>
                </p:oleObj>
              </mc:Choice>
              <mc:Fallback>
                <p:oleObj name="Equation" r:id="rId7" imgW="342751" imgH="228501" progId="Equation.DSMT4">
                  <p:embed/>
                  <p:pic>
                    <p:nvPicPr>
                      <p:cNvPr id="0" name="Picture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3789363"/>
                        <a:ext cx="720725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14"/>
          <p:cNvGraphicFramePr>
            <a:graphicFrameLocks noChangeAspect="1"/>
          </p:cNvGraphicFramePr>
          <p:nvPr/>
        </p:nvGraphicFramePr>
        <p:xfrm>
          <a:off x="2305050" y="4292600"/>
          <a:ext cx="359727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0" name="Equation" r:id="rId9" imgW="1968500" imgH="393700" progId="Equation.DSMT4">
                  <p:embed/>
                </p:oleObj>
              </mc:Choice>
              <mc:Fallback>
                <p:oleObj name="Equation" r:id="rId9" imgW="1968500" imgH="393700" progId="Equation.DSMT4">
                  <p:embed/>
                  <p:pic>
                    <p:nvPicPr>
                      <p:cNvPr id="0" name="Picture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050" y="4292600"/>
                        <a:ext cx="3597275" cy="7191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5" name="Rectangle 15"/>
          <p:cNvSpPr>
            <a:spLocks noChangeArrowheads="1"/>
          </p:cNvSpPr>
          <p:nvPr/>
        </p:nvSpPr>
        <p:spPr bwMode="auto">
          <a:xfrm>
            <a:off x="7451725" y="4365625"/>
            <a:ext cx="874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/>
              <a:t>(7.4)</a:t>
            </a:r>
            <a:r>
              <a:rPr lang="en-US" altLang="zh-CN"/>
              <a:t> </a:t>
            </a:r>
          </a:p>
        </p:txBody>
      </p:sp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755650" y="5218113"/>
            <a:ext cx="79565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灰色建模的途径是一次累加序列（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7.2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）通过最小二乘法来</a:t>
            </a: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估计常数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8" grpId="0"/>
      <p:bldP spid="20491" grpId="0"/>
      <p:bldP spid="20492" grpId="0"/>
      <p:bldP spid="20495" grpId="0"/>
      <p:bldP spid="2049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7.2 </a:t>
            </a:r>
            <a:r>
              <a:rPr lang="zh-CN" altLang="en-US" sz="2000" dirty="0"/>
              <a:t>灰色系统的模型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539750" y="1628775"/>
          <a:ext cx="71913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8" name="Equation" r:id="rId3" imgW="406048" imgH="228402" progId="Equation.DSMT4">
                  <p:embed/>
                </p:oleObj>
              </mc:Choice>
              <mc:Fallback>
                <p:oleObj name="Equation" r:id="rId3" imgW="406048" imgH="228402" progId="Equation.DSMT4">
                  <p:embed/>
                  <p:pic>
                    <p:nvPicPr>
                      <p:cNvPr id="0" name="Picture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628775"/>
                        <a:ext cx="719138" cy="40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3779838" y="1628775"/>
          <a:ext cx="252095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9" name="Equation" r:id="rId5" imgW="1498600" imgH="228600" progId="Equation.DSMT4">
                  <p:embed/>
                </p:oleObj>
              </mc:Choice>
              <mc:Fallback>
                <p:oleObj name="Equation" r:id="rId5" imgW="1498600" imgH="228600" progId="Equation.DSMT4">
                  <p:embed/>
                  <p:pic>
                    <p:nvPicPr>
                      <p:cNvPr id="0" name="Picture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628775"/>
                        <a:ext cx="2520950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/>
          <p:cNvGraphicFramePr>
            <a:graphicFrameLocks noChangeAspect="1"/>
          </p:cNvGraphicFramePr>
          <p:nvPr/>
        </p:nvGraphicFramePr>
        <p:xfrm>
          <a:off x="5003800" y="2205038"/>
          <a:ext cx="20161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0" name="Equation" r:id="rId7" imgW="1091726" imgH="203112" progId="Equation.DSMT4">
                  <p:embed/>
                </p:oleObj>
              </mc:Choice>
              <mc:Fallback>
                <p:oleObj name="Equation" r:id="rId7" imgW="1091726" imgH="203112" progId="Equation.DSMT4">
                  <p:embed/>
                  <p:pic>
                    <p:nvPicPr>
                      <p:cNvPr id="0" name="Picture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205038"/>
                        <a:ext cx="2016125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Object 11"/>
          <p:cNvGraphicFramePr>
            <a:graphicFrameLocks noChangeAspect="1"/>
          </p:cNvGraphicFramePr>
          <p:nvPr/>
        </p:nvGraphicFramePr>
        <p:xfrm>
          <a:off x="2268538" y="2565400"/>
          <a:ext cx="5040312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1" name="Equation" r:id="rId9" imgW="2755900" imgH="419100" progId="Equation.DSMT4">
                  <p:embed/>
                </p:oleObj>
              </mc:Choice>
              <mc:Fallback>
                <p:oleObj name="Equation" r:id="rId9" imgW="2755900" imgH="419100" progId="Equation.DSMT4">
                  <p:embed/>
                  <p:pic>
                    <p:nvPicPr>
                      <p:cNvPr id="0" name="Picture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565400"/>
                        <a:ext cx="5040312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13"/>
          <p:cNvGraphicFramePr>
            <a:graphicFrameLocks noChangeAspect="1"/>
          </p:cNvGraphicFramePr>
          <p:nvPr/>
        </p:nvGraphicFramePr>
        <p:xfrm>
          <a:off x="2339975" y="3357563"/>
          <a:ext cx="424815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2" name="Equation" r:id="rId11" imgW="2451100" imgH="419100" progId="Equation.DSMT4">
                  <p:embed/>
                </p:oleObj>
              </mc:Choice>
              <mc:Fallback>
                <p:oleObj name="Equation" r:id="rId11" imgW="2451100" imgH="419100" progId="Equation.DSMT4">
                  <p:embed/>
                  <p:pic>
                    <p:nvPicPr>
                      <p:cNvPr id="0" name="Picture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357563"/>
                        <a:ext cx="4248150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Object 15"/>
          <p:cNvGraphicFramePr>
            <a:graphicFrameLocks noChangeAspect="1"/>
          </p:cNvGraphicFramePr>
          <p:nvPr/>
        </p:nvGraphicFramePr>
        <p:xfrm>
          <a:off x="3635375" y="4221163"/>
          <a:ext cx="2881313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3" name="Equation" r:id="rId13" imgW="1549400" imgH="1117600" progId="Equation.DSMT4">
                  <p:embed/>
                </p:oleObj>
              </mc:Choice>
              <mc:Fallback>
                <p:oleObj name="Equation" r:id="rId13" imgW="1549400" imgH="1117600" progId="Equation.DSMT4">
                  <p:embed/>
                  <p:pic>
                    <p:nvPicPr>
                      <p:cNvPr id="0" name="Picture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221163"/>
                        <a:ext cx="2881313" cy="206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1" name="Rectangle 17"/>
          <p:cNvSpPr>
            <a:spLocks noChangeArrowheads="1"/>
          </p:cNvSpPr>
          <p:nvPr/>
        </p:nvSpPr>
        <p:spPr bwMode="auto">
          <a:xfrm>
            <a:off x="179388" y="1584325"/>
            <a:ext cx="552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因</a:t>
            </a:r>
            <a:r>
              <a:rPr lang="zh-CN" altLang="en-US"/>
              <a:t> </a:t>
            </a:r>
          </a:p>
        </p:txBody>
      </p:sp>
      <p:sp>
        <p:nvSpPr>
          <p:cNvPr id="21522" name="Rectangle 18"/>
          <p:cNvSpPr>
            <a:spLocks noChangeArrowheads="1"/>
          </p:cNvSpPr>
          <p:nvPr/>
        </p:nvSpPr>
        <p:spPr bwMode="auto">
          <a:xfrm>
            <a:off x="1258888" y="1584325"/>
            <a:ext cx="2686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留作初值用，故将</a:t>
            </a:r>
            <a:r>
              <a:rPr lang="zh-CN" altLang="en-US"/>
              <a:t> </a:t>
            </a:r>
          </a:p>
        </p:txBody>
      </p:sp>
      <p:sp>
        <p:nvSpPr>
          <p:cNvPr id="21523" name="Rectangle 19"/>
          <p:cNvSpPr>
            <a:spLocks noChangeArrowheads="1"/>
          </p:cNvSpPr>
          <p:nvPr/>
        </p:nvSpPr>
        <p:spPr bwMode="auto">
          <a:xfrm>
            <a:off x="179388" y="2133600"/>
            <a:ext cx="5124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用差分代替微分，又因等间隔取样，</a:t>
            </a:r>
            <a:r>
              <a:rPr lang="zh-CN" altLang="en-US"/>
              <a:t> </a:t>
            </a:r>
          </a:p>
        </p:txBody>
      </p:sp>
      <p:sp>
        <p:nvSpPr>
          <p:cNvPr id="21524" name="Rectangle 20"/>
          <p:cNvSpPr>
            <a:spLocks noChangeArrowheads="1"/>
          </p:cNvSpPr>
          <p:nvPr/>
        </p:nvSpPr>
        <p:spPr bwMode="auto">
          <a:xfrm>
            <a:off x="6216650" y="1557338"/>
            <a:ext cx="292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分别代入方程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(7.3),</a:t>
            </a:r>
          </a:p>
        </p:txBody>
      </p:sp>
      <p:sp>
        <p:nvSpPr>
          <p:cNvPr id="21525" name="Rectangle 21"/>
          <p:cNvSpPr>
            <a:spLocks noChangeArrowheads="1"/>
          </p:cNvSpPr>
          <p:nvPr/>
        </p:nvSpPr>
        <p:spPr bwMode="auto">
          <a:xfrm>
            <a:off x="7019925" y="2060575"/>
            <a:ext cx="857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故得</a:t>
            </a:r>
            <a:r>
              <a:rPr lang="zh-CN" altLang="en-US"/>
              <a:t> </a:t>
            </a:r>
          </a:p>
        </p:txBody>
      </p:sp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179388" y="3357563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类似地有</a:t>
            </a:r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179388" y="4321175"/>
            <a:ext cx="3143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于是，由式（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7.3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）有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33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7.2 </a:t>
            </a:r>
            <a:r>
              <a:rPr lang="zh-CN" altLang="en-US" sz="2000"/>
              <a:t>灰色系统的模型</a:t>
            </a:r>
          </a:p>
        </p:txBody>
      </p:sp>
      <p:graphicFrame>
        <p:nvGraphicFramePr>
          <p:cNvPr id="86020" name="Object 4"/>
          <p:cNvGraphicFramePr>
            <a:graphicFrameLocks noChangeAspect="1"/>
          </p:cNvGraphicFramePr>
          <p:nvPr/>
        </p:nvGraphicFramePr>
        <p:xfrm>
          <a:off x="684213" y="1125538"/>
          <a:ext cx="11525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98" name="Equation" r:id="rId3" imgW="469900" imgH="228600" progId="Equation.DSMT4">
                  <p:embed/>
                </p:oleObj>
              </mc:Choice>
              <mc:Fallback>
                <p:oleObj name="Equation" r:id="rId3" imgW="469900" imgH="228600" progId="Equation.DSMT4">
                  <p:embed/>
                  <p:pic>
                    <p:nvPicPr>
                      <p:cNvPr id="0" name="Picture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125538"/>
                        <a:ext cx="1152525" cy="563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6"/>
          <p:cNvGraphicFramePr>
            <a:graphicFrameLocks noChangeAspect="1"/>
          </p:cNvGraphicFramePr>
          <p:nvPr/>
        </p:nvGraphicFramePr>
        <p:xfrm>
          <a:off x="1908175" y="1700213"/>
          <a:ext cx="3240088" cy="322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99" name="Equation" r:id="rId5" imgW="1689100" imgH="1676400" progId="Equation.DSMT4">
                  <p:embed/>
                </p:oleObj>
              </mc:Choice>
              <mc:Fallback>
                <p:oleObj name="Equation" r:id="rId5" imgW="1689100" imgH="1676400" progId="Equation.DSMT4">
                  <p:embed/>
                  <p:pic>
                    <p:nvPicPr>
                      <p:cNvPr id="0" name="Picture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700213"/>
                        <a:ext cx="3240088" cy="3221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6024" name="Object 8"/>
          <p:cNvGraphicFramePr>
            <a:graphicFrameLocks noChangeAspect="1"/>
          </p:cNvGraphicFramePr>
          <p:nvPr/>
        </p:nvGraphicFramePr>
        <p:xfrm>
          <a:off x="827088" y="5013325"/>
          <a:ext cx="6381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00" name="Equation" r:id="rId7" imgW="368300" imgH="419100" progId="Equation.DSMT4">
                  <p:embed/>
                </p:oleObj>
              </mc:Choice>
              <mc:Fallback>
                <p:oleObj name="Equation" r:id="rId7" imgW="368300" imgH="419100" progId="Equation.DSMT4">
                  <p:embed/>
                  <p:pic>
                    <p:nvPicPr>
                      <p:cNvPr id="0" name="Picture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013325"/>
                        <a:ext cx="638175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7" name="Rectangle 11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6026" name="Object 10"/>
          <p:cNvGraphicFramePr>
            <a:graphicFrameLocks noChangeAspect="1"/>
          </p:cNvGraphicFramePr>
          <p:nvPr/>
        </p:nvGraphicFramePr>
        <p:xfrm>
          <a:off x="3276600" y="5157788"/>
          <a:ext cx="6477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01" name="Equation" r:id="rId9" imgW="241195" imgH="203112" progId="Equation.DSMT4">
                  <p:embed/>
                </p:oleObj>
              </mc:Choice>
              <mc:Fallback>
                <p:oleObj name="Equation" r:id="rId9" imgW="241195" imgH="203112" progId="Equation.DSMT4">
                  <p:embed/>
                  <p:pic>
                    <p:nvPicPr>
                      <p:cNvPr id="0" name="Picture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157788"/>
                        <a:ext cx="64770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9" name="Rectangle 13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6028" name="Object 12"/>
          <p:cNvGraphicFramePr>
            <a:graphicFrameLocks noChangeAspect="1"/>
          </p:cNvGraphicFramePr>
          <p:nvPr/>
        </p:nvGraphicFramePr>
        <p:xfrm>
          <a:off x="7164388" y="5157788"/>
          <a:ext cx="93662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02" name="Equation" r:id="rId11" imgW="393871" imgH="228699" progId="Equation.DSMT4">
                  <p:embed/>
                </p:oleObj>
              </mc:Choice>
              <mc:Fallback>
                <p:oleObj name="Equation" r:id="rId11" imgW="393871" imgH="228699" progId="Equation.DSMT4">
                  <p:embed/>
                  <p:pic>
                    <p:nvPicPr>
                      <p:cNvPr id="0" name="Picture 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157788"/>
                        <a:ext cx="936625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1" name="Rectangle 1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60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277400"/>
              </p:ext>
            </p:extLst>
          </p:nvPr>
        </p:nvGraphicFramePr>
        <p:xfrm>
          <a:off x="6084888" y="5661025"/>
          <a:ext cx="8636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03" name="Equation" r:id="rId13" imgW="393480" imgH="228600" progId="Equation.DSMT4">
                  <p:embed/>
                </p:oleObj>
              </mc:Choice>
              <mc:Fallback>
                <p:oleObj name="Equation" r:id="rId13" imgW="393480" imgH="228600" progId="Equation.DSMT4">
                  <p:embed/>
                  <p:pic>
                    <p:nvPicPr>
                      <p:cNvPr id="0" name="Picture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5661025"/>
                        <a:ext cx="86360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5" name="Rectangle 19"/>
          <p:cNvSpPr>
            <a:spLocks noChangeArrowheads="1"/>
          </p:cNvSpPr>
          <p:nvPr/>
        </p:nvSpPr>
        <p:spPr bwMode="auto">
          <a:xfrm>
            <a:off x="179388" y="5157788"/>
            <a:ext cx="857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由于</a:t>
            </a:r>
            <a:r>
              <a:rPr lang="zh-CN" altLang="en-US"/>
              <a:t> </a:t>
            </a:r>
          </a:p>
        </p:txBody>
      </p:sp>
      <p:sp>
        <p:nvSpPr>
          <p:cNvPr id="86036" name="Rectangle 20"/>
          <p:cNvSpPr>
            <a:spLocks noChangeArrowheads="1"/>
          </p:cNvSpPr>
          <p:nvPr/>
        </p:nvSpPr>
        <p:spPr bwMode="auto">
          <a:xfrm>
            <a:off x="1403350" y="5229225"/>
            <a:ext cx="2076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涉及到累加列</a:t>
            </a:r>
            <a:r>
              <a:rPr lang="zh-CN" altLang="en-US"/>
              <a:t> </a:t>
            </a:r>
          </a:p>
        </p:txBody>
      </p:sp>
      <p:sp>
        <p:nvSpPr>
          <p:cNvPr id="86037" name="Rectangle 21"/>
          <p:cNvSpPr>
            <a:spLocks noChangeArrowheads="1"/>
          </p:cNvSpPr>
          <p:nvPr/>
        </p:nvSpPr>
        <p:spPr bwMode="auto">
          <a:xfrm>
            <a:off x="3851275" y="5229225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的两个时刻的值，因此，</a:t>
            </a:r>
            <a:r>
              <a:rPr lang="zh-CN" altLang="en-US"/>
              <a:t> </a:t>
            </a:r>
          </a:p>
        </p:txBody>
      </p:sp>
      <p:sp>
        <p:nvSpPr>
          <p:cNvPr id="86038" name="Rectangle 22"/>
          <p:cNvSpPr>
            <a:spLocks noChangeArrowheads="1"/>
          </p:cNvSpPr>
          <p:nvPr/>
        </p:nvSpPr>
        <p:spPr bwMode="auto">
          <a:xfrm>
            <a:off x="0" y="5734050"/>
            <a:ext cx="6207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ea typeface="黑体" panose="02010609060101010101" pitchFamily="49" charset="-122"/>
              </a:rPr>
              <a:t>  </a:t>
            </a:r>
            <a:r>
              <a:rPr lang="zh-CN" altLang="en-US" sz="2400">
                <a:ea typeface="黑体" panose="02010609060101010101" pitchFamily="49" charset="-122"/>
              </a:rPr>
              <a:t>取前后两个时刻的平均代替更为合理，即将</a:t>
            </a:r>
            <a:r>
              <a:rPr lang="zh-CN" altLang="en-US"/>
              <a:t> </a:t>
            </a:r>
          </a:p>
        </p:txBody>
      </p:sp>
      <p:sp>
        <p:nvSpPr>
          <p:cNvPr id="86039" name="Rectangle 23"/>
          <p:cNvSpPr>
            <a:spLocks noChangeArrowheads="1"/>
          </p:cNvSpPr>
          <p:nvPr/>
        </p:nvSpPr>
        <p:spPr bwMode="auto">
          <a:xfrm>
            <a:off x="6948488" y="5661025"/>
            <a:ext cx="1162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替换为</a:t>
            </a:r>
            <a:r>
              <a:rPr lang="zh-CN" altLang="en-US"/>
              <a:t> </a:t>
            </a:r>
          </a:p>
        </p:txBody>
      </p:sp>
      <p:sp>
        <p:nvSpPr>
          <p:cNvPr id="86041" name="Rectangle 25"/>
          <p:cNvSpPr>
            <a:spLocks noChangeArrowheads="1"/>
          </p:cNvSpPr>
          <p:nvPr/>
        </p:nvSpPr>
        <p:spPr bwMode="auto">
          <a:xfrm>
            <a:off x="323850" y="1223963"/>
            <a:ext cx="552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把</a:t>
            </a:r>
            <a:r>
              <a:rPr lang="zh-CN" altLang="en-US"/>
              <a:t> </a:t>
            </a:r>
          </a:p>
        </p:txBody>
      </p:sp>
      <p:sp>
        <p:nvSpPr>
          <p:cNvPr id="86042" name="Rectangle 26"/>
          <p:cNvSpPr>
            <a:spLocks noChangeArrowheads="1"/>
          </p:cNvSpPr>
          <p:nvPr/>
        </p:nvSpPr>
        <p:spPr bwMode="auto">
          <a:xfrm>
            <a:off x="1835150" y="1196975"/>
            <a:ext cx="5429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项移到右边，并写成向量的数量积形式</a:t>
            </a:r>
            <a:r>
              <a:rPr lang="zh-CN" altLang="en-US"/>
              <a:t> </a:t>
            </a:r>
          </a:p>
        </p:txBody>
      </p:sp>
      <p:sp>
        <p:nvSpPr>
          <p:cNvPr id="86046" name="Rectangle 30"/>
          <p:cNvSpPr>
            <a:spLocks noChangeArrowheads="1"/>
          </p:cNvSpPr>
          <p:nvPr/>
        </p:nvSpPr>
        <p:spPr bwMode="auto">
          <a:xfrm>
            <a:off x="7380288" y="3068638"/>
            <a:ext cx="874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/>
              <a:t>(7.5)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7.2 </a:t>
            </a:r>
            <a:r>
              <a:rPr lang="zh-CN" altLang="en-US" sz="2000"/>
              <a:t>灰色系统的模型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179388" y="2060575"/>
            <a:ext cx="3956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将（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7.5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）写为矩阵表达式</a:t>
            </a:r>
          </a:p>
        </p:txBody>
      </p:sp>
      <p:graphicFrame>
        <p:nvGraphicFramePr>
          <p:cNvPr id="88069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2124075" y="4508500"/>
          <a:ext cx="45354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06" name="Equation" r:id="rId3" imgW="2070100" imgH="228600" progId="Equation.DSMT4">
                  <p:embed/>
                </p:oleObj>
              </mc:Choice>
              <mc:Fallback>
                <p:oleObj name="Equation" r:id="rId3" imgW="2070100" imgH="228600" progId="Equation.DSMT4">
                  <p:embed/>
                  <p:pic>
                    <p:nvPicPr>
                      <p:cNvPr id="0" name="Picture 6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508500"/>
                        <a:ext cx="453548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3" name="Rectangle 9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8072" name="Object 8"/>
          <p:cNvGraphicFramePr>
            <a:graphicFrameLocks noChangeAspect="1"/>
          </p:cNvGraphicFramePr>
          <p:nvPr/>
        </p:nvGraphicFramePr>
        <p:xfrm>
          <a:off x="1619250" y="2565400"/>
          <a:ext cx="5472113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07" name="Equation" r:id="rId5" imgW="2857500" imgH="939800" progId="Equation.DSMT4">
                  <p:embed/>
                </p:oleObj>
              </mc:Choice>
              <mc:Fallback>
                <p:oleObj name="Equation" r:id="rId5" imgW="2857500" imgH="939800" progId="Equation.DSMT4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565400"/>
                        <a:ext cx="5472113" cy="180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4" name="Rectangle 10"/>
          <p:cNvSpPr>
            <a:spLocks noChangeArrowheads="1"/>
          </p:cNvSpPr>
          <p:nvPr/>
        </p:nvSpPr>
        <p:spPr bwMode="auto">
          <a:xfrm>
            <a:off x="179388" y="4464050"/>
            <a:ext cx="755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令</a:t>
            </a:r>
          </a:p>
        </p:txBody>
      </p:sp>
      <p:sp>
        <p:nvSpPr>
          <p:cNvPr id="88078" name="Rectangle 14"/>
          <p:cNvSpPr>
            <a:spLocks noChangeArrowheads="1"/>
          </p:cNvSpPr>
          <p:nvPr/>
        </p:nvSpPr>
        <p:spPr bwMode="auto">
          <a:xfrm>
            <a:off x="395288" y="5472113"/>
            <a:ext cx="292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这里，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表示转置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</a:p>
        </p:txBody>
      </p:sp>
      <p:graphicFrame>
        <p:nvGraphicFramePr>
          <p:cNvPr id="880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081589"/>
              </p:ext>
            </p:extLst>
          </p:nvPr>
        </p:nvGraphicFramePr>
        <p:xfrm>
          <a:off x="1984375" y="1160463"/>
          <a:ext cx="4814888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08" name="Equation" r:id="rId7" imgW="2197080" imgH="393480" progId="Equation.DSMT4">
                  <p:embed/>
                </p:oleObj>
              </mc:Choice>
              <mc:Fallback>
                <p:oleObj name="Equation" r:id="rId7" imgW="2197080" imgH="393480" progId="Equation.DSMT4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75" y="1160463"/>
                        <a:ext cx="4814888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80" name="Rectangle 16"/>
          <p:cNvSpPr>
            <a:spLocks noChangeArrowheads="1"/>
          </p:cNvSpPr>
          <p:nvPr/>
        </p:nvSpPr>
        <p:spPr bwMode="auto">
          <a:xfrm>
            <a:off x="7380288" y="3141663"/>
            <a:ext cx="874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/>
              <a:t>(7.6)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7.2 </a:t>
            </a:r>
            <a:r>
              <a:rPr lang="zh-CN" altLang="en-US" sz="2000"/>
              <a:t>灰色系统的模型</a:t>
            </a:r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1140" name="Object 4"/>
          <p:cNvGraphicFramePr>
            <a:graphicFrameLocks noChangeAspect="1"/>
          </p:cNvGraphicFramePr>
          <p:nvPr/>
        </p:nvGraphicFramePr>
        <p:xfrm>
          <a:off x="2124075" y="1268413"/>
          <a:ext cx="5832475" cy="206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76" name="Equation" r:id="rId3" imgW="2667000" imgH="939800" progId="Equation.DSMT4">
                  <p:embed/>
                </p:oleObj>
              </mc:Choice>
              <mc:Fallback>
                <p:oleObj name="Equation" r:id="rId3" imgW="2667000" imgH="939800" progId="Equation.DSMT4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268413"/>
                        <a:ext cx="5832475" cy="206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179388" y="3455988"/>
            <a:ext cx="338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(7.6)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式的矩阵形式为</a:t>
            </a:r>
          </a:p>
        </p:txBody>
      </p:sp>
      <p:sp>
        <p:nvSpPr>
          <p:cNvPr id="91144" name="Rectangle 8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1143" name="Object 7"/>
          <p:cNvGraphicFramePr>
            <a:graphicFrameLocks noChangeAspect="1"/>
          </p:cNvGraphicFramePr>
          <p:nvPr/>
        </p:nvGraphicFramePr>
        <p:xfrm>
          <a:off x="3419475" y="3860800"/>
          <a:ext cx="129698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77" name="Equation" r:id="rId5" imgW="507780" imgH="203112" progId="Equation.DSMT4">
                  <p:embed/>
                </p:oleObj>
              </mc:Choice>
              <mc:Fallback>
                <p:oleObj name="Equation" r:id="rId5" imgW="507780" imgH="203112" progId="Equation.DSMT4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860800"/>
                        <a:ext cx="1296988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5" name="Rectangle 9"/>
          <p:cNvSpPr>
            <a:spLocks noChangeArrowheads="1"/>
          </p:cNvSpPr>
          <p:nvPr/>
        </p:nvSpPr>
        <p:spPr bwMode="auto">
          <a:xfrm>
            <a:off x="107950" y="4292600"/>
            <a:ext cx="532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方程组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(7.6)</a:t>
            </a:r>
            <a:r>
              <a:rPr lang="en-US" altLang="zh-CN" sz="2400">
                <a:ea typeface="黑体" panose="02010609060101010101" pitchFamily="49" charset="-122"/>
              </a:rPr>
              <a:t>’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的最小二乘估计为</a:t>
            </a:r>
            <a:r>
              <a:rPr lang="zh-CN" altLang="en-US"/>
              <a:t> </a:t>
            </a:r>
          </a:p>
        </p:txBody>
      </p:sp>
      <p:graphicFrame>
        <p:nvGraphicFramePr>
          <p:cNvPr id="91146" name="Object 10"/>
          <p:cNvGraphicFramePr>
            <a:graphicFrameLocks noChangeAspect="1"/>
          </p:cNvGraphicFramePr>
          <p:nvPr/>
        </p:nvGraphicFramePr>
        <p:xfrm>
          <a:off x="3276600" y="4797425"/>
          <a:ext cx="3455988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78" name="Equation" r:id="rId7" imgW="1435100" imgH="457200" progId="Equation.DSMT4">
                  <p:embed/>
                </p:oleObj>
              </mc:Choice>
              <mc:Fallback>
                <p:oleObj name="Equation" r:id="rId7" imgW="1435100" imgH="457200" progId="Equation.DSMT4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97425"/>
                        <a:ext cx="3455988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9" name="Rectangle 13"/>
          <p:cNvSpPr>
            <a:spLocks noChangeArrowheads="1"/>
          </p:cNvSpPr>
          <p:nvPr/>
        </p:nvSpPr>
        <p:spPr bwMode="auto">
          <a:xfrm>
            <a:off x="7308850" y="3787775"/>
            <a:ext cx="879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(7.6)’</a:t>
            </a:r>
          </a:p>
        </p:txBody>
      </p:sp>
      <p:sp>
        <p:nvSpPr>
          <p:cNvPr id="91150" name="Rectangle 14"/>
          <p:cNvSpPr>
            <a:spLocks noChangeArrowheads="1"/>
          </p:cNvSpPr>
          <p:nvPr/>
        </p:nvSpPr>
        <p:spPr bwMode="auto">
          <a:xfrm>
            <a:off x="7308850" y="5084763"/>
            <a:ext cx="811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(7.7)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7.2 </a:t>
            </a:r>
            <a:r>
              <a:rPr lang="zh-CN" altLang="en-US" sz="2000"/>
              <a:t>灰色系统的模型</a:t>
            </a:r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395288" y="1296988"/>
            <a:ext cx="1466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把估计值</a:t>
            </a:r>
            <a:r>
              <a:rPr lang="zh-CN" altLang="en-US"/>
              <a:t> </a:t>
            </a:r>
          </a:p>
        </p:txBody>
      </p:sp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2165" name="Object 5"/>
          <p:cNvGraphicFramePr>
            <a:graphicFrameLocks noChangeAspect="1"/>
          </p:cNvGraphicFramePr>
          <p:nvPr/>
        </p:nvGraphicFramePr>
        <p:xfrm>
          <a:off x="1692275" y="1341438"/>
          <a:ext cx="7207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96" name="Equation" r:id="rId3" imgW="355292" imgH="203024" progId="Equation.DSMT4">
                  <p:embed/>
                </p:oleObj>
              </mc:Choice>
              <mc:Fallback>
                <p:oleObj name="Equation" r:id="rId3" imgW="355292" imgH="203024" progId="Equation.DSMT4">
                  <p:embed/>
                  <p:pic>
                    <p:nvPicPr>
                      <p:cNvPr id="0" name="Picture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341438"/>
                        <a:ext cx="720725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7" name="Rectangle 7"/>
          <p:cNvSpPr>
            <a:spLocks noChangeArrowheads="1"/>
          </p:cNvSpPr>
          <p:nvPr/>
        </p:nvSpPr>
        <p:spPr bwMode="auto">
          <a:xfrm>
            <a:off x="2411413" y="1311275"/>
            <a:ext cx="445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代入（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7.4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）式得时间响应方程 </a:t>
            </a:r>
          </a:p>
        </p:txBody>
      </p:sp>
      <p:sp>
        <p:nvSpPr>
          <p:cNvPr id="92169" name="Rectangle 9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2168" name="Object 8"/>
          <p:cNvGraphicFramePr>
            <a:graphicFrameLocks noChangeAspect="1"/>
          </p:cNvGraphicFramePr>
          <p:nvPr/>
        </p:nvGraphicFramePr>
        <p:xfrm>
          <a:off x="1619250" y="1844675"/>
          <a:ext cx="38893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97" name="Equation" r:id="rId5" imgW="1993900" imgH="431800" progId="Equation.DSMT4">
                  <p:embed/>
                </p:oleObj>
              </mc:Choice>
              <mc:Fallback>
                <p:oleObj name="Equation" r:id="rId5" imgW="1993900" imgH="431800" progId="Equation.DSMT4">
                  <p:embed/>
                  <p:pic>
                    <p:nvPicPr>
                      <p:cNvPr id="0" name="Picture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844675"/>
                        <a:ext cx="3889375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1" name="Rectangle 1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2170" name="Object 10"/>
          <p:cNvGraphicFramePr>
            <a:graphicFrameLocks noChangeAspect="1"/>
          </p:cNvGraphicFramePr>
          <p:nvPr/>
        </p:nvGraphicFramePr>
        <p:xfrm>
          <a:off x="539750" y="2781300"/>
          <a:ext cx="31686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98" name="Equation" r:id="rId7" imgW="1345616" imgH="215806" progId="Equation.DSMT4">
                  <p:embed/>
                </p:oleObj>
              </mc:Choice>
              <mc:Fallback>
                <p:oleObj name="Equation" r:id="rId7" imgW="1345616" imgH="215806" progId="Equation.DSMT4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781300"/>
                        <a:ext cx="3168650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2" name="Rectangle 12"/>
          <p:cNvSpPr>
            <a:spLocks noChangeArrowheads="1"/>
          </p:cNvSpPr>
          <p:nvPr/>
        </p:nvSpPr>
        <p:spPr bwMode="auto">
          <a:xfrm>
            <a:off x="3708400" y="2708275"/>
            <a:ext cx="2533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(7.8)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式算得的</a:t>
            </a:r>
            <a:r>
              <a:rPr lang="zh-CN" altLang="en-US"/>
              <a:t> </a:t>
            </a:r>
          </a:p>
        </p:txBody>
      </p:sp>
      <p:sp>
        <p:nvSpPr>
          <p:cNvPr id="92174" name="Rectangle 1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2173" name="Object 13"/>
          <p:cNvGraphicFramePr>
            <a:graphicFrameLocks noChangeAspect="1"/>
          </p:cNvGraphicFramePr>
          <p:nvPr/>
        </p:nvGraphicFramePr>
        <p:xfrm>
          <a:off x="6084888" y="2708275"/>
          <a:ext cx="1152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99" name="Equation" r:id="rId9" imgW="622300" imgH="228600" progId="Equation.DSMT4">
                  <p:embed/>
                </p:oleObj>
              </mc:Choice>
              <mc:Fallback>
                <p:oleObj name="Equation" r:id="rId9" imgW="622300" imgH="228600" progId="Equation.DSMT4">
                  <p:embed/>
                  <p:pic>
                    <p:nvPicPr>
                      <p:cNvPr id="0" name="Picture 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708275"/>
                        <a:ext cx="1152525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5" name="Rectangle 15"/>
          <p:cNvSpPr>
            <a:spLocks noChangeArrowheads="1"/>
          </p:cNvSpPr>
          <p:nvPr/>
        </p:nvSpPr>
        <p:spPr bwMode="auto">
          <a:xfrm>
            <a:off x="7164388" y="2708275"/>
            <a:ext cx="1771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ea typeface="黑体" panose="02010609060101010101" pitchFamily="49" charset="-122"/>
              </a:rPr>
              <a:t>是</a:t>
            </a:r>
            <a:r>
              <a:rPr lang="zh-CN" altLang="en-US" sz="2400" dirty="0">
                <a:solidFill>
                  <a:srgbClr val="0000FF"/>
                </a:solidFill>
                <a:ea typeface="黑体" panose="02010609060101010101" pitchFamily="49" charset="-122"/>
              </a:rPr>
              <a:t>拟合值</a:t>
            </a:r>
            <a:r>
              <a:rPr lang="zh-CN" altLang="en-US" sz="2400" dirty="0">
                <a:ea typeface="黑体" panose="02010609060101010101" pitchFamily="49" charset="-122"/>
              </a:rPr>
              <a:t>；</a:t>
            </a:r>
            <a:r>
              <a:rPr lang="zh-CN" altLang="en-US" dirty="0"/>
              <a:t> </a:t>
            </a:r>
          </a:p>
        </p:txBody>
      </p:sp>
      <p:graphicFrame>
        <p:nvGraphicFramePr>
          <p:cNvPr id="92176" name="Object 16"/>
          <p:cNvGraphicFramePr>
            <a:graphicFrameLocks noChangeAspect="1"/>
          </p:cNvGraphicFramePr>
          <p:nvPr/>
        </p:nvGraphicFramePr>
        <p:xfrm>
          <a:off x="539750" y="3357563"/>
          <a:ext cx="18002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00" name="Equation" r:id="rId11" imgW="723586" imgH="203112" progId="Equation.DSMT4">
                  <p:embed/>
                </p:oleObj>
              </mc:Choice>
              <mc:Fallback>
                <p:oleObj name="Equation" r:id="rId11" imgW="723586" imgH="203112" progId="Equation.DSMT4">
                  <p:embed/>
                  <p:pic>
                    <p:nvPicPr>
                      <p:cNvPr id="0" name="Picture 2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357563"/>
                        <a:ext cx="18002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8" name="Rectangle 18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2177" name="Object 17"/>
          <p:cNvGraphicFramePr>
            <a:graphicFrameLocks noChangeAspect="1"/>
          </p:cNvGraphicFramePr>
          <p:nvPr/>
        </p:nvGraphicFramePr>
        <p:xfrm>
          <a:off x="2411413" y="3357563"/>
          <a:ext cx="13684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01" name="Equation" r:id="rId13" imgW="622300" imgH="228600" progId="Equation.DSMT4">
                  <p:embed/>
                </p:oleObj>
              </mc:Choice>
              <mc:Fallback>
                <p:oleObj name="Equation" r:id="rId13" imgW="622300" imgH="228600" progId="Equation.DSMT4">
                  <p:embed/>
                  <p:pic>
                    <p:nvPicPr>
                      <p:cNvPr id="0" name="Picture 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357563"/>
                        <a:ext cx="1368425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9" name="Rectangle 19"/>
          <p:cNvSpPr>
            <a:spLocks noChangeArrowheads="1"/>
          </p:cNvSpPr>
          <p:nvPr/>
        </p:nvSpPr>
        <p:spPr bwMode="auto">
          <a:xfrm>
            <a:off x="3708400" y="3284538"/>
            <a:ext cx="4972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预报值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这是相对于一次累加序列</a:t>
            </a:r>
            <a:r>
              <a:rPr lang="zh-CN" altLang="en-US" dirty="0"/>
              <a:t> </a:t>
            </a:r>
          </a:p>
        </p:txBody>
      </p:sp>
      <p:sp>
        <p:nvSpPr>
          <p:cNvPr id="92181" name="Rectangle 21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2180" name="Object 20"/>
          <p:cNvGraphicFramePr>
            <a:graphicFrameLocks noChangeAspect="1"/>
          </p:cNvGraphicFramePr>
          <p:nvPr/>
        </p:nvGraphicFramePr>
        <p:xfrm>
          <a:off x="611188" y="3860800"/>
          <a:ext cx="57626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02" name="Equation" r:id="rId14" imgW="241195" imgH="203112" progId="Equation.DSMT4">
                  <p:embed/>
                </p:oleObj>
              </mc:Choice>
              <mc:Fallback>
                <p:oleObj name="Equation" r:id="rId14" imgW="241195" imgH="203112" progId="Equation.DSMT4">
                  <p:embed/>
                  <p:pic>
                    <p:nvPicPr>
                      <p:cNvPr id="0" name="Picture 2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860800"/>
                        <a:ext cx="576262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82" name="Rectangle 22"/>
          <p:cNvSpPr>
            <a:spLocks noChangeArrowheads="1"/>
          </p:cNvSpPr>
          <p:nvPr/>
        </p:nvSpPr>
        <p:spPr bwMode="auto">
          <a:xfrm>
            <a:off x="1116013" y="3933825"/>
            <a:ext cx="4210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ea typeface="黑体" panose="02010609060101010101" pitchFamily="49" charset="-122"/>
              </a:rPr>
              <a:t>的拟合值，</a:t>
            </a:r>
            <a:r>
              <a:rPr lang="zh-CN" altLang="en-US" sz="2400" dirty="0">
                <a:solidFill>
                  <a:srgbClr val="0000FF"/>
                </a:solidFill>
                <a:ea typeface="黑体" panose="02010609060101010101" pitchFamily="49" charset="-122"/>
              </a:rPr>
              <a:t>用后减运算还原</a:t>
            </a:r>
            <a:r>
              <a:rPr lang="zh-CN" altLang="en-US" sz="2400" dirty="0">
                <a:ea typeface="黑体" panose="02010609060101010101" pitchFamily="49" charset="-122"/>
              </a:rPr>
              <a:t>，</a:t>
            </a:r>
            <a:r>
              <a:rPr lang="zh-CN" altLang="en-US" dirty="0"/>
              <a:t> </a:t>
            </a:r>
          </a:p>
        </p:txBody>
      </p:sp>
      <p:sp>
        <p:nvSpPr>
          <p:cNvPr id="92184" name="Rectangle 24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2183" name="Object 23"/>
          <p:cNvGraphicFramePr>
            <a:graphicFrameLocks noChangeAspect="1"/>
          </p:cNvGraphicFramePr>
          <p:nvPr/>
        </p:nvGraphicFramePr>
        <p:xfrm>
          <a:off x="5003800" y="3933825"/>
          <a:ext cx="30972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03" name="Equation" r:id="rId16" imgW="1345616" imgH="215806" progId="Equation.DSMT4">
                  <p:embed/>
                </p:oleObj>
              </mc:Choice>
              <mc:Fallback>
                <p:oleObj name="Equation" r:id="rId16" imgW="1345616" imgH="215806" progId="Equation.DSMT4">
                  <p:embed/>
                  <p:pic>
                    <p:nvPicPr>
                      <p:cNvPr id="0" name="Picture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933825"/>
                        <a:ext cx="3097213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85" name="Rectangle 25"/>
          <p:cNvSpPr>
            <a:spLocks noChangeArrowheads="1"/>
          </p:cNvSpPr>
          <p:nvPr/>
        </p:nvSpPr>
        <p:spPr bwMode="auto">
          <a:xfrm>
            <a:off x="539750" y="4508500"/>
            <a:ext cx="2381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就可得原始序列</a:t>
            </a:r>
            <a:r>
              <a:rPr lang="zh-CN" altLang="en-US"/>
              <a:t> </a:t>
            </a:r>
          </a:p>
        </p:txBody>
      </p:sp>
      <p:sp>
        <p:nvSpPr>
          <p:cNvPr id="92187" name="Rectangle 2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2186" name="Object 26"/>
          <p:cNvGraphicFramePr>
            <a:graphicFrameLocks noChangeAspect="1"/>
          </p:cNvGraphicFramePr>
          <p:nvPr/>
        </p:nvGraphicFramePr>
        <p:xfrm>
          <a:off x="2771775" y="4508500"/>
          <a:ext cx="5461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04" name="Equation" r:id="rId17" imgW="253780" imgH="203024" progId="Equation.DSMT4">
                  <p:embed/>
                </p:oleObj>
              </mc:Choice>
              <mc:Fallback>
                <p:oleObj name="Equation" r:id="rId17" imgW="253780" imgH="203024" progId="Equation.DSMT4">
                  <p:embed/>
                  <p:pic>
                    <p:nvPicPr>
                      <p:cNvPr id="0" name="Picture 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508500"/>
                        <a:ext cx="546100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88" name="Rectangle 28"/>
          <p:cNvSpPr>
            <a:spLocks noChangeArrowheads="1"/>
          </p:cNvSpPr>
          <p:nvPr/>
        </p:nvSpPr>
        <p:spPr bwMode="auto">
          <a:xfrm>
            <a:off x="3276600" y="4508500"/>
            <a:ext cx="1466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的拟合值</a:t>
            </a:r>
            <a:r>
              <a:rPr lang="zh-CN" altLang="en-US"/>
              <a:t> </a:t>
            </a:r>
          </a:p>
        </p:txBody>
      </p:sp>
      <p:sp>
        <p:nvSpPr>
          <p:cNvPr id="92190" name="Rectangle 30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2189" name="Object 29"/>
          <p:cNvGraphicFramePr>
            <a:graphicFrameLocks noChangeAspect="1"/>
          </p:cNvGraphicFramePr>
          <p:nvPr/>
        </p:nvGraphicFramePr>
        <p:xfrm>
          <a:off x="4572000" y="4508500"/>
          <a:ext cx="143986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05" name="Equation" r:id="rId19" imgW="660400" imgH="228600" progId="Equation.DSMT4">
                  <p:embed/>
                </p:oleObj>
              </mc:Choice>
              <mc:Fallback>
                <p:oleObj name="Equation" r:id="rId19" imgW="660400" imgH="228600" progId="Equation.DSMT4">
                  <p:embed/>
                  <p:pic>
                    <p:nvPicPr>
                      <p:cNvPr id="0" name="Picture 2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08500"/>
                        <a:ext cx="1439863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1" name="Object 31"/>
          <p:cNvGraphicFramePr>
            <a:graphicFrameLocks noChangeAspect="1"/>
          </p:cNvGraphicFramePr>
          <p:nvPr/>
        </p:nvGraphicFramePr>
        <p:xfrm>
          <a:off x="6084888" y="4508500"/>
          <a:ext cx="1582737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06" name="Equation" r:id="rId21" imgW="723586" imgH="203112" progId="Equation.DSMT4">
                  <p:embed/>
                </p:oleObj>
              </mc:Choice>
              <mc:Fallback>
                <p:oleObj name="Equation" r:id="rId21" imgW="723586" imgH="203112" progId="Equation.DSMT4">
                  <p:embed/>
                  <p:pic>
                    <p:nvPicPr>
                      <p:cNvPr id="0" name="Picture 2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4508500"/>
                        <a:ext cx="1582737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2" name="Rectangle 32"/>
          <p:cNvSpPr>
            <a:spLocks noChangeArrowheads="1"/>
          </p:cNvSpPr>
          <p:nvPr/>
        </p:nvSpPr>
        <p:spPr bwMode="auto">
          <a:xfrm>
            <a:off x="468313" y="5084763"/>
            <a:ext cx="2076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ea typeface="黑体" panose="02010609060101010101" pitchFamily="49" charset="-122"/>
              </a:rPr>
              <a:t>可得原始序列</a:t>
            </a:r>
            <a:r>
              <a:rPr lang="zh-CN" altLang="en-US"/>
              <a:t> </a:t>
            </a:r>
          </a:p>
        </p:txBody>
      </p:sp>
      <p:graphicFrame>
        <p:nvGraphicFramePr>
          <p:cNvPr id="92193" name="Object 33"/>
          <p:cNvGraphicFramePr>
            <a:graphicFrameLocks noChangeAspect="1"/>
          </p:cNvGraphicFramePr>
          <p:nvPr/>
        </p:nvGraphicFramePr>
        <p:xfrm>
          <a:off x="2411413" y="5084763"/>
          <a:ext cx="57626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07" name="Equation" r:id="rId23" imgW="253780" imgH="203024" progId="Equation.DSMT4">
                  <p:embed/>
                </p:oleObj>
              </mc:Choice>
              <mc:Fallback>
                <p:oleObj name="Equation" r:id="rId23" imgW="253780" imgH="203024" progId="Equation.DSMT4">
                  <p:embed/>
                  <p:pic>
                    <p:nvPicPr>
                      <p:cNvPr id="0" name="Picture 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084763"/>
                        <a:ext cx="576262" cy="44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4" name="Rectangle 34"/>
          <p:cNvSpPr>
            <a:spLocks noChangeArrowheads="1"/>
          </p:cNvSpPr>
          <p:nvPr/>
        </p:nvSpPr>
        <p:spPr bwMode="auto">
          <a:xfrm>
            <a:off x="2987675" y="5084763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预报值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92195" name="Rectangle 35"/>
          <p:cNvSpPr>
            <a:spLocks noChangeArrowheads="1"/>
          </p:cNvSpPr>
          <p:nvPr/>
        </p:nvSpPr>
        <p:spPr bwMode="auto">
          <a:xfrm>
            <a:off x="7308850" y="1989138"/>
            <a:ext cx="811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/>
              <a:t>(7.8)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7.2 </a:t>
            </a:r>
            <a:r>
              <a:rPr lang="zh-CN" altLang="en-US" sz="2000"/>
              <a:t>灰色系统的模型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1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8312" y="1052513"/>
                <a:ext cx="8568183" cy="5184775"/>
              </a:xfrm>
            </p:spPr>
            <p:txBody>
              <a:bodyPr/>
              <a:lstStyle/>
              <a:p>
                <a:pPr>
                  <a:buFontTx/>
                  <a:buNone/>
                </a:pPr>
                <a:r>
                  <a:rPr lang="en-US" altLang="zh-CN" sz="2400" b="0" dirty="0">
                    <a:solidFill>
                      <a:schemeClr val="hlink"/>
                    </a:solidFill>
                    <a:latin typeface="黑体" panose="02010609060101010101" pitchFamily="49" charset="-122"/>
                  </a:rPr>
                  <a:t>3.</a:t>
                </a:r>
                <a:r>
                  <a:rPr lang="zh-CN" altLang="en-US" sz="2400" b="0" dirty="0">
                    <a:solidFill>
                      <a:schemeClr val="hlink"/>
                    </a:solidFill>
                    <a:latin typeface="黑体" panose="02010609060101010101" pitchFamily="49" charset="-122"/>
                  </a:rPr>
                  <a:t>精度检验</a:t>
                </a:r>
              </a:p>
              <a:p>
                <a:pPr>
                  <a:buFontTx/>
                  <a:buNone/>
                </a:pPr>
                <a:r>
                  <a:rPr lang="zh-CN" altLang="en-US" sz="2000" b="0" dirty="0">
                    <a:latin typeface="黑体" panose="02010609060101010101" pitchFamily="49" charset="-122"/>
                  </a:rPr>
                  <a:t>   </a:t>
                </a:r>
                <a:r>
                  <a:rPr lang="en-US" altLang="zh-CN" sz="2000" b="0" dirty="0">
                    <a:latin typeface="黑体" panose="02010609060101010101" pitchFamily="49" charset="-122"/>
                  </a:rPr>
                  <a:t>(1)</a:t>
                </a:r>
                <a:r>
                  <a:rPr lang="zh-CN" altLang="en-US" sz="2000" b="0" dirty="0">
                    <a:latin typeface="黑体" panose="02010609060101010101" pitchFamily="49" charset="-122"/>
                  </a:rPr>
                  <a:t>残差检验：分别计算</a:t>
                </a:r>
                <a:endParaRPr lang="en-US" altLang="zh-CN" sz="2000" b="0" dirty="0">
                  <a:latin typeface="黑体" panose="02010609060101010101" pitchFamily="49" charset="-122"/>
                </a:endParaRPr>
              </a:p>
              <a:p>
                <a:pPr>
                  <a:buFontTx/>
                  <a:buNone/>
                </a:pPr>
                <a:r>
                  <a:rPr lang="en-US" altLang="zh-CN" sz="2000" b="0" dirty="0">
                    <a:latin typeface="黑体" panose="02010609060101010101" pitchFamily="49" charset="-122"/>
                  </a:rPr>
                  <a:t>		</a:t>
                </a:r>
                <a:r>
                  <a:rPr lang="zh-CN" altLang="en-US" sz="2000" b="0" dirty="0">
                    <a:latin typeface="黑体" panose="02010609060101010101" pitchFamily="49" charset="-122"/>
                  </a:rPr>
                  <a:t>残差</a:t>
                </a:r>
                <a14:m>
                  <m:oMath xmlns:m="http://schemas.openxmlformats.org/officeDocument/2006/math">
                    <m:r>
                      <a:rPr lang="zh-CN" altLang="en-US" sz="2000" b="0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=2,3,⋯,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altLang="zh-CN" sz="2000" b="0" dirty="0">
                  <a:latin typeface="黑体" panose="02010609060101010101" pitchFamily="49" charset="-122"/>
                </a:endParaRPr>
              </a:p>
              <a:p>
                <a:pPr>
                  <a:buNone/>
                </a:pPr>
                <a:r>
                  <a:rPr lang="en-US" altLang="zh-CN" sz="2000" b="0" dirty="0">
                    <a:latin typeface="黑体" panose="02010609060101010101" pitchFamily="49" charset="-122"/>
                  </a:rPr>
                  <a:t>		</a:t>
                </a:r>
                <a14:m>
                  <m:oMath xmlns:m="http://schemas.openxmlformats.org/officeDocument/2006/math">
                    <m:r>
                      <a:rPr lang="zh-CN" altLang="en-US" sz="2000" b="0" i="1" dirty="0">
                        <a:latin typeface="Cambria Math" panose="02040503050406030204" pitchFamily="18" charset="0"/>
                      </a:rPr>
                      <m:t>相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</a:rPr>
                      <m:t>对</m:t>
                    </m:r>
                    <m:r>
                      <a:rPr lang="zh-CN" altLang="en-US" sz="2000" b="0" i="1" dirty="0">
                        <a:latin typeface="Cambria Math" panose="02040503050406030204" pitchFamily="18" charset="0"/>
                      </a:rPr>
                      <m:t>残差</m:t>
                    </m:r>
                    <m:r>
                      <a:rPr lang="zh-CN" altLang="en-US" sz="2000" b="0" i="1" dirty="0" smtClean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)/</m:t>
                    </m:r>
                    <m:sSup>
                      <m:sSup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=2,3,⋯,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altLang="zh-CN" sz="2000" b="0" dirty="0">
                  <a:latin typeface="黑体" panose="02010609060101010101" pitchFamily="49" charset="-122"/>
                </a:endParaRPr>
              </a:p>
              <a:p>
                <a:pPr>
                  <a:buFontTx/>
                  <a:buNone/>
                </a:pPr>
                <a:r>
                  <a:rPr lang="zh-CN" altLang="en-US" sz="2000" b="0" dirty="0">
                    <a:latin typeface="黑体" panose="02010609060101010101" pitchFamily="49" charset="-122"/>
                  </a:rPr>
                  <a:t> </a:t>
                </a:r>
                <a:r>
                  <a:rPr lang="en-US" altLang="zh-CN" sz="2000" b="0" dirty="0">
                    <a:latin typeface="黑体" panose="02010609060101010101" pitchFamily="49" charset="-122"/>
                  </a:rPr>
                  <a:t>	(2)</a:t>
                </a:r>
                <a:r>
                  <a:rPr lang="zh-CN" altLang="en-US" sz="2000" b="0" dirty="0">
                    <a:latin typeface="黑体" panose="02010609060101010101" pitchFamily="49" charset="-122"/>
                  </a:rPr>
                  <a:t>后验差检验：分别计算</a:t>
                </a:r>
                <a:endParaRPr lang="en-US" altLang="zh-CN" sz="2000" b="0" dirty="0">
                  <a:latin typeface="黑体" panose="02010609060101010101" pitchFamily="49" charset="-122"/>
                </a:endParaRPr>
              </a:p>
              <a:p>
                <a:pPr>
                  <a:buFontTx/>
                  <a:buNone/>
                </a:pPr>
                <a:r>
                  <a:rPr lang="en-US" altLang="zh-CN" sz="2000" b="0" dirty="0">
                    <a:latin typeface="黑体" panose="02010609060101010101" pitchFamily="49" charset="-122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000" b="0" dirty="0">
                    <a:latin typeface="黑体" panose="02010609060101010101" pitchFamily="49" charset="-122"/>
                  </a:rPr>
                  <a:t>均值：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endParaRPr lang="en-US" altLang="zh-CN" sz="2000" b="0" dirty="0">
                  <a:latin typeface="黑体" panose="02010609060101010101" pitchFamily="49" charset="-122"/>
                </a:endParaRPr>
              </a:p>
              <a:p>
                <a:pPr>
                  <a:buNone/>
                </a:pPr>
                <a:r>
                  <a:rPr lang="en-US" altLang="zh-CN" sz="2000" b="0" dirty="0">
                    <a:latin typeface="黑体" panose="02010609060101010101" pitchFamily="49" charset="-122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p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的方差</m:t>
                    </m:r>
                  </m:oMath>
                </a14:m>
                <a:r>
                  <a:rPr lang="zh-CN" altLang="en-US" sz="2000" b="0" dirty="0">
                    <a:latin typeface="黑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000" b="0" dirty="0">
                  <a:latin typeface="黑体" panose="02010609060101010101" pitchFamily="49" charset="-122"/>
                </a:endParaRPr>
              </a:p>
              <a:p>
                <a:pPr>
                  <a:buFontTx/>
                  <a:buNone/>
                </a:pPr>
                <a:r>
                  <a:rPr lang="en-US" altLang="zh-CN" sz="2000" b="0" dirty="0">
                    <a:latin typeface="黑体" panose="02010609060101010101" pitchFamily="49" charset="-122"/>
                  </a:rPr>
                  <a:t>		</a:t>
                </a:r>
                <a:r>
                  <a:rPr lang="zh-CN" altLang="en-US" sz="2000" b="0" dirty="0">
                    <a:latin typeface="黑体" panose="02010609060101010101" pitchFamily="49" charset="-122"/>
                  </a:rPr>
                  <a:t>残差</a:t>
                </a:r>
                <a14:m>
                  <m:oMath xmlns:m="http://schemas.openxmlformats.org/officeDocument/2006/math"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000" b="0" dirty="0">
                    <a:latin typeface="黑体" panose="02010609060101010101" pitchFamily="49" charset="-122"/>
                  </a:rPr>
                  <a:t>均值：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endParaRPr lang="en-US" altLang="zh-CN" sz="2000" b="0" dirty="0">
                  <a:latin typeface="黑体" panose="02010609060101010101" pitchFamily="49" charset="-122"/>
                </a:endParaRPr>
              </a:p>
              <a:p>
                <a:pPr>
                  <a:buNone/>
                </a:pPr>
                <a:r>
                  <a:rPr lang="en-US" altLang="zh-CN" sz="2000" b="0" dirty="0">
                    <a:latin typeface="黑体" panose="02010609060101010101" pitchFamily="49" charset="-122"/>
                  </a:rPr>
                  <a:t>		</a:t>
                </a:r>
                <a:r>
                  <a:rPr lang="zh-CN" altLang="en-US" sz="2000" b="0" dirty="0">
                    <a:latin typeface="黑体" panose="02010609060101010101" pitchFamily="49" charset="-122"/>
                  </a:rPr>
                  <a:t>残差</a:t>
                </a:r>
                <a14:m>
                  <m:oMath xmlns:m="http://schemas.openxmlformats.org/officeDocument/2006/math"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的方差</m:t>
                    </m:r>
                  </m:oMath>
                </a14:m>
                <a:r>
                  <a:rPr lang="zh-CN" altLang="en-US" sz="2000" b="0" dirty="0">
                    <a:latin typeface="黑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000" b="0" dirty="0">
                  <a:latin typeface="黑体" panose="02010609060101010101" pitchFamily="49" charset="-122"/>
                </a:endParaRPr>
              </a:p>
              <a:p>
                <a:pPr>
                  <a:buNone/>
                </a:pPr>
                <a:r>
                  <a:rPr lang="en-US" altLang="zh-CN" sz="2000" b="0" dirty="0">
                    <a:latin typeface="黑体" panose="02010609060101010101" pitchFamily="49" charset="-122"/>
                  </a:rPr>
                  <a:t>		</a:t>
                </a:r>
                <a:r>
                  <a:rPr lang="zh-CN" altLang="en-US" sz="2000" b="0" dirty="0">
                    <a:latin typeface="黑体" panose="02010609060101010101" pitchFamily="49" charset="-122"/>
                  </a:rPr>
                  <a:t>后验差比值：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000" b="0" dirty="0">
                  <a:latin typeface="黑体" panose="02010609060101010101" pitchFamily="49" charset="-122"/>
                </a:endParaRPr>
              </a:p>
              <a:p>
                <a:pPr>
                  <a:buNone/>
                </a:pPr>
                <a:r>
                  <a:rPr lang="en-US" altLang="zh-CN" sz="2000" b="0" dirty="0">
                    <a:latin typeface="黑体" panose="02010609060101010101" pitchFamily="49" charset="-122"/>
                  </a:rPr>
                  <a:t>		</a:t>
                </a:r>
                <a:r>
                  <a:rPr lang="zh-CN" altLang="en-US" sz="2000" b="0" dirty="0">
                    <a:latin typeface="黑体" panose="02010609060101010101" pitchFamily="49" charset="-122"/>
                  </a:rPr>
                  <a:t>小误差概率：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zh-CN" altLang="en-US" sz="2000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&lt;0.6745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0" dirty="0">
                    <a:latin typeface="黑体" panose="02010609060101010101" pitchFamily="49" charset="-122"/>
                  </a:rPr>
                  <a:t> （即误差小的概率）</a:t>
                </a:r>
                <a:endParaRPr lang="en-US" altLang="zh-CN" sz="2000" b="0" dirty="0">
                  <a:latin typeface="黑体" panose="02010609060101010101" pitchFamily="49" charset="-122"/>
                </a:endParaRPr>
              </a:p>
              <a:p>
                <a:pPr>
                  <a:buNone/>
                </a:pPr>
                <a:endParaRPr lang="en-US" altLang="zh-CN" sz="2000" b="0" dirty="0">
                  <a:latin typeface="黑体" panose="02010609060101010101" pitchFamily="49" charset="-122"/>
                </a:endParaRPr>
              </a:p>
              <a:p>
                <a:pPr>
                  <a:buFontTx/>
                  <a:buNone/>
                </a:pPr>
                <a:endParaRPr lang="en-US" altLang="zh-CN" sz="2000" b="0" dirty="0">
                  <a:latin typeface="黑体" panose="02010609060101010101" pitchFamily="49" charset="-122"/>
                </a:endParaRPr>
              </a:p>
              <a:p>
                <a:pPr>
                  <a:buFontTx/>
                  <a:buNone/>
                </a:pPr>
                <a:r>
                  <a:rPr lang="en-US" altLang="zh-CN" sz="2000" b="0" dirty="0">
                    <a:latin typeface="黑体" panose="02010609060101010101" pitchFamily="49" charset="-122"/>
                  </a:rPr>
                  <a:t>		</a:t>
                </a:r>
                <a:endParaRPr lang="zh-CN" altLang="en-US" sz="2000" b="0" dirty="0">
                  <a:latin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31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8312" y="1052513"/>
                <a:ext cx="8568183" cy="5184775"/>
              </a:xfrm>
              <a:blipFill>
                <a:blip r:embed="rId2"/>
                <a:stretch>
                  <a:fillRect l="-1139" t="-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7.2 </a:t>
            </a:r>
            <a:r>
              <a:rPr lang="zh-CN" altLang="en-US" sz="2000"/>
              <a:t>灰色系统的模型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b="0">
                <a:latin typeface="黑体" panose="02010609060101010101" pitchFamily="49" charset="-122"/>
              </a:rPr>
              <a:t>（</a:t>
            </a:r>
            <a:r>
              <a:rPr lang="en-US" altLang="zh-CN" sz="2400" b="0">
                <a:latin typeface="黑体" panose="02010609060101010101" pitchFamily="49" charset="-122"/>
              </a:rPr>
              <a:t>3</a:t>
            </a:r>
            <a:r>
              <a:rPr lang="zh-CN" altLang="en-US" sz="2400" b="0">
                <a:latin typeface="黑体" panose="02010609060101010101" pitchFamily="49" charset="-122"/>
              </a:rPr>
              <a:t>）预测精度等级对照表，见表</a:t>
            </a:r>
            <a:r>
              <a:rPr lang="en-US" altLang="zh-CN" sz="2400" b="0">
                <a:latin typeface="黑体" panose="02010609060101010101" pitchFamily="49" charset="-122"/>
              </a:rPr>
              <a:t>7.1.</a:t>
            </a:r>
            <a:r>
              <a:rPr lang="en-US" altLang="zh-CN"/>
              <a:t> </a:t>
            </a:r>
          </a:p>
        </p:txBody>
      </p:sp>
      <p:pic>
        <p:nvPicPr>
          <p:cNvPr id="942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844675"/>
            <a:ext cx="7056437" cy="290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7.2 </a:t>
            </a:r>
            <a:r>
              <a:rPr lang="zh-CN" altLang="en-US" sz="2000"/>
              <a:t>灰色系统的模型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229600" cy="51847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b="0" dirty="0">
                <a:latin typeface="黑体" panose="02010609060101010101" pitchFamily="49" charset="-122"/>
              </a:rPr>
              <a:t>由于模型是基于一阶常微分方程（</a:t>
            </a:r>
            <a:r>
              <a:rPr lang="en-US" altLang="zh-CN" sz="2400" b="0" dirty="0">
                <a:latin typeface="黑体" panose="02010609060101010101" pitchFamily="49" charset="-122"/>
              </a:rPr>
              <a:t>7.3</a:t>
            </a:r>
            <a:r>
              <a:rPr lang="zh-CN" altLang="en-US" sz="2400" b="0" dirty="0">
                <a:latin typeface="黑体" panose="02010609060101010101" pitchFamily="49" charset="-122"/>
              </a:rPr>
              <a:t>）建立的，故称为</a:t>
            </a:r>
            <a:r>
              <a:rPr lang="zh-CN" altLang="en-US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一阶一元灰色模型，记为</a:t>
            </a:r>
            <a:r>
              <a:rPr lang="en-US" altLang="zh-CN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GM(1,1).</a:t>
            </a:r>
            <a:r>
              <a:rPr lang="zh-CN" altLang="en-US" sz="2400" b="0" dirty="0">
                <a:latin typeface="黑体" panose="02010609060101010101" pitchFamily="49" charset="-122"/>
              </a:rPr>
              <a:t>须指出的是， 建模时先要作一次累加，因此</a:t>
            </a:r>
            <a:r>
              <a:rPr lang="zh-CN" altLang="en-US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要求原始数据均为非负数</a:t>
            </a:r>
            <a:r>
              <a:rPr lang="en-US" altLang="zh-CN" sz="2400" b="0" dirty="0">
                <a:latin typeface="黑体" panose="02010609060101010101" pitchFamily="49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2400" b="0" dirty="0">
                <a:latin typeface="黑体" panose="02010609060101010101" pitchFamily="49" charset="-122"/>
              </a:rPr>
              <a:t>否则，累加时会正负抵消，达不到使数据序列随时间递增的目的</a:t>
            </a:r>
            <a:r>
              <a:rPr lang="en-US" altLang="zh-CN" sz="2400" b="0" dirty="0">
                <a:latin typeface="黑体" panose="02010609060101010101" pitchFamily="49" charset="-122"/>
              </a:rPr>
              <a:t>.</a:t>
            </a:r>
            <a:r>
              <a:rPr lang="zh-CN" altLang="en-US" sz="2400" b="0" dirty="0">
                <a:latin typeface="黑体" panose="02010609060101010101" pitchFamily="49" charset="-122"/>
              </a:rPr>
              <a:t>如果实际问题的原始数据列出现负数，可对原始数据列进行</a:t>
            </a:r>
            <a:r>
              <a:rPr lang="zh-CN" altLang="en-US" sz="2400" b="0" dirty="0">
                <a:latin typeface="Times New Roman" panose="02020603050405020304" pitchFamily="18" charset="0"/>
              </a:rPr>
              <a:t>“数据整体提升”</a:t>
            </a:r>
            <a:r>
              <a:rPr lang="zh-CN" altLang="en-US" sz="2400" b="0" dirty="0">
                <a:latin typeface="黑体" panose="02010609060101010101" pitchFamily="49" charset="-122"/>
              </a:rPr>
              <a:t>处理</a:t>
            </a:r>
            <a:r>
              <a:rPr lang="en-US" altLang="zh-CN" sz="2400" b="0" dirty="0">
                <a:latin typeface="黑体" panose="02010609060101010101" pitchFamily="49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2400" b="0" dirty="0">
                <a:latin typeface="黑体" panose="02010609060101010101" pitchFamily="49" charset="-122"/>
              </a:rPr>
              <a:t>注意到一阶常微分方程是导出</a:t>
            </a:r>
            <a:r>
              <a:rPr lang="en-US" altLang="zh-CN" sz="2400" b="0" dirty="0">
                <a:latin typeface="黑体" panose="02010609060101010101" pitchFamily="49" charset="-122"/>
              </a:rPr>
              <a:t>GM(1,1)</a:t>
            </a:r>
            <a:r>
              <a:rPr lang="zh-CN" altLang="en-US" sz="2400" b="0" dirty="0">
                <a:latin typeface="黑体" panose="02010609060101010101" pitchFamily="49" charset="-122"/>
              </a:rPr>
              <a:t>模型的桥梁，在我们应用</a:t>
            </a:r>
            <a:r>
              <a:rPr lang="en-US" altLang="zh-CN" sz="2400" b="0" dirty="0">
                <a:latin typeface="黑体" panose="02010609060101010101" pitchFamily="49" charset="-122"/>
              </a:rPr>
              <a:t>GM(1,1)</a:t>
            </a:r>
            <a:r>
              <a:rPr lang="zh-CN" altLang="en-US" sz="2400" b="0" dirty="0">
                <a:latin typeface="黑体" panose="02010609060101010101" pitchFamily="49" charset="-122"/>
              </a:rPr>
              <a:t>模型于实际问题预测时，</a:t>
            </a:r>
            <a:r>
              <a:rPr lang="zh-CN" altLang="en-US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不必求解一阶常微分方程</a:t>
            </a:r>
            <a:r>
              <a:rPr lang="zh-CN" altLang="en-US" sz="2400" b="0" dirty="0">
                <a:latin typeface="黑体" panose="02010609060101010101" pitchFamily="49" charset="-122"/>
              </a:rPr>
              <a:t>（</a:t>
            </a:r>
            <a:r>
              <a:rPr lang="en-US" altLang="zh-CN" sz="2400" b="0" dirty="0">
                <a:latin typeface="黑体" panose="02010609060101010101" pitchFamily="49" charset="-122"/>
              </a:rPr>
              <a:t>7.3</a:t>
            </a:r>
            <a:r>
              <a:rPr lang="zh-CN" altLang="en-US" sz="2400" b="0" dirty="0">
                <a:latin typeface="黑体" panose="02010609060101010101" pitchFamily="49" charset="-122"/>
              </a:rPr>
              <a:t>）</a:t>
            </a:r>
            <a:r>
              <a:rPr lang="en-US" altLang="zh-CN" sz="2400" b="0" dirty="0">
                <a:latin typeface="黑体" panose="02010609060101010101" pitchFamily="49" charset="-122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7.2 </a:t>
            </a:r>
            <a:r>
              <a:rPr lang="zh-CN" altLang="en-US" sz="2000"/>
              <a:t>灰色系统的模型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68413"/>
            <a:ext cx="8686800" cy="518477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 b="0" dirty="0">
                <a:solidFill>
                  <a:schemeClr val="hlink"/>
                </a:solidFill>
                <a:latin typeface="黑体" panose="02010609060101010101" pitchFamily="49" charset="-122"/>
              </a:rPr>
              <a:t>4.GM(1,1)</a:t>
            </a:r>
            <a:r>
              <a:rPr lang="zh-CN" altLang="en-US" sz="2800" dirty="0">
                <a:solidFill>
                  <a:schemeClr val="hlink"/>
                </a:solidFill>
              </a:rPr>
              <a:t>的建模步骤</a:t>
            </a:r>
          </a:p>
          <a:p>
            <a:pPr>
              <a:buFontTx/>
              <a:buNone/>
            </a:pPr>
            <a:r>
              <a:rPr lang="zh-CN" altLang="en-US" sz="2400" b="0" dirty="0">
                <a:latin typeface="黑体" panose="02010609060101010101" pitchFamily="49" charset="-122"/>
              </a:rPr>
              <a:t>  综上所述，</a:t>
            </a:r>
            <a:r>
              <a:rPr lang="en-US" altLang="zh-CN" sz="2400" b="0" dirty="0">
                <a:latin typeface="黑体" panose="02010609060101010101" pitchFamily="49" charset="-122"/>
              </a:rPr>
              <a:t>GM(1,1)</a:t>
            </a:r>
            <a:r>
              <a:rPr lang="zh-CN" altLang="en-US" sz="2400" b="0" dirty="0">
                <a:latin typeface="黑体" panose="02010609060101010101" pitchFamily="49" charset="-122"/>
              </a:rPr>
              <a:t>的建模步骤如下：</a:t>
            </a:r>
          </a:p>
        </p:txBody>
      </p:sp>
      <p:pic>
        <p:nvPicPr>
          <p:cNvPr id="962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349500"/>
            <a:ext cx="8857109" cy="303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2628900" y="3141663"/>
            <a:ext cx="41036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4000" b="1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7.3  </a:t>
            </a:r>
            <a:r>
              <a:rPr lang="zh-CN" altLang="en-US" sz="4000" b="1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销售额预测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7.3  </a:t>
            </a:r>
            <a:r>
              <a:rPr lang="zh-CN" altLang="en-US" sz="2000"/>
              <a:t>销售额预测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2852738"/>
            <a:ext cx="8229600" cy="518477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/>
              <a:t>               </a:t>
            </a:r>
            <a:r>
              <a:rPr lang="zh-CN" altLang="en-US" sz="2400" b="0">
                <a:latin typeface="黑体" panose="02010609060101010101" pitchFamily="49" charset="-122"/>
              </a:rPr>
              <a:t>表</a:t>
            </a:r>
            <a:r>
              <a:rPr lang="en-US" altLang="zh-CN" sz="2400" b="0">
                <a:latin typeface="黑体" panose="02010609060101010101" pitchFamily="49" charset="-122"/>
              </a:rPr>
              <a:t>7.2  </a:t>
            </a:r>
            <a:r>
              <a:rPr lang="zh-CN" altLang="en-US" sz="2400" b="0">
                <a:latin typeface="黑体" panose="02010609060101010101" pitchFamily="49" charset="-122"/>
              </a:rPr>
              <a:t>逐年销售额（百万元）</a:t>
            </a:r>
          </a:p>
          <a:p>
            <a:endParaRPr lang="en-US" altLang="zh-CN"/>
          </a:p>
        </p:txBody>
      </p:sp>
      <p:sp>
        <p:nvSpPr>
          <p:cNvPr id="39953" name="Rectangle 17"/>
          <p:cNvSpPr>
            <a:spLocks noChangeArrowheads="1"/>
          </p:cNvSpPr>
          <p:nvPr/>
        </p:nvSpPr>
        <p:spPr bwMode="auto">
          <a:xfrm>
            <a:off x="0" y="2925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684213" y="4797425"/>
          <a:ext cx="6477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3" name="Equation" r:id="rId3" imgW="253780" imgH="203024" progId="Equation.DSMT4">
                  <p:embed/>
                </p:oleObj>
              </mc:Choice>
              <mc:Fallback>
                <p:oleObj name="Equation" r:id="rId3" imgW="253780" imgH="203024" progId="Equation.DSMT4">
                  <p:embed/>
                  <p:pic>
                    <p:nvPicPr>
                      <p:cNvPr id="0" name="Picture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797425"/>
                        <a:ext cx="6477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66" name="Group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887156"/>
              </p:ext>
            </p:extLst>
          </p:nvPr>
        </p:nvGraphicFramePr>
        <p:xfrm>
          <a:off x="503237" y="3609658"/>
          <a:ext cx="8316913" cy="1800861"/>
        </p:xfrm>
        <a:graphic>
          <a:graphicData uri="http://schemas.openxmlformats.org/drawingml/2006/table">
            <a:tbl>
              <a:tblPr/>
              <a:tblGrid>
                <a:gridCol w="1306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1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1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年份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序号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2.874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3.278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3.337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3.390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3.679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067" name="Rectangle 131"/>
          <p:cNvSpPr>
            <a:spLocks noChangeArrowheads="1"/>
          </p:cNvSpPr>
          <p:nvPr/>
        </p:nvSpPr>
        <p:spPr bwMode="auto">
          <a:xfrm>
            <a:off x="179388" y="1341438"/>
            <a:ext cx="8964612" cy="194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3200" b="1" dirty="0">
                <a:latin typeface="Arial Black" panose="020B0A040201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7.2】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7.2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列出了某公司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1999</a:t>
            </a:r>
            <a:r>
              <a:rPr lang="en-US" altLang="zh-CN" sz="2800" dirty="0">
                <a:latin typeface="Arial Black" panose="020B0A04020102020204" pitchFamily="34" charset="0"/>
                <a:ea typeface="黑体" panose="02010609060101010101" pitchFamily="49" charset="-122"/>
              </a:rPr>
              <a:t>—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2003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年逐年的销</a:t>
            </a:r>
          </a:p>
          <a:p>
            <a:pPr>
              <a:spcBef>
                <a:spcPct val="20000"/>
              </a:spcBef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 售额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试建立预测模型，预测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2004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年的销售额，要求作精度检验。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  <p:bldP spid="3995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7.3  </a:t>
            </a:r>
            <a:r>
              <a:rPr lang="zh-CN" altLang="en-US" sz="2000"/>
              <a:t>销售额预测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/>
              <a:t>  </a:t>
            </a:r>
            <a:r>
              <a:rPr lang="zh-CN" altLang="en-US" sz="2800" b="0">
                <a:latin typeface="黑体" panose="02010609060101010101" pitchFamily="49" charset="-122"/>
              </a:rPr>
              <a:t>解（</a:t>
            </a:r>
            <a:r>
              <a:rPr lang="en-US" altLang="zh-CN" sz="2800" b="0">
                <a:latin typeface="黑体" panose="02010609060101010101" pitchFamily="49" charset="-122"/>
              </a:rPr>
              <a:t>1</a:t>
            </a:r>
            <a:r>
              <a:rPr lang="zh-CN" altLang="en-US" sz="2800" b="0">
                <a:latin typeface="黑体" panose="02010609060101010101" pitchFamily="49" charset="-122"/>
              </a:rPr>
              <a:t>）由原始数据列计算一次累加序列    ，结果见表</a:t>
            </a:r>
            <a:r>
              <a:rPr lang="en-US" altLang="zh-CN" sz="2800" b="0">
                <a:latin typeface="黑体" panose="02010609060101010101" pitchFamily="49" charset="-122"/>
              </a:rPr>
              <a:t>7.3.</a:t>
            </a:r>
          </a:p>
          <a:p>
            <a:pPr algn="ctr">
              <a:buFontTx/>
              <a:buNone/>
            </a:pPr>
            <a:r>
              <a:rPr lang="en-US" altLang="zh-CN"/>
              <a:t> </a:t>
            </a:r>
            <a:r>
              <a:rPr lang="zh-CN" altLang="en-US" sz="2000" b="0">
                <a:latin typeface="黑体" panose="02010609060101010101" pitchFamily="49" charset="-122"/>
              </a:rPr>
              <a:t>表</a:t>
            </a:r>
            <a:r>
              <a:rPr lang="en-US" altLang="zh-CN" sz="2000" b="0">
                <a:latin typeface="黑体" panose="02010609060101010101" pitchFamily="49" charset="-122"/>
              </a:rPr>
              <a:t>7.3 </a:t>
            </a:r>
            <a:r>
              <a:rPr lang="zh-CN" altLang="en-US" sz="2000" b="0">
                <a:latin typeface="黑体" panose="02010609060101010101" pitchFamily="49" charset="-122"/>
              </a:rPr>
              <a:t>一次累加数据</a:t>
            </a: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7019925" y="1125538"/>
          <a:ext cx="72072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6" name="Equation" r:id="rId3" imgW="241195" imgH="203112" progId="Equation.DSMT4">
                  <p:embed/>
                </p:oleObj>
              </mc:Choice>
              <mc:Fallback>
                <p:oleObj name="Equation" r:id="rId3" imgW="241195" imgH="203112" progId="Equation.DSMT4">
                  <p:embed/>
                  <p:pic>
                    <p:nvPicPr>
                      <p:cNvPr id="0" name="Picture 2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1125538"/>
                        <a:ext cx="720725" cy="60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/>
          <p:cNvGraphicFramePr>
            <a:graphicFrameLocks noChangeAspect="1"/>
          </p:cNvGraphicFramePr>
          <p:nvPr/>
        </p:nvGraphicFramePr>
        <p:xfrm>
          <a:off x="1187450" y="3716338"/>
          <a:ext cx="5762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7" name="Equation" r:id="rId5" imgW="254000" imgH="203200" progId="Equation.DSMT4">
                  <p:embed/>
                </p:oleObj>
              </mc:Choice>
              <mc:Fallback>
                <p:oleObj name="Equation" r:id="rId5" imgW="254000" imgH="203200" progId="Equation.DSMT4">
                  <p:embed/>
                  <p:pic>
                    <p:nvPicPr>
                      <p:cNvPr id="0" name="Picture 2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716338"/>
                        <a:ext cx="576263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1116013" y="4292600"/>
          <a:ext cx="57626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8" name="Equation" r:id="rId7" imgW="241195" imgH="203112" progId="Equation.DSMT4">
                  <p:embed/>
                </p:oleObj>
              </mc:Choice>
              <mc:Fallback>
                <p:oleObj name="Equation" r:id="rId7" imgW="241195" imgH="203112" progId="Equation.DSMT4">
                  <p:embed/>
                  <p:pic>
                    <p:nvPicPr>
                      <p:cNvPr id="0" name="Picture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292600"/>
                        <a:ext cx="576262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0" name="Rectangle 20"/>
          <p:cNvSpPr>
            <a:spLocks noChangeArrowheads="1"/>
          </p:cNvSpPr>
          <p:nvPr/>
        </p:nvSpPr>
        <p:spPr bwMode="auto">
          <a:xfrm>
            <a:off x="0" y="2667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40987" name="Rectangle 27"/>
          <p:cNvSpPr>
            <a:spLocks noChangeArrowheads="1"/>
          </p:cNvSpPr>
          <p:nvPr/>
        </p:nvSpPr>
        <p:spPr bwMode="auto">
          <a:xfrm>
            <a:off x="0" y="2667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graphicFrame>
        <p:nvGraphicFramePr>
          <p:cNvPr id="41130" name="Group 170"/>
          <p:cNvGraphicFramePr>
            <a:graphicFrameLocks noGrp="1"/>
          </p:cNvGraphicFramePr>
          <p:nvPr/>
        </p:nvGraphicFramePr>
        <p:xfrm>
          <a:off x="827088" y="2781300"/>
          <a:ext cx="8064500" cy="2019301"/>
        </p:xfrm>
        <a:graphic>
          <a:graphicData uri="http://schemas.openxmlformats.org/drawingml/2006/table">
            <a:tbl>
              <a:tblPr/>
              <a:tblGrid>
                <a:gridCol w="12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4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年份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序号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2.874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3.278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3.337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3.390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3.679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2.874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6.152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9.489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12.879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16.558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uiExpand="1" build="p" autoUpdateAnimBg="0"/>
      <p:bldP spid="40965" grpId="0" animBg="1"/>
      <p:bldP spid="40980" grpId="0" animBg="1"/>
      <p:bldP spid="4098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7.3  </a:t>
            </a:r>
            <a:r>
              <a:rPr lang="zh-CN" altLang="en-US" sz="2000"/>
              <a:t>销售额预测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zh-CN" altLang="en-US" sz="2800" b="0">
                <a:latin typeface="黑体" panose="02010609060101010101" pitchFamily="49" charset="-122"/>
              </a:rPr>
              <a:t>（</a:t>
            </a:r>
            <a:r>
              <a:rPr lang="en-US" altLang="zh-CN" sz="2800" b="0">
                <a:latin typeface="黑体" panose="02010609060101010101" pitchFamily="49" charset="-122"/>
              </a:rPr>
              <a:t>2</a:t>
            </a:r>
            <a:r>
              <a:rPr lang="zh-CN" altLang="en-US" sz="2800" b="0">
                <a:latin typeface="黑体" panose="02010609060101010101" pitchFamily="49" charset="-122"/>
              </a:rPr>
              <a:t>）建立矩阵：</a:t>
            </a:r>
          </a:p>
          <a:p>
            <a:pPr>
              <a:buFontTx/>
              <a:buNone/>
            </a:pPr>
            <a:endParaRPr lang="en-US" altLang="zh-CN"/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3059113" y="1268413"/>
          <a:ext cx="64928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9" name="Equation" r:id="rId3" imgW="291973" imgH="203112" progId="Equation.DSMT4">
                  <p:embed/>
                </p:oleObj>
              </mc:Choice>
              <mc:Fallback>
                <p:oleObj name="Equation" r:id="rId3" imgW="291973" imgH="203112" progId="Equation.DSMT4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268413"/>
                        <a:ext cx="649287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827088" y="2060575"/>
          <a:ext cx="6985000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0" name="Equation" r:id="rId5" imgW="2857500" imgH="939800" progId="Equation.DSMT4">
                  <p:embed/>
                </p:oleObj>
              </mc:Choice>
              <mc:Fallback>
                <p:oleObj name="Equation" r:id="rId5" imgW="2857500" imgH="939800" progId="Equation.DSMT4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060575"/>
                        <a:ext cx="6985000" cy="230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827088" y="4508500"/>
          <a:ext cx="6049962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1" name="Equation" r:id="rId7" imgW="2273300" imgH="558800" progId="Equation.DSMT4">
                  <p:embed/>
                </p:oleObj>
              </mc:Choice>
              <mc:Fallback>
                <p:oleObj name="Equation" r:id="rId7" imgW="2273300" imgH="558800" progId="Equation.DSMT4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508500"/>
                        <a:ext cx="6049962" cy="1471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  <p:bldP spid="4199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7.3  </a:t>
            </a:r>
            <a:r>
              <a:rPr lang="zh-CN" altLang="en-US" sz="2000"/>
              <a:t>销售额预测</a:t>
            </a:r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196975"/>
            <a:ext cx="7921625" cy="4833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7.3  </a:t>
            </a:r>
            <a:r>
              <a:rPr lang="zh-CN" altLang="en-US" sz="2000"/>
              <a:t>销售额预测</a:t>
            </a:r>
          </a:p>
        </p:txBody>
      </p:sp>
      <p:pic>
        <p:nvPicPr>
          <p:cNvPr id="972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1" y="1124744"/>
            <a:ext cx="9113173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7.3  </a:t>
            </a:r>
            <a:r>
              <a:rPr lang="zh-CN" altLang="en-US" sz="2000"/>
              <a:t>销售额预测</a:t>
            </a:r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43" name="Rectangle 11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45" name="Rectangle 13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44050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17342"/>
            <a:ext cx="8391525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51520" y="1255677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（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）精度检验及预测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7" grpId="0" animBg="1"/>
      <p:bldP spid="44039" grpId="0" animBg="1"/>
      <p:bldP spid="44041" grpId="0" animBg="1"/>
      <p:bldP spid="44043" grpId="0" animBg="1"/>
      <p:bldP spid="4404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2051720" y="2852936"/>
            <a:ext cx="6840537" cy="143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4000" b="1" dirty="0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7.4  </a:t>
            </a:r>
            <a:r>
              <a:rPr lang="zh-CN" altLang="en-US" sz="4000" b="1" dirty="0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交通事故次数 </a:t>
            </a:r>
          </a:p>
          <a:p>
            <a:pPr>
              <a:spcBef>
                <a:spcPct val="20000"/>
              </a:spcBef>
            </a:pPr>
            <a:r>
              <a:rPr lang="zh-CN" altLang="en-US" sz="4000" b="1" dirty="0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        的灰色预测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 7.4  </a:t>
            </a:r>
            <a:r>
              <a:rPr lang="zh-CN" altLang="en-US" sz="2400" dirty="0"/>
              <a:t>城市道路交通事故次数的灰色预测</a:t>
            </a:r>
            <a:endParaRPr lang="zh-CN" altLang="en-US" sz="3200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b="0" dirty="0">
                <a:solidFill>
                  <a:srgbClr val="FF3300"/>
                </a:solidFill>
                <a:latin typeface="黑体" panose="02010609060101010101" pitchFamily="49" charset="-122"/>
              </a:rPr>
              <a:t>【</a:t>
            </a:r>
            <a:r>
              <a:rPr lang="zh-CN" altLang="en-US" sz="2400" b="0" dirty="0">
                <a:solidFill>
                  <a:srgbClr val="FF3300"/>
                </a:solidFill>
                <a:latin typeface="黑体" panose="02010609060101010101" pitchFamily="49" charset="-122"/>
              </a:rPr>
              <a:t>例</a:t>
            </a:r>
            <a:r>
              <a:rPr lang="en-US" altLang="zh-CN" sz="2400" b="0" dirty="0">
                <a:solidFill>
                  <a:srgbClr val="FF3300"/>
                </a:solidFill>
                <a:latin typeface="黑体" panose="02010609060101010101" pitchFamily="49" charset="-122"/>
              </a:rPr>
              <a:t>7.3】</a:t>
            </a:r>
            <a:r>
              <a:rPr lang="zh-CN" altLang="en-US" sz="2400" b="0" dirty="0">
                <a:latin typeface="黑体" panose="02010609060101010101" pitchFamily="49" charset="-122"/>
              </a:rPr>
              <a:t>某市</a:t>
            </a:r>
            <a:r>
              <a:rPr lang="en-US" altLang="zh-CN" sz="2400" b="0" dirty="0">
                <a:latin typeface="黑体" panose="02010609060101010101" pitchFamily="49" charset="-122"/>
              </a:rPr>
              <a:t>2004</a:t>
            </a:r>
            <a:r>
              <a:rPr lang="zh-CN" altLang="en-US" sz="2400" b="0" dirty="0">
                <a:latin typeface="黑体" panose="02010609060101010101" pitchFamily="49" charset="-122"/>
              </a:rPr>
              <a:t>年</a:t>
            </a:r>
            <a:r>
              <a:rPr lang="en-US" altLang="zh-CN" sz="2400" b="0" dirty="0">
                <a:latin typeface="黑体" panose="02010609060101010101" pitchFamily="49" charset="-122"/>
              </a:rPr>
              <a:t>1-6</a:t>
            </a:r>
            <a:r>
              <a:rPr lang="zh-CN" altLang="en-US" sz="2400" b="0" dirty="0">
                <a:latin typeface="黑体" panose="02010609060101010101" pitchFamily="49" charset="-122"/>
              </a:rPr>
              <a:t>月的交通事故次数统计见表</a:t>
            </a:r>
            <a:r>
              <a:rPr lang="en-US" altLang="zh-CN" sz="2400" b="0" dirty="0">
                <a:latin typeface="黑体" panose="02010609060101010101" pitchFamily="49" charset="-122"/>
              </a:rPr>
              <a:t>7.5.</a:t>
            </a:r>
            <a:r>
              <a:rPr lang="zh-CN" altLang="en-US" sz="2400" b="0" dirty="0">
                <a:latin typeface="黑体" panose="02010609060101010101" pitchFamily="49" charset="-122"/>
              </a:rPr>
              <a:t>试建立灰色预测模型</a:t>
            </a:r>
            <a:r>
              <a:rPr lang="en-US" altLang="zh-CN" sz="2400" b="0" dirty="0">
                <a:latin typeface="黑体" panose="02010609060101010101" pitchFamily="49" charset="-122"/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b="0" dirty="0">
                <a:latin typeface="黑体" panose="02010609060101010101" pitchFamily="49" charset="-122"/>
              </a:rPr>
              <a:t>              </a:t>
            </a:r>
            <a:r>
              <a:rPr lang="zh-CN" altLang="en-US" sz="2000" b="0" dirty="0">
                <a:latin typeface="黑体" panose="02010609060101010101" pitchFamily="49" charset="-122"/>
              </a:rPr>
              <a:t>表</a:t>
            </a:r>
            <a:r>
              <a:rPr lang="en-US" altLang="zh-CN" sz="2000" b="0" dirty="0">
                <a:latin typeface="黑体" panose="02010609060101010101" pitchFamily="49" charset="-122"/>
              </a:rPr>
              <a:t>7.5 </a:t>
            </a:r>
            <a:r>
              <a:rPr lang="zh-CN" altLang="en-US" sz="2000" b="0" dirty="0">
                <a:latin typeface="黑体" panose="02010609060101010101" pitchFamily="49" charset="-122"/>
              </a:rPr>
              <a:t>交通事故次数统计</a:t>
            </a:r>
          </a:p>
          <a:p>
            <a:pPr>
              <a:lnSpc>
                <a:spcPct val="90000"/>
              </a:lnSpc>
            </a:pPr>
            <a:endParaRPr lang="zh-CN" altLang="en-US" sz="2400" b="0" dirty="0">
              <a:latin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endParaRPr lang="zh-CN" altLang="en-US" sz="2400" b="0" dirty="0">
              <a:latin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endParaRPr lang="zh-CN" altLang="en-US" sz="2400" b="0" dirty="0">
              <a:latin typeface="黑体" panose="02010609060101010101" pitchFamily="49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b="0" dirty="0">
                <a:latin typeface="黑体" panose="02010609060101010101" pitchFamily="49" charset="-122"/>
              </a:rPr>
              <a:t>解 利用</a:t>
            </a:r>
            <a:r>
              <a:rPr lang="en-US" altLang="zh-CN" sz="2400" b="0" dirty="0">
                <a:latin typeface="黑体" panose="02010609060101010101" pitchFamily="49" charset="-122"/>
              </a:rPr>
              <a:t>GM</a:t>
            </a:r>
            <a:r>
              <a:rPr lang="zh-CN" altLang="en-US" sz="2400" b="0" dirty="0">
                <a:latin typeface="黑体" panose="02010609060101010101" pitchFamily="49" charset="-122"/>
              </a:rPr>
              <a:t>预测软件计算，输出分析数据如下：</a:t>
            </a:r>
          </a:p>
          <a:p>
            <a:pPr>
              <a:lnSpc>
                <a:spcPct val="90000"/>
              </a:lnSpc>
            </a:pPr>
            <a:r>
              <a:rPr lang="zh-CN" altLang="en-US" sz="2400" b="0" dirty="0">
                <a:latin typeface="黑体" panose="02010609060101010101" pitchFamily="49" charset="-122"/>
              </a:rPr>
              <a:t>原始数列</a:t>
            </a:r>
            <a:r>
              <a:rPr lang="en-US" altLang="zh-CN" sz="2400" b="0" dirty="0">
                <a:latin typeface="黑体" panose="02010609060101010101" pitchFamily="49" charset="-122"/>
              </a:rPr>
              <a:t>(</a:t>
            </a:r>
            <a:r>
              <a:rPr lang="zh-CN" altLang="en-US" sz="2400" b="0" dirty="0">
                <a:latin typeface="黑体" panose="02010609060101010101" pitchFamily="49" charset="-122"/>
              </a:rPr>
              <a:t>元素共</a:t>
            </a:r>
            <a:r>
              <a:rPr lang="en-US" altLang="zh-CN" sz="2400" b="0" dirty="0">
                <a:latin typeface="黑体" panose="02010609060101010101" pitchFamily="49" charset="-122"/>
              </a:rPr>
              <a:t>6</a:t>
            </a:r>
            <a:r>
              <a:rPr lang="zh-CN" altLang="en-US" sz="2400" b="0" dirty="0">
                <a:latin typeface="黑体" panose="02010609060101010101" pitchFamily="49" charset="-122"/>
              </a:rPr>
              <a:t>个</a:t>
            </a:r>
            <a:r>
              <a:rPr lang="en-US" altLang="zh-CN" sz="2400" b="0" dirty="0">
                <a:latin typeface="黑体" panose="02010609060101010101" pitchFamily="49" charset="-122"/>
              </a:rPr>
              <a:t>):83</a:t>
            </a:r>
            <a:r>
              <a:rPr lang="zh-CN" altLang="en-US" sz="2400" b="0" dirty="0">
                <a:latin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</a:rPr>
              <a:t>95</a:t>
            </a:r>
            <a:r>
              <a:rPr lang="zh-CN" altLang="en-US" sz="2400" b="0" dirty="0">
                <a:latin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</a:rPr>
              <a:t>130</a:t>
            </a:r>
            <a:r>
              <a:rPr lang="zh-CN" altLang="en-US" sz="2400" b="0" dirty="0">
                <a:latin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</a:rPr>
              <a:t>141</a:t>
            </a:r>
            <a:r>
              <a:rPr lang="zh-CN" altLang="en-US" sz="2400" b="0" dirty="0">
                <a:latin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</a:rPr>
              <a:t>156</a:t>
            </a:r>
            <a:r>
              <a:rPr lang="zh-CN" altLang="en-US" sz="2400" b="0" dirty="0">
                <a:latin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</a:rPr>
              <a:t>185</a:t>
            </a:r>
          </a:p>
        </p:txBody>
      </p:sp>
      <p:pic>
        <p:nvPicPr>
          <p:cNvPr id="542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420938"/>
            <a:ext cx="5953125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 7.4  </a:t>
            </a:r>
            <a:r>
              <a:rPr lang="zh-CN" altLang="en-US" sz="2400" dirty="0"/>
              <a:t>城市道路交通事故次数的灰色预测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z="2400" b="0">
                <a:latin typeface="黑体" panose="02010609060101010101" pitchFamily="49" charset="-122"/>
              </a:rPr>
              <a:t>[1]dx/dt+ax=u</a:t>
            </a:r>
            <a:r>
              <a:rPr lang="zh-CN" altLang="en-US" sz="2400" b="0">
                <a:latin typeface="黑体" panose="02010609060101010101" pitchFamily="49" charset="-122"/>
              </a:rPr>
              <a:t>：</a:t>
            </a:r>
            <a:r>
              <a:rPr lang="en-US" altLang="zh-CN" sz="2400" b="0">
                <a:latin typeface="黑体" panose="02010609060101010101" pitchFamily="49" charset="-122"/>
              </a:rPr>
              <a:t>a=-0.14401015</a:t>
            </a:r>
            <a:r>
              <a:rPr lang="zh-CN" altLang="en-US" sz="2400" b="0">
                <a:latin typeface="黑体" panose="02010609060101010101" pitchFamily="49" charset="-122"/>
              </a:rPr>
              <a:t>，</a:t>
            </a:r>
            <a:r>
              <a:rPr lang="en-US" altLang="zh-CN" sz="2400" b="0">
                <a:latin typeface="黑体" panose="02010609060101010101" pitchFamily="49" charset="-122"/>
              </a:rPr>
              <a:t>u=84.47278810</a:t>
            </a:r>
          </a:p>
          <a:p>
            <a:pPr>
              <a:buFontTx/>
              <a:buNone/>
            </a:pPr>
            <a:r>
              <a:rPr lang="en-US" altLang="zh-CN" sz="2400" b="0">
                <a:latin typeface="黑体" panose="02010609060101010101" pitchFamily="49" charset="-122"/>
              </a:rPr>
              <a:t>[2]</a:t>
            </a:r>
            <a:r>
              <a:rPr lang="zh-CN" altLang="en-US" sz="2400" b="0">
                <a:latin typeface="黑体" panose="02010609060101010101" pitchFamily="49" charset="-122"/>
              </a:rPr>
              <a:t>时间响应方程： </a:t>
            </a:r>
          </a:p>
          <a:p>
            <a:pPr>
              <a:buFontTx/>
              <a:buNone/>
            </a:pPr>
            <a:r>
              <a:rPr lang="zh-CN" altLang="en-US" sz="2400" b="0">
                <a:solidFill>
                  <a:srgbClr val="FF3300"/>
                </a:solidFill>
                <a:latin typeface="黑体" panose="02010609060101010101" pitchFamily="49" charset="-122"/>
              </a:rPr>
              <a:t>       </a:t>
            </a:r>
            <a:r>
              <a:rPr lang="en-US" altLang="zh-CN" sz="2400" b="0">
                <a:solidFill>
                  <a:srgbClr val="FF3300"/>
                </a:solidFill>
                <a:latin typeface="黑体" panose="02010609060101010101" pitchFamily="49" charset="-122"/>
              </a:rPr>
              <a:t>X(k+1)=669.5752*exp(0.1440k)-586.5752</a:t>
            </a:r>
          </a:p>
          <a:p>
            <a:pPr>
              <a:buFontTx/>
              <a:buNone/>
            </a:pPr>
            <a:r>
              <a:rPr lang="en-US" altLang="zh-CN" sz="2400" b="0">
                <a:latin typeface="黑体" panose="02010609060101010101" pitchFamily="49" charset="-122"/>
              </a:rPr>
              <a:t>[3]</a:t>
            </a:r>
            <a:r>
              <a:rPr lang="zh-CN" altLang="en-US" sz="2400" b="0">
                <a:latin typeface="黑体" panose="02010609060101010101" pitchFamily="49" charset="-122"/>
              </a:rPr>
              <a:t>残差 </a:t>
            </a:r>
            <a:r>
              <a:rPr lang="en-US" altLang="zh-CN" sz="2400" b="0">
                <a:latin typeface="黑体" panose="02010609060101010101" pitchFamily="49" charset="-122"/>
              </a:rPr>
              <a:t>E(k)</a:t>
            </a:r>
            <a:r>
              <a:rPr lang="zh-CN" altLang="en-US" sz="2400" b="0">
                <a:latin typeface="黑体" panose="02010609060101010101" pitchFamily="49" charset="-122"/>
              </a:rPr>
              <a:t>：</a:t>
            </a:r>
            <a:r>
              <a:rPr lang="en-US" altLang="zh-CN" sz="2400" b="0">
                <a:latin typeface="黑体" panose="02010609060101010101" pitchFamily="49" charset="-122"/>
              </a:rPr>
              <a:t>(1)0.00000000 (2) -8.71441263 </a:t>
            </a:r>
          </a:p>
          <a:p>
            <a:pPr>
              <a:buFontTx/>
              <a:buNone/>
            </a:pPr>
            <a:r>
              <a:rPr lang="en-US" altLang="zh-CN" sz="2400" b="0">
                <a:latin typeface="黑体" panose="02010609060101010101" pitchFamily="49" charset="-122"/>
              </a:rPr>
              <a:t>  (3) 10.22065739 (4) 2.66733676 </a:t>
            </a:r>
          </a:p>
          <a:p>
            <a:pPr>
              <a:buFontTx/>
              <a:buNone/>
            </a:pPr>
            <a:r>
              <a:rPr lang="en-US" altLang="zh-CN" sz="2400" b="0">
                <a:latin typeface="黑体" panose="02010609060101010101" pitchFamily="49" charset="-122"/>
              </a:rPr>
              <a:t>  (5) -3.75981586 (6) 0.49405494 </a:t>
            </a:r>
          </a:p>
          <a:p>
            <a:pPr>
              <a:buFontTx/>
              <a:buNone/>
            </a:pPr>
            <a:r>
              <a:rPr lang="en-US" altLang="zh-CN" sz="2400" b="0">
                <a:latin typeface="黑体" panose="02010609060101010101" pitchFamily="49" charset="-122"/>
              </a:rPr>
              <a:t>[4]</a:t>
            </a:r>
            <a:r>
              <a:rPr lang="zh-CN" altLang="en-US" sz="2400" b="0">
                <a:latin typeface="黑体" panose="02010609060101010101" pitchFamily="49" charset="-122"/>
              </a:rPr>
              <a:t>第一次累加值</a:t>
            </a:r>
            <a:r>
              <a:rPr lang="en-US" altLang="zh-CN" sz="2400" b="0">
                <a:latin typeface="黑体" panose="02010609060101010101" pitchFamily="49" charset="-122"/>
              </a:rPr>
              <a:t>:(1)83.000000 (2)178.000000  (3)308.000000 (4)449.00000 (5)605.000000  (6)790.000000 </a:t>
            </a:r>
          </a:p>
          <a:p>
            <a:pPr>
              <a:buFontTx/>
              <a:buNone/>
            </a:pPr>
            <a:r>
              <a:rPr lang="en-US" altLang="zh-CN" sz="2400" b="0">
                <a:latin typeface="黑体" panose="02010609060101010101" pitchFamily="49" charset="-122"/>
              </a:rPr>
              <a:t>[5]</a:t>
            </a:r>
            <a:r>
              <a:rPr lang="zh-CN" altLang="en-US" sz="2400" b="0">
                <a:latin typeface="黑体" panose="02010609060101010101" pitchFamily="49" charset="-122"/>
              </a:rPr>
              <a:t>相对残差</a:t>
            </a:r>
            <a:r>
              <a:rPr lang="en-US" altLang="zh-CN" sz="2400" b="0">
                <a:latin typeface="黑体" panose="02010609060101010101" pitchFamily="49" charset="-122"/>
              </a:rPr>
              <a:t>e(k)</a:t>
            </a:r>
            <a:r>
              <a:rPr lang="zh-CN" altLang="en-US" sz="2400" b="0">
                <a:latin typeface="黑体" panose="02010609060101010101" pitchFamily="49" charset="-122"/>
              </a:rPr>
              <a:t>：</a:t>
            </a:r>
            <a:r>
              <a:rPr lang="en-US" altLang="zh-CN" sz="2400" b="0">
                <a:latin typeface="黑体" panose="02010609060101010101" pitchFamily="49" charset="-122"/>
              </a:rPr>
              <a:t>(1)0.00000000 (2)-0.09173066 (3)0.07862044  (4)0.01891728(5)-0.02410138(6) 0.00267057</a:t>
            </a:r>
            <a:r>
              <a:rPr lang="en-US" altLang="zh-CN" sz="2800" b="0">
                <a:latin typeface="黑体" panose="02010609060101010101" pitchFamily="49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/>
              <a:t> 7.4  </a:t>
            </a:r>
            <a:r>
              <a:rPr lang="zh-CN" altLang="en-US" sz="2400"/>
              <a:t>城市道路交通事故次数的灰色预测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785225" cy="518477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0" dirty="0">
                <a:latin typeface="黑体" panose="02010609060101010101" pitchFamily="49" charset="-122"/>
              </a:rPr>
              <a:t>[6]</a:t>
            </a:r>
            <a:r>
              <a:rPr lang="zh-CN" altLang="en-US" sz="2400" b="0" dirty="0">
                <a:latin typeface="黑体" panose="02010609060101010101" pitchFamily="49" charset="-122"/>
              </a:rPr>
              <a:t>原数据均值</a:t>
            </a:r>
            <a:r>
              <a:rPr lang="en-US" altLang="zh-CN" sz="2400" b="0" dirty="0" err="1">
                <a:latin typeface="黑体" panose="02010609060101010101" pitchFamily="49" charset="-122"/>
              </a:rPr>
              <a:t>avg</a:t>
            </a:r>
            <a:r>
              <a:rPr lang="en-US" altLang="zh-CN" sz="2400" b="0" dirty="0">
                <a:latin typeface="黑体" panose="02010609060101010101" pitchFamily="49" charset="-122"/>
              </a:rPr>
              <a:t>(x)</a:t>
            </a:r>
            <a:r>
              <a:rPr lang="zh-CN" altLang="en-US" sz="2400" b="0" dirty="0">
                <a:latin typeface="黑体" panose="02010609060101010101" pitchFamily="49" charset="-122"/>
              </a:rPr>
              <a:t>：</a:t>
            </a:r>
            <a:r>
              <a:rPr lang="en-US" altLang="zh-CN" sz="2400" b="0" dirty="0">
                <a:latin typeface="黑体" panose="02010609060101010101" pitchFamily="49" charset="-122"/>
              </a:rPr>
              <a:t>131.66666667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0" dirty="0">
                <a:latin typeface="黑体" panose="02010609060101010101" pitchFamily="49" charset="-122"/>
              </a:rPr>
              <a:t>[7]</a:t>
            </a:r>
            <a:r>
              <a:rPr lang="zh-CN" altLang="en-US" sz="2400" b="0" dirty="0">
                <a:latin typeface="黑体" panose="02010609060101010101" pitchFamily="49" charset="-122"/>
              </a:rPr>
              <a:t>原数据方差  </a:t>
            </a:r>
            <a:r>
              <a:rPr lang="en-US" altLang="zh-CN" sz="2400" b="0" dirty="0">
                <a:latin typeface="黑体" panose="02010609060101010101" pitchFamily="49" charset="-122"/>
              </a:rPr>
              <a:t>S(1)</a:t>
            </a:r>
            <a:r>
              <a:rPr lang="zh-CN" altLang="en-US" sz="2400" b="0" dirty="0">
                <a:latin typeface="黑体" panose="02010609060101010101" pitchFamily="49" charset="-122"/>
              </a:rPr>
              <a:t>：</a:t>
            </a:r>
            <a:r>
              <a:rPr lang="en-US" altLang="zh-CN" sz="2400" b="0" dirty="0">
                <a:latin typeface="黑体" panose="02010609060101010101" pitchFamily="49" charset="-122"/>
              </a:rPr>
              <a:t>34.73550857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0" dirty="0">
                <a:latin typeface="黑体" panose="02010609060101010101" pitchFamily="49" charset="-122"/>
              </a:rPr>
              <a:t>[8]</a:t>
            </a:r>
            <a:r>
              <a:rPr lang="zh-CN" altLang="en-US" sz="2400" b="0" dirty="0">
                <a:latin typeface="黑体" panose="02010609060101010101" pitchFamily="49" charset="-122"/>
              </a:rPr>
              <a:t>残差的均值</a:t>
            </a:r>
            <a:r>
              <a:rPr lang="en-US" altLang="zh-CN" sz="2400" b="0" dirty="0" err="1">
                <a:latin typeface="黑体" panose="02010609060101010101" pitchFamily="49" charset="-122"/>
              </a:rPr>
              <a:t>avg</a:t>
            </a:r>
            <a:r>
              <a:rPr lang="en-US" altLang="zh-CN" sz="2400" b="0" dirty="0">
                <a:latin typeface="黑体" panose="02010609060101010101" pitchFamily="49" charset="-122"/>
              </a:rPr>
              <a:t>(E)</a:t>
            </a:r>
            <a:r>
              <a:rPr lang="zh-CN" altLang="en-US" sz="2400" b="0" dirty="0">
                <a:latin typeface="黑体" panose="02010609060101010101" pitchFamily="49" charset="-122"/>
              </a:rPr>
              <a:t>：</a:t>
            </a:r>
            <a:r>
              <a:rPr lang="en-US" altLang="zh-CN" sz="2400" b="0" dirty="0">
                <a:latin typeface="黑体" panose="02010609060101010101" pitchFamily="49" charset="-122"/>
              </a:rPr>
              <a:t>0.18156412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0" dirty="0">
                <a:latin typeface="黑体" panose="02010609060101010101" pitchFamily="49" charset="-122"/>
              </a:rPr>
              <a:t>[9]</a:t>
            </a:r>
            <a:r>
              <a:rPr lang="zh-CN" altLang="en-US" sz="2400" b="0" dirty="0">
                <a:latin typeface="黑体" panose="02010609060101010101" pitchFamily="49" charset="-122"/>
              </a:rPr>
              <a:t>残差的方差  </a:t>
            </a:r>
            <a:r>
              <a:rPr lang="en-US" altLang="zh-CN" sz="2400" b="0" dirty="0">
                <a:latin typeface="黑体" panose="02010609060101010101" pitchFamily="49" charset="-122"/>
              </a:rPr>
              <a:t>S(2)</a:t>
            </a:r>
            <a:r>
              <a:rPr lang="zh-CN" altLang="en-US" sz="2400" b="0" dirty="0">
                <a:latin typeface="黑体" panose="02010609060101010101" pitchFamily="49" charset="-122"/>
              </a:rPr>
              <a:t>：</a:t>
            </a:r>
            <a:r>
              <a:rPr lang="en-US" altLang="zh-CN" sz="2400" b="0" dirty="0">
                <a:latin typeface="黑体" panose="02010609060101010101" pitchFamily="49" charset="-122"/>
              </a:rPr>
              <a:t>6.35189717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[10]</a:t>
            </a:r>
            <a:r>
              <a:rPr lang="zh-CN" altLang="en-US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后验差比值    </a:t>
            </a:r>
            <a:r>
              <a:rPr lang="en-US" altLang="zh-CN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C</a:t>
            </a:r>
            <a:r>
              <a:rPr lang="zh-CN" altLang="en-US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：</a:t>
            </a:r>
            <a:r>
              <a:rPr lang="en-US" altLang="zh-CN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0.18286467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[11]</a:t>
            </a:r>
            <a:r>
              <a:rPr lang="zh-CN" altLang="en-US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小误差概率    </a:t>
            </a:r>
            <a:r>
              <a:rPr lang="en-US" altLang="zh-CN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P</a:t>
            </a:r>
            <a:r>
              <a:rPr lang="zh-CN" altLang="en-US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：</a:t>
            </a:r>
            <a:r>
              <a:rPr lang="en-US" altLang="zh-CN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1.00000000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0" dirty="0">
                <a:latin typeface="黑体" panose="02010609060101010101" pitchFamily="49" charset="-122"/>
              </a:rPr>
              <a:t>[12]</a:t>
            </a:r>
            <a:r>
              <a:rPr lang="zh-CN" altLang="en-US" sz="2400" b="0" dirty="0">
                <a:latin typeface="黑体" panose="02010609060101010101" pitchFamily="49" charset="-122"/>
              </a:rPr>
              <a:t>模型计算值</a:t>
            </a:r>
            <a:r>
              <a:rPr lang="en-US" altLang="zh-CN" sz="2400" b="0" dirty="0">
                <a:latin typeface="黑体" panose="02010609060101010101" pitchFamily="49" charset="-122"/>
              </a:rPr>
              <a:t>X^(k)</a:t>
            </a:r>
            <a:r>
              <a:rPr lang="zh-CN" altLang="en-US" sz="2400" b="0" dirty="0">
                <a:latin typeface="黑体" panose="02010609060101010101" pitchFamily="49" charset="-122"/>
              </a:rPr>
              <a:t>：</a:t>
            </a:r>
            <a:r>
              <a:rPr lang="en-US" altLang="zh-CN" sz="2400" b="0" dirty="0">
                <a:latin typeface="黑体" panose="02010609060101010101" pitchFamily="49" charset="-122"/>
              </a:rPr>
              <a:t>(1) 83.00000000 (2) 103.71441263 (3) 119.77934261  (4)138.33266324 (5) 159.75981586 (6) 184.50594506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b="0" dirty="0">
                <a:latin typeface="黑体" panose="02010609060101010101" pitchFamily="49" charset="-122"/>
              </a:rPr>
              <a:t>[13]</a:t>
            </a:r>
            <a:r>
              <a:rPr lang="zh-CN" altLang="en-US" sz="2400" b="0" dirty="0">
                <a:latin typeface="黑体" panose="02010609060101010101" pitchFamily="49" charset="-122"/>
              </a:rPr>
              <a:t>预测的结果</a:t>
            </a:r>
            <a:r>
              <a:rPr lang="en-US" altLang="zh-CN" sz="2400" b="0" dirty="0">
                <a:latin typeface="黑体" panose="02010609060101010101" pitchFamily="49" charset="-122"/>
              </a:rPr>
              <a:t>X*(k)</a:t>
            </a:r>
            <a:r>
              <a:rPr lang="zh-CN" altLang="en-US" sz="2400" b="0" dirty="0">
                <a:latin typeface="黑体" panose="02010609060101010101" pitchFamily="49" charset="-122"/>
              </a:rPr>
              <a:t>：  </a:t>
            </a:r>
            <a:r>
              <a:rPr lang="en-US" altLang="zh-CN" sz="2400" b="0" dirty="0">
                <a:latin typeface="黑体" panose="02010609060101010101" pitchFamily="49" charset="-122"/>
              </a:rPr>
              <a:t>(1) </a:t>
            </a:r>
            <a:r>
              <a:rPr lang="en-US" altLang="zh-CN" sz="2400" b="0" dirty="0">
                <a:solidFill>
                  <a:srgbClr val="0000FF"/>
                </a:solidFill>
                <a:latin typeface="黑体" panose="02010609060101010101" pitchFamily="49" charset="-122"/>
              </a:rPr>
              <a:t>213.08514646</a:t>
            </a:r>
            <a:r>
              <a:rPr lang="en-US" altLang="zh-CN" sz="2400" b="0" dirty="0">
                <a:latin typeface="黑体" panose="02010609060101010101" pitchFamily="49" charset="-122"/>
              </a:rPr>
              <a:t> (2) 246.09114698 (3) 284.20963932  (4)328.23252716 (5) 379.07437672 (6) 437.79141674 (7) 505.60348139 </a:t>
            </a:r>
          </a:p>
          <a:p>
            <a:pPr>
              <a:lnSpc>
                <a:spcPct val="80000"/>
              </a:lnSpc>
            </a:pPr>
            <a:r>
              <a:rPr lang="zh-CN" altLang="en-US" sz="2400" b="0" dirty="0">
                <a:solidFill>
                  <a:srgbClr val="FF0000"/>
                </a:solidFill>
                <a:latin typeface="黑体" panose="02010609060101010101" pitchFamily="49" charset="-122"/>
              </a:rPr>
              <a:t>预测精度等级： 好！ </a:t>
            </a:r>
          </a:p>
          <a:p>
            <a:pPr>
              <a:lnSpc>
                <a:spcPct val="80000"/>
              </a:lnSpc>
            </a:pPr>
            <a:r>
              <a:rPr lang="zh-CN" altLang="en-US" sz="2400" b="0" dirty="0">
                <a:latin typeface="黑体" panose="02010609060101010101" pitchFamily="49" charset="-122"/>
              </a:rPr>
              <a:t>这表明：如果该市不采取更有效的管制措施，</a:t>
            </a:r>
            <a:r>
              <a:rPr lang="en-US" altLang="zh-CN" sz="2400" b="0" dirty="0">
                <a:latin typeface="黑体" panose="02010609060101010101" pitchFamily="49" charset="-122"/>
              </a:rPr>
              <a:t>7</a:t>
            </a:r>
            <a:r>
              <a:rPr lang="zh-CN" altLang="en-US" sz="2400" b="0" dirty="0">
                <a:latin typeface="黑体" panose="02010609060101010101" pitchFamily="49" charset="-122"/>
              </a:rPr>
              <a:t>月的交通事故次数将上升至</a:t>
            </a:r>
            <a:r>
              <a:rPr lang="en-US" altLang="zh-CN" sz="2400" b="0" dirty="0">
                <a:latin typeface="黑体" panose="02010609060101010101" pitchFamily="49" charset="-122"/>
              </a:rPr>
              <a:t>213</a:t>
            </a:r>
            <a:r>
              <a:rPr lang="zh-CN" altLang="en-US" sz="2400" b="0" dirty="0">
                <a:latin typeface="黑体" panose="02010609060101010101" pitchFamily="49" charset="-122"/>
              </a:rPr>
              <a:t>次</a:t>
            </a:r>
            <a:r>
              <a:rPr lang="en-US" altLang="zh-CN" sz="2400" b="0" dirty="0">
                <a:latin typeface="黑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5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5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5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1763713" y="2133600"/>
            <a:ext cx="5616575" cy="151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4000" b="1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7.5  </a:t>
            </a:r>
            <a:r>
              <a:rPr lang="zh-CN" altLang="en-US" sz="4000" b="1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城市火灾发生次数</a:t>
            </a:r>
          </a:p>
          <a:p>
            <a:pPr>
              <a:spcBef>
                <a:spcPct val="20000"/>
              </a:spcBef>
            </a:pPr>
            <a:r>
              <a:rPr lang="zh-CN" altLang="en-US" sz="4000" b="1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         的灰色预测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7.5  </a:t>
            </a:r>
            <a:r>
              <a:rPr lang="zh-CN" altLang="en-US" sz="2000"/>
              <a:t>城市火灾发生次数的灰色预测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362950" cy="518477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/>
              <a:t> </a:t>
            </a:r>
            <a:r>
              <a:rPr lang="en-US" altLang="zh-CN" sz="2800" b="0">
                <a:solidFill>
                  <a:srgbClr val="FF3300"/>
                </a:solidFill>
                <a:latin typeface="黑体" panose="02010609060101010101" pitchFamily="49" charset="-122"/>
              </a:rPr>
              <a:t>【</a:t>
            </a:r>
            <a:r>
              <a:rPr lang="zh-CN" altLang="en-US" sz="2800" b="0">
                <a:solidFill>
                  <a:srgbClr val="FF3300"/>
                </a:solidFill>
                <a:latin typeface="黑体" panose="02010609060101010101" pitchFamily="49" charset="-122"/>
              </a:rPr>
              <a:t>例</a:t>
            </a:r>
            <a:r>
              <a:rPr lang="en-US" altLang="zh-CN" sz="2800" b="0">
                <a:solidFill>
                  <a:srgbClr val="FF3300"/>
                </a:solidFill>
                <a:latin typeface="黑体" panose="02010609060101010101" pitchFamily="49" charset="-122"/>
              </a:rPr>
              <a:t>7.4】</a:t>
            </a:r>
            <a:r>
              <a:rPr lang="zh-CN" altLang="en-US" sz="2800" b="0">
                <a:latin typeface="黑体" panose="02010609060101010101" pitchFamily="49" charset="-122"/>
              </a:rPr>
              <a:t>某市</a:t>
            </a:r>
            <a:r>
              <a:rPr lang="en-US" altLang="zh-CN" sz="2800" b="0">
                <a:latin typeface="黑体" panose="02010609060101010101" pitchFamily="49" charset="-122"/>
              </a:rPr>
              <a:t>2001</a:t>
            </a:r>
            <a:r>
              <a:rPr lang="en-US" altLang="zh-CN" sz="2800" b="0"/>
              <a:t>—</a:t>
            </a:r>
            <a:r>
              <a:rPr lang="en-US" altLang="zh-CN" sz="2800" b="0">
                <a:latin typeface="黑体" panose="02010609060101010101" pitchFamily="49" charset="-122"/>
              </a:rPr>
              <a:t>2005</a:t>
            </a:r>
            <a:r>
              <a:rPr lang="zh-CN" altLang="en-US" sz="2800" b="0">
                <a:latin typeface="黑体" panose="02010609060101010101" pitchFamily="49" charset="-122"/>
              </a:rPr>
              <a:t>年火灾的统计数据见表</a:t>
            </a:r>
            <a:r>
              <a:rPr lang="en-US" altLang="zh-CN" sz="2800" b="0">
                <a:latin typeface="黑体" panose="02010609060101010101" pitchFamily="49" charset="-122"/>
              </a:rPr>
              <a:t>7.7. </a:t>
            </a:r>
            <a:r>
              <a:rPr lang="zh-CN" altLang="en-US" sz="2800" b="0">
                <a:latin typeface="黑体" panose="02010609060101010101" pitchFamily="49" charset="-122"/>
              </a:rPr>
              <a:t>试建立模型，并对该市</a:t>
            </a:r>
            <a:r>
              <a:rPr lang="en-US" altLang="zh-CN" sz="2800" b="0">
                <a:latin typeface="黑体" panose="02010609060101010101" pitchFamily="49" charset="-122"/>
              </a:rPr>
              <a:t>2006</a:t>
            </a:r>
            <a:r>
              <a:rPr lang="zh-CN" altLang="en-US" sz="2800" b="0">
                <a:latin typeface="黑体" panose="02010609060101010101" pitchFamily="49" charset="-122"/>
              </a:rPr>
              <a:t>年的火灾发生状况做出预测。</a:t>
            </a:r>
          </a:p>
          <a:p>
            <a:pPr>
              <a:buFontTx/>
              <a:buNone/>
            </a:pPr>
            <a:r>
              <a:rPr lang="zh-CN" altLang="en-US" sz="2800"/>
              <a:t>                  </a:t>
            </a:r>
            <a:r>
              <a:rPr lang="zh-CN" altLang="en-US" sz="2000" b="0">
                <a:latin typeface="黑体" panose="02010609060101010101" pitchFamily="49" charset="-122"/>
              </a:rPr>
              <a:t>表</a:t>
            </a:r>
            <a:r>
              <a:rPr lang="en-US" altLang="zh-CN" sz="2000" b="0">
                <a:latin typeface="黑体" panose="02010609060101010101" pitchFamily="49" charset="-122"/>
              </a:rPr>
              <a:t>7.7 </a:t>
            </a:r>
            <a:r>
              <a:rPr lang="zh-CN" altLang="en-US" sz="2000" b="0">
                <a:latin typeface="黑体" panose="02010609060101010101" pitchFamily="49" charset="-122"/>
              </a:rPr>
              <a:t>某市</a:t>
            </a:r>
            <a:r>
              <a:rPr lang="en-US" altLang="zh-CN" sz="2000" b="0">
                <a:latin typeface="黑体" panose="02010609060101010101" pitchFamily="49" charset="-122"/>
              </a:rPr>
              <a:t>2001</a:t>
            </a:r>
            <a:r>
              <a:rPr lang="zh-CN" altLang="en-US" sz="2000" b="0">
                <a:latin typeface="黑体" panose="02010609060101010101" pitchFamily="49" charset="-122"/>
              </a:rPr>
              <a:t>－</a:t>
            </a:r>
            <a:r>
              <a:rPr lang="en-US" altLang="zh-CN" sz="2000" b="0">
                <a:latin typeface="黑体" panose="02010609060101010101" pitchFamily="49" charset="-122"/>
              </a:rPr>
              <a:t>2005</a:t>
            </a:r>
            <a:r>
              <a:rPr lang="zh-CN" altLang="en-US" sz="2000" b="0">
                <a:latin typeface="黑体" panose="02010609060101010101" pitchFamily="49" charset="-122"/>
              </a:rPr>
              <a:t>年火灾数据</a:t>
            </a:r>
          </a:p>
        </p:txBody>
      </p:sp>
      <p:graphicFrame>
        <p:nvGraphicFramePr>
          <p:cNvPr id="56402" name="Group 82"/>
          <p:cNvGraphicFramePr>
            <a:graphicFrameLocks noGrp="1"/>
          </p:cNvGraphicFramePr>
          <p:nvPr>
            <p:ph sz="half" idx="2"/>
          </p:nvPr>
        </p:nvGraphicFramePr>
        <p:xfrm>
          <a:off x="755650" y="3213100"/>
          <a:ext cx="7488238" cy="1728788"/>
        </p:xfrm>
        <a:graphic>
          <a:graphicData uri="http://schemas.openxmlformats.org/drawingml/2006/table">
            <a:tbl>
              <a:tblPr/>
              <a:tblGrid>
                <a:gridCol w="168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5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651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年份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2002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2003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2004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2005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火灾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起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97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120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166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 b="1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0099FF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161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/>
              <a:t>7.5  </a:t>
            </a:r>
            <a:r>
              <a:rPr lang="zh-CN" altLang="en-US" sz="2400"/>
              <a:t>城市火灾发生次数的灰色预测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2808288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400" b="0" dirty="0">
                <a:latin typeface="黑体" panose="02010609060101010101" pitchFamily="49" charset="-122"/>
              </a:rPr>
              <a:t>解  利用</a:t>
            </a:r>
            <a:r>
              <a:rPr lang="en-US" altLang="zh-CN" sz="2400" b="0" dirty="0">
                <a:latin typeface="黑体" panose="02010609060101010101" pitchFamily="49" charset="-122"/>
              </a:rPr>
              <a:t>GM</a:t>
            </a:r>
            <a:r>
              <a:rPr lang="zh-CN" altLang="en-US" sz="2400" b="0" dirty="0">
                <a:latin typeface="黑体" panose="02010609060101010101" pitchFamily="49" charset="-122"/>
              </a:rPr>
              <a:t>预测软件计算，输出分析数据如下：</a:t>
            </a:r>
          </a:p>
          <a:p>
            <a:pPr>
              <a:buFontTx/>
              <a:buNone/>
            </a:pPr>
            <a:r>
              <a:rPr lang="zh-CN" altLang="en-US" sz="2400" b="0" dirty="0">
                <a:latin typeface="黑体" panose="02010609060101010101" pitchFamily="49" charset="-122"/>
              </a:rPr>
              <a:t>原始数列</a:t>
            </a:r>
            <a:r>
              <a:rPr lang="en-US" altLang="zh-CN" sz="2400" b="0" dirty="0">
                <a:latin typeface="黑体" panose="02010609060101010101" pitchFamily="49" charset="-122"/>
              </a:rPr>
              <a:t>(</a:t>
            </a:r>
            <a:r>
              <a:rPr lang="zh-CN" altLang="en-US" sz="2400" b="0" dirty="0">
                <a:latin typeface="黑体" panose="02010609060101010101" pitchFamily="49" charset="-122"/>
              </a:rPr>
              <a:t>元素共</a:t>
            </a:r>
            <a:r>
              <a:rPr lang="en-US" altLang="zh-CN" sz="2400" b="0" dirty="0">
                <a:latin typeface="黑体" panose="02010609060101010101" pitchFamily="49" charset="-122"/>
              </a:rPr>
              <a:t>5</a:t>
            </a:r>
            <a:r>
              <a:rPr lang="zh-CN" altLang="en-US" sz="2400" b="0" dirty="0">
                <a:latin typeface="黑体" panose="02010609060101010101" pitchFamily="49" charset="-122"/>
              </a:rPr>
              <a:t>个</a:t>
            </a:r>
            <a:r>
              <a:rPr lang="en-US" altLang="zh-CN" sz="2400" b="0" dirty="0">
                <a:latin typeface="黑体" panose="02010609060101010101" pitchFamily="49" charset="-122"/>
              </a:rPr>
              <a:t>): 87</a:t>
            </a:r>
            <a:r>
              <a:rPr lang="zh-CN" altLang="en-US" sz="2400" b="0" dirty="0">
                <a:latin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</a:rPr>
              <a:t>97</a:t>
            </a:r>
            <a:r>
              <a:rPr lang="zh-CN" altLang="en-US" sz="2400" b="0" dirty="0">
                <a:latin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</a:rPr>
              <a:t>120</a:t>
            </a:r>
            <a:r>
              <a:rPr lang="zh-CN" altLang="en-US" sz="2400" b="0" dirty="0">
                <a:latin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</a:rPr>
              <a:t>166</a:t>
            </a:r>
            <a:r>
              <a:rPr lang="zh-CN" altLang="en-US" sz="2400" b="0" dirty="0">
                <a:latin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</a:rPr>
              <a:t>161</a:t>
            </a:r>
          </a:p>
          <a:p>
            <a:pPr>
              <a:buFontTx/>
              <a:buNone/>
            </a:pPr>
            <a:r>
              <a:rPr lang="zh-CN" altLang="en-US" sz="2400" b="0" dirty="0">
                <a:latin typeface="黑体" panose="02010609060101010101" pitchFamily="49" charset="-122"/>
              </a:rPr>
              <a:t>预测结果如下：</a:t>
            </a:r>
          </a:p>
        </p:txBody>
      </p:sp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539750" y="2781300"/>
            <a:ext cx="8208963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[1]dx/dt+ax=u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：　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a=-0.16668512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u=81.11892433</a:t>
            </a:r>
          </a:p>
          <a:p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[2]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时间响应方程：</a:t>
            </a:r>
          </a:p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240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X(k+1)=573.6597*exp(0.1667k)-486.6597</a:t>
            </a:r>
          </a:p>
          <a:p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[3]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残差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E(k)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：  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(1)0.00000000  (2)-7.05165921  </a:t>
            </a:r>
          </a:p>
          <a:p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 (3)-2.92477940 (4)20.77885211 (5)-10.56168104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  <p:bldP spid="5837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/>
              <a:t>7.5  </a:t>
            </a:r>
            <a:r>
              <a:rPr lang="zh-CN" altLang="en-US" sz="2400"/>
              <a:t>城市火灾发生次数的灰色预测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052736"/>
            <a:ext cx="9361488" cy="518477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latin typeface="黑体" panose="02010609060101010101" pitchFamily="49" charset="-122"/>
              </a:rPr>
              <a:t>[4] </a:t>
            </a:r>
            <a:r>
              <a:rPr lang="zh-CN" altLang="en-US" sz="2000" b="0" dirty="0">
                <a:latin typeface="黑体" panose="02010609060101010101" pitchFamily="49" charset="-122"/>
              </a:rPr>
              <a:t>第一次累加值</a:t>
            </a:r>
            <a:r>
              <a:rPr lang="en-US" altLang="zh-CN" sz="2000" b="0" dirty="0">
                <a:latin typeface="黑体" panose="02010609060101010101" pitchFamily="49" charset="-122"/>
              </a:rPr>
              <a:t>:  (1) 87.000000  (2) 184.000000  (3) 304.000000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latin typeface="黑体" panose="02010609060101010101" pitchFamily="49" charset="-122"/>
              </a:rPr>
              <a:t>   (4) 470.000000  (5)631.000000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latin typeface="黑体" panose="02010609060101010101" pitchFamily="49" charset="-122"/>
              </a:rPr>
              <a:t>[5] </a:t>
            </a:r>
            <a:r>
              <a:rPr lang="zh-CN" altLang="en-US" sz="2000" b="0" dirty="0">
                <a:latin typeface="黑体" panose="02010609060101010101" pitchFamily="49" charset="-122"/>
              </a:rPr>
              <a:t>相对残差</a:t>
            </a:r>
            <a:r>
              <a:rPr lang="en-US" altLang="zh-CN" sz="2000" b="0" dirty="0">
                <a:latin typeface="黑体" panose="02010609060101010101" pitchFamily="49" charset="-122"/>
              </a:rPr>
              <a:t>e(k)</a:t>
            </a:r>
            <a:r>
              <a:rPr lang="zh-CN" altLang="en-US" sz="2000" b="0" dirty="0">
                <a:latin typeface="黑体" panose="02010609060101010101" pitchFamily="49" charset="-122"/>
              </a:rPr>
              <a:t>：</a:t>
            </a:r>
            <a:r>
              <a:rPr lang="en-US" altLang="zh-CN" sz="2000" b="0" dirty="0">
                <a:latin typeface="黑体" panose="02010609060101010101" pitchFamily="49" charset="-122"/>
              </a:rPr>
              <a:t>(1) 0.00000000  (2) -0.07269752  (3) -0.02437316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latin typeface="黑体" panose="02010609060101010101" pitchFamily="49" charset="-122"/>
              </a:rPr>
              <a:t>                  (4) 0.12517381  (5)-0.06560050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latin typeface="黑体" panose="02010609060101010101" pitchFamily="49" charset="-122"/>
              </a:rPr>
              <a:t>[6] </a:t>
            </a:r>
            <a:r>
              <a:rPr lang="zh-CN" altLang="en-US" sz="2000" b="0" dirty="0">
                <a:latin typeface="黑体" panose="02010609060101010101" pitchFamily="49" charset="-122"/>
              </a:rPr>
              <a:t>原数据均值</a:t>
            </a:r>
            <a:r>
              <a:rPr lang="en-US" altLang="zh-CN" sz="2000" b="0" dirty="0" err="1">
                <a:latin typeface="黑体" panose="02010609060101010101" pitchFamily="49" charset="-122"/>
              </a:rPr>
              <a:t>avg</a:t>
            </a:r>
            <a:r>
              <a:rPr lang="en-US" altLang="zh-CN" sz="2000" b="0" dirty="0">
                <a:latin typeface="黑体" panose="02010609060101010101" pitchFamily="49" charset="-122"/>
              </a:rPr>
              <a:t>(x)</a:t>
            </a:r>
            <a:r>
              <a:rPr lang="zh-CN" altLang="en-US" sz="2000" b="0" dirty="0">
                <a:latin typeface="黑体" panose="02010609060101010101" pitchFamily="49" charset="-122"/>
              </a:rPr>
              <a:t>：</a:t>
            </a:r>
            <a:r>
              <a:rPr lang="en-US" altLang="zh-CN" sz="2000" b="0" dirty="0">
                <a:latin typeface="黑体" panose="02010609060101010101" pitchFamily="49" charset="-122"/>
              </a:rPr>
              <a:t>126.20000000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latin typeface="黑体" panose="02010609060101010101" pitchFamily="49" charset="-122"/>
              </a:rPr>
              <a:t>[7] </a:t>
            </a:r>
            <a:r>
              <a:rPr lang="zh-CN" altLang="en-US" sz="2000" b="0" dirty="0">
                <a:latin typeface="黑体" panose="02010609060101010101" pitchFamily="49" charset="-122"/>
              </a:rPr>
              <a:t>原数据方差  </a:t>
            </a:r>
            <a:r>
              <a:rPr lang="en-US" altLang="zh-CN" sz="2000" b="0" dirty="0">
                <a:latin typeface="黑体" panose="02010609060101010101" pitchFamily="49" charset="-122"/>
              </a:rPr>
              <a:t>S(1)</a:t>
            </a:r>
            <a:r>
              <a:rPr lang="zh-CN" altLang="en-US" sz="2000" b="0" dirty="0">
                <a:latin typeface="黑体" panose="02010609060101010101" pitchFamily="49" charset="-122"/>
              </a:rPr>
              <a:t>：</a:t>
            </a:r>
            <a:r>
              <a:rPr lang="en-US" altLang="zh-CN" sz="2000" b="0" dirty="0">
                <a:latin typeface="黑体" panose="02010609060101010101" pitchFamily="49" charset="-122"/>
              </a:rPr>
              <a:t>32.31965346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latin typeface="黑体" panose="02010609060101010101" pitchFamily="49" charset="-122"/>
              </a:rPr>
              <a:t>[8] </a:t>
            </a:r>
            <a:r>
              <a:rPr lang="zh-CN" altLang="en-US" sz="2000" b="0" dirty="0">
                <a:latin typeface="黑体" panose="02010609060101010101" pitchFamily="49" charset="-122"/>
              </a:rPr>
              <a:t>残差的均值</a:t>
            </a:r>
            <a:r>
              <a:rPr lang="en-US" altLang="zh-CN" sz="2000" b="0" dirty="0" err="1">
                <a:latin typeface="黑体" panose="02010609060101010101" pitchFamily="49" charset="-122"/>
              </a:rPr>
              <a:t>avg</a:t>
            </a:r>
            <a:r>
              <a:rPr lang="en-US" altLang="zh-CN" sz="2000" b="0" dirty="0">
                <a:latin typeface="黑体" panose="02010609060101010101" pitchFamily="49" charset="-122"/>
              </a:rPr>
              <a:t>(E)</a:t>
            </a:r>
            <a:r>
              <a:rPr lang="zh-CN" altLang="en-US" sz="2000" b="0" dirty="0">
                <a:latin typeface="黑体" panose="02010609060101010101" pitchFamily="49" charset="-122"/>
              </a:rPr>
              <a:t>：</a:t>
            </a:r>
            <a:r>
              <a:rPr lang="en-US" altLang="zh-CN" sz="2000" b="0" dirty="0">
                <a:latin typeface="黑体" panose="02010609060101010101" pitchFamily="49" charset="-122"/>
              </a:rPr>
              <a:t>0.06018312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latin typeface="黑体" panose="02010609060101010101" pitchFamily="49" charset="-122"/>
              </a:rPr>
              <a:t>[9] </a:t>
            </a:r>
            <a:r>
              <a:rPr lang="zh-CN" altLang="en-US" sz="2000" b="0" dirty="0">
                <a:latin typeface="黑体" panose="02010609060101010101" pitchFamily="49" charset="-122"/>
              </a:rPr>
              <a:t>残差的方差  </a:t>
            </a:r>
            <a:r>
              <a:rPr lang="en-US" altLang="zh-CN" sz="2000" b="0" dirty="0">
                <a:latin typeface="黑体" panose="02010609060101010101" pitchFamily="49" charset="-122"/>
              </a:rPr>
              <a:t>S(2)</a:t>
            </a:r>
            <a:r>
              <a:rPr lang="zh-CN" altLang="en-US" sz="2000" b="0" dirty="0">
                <a:latin typeface="黑体" panose="02010609060101010101" pitchFamily="49" charset="-122"/>
              </a:rPr>
              <a:t>：</a:t>
            </a:r>
            <a:r>
              <a:rPr lang="en-US" altLang="zh-CN" sz="2000" b="0" dirty="0">
                <a:latin typeface="黑体" panose="02010609060101010101" pitchFamily="49" charset="-122"/>
              </a:rPr>
              <a:t>12.26351851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solidFill>
                  <a:srgbClr val="0000FF"/>
                </a:solidFill>
                <a:latin typeface="黑体" panose="02010609060101010101" pitchFamily="49" charset="-122"/>
              </a:rPr>
              <a:t>[10] </a:t>
            </a:r>
            <a:r>
              <a:rPr lang="zh-CN" altLang="en-US" sz="2000" b="0" dirty="0">
                <a:solidFill>
                  <a:srgbClr val="0000FF"/>
                </a:solidFill>
                <a:latin typeface="黑体" panose="02010609060101010101" pitchFamily="49" charset="-122"/>
              </a:rPr>
              <a:t>后验差比值   </a:t>
            </a:r>
            <a:r>
              <a:rPr lang="en-US" altLang="zh-CN" sz="2000" b="0" dirty="0">
                <a:solidFill>
                  <a:srgbClr val="0000FF"/>
                </a:solidFill>
                <a:latin typeface="黑体" panose="02010609060101010101" pitchFamily="49" charset="-122"/>
              </a:rPr>
              <a:t>C</a:t>
            </a:r>
            <a:r>
              <a:rPr lang="zh-CN" altLang="en-US" sz="2000" b="0" dirty="0">
                <a:solidFill>
                  <a:srgbClr val="0000FF"/>
                </a:solidFill>
                <a:latin typeface="黑体" panose="02010609060101010101" pitchFamily="49" charset="-122"/>
              </a:rPr>
              <a:t>： </a:t>
            </a:r>
            <a:r>
              <a:rPr lang="en-US" altLang="zh-CN" sz="2000" b="0" dirty="0">
                <a:solidFill>
                  <a:srgbClr val="0000FF"/>
                </a:solidFill>
                <a:latin typeface="黑体" panose="02010609060101010101" pitchFamily="49" charset="-122"/>
              </a:rPr>
              <a:t>0.37944462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solidFill>
                  <a:srgbClr val="0000FF"/>
                </a:solidFill>
                <a:latin typeface="黑体" panose="02010609060101010101" pitchFamily="49" charset="-122"/>
              </a:rPr>
              <a:t>[11] </a:t>
            </a:r>
            <a:r>
              <a:rPr lang="zh-CN" altLang="en-US" sz="2000" b="0" dirty="0">
                <a:solidFill>
                  <a:srgbClr val="0000FF"/>
                </a:solidFill>
                <a:latin typeface="黑体" panose="02010609060101010101" pitchFamily="49" charset="-122"/>
              </a:rPr>
              <a:t>小误差概率    </a:t>
            </a:r>
            <a:r>
              <a:rPr lang="en-US" altLang="zh-CN" sz="2000" b="0" dirty="0">
                <a:solidFill>
                  <a:srgbClr val="0000FF"/>
                </a:solidFill>
                <a:latin typeface="黑体" panose="02010609060101010101" pitchFamily="49" charset="-122"/>
              </a:rPr>
              <a:t>P</a:t>
            </a:r>
            <a:r>
              <a:rPr lang="zh-CN" altLang="en-US" sz="2000" b="0" dirty="0">
                <a:solidFill>
                  <a:srgbClr val="0000FF"/>
                </a:solidFill>
                <a:latin typeface="黑体" panose="02010609060101010101" pitchFamily="49" charset="-122"/>
              </a:rPr>
              <a:t>：</a:t>
            </a:r>
            <a:r>
              <a:rPr lang="en-US" altLang="zh-CN" sz="2000" b="0" dirty="0">
                <a:solidFill>
                  <a:srgbClr val="0000FF"/>
                </a:solidFill>
                <a:latin typeface="黑体" panose="02010609060101010101" pitchFamily="49" charset="-122"/>
              </a:rPr>
              <a:t>1.00000000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latin typeface="黑体" panose="02010609060101010101" pitchFamily="49" charset="-122"/>
              </a:rPr>
              <a:t>[12] </a:t>
            </a:r>
            <a:r>
              <a:rPr lang="zh-CN" altLang="en-US" sz="2000" b="0" dirty="0">
                <a:latin typeface="黑体" panose="02010609060101010101" pitchFamily="49" charset="-122"/>
              </a:rPr>
              <a:t>模型计算值</a:t>
            </a:r>
            <a:r>
              <a:rPr lang="en-US" altLang="zh-CN" sz="2000" b="0" dirty="0">
                <a:latin typeface="黑体" panose="02010609060101010101" pitchFamily="49" charset="-122"/>
              </a:rPr>
              <a:t>X^(k)</a:t>
            </a:r>
            <a:r>
              <a:rPr lang="zh-CN" altLang="en-US" sz="2000" b="0" dirty="0">
                <a:latin typeface="黑体" panose="02010609060101010101" pitchFamily="49" charset="-122"/>
              </a:rPr>
              <a:t>： </a:t>
            </a:r>
            <a:r>
              <a:rPr lang="en-US" altLang="zh-CN" sz="2000" b="0" dirty="0">
                <a:latin typeface="黑体" panose="02010609060101010101" pitchFamily="49" charset="-122"/>
              </a:rPr>
              <a:t>(1) 87.00000000  (2) 104.05165921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latin typeface="黑体" panose="02010609060101010101" pitchFamily="49" charset="-122"/>
              </a:rPr>
              <a:t>     (3) 122.92477940  (4)145.22114789  (5) 171.56168104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latin typeface="黑体" panose="02010609060101010101" pitchFamily="49" charset="-122"/>
              </a:rPr>
              <a:t>[13] </a:t>
            </a:r>
            <a:r>
              <a:rPr lang="zh-CN" altLang="en-US" sz="2000" b="0" dirty="0">
                <a:latin typeface="黑体" panose="02010609060101010101" pitchFamily="49" charset="-122"/>
              </a:rPr>
              <a:t>预测的结果</a:t>
            </a:r>
            <a:r>
              <a:rPr lang="en-US" altLang="zh-CN" sz="2000" b="0" dirty="0">
                <a:latin typeface="黑体" panose="02010609060101010101" pitchFamily="49" charset="-122"/>
              </a:rPr>
              <a:t>X*(k)</a:t>
            </a:r>
            <a:r>
              <a:rPr lang="zh-CN" altLang="en-US" sz="2000" b="0" dirty="0">
                <a:latin typeface="黑体" panose="02010609060101010101" pitchFamily="49" charset="-122"/>
              </a:rPr>
              <a:t>： </a:t>
            </a:r>
            <a:r>
              <a:rPr lang="en-US" altLang="zh-CN" sz="2000" b="0" dirty="0">
                <a:latin typeface="黑体" panose="02010609060101010101" pitchFamily="49" charset="-122"/>
              </a:rPr>
              <a:t>(1) </a:t>
            </a:r>
            <a:r>
              <a:rPr lang="en-US" altLang="zh-CN" sz="2000" b="0" dirty="0">
                <a:solidFill>
                  <a:srgbClr val="0000FF"/>
                </a:solidFill>
                <a:latin typeface="黑体" panose="02010609060101010101" pitchFamily="49" charset="-122"/>
              </a:rPr>
              <a:t>202.67991837</a:t>
            </a:r>
            <a:r>
              <a:rPr lang="en-US" altLang="zh-CN" sz="2000" b="0" dirty="0">
                <a:latin typeface="黑体" panose="02010609060101010101" pitchFamily="49" charset="-122"/>
              </a:rPr>
              <a:t> (2) 239.44245045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000" b="0" dirty="0">
                <a:latin typeface="黑体" panose="02010609060101010101" pitchFamily="49" charset="-122"/>
              </a:rPr>
              <a:t>     (3) 282.87305194  (4)334.18119203  (5) 394.79571611 (6) 466.40463669  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zh-CN" altLang="en-US" sz="2000" b="0" dirty="0">
                <a:solidFill>
                  <a:srgbClr val="0000FF"/>
                </a:solidFill>
                <a:latin typeface="黑体" panose="02010609060101010101" pitchFamily="49" charset="-122"/>
              </a:rPr>
              <a:t>预测精度等级： 合格！</a:t>
            </a:r>
            <a:r>
              <a:rPr lang="zh-CN" altLang="en-US" sz="2000" b="0" dirty="0">
                <a:solidFill>
                  <a:srgbClr val="FF3300"/>
                </a:solidFill>
                <a:latin typeface="黑体" panose="02010609060101010101" pitchFamily="49" charset="-122"/>
              </a:rPr>
              <a:t>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n"/>
            </a:pPr>
            <a:r>
              <a:rPr lang="zh-CN" altLang="en-US" sz="2000" b="0" dirty="0">
                <a:solidFill>
                  <a:srgbClr val="FF3300"/>
                </a:solidFill>
                <a:latin typeface="黑体" panose="02010609060101010101" pitchFamily="49" charset="-122"/>
              </a:rPr>
              <a:t>结果表明：如果该市不采取更有效的防火措施，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000" b="0" dirty="0">
                <a:solidFill>
                  <a:srgbClr val="FF3300"/>
                </a:solidFill>
                <a:latin typeface="黑体" panose="02010609060101010101" pitchFamily="49" charset="-122"/>
              </a:rPr>
              <a:t>          </a:t>
            </a:r>
            <a:r>
              <a:rPr lang="en-US" altLang="zh-CN" sz="2000" b="0" dirty="0">
                <a:solidFill>
                  <a:srgbClr val="FF3300"/>
                </a:solidFill>
                <a:latin typeface="黑体" panose="02010609060101010101" pitchFamily="49" charset="-122"/>
              </a:rPr>
              <a:t>2006</a:t>
            </a:r>
            <a:r>
              <a:rPr lang="zh-CN" altLang="en-US" sz="2000" b="0" dirty="0">
                <a:solidFill>
                  <a:srgbClr val="FF3300"/>
                </a:solidFill>
                <a:latin typeface="黑体" panose="02010609060101010101" pitchFamily="49" charset="-122"/>
              </a:rPr>
              <a:t>年的火灾事故次数约为 </a:t>
            </a:r>
            <a:r>
              <a:rPr lang="en-US" altLang="zh-CN" sz="2000" dirty="0">
                <a:solidFill>
                  <a:srgbClr val="FF3300"/>
                </a:solidFill>
                <a:latin typeface="黑体" panose="02010609060101010101" pitchFamily="49" charset="-122"/>
              </a:rPr>
              <a:t>203 </a:t>
            </a:r>
            <a:r>
              <a:rPr lang="zh-CN" altLang="en-US" sz="2000" b="0" dirty="0">
                <a:solidFill>
                  <a:srgbClr val="FF3300"/>
                </a:solidFill>
                <a:latin typeface="黑体" panose="02010609060101010101" pitchFamily="49" charset="-122"/>
              </a:rPr>
              <a:t>次</a:t>
            </a:r>
            <a:r>
              <a:rPr lang="en-US" altLang="zh-CN" sz="2000" b="0" dirty="0">
                <a:solidFill>
                  <a:srgbClr val="FF3300"/>
                </a:solidFill>
                <a:latin typeface="黑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064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064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064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1908175" y="3062288"/>
            <a:ext cx="6408738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4000" b="1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7.6  </a:t>
            </a:r>
            <a:r>
              <a:rPr lang="zh-CN" altLang="en-US" sz="4000" b="1">
                <a:solidFill>
                  <a:srgbClr val="FF33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灾变与异常值预测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7.6  </a:t>
            </a:r>
            <a:r>
              <a:rPr lang="zh-CN" altLang="en-US" sz="2000"/>
              <a:t>灾变与异常值预测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z="2800" b="0" dirty="0">
                <a:solidFill>
                  <a:schemeClr val="hlink"/>
                </a:solidFill>
                <a:latin typeface="黑体" panose="02010609060101010101" pitchFamily="49" charset="-122"/>
              </a:rPr>
              <a:t>1. </a:t>
            </a:r>
            <a:r>
              <a:rPr lang="zh-CN" altLang="en-US" sz="2800" b="0" dirty="0">
                <a:solidFill>
                  <a:schemeClr val="hlink"/>
                </a:solidFill>
                <a:latin typeface="黑体" panose="02010609060101010101" pitchFamily="49" charset="-122"/>
              </a:rPr>
              <a:t>灾变预的数学原理与特征</a:t>
            </a:r>
          </a:p>
          <a:p>
            <a:pPr>
              <a:buFontTx/>
              <a:buNone/>
            </a:pPr>
            <a:r>
              <a:rPr lang="zh-CN" altLang="en-US" sz="2800" b="0" dirty="0">
                <a:latin typeface="黑体" panose="02010609060101010101" pitchFamily="49" charset="-122"/>
              </a:rPr>
              <a:t>     灾变预测与数据预测的不同点，在于它</a:t>
            </a:r>
            <a:r>
              <a:rPr lang="zh-CN" altLang="en-US" sz="2800" b="0" dirty="0">
                <a:solidFill>
                  <a:srgbClr val="0000FF"/>
                </a:solidFill>
                <a:latin typeface="黑体" panose="02010609060101010101" pitchFamily="49" charset="-122"/>
              </a:rPr>
              <a:t>不是预测序列数据的量的变化，而是预测异常值或</a:t>
            </a:r>
            <a:r>
              <a:rPr lang="zh-CN" altLang="en-US" sz="2800" b="0" dirty="0">
                <a:solidFill>
                  <a:srgbClr val="0000FF"/>
                </a:solidFill>
              </a:rPr>
              <a:t>“</a:t>
            </a:r>
            <a:r>
              <a:rPr lang="zh-CN" altLang="en-US" sz="2800" b="0" dirty="0">
                <a:solidFill>
                  <a:srgbClr val="0000FF"/>
                </a:solidFill>
                <a:latin typeface="黑体" panose="02010609060101010101" pitchFamily="49" charset="-122"/>
              </a:rPr>
              <a:t>灾变</a:t>
            </a:r>
            <a:r>
              <a:rPr lang="zh-CN" altLang="en-US" sz="2800" b="0" dirty="0">
                <a:solidFill>
                  <a:srgbClr val="0000FF"/>
                </a:solidFill>
              </a:rPr>
              <a:t>”</a:t>
            </a:r>
            <a:r>
              <a:rPr lang="zh-CN" altLang="en-US" sz="2800" b="0" dirty="0">
                <a:solidFill>
                  <a:srgbClr val="0000FF"/>
                </a:solidFill>
                <a:latin typeface="黑体" panose="02010609060101010101" pitchFamily="49" charset="-122"/>
              </a:rPr>
              <a:t>点出现的时间</a:t>
            </a:r>
            <a:r>
              <a:rPr lang="zh-CN" altLang="en-US" sz="2800" b="0" dirty="0">
                <a:latin typeface="黑体" panose="02010609060101010101" pitchFamily="49" charset="-122"/>
              </a:rPr>
              <a:t>，它是应用灰色区间（间隔）的预测而进行的。所以，灾变预测的基本要求是</a:t>
            </a:r>
            <a:r>
              <a:rPr lang="zh-CN" altLang="en-US" sz="2800" b="0" dirty="0"/>
              <a:t>“</a:t>
            </a:r>
            <a:r>
              <a:rPr lang="zh-CN" altLang="en-US" sz="2800" b="0" dirty="0">
                <a:solidFill>
                  <a:srgbClr val="0000FF"/>
                </a:solidFill>
                <a:latin typeface="黑体" panose="02010609060101010101" pitchFamily="49" charset="-122"/>
              </a:rPr>
              <a:t>定量求时</a:t>
            </a:r>
            <a:r>
              <a:rPr lang="zh-CN" altLang="en-US" sz="2800" b="0" dirty="0"/>
              <a:t>”</a:t>
            </a:r>
            <a:r>
              <a:rPr lang="zh-CN" altLang="en-US" sz="2800" b="0" dirty="0">
                <a:latin typeface="黑体" panose="02010609060101010101" pitchFamily="49" charset="-122"/>
              </a:rPr>
              <a:t>。灾变预测的数学原理描述如下：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7.6  </a:t>
            </a:r>
            <a:r>
              <a:rPr lang="zh-CN" altLang="en-US" sz="2000"/>
              <a:t>灾变与异常值预测</a:t>
            </a:r>
          </a:p>
        </p:txBody>
      </p:sp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125538"/>
            <a:ext cx="7812087" cy="5246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7.6  </a:t>
            </a:r>
            <a:r>
              <a:rPr lang="zh-CN" altLang="en-US" sz="2000"/>
              <a:t>灾变与异常值预测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229600" cy="259238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 b="0">
                <a:solidFill>
                  <a:schemeClr val="hlink"/>
                </a:solidFill>
                <a:latin typeface="黑体" panose="02010609060101010101" pitchFamily="49" charset="-122"/>
              </a:rPr>
              <a:t>3.</a:t>
            </a:r>
            <a:r>
              <a:rPr lang="zh-CN" altLang="en-US" sz="2800" b="0">
                <a:solidFill>
                  <a:schemeClr val="hlink"/>
                </a:solidFill>
                <a:latin typeface="黑体" panose="02010609060101010101" pitchFamily="49" charset="-122"/>
              </a:rPr>
              <a:t>实际问题</a:t>
            </a:r>
            <a:r>
              <a:rPr lang="en-US" altLang="zh-CN" sz="2800" b="0">
                <a:solidFill>
                  <a:schemeClr val="hlink"/>
                </a:solidFill>
              </a:rPr>
              <a:t>—</a:t>
            </a:r>
            <a:r>
              <a:rPr lang="zh-CN" altLang="en-US" sz="2800" b="0">
                <a:solidFill>
                  <a:schemeClr val="hlink"/>
                </a:solidFill>
                <a:latin typeface="黑体" panose="02010609060101010101" pitchFamily="49" charset="-122"/>
              </a:rPr>
              <a:t>旱灾预测</a:t>
            </a:r>
          </a:p>
          <a:p>
            <a:r>
              <a:rPr lang="en-US" altLang="zh-CN" sz="2800" b="0">
                <a:solidFill>
                  <a:srgbClr val="FF3300"/>
                </a:solidFill>
                <a:latin typeface="黑体" panose="02010609060101010101" pitchFamily="49" charset="-122"/>
              </a:rPr>
              <a:t>【</a:t>
            </a:r>
            <a:r>
              <a:rPr lang="zh-CN" altLang="en-US" sz="2800" b="0">
                <a:solidFill>
                  <a:srgbClr val="FF3300"/>
                </a:solidFill>
                <a:latin typeface="黑体" panose="02010609060101010101" pitchFamily="49" charset="-122"/>
              </a:rPr>
              <a:t>例</a:t>
            </a:r>
            <a:r>
              <a:rPr lang="en-US" altLang="zh-CN" sz="2800" b="0">
                <a:solidFill>
                  <a:srgbClr val="FF3300"/>
                </a:solidFill>
                <a:latin typeface="黑体" panose="02010609060101010101" pitchFamily="49" charset="-122"/>
              </a:rPr>
              <a:t>7.5】</a:t>
            </a:r>
            <a:r>
              <a:rPr lang="zh-CN" altLang="en-US" sz="2800" b="0">
                <a:latin typeface="黑体" panose="02010609060101010101" pitchFamily="49" charset="-122"/>
              </a:rPr>
              <a:t>某地年降水量原始数据序列如表</a:t>
            </a:r>
            <a:r>
              <a:rPr lang="en-US" altLang="zh-CN" sz="2800" b="0">
                <a:latin typeface="黑体" panose="02010609060101010101" pitchFamily="49" charset="-122"/>
              </a:rPr>
              <a:t>7.9</a:t>
            </a:r>
            <a:r>
              <a:rPr lang="zh-CN" altLang="en-US" sz="2800" b="0">
                <a:latin typeface="黑体" panose="02010609060101010101" pitchFamily="49" charset="-122"/>
              </a:rPr>
              <a:t>所示，根据多年的时间观测，每当年降水量小于</a:t>
            </a:r>
            <a:r>
              <a:rPr lang="en-US" altLang="zh-CN" sz="2800" b="0">
                <a:latin typeface="黑体" panose="02010609060101010101" pitchFamily="49" charset="-122"/>
              </a:rPr>
              <a:t>430</a:t>
            </a:r>
            <a:r>
              <a:rPr lang="zh-CN" altLang="en-US" sz="2800" b="0">
                <a:latin typeface="黑体" panose="02010609060101010101" pitchFamily="49" charset="-122"/>
              </a:rPr>
              <a:t>～</a:t>
            </a:r>
            <a:r>
              <a:rPr lang="en-US" altLang="zh-CN" sz="2800" b="0">
                <a:latin typeface="黑体" panose="02010609060101010101" pitchFamily="49" charset="-122"/>
              </a:rPr>
              <a:t>440mm</a:t>
            </a:r>
            <a:r>
              <a:rPr lang="zh-CN" altLang="en-US" sz="2800" b="0">
                <a:latin typeface="黑体" panose="02010609060101010101" pitchFamily="49" charset="-122"/>
              </a:rPr>
              <a:t>时，该地区将发生旱灾</a:t>
            </a:r>
            <a:r>
              <a:rPr lang="en-US" altLang="zh-CN" sz="2800" b="0">
                <a:latin typeface="黑体" panose="02010609060101010101" pitchFamily="49" charset="-122"/>
              </a:rPr>
              <a:t>.</a:t>
            </a:r>
            <a:r>
              <a:rPr lang="zh-CN" altLang="en-US" sz="2800" b="0">
                <a:latin typeface="黑体" panose="02010609060101010101" pitchFamily="49" charset="-122"/>
              </a:rPr>
              <a:t>所以，选择阈值</a:t>
            </a:r>
            <a:r>
              <a:rPr lang="en-US" altLang="zh-CN" sz="2800" b="0">
                <a:latin typeface="黑体" panose="02010609060101010101" pitchFamily="49" charset="-122"/>
              </a:rPr>
              <a:t>=435mm, </a:t>
            </a:r>
            <a:r>
              <a:rPr lang="zh-CN" altLang="en-US" sz="2800" b="0">
                <a:latin typeface="黑体" panose="02010609060101010101" pitchFamily="49" charset="-122"/>
              </a:rPr>
              <a:t>利用</a:t>
            </a:r>
            <a:r>
              <a:rPr lang="en-US" altLang="zh-CN" sz="2800" b="0">
                <a:latin typeface="黑体" panose="02010609060101010101" pitchFamily="49" charset="-122"/>
              </a:rPr>
              <a:t>GM(1,1)</a:t>
            </a:r>
            <a:r>
              <a:rPr lang="zh-CN" altLang="en-US" sz="2800" b="0">
                <a:latin typeface="黑体" panose="02010609060101010101" pitchFamily="49" charset="-122"/>
              </a:rPr>
              <a:t>模型进行旱灾预报</a:t>
            </a:r>
            <a:r>
              <a:rPr lang="en-US" altLang="zh-CN" sz="2800" b="0">
                <a:latin typeface="黑体" panose="02010609060101010101" pitchFamily="49" charset="-122"/>
              </a:rPr>
              <a:t>.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7.6  </a:t>
            </a:r>
            <a:r>
              <a:rPr lang="zh-CN" altLang="en-US" sz="2000"/>
              <a:t>灾变与异常值预测</a:t>
            </a: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2555875" y="1196975"/>
            <a:ext cx="3917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表</a:t>
            </a:r>
            <a:r>
              <a:rPr lang="en-US" altLang="zh-CN"/>
              <a:t>7.9 </a:t>
            </a:r>
            <a:r>
              <a:rPr lang="zh-CN" altLang="en-US"/>
              <a:t>某地年降水量（</a:t>
            </a:r>
            <a:r>
              <a:rPr lang="en-US" altLang="zh-CN"/>
              <a:t>mm</a:t>
            </a:r>
            <a:r>
              <a:rPr lang="zh-CN" altLang="en-US"/>
              <a:t>）原始数据</a:t>
            </a:r>
          </a:p>
        </p:txBody>
      </p:sp>
      <p:pic>
        <p:nvPicPr>
          <p:cNvPr id="110234" name="Picture 66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773238"/>
            <a:ext cx="8875713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7.6  </a:t>
            </a:r>
            <a:r>
              <a:rPr lang="zh-CN" altLang="en-US" sz="2000"/>
              <a:t>灾变与异常值预测</a:t>
            </a:r>
          </a:p>
        </p:txBody>
      </p:sp>
      <p:pic>
        <p:nvPicPr>
          <p:cNvPr id="65178" name="Picture 66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412875"/>
            <a:ext cx="8353425" cy="41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7.6  </a:t>
            </a:r>
            <a:r>
              <a:rPr lang="zh-CN" altLang="en-US" sz="2000"/>
              <a:t>灾变与异常值预测</a:t>
            </a:r>
          </a:p>
        </p:txBody>
      </p:sp>
      <p:pic>
        <p:nvPicPr>
          <p:cNvPr id="655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7776219" cy="593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7.6  </a:t>
            </a:r>
            <a:r>
              <a:rPr lang="zh-CN" altLang="en-US" sz="2000"/>
              <a:t>灾变与异常值预测</a:t>
            </a:r>
          </a:p>
        </p:txBody>
      </p:sp>
      <p:pic>
        <p:nvPicPr>
          <p:cNvPr id="6656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125538"/>
            <a:ext cx="8412163" cy="484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运筹学">
  <a:themeElements>
    <a:clrScheme name="运筹学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运筹学">
      <a:majorFont>
        <a:latin typeface="Arial"/>
        <a:ea typeface="黑体"/>
        <a:cs typeface=""/>
      </a:majorFont>
      <a:minorFont>
        <a:latin typeface="Arial Black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运筹学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运筹学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运筹学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运筹学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运筹学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运筹学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运筹学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运筹学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运筹学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运筹学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运筹学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运筹学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1165</TotalTime>
  <Words>1922</Words>
  <Application>Microsoft Office PowerPoint</Application>
  <PresentationFormat>全屏显示(4:3)</PresentationFormat>
  <Paragraphs>273</Paragraphs>
  <Slides>45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3" baseType="lpstr">
      <vt:lpstr>黑体</vt:lpstr>
      <vt:lpstr>Arial</vt:lpstr>
      <vt:lpstr>Arial Black</vt:lpstr>
      <vt:lpstr>Cambria Math</vt:lpstr>
      <vt:lpstr>Times New Roman</vt:lpstr>
      <vt:lpstr>Wingdings</vt:lpstr>
      <vt:lpstr>运筹学</vt:lpstr>
      <vt:lpstr>Equation</vt:lpstr>
      <vt:lpstr>PowerPoint 演示文稿</vt:lpstr>
      <vt:lpstr>如何预测？</vt:lpstr>
      <vt:lpstr>PowerPoint 演示文稿</vt:lpstr>
      <vt:lpstr>PowerPoint 演示文稿</vt:lpstr>
      <vt:lpstr>7.1灰色系统的定义和特点</vt:lpstr>
      <vt:lpstr>PowerPoint 演示文稿</vt:lpstr>
      <vt:lpstr>7.2 灰色系统的模型</vt:lpstr>
      <vt:lpstr>PowerPoint 演示文稿</vt:lpstr>
      <vt:lpstr>7.2 灰色系统的模型</vt:lpstr>
      <vt:lpstr>7.2 灰色系统的模型</vt:lpstr>
      <vt:lpstr>7.2 灰色系统的模型</vt:lpstr>
      <vt:lpstr>7.2 灰色系统的模型</vt:lpstr>
      <vt:lpstr>7.2 灰色系统的模型</vt:lpstr>
      <vt:lpstr>7.2 灰色系统的模型</vt:lpstr>
      <vt:lpstr>7.2 灰色系统的模型</vt:lpstr>
      <vt:lpstr>7.2 灰色系统的模型</vt:lpstr>
      <vt:lpstr>7.2 灰色系统的模型</vt:lpstr>
      <vt:lpstr>7.2 灰色系统的模型</vt:lpstr>
      <vt:lpstr>7.2 灰色系统的模型</vt:lpstr>
      <vt:lpstr>7.2 灰色系统的模型</vt:lpstr>
      <vt:lpstr>7.2 灰色系统的模型</vt:lpstr>
      <vt:lpstr>7.2 灰色系统的模型</vt:lpstr>
      <vt:lpstr>PowerPoint 演示文稿</vt:lpstr>
      <vt:lpstr>7.3  销售额预测</vt:lpstr>
      <vt:lpstr>7.3  销售额预测</vt:lpstr>
      <vt:lpstr>7.3  销售额预测</vt:lpstr>
      <vt:lpstr>7.3  销售额预测</vt:lpstr>
      <vt:lpstr>7.3  销售额预测</vt:lpstr>
      <vt:lpstr>7.3  销售额预测</vt:lpstr>
      <vt:lpstr>PowerPoint 演示文稿</vt:lpstr>
      <vt:lpstr> 7.4  城市道路交通事故次数的灰色预测</vt:lpstr>
      <vt:lpstr> 7.4  城市道路交通事故次数的灰色预测</vt:lpstr>
      <vt:lpstr> 7.4  城市道路交通事故次数的灰色预测</vt:lpstr>
      <vt:lpstr>PowerPoint 演示文稿</vt:lpstr>
      <vt:lpstr>7.5  城市火灾发生次数的灰色预测</vt:lpstr>
      <vt:lpstr>7.5  城市火灾发生次数的灰色预测</vt:lpstr>
      <vt:lpstr>7.5  城市火灾发生次数的灰色预测</vt:lpstr>
      <vt:lpstr>PowerPoint 演示文稿</vt:lpstr>
      <vt:lpstr>7.6  灾变与异常值预测</vt:lpstr>
      <vt:lpstr>7.6  灾变与异常值预测</vt:lpstr>
      <vt:lpstr>7.6  灾变与异常值预测</vt:lpstr>
      <vt:lpstr>7.6  灾变与异常值预测</vt:lpstr>
      <vt:lpstr>7.6  灾变与异常值预测</vt:lpstr>
      <vt:lpstr>7.6  灾变与异常值预测</vt:lpstr>
      <vt:lpstr>7.6  灾变与异常值预测</vt:lpstr>
    </vt:vector>
  </TitlesOfParts>
  <Company>MC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运筹学</dc:title>
  <dc:creator>MC SYSTEM</dc:creator>
  <cp:lastModifiedBy>杨欢欢</cp:lastModifiedBy>
  <cp:revision>141</cp:revision>
  <dcterms:created xsi:type="dcterms:W3CDTF">2007-12-17T00:42:46Z</dcterms:created>
  <dcterms:modified xsi:type="dcterms:W3CDTF">2019-11-21T02:43:51Z</dcterms:modified>
</cp:coreProperties>
</file>