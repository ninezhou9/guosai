
<file path=[Content_Types].xml><?xml version="1.0" encoding="utf-8"?>
<Types xmlns="http://schemas.openxmlformats.org/package/2006/content-types">
  <Default Extension="rels" ContentType="application/vnd.openxmlformats-package.relationships+xml"/>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wav" ContentType="audio/wav"/>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NET 15.1.0.0-->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700" r:id="rId4"/>
    <p:sldId id="428" r:id="rId5"/>
    <p:sldId id="431" r:id="rId6"/>
    <p:sldId id="434" r:id="rId7"/>
    <p:sldId id="437" r:id="rId8"/>
    <p:sldId id="440" r:id="rId9"/>
    <p:sldId id="443" r:id="rId10"/>
    <p:sldId id="446" r:id="rId11"/>
    <p:sldId id="449" r:id="rId12"/>
    <p:sldId id="452" r:id="rId13"/>
    <p:sldId id="455" r:id="rId14"/>
    <p:sldId id="458" r:id="rId15"/>
    <p:sldId id="461" r:id="rId16"/>
    <p:sldId id="464" r:id="rId17"/>
    <p:sldId id="467" r:id="rId18"/>
    <p:sldId id="470" r:id="rId19"/>
    <p:sldId id="473" r:id="rId20"/>
    <p:sldId id="476" r:id="rId21"/>
    <p:sldId id="479" r:id="rId22"/>
    <p:sldId id="482" r:id="rId23"/>
    <p:sldId id="485" r:id="rId24"/>
    <p:sldId id="488" r:id="rId25"/>
    <p:sldId id="491" r:id="rId26"/>
    <p:sldId id="494" r:id="rId27"/>
    <p:sldId id="497" r:id="rId28"/>
    <p:sldId id="500" r:id="rId29"/>
    <p:sldId id="503" r:id="rId30"/>
    <p:sldId id="506" r:id="rId31"/>
    <p:sldId id="509" r:id="rId32"/>
    <p:sldId id="512" r:id="rId33"/>
    <p:sldId id="515" r:id="rId34"/>
    <p:sldId id="518" r:id="rId35"/>
    <p:sldId id="521" r:id="rId36"/>
    <p:sldId id="524" r:id="rId37"/>
    <p:sldId id="527" r:id="rId38"/>
    <p:sldId id="530" r:id="rId39"/>
    <p:sldId id="533" r:id="rId40"/>
    <p:sldId id="536" r:id="rId41"/>
    <p:sldId id="539" r:id="rId42"/>
    <p:sldId id="542" r:id="rId43"/>
    <p:sldId id="545" r:id="rId44"/>
    <p:sldId id="548" r:id="rId45"/>
    <p:sldId id="551" r:id="rId46"/>
    <p:sldId id="554" r:id="rId47"/>
    <p:sldId id="557" r:id="rId48"/>
    <p:sldId id="560" r:id="rId49"/>
    <p:sldId id="563" r:id="rId50"/>
    <p:sldId id="566" r:id="rId51"/>
    <p:sldId id="569" r:id="rId52"/>
    <p:sldId id="572" r:id="rId53"/>
    <p:sldId id="575" r:id="rId54"/>
    <p:sldId id="578" r:id="rId55"/>
    <p:sldId id="581" r:id="rId56"/>
    <p:sldId id="584" r:id="rId57"/>
    <p:sldId id="587" r:id="rId58"/>
    <p:sldId id="590" r:id="rId59"/>
    <p:sldId id="593" r:id="rId60"/>
    <p:sldId id="596" r:id="rId61"/>
    <p:sldId id="599" r:id="rId62"/>
    <p:sldId id="602" r:id="rId63"/>
    <p:sldId id="605" r:id="rId64"/>
    <p:sldId id="608" r:id="rId65"/>
    <p:sldId id="611" r:id="rId66"/>
    <p:sldId id="614" r:id="rId67"/>
    <p:sldId id="617" r:id="rId68"/>
    <p:sldId id="620" r:id="rId69"/>
    <p:sldId id="623" r:id="rId70"/>
    <p:sldId id="626" r:id="rId71"/>
    <p:sldId id="629" r:id="rId72"/>
    <p:sldId id="632" r:id="rId73"/>
    <p:sldId id="635" r:id="rId74"/>
    <p:sldId id="638" r:id="rId75"/>
    <p:sldId id="641" r:id="rId76"/>
    <p:sldId id="644" r:id="rId77"/>
    <p:sldId id="647" r:id="rId78"/>
    <p:sldId id="650" r:id="rId79"/>
    <p:sldId id="653" r:id="rId80"/>
    <p:sldId id="656" r:id="rId81"/>
    <p:sldId id="659" r:id="rId82"/>
    <p:sldId id="662" r:id="rId83"/>
    <p:sldId id="665" r:id="rId84"/>
    <p:sldId id="668" r:id="rId85"/>
    <p:sldId id="671" r:id="rId86"/>
    <p:sldId id="674" r:id="rId87"/>
    <p:sldId id="677" r:id="rId88"/>
    <p:sldId id="680" r:id="rId89"/>
    <p:sldId id="683" r:id="rId90"/>
    <p:sldId id="686" r:id="rId91"/>
    <p:sldId id="689" r:id="rId92"/>
    <p:sldId id="692" r:id="rId93"/>
    <p:sldId id="695" r:id="rId94"/>
  </p:sldIdLst>
  <p:sldSz cx="9144000" cy="6858000"/>
  <p:notesSz cx="9144000" cy="6858000"/>
  <p:custDataLst>
    <p:tags r:id="rId95"/>
  </p:custDataLst>
  <p:defaultTextStyle>
    <a:defPPr>
      <a:defRPr lang="zh-CN">
        <a:effectLst/>
      </a:defRPr>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8064"/>
    <a:srgbClr val="8A846A"/>
    <a:srgbClr val="9A9486"/>
    <a:srgbClr val="8B8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r="http://schemas.openxmlformats.org/officeDocument/2006/relationships" xmlns:a="http://schemas.openxmlformats.org/drawingml/2006/main" xmlns:p="http://schemas.openxmlformats.org/presentationml/2006/main">
  <p:normalViewPr horzBarState="maximized">
    <p:restoredLeft sz="15620"/>
    <p:restoredTop sz="94660"/>
  </p:normalViewPr>
  <p:slideViewPr>
    <p:cSldViewPr snapToGrid="0" showGuides="1">
      <p:cViewPr varScale="1">
        <p:scale>
          <a:sx n="114" d="100"/>
          <a:sy n="114" d="100"/>
        </p:scale>
        <p:origin x="-1650" y="-108"/>
      </p:cViewPr>
      <p:guideLst>
        <p:guide orient="horz" pos="3203"/>
        <p:guide pos="5120"/>
      </p:guideLst>
    </p:cSldViewPr>
  </p:slideViewPr>
  <p:notesTextViewPr>
    <p:cViewPr>
      <p:scale>
        <a:sx n="1" d="1"/>
        <a:sy n="1" d="1"/>
      </p:scale>
      <p:origin x="0" y="0"/>
    </p:cViewPr>
  </p:notesTextViewPr>
  <p:notesViewPr>
    <p:cSldViewPr snapToGrid="0">
      <p:cViewPr varScale="1">
        <p:scale>
          <a:sx n="86" d="100"/>
          <a:sy n="86" d="100"/>
        </p:scale>
        <p:origin x="-3894" y="-90"/>
      </p:cViewPr>
      <p:guideLst>
        <p:guide orient="horz" pos="2160"/>
        <p:guide pos="2880"/>
      </p:guideLst>
    </p:cSldViewPr>
  </p:notesViewPr>
  <p:gridSpacing cx="72005" cy="72005"/>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slide" Target="slides/slide36.xml" /><Relationship Id="rId4" Type="http://schemas.openxmlformats.org/officeDocument/2006/relationships/slide" Target="slides/slide1.xml" /><Relationship Id="rId40" Type="http://schemas.openxmlformats.org/officeDocument/2006/relationships/slide" Target="slides/slide37.xml" /><Relationship Id="rId41" Type="http://schemas.openxmlformats.org/officeDocument/2006/relationships/slide" Target="slides/slide38.xml" /><Relationship Id="rId42" Type="http://schemas.openxmlformats.org/officeDocument/2006/relationships/slide" Target="slides/slide39.xml" /><Relationship Id="rId43" Type="http://schemas.openxmlformats.org/officeDocument/2006/relationships/slide" Target="slides/slide40.xml" /><Relationship Id="rId44" Type="http://schemas.openxmlformats.org/officeDocument/2006/relationships/slide" Target="slides/slide41.xml" /><Relationship Id="rId45" Type="http://schemas.openxmlformats.org/officeDocument/2006/relationships/slide" Target="slides/slide42.xml" /><Relationship Id="rId46" Type="http://schemas.openxmlformats.org/officeDocument/2006/relationships/slide" Target="slides/slide43.xml" /><Relationship Id="rId47" Type="http://schemas.openxmlformats.org/officeDocument/2006/relationships/slide" Target="slides/slide44.xml" /><Relationship Id="rId48" Type="http://schemas.openxmlformats.org/officeDocument/2006/relationships/slide" Target="slides/slide45.xml" /><Relationship Id="rId49" Type="http://schemas.openxmlformats.org/officeDocument/2006/relationships/slide" Target="slides/slide46.xml" /><Relationship Id="rId5" Type="http://schemas.openxmlformats.org/officeDocument/2006/relationships/slide" Target="slides/slide2.xml" /><Relationship Id="rId50" Type="http://schemas.openxmlformats.org/officeDocument/2006/relationships/slide" Target="slides/slide47.xml" /><Relationship Id="rId51" Type="http://schemas.openxmlformats.org/officeDocument/2006/relationships/slide" Target="slides/slide48.xml" /><Relationship Id="rId52" Type="http://schemas.openxmlformats.org/officeDocument/2006/relationships/slide" Target="slides/slide49.xml" /><Relationship Id="rId53" Type="http://schemas.openxmlformats.org/officeDocument/2006/relationships/slide" Target="slides/slide50.xml" /><Relationship Id="rId54" Type="http://schemas.openxmlformats.org/officeDocument/2006/relationships/slide" Target="slides/slide51.xml" /><Relationship Id="rId55" Type="http://schemas.openxmlformats.org/officeDocument/2006/relationships/slide" Target="slides/slide52.xml" /><Relationship Id="rId56" Type="http://schemas.openxmlformats.org/officeDocument/2006/relationships/slide" Target="slides/slide53.xml" /><Relationship Id="rId57" Type="http://schemas.openxmlformats.org/officeDocument/2006/relationships/slide" Target="slides/slide54.xml" /><Relationship Id="rId58" Type="http://schemas.openxmlformats.org/officeDocument/2006/relationships/slide" Target="slides/slide55.xml" /><Relationship Id="rId59" Type="http://schemas.openxmlformats.org/officeDocument/2006/relationships/slide" Target="slides/slide56.xml" /><Relationship Id="rId6" Type="http://schemas.openxmlformats.org/officeDocument/2006/relationships/slide" Target="slides/slide3.xml" /><Relationship Id="rId60" Type="http://schemas.openxmlformats.org/officeDocument/2006/relationships/slide" Target="slides/slide57.xml" /><Relationship Id="rId61" Type="http://schemas.openxmlformats.org/officeDocument/2006/relationships/slide" Target="slides/slide58.xml" /><Relationship Id="rId62" Type="http://schemas.openxmlformats.org/officeDocument/2006/relationships/slide" Target="slides/slide59.xml" /><Relationship Id="rId63" Type="http://schemas.openxmlformats.org/officeDocument/2006/relationships/slide" Target="slides/slide60.xml" /><Relationship Id="rId64" Type="http://schemas.openxmlformats.org/officeDocument/2006/relationships/slide" Target="slides/slide61.xml" /><Relationship Id="rId65" Type="http://schemas.openxmlformats.org/officeDocument/2006/relationships/slide" Target="slides/slide62.xml" /><Relationship Id="rId66" Type="http://schemas.openxmlformats.org/officeDocument/2006/relationships/slide" Target="slides/slide63.xml" /><Relationship Id="rId67" Type="http://schemas.openxmlformats.org/officeDocument/2006/relationships/slide" Target="slides/slide64.xml" /><Relationship Id="rId68" Type="http://schemas.openxmlformats.org/officeDocument/2006/relationships/slide" Target="slides/slide65.xml" /><Relationship Id="rId69" Type="http://schemas.openxmlformats.org/officeDocument/2006/relationships/slide" Target="slides/slide66.xml" /><Relationship Id="rId7" Type="http://schemas.openxmlformats.org/officeDocument/2006/relationships/slide" Target="slides/slide4.xml" /><Relationship Id="rId70" Type="http://schemas.openxmlformats.org/officeDocument/2006/relationships/slide" Target="slides/slide67.xml" /><Relationship Id="rId71" Type="http://schemas.openxmlformats.org/officeDocument/2006/relationships/slide" Target="slides/slide68.xml" /><Relationship Id="rId72" Type="http://schemas.openxmlformats.org/officeDocument/2006/relationships/slide" Target="slides/slide69.xml" /><Relationship Id="rId73" Type="http://schemas.openxmlformats.org/officeDocument/2006/relationships/slide" Target="slides/slide70.xml" /><Relationship Id="rId74" Type="http://schemas.openxmlformats.org/officeDocument/2006/relationships/slide" Target="slides/slide71.xml" /><Relationship Id="rId75" Type="http://schemas.openxmlformats.org/officeDocument/2006/relationships/slide" Target="slides/slide72.xml" /><Relationship Id="rId76" Type="http://schemas.openxmlformats.org/officeDocument/2006/relationships/slide" Target="slides/slide73.xml" /><Relationship Id="rId77" Type="http://schemas.openxmlformats.org/officeDocument/2006/relationships/slide" Target="slides/slide74.xml" /><Relationship Id="rId78" Type="http://schemas.openxmlformats.org/officeDocument/2006/relationships/slide" Target="slides/slide75.xml" /><Relationship Id="rId79" Type="http://schemas.openxmlformats.org/officeDocument/2006/relationships/slide" Target="slides/slide76.xml" /><Relationship Id="rId8" Type="http://schemas.openxmlformats.org/officeDocument/2006/relationships/slide" Target="slides/slide5.xml" /><Relationship Id="rId80" Type="http://schemas.openxmlformats.org/officeDocument/2006/relationships/slide" Target="slides/slide77.xml" /><Relationship Id="rId81" Type="http://schemas.openxmlformats.org/officeDocument/2006/relationships/slide" Target="slides/slide78.xml" /><Relationship Id="rId82" Type="http://schemas.openxmlformats.org/officeDocument/2006/relationships/slide" Target="slides/slide79.xml" /><Relationship Id="rId83" Type="http://schemas.openxmlformats.org/officeDocument/2006/relationships/slide" Target="slides/slide80.xml" /><Relationship Id="rId84" Type="http://schemas.openxmlformats.org/officeDocument/2006/relationships/slide" Target="slides/slide81.xml" /><Relationship Id="rId85" Type="http://schemas.openxmlformats.org/officeDocument/2006/relationships/slide" Target="slides/slide82.xml" /><Relationship Id="rId86" Type="http://schemas.openxmlformats.org/officeDocument/2006/relationships/slide" Target="slides/slide83.xml" /><Relationship Id="rId87" Type="http://schemas.openxmlformats.org/officeDocument/2006/relationships/slide" Target="slides/slide84.xml" /><Relationship Id="rId88" Type="http://schemas.openxmlformats.org/officeDocument/2006/relationships/slide" Target="slides/slide85.xml" /><Relationship Id="rId89" Type="http://schemas.openxmlformats.org/officeDocument/2006/relationships/slide" Target="slides/slide86.xml" /><Relationship Id="rId9" Type="http://schemas.openxmlformats.org/officeDocument/2006/relationships/slide" Target="slides/slide6.xml" /><Relationship Id="rId90" Type="http://schemas.openxmlformats.org/officeDocument/2006/relationships/slide" Target="slides/slide87.xml" /><Relationship Id="rId91" Type="http://schemas.openxmlformats.org/officeDocument/2006/relationships/slide" Target="slides/slide88.xml" /><Relationship Id="rId92" Type="http://schemas.openxmlformats.org/officeDocument/2006/relationships/slide" Target="slides/slide89.xml" /><Relationship Id="rId93" Type="http://schemas.openxmlformats.org/officeDocument/2006/relationships/slide" Target="slides/slide90.xml" /><Relationship Id="rId94" Type="http://schemas.openxmlformats.org/officeDocument/2006/relationships/slide" Target="slides/slide91.xml" /><Relationship Id="rId95" Type="http://schemas.openxmlformats.org/officeDocument/2006/relationships/tags" Target="tags/tag1.xml" /><Relationship Id="rId96" Type="http://schemas.openxmlformats.org/officeDocument/2006/relationships/presProps" Target="presProps.xml" /><Relationship Id="rId97" Type="http://schemas.openxmlformats.org/officeDocument/2006/relationships/viewProps" Target="viewProps.xml" /><Relationship Id="rId98" Type="http://schemas.openxmlformats.org/officeDocument/2006/relationships/theme" Target="theme/theme1.xml" /><Relationship Id="rId99" Type="http://schemas.openxmlformats.org/officeDocument/2006/relationships/tableStyles" Target="tableStyles.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7.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w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0.wmf" /><Relationship Id="rId2" Type="http://schemas.openxmlformats.org/officeDocument/2006/relationships/image" Target="../media/image11.wmf" /><Relationship Id="rId3" Type="http://schemas.openxmlformats.org/officeDocument/2006/relationships/image" Target="../media/image12.wmf" /><Relationship Id="rId4" Type="http://schemas.openxmlformats.org/officeDocument/2006/relationships/image" Target="../media/image13.w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6.wmf" /><Relationship Id="rId2" Type="http://schemas.openxmlformats.org/officeDocument/2006/relationships/image" Target="../media/image17.wmf" /><Relationship Id="rId3" Type="http://schemas.openxmlformats.org/officeDocument/2006/relationships/image" Target="../media/image18.wmf" /><Relationship Id="rId4" Type="http://schemas.openxmlformats.org/officeDocument/2006/relationships/image" Target="../media/image19.w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6.wmf" /><Relationship Id="rId2" Type="http://schemas.openxmlformats.org/officeDocument/2006/relationships/image" Target="../media/image22.wmf" /><Relationship Id="rId3" Type="http://schemas.openxmlformats.org/officeDocument/2006/relationships/image" Target="../media/image23.wmf" /><Relationship Id="rId4" Type="http://schemas.openxmlformats.org/officeDocument/2006/relationships/image" Target="../media/image24.wmf" /><Relationship Id="rId5" Type="http://schemas.openxmlformats.org/officeDocument/2006/relationships/image" Target="../media/image25.wmf" /><Relationship Id="rId6" Type="http://schemas.openxmlformats.org/officeDocument/2006/relationships/image" Target="../media/image26.w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29.wmf" /><Relationship Id="rId2" Type="http://schemas.openxmlformats.org/officeDocument/2006/relationships/image" Target="../media/image30.wmf" /><Relationship Id="rId3" Type="http://schemas.openxmlformats.org/officeDocument/2006/relationships/image" Target="../media/image31.w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32.wmf" /><Relationship Id="rId2" Type="http://schemas.openxmlformats.org/officeDocument/2006/relationships/image" Target="../media/image33.wmf" /><Relationship Id="rId3" Type="http://schemas.openxmlformats.org/officeDocument/2006/relationships/image" Target="../media/image34.w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35.wmf" /><Relationship Id="rId2" Type="http://schemas.openxmlformats.org/officeDocument/2006/relationships/image" Target="../media/image36.wmf" /><Relationship Id="rId3" Type="http://schemas.openxmlformats.org/officeDocument/2006/relationships/image" Target="../media/image37.w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39.wmf" /><Relationship Id="rId2" Type="http://schemas.openxmlformats.org/officeDocument/2006/relationships/image" Target="../media/image40.wmf" /><Relationship Id="rId3" Type="http://schemas.openxmlformats.org/officeDocument/2006/relationships/image" Target="../media/image41.w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42.wmf" /><Relationship Id="rId2" Type="http://schemas.openxmlformats.org/officeDocument/2006/relationships/image" Target="../media/image43.w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44.wmf" /><Relationship Id="rId2" Type="http://schemas.openxmlformats.org/officeDocument/2006/relationships/image" Target="../media/image45.w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46.wmf" /><Relationship Id="rId2" Type="http://schemas.openxmlformats.org/officeDocument/2006/relationships/image" Target="../media/image47.wmf" /><Relationship Id="rId3" Type="http://schemas.openxmlformats.org/officeDocument/2006/relationships/image" Target="../media/image48.wmf" /><Relationship Id="rId4" Type="http://schemas.openxmlformats.org/officeDocument/2006/relationships/image" Target="../media/image49.wmf" /><Relationship Id="rId5" Type="http://schemas.openxmlformats.org/officeDocument/2006/relationships/image" Target="../media/image50.w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51.wmf" /><Relationship Id="rId2" Type="http://schemas.openxmlformats.org/officeDocument/2006/relationships/image" Target="../media/image52.wmf" /><Relationship Id="rId3" Type="http://schemas.openxmlformats.org/officeDocument/2006/relationships/image" Target="../media/image53.wmf" /><Relationship Id="rId4" Type="http://schemas.openxmlformats.org/officeDocument/2006/relationships/image" Target="../media/image54.wmf" /><Relationship Id="rId5" Type="http://schemas.openxmlformats.org/officeDocument/2006/relationships/image" Target="../media/image55.wmf" /><Relationship Id="rId6" Type="http://schemas.openxmlformats.org/officeDocument/2006/relationships/image" Target="../media/image56.w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57.wmf" /><Relationship Id="rId2" Type="http://schemas.openxmlformats.org/officeDocument/2006/relationships/image" Target="../media/image58.wmf" /><Relationship Id="rId3" Type="http://schemas.openxmlformats.org/officeDocument/2006/relationships/image" Target="../media/image59.w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60.wmf" /><Relationship Id="rId2" Type="http://schemas.openxmlformats.org/officeDocument/2006/relationships/image" Target="../media/image61.wmf" /><Relationship Id="rId3" Type="http://schemas.openxmlformats.org/officeDocument/2006/relationships/image" Target="../media/image62.w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63.wmf" /><Relationship Id="rId2" Type="http://schemas.openxmlformats.org/officeDocument/2006/relationships/image" Target="../media/image64.wmf" /><Relationship Id="rId3" Type="http://schemas.openxmlformats.org/officeDocument/2006/relationships/image" Target="../media/image65.wmf" /><Relationship Id="rId4" Type="http://schemas.openxmlformats.org/officeDocument/2006/relationships/image" Target="../media/image66.wmf" /><Relationship Id="rId5" Type="http://schemas.openxmlformats.org/officeDocument/2006/relationships/image" Target="../media/image67.w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68.wmf" /><Relationship Id="rId2" Type="http://schemas.openxmlformats.org/officeDocument/2006/relationships/image" Target="../media/image64.wmf" /><Relationship Id="rId3" Type="http://schemas.openxmlformats.org/officeDocument/2006/relationships/image" Target="../media/image65.wmf" /><Relationship Id="rId4" Type="http://schemas.openxmlformats.org/officeDocument/2006/relationships/image" Target="../media/image66.wmf" /><Relationship Id="rId5" Type="http://schemas.openxmlformats.org/officeDocument/2006/relationships/image" Target="../media/image67.wmf" /></Relationships>
</file>

<file path=ppt/drawings/_rels/vmlDrawing18.vml.rels>&#65279;<?xml version="1.0" encoding="utf-8" standalone="yes"?><Relationships xmlns="http://schemas.openxmlformats.org/package/2006/relationships"><Relationship Id="rId1" Type="http://schemas.openxmlformats.org/officeDocument/2006/relationships/image" Target="../media/image69.wmf" /><Relationship Id="rId2" Type="http://schemas.openxmlformats.org/officeDocument/2006/relationships/image" Target="../media/image70.wmf" /><Relationship Id="rId3" Type="http://schemas.openxmlformats.org/officeDocument/2006/relationships/image" Target="../media/image71.wmf" /><Relationship Id="rId4" Type="http://schemas.openxmlformats.org/officeDocument/2006/relationships/image" Target="../media/image72.wmf" /></Relationships>
</file>

<file path=ppt/drawings/_rels/vmlDrawing19.vml.rels>&#65279;<?xml version="1.0" encoding="utf-8" standalone="yes"?><Relationships xmlns="http://schemas.openxmlformats.org/package/2006/relationships"><Relationship Id="rId1" Type="http://schemas.openxmlformats.org/officeDocument/2006/relationships/image" Target="../media/image73.wmf" /></Relationships>
</file>

<file path=ppt/drawings/_rels/vmlDrawing20.vml.rels>&#65279;<?xml version="1.0" encoding="utf-8" standalone="yes"?><Relationships xmlns="http://schemas.openxmlformats.org/package/2006/relationships"><Relationship Id="rId1" Type="http://schemas.openxmlformats.org/officeDocument/2006/relationships/image" Target="../media/image74.wmf" /><Relationship Id="rId2" Type="http://schemas.openxmlformats.org/officeDocument/2006/relationships/image" Target="../media/image75.wmf" /></Relationships>
</file>

<file path=ppt/drawings/_rels/vmlDrawing21.vml.rels>&#65279;<?xml version="1.0" encoding="utf-8" standalone="yes"?><Relationships xmlns="http://schemas.openxmlformats.org/package/2006/relationships"><Relationship Id="rId1" Type="http://schemas.openxmlformats.org/officeDocument/2006/relationships/image" Target="../media/image76.wmf" /><Relationship Id="rId2" Type="http://schemas.openxmlformats.org/officeDocument/2006/relationships/image" Target="../media/image77.wmf" /></Relationships>
</file>

<file path=ppt/drawings/_rels/vmlDrawing22.vml.rels>&#65279;<?xml version="1.0" encoding="utf-8" standalone="yes"?><Relationships xmlns="http://schemas.openxmlformats.org/package/2006/relationships"><Relationship Id="rId1" Type="http://schemas.openxmlformats.org/officeDocument/2006/relationships/image" Target="../media/image78.wmf" /></Relationships>
</file>

<file path=ppt/drawings/_rels/vmlDrawing23.vml.rels>&#65279;<?xml version="1.0" encoding="utf-8" standalone="yes"?><Relationships xmlns="http://schemas.openxmlformats.org/package/2006/relationships"><Relationship Id="rId1" Type="http://schemas.openxmlformats.org/officeDocument/2006/relationships/image" Target="../media/image79.wmf" /><Relationship Id="rId2" Type="http://schemas.openxmlformats.org/officeDocument/2006/relationships/image" Target="../media/image80.wmf" /></Relationships>
</file>

<file path=ppt/drawings/_rels/vmlDrawing24.vml.rels>&#65279;<?xml version="1.0" encoding="utf-8" standalone="yes"?><Relationships xmlns="http://schemas.openxmlformats.org/package/2006/relationships"><Relationship Id="rId1" Type="http://schemas.openxmlformats.org/officeDocument/2006/relationships/image" Target="../media/image81.wmf" /></Relationships>
</file>

<file path=ppt/drawings/_rels/vmlDrawing25.vml.rels>&#65279;<?xml version="1.0" encoding="utf-8" standalone="yes"?><Relationships xmlns="http://schemas.openxmlformats.org/package/2006/relationships"><Relationship Id="rId1" Type="http://schemas.openxmlformats.org/officeDocument/2006/relationships/image" Target="../media/image82.wmf" /><Relationship Id="rId2" Type="http://schemas.openxmlformats.org/officeDocument/2006/relationships/image" Target="../media/image83.wmf" /><Relationship Id="rId3" Type="http://schemas.openxmlformats.org/officeDocument/2006/relationships/image" Target="../media/image84.wmf" /><Relationship Id="rId4" Type="http://schemas.openxmlformats.org/officeDocument/2006/relationships/image" Target="../media/image85.wmf" /></Relationships>
</file>

<file path=ppt/drawings/_rels/vmlDrawing26.vml.rels>&#65279;<?xml version="1.0" encoding="utf-8" standalone="yes"?><Relationships xmlns="http://schemas.openxmlformats.org/package/2006/relationships"><Relationship Id="rId1" Type="http://schemas.openxmlformats.org/officeDocument/2006/relationships/image" Target="../media/image86.wmf" /></Relationships>
</file>

<file path=ppt/drawings/_rels/vmlDrawing27.vml.rels>&#65279;<?xml version="1.0" encoding="utf-8" standalone="yes"?><Relationships xmlns="http://schemas.openxmlformats.org/package/2006/relationships"><Relationship Id="rId1" Type="http://schemas.openxmlformats.org/officeDocument/2006/relationships/image" Target="../media/image87.wmf" /><Relationship Id="rId2" Type="http://schemas.openxmlformats.org/officeDocument/2006/relationships/image" Target="../media/image88.wmf" /></Relationships>
</file>

<file path=ppt/drawings/_rels/vmlDrawing28.vml.rels>&#65279;<?xml version="1.0" encoding="utf-8" standalone="yes"?><Relationships xmlns="http://schemas.openxmlformats.org/package/2006/relationships"><Relationship Id="rId1" Type="http://schemas.openxmlformats.org/officeDocument/2006/relationships/image" Target="../media/image89.wmf" /><Relationship Id="rId2" Type="http://schemas.openxmlformats.org/officeDocument/2006/relationships/image" Target="../media/image90.wmf" /><Relationship Id="rId3" Type="http://schemas.openxmlformats.org/officeDocument/2006/relationships/image" Target="../media/image91.wmf" /><Relationship Id="rId4" Type="http://schemas.openxmlformats.org/officeDocument/2006/relationships/image" Target="../media/image92.wmf" /></Relationships>
</file>

<file path=ppt/drawings/_rels/vmlDrawing29.vml.rels>&#65279;<?xml version="1.0" encoding="utf-8" standalone="yes"?><Relationships xmlns="http://schemas.openxmlformats.org/package/2006/relationships"><Relationship Id="rId1" Type="http://schemas.openxmlformats.org/officeDocument/2006/relationships/image" Target="../media/image93.wmf" /></Relationships>
</file>

<file path=ppt/drawings/_rels/vmlDrawing30.vml.rels>&#65279;<?xml version="1.0" encoding="utf-8" standalone="yes"?><Relationships xmlns="http://schemas.openxmlformats.org/package/2006/relationships"><Relationship Id="rId1" Type="http://schemas.openxmlformats.org/officeDocument/2006/relationships/image" Target="../media/image94.wmf" /></Relationships>
</file>

<file path=ppt/drawings/_rels/vmlDrawing31.vml.rels>&#65279;<?xml version="1.0" encoding="utf-8" standalone="yes"?><Relationships xmlns="http://schemas.openxmlformats.org/package/2006/relationships"><Relationship Id="rId1" Type="http://schemas.openxmlformats.org/officeDocument/2006/relationships/image" Target="../media/image95.wmf" /><Relationship Id="rId2" Type="http://schemas.openxmlformats.org/officeDocument/2006/relationships/image" Target="../media/image96.wmf" /><Relationship Id="rId3" Type="http://schemas.openxmlformats.org/officeDocument/2006/relationships/image" Target="../media/image97.wmf" /></Relationships>
</file>

<file path=ppt/drawings/_rels/vmlDrawing32.vml.rels>&#65279;<?xml version="1.0" encoding="utf-8" standalone="yes"?><Relationships xmlns="http://schemas.openxmlformats.org/package/2006/relationships"><Relationship Id="rId1" Type="http://schemas.openxmlformats.org/officeDocument/2006/relationships/image" Target="../media/image98.wmf" /><Relationship Id="rId2" Type="http://schemas.openxmlformats.org/officeDocument/2006/relationships/image" Target="../media/image99.wmf" /><Relationship Id="rId3" Type="http://schemas.openxmlformats.org/officeDocument/2006/relationships/image" Target="../media/image100.wmf" /></Relationships>
</file>

<file path=ppt/drawings/_rels/vmlDrawing33.vml.rels>&#65279;<?xml version="1.0" encoding="utf-8" standalone="yes"?><Relationships xmlns="http://schemas.openxmlformats.org/package/2006/relationships"><Relationship Id="rId1" Type="http://schemas.openxmlformats.org/officeDocument/2006/relationships/image" Target="../media/image101.wmf" /></Relationships>
</file>

<file path=ppt/drawings/_rels/vmlDrawing34.vml.rels>&#65279;<?xml version="1.0" encoding="utf-8" standalone="yes"?><Relationships xmlns="http://schemas.openxmlformats.org/package/2006/relationships"><Relationship Id="rId1" Type="http://schemas.openxmlformats.org/officeDocument/2006/relationships/image" Target="../media/image101.wmf" /><Relationship Id="rId2" Type="http://schemas.openxmlformats.org/officeDocument/2006/relationships/image" Target="../media/image98.wmf" /><Relationship Id="rId3" Type="http://schemas.openxmlformats.org/officeDocument/2006/relationships/image" Target="../media/image99.wmf" /><Relationship Id="rId4" Type="http://schemas.openxmlformats.org/officeDocument/2006/relationships/image" Target="../media/image100.wmf" /><Relationship Id="rId5" Type="http://schemas.openxmlformats.org/officeDocument/2006/relationships/image" Target="../media/image102.wmf" /></Relationships>
</file>

<file path=ppt/drawings/_rels/vmlDrawing35.vml.rels>&#65279;<?xml version="1.0" encoding="utf-8" standalone="yes"?><Relationships xmlns="http://schemas.openxmlformats.org/package/2006/relationships"><Relationship Id="rId1" Type="http://schemas.openxmlformats.org/officeDocument/2006/relationships/image" Target="../media/image103.wmf" /><Relationship Id="rId2" Type="http://schemas.openxmlformats.org/officeDocument/2006/relationships/image" Target="../media/image104.wmf" /></Relationships>
</file>

<file path=ppt/drawings/_rels/vmlDrawing36.vml.rels>&#65279;<?xml version="1.0" encoding="utf-8" standalone="yes"?><Relationships xmlns="http://schemas.openxmlformats.org/package/2006/relationships"><Relationship Id="rId1" Type="http://schemas.openxmlformats.org/officeDocument/2006/relationships/image" Target="../media/image105.wmf" /><Relationship Id="rId2" Type="http://schemas.openxmlformats.org/officeDocument/2006/relationships/image" Target="../media/image106.wmf"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xfrm>
        <a:effectLst/>
      </p:grpSpPr>
      <p:sp>
        <p:nvSpPr>
          <p:cNvPr id="2" name="页眉占位符 1"/>
          <p:cNvSpPr>
            <a:spLocks noGrp="1"/>
          </p:cNvSpPr>
          <p:nvPr>
            <p:ph type="hdr" sz="quarter"/>
          </p:nvPr>
        </p:nvSpPr>
        <p:spPr>
          <a:xfrm>
            <a:off x="0" y="0"/>
            <a:ext cx="3962400" cy="342900"/>
          </a:xfrm>
          <a:prstGeom prst="rect">
            <a:avLst/>
          </a:prstGeom>
          <a:effectLst/>
        </p:spPr>
        <p:txBody>
          <a:bodyPr vert="horz" lIns="91440" tIns="45720" rIns="91440" bIns="45720" rtlCol="0"/>
          <a:lstStyle>
            <a:lvl1pPr algn="l">
              <a:defRPr sz="1600">
                <a:effectLst/>
              </a:defRPr>
            </a:lvl1pPr>
          </a:lstStyle>
          <a:p>
            <a:endParaRPr lang="zh-CN" altLang="en-US">
              <a:effectLst/>
            </a:endParaRPr>
          </a:p>
        </p:txBody>
      </p:sp>
      <p:sp>
        <p:nvSpPr>
          <p:cNvPr id="3" name="日期占位符 2"/>
          <p:cNvSpPr>
            <a:spLocks noGrp="1"/>
          </p:cNvSpPr>
          <p:nvPr>
            <p:ph type="dt" sz="quarter" idx="1"/>
          </p:nvPr>
        </p:nvSpPr>
        <p:spPr>
          <a:xfrm>
            <a:off x="5179484" y="0"/>
            <a:ext cx="3962400" cy="342900"/>
          </a:xfrm>
          <a:prstGeom prst="rect">
            <a:avLst/>
          </a:prstGeom>
          <a:effectLst/>
        </p:spPr>
        <p:txBody>
          <a:bodyPr vert="horz" lIns="91440" tIns="45720" rIns="91440" bIns="45720" rtlCol="0"/>
          <a:lstStyle>
            <a:lvl1pPr algn="r">
              <a:defRPr sz="1600">
                <a:effectLst/>
              </a:defRPr>
            </a:lvl1pPr>
          </a:lstStyle>
          <a:p>
            <a:fld id="{9E862165-932F-4CA5-B60F-314EC1C48710}" type="datetimeFigureOut">
              <a:rPr lang="zh-CN" altLang="en-US" smtClean="0">
                <a:effectLst/>
              </a:rPr>
              <a:t/>
            </a:fld>
            <a:endParaRPr lang="zh-CN" altLang="en-US">
              <a:effectLst/>
            </a:endParaRPr>
          </a:p>
        </p:txBody>
      </p:sp>
      <p:sp>
        <p:nvSpPr>
          <p:cNvPr id="4" name="页脚占位符 3"/>
          <p:cNvSpPr>
            <a:spLocks noGrp="1"/>
          </p:cNvSpPr>
          <p:nvPr>
            <p:ph type="ftr" sz="quarter" idx="2"/>
          </p:nvPr>
        </p:nvSpPr>
        <p:spPr>
          <a:xfrm>
            <a:off x="0" y="6513910"/>
            <a:ext cx="3962400" cy="342900"/>
          </a:xfrm>
          <a:prstGeom prst="rect">
            <a:avLst/>
          </a:prstGeom>
          <a:effectLst/>
        </p:spPr>
        <p:txBody>
          <a:bodyPr vert="horz" lIns="91440" tIns="45720" rIns="91440" bIns="45720" rtlCol="0" anchor="b"/>
          <a:lstStyle>
            <a:lvl1pPr algn="l">
              <a:defRPr sz="1600">
                <a:effectLst/>
              </a:defRPr>
            </a:lvl1pPr>
          </a:lstStyle>
          <a:p>
            <a:r>
              <a:rPr lang="zh-CN" altLang="en-US">
                <a:effectLst/>
              </a:rPr>
              <a:t>演示文档</a:t>
            </a:r>
          </a:p>
        </p:txBody>
      </p:sp>
      <p:sp>
        <p:nvSpPr>
          <p:cNvPr id="5" name="灯片编号占位符 4"/>
          <p:cNvSpPr>
            <a:spLocks noGrp="1"/>
          </p:cNvSpPr>
          <p:nvPr>
            <p:ph type="sldNum" sz="quarter" idx="3"/>
          </p:nvPr>
        </p:nvSpPr>
        <p:spPr>
          <a:xfrm>
            <a:off x="5179484" y="6513910"/>
            <a:ext cx="3962400" cy="342900"/>
          </a:xfrm>
          <a:prstGeom prst="rect">
            <a:avLst/>
          </a:prstGeom>
          <a:effectLst/>
        </p:spPr>
        <p:txBody>
          <a:bodyPr vert="horz" lIns="91440" tIns="45720" rIns="91440" bIns="45720" rtlCol="0" anchor="b"/>
          <a:lstStyle>
            <a:lvl1pPr algn="r">
              <a:defRPr sz="1600">
                <a:effectLst/>
              </a:defRPr>
            </a:lvl1pPr>
          </a:lstStyle>
          <a:p>
            <a:fld id="{C4214841-D9EA-457A-8720-350E69CB38F2}" type="slidenum">
              <a:rPr lang="zh-CN" altLang="en-US" smtClean="0">
                <a:effectLst/>
              </a:rPr>
              <a:t/>
            </a:fld>
            <a:endParaRPr lang="zh-CN" altLang="en-US">
              <a:effectLst/>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xfrm>
        <a:effectLst/>
      </p:grpSpPr>
      <p:sp>
        <p:nvSpPr>
          <p:cNvPr id="2050" name="页眉占位符 1"/>
          <p:cNvSpPr>
            <a:spLocks noGrp="1" noChangeArrowheads="1"/>
          </p:cNvSpPr>
          <p:nvPr>
            <p:ph type="hdr" sz="quarter" idx="4294967295"/>
          </p:nvPr>
        </p:nvSpPr>
        <p:spPr>
          <a:xfrm>
            <a:off x="0" y="0"/>
            <a:ext cx="3962400" cy="344091"/>
          </a:xfrm>
          <a:prstGeom prst="rect">
            <a:avLst/>
          </a:prstGeom>
          <a:noFill/>
          <a:ln>
            <a:noFill/>
          </a:ln>
          <a:effectLst/>
        </p:spPr>
        <p:txBody>
          <a:bodyPr vert="horz" wrap="square" lIns="91440" tIns="45720" rIns="91440" bIns="45720" anchor="t" anchorCtr="0" compatLnSpc="1"/>
          <a:lstStyle>
            <a:lvl1pPr eaLnBrk="1" hangingPunct="1">
              <a:buFont typeface="Arial" panose="020b0604020202020204" pitchFamily="34" charset="0"/>
              <a:buNone/>
              <a:defRPr sz="1200">
                <a:effectLs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noChangeArrowheads="1"/>
          </p:cNvSpPr>
          <p:nvPr>
            <p:ph type="dt" idx="1"/>
          </p:nvPr>
        </p:nvSpPr>
        <p:spPr>
          <a:xfrm>
            <a:off x="5179484" y="0"/>
            <a:ext cx="3962400" cy="344091"/>
          </a:xfrm>
          <a:prstGeom prst="rect">
            <a:avLst/>
          </a:prstGeom>
          <a:noFill/>
          <a:ln>
            <a:noFill/>
          </a:ln>
          <a:effectLst/>
        </p:spPr>
        <p:txBody>
          <a:bodyPr vert="horz" wrap="square" lIns="91440" tIns="45720" rIns="91440" bIns="45720" anchor="t" anchorCtr="0" compatLnSpc="1"/>
          <a:lstStyle>
            <a:lvl1pPr algn="r" eaLnBrk="1" hangingPunct="1">
              <a:buFont typeface="Arial" panose="020b0604020202020204" pitchFamily="34" charset="0"/>
              <a:buNone/>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pPr>
            <a:fld id="{8FADED5E-DBCD-431C-9B8F-CF6BC0D146BC}" type="datetime1">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64" name="幻灯片图像占位符 3"/>
          <p:cNvSpPr>
            <a:spLocks noGrp="1" noRot="1" noChangeAspect="1"/>
          </p:cNvSpPr>
          <p:nvPr>
            <p:ph type="sldImg" idx="2"/>
          </p:nvPr>
        </p:nvSpPr>
        <p:spPr>
          <a:xfrm>
            <a:off x="2514600" y="857250"/>
            <a:ext cx="4114800" cy="2314575"/>
          </a:xfrm>
          <a:prstGeom prst="rect">
            <a:avLst/>
          </a:prstGeom>
          <a:noFill/>
          <a:ln w="9525">
            <a:noFill/>
          </a:ln>
          <a:effectLst/>
        </p:spPr>
      </p:sp>
      <p:sp>
        <p:nvSpPr>
          <p:cNvPr id="2053" name="备注占位符 4"/>
          <p:cNvSpPr>
            <a:spLocks noGrp="1" noRot="1" noChangeAspect="1" noChangeArrowheads="1"/>
          </p:cNvSpPr>
          <p:nvPr/>
        </p:nvSpPr>
        <p:spPr>
          <a:xfrm>
            <a:off x="914400" y="3300413"/>
            <a:ext cx="7315200" cy="2700338"/>
          </a:xfrm>
          <a:prstGeom prst="rect">
            <a:avLst/>
          </a:prstGeom>
          <a:noFill/>
          <a:ln>
            <a:noFill/>
          </a:ln>
          <a:effectLst/>
        </p:spPr>
        <p:txBody>
          <a:bodyPr anchor="ctr"/>
          <a:lstStyle>
            <a:lvl1pPr defTabSz="0" eaLnBrk="0" hangingPunct="0">
              <a:spcBef>
                <a:spcPct val="30000"/>
              </a:spcBef>
              <a:defRPr sz="1200">
                <a:solidFill>
                  <a:schemeClr val="tx1"/>
                </a:solidFill>
                <a:effectLst/>
                <a:latin typeface="Arial" panose="020b0604020202020204" pitchFamily="34" charset="0"/>
              </a:defRPr>
            </a:lvl1pPr>
            <a:lvl2pPr defTabSz="0" eaLnBrk="0" hangingPunct="0">
              <a:spcBef>
                <a:spcPct val="30000"/>
              </a:spcBef>
              <a:defRPr sz="1200">
                <a:solidFill>
                  <a:schemeClr val="tx1"/>
                </a:solidFill>
                <a:effectLst/>
                <a:latin typeface="Arial" panose="020b0604020202020204" pitchFamily="34" charset="0"/>
              </a:defRPr>
            </a:lvl2pPr>
            <a:lvl3pPr defTabSz="0" eaLnBrk="0" hangingPunct="0">
              <a:spcBef>
                <a:spcPct val="30000"/>
              </a:spcBef>
              <a:defRPr sz="1200">
                <a:solidFill>
                  <a:schemeClr val="tx1"/>
                </a:solidFill>
                <a:effectLst/>
                <a:latin typeface="Arial" panose="020b0604020202020204" pitchFamily="34" charset="0"/>
              </a:defRPr>
            </a:lvl3pPr>
            <a:lvl4pPr defTabSz="0" eaLnBrk="0" hangingPunct="0">
              <a:spcBef>
                <a:spcPct val="30000"/>
              </a:spcBef>
              <a:defRPr sz="1200">
                <a:solidFill>
                  <a:schemeClr val="tx1"/>
                </a:solidFill>
                <a:effectLst/>
                <a:latin typeface="Arial" panose="020b0604020202020204" pitchFamily="34" charset="0"/>
              </a:defRPr>
            </a:lvl4pPr>
            <a:lvl5pPr defTabSz="0" eaLnBrk="0" hangingPunct="0">
              <a:spcBef>
                <a:spcPct val="30000"/>
              </a:spcBef>
              <a:defRPr sz="1200">
                <a:solidFill>
                  <a:schemeClr val="tx1"/>
                </a:solidFill>
                <a:effectLst/>
                <a:latin typeface="Arial" panose="020b0604020202020204" pitchFamily="34" charset="0"/>
              </a:defRPr>
            </a:lvl5pPr>
            <a:lvl6pPr marL="457200" defTabSz="0" eaLnBrk="0" fontAlgn="base" hangingPunct="0">
              <a:spcBef>
                <a:spcPct val="30000"/>
              </a:spcBef>
              <a:spcAft>
                <a:spcPct val="0"/>
              </a:spcAft>
              <a:defRPr sz="1200">
                <a:solidFill>
                  <a:schemeClr val="tx1"/>
                </a:solidFill>
                <a:effectLst/>
                <a:latin typeface="Arial" panose="020b0604020202020204" pitchFamily="34" charset="0"/>
              </a:defRPr>
            </a:lvl6pPr>
            <a:lvl7pPr marL="914400" defTabSz="0" eaLnBrk="0" fontAlgn="base" hangingPunct="0">
              <a:spcBef>
                <a:spcPct val="30000"/>
              </a:spcBef>
              <a:spcAft>
                <a:spcPct val="0"/>
              </a:spcAft>
              <a:defRPr sz="1200">
                <a:solidFill>
                  <a:schemeClr val="tx1"/>
                </a:solidFill>
                <a:effectLst/>
                <a:latin typeface="Arial" panose="020b0604020202020204" pitchFamily="34" charset="0"/>
              </a:defRPr>
            </a:lvl7pPr>
            <a:lvl8pPr marL="1371600" defTabSz="0" eaLnBrk="0" fontAlgn="base" hangingPunct="0">
              <a:spcBef>
                <a:spcPct val="30000"/>
              </a:spcBef>
              <a:spcAft>
                <a:spcPct val="0"/>
              </a:spcAft>
              <a:defRPr sz="1200">
                <a:solidFill>
                  <a:schemeClr val="tx1"/>
                </a:solidFill>
                <a:effectLst/>
                <a:latin typeface="Arial" panose="020b0604020202020204" pitchFamily="34" charset="0"/>
              </a:defRPr>
            </a:lvl8pPr>
            <a:lvl9pPr marL="1828800" defTabSz="0" eaLnBrk="0" fontAlgn="base" hangingPunct="0">
              <a:spcBef>
                <a:spcPct val="30000"/>
              </a:spcBef>
              <a:spcAft>
                <a:spcPct val="0"/>
              </a:spcAft>
              <a:defRPr sz="1200">
                <a:solidFill>
                  <a:schemeClr val="tx1"/>
                </a:solidFill>
                <a:effectLst/>
                <a:latin typeface="Arial" panose="020b0604020202020204" pitchFamily="34" charset="0"/>
              </a:defRPr>
            </a:lvl9pPr>
          </a:lstStyle>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054" name="页脚占位符 5"/>
          <p:cNvSpPr>
            <a:spLocks noGrp="1" noChangeArrowheads="1"/>
          </p:cNvSpPr>
          <p:nvPr>
            <p:ph type="ftr" sz="quarter" idx="4"/>
          </p:nvPr>
        </p:nvSpPr>
        <p:spPr>
          <a:xfrm>
            <a:off x="0" y="6513910"/>
            <a:ext cx="3962400" cy="344091"/>
          </a:xfrm>
          <a:prstGeom prst="rect">
            <a:avLst/>
          </a:prstGeom>
          <a:noFill/>
          <a:ln>
            <a:noFill/>
          </a:ln>
          <a:effectLst/>
        </p:spPr>
        <p:txBody>
          <a:bodyPr vert="horz" wrap="square" lIns="91440" tIns="45720" rIns="91440" bIns="45720" anchor="b" anchorCtr="0" compatLnSpc="1"/>
          <a:lstStyle>
            <a:lvl1pPr eaLnBrk="1" hangingPunct="1">
              <a:buFont typeface="Arial" panose="020b0604020202020204" pitchFamily="34" charset="0"/>
              <a:buNone/>
              <a:defRPr sz="1200">
                <a:effectLs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noChangeArrowheads="1"/>
          </p:cNvSpPr>
          <p:nvPr>
            <p:ph type="sldNum" sz="quarter" idx="5"/>
          </p:nvPr>
        </p:nvSpPr>
        <p:spPr>
          <a:xfrm>
            <a:off x="5179484" y="6513910"/>
            <a:ext cx="3962400" cy="344091"/>
          </a:xfrm>
          <a:prstGeom prst="rect">
            <a:avLst/>
          </a:prstGeom>
          <a:noFill/>
          <a:ln>
            <a:noFill/>
          </a:ln>
          <a:effectLst/>
        </p:spPr>
        <p:txBody>
          <a:bodyPr vert="horz" wrap="square" lIns="91440" tIns="45720" rIns="91440" bIns="45720" anchor="b" anchorCtr="0" compatLnSpc="1"/>
          <a:lstStyle/>
          <a:p>
            <a:pPr lvl="0" algn="r" eaLnBrk="1" hangingPunct="1">
              <a:buFont typeface="Arial" panose="020b0604020202020204" pitchFamily="34" charset="0"/>
            </a:pPr>
            <a:fld id="{9A0DB2DC-4C9A-4742-B13C-FB6460FD3503}" type="slidenum">
              <a:rPr lang="zh-CN" altLang="en-US">
                <a:effectLst/>
              </a:rPr>
              <a:t/>
            </a:fld>
            <a:endParaRPr lang="zh-CN" altLang="en-US" sz="1200">
              <a:effectLst/>
            </a:endParaRPr>
          </a:p>
        </p:txBody>
      </p:sp>
    </p:spTree>
  </p:cSld>
  <p:clrMap bg1="lt1" tx1="dk1" bg2="lt2" tx2="dk2" accent1="accent1" accent2="accent2" accent3="accent3" accent4="accent4" accent5="accent5" accent6="accent6" hlink="hlink" folHlink="folHlink"/>
  <p:hf sldNum="0"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98306" name="幻灯片图像占位符 1"/>
          <p:cNvSpPr/>
          <p:nvPr>
            <p:ph type="sldImg"/>
          </p:nvPr>
        </p:nvSpPr>
        <p:spPr>
          <a:xfrm>
            <a:off x="1143000" y="685800"/>
            <a:ext cx="4572000" cy="3429000"/>
          </a:xfrm>
          <a:prstGeom prst="rect">
            <a:avLst/>
          </a:prstGeom>
          <a:noFill/>
          <a:ln>
            <a:miter lim="800000"/>
          </a:ln>
          <a:effectLst/>
        </p:spPr>
      </p:sp>
      <p:sp>
        <p:nvSpPr>
          <p:cNvPr id="98307" name="备注占位符 2"/>
          <p:cNvSpPr/>
          <p:nvPr>
            <p:ph type="body" idx="1"/>
          </p:nvPr>
        </p:nvSpPr>
        <p:spPr>
          <a:xfrm>
            <a:off x="685800" y="4343400"/>
            <a:ext cx="5486400" cy="4114800"/>
          </a:xfrm>
          <a:prstGeom prst="rect">
            <a:avLst/>
          </a:prstGeom>
          <a:noFill/>
          <a:ln w="9525">
            <a:noFill/>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5pPr>
          </a:lstStyle>
          <a:p>
            <a:pPr marL="0" indent="0"/>
          </a:p>
        </p:txBody>
      </p:sp>
      <p:sp>
        <p:nvSpPr>
          <p:cNvPr id="98308" name="灯片编号占位符 3"/>
          <p:cNvSpPr/>
          <p:nvPr>
            <p:ph type="sldNum" idx="10"/>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27EFD49E-28FA-415A-A3E6-384DCAD10317}" type="slidenum">
              <a:rPr kumimoji="1" lang="en-US" altLang="zh-CN" sz="1200">
                <a:effectLst/>
                <a:latin typeface="Times New Roman" pitchFamily="18" charset="0"/>
              </a:rPr>
              <a:t>2</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99330"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423BCC82-C41B-4810-B79F-33A1887D04BB}" type="slidenum">
              <a:rPr kumimoji="1" lang="en-US" altLang="zh-CN" sz="1200">
                <a:effectLst/>
                <a:latin typeface="Times New Roman" pitchFamily="18" charset="0"/>
              </a:rPr>
              <a:t>39</a:t>
            </a:fld>
          </a:p>
        </p:txBody>
      </p:sp>
      <p:sp>
        <p:nvSpPr>
          <p:cNvPr id="99331" name="Rectangle 2"/>
          <p:cNvSpPr/>
          <p:nvPr>
            <p:ph type="sldImg" idx="2"/>
          </p:nvPr>
        </p:nvSpPr>
        <p:spPr>
          <a:xfrm>
            <a:off x="1143000" y="685800"/>
            <a:ext cx="4572000" cy="3429000"/>
          </a:xfrm>
          <a:prstGeom prst="rect">
            <a:avLst/>
          </a:prstGeom>
          <a:noFill/>
          <a:ln>
            <a:miter lim="800000"/>
          </a:ln>
          <a:effectLst/>
        </p:spPr>
      </p:sp>
      <p:sp>
        <p:nvSpPr>
          <p:cNvPr id="99332" name="Rectangle 3"/>
          <p:cNvSpPr/>
          <p:nvPr>
            <p:ph type="body" idx="1"/>
          </p:nvPr>
        </p:nvSpPr>
        <p:spPr>
          <a:xfrm>
            <a:off x="685800" y="4343400"/>
            <a:ext cx="5486400" cy="4114800"/>
          </a:xfrm>
          <a:prstGeom prst="rect">
            <a:avLst/>
          </a:prstGeom>
          <a:noFill/>
          <a:ln w="9525">
            <a:noFill/>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Times New Roman" pitchFamily="18" charset="0"/>
                <a:ea typeface="宋体" panose="02010600030101010101" pitchFamily="2" charset="-122"/>
              </a:defRPr>
            </a:lvl5pPr>
          </a:lstStyle>
          <a:p>
            <a:pPr marL="0" lvl="0" indent="0" eaLnBrk="1" hangingPunct="1">
              <a:lnSpc>
                <a:spcPct val="120000"/>
              </a:lnSpc>
              <a:spcBef>
                <a:spcPct val="20000"/>
              </a:spcBef>
              <a:buClr>
                <a:schemeClr val="accent2"/>
              </a:buClr>
              <a:buSzPct val="120000"/>
              <a:buFont typeface="Wingdings" pitchFamily="2" charset="2"/>
            </a:pPr>
            <a:r>
              <a:rPr lang="zh-CN" altLang="en-US">
                <a:effectLst/>
              </a:rPr>
              <a:t>建模依据：规划问题的各个目标函数可以通过</a:t>
            </a:r>
            <a:r>
              <a:rPr lang="zh-CN" altLang="en-US">
                <a:solidFill>
                  <a:srgbClr val="FF0000"/>
                </a:solidFill>
                <a:effectLst/>
              </a:rPr>
              <a:t>一定</a:t>
            </a:r>
            <a:r>
              <a:rPr lang="zh-CN" altLang="en-US">
                <a:effectLst/>
              </a:rPr>
              <a:t>的</a:t>
            </a:r>
            <a:r>
              <a:rPr lang="zh-CN" altLang="en-US">
                <a:solidFill>
                  <a:srgbClr val="FF0000"/>
                </a:solidFill>
                <a:effectLst/>
              </a:rPr>
              <a:t>方式</a:t>
            </a:r>
            <a:r>
              <a:rPr lang="zh-CN" altLang="en-US">
                <a:effectLst/>
              </a:rPr>
              <a:t>进行</a:t>
            </a:r>
            <a:r>
              <a:rPr lang="zh-CN" altLang="en-US">
                <a:solidFill>
                  <a:srgbClr val="FF0000"/>
                </a:solidFill>
                <a:effectLst/>
              </a:rPr>
              <a:t>求和</a:t>
            </a:r>
            <a:r>
              <a:rPr lang="zh-CN" altLang="en-US">
                <a:effectLst/>
              </a:rPr>
              <a:t>运算。这种方法将一系列的</a:t>
            </a:r>
            <a:r>
              <a:rPr lang="zh-CN" altLang="en-US">
                <a:solidFill>
                  <a:schemeClr val="accent2"/>
                </a:solidFill>
                <a:effectLst/>
              </a:rPr>
              <a:t>目标函数</a:t>
            </a:r>
            <a:r>
              <a:rPr lang="zh-CN" altLang="en-US">
                <a:effectLst/>
              </a:rPr>
              <a:t>与</a:t>
            </a:r>
            <a:r>
              <a:rPr lang="zh-CN" altLang="en-US">
                <a:solidFill>
                  <a:schemeClr val="accent2"/>
                </a:solidFill>
                <a:effectLst/>
              </a:rPr>
              <a:t>效用函数</a:t>
            </a:r>
            <a:r>
              <a:rPr lang="zh-CN" altLang="en-US">
                <a:effectLst/>
              </a:rPr>
              <a:t>建立相关关系，各目标之间通过效用函数协调，使多目标规划问题转化为传统的单目标规划问题： </a:t>
            </a:r>
          </a:p>
          <a:p>
            <a:pPr marL="0" lvl="0" indent="0" eaLnBrk="1" hangingPunct="1"/>
            <a:endParaRPr lang="en-US" altLang="zh-CN">
              <a:effectLst/>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jpeg" /><Relationship Id="rId2"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2.png" /><Relationship Id="rId2"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2.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3.jpe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4.jpe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5.jpe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4.jpe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6.jpeg" /><Relationship Id="rId2"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2.png" /><Relationship Id="rId2"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3.jpeg" /><Relationship Id="rId2"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4.jpeg" /><Relationship Id="rId2"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 preserve="1">
  <p:cSld name="标题幻灯片">
    <p:bg>
      <p:bgPr>
        <a:blipFill rotWithShape="1">
          <a:blip r:embed="rId1"/>
          <a:stretch/>
        </a:blipFill>
        <a:effectLst/>
      </p:bgPr>
    </p:bg>
    <p:spTree>
      <p:nvGrpSpPr>
        <p:cNvPr id="1" name=""/>
        <p:cNvGrpSpPr/>
        <p:nvPr/>
      </p:nvGrpSpPr>
      <p:grpSpPr>
        <a:xfrm>
          <a:off x="0" y="0"/>
          <a:ext cx="0" cy="0"/>
        </a:xfrm>
        <a:effectLst/>
      </p:grpSpPr>
      <p:sp>
        <p:nvSpPr>
          <p:cNvPr id="7" name="日期占位符 3"/>
          <p:cNvSpPr>
            <a:spLocks noGrp="1" noChangeArrowheads="1"/>
          </p:cNvSpPr>
          <p:nvPr>
            <p:ph type="dt" sz="half" idx="2"/>
          </p:nvPr>
        </p:nvSpPr>
        <p:spPr>
          <a:xfrm>
            <a:off x="1694180" y="6356350"/>
            <a:ext cx="3163993"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F5CA30C2-BAC5-484D-A10A-FE005A1830AF}"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6274647" y="6356350"/>
            <a:ext cx="378968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 preserve="1">
  <p:cSld name="标题和内容">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内容占位符 2"/>
          <p:cNvSpPr>
            <a:spLocks noGrp="1"/>
          </p:cNvSpPr>
          <p:nvPr>
            <p:ph idx="1"/>
          </p:nvPr>
        </p:nvSpPr>
        <p:spPr>
          <a:effectLst/>
        </p:spPr>
        <p:txBody>
          <a:body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2"/>
          </p:nvPr>
        </p:nvSpPr>
        <p:spPr>
          <a:xfrm>
            <a:off x="2451947" y="6356350"/>
            <a:ext cx="2672927"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B06B58FF-E945-4AA9-949B-E3761759E8F0}"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6798733" y="6356350"/>
            <a:ext cx="4072467"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secHead" preserve="1">
  <p:cSld name="节标题">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xfrm>
            <a:off x="1284817" y="4372610"/>
            <a:ext cx="13817600" cy="1362075"/>
          </a:xfrm>
          <a:effectLst/>
        </p:spPr>
        <p:txBody>
          <a:bodyPr anchor="t"/>
          <a:lstStyle>
            <a:lvl1pPr algn="l">
              <a:defRPr sz="4000" b="1" cap="all">
                <a:effectLst/>
              </a:defRPr>
            </a:lvl1pPr>
          </a:lstStyle>
          <a:p>
            <a:r>
              <a:rPr lang="zh-CN" altLang="en-US" smtClean="0">
                <a:effectLst/>
              </a:rPr>
              <a:t>单击此处编辑母版标题样式</a:t>
            </a:r>
            <a:endParaRPr lang="zh-CN" altLang="en-US">
              <a:effectLst/>
            </a:endParaRPr>
          </a:p>
        </p:txBody>
      </p:sp>
      <p:sp>
        <p:nvSpPr>
          <p:cNvPr id="3" name="文本占位符 2"/>
          <p:cNvSpPr>
            <a:spLocks noGrp="1"/>
          </p:cNvSpPr>
          <p:nvPr>
            <p:ph type="body" idx="1"/>
          </p:nvPr>
        </p:nvSpPr>
        <p:spPr>
          <a:xfrm>
            <a:off x="1284817" y="2906713"/>
            <a:ext cx="13817600" cy="1500187"/>
          </a:xfrm>
          <a:effectLst/>
        </p:spPr>
        <p:txBody>
          <a:bodyPr anchor="b"/>
          <a:lstStyle>
            <a:lvl1pPr marL="0" indent="0">
              <a:buNone/>
              <a:defRPr sz="2000">
                <a:effectLst/>
              </a:defRPr>
            </a:lvl1pPr>
            <a:lvl2pPr marL="457200" indent="0">
              <a:buNone/>
              <a:defRPr sz="1800">
                <a:effectLst/>
              </a:defRPr>
            </a:lvl2pPr>
            <a:lvl3pPr marL="914400" indent="0">
              <a:buNone/>
              <a:defRPr sz="1600">
                <a:effectLst/>
              </a:defRPr>
            </a:lvl3pPr>
            <a:lvl4pPr marL="1371600" indent="0">
              <a:buNone/>
              <a:defRPr sz="1400">
                <a:effectLst/>
              </a:defRPr>
            </a:lvl4pPr>
            <a:lvl5pPr marL="1828800" indent="0">
              <a:buNone/>
              <a:defRPr sz="1400">
                <a:effectLst/>
              </a:defRPr>
            </a:lvl5pPr>
            <a:lvl6pPr marL="2286000" indent="0">
              <a:buNone/>
              <a:defRPr sz="1400">
                <a:effectLst/>
              </a:defRPr>
            </a:lvl6pPr>
            <a:lvl7pPr marL="2743200" indent="0">
              <a:buNone/>
              <a:defRPr sz="1400">
                <a:effectLst/>
              </a:defRPr>
            </a:lvl7pPr>
            <a:lvl8pPr marL="3200400" indent="0">
              <a:buNone/>
              <a:defRPr sz="1400">
                <a:effectLst/>
              </a:defRPr>
            </a:lvl8pPr>
            <a:lvl9pPr marL="3657600" indent="0">
              <a:buNone/>
              <a:defRPr sz="1400">
                <a:effectLst/>
              </a:defRPr>
            </a:lvl9pPr>
          </a:lstStyle>
          <a:p>
            <a:pPr lvl="0"/>
            <a:r>
              <a:rPr lang="zh-CN" altLang="en-US" smtClean="0">
                <a:effectLst/>
              </a:rPr>
              <a:t>单击此处编辑母版文本样式</a:t>
            </a:r>
          </a:p>
        </p:txBody>
      </p:sp>
      <p:sp>
        <p:nvSpPr>
          <p:cNvPr id="7" name="日期占位符 3"/>
          <p:cNvSpPr>
            <a:spLocks noGrp="1" noChangeArrowheads="1"/>
          </p:cNvSpPr>
          <p:nvPr>
            <p:ph type="dt" sz="half" idx="2"/>
          </p:nvPr>
        </p:nvSpPr>
        <p:spPr>
          <a:xfrm>
            <a:off x="2467187" y="6356350"/>
            <a:ext cx="2308013"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9F6359B0-551D-4ED3-9BBA-260F2EF8ABF1}"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Obj" preserve="1">
  <p:cSld name="两栏内容">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内容占位符 2"/>
          <p:cNvSpPr>
            <a:spLocks noGrp="1"/>
          </p:cNvSpPr>
          <p:nvPr>
            <p:ph sz="half" idx="1"/>
          </p:nvPr>
        </p:nvSpPr>
        <p:spPr>
          <a:xfrm>
            <a:off x="1117600" y="1825625"/>
            <a:ext cx="6908800" cy="4351338"/>
          </a:xfrm>
          <a:effectLst/>
        </p:spPr>
        <p:txBody>
          <a:bodyPr/>
          <a:lstStyle>
            <a:lvl1pPr>
              <a:defRPr sz="2800">
                <a:effectLst/>
              </a:defRPr>
            </a:lvl1pPr>
            <a:lvl2pPr>
              <a:defRPr sz="2400">
                <a:effectLst/>
              </a:defRPr>
            </a:lvl2pPr>
            <a:lvl3pPr>
              <a:defRPr sz="2000">
                <a:effectLst/>
              </a:defRPr>
            </a:lvl3pPr>
            <a:lvl4pPr>
              <a:defRPr sz="1800">
                <a:effectLst/>
              </a:defRPr>
            </a:lvl4pPr>
            <a:lvl5pPr>
              <a:defRPr sz="1800">
                <a:effectLst/>
              </a:defRPr>
            </a:lvl5pPr>
            <a:lvl6pPr>
              <a:defRPr sz="1800">
                <a:effectLst/>
              </a:defRPr>
            </a:lvl6pPr>
            <a:lvl7pPr>
              <a:defRPr sz="1800">
                <a:effectLst/>
              </a:defRPr>
            </a:lvl7pPr>
            <a:lvl8pPr>
              <a:defRPr sz="1800">
                <a:effectLst/>
              </a:defRPr>
            </a:lvl8pPr>
            <a:lvl9pPr>
              <a:defRPr sz="18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内容占位符 3"/>
          <p:cNvSpPr>
            <a:spLocks noGrp="1"/>
          </p:cNvSpPr>
          <p:nvPr>
            <p:ph sz="half" idx="2"/>
          </p:nvPr>
        </p:nvSpPr>
        <p:spPr>
          <a:xfrm>
            <a:off x="8229600" y="1825625"/>
            <a:ext cx="6908800" cy="4351338"/>
          </a:xfrm>
          <a:effectLst/>
        </p:spPr>
        <p:txBody>
          <a:bodyPr/>
          <a:lstStyle>
            <a:lvl1pPr>
              <a:defRPr sz="2800">
                <a:effectLst/>
              </a:defRPr>
            </a:lvl1pPr>
            <a:lvl2pPr>
              <a:defRPr sz="2400">
                <a:effectLst/>
              </a:defRPr>
            </a:lvl2pPr>
            <a:lvl3pPr>
              <a:defRPr sz="2000">
                <a:effectLst/>
              </a:defRPr>
            </a:lvl3pPr>
            <a:lvl4pPr>
              <a:defRPr sz="1800">
                <a:effectLst/>
              </a:defRPr>
            </a:lvl4pPr>
            <a:lvl5pPr>
              <a:defRPr sz="1800">
                <a:effectLst/>
              </a:defRPr>
            </a:lvl5pPr>
            <a:lvl6pPr>
              <a:defRPr sz="1800">
                <a:effectLst/>
              </a:defRPr>
            </a:lvl6pPr>
            <a:lvl7pPr>
              <a:defRPr sz="1800">
                <a:effectLst/>
              </a:defRPr>
            </a:lvl7pPr>
            <a:lvl8pPr>
              <a:defRPr sz="1800">
                <a:effectLst/>
              </a:defRPr>
            </a:lvl8pPr>
            <a:lvl9pPr>
              <a:defRPr sz="18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12"/>
          </p:nvPr>
        </p:nvSpPr>
        <p:spPr>
          <a:xfrm>
            <a:off x="1878753" y="6356350"/>
            <a:ext cx="2896447"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9EE45A07-9543-4CB3-AD08-77D4ADEA08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
        <p:nvSpPr>
          <p:cNvPr id="5" name="文本框 4"/>
          <p:cNvSpPr txBox="1"/>
          <p:nvPr userDrawn="1"/>
        </p:nvSpPr>
        <p:spPr>
          <a:xfrm>
            <a:off x="6434667" y="3106420"/>
            <a:ext cx="3386667" cy="106680"/>
          </a:xfrm>
          <a:prstGeom prst="rect">
            <a:avLst/>
          </a:prstGeom>
          <a:noFill/>
          <a:effectLst/>
        </p:spPr>
        <p:txBody>
          <a:bodyPr wrap="square" rtlCol="0" anchor="t">
            <a:spAutoFit/>
          </a:bodyPr>
          <a:lstStyle/>
          <a:p>
            <a:r>
              <a:rPr lang="zh-CN" altLang="en-US" sz="100">
                <a:effectLst/>
              </a:rPr>
              <a:t>勇于开始，才能找到成功的路</a:t>
            </a:r>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比较">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xfrm>
            <a:off x="812800" y="274638"/>
            <a:ext cx="14630400" cy="1143000"/>
          </a:xfrm>
          <a:effectLst/>
        </p:spPr>
        <p:txBody>
          <a:bodyPr/>
          <a:lstStyle/>
          <a:p>
            <a:r>
              <a:rPr lang="zh-CN" altLang="en-US" smtClean="0">
                <a:effectLst/>
              </a:rPr>
              <a:t>单击此处编辑母版标题样式</a:t>
            </a:r>
            <a:endParaRPr lang="zh-CN" altLang="en-US">
              <a:effectLst/>
            </a:endParaRPr>
          </a:p>
        </p:txBody>
      </p:sp>
      <p:sp>
        <p:nvSpPr>
          <p:cNvPr id="3" name="文本占位符 2"/>
          <p:cNvSpPr>
            <a:spLocks noGrp="1"/>
          </p:cNvSpPr>
          <p:nvPr>
            <p:ph type="body" idx="1"/>
          </p:nvPr>
        </p:nvSpPr>
        <p:spPr>
          <a:xfrm>
            <a:off x="812800" y="1535113"/>
            <a:ext cx="7181851" cy="639762"/>
          </a:xfrm>
          <a:effectLst/>
        </p:spPr>
        <p:txBody>
          <a:bodyPr anchor="b"/>
          <a:lstStyle>
            <a:lvl1pPr marL="0" indent="0">
              <a:buNone/>
              <a:defRPr sz="2400" b="1">
                <a:effectLst/>
              </a:defRPr>
            </a:lvl1pPr>
            <a:lvl2pPr marL="457200" indent="0">
              <a:buNone/>
              <a:defRPr sz="2000" b="1">
                <a:effectLst/>
              </a:defRPr>
            </a:lvl2pPr>
            <a:lvl3pPr marL="914400" indent="0">
              <a:buNone/>
              <a:defRPr sz="1800" b="1">
                <a:effectLst/>
              </a:defRPr>
            </a:lvl3pPr>
            <a:lvl4pPr marL="1371600" indent="0">
              <a:buNone/>
              <a:defRPr sz="1600" b="1">
                <a:effectLst/>
              </a:defRPr>
            </a:lvl4pPr>
            <a:lvl5pPr marL="1828800" indent="0">
              <a:buNone/>
              <a:defRPr sz="1600" b="1">
                <a:effectLst/>
              </a:defRPr>
            </a:lvl5pPr>
            <a:lvl6pPr marL="2286000" indent="0">
              <a:buNone/>
              <a:defRPr sz="1600" b="1">
                <a:effectLst/>
              </a:defRPr>
            </a:lvl6pPr>
            <a:lvl7pPr marL="2743200" indent="0">
              <a:buNone/>
              <a:defRPr sz="1600" b="1">
                <a:effectLst/>
              </a:defRPr>
            </a:lvl7pPr>
            <a:lvl8pPr marL="3200400" indent="0">
              <a:buNone/>
              <a:defRPr sz="1600" b="1">
                <a:effectLst/>
              </a:defRPr>
            </a:lvl8pPr>
            <a:lvl9pPr marL="3657600" indent="0">
              <a:buNone/>
              <a:defRPr sz="1600" b="1">
                <a:effectLst/>
              </a:defRPr>
            </a:lvl9pPr>
          </a:lstStyle>
          <a:p>
            <a:pPr lvl="0"/>
            <a:r>
              <a:rPr lang="zh-CN" altLang="en-US" smtClean="0">
                <a:effectLst/>
              </a:rPr>
              <a:t>单击此处编辑母版文本样式</a:t>
            </a:r>
          </a:p>
        </p:txBody>
      </p:sp>
      <p:sp>
        <p:nvSpPr>
          <p:cNvPr id="4" name="内容占位符 3"/>
          <p:cNvSpPr>
            <a:spLocks noGrp="1"/>
          </p:cNvSpPr>
          <p:nvPr>
            <p:ph sz="half" idx="2"/>
          </p:nvPr>
        </p:nvSpPr>
        <p:spPr>
          <a:xfrm>
            <a:off x="812800" y="2174875"/>
            <a:ext cx="7181851" cy="3951288"/>
          </a:xfrm>
          <a:effectLst/>
        </p:spPr>
        <p:txBody>
          <a:bodyPr/>
          <a:lstStyle>
            <a:lvl1pPr>
              <a:defRPr sz="2400">
                <a:effectLst/>
              </a:defRPr>
            </a:lvl1pPr>
            <a:lvl2pPr>
              <a:defRPr sz="2000">
                <a:effectLst/>
              </a:defRPr>
            </a:lvl2pPr>
            <a:lvl3pPr>
              <a:defRPr sz="1800">
                <a:effectLst/>
              </a:defRPr>
            </a:lvl3pPr>
            <a:lvl4pPr>
              <a:defRPr sz="1600">
                <a:effectLst/>
              </a:defRPr>
            </a:lvl4pPr>
            <a:lvl5pPr>
              <a:defRPr sz="1600">
                <a:effectLst/>
              </a:defRPr>
            </a:lvl5pPr>
            <a:lvl6pPr>
              <a:defRPr sz="1600">
                <a:effectLst/>
              </a:defRPr>
            </a:lvl6pPr>
            <a:lvl7pPr>
              <a:defRPr sz="1600">
                <a:effectLst/>
              </a:defRPr>
            </a:lvl7pPr>
            <a:lvl8pPr>
              <a:defRPr sz="1600">
                <a:effectLst/>
              </a:defRPr>
            </a:lvl8pPr>
            <a:lvl9pPr>
              <a:defRPr sz="16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5" name="文本占位符 4"/>
          <p:cNvSpPr>
            <a:spLocks noGrp="1"/>
          </p:cNvSpPr>
          <p:nvPr>
            <p:ph type="body" sz="quarter" idx="3"/>
          </p:nvPr>
        </p:nvSpPr>
        <p:spPr>
          <a:xfrm>
            <a:off x="8257117" y="1535113"/>
            <a:ext cx="7186083" cy="639762"/>
          </a:xfrm>
          <a:effectLst/>
        </p:spPr>
        <p:txBody>
          <a:bodyPr anchor="b"/>
          <a:lstStyle>
            <a:lvl1pPr marL="0" indent="0">
              <a:buNone/>
              <a:defRPr sz="2400" b="1">
                <a:effectLst/>
              </a:defRPr>
            </a:lvl1pPr>
            <a:lvl2pPr marL="457200" indent="0">
              <a:buNone/>
              <a:defRPr sz="2000" b="1">
                <a:effectLst/>
              </a:defRPr>
            </a:lvl2pPr>
            <a:lvl3pPr marL="914400" indent="0">
              <a:buNone/>
              <a:defRPr sz="1800" b="1">
                <a:effectLst/>
              </a:defRPr>
            </a:lvl3pPr>
            <a:lvl4pPr marL="1371600" indent="0">
              <a:buNone/>
              <a:defRPr sz="1600" b="1">
                <a:effectLst/>
              </a:defRPr>
            </a:lvl4pPr>
            <a:lvl5pPr marL="1828800" indent="0">
              <a:buNone/>
              <a:defRPr sz="1600" b="1">
                <a:effectLst/>
              </a:defRPr>
            </a:lvl5pPr>
            <a:lvl6pPr marL="2286000" indent="0">
              <a:buNone/>
              <a:defRPr sz="1600" b="1">
                <a:effectLst/>
              </a:defRPr>
            </a:lvl6pPr>
            <a:lvl7pPr marL="2743200" indent="0">
              <a:buNone/>
              <a:defRPr sz="1600" b="1">
                <a:effectLst/>
              </a:defRPr>
            </a:lvl7pPr>
            <a:lvl8pPr marL="3200400" indent="0">
              <a:buNone/>
              <a:defRPr sz="1600" b="1">
                <a:effectLst/>
              </a:defRPr>
            </a:lvl8pPr>
            <a:lvl9pPr marL="3657600" indent="0">
              <a:buNone/>
              <a:defRPr sz="1600" b="1">
                <a:effectLst/>
              </a:defRPr>
            </a:lvl9pPr>
          </a:lstStyle>
          <a:p>
            <a:pPr lvl="0"/>
            <a:r>
              <a:rPr lang="zh-CN" altLang="en-US" smtClean="0">
                <a:effectLst/>
              </a:rPr>
              <a:t>单击此处编辑母版文本样式</a:t>
            </a:r>
          </a:p>
        </p:txBody>
      </p:sp>
      <p:sp>
        <p:nvSpPr>
          <p:cNvPr id="6" name="内容占位符 5"/>
          <p:cNvSpPr>
            <a:spLocks noGrp="1"/>
          </p:cNvSpPr>
          <p:nvPr>
            <p:ph sz="quarter" idx="4"/>
          </p:nvPr>
        </p:nvSpPr>
        <p:spPr>
          <a:xfrm>
            <a:off x="8257117" y="2174875"/>
            <a:ext cx="7186083" cy="3951288"/>
          </a:xfrm>
          <a:effectLst/>
        </p:spPr>
        <p:txBody>
          <a:bodyPr/>
          <a:lstStyle>
            <a:lvl1pPr>
              <a:defRPr sz="2400">
                <a:effectLst/>
              </a:defRPr>
            </a:lvl1pPr>
            <a:lvl2pPr>
              <a:defRPr sz="2000">
                <a:effectLst/>
              </a:defRPr>
            </a:lvl2pPr>
            <a:lvl3pPr>
              <a:defRPr sz="1800">
                <a:effectLst/>
              </a:defRPr>
            </a:lvl3pPr>
            <a:lvl4pPr>
              <a:defRPr sz="1600">
                <a:effectLst/>
              </a:defRPr>
            </a:lvl4pPr>
            <a:lvl5pPr>
              <a:defRPr sz="1600">
                <a:effectLst/>
              </a:defRPr>
            </a:lvl5pPr>
            <a:lvl6pPr>
              <a:defRPr sz="1600">
                <a:effectLst/>
              </a:defRPr>
            </a:lvl6pPr>
            <a:lvl7pPr>
              <a:defRPr sz="1600">
                <a:effectLst/>
              </a:defRPr>
            </a:lvl7pPr>
            <a:lvl8pPr>
              <a:defRPr sz="1600">
                <a:effectLst/>
              </a:defRPr>
            </a:lvl8pPr>
            <a:lvl9pPr>
              <a:defRPr sz="16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12"/>
          </p:nvPr>
        </p:nvSpPr>
        <p:spPr>
          <a:xfrm>
            <a:off x="2530687" y="6356350"/>
            <a:ext cx="2244513"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96AD73CA-0E97-49A1-BDF6-7688FEF37AB1}"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1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1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
        <p:nvSpPr>
          <p:cNvPr id="10" name="文本框 9"/>
          <p:cNvSpPr txBox="1"/>
          <p:nvPr userDrawn="1"/>
        </p:nvSpPr>
        <p:spPr>
          <a:xfrm>
            <a:off x="6434667" y="3106420"/>
            <a:ext cx="3386667" cy="106680"/>
          </a:xfrm>
          <a:prstGeom prst="rect">
            <a:avLst/>
          </a:prstGeom>
          <a:noFill/>
          <a:effectLst/>
        </p:spPr>
        <p:txBody>
          <a:bodyPr wrap="square" rtlCol="0" anchor="t">
            <a:spAutoFit/>
          </a:bodyPr>
          <a:lstStyle/>
          <a:p>
            <a:r>
              <a:rPr lang="zh-CN" altLang="en-US" sz="100">
                <a:effectLst/>
              </a:rPr>
              <a:t>临财勿苟得，临难勿苟免</a:t>
            </a:r>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仅标题">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7" name="日期占位符 3"/>
          <p:cNvSpPr>
            <a:spLocks noGrp="1" noChangeArrowheads="1"/>
          </p:cNvSpPr>
          <p:nvPr>
            <p:ph type="dt" sz="half" idx="2"/>
          </p:nvPr>
        </p:nvSpPr>
        <p:spPr>
          <a:xfrm>
            <a:off x="2308013" y="6356350"/>
            <a:ext cx="2467187"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D812FD26-1286-43F6-83DE-3B071FCA227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blank" preserve="1">
  <p:cSld name="空白">
    <p:bg>
      <p:bgPr>
        <a:blipFill rotWithShape="1">
          <a:blip r:embed="rId1"/>
          <a:stretch/>
        </a:blipFill>
        <a:effectLst/>
      </p:bgPr>
    </p:bg>
    <p:spTree>
      <p:nvGrpSpPr>
        <p:cNvPr id="1" name=""/>
        <p:cNvGrpSpPr/>
        <p:nvPr/>
      </p:nvGrpSpPr>
      <p:grpSpPr>
        <a:xfrm>
          <a:off x="0" y="0"/>
          <a:ext cx="0" cy="0"/>
        </a:xfrm>
        <a:effectLst/>
      </p:grpSpPr>
      <p:sp>
        <p:nvSpPr>
          <p:cNvPr id="7" name="日期占位符 3"/>
          <p:cNvSpPr>
            <a:spLocks noGrp="1" noChangeArrowheads="1"/>
          </p:cNvSpPr>
          <p:nvPr>
            <p:ph type="dt" sz="half" idx="2"/>
          </p:nvPr>
        </p:nvSpPr>
        <p:spPr>
          <a:xfrm>
            <a:off x="2038773" y="6356350"/>
            <a:ext cx="2736427"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780724A2-EFD5-4EFC-A817-4699F040CCFD}"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Tx" preserve="1">
  <p:cSld name="内容与标题">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xfrm>
            <a:off x="812800" y="273050"/>
            <a:ext cx="5348817" cy="1162050"/>
          </a:xfrm>
          <a:effectLst/>
        </p:spPr>
        <p:txBody>
          <a:bodyPr anchor="b"/>
          <a:lstStyle>
            <a:lvl1pPr algn="l">
              <a:defRPr sz="2000" b="1">
                <a:effectLst/>
              </a:defRPr>
            </a:lvl1pPr>
          </a:lstStyle>
          <a:p>
            <a:r>
              <a:rPr lang="zh-CN" altLang="en-US" smtClean="0">
                <a:effectLst/>
              </a:rPr>
              <a:t>单击此处编辑母版标题样式</a:t>
            </a:r>
            <a:endParaRPr lang="zh-CN" altLang="en-US">
              <a:effectLst/>
            </a:endParaRPr>
          </a:p>
        </p:txBody>
      </p:sp>
      <p:sp>
        <p:nvSpPr>
          <p:cNvPr id="3" name="内容占位符 2"/>
          <p:cNvSpPr>
            <a:spLocks noGrp="1"/>
          </p:cNvSpPr>
          <p:nvPr>
            <p:ph idx="1"/>
          </p:nvPr>
        </p:nvSpPr>
        <p:spPr>
          <a:xfrm>
            <a:off x="6356351" y="273050"/>
            <a:ext cx="9086849" cy="5853113"/>
          </a:xfrm>
          <a:effectLst/>
        </p:spPr>
        <p:txBody>
          <a:bodyPr/>
          <a:lstStyle>
            <a:lvl1pPr>
              <a:defRPr sz="3200">
                <a:effectLst/>
              </a:defRPr>
            </a:lvl1pPr>
            <a:lvl2pPr>
              <a:defRPr sz="2800">
                <a:effectLst/>
              </a:defRPr>
            </a:lvl2pPr>
            <a:lvl3pPr>
              <a:defRPr sz="2400">
                <a:effectLst/>
              </a:defRPr>
            </a:lvl3pPr>
            <a:lvl4pPr>
              <a:defRPr sz="2000">
                <a:effectLst/>
              </a:defRPr>
            </a:lvl4pPr>
            <a:lvl5pPr>
              <a:defRPr sz="2000">
                <a:effectLst/>
              </a:defRPr>
            </a:lvl5pPr>
            <a:lvl6pPr>
              <a:defRPr sz="2000">
                <a:effectLst/>
              </a:defRPr>
            </a:lvl6pPr>
            <a:lvl7pPr>
              <a:defRPr sz="2000">
                <a:effectLst/>
              </a:defRPr>
            </a:lvl7pPr>
            <a:lvl8pPr>
              <a:defRPr sz="2000">
                <a:effectLst/>
              </a:defRPr>
            </a:lvl8pPr>
            <a:lvl9pPr>
              <a:defRPr sz="20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文本占位符 3"/>
          <p:cNvSpPr>
            <a:spLocks noGrp="1"/>
          </p:cNvSpPr>
          <p:nvPr>
            <p:ph type="body" sz="half" idx="2"/>
          </p:nvPr>
        </p:nvSpPr>
        <p:spPr>
          <a:xfrm>
            <a:off x="812800" y="1435100"/>
            <a:ext cx="5348817" cy="4691063"/>
          </a:xfrm>
          <a:effectLst/>
        </p:spPr>
        <p:txBody>
          <a:bodyPr/>
          <a:lstStyle>
            <a:lvl1pPr marL="0" indent="0">
              <a:buNone/>
              <a:defRPr sz="1400">
                <a:effectLst/>
              </a:defRPr>
            </a:lvl1pPr>
            <a:lvl2pPr marL="457200" indent="0">
              <a:buNone/>
              <a:defRPr sz="1200">
                <a:effectLst/>
              </a:defRPr>
            </a:lvl2pPr>
            <a:lvl3pPr marL="914400" indent="0">
              <a:buNone/>
              <a:defRPr sz="1000">
                <a:effectLst/>
              </a:defRPr>
            </a:lvl3pPr>
            <a:lvl4pPr marL="1371600" indent="0">
              <a:buNone/>
              <a:defRPr sz="900">
                <a:effectLst/>
              </a:defRPr>
            </a:lvl4pPr>
            <a:lvl5pPr marL="1828800" indent="0">
              <a:buNone/>
              <a:defRPr sz="900">
                <a:effectLst/>
              </a:defRPr>
            </a:lvl5pPr>
            <a:lvl6pPr marL="2286000" indent="0">
              <a:buNone/>
              <a:defRPr sz="900">
                <a:effectLst/>
              </a:defRPr>
            </a:lvl6pPr>
            <a:lvl7pPr marL="2743200" indent="0">
              <a:buNone/>
              <a:defRPr sz="900">
                <a:effectLst/>
              </a:defRPr>
            </a:lvl7pPr>
            <a:lvl8pPr marL="3200400" indent="0">
              <a:buNone/>
              <a:defRPr sz="900">
                <a:effectLst/>
              </a:defRPr>
            </a:lvl8pPr>
            <a:lvl9pPr marL="3657600" indent="0">
              <a:buNone/>
              <a:defRPr sz="900">
                <a:effectLst/>
              </a:defRPr>
            </a:lvl9pPr>
          </a:lstStyle>
          <a:p>
            <a:pPr lvl="0"/>
            <a:r>
              <a:rPr lang="zh-CN" altLang="en-US" smtClean="0">
                <a:effectLst/>
              </a:rPr>
              <a:t>单击此处编辑母版文本样式</a:t>
            </a:r>
          </a:p>
        </p:txBody>
      </p:sp>
      <p:sp>
        <p:nvSpPr>
          <p:cNvPr id="7" name="日期占位符 3"/>
          <p:cNvSpPr>
            <a:spLocks noGrp="1" noChangeArrowheads="1"/>
          </p:cNvSpPr>
          <p:nvPr>
            <p:ph type="dt" sz="half" idx="12"/>
          </p:nvPr>
        </p:nvSpPr>
        <p:spPr>
          <a:xfrm>
            <a:off x="2435860" y="6356350"/>
            <a:ext cx="2339340"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106C1B9E-FF79-4C84-852B-57FEC9D276F6}"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picTx" preserve="1">
  <p:cSld name="图片与标题">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xfrm>
            <a:off x="3185584" y="4800600"/>
            <a:ext cx="9753600" cy="566738"/>
          </a:xfrm>
          <a:effectLst/>
        </p:spPr>
        <p:txBody>
          <a:bodyPr anchor="b"/>
          <a:lstStyle>
            <a:lvl1pPr algn="l">
              <a:defRPr sz="2000" b="1">
                <a:effectLst/>
              </a:defRPr>
            </a:lvl1pPr>
          </a:lstStyle>
          <a:p>
            <a:r>
              <a:rPr lang="zh-CN" altLang="en-US" smtClean="0">
                <a:effectLst/>
              </a:rPr>
              <a:t>单击此处编辑母版标题样式</a:t>
            </a:r>
            <a:endParaRPr lang="zh-CN" altLang="en-US">
              <a:effectLst/>
            </a:endParaRPr>
          </a:p>
        </p:txBody>
      </p:sp>
      <p:sp>
        <p:nvSpPr>
          <p:cNvPr id="3" name="图片占位符 2"/>
          <p:cNvSpPr>
            <a:spLocks noGrp="1"/>
          </p:cNvSpPr>
          <p:nvPr>
            <p:ph type="pic" idx="1"/>
          </p:nvPr>
        </p:nvSpPr>
        <p:spPr>
          <a:xfrm>
            <a:off x="3185584" y="612775"/>
            <a:ext cx="9753600" cy="4114800"/>
          </a:xfrm>
          <a:effectLst/>
        </p:spPr>
        <p:txBody>
          <a:bodyPr vert="horz" wrap="square" lIns="91440" tIns="45720" rIns="91440" bIns="45720" anchor="t" anchorCtr="0" compatLnSpc="1"/>
          <a:lstStyle>
            <a:lvl1pPr marL="0" indent="0">
              <a:buNone/>
              <a:defRPr sz="3200">
                <a:effectLst/>
              </a:defRPr>
            </a:lvl1pPr>
            <a:lvl2pPr marL="457200" indent="0">
              <a:buNone/>
              <a:defRPr sz="2800">
                <a:effectLst/>
              </a:defRPr>
            </a:lvl2pPr>
            <a:lvl3pPr marL="914400" indent="0">
              <a:buNone/>
              <a:defRPr sz="2400">
                <a:effectLst/>
              </a:defRPr>
            </a:lvl3pPr>
            <a:lvl4pPr marL="1371600" indent="0">
              <a:buNone/>
              <a:defRPr sz="2000">
                <a:effectLst/>
              </a:defRPr>
            </a:lvl4pPr>
            <a:lvl5pPr marL="1828800" indent="0">
              <a:buNone/>
              <a:defRPr sz="2000">
                <a:effectLst/>
              </a:defRPr>
            </a:lvl5pPr>
            <a:lvl6pPr marL="2286000" indent="0">
              <a:buNone/>
              <a:defRPr sz="2000">
                <a:effectLst/>
              </a:defRPr>
            </a:lvl6pPr>
            <a:lvl7pPr marL="2743200" indent="0">
              <a:buNone/>
              <a:defRPr sz="2000">
                <a:effectLst/>
              </a:defRPr>
            </a:lvl7pPr>
            <a:lvl8pPr marL="3200400" indent="0">
              <a:buNone/>
              <a:defRPr sz="2000">
                <a:effectLst/>
              </a:defRPr>
            </a:lvl8pPr>
            <a:lvl9pPr marL="3657600" indent="0">
              <a:buNone/>
              <a:defRPr sz="2000">
                <a:effectLst/>
              </a:defRPr>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sym typeface="Calibri" panose="020f0502020204030204" pitchFamily="34" charset="0"/>
            </a:endParaRPr>
          </a:p>
        </p:txBody>
      </p:sp>
      <p:sp>
        <p:nvSpPr>
          <p:cNvPr id="4" name="文本占位符 3"/>
          <p:cNvSpPr>
            <a:spLocks noGrp="1"/>
          </p:cNvSpPr>
          <p:nvPr>
            <p:ph type="body" sz="half" idx="2"/>
          </p:nvPr>
        </p:nvSpPr>
        <p:spPr>
          <a:xfrm>
            <a:off x="3185584" y="5367338"/>
            <a:ext cx="9753600" cy="804862"/>
          </a:xfrm>
          <a:effectLst/>
        </p:spPr>
        <p:txBody>
          <a:bodyPr/>
          <a:lstStyle>
            <a:lvl1pPr marL="0" indent="0">
              <a:buNone/>
              <a:defRPr sz="1400">
                <a:effectLst/>
              </a:defRPr>
            </a:lvl1pPr>
            <a:lvl2pPr marL="457200" indent="0">
              <a:buNone/>
              <a:defRPr sz="1200">
                <a:effectLst/>
              </a:defRPr>
            </a:lvl2pPr>
            <a:lvl3pPr marL="914400" indent="0">
              <a:buNone/>
              <a:defRPr sz="1000">
                <a:effectLst/>
              </a:defRPr>
            </a:lvl3pPr>
            <a:lvl4pPr marL="1371600" indent="0">
              <a:buNone/>
              <a:defRPr sz="900">
                <a:effectLst/>
              </a:defRPr>
            </a:lvl4pPr>
            <a:lvl5pPr marL="1828800" indent="0">
              <a:buNone/>
              <a:defRPr sz="900">
                <a:effectLst/>
              </a:defRPr>
            </a:lvl5pPr>
            <a:lvl6pPr marL="2286000" indent="0">
              <a:buNone/>
              <a:defRPr sz="900">
                <a:effectLst/>
              </a:defRPr>
            </a:lvl6pPr>
            <a:lvl7pPr marL="2743200" indent="0">
              <a:buNone/>
              <a:defRPr sz="900">
                <a:effectLst/>
              </a:defRPr>
            </a:lvl7pPr>
            <a:lvl8pPr marL="3200400" indent="0">
              <a:buNone/>
              <a:defRPr sz="900">
                <a:effectLst/>
              </a:defRPr>
            </a:lvl8pPr>
            <a:lvl9pPr marL="3657600" indent="0">
              <a:buNone/>
              <a:defRPr sz="900">
                <a:effectLst/>
              </a:defRPr>
            </a:lvl9pPr>
          </a:lstStyle>
          <a:p>
            <a:pPr lvl="0"/>
            <a:r>
              <a:rPr lang="zh-CN" altLang="en-US" smtClean="0">
                <a:effectLst/>
              </a:rPr>
              <a:t>单击此处编辑母版文本样式</a:t>
            </a:r>
          </a:p>
        </p:txBody>
      </p:sp>
      <p:sp>
        <p:nvSpPr>
          <p:cNvPr id="7" name="日期占位符 3"/>
          <p:cNvSpPr>
            <a:spLocks noGrp="1" noChangeArrowheads="1"/>
          </p:cNvSpPr>
          <p:nvPr>
            <p:ph type="dt" sz="half" idx="12"/>
          </p:nvPr>
        </p:nvSpPr>
        <p:spPr>
          <a:xfrm>
            <a:off x="2421467" y="6356350"/>
            <a:ext cx="2353733"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8DC8594F-D407-426F-8B76-A6515250E34D}"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x" preserve="1">
  <p:cSld name="标题和竖排文字">
    <p:bg>
      <p:bgPr>
        <a:blipFill rotWithShape="1">
          <a:blip r:embed="rId1"/>
          <a:stretch/>
        </a:blipFill>
        <a:effectLst/>
      </p:bgPr>
    </p:bg>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竖排文字占位符 2"/>
          <p:cNvSpPr>
            <a:spLocks noGrp="1"/>
          </p:cNvSpPr>
          <p:nvPr>
            <p:ph type="body" orient="vert" idx="1"/>
          </p:nvPr>
        </p:nvSpPr>
        <p:spPr>
          <a:effectLst/>
        </p:spPr>
        <p:txBody>
          <a:bodyPr vert="eaVert"/>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2"/>
          </p:nvPr>
        </p:nvSpPr>
        <p:spPr>
          <a:xfrm>
            <a:off x="2373207" y="6356350"/>
            <a:ext cx="2401993"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515F1CAC-6750-4909-8C24-5B1DD96EB07A}"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垂直排列标题与文本">
    <p:bg>
      <p:bgPr>
        <a:blipFill rotWithShape="1">
          <a:blip r:embed="rId1"/>
          <a:stretch/>
        </a:blipFill>
        <a:effectLst/>
      </p:bgPr>
    </p:bg>
    <p:spTree>
      <p:nvGrpSpPr>
        <p:cNvPr id="1" name=""/>
        <p:cNvGrpSpPr/>
        <p:nvPr/>
      </p:nvGrpSpPr>
      <p:grpSpPr>
        <a:xfrm>
          <a:off x="0" y="0"/>
          <a:ext cx="0" cy="0"/>
        </a:xfrm>
        <a:effectLst/>
      </p:grpSpPr>
      <p:sp>
        <p:nvSpPr>
          <p:cNvPr id="2" name="竖排标题 1"/>
          <p:cNvSpPr>
            <a:spLocks noGrp="1"/>
          </p:cNvSpPr>
          <p:nvPr>
            <p:ph type="title" orient="vert"/>
          </p:nvPr>
        </p:nvSpPr>
        <p:spPr>
          <a:xfrm>
            <a:off x="11633200" y="365125"/>
            <a:ext cx="3505200" cy="5811838"/>
          </a:xfrm>
          <a:effectLst/>
        </p:spPr>
        <p:txBody>
          <a:bodyPr vert="eaVert"/>
          <a:lstStyle/>
          <a:p>
            <a:r>
              <a:rPr lang="zh-CN" altLang="en-US" smtClean="0">
                <a:effectLst/>
              </a:rPr>
              <a:t>单击此处编辑母版标题样式</a:t>
            </a:r>
            <a:endParaRPr lang="zh-CN" altLang="en-US">
              <a:effectLst/>
            </a:endParaRPr>
          </a:p>
        </p:txBody>
      </p:sp>
      <p:sp>
        <p:nvSpPr>
          <p:cNvPr id="3" name="竖排文字占位符 2"/>
          <p:cNvSpPr>
            <a:spLocks noGrp="1"/>
          </p:cNvSpPr>
          <p:nvPr>
            <p:ph type="body" orient="vert" idx="1"/>
          </p:nvPr>
        </p:nvSpPr>
        <p:spPr>
          <a:xfrm>
            <a:off x="1117600" y="365125"/>
            <a:ext cx="10312400" cy="5811838"/>
          </a:xfrm>
          <a:effectLst/>
        </p:spPr>
        <p:txBody>
          <a:bodyPr vert="eaVert"/>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2"/>
          </p:nvPr>
        </p:nvSpPr>
        <p:spPr>
          <a:xfrm>
            <a:off x="2626360" y="6356350"/>
            <a:ext cx="2148840" cy="36512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602EAC19-CA7F-4B24-9F4B-C1CCD26EE555}"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384800" y="6356350"/>
            <a:ext cx="5486400" cy="365125"/>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480800" y="6356350"/>
            <a:ext cx="3657600" cy="365125"/>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 preserve="1">
  <p:cSld name="1_标题幻灯片">
    <p:spTree>
      <p:nvGrpSpPr>
        <p:cNvPr id="1" name=""/>
        <p:cNvGrpSpPr/>
        <p:nvPr/>
      </p:nvGrpSpPr>
      <p:grpSpPr>
        <a:xfrm>
          <a:off x="0" y="0"/>
          <a:ext cx="0" cy="0"/>
        </a:xfrm>
        <a:effectLst/>
      </p:grpSpPr>
      <p:sp>
        <p:nvSpPr>
          <p:cNvPr id="7" name="日期占位符 3"/>
          <p:cNvSpPr>
            <a:spLocks noGrp="1" noChangeArrowheads="1"/>
          </p:cNvSpPr>
          <p:nvPr>
            <p:ph type="dt" sz="half" idx="2"/>
          </p:nvPr>
        </p:nvSpPr>
        <p:spPr>
          <a:xfrm>
            <a:off x="2194560" y="6356985"/>
            <a:ext cx="2411307"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C44CD405-4A33-4B97-9425-89268DA875E4}"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 preserve="1">
  <p:cSld name="1_标题和内容">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内容占位符 2"/>
          <p:cNvSpPr>
            <a:spLocks noGrp="1"/>
          </p:cNvSpPr>
          <p:nvPr>
            <p:ph idx="1"/>
          </p:nvPr>
        </p:nvSpPr>
        <p:spPr>
          <a:effectLst/>
        </p:spPr>
        <p:txBody>
          <a:body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2"/>
          </p:nvPr>
        </p:nvSpPr>
        <p:spPr>
          <a:xfrm>
            <a:off x="2369820" y="6356985"/>
            <a:ext cx="2236047"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66069934-4AA2-4C16-B732-68D89DD9F0F7}"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secHead" preserve="1">
  <p:cSld name="1_节标题">
    <p:spTree>
      <p:nvGrpSpPr>
        <p:cNvPr id="1" name=""/>
        <p:cNvGrpSpPr/>
        <p:nvPr/>
      </p:nvGrpSpPr>
      <p:grpSpPr>
        <a:xfrm>
          <a:off x="0" y="0"/>
          <a:ext cx="0" cy="0"/>
        </a:xfrm>
        <a:effectLst/>
      </p:grpSpPr>
      <p:sp>
        <p:nvSpPr>
          <p:cNvPr id="2" name="标题 1"/>
          <p:cNvSpPr>
            <a:spLocks noGrp="1"/>
          </p:cNvSpPr>
          <p:nvPr>
            <p:ph type="title"/>
          </p:nvPr>
        </p:nvSpPr>
        <p:spPr>
          <a:xfrm>
            <a:off x="1284112" y="4406266"/>
            <a:ext cx="13817600" cy="1362074"/>
          </a:xfrm>
          <a:effectLst/>
        </p:spPr>
        <p:txBody>
          <a:bodyPr anchor="t"/>
          <a:lstStyle>
            <a:lvl1pPr algn="l">
              <a:defRPr sz="4800" b="1" cap="all">
                <a:effectLst/>
              </a:defRPr>
            </a:lvl1pPr>
          </a:lstStyle>
          <a:p>
            <a:r>
              <a:rPr lang="zh-CN" altLang="en-US" smtClean="0">
                <a:effectLst/>
              </a:rPr>
              <a:t>单击此处编辑母版标题样式</a:t>
            </a:r>
            <a:endParaRPr lang="zh-CN" altLang="en-US">
              <a:effectLst/>
            </a:endParaRPr>
          </a:p>
        </p:txBody>
      </p:sp>
      <p:sp>
        <p:nvSpPr>
          <p:cNvPr id="3" name="文本占位符 2"/>
          <p:cNvSpPr>
            <a:spLocks noGrp="1"/>
          </p:cNvSpPr>
          <p:nvPr>
            <p:ph type="body" idx="1"/>
          </p:nvPr>
        </p:nvSpPr>
        <p:spPr>
          <a:xfrm>
            <a:off x="1284112" y="2907030"/>
            <a:ext cx="13817600" cy="1499236"/>
          </a:xfrm>
          <a:effectLst/>
        </p:spPr>
        <p:txBody>
          <a:bodyPr anchor="b"/>
          <a:lstStyle>
            <a:lvl1pPr marL="0" indent="0">
              <a:buNone/>
              <a:defRPr sz="2400">
                <a:effectLst/>
              </a:defRPr>
            </a:lvl1pPr>
            <a:lvl2pPr marL="548640" indent="0">
              <a:buNone/>
              <a:defRPr sz="2160">
                <a:effectLst/>
              </a:defRPr>
            </a:lvl2pPr>
            <a:lvl3pPr marL="1097280" indent="0">
              <a:buNone/>
              <a:defRPr sz="1920">
                <a:effectLst/>
              </a:defRPr>
            </a:lvl3pPr>
            <a:lvl4pPr marL="1645920" indent="0">
              <a:buNone/>
              <a:defRPr sz="1680">
                <a:effectLst/>
              </a:defRPr>
            </a:lvl4pPr>
            <a:lvl5pPr marL="2194560" indent="0">
              <a:buNone/>
              <a:defRPr sz="1680">
                <a:effectLst/>
              </a:defRPr>
            </a:lvl5pPr>
            <a:lvl6pPr marL="2743200" indent="0">
              <a:buNone/>
              <a:defRPr sz="1680">
                <a:effectLst/>
              </a:defRPr>
            </a:lvl6pPr>
            <a:lvl7pPr marL="3291840" indent="0">
              <a:buNone/>
              <a:defRPr sz="1680">
                <a:effectLst/>
              </a:defRPr>
            </a:lvl7pPr>
            <a:lvl8pPr marL="3840480" indent="0">
              <a:buNone/>
              <a:defRPr sz="1680">
                <a:effectLst/>
              </a:defRPr>
            </a:lvl8pPr>
            <a:lvl9pPr marL="4389120" indent="0">
              <a:buNone/>
              <a:defRPr sz="1680">
                <a:effectLst/>
              </a:defRPr>
            </a:lvl9pPr>
          </a:lstStyle>
          <a:p>
            <a:pPr lvl="0"/>
            <a:r>
              <a:rPr lang="zh-CN" altLang="en-US" smtClean="0">
                <a:effectLst/>
              </a:rPr>
              <a:t>单击此处编辑母版文本样式</a:t>
            </a:r>
          </a:p>
        </p:txBody>
      </p:sp>
      <p:sp>
        <p:nvSpPr>
          <p:cNvPr id="7" name="日期占位符 3"/>
          <p:cNvSpPr>
            <a:spLocks noGrp="1" noChangeArrowheads="1"/>
          </p:cNvSpPr>
          <p:nvPr>
            <p:ph type="dt" sz="half" idx="2"/>
          </p:nvPr>
        </p:nvSpPr>
        <p:spPr>
          <a:xfrm>
            <a:off x="2098887" y="6356985"/>
            <a:ext cx="2506980"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723D6DBB-70AA-4DA0-8703-C0CBCA3C8FA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Obj" preserve="1">
  <p:cSld name="1_两栏内容">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内容占位符 2"/>
          <p:cNvSpPr>
            <a:spLocks noGrp="1"/>
          </p:cNvSpPr>
          <p:nvPr>
            <p:ph sz="half" idx="1"/>
          </p:nvPr>
        </p:nvSpPr>
        <p:spPr>
          <a:xfrm>
            <a:off x="812800" y="1600200"/>
            <a:ext cx="7179733" cy="4526280"/>
          </a:xfrm>
          <a:effectLst/>
        </p:spPr>
        <p:txBody>
          <a:bodyPr/>
          <a:lstStyle>
            <a:lvl1pPr>
              <a:defRPr sz="3360">
                <a:effectLst/>
              </a:defRPr>
            </a:lvl1pPr>
            <a:lvl2pPr>
              <a:defRPr sz="2880">
                <a:effectLst/>
              </a:defRPr>
            </a:lvl2pPr>
            <a:lvl3pPr>
              <a:defRPr sz="2400">
                <a:effectLst/>
              </a:defRPr>
            </a:lvl3pPr>
            <a:lvl4pPr>
              <a:defRPr sz="2160">
                <a:effectLst/>
              </a:defRPr>
            </a:lvl4pPr>
            <a:lvl5pPr>
              <a:defRPr sz="2160">
                <a:effectLst/>
              </a:defRPr>
            </a:lvl5pPr>
            <a:lvl6pPr>
              <a:defRPr sz="2160">
                <a:effectLst/>
              </a:defRPr>
            </a:lvl6pPr>
            <a:lvl7pPr>
              <a:defRPr sz="2160">
                <a:effectLst/>
              </a:defRPr>
            </a:lvl7pPr>
            <a:lvl8pPr>
              <a:defRPr sz="2160">
                <a:effectLst/>
              </a:defRPr>
            </a:lvl8pPr>
            <a:lvl9pPr>
              <a:defRPr sz="216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内容占位符 3"/>
          <p:cNvSpPr>
            <a:spLocks noGrp="1"/>
          </p:cNvSpPr>
          <p:nvPr>
            <p:ph sz="half" idx="2"/>
          </p:nvPr>
        </p:nvSpPr>
        <p:spPr>
          <a:xfrm>
            <a:off x="8263467" y="1600200"/>
            <a:ext cx="7179733" cy="4526280"/>
          </a:xfrm>
          <a:effectLst/>
        </p:spPr>
        <p:txBody>
          <a:bodyPr/>
          <a:lstStyle>
            <a:lvl1pPr>
              <a:defRPr sz="3360">
                <a:effectLst/>
              </a:defRPr>
            </a:lvl1pPr>
            <a:lvl2pPr>
              <a:defRPr sz="2880">
                <a:effectLst/>
              </a:defRPr>
            </a:lvl2pPr>
            <a:lvl3pPr>
              <a:defRPr sz="2400">
                <a:effectLst/>
              </a:defRPr>
            </a:lvl3pPr>
            <a:lvl4pPr>
              <a:defRPr sz="2160">
                <a:effectLst/>
              </a:defRPr>
            </a:lvl4pPr>
            <a:lvl5pPr>
              <a:defRPr sz="2160">
                <a:effectLst/>
              </a:defRPr>
            </a:lvl5pPr>
            <a:lvl6pPr>
              <a:defRPr sz="2160">
                <a:effectLst/>
              </a:defRPr>
            </a:lvl6pPr>
            <a:lvl7pPr>
              <a:defRPr sz="2160">
                <a:effectLst/>
              </a:defRPr>
            </a:lvl7pPr>
            <a:lvl8pPr>
              <a:defRPr sz="2160">
                <a:effectLst/>
              </a:defRPr>
            </a:lvl8pPr>
            <a:lvl9pPr>
              <a:defRPr sz="216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12"/>
          </p:nvPr>
        </p:nvSpPr>
        <p:spPr>
          <a:xfrm>
            <a:off x="2544233" y="6356985"/>
            <a:ext cx="2061633"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2CE8C4F7-10D5-4684-A587-26E7DD79A159}"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1_比较">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文本占位符 2"/>
          <p:cNvSpPr>
            <a:spLocks noGrp="1"/>
          </p:cNvSpPr>
          <p:nvPr>
            <p:ph type="body" idx="1"/>
          </p:nvPr>
        </p:nvSpPr>
        <p:spPr>
          <a:xfrm>
            <a:off x="812800" y="1535430"/>
            <a:ext cx="7182556" cy="640080"/>
          </a:xfrm>
          <a:effectLst/>
        </p:spPr>
        <p:txBody>
          <a:bodyPr anchor="b"/>
          <a:lstStyle>
            <a:lvl1pPr marL="0" indent="0">
              <a:buNone/>
              <a:defRPr sz="2880" b="1">
                <a:effectLst/>
              </a:defRPr>
            </a:lvl1pPr>
            <a:lvl2pPr marL="548640" indent="0">
              <a:buNone/>
              <a:defRPr sz="2400" b="1">
                <a:effectLst/>
              </a:defRPr>
            </a:lvl2pPr>
            <a:lvl3pPr marL="1097280" indent="0">
              <a:buNone/>
              <a:defRPr sz="2160" b="1">
                <a:effectLst/>
              </a:defRPr>
            </a:lvl3pPr>
            <a:lvl4pPr marL="1645920" indent="0">
              <a:buNone/>
              <a:defRPr sz="1920" b="1">
                <a:effectLst/>
              </a:defRPr>
            </a:lvl4pPr>
            <a:lvl5pPr marL="2194560" indent="0">
              <a:buNone/>
              <a:defRPr sz="1920" b="1">
                <a:effectLst/>
              </a:defRPr>
            </a:lvl5pPr>
            <a:lvl6pPr marL="2743200" indent="0">
              <a:buNone/>
              <a:defRPr sz="1920" b="1">
                <a:effectLst/>
              </a:defRPr>
            </a:lvl6pPr>
            <a:lvl7pPr marL="3291840" indent="0">
              <a:buNone/>
              <a:defRPr sz="1920" b="1">
                <a:effectLst/>
              </a:defRPr>
            </a:lvl7pPr>
            <a:lvl8pPr marL="3840480" indent="0">
              <a:buNone/>
              <a:defRPr sz="1920" b="1">
                <a:effectLst/>
              </a:defRPr>
            </a:lvl8pPr>
            <a:lvl9pPr marL="4389120" indent="0">
              <a:buNone/>
              <a:defRPr sz="1920" b="1">
                <a:effectLst/>
              </a:defRPr>
            </a:lvl9pPr>
          </a:lstStyle>
          <a:p>
            <a:pPr lvl="0"/>
            <a:r>
              <a:rPr lang="zh-CN" altLang="en-US" smtClean="0">
                <a:effectLst/>
              </a:rPr>
              <a:t>单击此处编辑母版文本样式</a:t>
            </a:r>
          </a:p>
        </p:txBody>
      </p:sp>
      <p:sp>
        <p:nvSpPr>
          <p:cNvPr id="4" name="内容占位符 3"/>
          <p:cNvSpPr>
            <a:spLocks noGrp="1"/>
          </p:cNvSpPr>
          <p:nvPr>
            <p:ph sz="half" idx="2"/>
          </p:nvPr>
        </p:nvSpPr>
        <p:spPr>
          <a:xfrm>
            <a:off x="812800" y="2175510"/>
            <a:ext cx="7182556" cy="3950970"/>
          </a:xfrm>
          <a:effectLst/>
        </p:spPr>
        <p:txBody>
          <a:bodyPr/>
          <a:lstStyle>
            <a:lvl1pPr>
              <a:defRPr sz="2880">
                <a:effectLst/>
              </a:defRPr>
            </a:lvl1pPr>
            <a:lvl2pPr>
              <a:defRPr sz="2400">
                <a:effectLst/>
              </a:defRPr>
            </a:lvl2pPr>
            <a:lvl3pPr>
              <a:defRPr sz="2160">
                <a:effectLst/>
              </a:defRPr>
            </a:lvl3pPr>
            <a:lvl4pPr>
              <a:defRPr sz="1920">
                <a:effectLst/>
              </a:defRPr>
            </a:lvl4pPr>
            <a:lvl5pPr>
              <a:defRPr sz="1920">
                <a:effectLst/>
              </a:defRPr>
            </a:lvl5pPr>
            <a:lvl6pPr>
              <a:defRPr sz="1920">
                <a:effectLst/>
              </a:defRPr>
            </a:lvl6pPr>
            <a:lvl7pPr>
              <a:defRPr sz="1920">
                <a:effectLst/>
              </a:defRPr>
            </a:lvl7pPr>
            <a:lvl8pPr>
              <a:defRPr sz="1920">
                <a:effectLst/>
              </a:defRPr>
            </a:lvl8pPr>
            <a:lvl9pPr>
              <a:defRPr sz="192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5" name="文本占位符 4"/>
          <p:cNvSpPr>
            <a:spLocks noGrp="1"/>
          </p:cNvSpPr>
          <p:nvPr>
            <p:ph type="body" sz="quarter" idx="3"/>
          </p:nvPr>
        </p:nvSpPr>
        <p:spPr>
          <a:xfrm>
            <a:off x="8257823" y="1535430"/>
            <a:ext cx="7185377" cy="640080"/>
          </a:xfrm>
          <a:effectLst/>
        </p:spPr>
        <p:txBody>
          <a:bodyPr anchor="b"/>
          <a:lstStyle>
            <a:lvl1pPr marL="0" indent="0">
              <a:buNone/>
              <a:defRPr sz="2880" b="1">
                <a:effectLst/>
              </a:defRPr>
            </a:lvl1pPr>
            <a:lvl2pPr marL="548640" indent="0">
              <a:buNone/>
              <a:defRPr sz="2400" b="1">
                <a:effectLst/>
              </a:defRPr>
            </a:lvl2pPr>
            <a:lvl3pPr marL="1097280" indent="0">
              <a:buNone/>
              <a:defRPr sz="2160" b="1">
                <a:effectLst/>
              </a:defRPr>
            </a:lvl3pPr>
            <a:lvl4pPr marL="1645920" indent="0">
              <a:buNone/>
              <a:defRPr sz="1920" b="1">
                <a:effectLst/>
              </a:defRPr>
            </a:lvl4pPr>
            <a:lvl5pPr marL="2194560" indent="0">
              <a:buNone/>
              <a:defRPr sz="1920" b="1">
                <a:effectLst/>
              </a:defRPr>
            </a:lvl5pPr>
            <a:lvl6pPr marL="2743200" indent="0">
              <a:buNone/>
              <a:defRPr sz="1920" b="1">
                <a:effectLst/>
              </a:defRPr>
            </a:lvl6pPr>
            <a:lvl7pPr marL="3291840" indent="0">
              <a:buNone/>
              <a:defRPr sz="1920" b="1">
                <a:effectLst/>
              </a:defRPr>
            </a:lvl7pPr>
            <a:lvl8pPr marL="3840480" indent="0">
              <a:buNone/>
              <a:defRPr sz="1920" b="1">
                <a:effectLst/>
              </a:defRPr>
            </a:lvl8pPr>
            <a:lvl9pPr marL="4389120" indent="0">
              <a:buNone/>
              <a:defRPr sz="1920" b="1">
                <a:effectLst/>
              </a:defRPr>
            </a:lvl9pPr>
          </a:lstStyle>
          <a:p>
            <a:pPr lvl="0"/>
            <a:r>
              <a:rPr lang="zh-CN" altLang="en-US" smtClean="0">
                <a:effectLst/>
              </a:rPr>
              <a:t>单击此处编辑母版文本样式</a:t>
            </a:r>
          </a:p>
        </p:txBody>
      </p:sp>
      <p:sp>
        <p:nvSpPr>
          <p:cNvPr id="6" name="内容占位符 5"/>
          <p:cNvSpPr>
            <a:spLocks noGrp="1"/>
          </p:cNvSpPr>
          <p:nvPr>
            <p:ph sz="quarter" idx="4"/>
          </p:nvPr>
        </p:nvSpPr>
        <p:spPr>
          <a:xfrm>
            <a:off x="8257823" y="2175510"/>
            <a:ext cx="7185377" cy="3950970"/>
          </a:xfrm>
          <a:effectLst/>
        </p:spPr>
        <p:txBody>
          <a:bodyPr/>
          <a:lstStyle>
            <a:lvl1pPr>
              <a:defRPr sz="2880">
                <a:effectLst/>
              </a:defRPr>
            </a:lvl1pPr>
            <a:lvl2pPr>
              <a:defRPr sz="2400">
                <a:effectLst/>
              </a:defRPr>
            </a:lvl2pPr>
            <a:lvl3pPr>
              <a:defRPr sz="2160">
                <a:effectLst/>
              </a:defRPr>
            </a:lvl3pPr>
            <a:lvl4pPr>
              <a:defRPr sz="1920">
                <a:effectLst/>
              </a:defRPr>
            </a:lvl4pPr>
            <a:lvl5pPr>
              <a:defRPr sz="1920">
                <a:effectLst/>
              </a:defRPr>
            </a:lvl5pPr>
            <a:lvl6pPr>
              <a:defRPr sz="1920">
                <a:effectLst/>
              </a:defRPr>
            </a:lvl6pPr>
            <a:lvl7pPr>
              <a:defRPr sz="1920">
                <a:effectLst/>
              </a:defRPr>
            </a:lvl7pPr>
            <a:lvl8pPr>
              <a:defRPr sz="1920">
                <a:effectLst/>
              </a:defRPr>
            </a:lvl8pPr>
            <a:lvl9pPr>
              <a:defRPr sz="192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12"/>
          </p:nvPr>
        </p:nvSpPr>
        <p:spPr>
          <a:xfrm>
            <a:off x="2369820" y="6356985"/>
            <a:ext cx="2236047"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233E71B3-D311-40A7-81C5-B30C67E5ECA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1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1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1_仅标题">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7" name="日期占位符 3"/>
          <p:cNvSpPr>
            <a:spLocks noGrp="1" noChangeArrowheads="1"/>
          </p:cNvSpPr>
          <p:nvPr>
            <p:ph type="dt" sz="half" idx="2"/>
          </p:nvPr>
        </p:nvSpPr>
        <p:spPr>
          <a:xfrm>
            <a:off x="2274993" y="6356985"/>
            <a:ext cx="2330873"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799E11B6-AC0A-461F-AFD7-16631E72B1A9}"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blank" preserve="1">
  <p:cSld name="1_空白">
    <p:spTree>
      <p:nvGrpSpPr>
        <p:cNvPr id="1" name=""/>
        <p:cNvGrpSpPr/>
        <p:nvPr/>
      </p:nvGrpSpPr>
      <p:grpSpPr>
        <a:xfrm>
          <a:off x="0" y="0"/>
          <a:ext cx="0" cy="0"/>
        </a:xfrm>
        <a:effectLst/>
      </p:grpSpPr>
      <p:sp>
        <p:nvSpPr>
          <p:cNvPr id="7" name="日期占位符 3"/>
          <p:cNvSpPr>
            <a:spLocks noGrp="1" noChangeArrowheads="1"/>
          </p:cNvSpPr>
          <p:nvPr>
            <p:ph type="dt" sz="half" idx="2"/>
          </p:nvPr>
        </p:nvSpPr>
        <p:spPr>
          <a:xfrm>
            <a:off x="2479887" y="6356985"/>
            <a:ext cx="2125980"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FEFF423B-E150-432E-85FC-1DB8F30C857E}"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Tx" preserve="1">
  <p:cSld name="1_内容与标题">
    <p:spTree>
      <p:nvGrpSpPr>
        <p:cNvPr id="1" name=""/>
        <p:cNvGrpSpPr/>
        <p:nvPr/>
      </p:nvGrpSpPr>
      <p:grpSpPr>
        <a:xfrm>
          <a:off x="0" y="0"/>
          <a:ext cx="0" cy="0"/>
        </a:xfrm>
        <a:effectLst/>
      </p:grpSpPr>
      <p:sp>
        <p:nvSpPr>
          <p:cNvPr id="2" name="标题 1"/>
          <p:cNvSpPr>
            <a:spLocks noGrp="1"/>
          </p:cNvSpPr>
          <p:nvPr>
            <p:ph type="title"/>
          </p:nvPr>
        </p:nvSpPr>
        <p:spPr>
          <a:xfrm>
            <a:off x="812800" y="272416"/>
            <a:ext cx="5348112" cy="1162050"/>
          </a:xfrm>
          <a:effectLst/>
        </p:spPr>
        <p:txBody>
          <a:bodyPr anchor="b"/>
          <a:lstStyle>
            <a:lvl1pPr algn="l">
              <a:defRPr sz="2400" b="1">
                <a:effectLst/>
              </a:defRPr>
            </a:lvl1pPr>
          </a:lstStyle>
          <a:p>
            <a:r>
              <a:rPr lang="zh-CN" altLang="en-US" smtClean="0">
                <a:effectLst/>
              </a:rPr>
              <a:t>单击此处编辑母版标题样式</a:t>
            </a:r>
            <a:endParaRPr lang="zh-CN" altLang="en-US">
              <a:effectLst/>
            </a:endParaRPr>
          </a:p>
        </p:txBody>
      </p:sp>
      <p:sp>
        <p:nvSpPr>
          <p:cNvPr id="3" name="内容占位符 2"/>
          <p:cNvSpPr>
            <a:spLocks noGrp="1"/>
          </p:cNvSpPr>
          <p:nvPr>
            <p:ph idx="1"/>
          </p:nvPr>
        </p:nvSpPr>
        <p:spPr>
          <a:xfrm>
            <a:off x="6355644" y="272416"/>
            <a:ext cx="9087556" cy="5854064"/>
          </a:xfrm>
          <a:effectLst/>
        </p:spPr>
        <p:txBody>
          <a:bodyPr/>
          <a:lstStyle>
            <a:lvl1pPr>
              <a:defRPr sz="3840">
                <a:effectLst/>
              </a:defRPr>
            </a:lvl1pPr>
            <a:lvl2pPr>
              <a:defRPr sz="3360">
                <a:effectLst/>
              </a:defRPr>
            </a:lvl2pPr>
            <a:lvl3pPr>
              <a:defRPr sz="2880">
                <a:effectLst/>
              </a:defRPr>
            </a:lvl3pPr>
            <a:lvl4pPr>
              <a:defRPr sz="2400">
                <a:effectLst/>
              </a:defRPr>
            </a:lvl4pPr>
            <a:lvl5pPr>
              <a:defRPr sz="2400">
                <a:effectLst/>
              </a:defRPr>
            </a:lvl5pPr>
            <a:lvl6pPr>
              <a:defRPr sz="2400">
                <a:effectLst/>
              </a:defRPr>
            </a:lvl6pPr>
            <a:lvl7pPr>
              <a:defRPr sz="2400">
                <a:effectLst/>
              </a:defRPr>
            </a:lvl7pPr>
            <a:lvl8pPr>
              <a:defRPr sz="2400">
                <a:effectLst/>
              </a:defRPr>
            </a:lvl8pPr>
            <a:lvl9pPr>
              <a:defRPr sz="24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文本占位符 3"/>
          <p:cNvSpPr>
            <a:spLocks noGrp="1"/>
          </p:cNvSpPr>
          <p:nvPr>
            <p:ph type="body" sz="half" idx="2"/>
          </p:nvPr>
        </p:nvSpPr>
        <p:spPr>
          <a:xfrm>
            <a:off x="812800" y="1434466"/>
            <a:ext cx="5348112" cy="4692014"/>
          </a:xfrm>
          <a:effectLst/>
        </p:spPr>
        <p:txBody>
          <a:bodyPr/>
          <a:lstStyle>
            <a:lvl1pPr marL="0" indent="0">
              <a:buNone/>
              <a:defRPr sz="1680">
                <a:effectLst/>
              </a:defRPr>
            </a:lvl1pPr>
            <a:lvl2pPr marL="548640" indent="0">
              <a:buNone/>
              <a:defRPr sz="1440">
                <a:effectLst/>
              </a:defRPr>
            </a:lvl2pPr>
            <a:lvl3pPr marL="1097280" indent="0">
              <a:buNone/>
              <a:defRPr sz="1200">
                <a:effectLst/>
              </a:defRPr>
            </a:lvl3pPr>
            <a:lvl4pPr marL="1645920" indent="0">
              <a:buNone/>
              <a:defRPr sz="1080">
                <a:effectLst/>
              </a:defRPr>
            </a:lvl4pPr>
            <a:lvl5pPr marL="2194560" indent="0">
              <a:buNone/>
              <a:defRPr sz="1080">
                <a:effectLst/>
              </a:defRPr>
            </a:lvl5pPr>
            <a:lvl6pPr marL="2743200" indent="0">
              <a:buNone/>
              <a:defRPr sz="1080">
                <a:effectLst/>
              </a:defRPr>
            </a:lvl6pPr>
            <a:lvl7pPr marL="3291840" indent="0">
              <a:buNone/>
              <a:defRPr sz="1080">
                <a:effectLst/>
              </a:defRPr>
            </a:lvl7pPr>
            <a:lvl8pPr marL="3840480" indent="0">
              <a:buNone/>
              <a:defRPr sz="1080">
                <a:effectLst/>
              </a:defRPr>
            </a:lvl8pPr>
            <a:lvl9pPr marL="4389120" indent="0">
              <a:buNone/>
              <a:defRPr sz="1080">
                <a:effectLst/>
              </a:defRPr>
            </a:lvl9pPr>
          </a:lstStyle>
          <a:p>
            <a:pPr lvl="0"/>
            <a:r>
              <a:rPr lang="zh-CN" altLang="en-US" smtClean="0">
                <a:effectLst/>
              </a:rPr>
              <a:t>单击此处编辑母版文本样式</a:t>
            </a:r>
          </a:p>
        </p:txBody>
      </p:sp>
      <p:sp>
        <p:nvSpPr>
          <p:cNvPr id="7" name="日期占位符 3"/>
          <p:cNvSpPr>
            <a:spLocks noGrp="1" noChangeArrowheads="1"/>
          </p:cNvSpPr>
          <p:nvPr>
            <p:ph type="dt" sz="half" idx="12"/>
          </p:nvPr>
        </p:nvSpPr>
        <p:spPr>
          <a:xfrm>
            <a:off x="2020147" y="6356985"/>
            <a:ext cx="2585720"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3901D8D5-0935-46DA-BFC9-F68B4EF3379D}"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picTx" preserve="1">
  <p:cSld name="1_图片与标题">
    <p:spTree>
      <p:nvGrpSpPr>
        <p:cNvPr id="1" name=""/>
        <p:cNvGrpSpPr/>
        <p:nvPr/>
      </p:nvGrpSpPr>
      <p:grpSpPr>
        <a:xfrm>
          <a:off x="0" y="0"/>
          <a:ext cx="0" cy="0"/>
        </a:xfrm>
        <a:effectLst/>
      </p:grpSpPr>
      <p:sp>
        <p:nvSpPr>
          <p:cNvPr id="2" name="标题 1"/>
          <p:cNvSpPr>
            <a:spLocks noGrp="1"/>
          </p:cNvSpPr>
          <p:nvPr>
            <p:ph type="title"/>
          </p:nvPr>
        </p:nvSpPr>
        <p:spPr>
          <a:xfrm>
            <a:off x="3186289" y="4800600"/>
            <a:ext cx="9753600" cy="567690"/>
          </a:xfrm>
          <a:effectLst/>
        </p:spPr>
        <p:txBody>
          <a:bodyPr anchor="b"/>
          <a:lstStyle>
            <a:lvl1pPr algn="l">
              <a:defRPr sz="2400" b="1">
                <a:effectLst/>
              </a:defRPr>
            </a:lvl1pPr>
          </a:lstStyle>
          <a:p>
            <a:r>
              <a:rPr lang="zh-CN" altLang="en-US" smtClean="0">
                <a:effectLst/>
              </a:rPr>
              <a:t>单击此处编辑母版标题样式</a:t>
            </a:r>
            <a:endParaRPr lang="zh-CN" altLang="en-US">
              <a:effectLst/>
            </a:endParaRPr>
          </a:p>
        </p:txBody>
      </p:sp>
      <p:sp>
        <p:nvSpPr>
          <p:cNvPr id="3" name="图片占位符 2"/>
          <p:cNvSpPr>
            <a:spLocks noGrp="1"/>
          </p:cNvSpPr>
          <p:nvPr>
            <p:ph type="pic" idx="1"/>
          </p:nvPr>
        </p:nvSpPr>
        <p:spPr>
          <a:xfrm>
            <a:off x="3186289" y="613410"/>
            <a:ext cx="9753600" cy="4114800"/>
          </a:xfrm>
          <a:effectLst/>
        </p:spPr>
        <p:txBody>
          <a:bodyPr vert="horz" wrap="square" lIns="91440" tIns="45720" rIns="91440" bIns="45720" anchor="t" anchorCtr="0" compatLnSpc="1"/>
          <a:lstStyle>
            <a:lvl1pPr marL="0" indent="0">
              <a:buNone/>
              <a:defRPr sz="3840">
                <a:effectLst/>
              </a:defRPr>
            </a:lvl1pPr>
            <a:lvl2pPr marL="548640" indent="0">
              <a:buNone/>
              <a:defRPr sz="3360">
                <a:effectLst/>
              </a:defRPr>
            </a:lvl2pPr>
            <a:lvl3pPr marL="1097280" indent="0">
              <a:buNone/>
              <a:defRPr sz="2880">
                <a:effectLst/>
              </a:defRPr>
            </a:lvl3pPr>
            <a:lvl4pPr marL="1645920" indent="0">
              <a:buNone/>
              <a:defRPr sz="2400">
                <a:effectLst/>
              </a:defRPr>
            </a:lvl4pPr>
            <a:lvl5pPr marL="2194560" indent="0">
              <a:buNone/>
              <a:defRPr sz="2400">
                <a:effectLst/>
              </a:defRPr>
            </a:lvl5pPr>
            <a:lvl6pPr marL="2743200" indent="0">
              <a:buNone/>
              <a:defRPr sz="2400">
                <a:effectLst/>
              </a:defRPr>
            </a:lvl6pPr>
            <a:lvl7pPr marL="3291840" indent="0">
              <a:buNone/>
              <a:defRPr sz="2400">
                <a:effectLst/>
              </a:defRPr>
            </a:lvl7pPr>
            <a:lvl8pPr marL="3840480" indent="0">
              <a:buNone/>
              <a:defRPr sz="2400">
                <a:effectLst/>
              </a:defRPr>
            </a:lvl8pPr>
            <a:lvl9pPr marL="4389120" indent="0">
              <a:buNone/>
              <a:defRPr sz="2400">
                <a:effectLst/>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sym typeface="Franklin Gothic Book" panose="020b0503020102020204" pitchFamily="34" charset="0"/>
            </a:endParaRPr>
          </a:p>
        </p:txBody>
      </p:sp>
      <p:sp>
        <p:nvSpPr>
          <p:cNvPr id="4" name="文本占位符 3"/>
          <p:cNvSpPr>
            <a:spLocks noGrp="1"/>
          </p:cNvSpPr>
          <p:nvPr>
            <p:ph type="body" sz="half" idx="2"/>
          </p:nvPr>
        </p:nvSpPr>
        <p:spPr>
          <a:xfrm>
            <a:off x="3186289" y="5368290"/>
            <a:ext cx="9753600" cy="803910"/>
          </a:xfrm>
          <a:effectLst/>
        </p:spPr>
        <p:txBody>
          <a:bodyPr/>
          <a:lstStyle>
            <a:lvl1pPr marL="0" indent="0">
              <a:buNone/>
              <a:defRPr sz="1680">
                <a:effectLst/>
              </a:defRPr>
            </a:lvl1pPr>
            <a:lvl2pPr marL="548640" indent="0">
              <a:buNone/>
              <a:defRPr sz="1440">
                <a:effectLst/>
              </a:defRPr>
            </a:lvl2pPr>
            <a:lvl3pPr marL="1097280" indent="0">
              <a:buNone/>
              <a:defRPr sz="1200">
                <a:effectLst/>
              </a:defRPr>
            </a:lvl3pPr>
            <a:lvl4pPr marL="1645920" indent="0">
              <a:buNone/>
              <a:defRPr sz="1080">
                <a:effectLst/>
              </a:defRPr>
            </a:lvl4pPr>
            <a:lvl5pPr marL="2194560" indent="0">
              <a:buNone/>
              <a:defRPr sz="1080">
                <a:effectLst/>
              </a:defRPr>
            </a:lvl5pPr>
            <a:lvl6pPr marL="2743200" indent="0">
              <a:buNone/>
              <a:defRPr sz="1080">
                <a:effectLst/>
              </a:defRPr>
            </a:lvl6pPr>
            <a:lvl7pPr marL="3291840" indent="0">
              <a:buNone/>
              <a:defRPr sz="1080">
                <a:effectLst/>
              </a:defRPr>
            </a:lvl7pPr>
            <a:lvl8pPr marL="3840480" indent="0">
              <a:buNone/>
              <a:defRPr sz="1080">
                <a:effectLst/>
              </a:defRPr>
            </a:lvl8pPr>
            <a:lvl9pPr marL="4389120" indent="0">
              <a:buNone/>
              <a:defRPr sz="1080">
                <a:effectLst/>
              </a:defRPr>
            </a:lvl9pPr>
          </a:lstStyle>
          <a:p>
            <a:pPr lvl="0"/>
            <a:r>
              <a:rPr lang="zh-CN" altLang="en-US" smtClean="0">
                <a:effectLst/>
              </a:rPr>
              <a:t>单击此处编辑母版文本样式</a:t>
            </a:r>
          </a:p>
        </p:txBody>
      </p:sp>
      <p:sp>
        <p:nvSpPr>
          <p:cNvPr id="7" name="日期占位符 3"/>
          <p:cNvSpPr>
            <a:spLocks noGrp="1" noChangeArrowheads="1"/>
          </p:cNvSpPr>
          <p:nvPr>
            <p:ph type="dt" sz="half" idx="12"/>
          </p:nvPr>
        </p:nvSpPr>
        <p:spPr>
          <a:xfrm>
            <a:off x="1559560" y="6356985"/>
            <a:ext cx="3046307"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F4116775-B44C-463D-9705-7FF4573DB5C1}"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x" preserve="1">
  <p:cSld name="1_标题和竖排文字">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竖排文字占位符 2"/>
          <p:cNvSpPr>
            <a:spLocks noGrp="1"/>
          </p:cNvSpPr>
          <p:nvPr>
            <p:ph type="body" orient="vert" idx="1"/>
          </p:nvPr>
        </p:nvSpPr>
        <p:spPr>
          <a:effectLst/>
        </p:spPr>
        <p:txBody>
          <a:bodyPr vert="eaVert"/>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2"/>
          </p:nvPr>
        </p:nvSpPr>
        <p:spPr>
          <a:xfrm>
            <a:off x="1971887" y="6356985"/>
            <a:ext cx="2633980"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DD6FE39E-8632-4E6B-A7EE-A8AA6F0555EE}"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1_垂直排列标题与文本">
    <p:spTree>
      <p:nvGrpSpPr>
        <p:cNvPr id="1" name=""/>
        <p:cNvGrpSpPr/>
        <p:nvPr/>
      </p:nvGrpSpPr>
      <p:grpSpPr>
        <a:xfrm>
          <a:off x="0" y="0"/>
          <a:ext cx="0" cy="0"/>
        </a:xfrm>
        <a:effectLst/>
      </p:grpSpPr>
      <p:sp>
        <p:nvSpPr>
          <p:cNvPr id="2" name="竖排标题 1"/>
          <p:cNvSpPr>
            <a:spLocks noGrp="1"/>
          </p:cNvSpPr>
          <p:nvPr>
            <p:ph type="title" orient="vert"/>
          </p:nvPr>
        </p:nvSpPr>
        <p:spPr>
          <a:xfrm>
            <a:off x="11785600" y="274320"/>
            <a:ext cx="3657600" cy="5852160"/>
          </a:xfrm>
          <a:effectLst/>
        </p:spPr>
        <p:txBody>
          <a:bodyPr vert="eaVert"/>
          <a:lstStyle/>
          <a:p>
            <a:r>
              <a:rPr lang="zh-CN" altLang="en-US" smtClean="0">
                <a:effectLst/>
              </a:rPr>
              <a:t>单击此处编辑母版标题样式</a:t>
            </a:r>
            <a:endParaRPr lang="zh-CN" altLang="en-US">
              <a:effectLst/>
            </a:endParaRPr>
          </a:p>
        </p:txBody>
      </p:sp>
      <p:sp>
        <p:nvSpPr>
          <p:cNvPr id="3" name="竖排文字占位符 2"/>
          <p:cNvSpPr>
            <a:spLocks noGrp="1"/>
          </p:cNvSpPr>
          <p:nvPr>
            <p:ph type="body" orient="vert" idx="1"/>
          </p:nvPr>
        </p:nvSpPr>
        <p:spPr>
          <a:xfrm>
            <a:off x="812800" y="274320"/>
            <a:ext cx="10701867" cy="5852160"/>
          </a:xfrm>
          <a:effectLst/>
        </p:spPr>
        <p:txBody>
          <a:bodyPr vert="eaVert"/>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2"/>
          </p:nvPr>
        </p:nvSpPr>
        <p:spPr>
          <a:xfrm>
            <a:off x="1955800" y="6356985"/>
            <a:ext cx="2650067"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5396842D-59F5-4C41-B055-3D5725FDD8E1}"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p:cSld name="自定义版式">
    <p:spTree>
      <p:nvGrpSpPr>
        <p:cNvPr id="1" name=""/>
        <p:cNvGrpSpPr/>
        <p:nvPr/>
      </p:nvGrpSpPr>
      <p:grpSpPr>
        <a:xfrm>
          <a:off x="0" y="0"/>
          <a:ext cx="0" cy="0"/>
        </a:xfrm>
        <a:effectLst/>
      </p:grpSpPr>
      <p:sp>
        <p:nvSpPr>
          <p:cNvPr id="2" name="标题 1"/>
          <p:cNvSpPr>
            <a:spLocks noGrp="1"/>
          </p:cNvSpPr>
          <p:nvPr>
            <p:ph type="title"/>
          </p:nvPr>
        </p:nvSpPr>
        <p:spPr>
          <a:xfrm>
            <a:off x="812800" y="274320"/>
            <a:ext cx="14630400" cy="1143000"/>
          </a:xfrm>
          <a:effectLst/>
        </p:spPr>
        <p:txBody>
          <a:bodyPr/>
          <a:lstStyle/>
          <a:p>
            <a:r>
              <a:rPr lang="zh-CN" altLang="en-US" smtClean="0">
                <a:effectLst/>
              </a:rPr>
              <a:t>单击此处编辑母版标题样式</a:t>
            </a:r>
            <a:endParaRPr lang="zh-CN" altLang="en-US">
              <a:effectLst/>
            </a:endParaRPr>
          </a:p>
        </p:txBody>
      </p:sp>
      <p:sp>
        <p:nvSpPr>
          <p:cNvPr id="7" name="日期占位符 3"/>
          <p:cNvSpPr>
            <a:spLocks noGrp="1" noChangeArrowheads="1"/>
          </p:cNvSpPr>
          <p:nvPr>
            <p:ph type="dt" sz="half" idx="2"/>
          </p:nvPr>
        </p:nvSpPr>
        <p:spPr>
          <a:xfrm>
            <a:off x="2337647" y="6356985"/>
            <a:ext cx="2268220" cy="363855"/>
          </a:xfrm>
          <a:prstGeom prst="rect">
            <a:avLst/>
          </a:prstGeom>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B7FFFEEB-9CFF-4A0A-ABFE-FC8306F68EB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noChangeArrowheads="1"/>
          </p:cNvSpPr>
          <p:nvPr>
            <p:ph type="ftr" sz="quarter" idx="3"/>
          </p:nvPr>
        </p:nvSpPr>
        <p:spPr>
          <a:xfrm>
            <a:off x="5554133" y="6356986"/>
            <a:ext cx="5147733" cy="363856"/>
          </a:xfrm>
          <a:prstGeom prst="rect">
            <a:avLst/>
          </a:prstGeom>
          <a:effectLst/>
        </p:spPr>
        <p:txBody>
          <a:bodyPr vert="horz" wrap="square" lIns="91440" tIns="45720" rIns="91440" bIns="45720" anchor="ctr" anchorCtr="0" compatLnSpc="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noChangeArrowheads="1"/>
          </p:cNvSpPr>
          <p:nvPr>
            <p:ph type="sldNum" sz="quarter" idx="4"/>
          </p:nvPr>
        </p:nvSpPr>
        <p:spPr>
          <a:xfrm>
            <a:off x="11650133" y="6356986"/>
            <a:ext cx="3793067" cy="363856"/>
          </a:xfrm>
          <a:prstGeom prst="rect">
            <a:avLst/>
          </a:prstGeom>
          <a:effectLst/>
        </p:spPr>
        <p:txBody>
          <a:bodyPr vert="horz" wrap="square" lIns="91440" tIns="45720" rIns="91440" bIns="45720" anchor="ctr" anchorCtr="0" compatLnSpc="1"/>
          <a:lstStyle/>
          <a:p>
            <a:pPr algn="r" eaLnBrk="1" hangingPunct="1"/>
            <a:fld id="{9A0DB2DC-4C9A-4742-B13C-FB6460FD3503}" type="slidenum">
              <a:rPr lang="zh-CN" altLang="en-US">
                <a:effectLst/>
              </a:rPr>
              <a:t/>
            </a:fld>
            <a:endParaRPr lang="zh-CN" altLang="en-US">
              <a:effectLst/>
            </a:endParaRPr>
          </a:p>
        </p:txBody>
      </p:sp>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2_比较">
    <p:spTree>
      <p:nvGrpSpPr>
        <p:cNvPr id="1" name=""/>
        <p:cNvGrpSpPr/>
        <p:nvPr/>
      </p:nvGrpSpPr>
      <p:grpSpPr>
        <a:xfrm>
          <a:off x="0" y="0"/>
          <a:ext cx="0" cy="0"/>
        </a:xfrm>
        <a:effectLst/>
      </p:grpSpPr>
      <p:sp>
        <p:nvSpPr>
          <p:cNvPr id="2" name="标题 1"/>
          <p:cNvSpPr>
            <a:spLocks noGrp="1"/>
          </p:cNvSpPr>
          <p:nvPr>
            <p:ph type="title"/>
          </p:nvPr>
        </p:nvSpPr>
        <p:spPr>
          <a:xfrm>
            <a:off x="1119717" y="365125"/>
            <a:ext cx="14020800" cy="1325563"/>
          </a:xfrm>
          <a:effectLst/>
        </p:spPr>
        <p:txBody>
          <a:bodyPr/>
          <a:lstStyle/>
          <a:p>
            <a:r>
              <a:rPr lang="zh-CN" altLang="en-US" smtClean="0">
                <a:effectLst/>
              </a:rPr>
              <a:t>单击此处编辑母版标题样式</a:t>
            </a:r>
            <a:endParaRPr lang="zh-CN" altLang="en-US">
              <a:effectLst/>
            </a:endParaRPr>
          </a:p>
        </p:txBody>
      </p:sp>
      <p:sp>
        <p:nvSpPr>
          <p:cNvPr id="3" name="文本占位符 2"/>
          <p:cNvSpPr>
            <a:spLocks noGrp="1"/>
          </p:cNvSpPr>
          <p:nvPr>
            <p:ph type="body" idx="1"/>
          </p:nvPr>
        </p:nvSpPr>
        <p:spPr>
          <a:xfrm>
            <a:off x="1119717" y="1681163"/>
            <a:ext cx="6877049" cy="823912"/>
          </a:xfrm>
          <a:effectLst/>
        </p:spPr>
        <p:txBody>
          <a:bodyPr anchor="b"/>
          <a:lstStyle>
            <a:lvl1pPr marL="0" indent="0">
              <a:buNone/>
              <a:defRPr sz="2400" b="1">
                <a:effectLst/>
              </a:defRPr>
            </a:lvl1pPr>
            <a:lvl2pPr marL="457200" indent="0">
              <a:buNone/>
              <a:defRPr sz="2000" b="1">
                <a:effectLst/>
              </a:defRPr>
            </a:lvl2pPr>
            <a:lvl3pPr marL="914400" indent="0">
              <a:buNone/>
              <a:defRPr sz="1800" b="1">
                <a:effectLst/>
              </a:defRPr>
            </a:lvl3pPr>
            <a:lvl4pPr marL="1371600" indent="0">
              <a:buNone/>
              <a:defRPr sz="1600" b="1">
                <a:effectLst/>
              </a:defRPr>
            </a:lvl4pPr>
            <a:lvl5pPr marL="1828800" indent="0">
              <a:buNone/>
              <a:defRPr sz="1600" b="1">
                <a:effectLst/>
              </a:defRPr>
            </a:lvl5pPr>
            <a:lvl6pPr marL="2286000" indent="0">
              <a:buNone/>
              <a:defRPr sz="1600" b="1">
                <a:effectLst/>
              </a:defRPr>
            </a:lvl6pPr>
            <a:lvl7pPr marL="2743200" indent="0">
              <a:buNone/>
              <a:defRPr sz="1600" b="1">
                <a:effectLst/>
              </a:defRPr>
            </a:lvl7pPr>
            <a:lvl8pPr marL="3200400" indent="0">
              <a:buNone/>
              <a:defRPr sz="1600" b="1">
                <a:effectLst/>
              </a:defRPr>
            </a:lvl8pPr>
            <a:lvl9pPr marL="3657600" indent="0">
              <a:buNone/>
              <a:defRPr sz="1600" b="1">
                <a:effectLst/>
              </a:defRPr>
            </a:lvl9pPr>
          </a:lstStyle>
          <a:p>
            <a:pPr lvl="0"/>
            <a:r>
              <a:rPr lang="zh-CN" altLang="en-US" smtClean="0">
                <a:effectLst/>
              </a:rPr>
              <a:t>单击此处编辑母版文本样式</a:t>
            </a:r>
          </a:p>
        </p:txBody>
      </p:sp>
      <p:sp>
        <p:nvSpPr>
          <p:cNvPr id="4" name="内容占位符 3"/>
          <p:cNvSpPr>
            <a:spLocks noGrp="1"/>
          </p:cNvSpPr>
          <p:nvPr>
            <p:ph sz="half" idx="2"/>
          </p:nvPr>
        </p:nvSpPr>
        <p:spPr>
          <a:xfrm>
            <a:off x="1119717" y="2505075"/>
            <a:ext cx="6877049" cy="3684588"/>
          </a:xfrm>
          <a:effectLst/>
        </p:spPr>
        <p:txBody>
          <a:body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5" name="文本占位符 4"/>
          <p:cNvSpPr>
            <a:spLocks noGrp="1"/>
          </p:cNvSpPr>
          <p:nvPr>
            <p:ph type="body" sz="quarter" idx="3"/>
          </p:nvPr>
        </p:nvSpPr>
        <p:spPr>
          <a:xfrm>
            <a:off x="8229600" y="1681163"/>
            <a:ext cx="6910917" cy="823912"/>
          </a:xfrm>
          <a:effectLst/>
        </p:spPr>
        <p:txBody>
          <a:bodyPr anchor="b"/>
          <a:lstStyle>
            <a:lvl1pPr marL="0" indent="0">
              <a:buNone/>
              <a:defRPr sz="2400" b="1">
                <a:effectLst/>
              </a:defRPr>
            </a:lvl1pPr>
            <a:lvl2pPr marL="457200" indent="0">
              <a:buNone/>
              <a:defRPr sz="2000" b="1">
                <a:effectLst/>
              </a:defRPr>
            </a:lvl2pPr>
            <a:lvl3pPr marL="914400" indent="0">
              <a:buNone/>
              <a:defRPr sz="1800" b="1">
                <a:effectLst/>
              </a:defRPr>
            </a:lvl3pPr>
            <a:lvl4pPr marL="1371600" indent="0">
              <a:buNone/>
              <a:defRPr sz="1600" b="1">
                <a:effectLst/>
              </a:defRPr>
            </a:lvl4pPr>
            <a:lvl5pPr marL="1828800" indent="0">
              <a:buNone/>
              <a:defRPr sz="1600" b="1">
                <a:effectLst/>
              </a:defRPr>
            </a:lvl5pPr>
            <a:lvl6pPr marL="2286000" indent="0">
              <a:buNone/>
              <a:defRPr sz="1600" b="1">
                <a:effectLst/>
              </a:defRPr>
            </a:lvl6pPr>
            <a:lvl7pPr marL="2743200" indent="0">
              <a:buNone/>
              <a:defRPr sz="1600" b="1">
                <a:effectLst/>
              </a:defRPr>
            </a:lvl7pPr>
            <a:lvl8pPr marL="3200400" indent="0">
              <a:buNone/>
              <a:defRPr sz="1600" b="1">
                <a:effectLst/>
              </a:defRPr>
            </a:lvl8pPr>
            <a:lvl9pPr marL="3657600" indent="0">
              <a:buNone/>
              <a:defRPr sz="1600" b="1">
                <a:effectLst/>
              </a:defRPr>
            </a:lvl9pPr>
          </a:lstStyle>
          <a:p>
            <a:pPr lvl="0"/>
            <a:r>
              <a:rPr lang="zh-CN" altLang="en-US" smtClean="0">
                <a:effectLst/>
              </a:rPr>
              <a:t>单击此处编辑母版文本样式</a:t>
            </a:r>
          </a:p>
        </p:txBody>
      </p:sp>
      <p:sp>
        <p:nvSpPr>
          <p:cNvPr id="6" name="内容占位符 5"/>
          <p:cNvSpPr>
            <a:spLocks noGrp="1"/>
          </p:cNvSpPr>
          <p:nvPr>
            <p:ph sz="quarter" idx="4"/>
          </p:nvPr>
        </p:nvSpPr>
        <p:spPr>
          <a:xfrm>
            <a:off x="8229600" y="2505075"/>
            <a:ext cx="6910917" cy="3684588"/>
          </a:xfrm>
          <a:effectLst/>
        </p:spPr>
        <p:txBody>
          <a:body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7" name="日期占位符 3"/>
          <p:cNvSpPr>
            <a:spLocks noGrp="1" noChangeArrowheads="1"/>
          </p:cNvSpPr>
          <p:nvPr>
            <p:ph type="dt" sz="half" idx="10"/>
          </p:nvPr>
        </p:nvSpPr>
        <p:spPr>
          <a:effectLst/>
        </p:spPr>
        <p:txBody>
          <a:bodyPr/>
          <a:lstStyle/>
          <a:p>
            <a:fld id="{B211DF68-EC24-426F-9189-6DCD5DD49CB3}" type="datetime1">
              <a:rPr lang="zh-CN" altLang="en-US">
                <a:effectLst/>
              </a:rPr>
              <a:t/>
            </a:fld>
            <a:endParaRPr lang="zh-CN" altLang="en-US" sz="1800">
              <a:solidFill>
                <a:schemeClr val="tx1"/>
              </a:solidFill>
              <a:effectLst/>
            </a:endParaRPr>
          </a:p>
        </p:txBody>
      </p:sp>
      <p:sp>
        <p:nvSpPr>
          <p:cNvPr id="8" name="页脚占位符 4"/>
          <p:cNvSpPr>
            <a:spLocks noGrp="1" noChangeArrowheads="1"/>
          </p:cNvSpPr>
          <p:nvPr>
            <p:ph type="ftr" sz="quarter" idx="11"/>
          </p:nvPr>
        </p:nvSpPr>
        <p:spPr>
          <a:effectLst/>
        </p:spPr>
        <p:txBody>
          <a:bodyPr/>
          <a:lstStyle/>
          <a:p>
            <a:endParaRPr lang="zh-CN" altLang="zh-CN">
              <a:effectLst/>
            </a:endParaRPr>
          </a:p>
        </p:txBody>
      </p:sp>
      <p:sp>
        <p:nvSpPr>
          <p:cNvPr id="9" name="灯片编号占位符 5"/>
          <p:cNvSpPr>
            <a:spLocks noGrp="1" noChangeArrowheads="1"/>
          </p:cNvSpPr>
          <p:nvPr>
            <p:ph type="sldNum" sz="quarter" idx="12"/>
          </p:nvPr>
        </p:nvSpPr>
        <p:spPr>
          <a:effectLst/>
        </p:spPr>
        <p:txBody>
          <a:bodyPr/>
          <a:lstStyle/>
          <a:p>
            <a:fld id="{3AAFAEC4-E2C0-4853-B8BE-0705722EBB98}"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2_仅标题">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日期占位符 3"/>
          <p:cNvSpPr>
            <a:spLocks noGrp="1" noChangeArrowheads="1"/>
          </p:cNvSpPr>
          <p:nvPr>
            <p:ph type="dt" sz="half" idx="10"/>
          </p:nvPr>
        </p:nvSpPr>
        <p:spPr>
          <a:effectLst/>
        </p:spPr>
        <p:txBody>
          <a:bodyPr/>
          <a:lstStyle/>
          <a:p>
            <a:fld id="{9A89BA35-72E6-4231-8688-417EB9381708}" type="datetime1">
              <a:rPr lang="zh-CN" altLang="en-US">
                <a:effectLst/>
              </a:rPr>
              <a:t/>
            </a:fld>
            <a:endParaRPr lang="zh-CN" altLang="en-US" sz="1800">
              <a:solidFill>
                <a:schemeClr val="tx1"/>
              </a:solidFill>
              <a:effectLst/>
            </a:endParaRPr>
          </a:p>
        </p:txBody>
      </p:sp>
      <p:sp>
        <p:nvSpPr>
          <p:cNvPr id="4" name="页脚占位符 4"/>
          <p:cNvSpPr>
            <a:spLocks noGrp="1" noChangeArrowheads="1"/>
          </p:cNvSpPr>
          <p:nvPr>
            <p:ph type="ftr" sz="quarter" idx="11"/>
          </p:nvPr>
        </p:nvSpPr>
        <p:spPr>
          <a:effectLst/>
        </p:spPr>
        <p:txBody>
          <a:bodyPr/>
          <a:lstStyle/>
          <a:p>
            <a:endParaRPr lang="zh-CN" altLang="zh-CN">
              <a:effectLst/>
            </a:endParaRPr>
          </a:p>
        </p:txBody>
      </p:sp>
      <p:sp>
        <p:nvSpPr>
          <p:cNvPr id="5" name="灯片编号占位符 5"/>
          <p:cNvSpPr>
            <a:spLocks noGrp="1" noChangeArrowheads="1"/>
          </p:cNvSpPr>
          <p:nvPr>
            <p:ph type="sldNum" sz="quarter" idx="12"/>
          </p:nvPr>
        </p:nvSpPr>
        <p:spPr>
          <a:effectLst/>
        </p:spPr>
        <p:txBody>
          <a:bodyPr/>
          <a:lstStyle/>
          <a:p>
            <a:fld id="{AAB73687-1A5F-4A06-8C73-EEA330699C90}"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Tx" preserve="1">
  <p:cSld name="2_内容与标题">
    <p:spTree>
      <p:nvGrpSpPr>
        <p:cNvPr id="1" name=""/>
        <p:cNvGrpSpPr/>
        <p:nvPr/>
      </p:nvGrpSpPr>
      <p:grpSpPr>
        <a:xfrm>
          <a:off x="0" y="0"/>
          <a:ext cx="0" cy="0"/>
        </a:xfrm>
        <a:effectLst/>
      </p:grpSpPr>
      <p:sp>
        <p:nvSpPr>
          <p:cNvPr id="2" name="标题 1"/>
          <p:cNvSpPr>
            <a:spLocks noGrp="1"/>
          </p:cNvSpPr>
          <p:nvPr>
            <p:ph type="title"/>
          </p:nvPr>
        </p:nvSpPr>
        <p:spPr>
          <a:xfrm>
            <a:off x="1119717" y="457200"/>
            <a:ext cx="5242983" cy="1600200"/>
          </a:xfrm>
          <a:effectLst/>
        </p:spPr>
        <p:txBody>
          <a:bodyPr anchor="b"/>
          <a:lstStyle>
            <a:lvl1pPr>
              <a:defRPr sz="3200">
                <a:effectLst/>
              </a:defRPr>
            </a:lvl1pPr>
          </a:lstStyle>
          <a:p>
            <a:r>
              <a:rPr lang="zh-CN" altLang="en-US" smtClean="0">
                <a:effectLst/>
              </a:rPr>
              <a:t>单击此处编辑母版标题样式</a:t>
            </a:r>
            <a:endParaRPr lang="zh-CN" altLang="en-US">
              <a:effectLst/>
            </a:endParaRPr>
          </a:p>
        </p:txBody>
      </p:sp>
      <p:sp>
        <p:nvSpPr>
          <p:cNvPr id="3" name="内容占位符 2"/>
          <p:cNvSpPr>
            <a:spLocks noGrp="1"/>
          </p:cNvSpPr>
          <p:nvPr>
            <p:ph idx="1"/>
          </p:nvPr>
        </p:nvSpPr>
        <p:spPr>
          <a:xfrm>
            <a:off x="6910917" y="987425"/>
            <a:ext cx="8229600" cy="4873625"/>
          </a:xfrm>
          <a:effectLst/>
        </p:spPr>
        <p:txBody>
          <a:bodyPr/>
          <a:lstStyle>
            <a:lvl1pPr>
              <a:defRPr sz="3200">
                <a:effectLst/>
              </a:defRPr>
            </a:lvl1pPr>
            <a:lvl2pPr>
              <a:defRPr sz="2800">
                <a:effectLst/>
              </a:defRPr>
            </a:lvl2pPr>
            <a:lvl3pPr>
              <a:defRPr sz="2400">
                <a:effectLst/>
              </a:defRPr>
            </a:lvl3pPr>
            <a:lvl4pPr>
              <a:defRPr sz="2000">
                <a:effectLst/>
              </a:defRPr>
            </a:lvl4pPr>
            <a:lvl5pPr>
              <a:defRPr sz="2000">
                <a:effectLst/>
              </a:defRPr>
            </a:lvl5pPr>
            <a:lvl6pPr>
              <a:defRPr sz="2000">
                <a:effectLst/>
              </a:defRPr>
            </a:lvl6pPr>
            <a:lvl7pPr>
              <a:defRPr sz="2000">
                <a:effectLst/>
              </a:defRPr>
            </a:lvl7pPr>
            <a:lvl8pPr>
              <a:defRPr sz="2000">
                <a:effectLst/>
              </a:defRPr>
            </a:lvl8pPr>
            <a:lvl9pPr>
              <a:defRPr sz="2000">
                <a:effectLst/>
              </a:defRPr>
            </a:lvl9pPr>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文本占位符 3"/>
          <p:cNvSpPr>
            <a:spLocks noGrp="1"/>
          </p:cNvSpPr>
          <p:nvPr>
            <p:ph type="body" sz="half" idx="2"/>
          </p:nvPr>
        </p:nvSpPr>
        <p:spPr>
          <a:xfrm>
            <a:off x="1119717" y="2057400"/>
            <a:ext cx="5242983" cy="3811588"/>
          </a:xfrm>
          <a:effectLst/>
        </p:spPr>
        <p:txBody>
          <a:bodyPr/>
          <a:lstStyle>
            <a:lvl1pPr marL="0" indent="0">
              <a:buNone/>
              <a:defRPr sz="1600">
                <a:effectLst/>
              </a:defRPr>
            </a:lvl1pPr>
            <a:lvl2pPr marL="457200" indent="0">
              <a:buNone/>
              <a:defRPr sz="1400">
                <a:effectLst/>
              </a:defRPr>
            </a:lvl2pPr>
            <a:lvl3pPr marL="914400" indent="0">
              <a:buNone/>
              <a:defRPr sz="1200">
                <a:effectLst/>
              </a:defRPr>
            </a:lvl3pPr>
            <a:lvl4pPr marL="1371600" indent="0">
              <a:buNone/>
              <a:defRPr sz="1000">
                <a:effectLst/>
              </a:defRPr>
            </a:lvl4pPr>
            <a:lvl5pPr marL="1828800" indent="0">
              <a:buNone/>
              <a:defRPr sz="1000">
                <a:effectLst/>
              </a:defRPr>
            </a:lvl5pPr>
            <a:lvl6pPr marL="2286000" indent="0">
              <a:buNone/>
              <a:defRPr sz="1000">
                <a:effectLst/>
              </a:defRPr>
            </a:lvl6pPr>
            <a:lvl7pPr marL="2743200" indent="0">
              <a:buNone/>
              <a:defRPr sz="1000">
                <a:effectLst/>
              </a:defRPr>
            </a:lvl7pPr>
            <a:lvl8pPr marL="3200400" indent="0">
              <a:buNone/>
              <a:defRPr sz="1000">
                <a:effectLst/>
              </a:defRPr>
            </a:lvl8pPr>
            <a:lvl9pPr marL="3657600" indent="0">
              <a:buNone/>
              <a:defRPr sz="1000">
                <a:effectLst/>
              </a:defRPr>
            </a:lvl9pPr>
          </a:lstStyle>
          <a:p>
            <a:pPr lvl="0"/>
            <a:r>
              <a:rPr lang="zh-CN" altLang="en-US" smtClean="0">
                <a:effectLst/>
              </a:rPr>
              <a:t>单击此处编辑母版文本样式</a:t>
            </a:r>
          </a:p>
        </p:txBody>
      </p:sp>
      <p:sp>
        <p:nvSpPr>
          <p:cNvPr id="5" name="日期占位符 3"/>
          <p:cNvSpPr>
            <a:spLocks noGrp="1" noChangeArrowheads="1"/>
          </p:cNvSpPr>
          <p:nvPr>
            <p:ph type="dt" sz="half" idx="10"/>
          </p:nvPr>
        </p:nvSpPr>
        <p:spPr>
          <a:effectLst/>
        </p:spPr>
        <p:txBody>
          <a:bodyPr/>
          <a:lstStyle/>
          <a:p>
            <a:fld id="{71B29CAF-719F-4720-B66E-EA4680BCB08C}" type="datetime1">
              <a:rPr lang="zh-CN" altLang="en-US">
                <a:effectLst/>
              </a:rPr>
              <a:t/>
            </a:fld>
            <a:endParaRPr lang="zh-CN" altLang="en-US" sz="1800">
              <a:solidFill>
                <a:schemeClr val="tx1"/>
              </a:solidFill>
              <a:effectLst/>
            </a:endParaRPr>
          </a:p>
        </p:txBody>
      </p:sp>
      <p:sp>
        <p:nvSpPr>
          <p:cNvPr id="6" name="页脚占位符 4"/>
          <p:cNvSpPr>
            <a:spLocks noGrp="1" noChangeArrowheads="1"/>
          </p:cNvSpPr>
          <p:nvPr>
            <p:ph type="ftr" sz="quarter" idx="11"/>
          </p:nvPr>
        </p:nvSpPr>
        <p:spPr>
          <a:effectLst/>
        </p:spPr>
        <p:txBody>
          <a:bodyPr/>
          <a:lstStyle/>
          <a:p>
            <a:endParaRPr lang="zh-CN" altLang="zh-CN">
              <a:effectLst/>
            </a:endParaRPr>
          </a:p>
        </p:txBody>
      </p:sp>
      <p:sp>
        <p:nvSpPr>
          <p:cNvPr id="7" name="灯片编号占位符 5"/>
          <p:cNvSpPr>
            <a:spLocks noGrp="1" noChangeArrowheads="1"/>
          </p:cNvSpPr>
          <p:nvPr>
            <p:ph type="sldNum" sz="quarter" idx="12"/>
          </p:nvPr>
        </p:nvSpPr>
        <p:spPr>
          <a:effectLst/>
        </p:spPr>
        <p:txBody>
          <a:bodyPr/>
          <a:lstStyle/>
          <a:p>
            <a:fld id="{D6062FC3-4C8A-4134-AA01-02667ED4E6EB}"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picTx" preserve="1">
  <p:cSld name="2_图片与标题">
    <p:spTree>
      <p:nvGrpSpPr>
        <p:cNvPr id="1" name=""/>
        <p:cNvGrpSpPr/>
        <p:nvPr/>
      </p:nvGrpSpPr>
      <p:grpSpPr>
        <a:xfrm>
          <a:off x="0" y="0"/>
          <a:ext cx="0" cy="0"/>
        </a:xfrm>
        <a:effectLst/>
      </p:grpSpPr>
      <p:sp>
        <p:nvSpPr>
          <p:cNvPr id="2" name="标题 1"/>
          <p:cNvSpPr>
            <a:spLocks noGrp="1"/>
          </p:cNvSpPr>
          <p:nvPr>
            <p:ph type="title"/>
          </p:nvPr>
        </p:nvSpPr>
        <p:spPr>
          <a:xfrm>
            <a:off x="1119717" y="457200"/>
            <a:ext cx="5242983" cy="1600200"/>
          </a:xfrm>
          <a:effectLst/>
        </p:spPr>
        <p:txBody>
          <a:bodyPr anchor="b"/>
          <a:lstStyle>
            <a:lvl1pPr>
              <a:defRPr sz="3200">
                <a:effectLst/>
              </a:defRPr>
            </a:lvl1pPr>
          </a:lstStyle>
          <a:p>
            <a:r>
              <a:rPr lang="zh-CN" altLang="en-US" smtClean="0">
                <a:effectLst/>
              </a:rPr>
              <a:t>单击此处编辑母版标题样式</a:t>
            </a:r>
            <a:endParaRPr lang="zh-CN" altLang="en-US">
              <a:effectLst/>
            </a:endParaRPr>
          </a:p>
        </p:txBody>
      </p:sp>
      <p:sp>
        <p:nvSpPr>
          <p:cNvPr id="3" name="图片占位符 2"/>
          <p:cNvSpPr>
            <a:spLocks noGrp="1"/>
          </p:cNvSpPr>
          <p:nvPr>
            <p:ph type="pic" idx="1"/>
          </p:nvPr>
        </p:nvSpPr>
        <p:spPr>
          <a:xfrm>
            <a:off x="6910917" y="987425"/>
            <a:ext cx="8229600" cy="4873625"/>
          </a:xfrm>
          <a:effectLst/>
        </p:spPr>
        <p:txBody>
          <a:bodyPr/>
          <a:lstStyle>
            <a:lvl1pPr marL="0" indent="0">
              <a:buNone/>
              <a:defRPr sz="3200">
                <a:effectLst/>
              </a:defRPr>
            </a:lvl1pPr>
            <a:lvl2pPr marL="457200" indent="0">
              <a:buNone/>
              <a:defRPr sz="2800">
                <a:effectLst/>
              </a:defRPr>
            </a:lvl2pPr>
            <a:lvl3pPr marL="914400" indent="0">
              <a:buNone/>
              <a:defRPr sz="2400">
                <a:effectLst/>
              </a:defRPr>
            </a:lvl3pPr>
            <a:lvl4pPr marL="1371600" indent="0">
              <a:buNone/>
              <a:defRPr sz="2000">
                <a:effectLst/>
              </a:defRPr>
            </a:lvl4pPr>
            <a:lvl5pPr marL="1828800" indent="0">
              <a:buNone/>
              <a:defRPr sz="2000">
                <a:effectLst/>
              </a:defRPr>
            </a:lvl5pPr>
            <a:lvl6pPr marL="2286000" indent="0">
              <a:buNone/>
              <a:defRPr sz="2000">
                <a:effectLst/>
              </a:defRPr>
            </a:lvl6pPr>
            <a:lvl7pPr marL="2743200" indent="0">
              <a:buNone/>
              <a:defRPr sz="2000">
                <a:effectLst/>
              </a:defRPr>
            </a:lvl7pPr>
            <a:lvl8pPr marL="3200400" indent="0">
              <a:buNone/>
              <a:defRPr sz="2000">
                <a:effectLst/>
              </a:defRPr>
            </a:lvl8pPr>
            <a:lvl9pPr marL="3657600" indent="0">
              <a:buNone/>
              <a:defRPr sz="2000">
                <a:effectLst/>
              </a:defRPr>
            </a:lvl9pPr>
          </a:lstStyle>
          <a:p>
            <a:pPr lvl="0"/>
            <a:endParaRPr lang="zh-CN" altLang="en-US" noProof="0" smtClean="0">
              <a:effectLst/>
              <a:sym typeface="Calibri" panose="020f0502020204030204" pitchFamily="34" charset="0"/>
            </a:endParaRPr>
          </a:p>
        </p:txBody>
      </p:sp>
      <p:sp>
        <p:nvSpPr>
          <p:cNvPr id="4" name="文本占位符 3"/>
          <p:cNvSpPr>
            <a:spLocks noGrp="1"/>
          </p:cNvSpPr>
          <p:nvPr>
            <p:ph type="body" sz="half" idx="2"/>
          </p:nvPr>
        </p:nvSpPr>
        <p:spPr>
          <a:xfrm>
            <a:off x="1119717" y="2057400"/>
            <a:ext cx="5242983" cy="3811588"/>
          </a:xfrm>
          <a:effectLst/>
        </p:spPr>
        <p:txBody>
          <a:bodyPr/>
          <a:lstStyle>
            <a:lvl1pPr marL="0" indent="0">
              <a:buNone/>
              <a:defRPr sz="1600">
                <a:effectLst/>
              </a:defRPr>
            </a:lvl1pPr>
            <a:lvl2pPr marL="457200" indent="0">
              <a:buNone/>
              <a:defRPr sz="1400">
                <a:effectLst/>
              </a:defRPr>
            </a:lvl2pPr>
            <a:lvl3pPr marL="914400" indent="0">
              <a:buNone/>
              <a:defRPr sz="1200">
                <a:effectLst/>
              </a:defRPr>
            </a:lvl3pPr>
            <a:lvl4pPr marL="1371600" indent="0">
              <a:buNone/>
              <a:defRPr sz="1000">
                <a:effectLst/>
              </a:defRPr>
            </a:lvl4pPr>
            <a:lvl5pPr marL="1828800" indent="0">
              <a:buNone/>
              <a:defRPr sz="1000">
                <a:effectLst/>
              </a:defRPr>
            </a:lvl5pPr>
            <a:lvl6pPr marL="2286000" indent="0">
              <a:buNone/>
              <a:defRPr sz="1000">
                <a:effectLst/>
              </a:defRPr>
            </a:lvl6pPr>
            <a:lvl7pPr marL="2743200" indent="0">
              <a:buNone/>
              <a:defRPr sz="1000">
                <a:effectLst/>
              </a:defRPr>
            </a:lvl7pPr>
            <a:lvl8pPr marL="3200400" indent="0">
              <a:buNone/>
              <a:defRPr sz="1000">
                <a:effectLst/>
              </a:defRPr>
            </a:lvl8pPr>
            <a:lvl9pPr marL="3657600" indent="0">
              <a:buNone/>
              <a:defRPr sz="1000">
                <a:effectLst/>
              </a:defRPr>
            </a:lvl9pPr>
          </a:lstStyle>
          <a:p>
            <a:pPr lvl="0"/>
            <a:r>
              <a:rPr lang="zh-CN" altLang="en-US" smtClean="0">
                <a:effectLst/>
              </a:rPr>
              <a:t>单击此处编辑母版文本样式</a:t>
            </a:r>
          </a:p>
        </p:txBody>
      </p:sp>
      <p:sp>
        <p:nvSpPr>
          <p:cNvPr id="5" name="日期占位符 3"/>
          <p:cNvSpPr>
            <a:spLocks noGrp="1" noChangeArrowheads="1"/>
          </p:cNvSpPr>
          <p:nvPr>
            <p:ph type="dt" sz="half" idx="10"/>
          </p:nvPr>
        </p:nvSpPr>
        <p:spPr>
          <a:effectLst/>
        </p:spPr>
        <p:txBody>
          <a:bodyPr/>
          <a:lstStyle/>
          <a:p>
            <a:fld id="{8395D587-0127-4329-A6E7-5B8728DC8010}" type="datetime1">
              <a:rPr lang="zh-CN" altLang="en-US">
                <a:effectLst/>
              </a:rPr>
              <a:t/>
            </a:fld>
            <a:endParaRPr lang="zh-CN" altLang="en-US" sz="1800">
              <a:solidFill>
                <a:schemeClr val="tx1"/>
              </a:solidFill>
              <a:effectLst/>
            </a:endParaRPr>
          </a:p>
        </p:txBody>
      </p:sp>
      <p:sp>
        <p:nvSpPr>
          <p:cNvPr id="6" name="页脚占位符 4"/>
          <p:cNvSpPr>
            <a:spLocks noGrp="1" noChangeArrowheads="1"/>
          </p:cNvSpPr>
          <p:nvPr>
            <p:ph type="ftr" sz="quarter" idx="11"/>
          </p:nvPr>
        </p:nvSpPr>
        <p:spPr>
          <a:effectLst/>
        </p:spPr>
        <p:txBody>
          <a:bodyPr/>
          <a:lstStyle/>
          <a:p>
            <a:endParaRPr lang="zh-CN" altLang="zh-CN">
              <a:effectLst/>
            </a:endParaRPr>
          </a:p>
        </p:txBody>
      </p:sp>
      <p:sp>
        <p:nvSpPr>
          <p:cNvPr id="7" name="灯片编号占位符 5"/>
          <p:cNvSpPr>
            <a:spLocks noGrp="1" noChangeArrowheads="1"/>
          </p:cNvSpPr>
          <p:nvPr>
            <p:ph type="sldNum" sz="quarter" idx="12"/>
          </p:nvPr>
        </p:nvSpPr>
        <p:spPr>
          <a:effectLst/>
        </p:spPr>
        <p:txBody>
          <a:bodyPr/>
          <a:lstStyle/>
          <a:p>
            <a:fld id="{2BB087CA-541B-46E4-A5CD-845074B24FEC}"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x" preserve="1">
  <p:cSld name="2_标题和竖排文字">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竖排文字占位符 2"/>
          <p:cNvSpPr>
            <a:spLocks noGrp="1"/>
          </p:cNvSpPr>
          <p:nvPr>
            <p:ph type="body" orient="vert" idx="1"/>
          </p:nvPr>
        </p:nvSpPr>
        <p:spPr>
          <a:effectLst/>
        </p:spPr>
        <p:txBody>
          <a:bodyPr vert="eaVert"/>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日期占位符 3"/>
          <p:cNvSpPr>
            <a:spLocks noGrp="1" noChangeArrowheads="1"/>
          </p:cNvSpPr>
          <p:nvPr>
            <p:ph type="dt" sz="half" idx="10"/>
          </p:nvPr>
        </p:nvSpPr>
        <p:spPr>
          <a:effectLst/>
        </p:spPr>
        <p:txBody>
          <a:bodyPr/>
          <a:lstStyle/>
          <a:p>
            <a:fld id="{1C68355E-E895-430B-BC52-A7C7928E9A7F}" type="datetime1">
              <a:rPr lang="zh-CN" altLang="en-US">
                <a:effectLst/>
              </a:rPr>
              <a:t/>
            </a:fld>
            <a:endParaRPr lang="zh-CN" altLang="en-US" sz="1800">
              <a:solidFill>
                <a:schemeClr val="tx1"/>
              </a:solidFill>
              <a:effectLst/>
            </a:endParaRPr>
          </a:p>
        </p:txBody>
      </p:sp>
      <p:sp>
        <p:nvSpPr>
          <p:cNvPr id="5" name="页脚占位符 4"/>
          <p:cNvSpPr>
            <a:spLocks noGrp="1" noChangeArrowheads="1"/>
          </p:cNvSpPr>
          <p:nvPr>
            <p:ph type="ftr" sz="quarter" idx="11"/>
          </p:nvPr>
        </p:nvSpPr>
        <p:spPr>
          <a:effectLst/>
        </p:spPr>
        <p:txBody>
          <a:bodyPr/>
          <a:lstStyle/>
          <a:p>
            <a:endParaRPr lang="zh-CN" altLang="zh-CN">
              <a:effectLst/>
            </a:endParaRPr>
          </a:p>
        </p:txBody>
      </p:sp>
      <p:sp>
        <p:nvSpPr>
          <p:cNvPr id="6" name="灯片编号占位符 5"/>
          <p:cNvSpPr>
            <a:spLocks noGrp="1" noChangeArrowheads="1"/>
          </p:cNvSpPr>
          <p:nvPr>
            <p:ph type="sldNum" sz="quarter" idx="12"/>
          </p:nvPr>
        </p:nvSpPr>
        <p:spPr>
          <a:effectLst/>
        </p:spPr>
        <p:txBody>
          <a:bodyPr/>
          <a:lstStyle/>
          <a:p>
            <a:fld id="{EDD84D4B-1AAC-4C7C-8B3B-315D96145AD3}"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垂直排列标题与&#10;文本">
    <p:spTree>
      <p:nvGrpSpPr>
        <p:cNvPr id="1" name=""/>
        <p:cNvGrpSpPr/>
        <p:nvPr/>
      </p:nvGrpSpPr>
      <p:grpSpPr>
        <a:xfrm>
          <a:off x="0" y="0"/>
          <a:ext cx="0" cy="0"/>
        </a:xfrm>
        <a:effectLst/>
      </p:grpSpPr>
      <p:sp>
        <p:nvSpPr>
          <p:cNvPr id="2" name="竖排标题 1"/>
          <p:cNvSpPr>
            <a:spLocks noGrp="1"/>
          </p:cNvSpPr>
          <p:nvPr>
            <p:ph type="title" orient="vert"/>
          </p:nvPr>
        </p:nvSpPr>
        <p:spPr>
          <a:xfrm>
            <a:off x="11633200" y="365125"/>
            <a:ext cx="3505200" cy="5811838"/>
          </a:xfrm>
          <a:effectLst/>
        </p:spPr>
        <p:txBody>
          <a:bodyPr vert="eaVert"/>
          <a:lstStyle/>
          <a:p>
            <a:r>
              <a:rPr lang="zh-CN" altLang="en-US" smtClean="0">
                <a:effectLst/>
              </a:rPr>
              <a:t>单击此处编辑母版标题样式</a:t>
            </a:r>
            <a:endParaRPr lang="zh-CN" altLang="en-US">
              <a:effectLst/>
            </a:endParaRPr>
          </a:p>
        </p:txBody>
      </p:sp>
      <p:sp>
        <p:nvSpPr>
          <p:cNvPr id="3" name="竖排文字占位符 2"/>
          <p:cNvSpPr>
            <a:spLocks noGrp="1"/>
          </p:cNvSpPr>
          <p:nvPr>
            <p:ph type="body" orient="vert" idx="1"/>
          </p:nvPr>
        </p:nvSpPr>
        <p:spPr>
          <a:xfrm>
            <a:off x="1117600" y="365125"/>
            <a:ext cx="10312400" cy="5811838"/>
          </a:xfrm>
          <a:effectLst/>
        </p:spPr>
        <p:txBody>
          <a:bodyPr vert="eaVert"/>
          <a:lstStyle/>
          <a:p>
            <a:pPr lvl="0"/>
            <a:r>
              <a:rPr lang="zh-CN" altLang="en-US" smtClean="0">
                <a:effectLst/>
              </a:rPr>
              <a:t>单击此处编辑母版文本样式</a:t>
            </a:r>
          </a:p>
          <a:p>
            <a:pPr lvl="1"/>
            <a:r>
              <a:rPr lang="zh-CN" altLang="en-US" smtClean="0">
                <a:effectLst/>
              </a:rPr>
              <a:t>第二级</a:t>
            </a:r>
          </a:p>
          <a:p>
            <a:pPr lvl="2"/>
            <a:r>
              <a:rPr lang="zh-CN" altLang="en-US" smtClean="0">
                <a:effectLst/>
              </a:rPr>
              <a:t>第三级</a:t>
            </a:r>
          </a:p>
          <a:p>
            <a:pPr lvl="3"/>
            <a:r>
              <a:rPr lang="zh-CN" altLang="en-US" smtClean="0">
                <a:effectLst/>
              </a:rPr>
              <a:t>第四级</a:t>
            </a:r>
          </a:p>
          <a:p>
            <a:pPr lvl="4"/>
            <a:r>
              <a:rPr lang="zh-CN" altLang="en-US" smtClean="0">
                <a:effectLst/>
              </a:rPr>
              <a:t>第五级</a:t>
            </a:r>
            <a:endParaRPr lang="zh-CN" altLang="en-US">
              <a:effectLst/>
            </a:endParaRPr>
          </a:p>
        </p:txBody>
      </p:sp>
      <p:sp>
        <p:nvSpPr>
          <p:cNvPr id="4" name="日期占位符 3"/>
          <p:cNvSpPr>
            <a:spLocks noGrp="1" noChangeArrowheads="1"/>
          </p:cNvSpPr>
          <p:nvPr>
            <p:ph type="dt" sz="half" idx="10"/>
          </p:nvPr>
        </p:nvSpPr>
        <p:spPr>
          <a:effectLst/>
        </p:spPr>
        <p:txBody>
          <a:bodyPr/>
          <a:lstStyle/>
          <a:p>
            <a:fld id="{E90F291F-9EE2-4580-84F1-EE9169B83C7C}" type="datetime1">
              <a:rPr lang="zh-CN" altLang="en-US">
                <a:effectLst/>
              </a:rPr>
              <a:t/>
            </a:fld>
            <a:endParaRPr lang="zh-CN" altLang="en-US" sz="1800">
              <a:solidFill>
                <a:schemeClr val="tx1"/>
              </a:solidFill>
              <a:effectLst/>
            </a:endParaRPr>
          </a:p>
        </p:txBody>
      </p:sp>
      <p:sp>
        <p:nvSpPr>
          <p:cNvPr id="5" name="页脚占位符 4"/>
          <p:cNvSpPr>
            <a:spLocks noGrp="1" noChangeArrowheads="1"/>
          </p:cNvSpPr>
          <p:nvPr>
            <p:ph type="ftr" sz="quarter" idx="11"/>
          </p:nvPr>
        </p:nvSpPr>
        <p:spPr>
          <a:effectLst/>
        </p:spPr>
        <p:txBody>
          <a:bodyPr/>
          <a:lstStyle/>
          <a:p>
            <a:endParaRPr lang="zh-CN" altLang="zh-CN">
              <a:effectLst/>
            </a:endParaRPr>
          </a:p>
        </p:txBody>
      </p:sp>
      <p:sp>
        <p:nvSpPr>
          <p:cNvPr id="6" name="灯片编号占位符 5"/>
          <p:cNvSpPr>
            <a:spLocks noGrp="1" noChangeArrowheads="1"/>
          </p:cNvSpPr>
          <p:nvPr>
            <p:ph type="sldNum" sz="quarter" idx="12"/>
          </p:nvPr>
        </p:nvSpPr>
        <p:spPr>
          <a:effectLst/>
        </p:spPr>
        <p:txBody>
          <a:bodyPr/>
          <a:lstStyle/>
          <a:p>
            <a:fld id="{51703CD4-6BA2-4A22-9D26-7F5BE47A6D72}"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p:cSld name="1_自定义版式">
    <p:spTree>
      <p:nvGrpSpPr>
        <p:cNvPr id="1" name=""/>
        <p:cNvGrpSpPr/>
        <p:nvPr/>
      </p:nvGrpSpPr>
      <p:grpSpPr>
        <a:xfrm>
          <a:off x="0" y="0"/>
          <a:ext cx="0" cy="0"/>
        </a:xfrm>
        <a:effectLst/>
      </p:grpSpPr>
      <p:sp>
        <p:nvSpPr>
          <p:cNvPr id="2" name="标题 1"/>
          <p:cNvSpPr>
            <a:spLocks noGrp="1"/>
          </p:cNvSpPr>
          <p:nvPr>
            <p:ph type="title"/>
          </p:nvPr>
        </p:nvSpPr>
        <p:spPr>
          <a:xfrm>
            <a:off x="1117600" y="365125"/>
            <a:ext cx="14020800" cy="1325563"/>
          </a:xfrm>
          <a:effectLst/>
        </p:spPr>
        <p:txBody>
          <a:bodyPr/>
          <a:lstStyle/>
          <a:p>
            <a:r>
              <a:rPr lang="zh-CN" altLang="en-US" smtClean="0">
                <a:effectLst/>
              </a:rPr>
              <a:t>单击此处编辑母版标题样式</a:t>
            </a:r>
            <a:endParaRPr lang="zh-CN" altLang="en-US">
              <a:effectLst/>
            </a:endParaRPr>
          </a:p>
        </p:txBody>
      </p:sp>
      <p:sp>
        <p:nvSpPr>
          <p:cNvPr id="3" name="日期占位符 3"/>
          <p:cNvSpPr>
            <a:spLocks noGrp="1" noChangeArrowheads="1"/>
          </p:cNvSpPr>
          <p:nvPr>
            <p:ph type="dt" sz="half" idx="10"/>
          </p:nvPr>
        </p:nvSpPr>
        <p:spPr>
          <a:effectLst/>
        </p:spPr>
        <p:txBody>
          <a:bodyPr/>
          <a:lstStyle/>
          <a:p>
            <a:fld id="{C8A75CA0-C5E8-4FB8-A64A-229310F36516}" type="datetime1">
              <a:rPr lang="zh-CN" altLang="en-US">
                <a:effectLst/>
              </a:rPr>
              <a:t/>
            </a:fld>
            <a:endParaRPr lang="zh-CN" altLang="en-US" sz="1800">
              <a:solidFill>
                <a:schemeClr val="tx1"/>
              </a:solidFill>
              <a:effectLst/>
            </a:endParaRPr>
          </a:p>
        </p:txBody>
      </p:sp>
      <p:sp>
        <p:nvSpPr>
          <p:cNvPr id="4" name="页脚占位符 4"/>
          <p:cNvSpPr>
            <a:spLocks noGrp="1" noChangeArrowheads="1"/>
          </p:cNvSpPr>
          <p:nvPr>
            <p:ph type="ftr" sz="quarter" idx="11"/>
          </p:nvPr>
        </p:nvSpPr>
        <p:spPr>
          <a:effectLst/>
        </p:spPr>
        <p:txBody>
          <a:bodyPr/>
          <a:lstStyle/>
          <a:p>
            <a:endParaRPr lang="zh-CN" altLang="zh-CN">
              <a:effectLst/>
            </a:endParaRPr>
          </a:p>
        </p:txBody>
      </p:sp>
      <p:sp>
        <p:nvSpPr>
          <p:cNvPr id="5" name="灯片编号占位符 5"/>
          <p:cNvSpPr>
            <a:spLocks noGrp="1" noChangeArrowheads="1"/>
          </p:cNvSpPr>
          <p:nvPr>
            <p:ph type="sldNum" sz="quarter" idx="12"/>
          </p:nvPr>
        </p:nvSpPr>
        <p:spPr>
          <a:effectLst/>
        </p:spPr>
        <p:txBody>
          <a:bodyPr/>
          <a:lstStyle/>
          <a:p>
            <a:fld id="{1433FCFC-1788-44CD-9240-5A6281F352E2}" type="slidenum">
              <a:rPr lang="zh-CN" altLang="en-US">
                <a:effectLst/>
              </a:rPr>
              <a:t/>
            </a:fld>
            <a:endParaRPr lang="zh-CN" altLang="en-US" sz="1800">
              <a:solidFill>
                <a:schemeClr val="tx1"/>
              </a:solidFill>
              <a:effectLst/>
            </a:endParaRPr>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slideLayout" Target="../slideLayouts/slideLayout24.xml" /><Relationship Id="rId25" Type="http://schemas.openxmlformats.org/officeDocument/2006/relationships/slideLayout" Target="../slideLayouts/slideLayout25.xml" /><Relationship Id="rId26" Type="http://schemas.openxmlformats.org/officeDocument/2006/relationships/slideLayout" Target="../slideLayouts/slideLayout26.xml" /><Relationship Id="rId27" Type="http://schemas.openxmlformats.org/officeDocument/2006/relationships/slideLayout" Target="../slideLayouts/slideLayout27.xml" /><Relationship Id="rId28" Type="http://schemas.openxmlformats.org/officeDocument/2006/relationships/slideLayout" Target="../slideLayouts/slideLayout28.xml" /><Relationship Id="rId29" Type="http://schemas.openxmlformats.org/officeDocument/2006/relationships/slideLayout" Target="../slideLayouts/slideLayout29.xml" /><Relationship Id="rId3" Type="http://schemas.openxmlformats.org/officeDocument/2006/relationships/slideLayout" Target="../slideLayouts/slideLayout3.xml" /><Relationship Id="rId30" Type="http://schemas.openxmlformats.org/officeDocument/2006/relationships/slideLayout" Target="../slideLayouts/slideLayout30.xml" /><Relationship Id="rId31" Type="http://schemas.openxmlformats.org/officeDocument/2006/relationships/image" Target="../media/image1.jpeg" /><Relationship Id="rId32" Type="http://schemas.openxmlformats.org/officeDocument/2006/relationships/theme" Target="../theme/theme1.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bg>
      <p:bgPr>
        <a:blipFill rotWithShape="1">
          <a:blip r:embed="rId31"/>
          <a:stretch/>
        </a:blipFill>
        <a:effectLst/>
      </p:bgPr>
    </p:bg>
    <p:spTree>
      <p:nvGrpSpPr>
        <p:cNvPr id="1" name=""/>
        <p:cNvGrpSpPr/>
        <p:nvPr/>
      </p:nvGrpSpPr>
      <p:grpSpPr>
        <a:xfrm>
          <a:off x="0" y="0"/>
          <a:ext cx="0" cy="0"/>
        </a:xfrm>
        <a:effectLst/>
      </p:grpSpPr>
      <p:sp>
        <p:nvSpPr>
          <p:cNvPr id="1026" name="标题占位符 1"/>
          <p:cNvSpPr>
            <a:spLocks noGrp="1"/>
          </p:cNvSpPr>
          <p:nvPr>
            <p:ph type="title"/>
          </p:nvPr>
        </p:nvSpPr>
        <p:spPr>
          <a:xfrm>
            <a:off x="1117600" y="365125"/>
            <a:ext cx="14020800" cy="1325563"/>
          </a:xfrm>
          <a:prstGeom prst="rect">
            <a:avLst/>
          </a:prstGeom>
          <a:noFill/>
          <a:ln w="9525">
            <a:noFill/>
          </a:ln>
          <a:effectLst/>
        </p:spPr>
        <p:txBody>
          <a:bodyPr anchor="ctr"/>
          <a:lstStyle/>
          <a:p>
            <a:pPr lvl="0"/>
            <a:r>
              <a:rPr lang="zh-CN" altLang="zh-CN">
                <a:effectLst/>
              </a:rPr>
              <a:t>单击此处编辑母版标题样式</a:t>
            </a:r>
          </a:p>
        </p:txBody>
      </p:sp>
      <p:sp>
        <p:nvSpPr>
          <p:cNvPr id="1027" name="文本占位符 2"/>
          <p:cNvSpPr>
            <a:spLocks noGrp="1"/>
          </p:cNvSpPr>
          <p:nvPr>
            <p:ph type="body" idx="1"/>
          </p:nvPr>
        </p:nvSpPr>
        <p:spPr>
          <a:xfrm>
            <a:off x="1117600" y="1825625"/>
            <a:ext cx="14020800" cy="4351338"/>
          </a:xfrm>
          <a:prstGeom prst="rect">
            <a:avLst/>
          </a:prstGeom>
          <a:noFill/>
          <a:ln w="9525">
            <a:noFill/>
          </a:ln>
          <a:effectLst/>
        </p:spPr>
        <p:txBody>
          <a:bodyPr/>
          <a:lstStyle/>
          <a:p>
            <a:pPr lvl="0"/>
            <a:r>
              <a:rPr lang="zh-CN" altLang="zh-CN">
                <a:effectLst/>
              </a:rPr>
              <a:t>单击此处编辑母版文本样式</a:t>
            </a:r>
          </a:p>
          <a:p>
            <a:pPr lvl="1"/>
            <a:r>
              <a:rPr lang="zh-CN" altLang="zh-CN">
                <a:effectLst/>
              </a:rPr>
              <a:t>第二级</a:t>
            </a:r>
          </a:p>
          <a:p>
            <a:pPr lvl="2"/>
            <a:r>
              <a:rPr lang="zh-CN" altLang="zh-CN">
                <a:effectLst/>
              </a:rPr>
              <a:t>第三级</a:t>
            </a:r>
          </a:p>
          <a:p>
            <a:pPr lvl="3"/>
            <a:r>
              <a:rPr lang="zh-CN" altLang="zh-CN">
                <a:effectLst/>
              </a:rPr>
              <a:t>第四级</a:t>
            </a:r>
          </a:p>
          <a:p>
            <a:pPr lvl="4"/>
            <a:r>
              <a:rPr lang="zh-CN" altLang="zh-CN">
                <a:effectLst/>
              </a:rPr>
              <a:t>第五级</a:t>
            </a:r>
          </a:p>
        </p:txBody>
      </p:sp>
      <p:sp>
        <p:nvSpPr>
          <p:cNvPr id="1028" name="日期占位符 3"/>
          <p:cNvSpPr>
            <a:spLocks noGrp="1" noChangeArrowheads="1"/>
          </p:cNvSpPr>
          <p:nvPr>
            <p:ph type="dt" sz="half" idx="2"/>
          </p:nvPr>
        </p:nvSpPr>
        <p:spPr>
          <a:xfrm>
            <a:off x="3095413" y="6356350"/>
            <a:ext cx="2600960" cy="365125"/>
          </a:xfrm>
          <a:prstGeom prst="rect">
            <a:avLst/>
          </a:prstGeom>
          <a:noFill/>
          <a:ln>
            <a:noFill/>
          </a:ln>
          <a:effectLst/>
        </p:spPr>
        <p:txBody>
          <a:bodyPr vert="horz" wrap="square" lIns="91440" tIns="45720" rIns="91440" bIns="45720" anchor="ctr" anchorCtr="0" compatLnSpc="1"/>
          <a:lstStyle>
            <a:lvl1pPr eaLnBrk="1" hangingPunct="1">
              <a:buFont typeface="Arial" panose="020b0604020202020204" pitchFamily="34" charset="0"/>
              <a:buNone/>
              <a:defRPr sz="1200">
                <a:solidFill>
                  <a:srgbClr val="898989"/>
                </a:solidFill>
                <a:effectLs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14976CC6-C19E-48A5-BACD-2326912F478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a:xfrm>
            <a:off x="7338060" y="6356350"/>
            <a:ext cx="3533140" cy="365125"/>
          </a:xfrm>
          <a:prstGeom prst="rect">
            <a:avLst/>
          </a:prstGeom>
          <a:noFill/>
          <a:ln>
            <a:noFill/>
          </a:ln>
          <a:effectLst/>
        </p:spPr>
        <p:txBody>
          <a:bodyPr vert="horz" wrap="square" lIns="91440" tIns="45720" rIns="91440" bIns="45720" anchor="ctr" anchorCtr="0" compatLnSpc="1"/>
          <a:lstStyle>
            <a:lvl1pPr algn="ctr" eaLnBrk="1" hangingPunct="1">
              <a:buFont typeface="Arial" panose="020b0604020202020204" pitchFamily="34" charset="0"/>
              <a:buNone/>
              <a:defRPr sz="1200">
                <a:solidFill>
                  <a:srgbClr val="898989"/>
                </a:solidFill>
                <a:effectLst/>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a:xfrm>
            <a:off x="11480800" y="6356350"/>
            <a:ext cx="3657600" cy="365125"/>
          </a:xfrm>
          <a:prstGeom prst="rect">
            <a:avLst/>
          </a:prstGeom>
          <a:noFill/>
          <a:ln>
            <a:noFill/>
          </a:ln>
          <a:effectLst/>
        </p:spPr>
        <p:txBody>
          <a:bodyPr vert="horz" wrap="square" lIns="91440" tIns="45720" rIns="91440" bIns="45720" anchor="ctr" anchorCtr="0" compatLnSpc="1"/>
          <a:lstStyle>
            <a:lvl1pPr algn="r">
              <a:buFont typeface="Arial" panose="020b0604020202020204" pitchFamily="34" charset="0"/>
              <a:defRPr sz="1200">
                <a:solidFill>
                  <a:srgbClr val="898989"/>
                </a:solidFill>
                <a:effectLst/>
              </a:defRPr>
            </a:lvl1pPr>
          </a:lstStyle>
          <a:p>
            <a:pPr lvl="0" eaLnBrk="1" hangingPunct="1"/>
            <a:fld id="{9A0DB2DC-4C9A-4742-B13C-FB6460FD3503}" type="slidenum">
              <a:rPr lang="zh-CN" altLang="en-US">
                <a:effectLst/>
                <a:latin typeface="Arial" panose="020b0604020202020204" pitchFamily="34" charset="0"/>
              </a:rPr>
              <a:t/>
            </a:fld>
            <a:endParaRPr lang="zh-CN" altLang="en-US">
              <a:effectLst/>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transition/>
  <p:timing/>
  <p:hf sldNum="0" hdr="0" ftr="0"/>
  <p:txStyles>
    <p:titleStyle>
      <a:lvl1pPr marL="914400" indent="-914400" algn="l" rtl="0" eaLnBrk="0" fontAlgn="base" hangingPunct="0">
        <a:lnSpc>
          <a:spcPct val="90000"/>
        </a:lnSpc>
        <a:spcBef>
          <a:spcPct val="0"/>
        </a:spcBef>
        <a:spcAft>
          <a:spcPct val="0"/>
        </a:spcAft>
        <a:defRPr sz="4400">
          <a:solidFill>
            <a:schemeClr val="tx1"/>
          </a:solidFill>
          <a:effectLst/>
          <a:latin typeface="+mj-lt"/>
          <a:ea typeface="+mj-ea"/>
          <a:cs typeface="+mj-cs"/>
          <a:sym typeface="Calibri Light" panose="020f0302020204030204" pitchFamily="34" charset="0"/>
        </a:defRPr>
      </a:lvl1pPr>
      <a:lvl2pPr marL="914400" indent="-914400" algn="l" rtl="0" eaLnBrk="0" fontAlgn="base" hangingPunct="0">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2pPr>
      <a:lvl3pPr marL="914400" indent="-914400" algn="l" rtl="0" eaLnBrk="0" fontAlgn="base" hangingPunct="0">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3pPr>
      <a:lvl4pPr marL="914400" indent="-914400" algn="l" rtl="0" eaLnBrk="0" fontAlgn="base" hangingPunct="0">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4pPr>
      <a:lvl5pPr marL="914400" indent="-914400" algn="l" rtl="0" eaLnBrk="0" fontAlgn="base" hangingPunct="0">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5pPr>
      <a:lvl6pPr marL="1371600" indent="-914400" algn="l" rtl="0" fontAlgn="base">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6pPr>
      <a:lvl7pPr marL="1828800" indent="-914400" algn="l" rtl="0" fontAlgn="base">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7pPr>
      <a:lvl8pPr marL="2286000" indent="-914400" algn="l" rtl="0" fontAlgn="base">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8pPr>
      <a:lvl9pPr marL="2743200" indent="-914400" algn="l" rtl="0" fontAlgn="base">
        <a:lnSpc>
          <a:spcPct val="90000"/>
        </a:lnSpc>
        <a:spcBef>
          <a:spcPct val="0"/>
        </a:spcBef>
        <a:spcAft>
          <a:spcPct val="0"/>
        </a:spcAft>
        <a:defRPr sz="4400">
          <a:solidFill>
            <a:schemeClr val="tx1"/>
          </a:solidFill>
          <a:effectLst/>
          <a:latin typeface="Calibri Light" panose="020f0302020204030204" pitchFamily="34" charset="0"/>
          <a:ea typeface="宋体" panose="02010600030101010101" pitchFamily="2" charset="-122"/>
          <a:sym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effectLst/>
          <a:latin typeface="+mn-lt"/>
          <a:ea typeface="+mn-ea"/>
          <a:cs typeface="+mn-cs"/>
          <a:sym typeface="Calibri" panose="020f050202020403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effectLst/>
          <a:latin typeface="+mn-lt"/>
          <a:ea typeface="+mn-ea"/>
          <a:sym typeface="Calibri" panose="020f050202020403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effectLst/>
          <a:latin typeface="+mn-lt"/>
          <a:ea typeface="+mn-ea"/>
          <a:sym typeface="Calibri" panose="020f050202020403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effectLst/>
          <a:latin typeface="+mn-lt"/>
          <a:ea typeface="+mn-ea"/>
          <a:sym typeface="Calibri" panose="020f050202020403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effectLst/>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effectLst/>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effectLst/>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effectLst/>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effectLst/>
          <a:latin typeface="+mn-lt"/>
          <a:ea typeface="+mn-ea"/>
          <a:sym typeface="Calibri" panose="020f0502020204030204" pitchFamily="34" charset="0"/>
        </a:defRPr>
      </a:lvl9pPr>
    </p:bodyStyle>
    <p:otherStyle>
      <a:defPPr>
        <a:defRPr lang="zh-CN">
          <a:effectLst/>
        </a:defRPr>
      </a:defPPr>
      <a:lvl1pPr marL="0" algn="l" defTabSz="914400" rtl="0" eaLnBrk="1" latinLnBrk="0" hangingPunct="1">
        <a:defRPr sz="1800" kern="1200">
          <a:solidFill>
            <a:schemeClr val="tx1"/>
          </a:solidFill>
          <a:effectLst/>
          <a:latin typeface="+mn-lt"/>
          <a:ea typeface="+mn-ea"/>
          <a:cs typeface="+mn-cs"/>
        </a:defRPr>
      </a:lvl1pPr>
      <a:lvl2pPr marL="457200" algn="l" defTabSz="914400" rtl="0" eaLnBrk="1" latinLnBrk="0" hangingPunct="1">
        <a:defRPr sz="1800" kern="1200">
          <a:solidFill>
            <a:schemeClr val="tx1"/>
          </a:solidFill>
          <a:effectLst/>
          <a:latin typeface="+mn-lt"/>
          <a:ea typeface="+mn-ea"/>
          <a:cs typeface="+mn-cs"/>
        </a:defRPr>
      </a:lvl2pPr>
      <a:lvl3pPr marL="914400" algn="l" defTabSz="914400" rtl="0" eaLnBrk="1" latinLnBrk="0" hangingPunct="1">
        <a:defRPr sz="1800" kern="1200">
          <a:solidFill>
            <a:schemeClr val="tx1"/>
          </a:solidFill>
          <a:effectLst/>
          <a:latin typeface="+mn-lt"/>
          <a:ea typeface="+mn-ea"/>
          <a:cs typeface="+mn-cs"/>
        </a:defRPr>
      </a:lvl3pPr>
      <a:lvl4pPr marL="1371600" algn="l" defTabSz="914400" rtl="0" eaLnBrk="1" latinLnBrk="0" hangingPunct="1">
        <a:defRPr sz="1800" kern="1200">
          <a:solidFill>
            <a:schemeClr val="tx1"/>
          </a:solidFill>
          <a:effectLst/>
          <a:latin typeface="+mn-lt"/>
          <a:ea typeface="+mn-ea"/>
          <a:cs typeface="+mn-cs"/>
        </a:defRPr>
      </a:lvl4pPr>
      <a:lvl5pPr marL="1828800" algn="l" defTabSz="914400" rtl="0" eaLnBrk="1" latinLnBrk="0" hangingPunct="1">
        <a:defRPr sz="1800" kern="1200">
          <a:solidFill>
            <a:schemeClr val="tx1"/>
          </a:solidFill>
          <a:effectLst/>
          <a:latin typeface="+mn-lt"/>
          <a:ea typeface="+mn-ea"/>
          <a:cs typeface="+mn-cs"/>
        </a:defRPr>
      </a:lvl5pPr>
      <a:lvl6pPr marL="2286000" algn="l" defTabSz="914400" rtl="0" eaLnBrk="1" latinLnBrk="0" hangingPunct="1">
        <a:defRPr sz="1800" kern="1200">
          <a:solidFill>
            <a:schemeClr val="tx1"/>
          </a:solidFill>
          <a:effectLst/>
          <a:latin typeface="+mn-lt"/>
          <a:ea typeface="+mn-ea"/>
          <a:cs typeface="+mn-cs"/>
        </a:defRPr>
      </a:lvl6pPr>
      <a:lvl7pPr marL="2743200" algn="l" defTabSz="914400" rtl="0" eaLnBrk="1" latinLnBrk="0" hangingPunct="1">
        <a:defRPr sz="1800" kern="1200">
          <a:solidFill>
            <a:schemeClr val="tx1"/>
          </a:solidFill>
          <a:effectLst/>
          <a:latin typeface="+mn-lt"/>
          <a:ea typeface="+mn-ea"/>
          <a:cs typeface="+mn-cs"/>
        </a:defRPr>
      </a:lvl7pPr>
      <a:lvl8pPr marL="3200400" algn="l" defTabSz="914400" rtl="0" eaLnBrk="1" latinLnBrk="0" hangingPunct="1">
        <a:defRPr sz="1800" kern="1200">
          <a:solidFill>
            <a:schemeClr val="tx1"/>
          </a:solidFill>
          <a:effectLst/>
          <a:latin typeface="+mn-lt"/>
          <a:ea typeface="+mn-ea"/>
          <a:cs typeface="+mn-cs"/>
        </a:defRPr>
      </a:lvl8pPr>
      <a:lvl9pPr marL="3657600" algn="l" defTabSz="914400" rtl="0" eaLnBrk="1" latinLnBrk="0" hangingPunct="1">
        <a:defRPr sz="1800" kern="1200">
          <a:solidFill>
            <a:schemeClr val="tx1"/>
          </a:solidFill>
          <a:effectLst/>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1.bin" TargetMode="Internal" /><Relationship Id="rId3" Type="http://schemas.openxmlformats.org/officeDocument/2006/relationships/image" Target="../media/image7.wmf" /><Relationship Id="rId4" Type="http://schemas.openxmlformats.org/officeDocument/2006/relationships/vmlDrawing" Target="../drawings/vmlDrawing1.v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2.bin" TargetMode="Internal" /><Relationship Id="rId3" Type="http://schemas.openxmlformats.org/officeDocument/2006/relationships/image" Target="../media/image8.wmf" /><Relationship Id="rId4" Type="http://schemas.openxmlformats.org/officeDocument/2006/relationships/vmlDrawing" Target="../drawings/vmlDrawing2.v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9.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3.vml" /><Relationship Id="rId2" Type="http://schemas.openxmlformats.org/officeDocument/2006/relationships/oleObject" Target="../embeddings/oleObject3.bin" TargetMode="Internal" /><Relationship Id="rId3" Type="http://schemas.openxmlformats.org/officeDocument/2006/relationships/image" Target="../media/image10.wmf" /><Relationship Id="rId4" Type="http://schemas.openxmlformats.org/officeDocument/2006/relationships/oleObject" Target="../embeddings/oleObject4.bin" TargetMode="Internal" /><Relationship Id="rId5" Type="http://schemas.openxmlformats.org/officeDocument/2006/relationships/image" Target="../media/image11.wmf" /><Relationship Id="rId6" Type="http://schemas.openxmlformats.org/officeDocument/2006/relationships/oleObject" Target="../embeddings/oleObject5.bin" TargetMode="Internal" /><Relationship Id="rId7" Type="http://schemas.openxmlformats.org/officeDocument/2006/relationships/image" Target="../media/image12.wmf" /><Relationship Id="rId8" Type="http://schemas.openxmlformats.org/officeDocument/2006/relationships/oleObject" Target="../embeddings/oleObject6.bin" TargetMode="Internal" /><Relationship Id="rId9" Type="http://schemas.openxmlformats.org/officeDocument/2006/relationships/image" Target="../media/image13.wmf"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4.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5.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4.vml" /><Relationship Id="rId2" Type="http://schemas.openxmlformats.org/officeDocument/2006/relationships/oleObject" Target="../embeddings/oleObject7.bin" TargetMode="Internal" /><Relationship Id="rId3" Type="http://schemas.openxmlformats.org/officeDocument/2006/relationships/image" Target="../media/image16.wmf" /><Relationship Id="rId4" Type="http://schemas.openxmlformats.org/officeDocument/2006/relationships/oleObject" Target="../embeddings/oleObject8.bin" TargetMode="Internal" /><Relationship Id="rId5" Type="http://schemas.openxmlformats.org/officeDocument/2006/relationships/image" Target="../media/image17.wmf" /><Relationship Id="rId6" Type="http://schemas.openxmlformats.org/officeDocument/2006/relationships/oleObject" Target="../embeddings/oleObject9.bin" TargetMode="Internal" /><Relationship Id="rId7" Type="http://schemas.openxmlformats.org/officeDocument/2006/relationships/image" Target="../media/image18.wmf" /><Relationship Id="rId8" Type="http://schemas.openxmlformats.org/officeDocument/2006/relationships/oleObject" Target="../embeddings/oleObject10.bin" TargetMode="Internal" /><Relationship Id="rId9" Type="http://schemas.openxmlformats.org/officeDocument/2006/relationships/image" Target="../media/image19.wmf"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0.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1.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15.bin" TargetMode="Internal" /><Relationship Id="rId11" Type="http://schemas.openxmlformats.org/officeDocument/2006/relationships/image" Target="../media/image25.wmf" /><Relationship Id="rId12" Type="http://schemas.openxmlformats.org/officeDocument/2006/relationships/oleObject" Target="../embeddings/oleObject16.bin" TargetMode="Internal" /><Relationship Id="rId13" Type="http://schemas.openxmlformats.org/officeDocument/2006/relationships/image" Target="../media/image26.wmf" /><Relationship Id="rId14" Type="http://schemas.openxmlformats.org/officeDocument/2006/relationships/vmlDrawing" Target="../drawings/vmlDrawing5.vml" /><Relationship Id="rId2" Type="http://schemas.openxmlformats.org/officeDocument/2006/relationships/oleObject" Target="../embeddings/oleObject11.bin" TargetMode="Internal" /><Relationship Id="rId3" Type="http://schemas.openxmlformats.org/officeDocument/2006/relationships/image" Target="../media/image16.wmf" /><Relationship Id="rId4" Type="http://schemas.openxmlformats.org/officeDocument/2006/relationships/oleObject" Target="../embeddings/oleObject12.bin" TargetMode="Internal" /><Relationship Id="rId5" Type="http://schemas.openxmlformats.org/officeDocument/2006/relationships/image" Target="../media/image22.wmf" /><Relationship Id="rId6" Type="http://schemas.openxmlformats.org/officeDocument/2006/relationships/oleObject" Target="../embeddings/oleObject13.bin" TargetMode="Internal" /><Relationship Id="rId7" Type="http://schemas.openxmlformats.org/officeDocument/2006/relationships/image" Target="../media/image23.wmf" /><Relationship Id="rId8" Type="http://schemas.openxmlformats.org/officeDocument/2006/relationships/oleObject" Target="../embeddings/oleObject14.bin" TargetMode="Internal" /><Relationship Id="rId9" Type="http://schemas.openxmlformats.org/officeDocument/2006/relationships/image" Target="../media/image24.wmf"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7.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8.pn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17.bin" TargetMode="Internal" /><Relationship Id="rId3" Type="http://schemas.openxmlformats.org/officeDocument/2006/relationships/image" Target="../media/image29.wmf" /><Relationship Id="rId4" Type="http://schemas.openxmlformats.org/officeDocument/2006/relationships/oleObject" Target="../embeddings/oleObject18.bin" TargetMode="Internal" /><Relationship Id="rId5" Type="http://schemas.openxmlformats.org/officeDocument/2006/relationships/image" Target="../media/image30.wmf" /><Relationship Id="rId6" Type="http://schemas.openxmlformats.org/officeDocument/2006/relationships/oleObject" Target="../embeddings/oleObject19.bin" TargetMode="Internal" /><Relationship Id="rId7" Type="http://schemas.openxmlformats.org/officeDocument/2006/relationships/image" Target="../media/image31.wmf" /><Relationship Id="rId8" Type="http://schemas.openxmlformats.org/officeDocument/2006/relationships/vmlDrawing" Target="../drawings/vmlDrawing6.v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20.bin" TargetMode="Internal" /><Relationship Id="rId3" Type="http://schemas.openxmlformats.org/officeDocument/2006/relationships/image" Target="../media/image32.wmf" /><Relationship Id="rId4" Type="http://schemas.openxmlformats.org/officeDocument/2006/relationships/oleObject" Target="../embeddings/oleObject21.bin" TargetMode="Internal" /><Relationship Id="rId5" Type="http://schemas.openxmlformats.org/officeDocument/2006/relationships/image" Target="../media/image33.wmf" /><Relationship Id="rId6" Type="http://schemas.openxmlformats.org/officeDocument/2006/relationships/oleObject" Target="../embeddings/oleObject22.bin" TargetMode="Internal" /><Relationship Id="rId7" Type="http://schemas.openxmlformats.org/officeDocument/2006/relationships/image" Target="../media/image34.wmf" /><Relationship Id="rId8" Type="http://schemas.openxmlformats.org/officeDocument/2006/relationships/vmlDrawing" Target="../drawings/vmlDrawing7.v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23.bin" TargetMode="Internal" /><Relationship Id="rId3" Type="http://schemas.openxmlformats.org/officeDocument/2006/relationships/image" Target="../media/image35.wmf" /><Relationship Id="rId4" Type="http://schemas.openxmlformats.org/officeDocument/2006/relationships/oleObject" Target="../embeddings/oleObject24.bin" TargetMode="Internal" /><Relationship Id="rId5" Type="http://schemas.openxmlformats.org/officeDocument/2006/relationships/image" Target="../media/image36.wmf" /><Relationship Id="rId6" Type="http://schemas.openxmlformats.org/officeDocument/2006/relationships/oleObject" Target="../embeddings/oleObject25.bin" TargetMode="Internal" /><Relationship Id="rId7" Type="http://schemas.openxmlformats.org/officeDocument/2006/relationships/image" Target="../media/image37.wmf" /><Relationship Id="rId8" Type="http://schemas.openxmlformats.org/officeDocument/2006/relationships/vmlDrawing" Target="../drawings/vmlDrawing8.v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8.png"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26.bin" TargetMode="Internal" /><Relationship Id="rId3" Type="http://schemas.openxmlformats.org/officeDocument/2006/relationships/image" Target="../media/image39.wmf" /><Relationship Id="rId4" Type="http://schemas.openxmlformats.org/officeDocument/2006/relationships/oleObject" Target="../embeddings/oleObject27.bin" TargetMode="Internal" /><Relationship Id="rId5" Type="http://schemas.openxmlformats.org/officeDocument/2006/relationships/image" Target="../media/image40.wmf" /><Relationship Id="rId6" Type="http://schemas.openxmlformats.org/officeDocument/2006/relationships/oleObject" Target="../embeddings/oleObject28.bin" TargetMode="Internal" /><Relationship Id="rId7" Type="http://schemas.openxmlformats.org/officeDocument/2006/relationships/image" Target="../media/image41.wmf" /><Relationship Id="rId8" Type="http://schemas.openxmlformats.org/officeDocument/2006/relationships/vmlDrawing" Target="../drawings/vmlDrawing9.v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29.bin" TargetMode="Internal" /><Relationship Id="rId3" Type="http://schemas.openxmlformats.org/officeDocument/2006/relationships/image" Target="../media/image42.wmf" /><Relationship Id="rId4" Type="http://schemas.openxmlformats.org/officeDocument/2006/relationships/oleObject" Target="../embeddings/oleObject30.bin" TargetMode="Internal" /><Relationship Id="rId5" Type="http://schemas.openxmlformats.org/officeDocument/2006/relationships/image" Target="../media/image43.wmf" /><Relationship Id="rId6" Type="http://schemas.openxmlformats.org/officeDocument/2006/relationships/vmlDrawing" Target="../drawings/vmlDrawing10.v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8.png"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8.pn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oleObject" Target="../embeddings/oleObject31.bin" TargetMode="Internal" /><Relationship Id="rId4" Type="http://schemas.openxmlformats.org/officeDocument/2006/relationships/image" Target="../media/image44.wmf" /><Relationship Id="rId5" Type="http://schemas.openxmlformats.org/officeDocument/2006/relationships/oleObject" Target="../embeddings/oleObject32.bin" TargetMode="Internal" /><Relationship Id="rId6" Type="http://schemas.openxmlformats.org/officeDocument/2006/relationships/image" Target="../media/image45.wmf" /><Relationship Id="rId7" Type="http://schemas.openxmlformats.org/officeDocument/2006/relationships/vmlDrawing" Target="../drawings/vmlDrawing11.v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37.bin" TargetMode="Internal" /><Relationship Id="rId11" Type="http://schemas.openxmlformats.org/officeDocument/2006/relationships/image" Target="../media/image50.wmf" /><Relationship Id="rId12" Type="http://schemas.openxmlformats.org/officeDocument/2006/relationships/vmlDrawing" Target="../drawings/vmlDrawing12.vml" /><Relationship Id="rId2" Type="http://schemas.openxmlformats.org/officeDocument/2006/relationships/oleObject" Target="../embeddings/oleObject33.bin" TargetMode="Internal" /><Relationship Id="rId3" Type="http://schemas.openxmlformats.org/officeDocument/2006/relationships/image" Target="../media/image46.wmf" /><Relationship Id="rId4" Type="http://schemas.openxmlformats.org/officeDocument/2006/relationships/oleObject" Target="../embeddings/oleObject34.bin" TargetMode="Internal" /><Relationship Id="rId5" Type="http://schemas.openxmlformats.org/officeDocument/2006/relationships/image" Target="../media/image47.wmf" /><Relationship Id="rId6" Type="http://schemas.openxmlformats.org/officeDocument/2006/relationships/oleObject" Target="../embeddings/oleObject35.bin" TargetMode="Internal" /><Relationship Id="rId7" Type="http://schemas.openxmlformats.org/officeDocument/2006/relationships/image" Target="../media/image48.wmf" /><Relationship Id="rId8" Type="http://schemas.openxmlformats.org/officeDocument/2006/relationships/oleObject" Target="../embeddings/oleObject36.bin" TargetMode="Internal" /><Relationship Id="rId9" Type="http://schemas.openxmlformats.org/officeDocument/2006/relationships/image" Target="../media/image49.wmf"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42.bin" TargetMode="Internal" /><Relationship Id="rId11" Type="http://schemas.openxmlformats.org/officeDocument/2006/relationships/image" Target="../media/image55.wmf" /><Relationship Id="rId12" Type="http://schemas.openxmlformats.org/officeDocument/2006/relationships/oleObject" Target="../embeddings/oleObject43.bin" TargetMode="Internal" /><Relationship Id="rId13" Type="http://schemas.openxmlformats.org/officeDocument/2006/relationships/image" Target="../media/image56.wmf" /><Relationship Id="rId14" Type="http://schemas.openxmlformats.org/officeDocument/2006/relationships/vmlDrawing" Target="../drawings/vmlDrawing13.vml" /><Relationship Id="rId2" Type="http://schemas.openxmlformats.org/officeDocument/2006/relationships/oleObject" Target="../embeddings/oleObject38.bin" TargetMode="Internal" /><Relationship Id="rId3" Type="http://schemas.openxmlformats.org/officeDocument/2006/relationships/image" Target="../media/image51.wmf" /><Relationship Id="rId4" Type="http://schemas.openxmlformats.org/officeDocument/2006/relationships/oleObject" Target="../embeddings/oleObject39.bin" TargetMode="Internal" /><Relationship Id="rId5" Type="http://schemas.openxmlformats.org/officeDocument/2006/relationships/image" Target="../media/image52.wmf" /><Relationship Id="rId6" Type="http://schemas.openxmlformats.org/officeDocument/2006/relationships/oleObject" Target="../embeddings/oleObject40.bin" TargetMode="Internal" /><Relationship Id="rId7" Type="http://schemas.openxmlformats.org/officeDocument/2006/relationships/image" Target="../media/image53.wmf" /><Relationship Id="rId8" Type="http://schemas.openxmlformats.org/officeDocument/2006/relationships/oleObject" Target="../embeddings/oleObject41.bin" TargetMode="Internal" /><Relationship Id="rId9" Type="http://schemas.openxmlformats.org/officeDocument/2006/relationships/image" Target="../media/image54.wmf"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44.bin" TargetMode="Internal" /><Relationship Id="rId3" Type="http://schemas.openxmlformats.org/officeDocument/2006/relationships/image" Target="../media/image57.wmf" /><Relationship Id="rId4" Type="http://schemas.openxmlformats.org/officeDocument/2006/relationships/oleObject" Target="../embeddings/oleObject45.bin" TargetMode="Internal" /><Relationship Id="rId5" Type="http://schemas.openxmlformats.org/officeDocument/2006/relationships/image" Target="../media/image58.wmf" /><Relationship Id="rId6" Type="http://schemas.openxmlformats.org/officeDocument/2006/relationships/oleObject" Target="../embeddings/oleObject46.bin" TargetMode="Internal" /><Relationship Id="rId7" Type="http://schemas.openxmlformats.org/officeDocument/2006/relationships/image" Target="../media/image59.wmf" /><Relationship Id="rId8" Type="http://schemas.openxmlformats.org/officeDocument/2006/relationships/vmlDrawing" Target="../drawings/vmlDrawing14.v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47.bin" TargetMode="Internal" /><Relationship Id="rId3" Type="http://schemas.openxmlformats.org/officeDocument/2006/relationships/image" Target="../media/image60.wmf" /><Relationship Id="rId4" Type="http://schemas.openxmlformats.org/officeDocument/2006/relationships/oleObject" Target="../embeddings/oleObject48.bin" TargetMode="Internal" /><Relationship Id="rId5" Type="http://schemas.openxmlformats.org/officeDocument/2006/relationships/image" Target="../media/image61.wmf" /><Relationship Id="rId6" Type="http://schemas.openxmlformats.org/officeDocument/2006/relationships/oleObject" Target="../embeddings/oleObject49.bin" TargetMode="Internal" /><Relationship Id="rId7" Type="http://schemas.openxmlformats.org/officeDocument/2006/relationships/image" Target="../media/image62.wmf" /><Relationship Id="rId8" Type="http://schemas.openxmlformats.org/officeDocument/2006/relationships/vmlDrawing" Target="../drawings/vmlDrawing15.v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54.bin" TargetMode="Internal" /><Relationship Id="rId11" Type="http://schemas.openxmlformats.org/officeDocument/2006/relationships/image" Target="../media/image67.wmf" /><Relationship Id="rId12" Type="http://schemas.openxmlformats.org/officeDocument/2006/relationships/vmlDrawing" Target="../drawings/vmlDrawing16.vml" /><Relationship Id="rId2" Type="http://schemas.openxmlformats.org/officeDocument/2006/relationships/oleObject" Target="../embeddings/oleObject50.bin" TargetMode="Internal" /><Relationship Id="rId3" Type="http://schemas.openxmlformats.org/officeDocument/2006/relationships/image" Target="../media/image63.wmf" /><Relationship Id="rId4" Type="http://schemas.openxmlformats.org/officeDocument/2006/relationships/oleObject" Target="../embeddings/oleObject51.bin" TargetMode="Internal" /><Relationship Id="rId5" Type="http://schemas.openxmlformats.org/officeDocument/2006/relationships/image" Target="../media/image64.wmf" /><Relationship Id="rId6" Type="http://schemas.openxmlformats.org/officeDocument/2006/relationships/oleObject" Target="../embeddings/oleObject52.bin" TargetMode="Internal" /><Relationship Id="rId7" Type="http://schemas.openxmlformats.org/officeDocument/2006/relationships/image" Target="../media/image65.wmf" /><Relationship Id="rId8" Type="http://schemas.openxmlformats.org/officeDocument/2006/relationships/oleObject" Target="../embeddings/oleObject53.bin" TargetMode="Internal" /><Relationship Id="rId9" Type="http://schemas.openxmlformats.org/officeDocument/2006/relationships/image" Target="../media/image66.wmf"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59.bin" TargetMode="Internal" /><Relationship Id="rId11" Type="http://schemas.openxmlformats.org/officeDocument/2006/relationships/image" Target="../media/image67.wmf" /><Relationship Id="rId12" Type="http://schemas.openxmlformats.org/officeDocument/2006/relationships/vmlDrawing" Target="../drawings/vmlDrawing17.vml" /><Relationship Id="rId2" Type="http://schemas.openxmlformats.org/officeDocument/2006/relationships/oleObject" Target="../embeddings/oleObject55.bin" TargetMode="Internal" /><Relationship Id="rId3" Type="http://schemas.openxmlformats.org/officeDocument/2006/relationships/image" Target="../media/image68.wmf" /><Relationship Id="rId4" Type="http://schemas.openxmlformats.org/officeDocument/2006/relationships/oleObject" Target="../embeddings/oleObject56.bin" TargetMode="Internal" /><Relationship Id="rId5" Type="http://schemas.openxmlformats.org/officeDocument/2006/relationships/image" Target="../media/image64.wmf" /><Relationship Id="rId6" Type="http://schemas.openxmlformats.org/officeDocument/2006/relationships/oleObject" Target="../embeddings/oleObject57.bin" TargetMode="Internal" /><Relationship Id="rId7" Type="http://schemas.openxmlformats.org/officeDocument/2006/relationships/image" Target="../media/image65.wmf" /><Relationship Id="rId8" Type="http://schemas.openxmlformats.org/officeDocument/2006/relationships/oleObject" Target="../embeddings/oleObject58.bin" TargetMode="Internal" /><Relationship Id="rId9" Type="http://schemas.openxmlformats.org/officeDocument/2006/relationships/image" Target="../media/image66.wmf"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18.vml" /><Relationship Id="rId2" Type="http://schemas.openxmlformats.org/officeDocument/2006/relationships/oleObject" Target="../embeddings/oleObject60.bin" TargetMode="Internal" /><Relationship Id="rId3" Type="http://schemas.openxmlformats.org/officeDocument/2006/relationships/image" Target="../media/image69.wmf" /><Relationship Id="rId4" Type="http://schemas.openxmlformats.org/officeDocument/2006/relationships/oleObject" Target="../embeddings/oleObject61.bin" TargetMode="Internal" /><Relationship Id="rId5" Type="http://schemas.openxmlformats.org/officeDocument/2006/relationships/image" Target="../media/image70.wmf" /><Relationship Id="rId6" Type="http://schemas.openxmlformats.org/officeDocument/2006/relationships/oleObject" Target="../embeddings/oleObject62.bin" TargetMode="Internal" /><Relationship Id="rId7" Type="http://schemas.openxmlformats.org/officeDocument/2006/relationships/image" Target="../media/image71.wmf" /><Relationship Id="rId8" Type="http://schemas.openxmlformats.org/officeDocument/2006/relationships/oleObject" Target="../embeddings/oleObject63.bin" TargetMode="Internal" /><Relationship Id="rId9" Type="http://schemas.openxmlformats.org/officeDocument/2006/relationships/image" Target="../media/image72.wmf"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audio" Target="../media/media1.wav"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audio" Target="../media/media1.wav"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audio" Target="../media/media1.wav"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64.bin" TargetMode="Internal" /><Relationship Id="rId3" Type="http://schemas.openxmlformats.org/officeDocument/2006/relationships/image" Target="../media/image73.wmf" /><Relationship Id="rId4" Type="http://schemas.openxmlformats.org/officeDocument/2006/relationships/vmlDrawing" Target="../drawings/vmlDrawing19.vml"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65.bin" TargetMode="Internal" /><Relationship Id="rId3" Type="http://schemas.openxmlformats.org/officeDocument/2006/relationships/image" Target="../media/image74.wmf" /><Relationship Id="rId4" Type="http://schemas.openxmlformats.org/officeDocument/2006/relationships/oleObject" Target="../embeddings/oleObject66.bin" TargetMode="Internal" /><Relationship Id="rId5" Type="http://schemas.openxmlformats.org/officeDocument/2006/relationships/image" Target="../media/image75.wmf" /><Relationship Id="rId6" Type="http://schemas.openxmlformats.org/officeDocument/2006/relationships/vmlDrawing" Target="../drawings/vmlDrawing20.vml"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67.bin" TargetMode="Internal" /><Relationship Id="rId3" Type="http://schemas.openxmlformats.org/officeDocument/2006/relationships/image" Target="../media/image76.wmf" /><Relationship Id="rId4" Type="http://schemas.openxmlformats.org/officeDocument/2006/relationships/oleObject" Target="../embeddings/oleObject68.bin" TargetMode="Internal" /><Relationship Id="rId5" Type="http://schemas.openxmlformats.org/officeDocument/2006/relationships/image" Target="../media/image77.wmf" /><Relationship Id="rId6" Type="http://schemas.openxmlformats.org/officeDocument/2006/relationships/vmlDrawing" Target="../drawings/vmlDrawing21.vml"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69.bin" TargetMode="Internal" /><Relationship Id="rId3" Type="http://schemas.openxmlformats.org/officeDocument/2006/relationships/image" Target="../media/image78.wmf" /><Relationship Id="rId4" Type="http://schemas.openxmlformats.org/officeDocument/2006/relationships/vmlDrawing" Target="../drawings/vmlDrawing22.vml"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70.bin" TargetMode="Internal" /><Relationship Id="rId3" Type="http://schemas.openxmlformats.org/officeDocument/2006/relationships/image" Target="../media/image79.wmf" /><Relationship Id="rId4" Type="http://schemas.openxmlformats.org/officeDocument/2006/relationships/oleObject" Target="../embeddings/oleObject71.bin" TargetMode="Internal" /><Relationship Id="rId5" Type="http://schemas.openxmlformats.org/officeDocument/2006/relationships/image" Target="../media/image80.wmf" /><Relationship Id="rId6" Type="http://schemas.openxmlformats.org/officeDocument/2006/relationships/vmlDrawing" Target="../drawings/vmlDrawing23.v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72.bin" TargetMode="Internal" /><Relationship Id="rId3" Type="http://schemas.openxmlformats.org/officeDocument/2006/relationships/image" Target="../media/image81.wmf" /><Relationship Id="rId4" Type="http://schemas.openxmlformats.org/officeDocument/2006/relationships/vmlDrawing" Target="../drawings/vmlDrawing24.vml"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25.vml" /><Relationship Id="rId2" Type="http://schemas.openxmlformats.org/officeDocument/2006/relationships/oleObject" Target="../embeddings/oleObject73.bin" TargetMode="Internal" /><Relationship Id="rId3" Type="http://schemas.openxmlformats.org/officeDocument/2006/relationships/image" Target="../media/image82.wmf" /><Relationship Id="rId4" Type="http://schemas.openxmlformats.org/officeDocument/2006/relationships/oleObject" Target="../embeddings/oleObject74.bin" TargetMode="Internal" /><Relationship Id="rId5" Type="http://schemas.openxmlformats.org/officeDocument/2006/relationships/image" Target="../media/image83.wmf" /><Relationship Id="rId6" Type="http://schemas.openxmlformats.org/officeDocument/2006/relationships/oleObject" Target="../embeddings/oleObject75.bin" TargetMode="Internal" /><Relationship Id="rId7" Type="http://schemas.openxmlformats.org/officeDocument/2006/relationships/image" Target="../media/image84.wmf" /><Relationship Id="rId8" Type="http://schemas.openxmlformats.org/officeDocument/2006/relationships/oleObject" Target="../embeddings/oleObject76.bin" TargetMode="Internal" /><Relationship Id="rId9" Type="http://schemas.openxmlformats.org/officeDocument/2006/relationships/image" Target="../media/image85.wmf"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77.bin" TargetMode="Internal" /><Relationship Id="rId3" Type="http://schemas.openxmlformats.org/officeDocument/2006/relationships/image" Target="../media/image86.wmf" /><Relationship Id="rId4" Type="http://schemas.openxmlformats.org/officeDocument/2006/relationships/vmlDrawing" Target="../drawings/vmlDrawing26.vml"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78.bin" TargetMode="Internal" /><Relationship Id="rId3" Type="http://schemas.openxmlformats.org/officeDocument/2006/relationships/image" Target="../media/image87.wmf" /><Relationship Id="rId4" Type="http://schemas.openxmlformats.org/officeDocument/2006/relationships/oleObject" Target="../embeddings/oleObject79.bin" TargetMode="Internal" /><Relationship Id="rId5" Type="http://schemas.openxmlformats.org/officeDocument/2006/relationships/image" Target="../media/image88.wmf" /><Relationship Id="rId6" Type="http://schemas.openxmlformats.org/officeDocument/2006/relationships/vmlDrawing" Target="../drawings/vmlDrawing27.vml"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28.vml" /><Relationship Id="rId2" Type="http://schemas.openxmlformats.org/officeDocument/2006/relationships/oleObject" Target="../embeddings/oleObject80.bin" TargetMode="Internal" /><Relationship Id="rId3" Type="http://schemas.openxmlformats.org/officeDocument/2006/relationships/image" Target="../media/image89.wmf" /><Relationship Id="rId4" Type="http://schemas.openxmlformats.org/officeDocument/2006/relationships/oleObject" Target="../embeddings/oleObject81.bin" TargetMode="Internal" /><Relationship Id="rId5" Type="http://schemas.openxmlformats.org/officeDocument/2006/relationships/image" Target="../media/image90.wmf" /><Relationship Id="rId6" Type="http://schemas.openxmlformats.org/officeDocument/2006/relationships/oleObject" Target="../embeddings/oleObject82.bin" TargetMode="Internal" /><Relationship Id="rId7" Type="http://schemas.openxmlformats.org/officeDocument/2006/relationships/image" Target="../media/image91.wmf" /><Relationship Id="rId8" Type="http://schemas.openxmlformats.org/officeDocument/2006/relationships/oleObject" Target="../embeddings/oleObject83.bin" TargetMode="Internal" /><Relationship Id="rId9" Type="http://schemas.openxmlformats.org/officeDocument/2006/relationships/image" Target="../media/image92.wmf"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84.bin" TargetMode="Internal" /><Relationship Id="rId3" Type="http://schemas.openxmlformats.org/officeDocument/2006/relationships/image" Target="../media/image93.wmf" /><Relationship Id="rId4" Type="http://schemas.openxmlformats.org/officeDocument/2006/relationships/vmlDrawing" Target="../drawings/vmlDrawing29.vml" /></Relationships>
</file>

<file path=ppt/slides/_rels/slide7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85.bin" TargetMode="Internal" /><Relationship Id="rId3" Type="http://schemas.openxmlformats.org/officeDocument/2006/relationships/image" Target="../media/image94.wmf" /><Relationship Id="rId4" Type="http://schemas.openxmlformats.org/officeDocument/2006/relationships/vmlDrawing" Target="../drawings/vmlDrawing30.vml" /></Relationships>
</file>

<file path=ppt/slides/_rels/slide8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86.bin" TargetMode="Internal" /><Relationship Id="rId3" Type="http://schemas.openxmlformats.org/officeDocument/2006/relationships/image" Target="../media/image95.wmf" /><Relationship Id="rId4" Type="http://schemas.openxmlformats.org/officeDocument/2006/relationships/oleObject" Target="../embeddings/oleObject87.bin" TargetMode="Internal" /><Relationship Id="rId5" Type="http://schemas.openxmlformats.org/officeDocument/2006/relationships/image" Target="../media/image96.wmf" /><Relationship Id="rId6" Type="http://schemas.openxmlformats.org/officeDocument/2006/relationships/oleObject" Target="../embeddings/oleObject88.bin" TargetMode="Internal" /><Relationship Id="rId7" Type="http://schemas.openxmlformats.org/officeDocument/2006/relationships/image" Target="../media/image97.wmf" /><Relationship Id="rId8" Type="http://schemas.openxmlformats.org/officeDocument/2006/relationships/vmlDrawing" Target="../drawings/vmlDrawing31.vml" /></Relationships>
</file>

<file path=ppt/slides/_rels/slide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89.bin" TargetMode="Internal" /><Relationship Id="rId3" Type="http://schemas.openxmlformats.org/officeDocument/2006/relationships/image" Target="../media/image98.wmf" /><Relationship Id="rId4" Type="http://schemas.openxmlformats.org/officeDocument/2006/relationships/oleObject" Target="../embeddings/oleObject90.bin" TargetMode="Internal" /><Relationship Id="rId5" Type="http://schemas.openxmlformats.org/officeDocument/2006/relationships/image" Target="../media/image99.wmf" /><Relationship Id="rId6" Type="http://schemas.openxmlformats.org/officeDocument/2006/relationships/oleObject" Target="../embeddings/oleObject91.bin" TargetMode="Internal" /><Relationship Id="rId7" Type="http://schemas.openxmlformats.org/officeDocument/2006/relationships/image" Target="../media/image100.wmf" /><Relationship Id="rId8" Type="http://schemas.openxmlformats.org/officeDocument/2006/relationships/vmlDrawing" Target="../drawings/vmlDrawing32.vml" /></Relationships>
</file>

<file path=ppt/slides/_rels/slide8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92.bin" TargetMode="Internal" /><Relationship Id="rId3" Type="http://schemas.openxmlformats.org/officeDocument/2006/relationships/image" Target="../media/image101.wmf" /><Relationship Id="rId4" Type="http://schemas.openxmlformats.org/officeDocument/2006/relationships/vmlDrawing" Target="../drawings/vmlDrawing33.vml" /></Relationships>
</file>

<file path=ppt/slides/_rels/slide8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97.bin" TargetMode="Internal" /><Relationship Id="rId11" Type="http://schemas.openxmlformats.org/officeDocument/2006/relationships/image" Target="../media/image102.wmf" /><Relationship Id="rId12" Type="http://schemas.openxmlformats.org/officeDocument/2006/relationships/vmlDrawing" Target="../drawings/vmlDrawing34.vml" /><Relationship Id="rId2" Type="http://schemas.openxmlformats.org/officeDocument/2006/relationships/oleObject" Target="../embeddings/oleObject93.bin" TargetMode="Internal" /><Relationship Id="rId3" Type="http://schemas.openxmlformats.org/officeDocument/2006/relationships/image" Target="../media/image101.wmf" /><Relationship Id="rId4" Type="http://schemas.openxmlformats.org/officeDocument/2006/relationships/oleObject" Target="../embeddings/oleObject94.bin" TargetMode="Internal" /><Relationship Id="rId5" Type="http://schemas.openxmlformats.org/officeDocument/2006/relationships/image" Target="../media/image98.wmf" /><Relationship Id="rId6" Type="http://schemas.openxmlformats.org/officeDocument/2006/relationships/oleObject" Target="../embeddings/oleObject95.bin" TargetMode="Internal" /><Relationship Id="rId7" Type="http://schemas.openxmlformats.org/officeDocument/2006/relationships/image" Target="../media/image99.wmf" /><Relationship Id="rId8" Type="http://schemas.openxmlformats.org/officeDocument/2006/relationships/oleObject" Target="../embeddings/oleObject96.bin" TargetMode="Internal" /><Relationship Id="rId9" Type="http://schemas.openxmlformats.org/officeDocument/2006/relationships/image" Target="../media/image100.wmf" /></Relationships>
</file>

<file path=ppt/slides/_rels/slide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98.bin" TargetMode="Internal" /><Relationship Id="rId3" Type="http://schemas.openxmlformats.org/officeDocument/2006/relationships/image" Target="../media/image103.wmf" /><Relationship Id="rId4" Type="http://schemas.openxmlformats.org/officeDocument/2006/relationships/oleObject" Target="../embeddings/oleObject99.bin" TargetMode="Internal" /><Relationship Id="rId5" Type="http://schemas.openxmlformats.org/officeDocument/2006/relationships/image" Target="../media/image104.wmf" /><Relationship Id="rId6" Type="http://schemas.openxmlformats.org/officeDocument/2006/relationships/vmlDrawing" Target="../drawings/vmlDrawing35.vml" /></Relationships>
</file>

<file path=ppt/slides/_rels/slide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100.bin" TargetMode="Internal" /><Relationship Id="rId3" Type="http://schemas.openxmlformats.org/officeDocument/2006/relationships/image" Target="../media/image105.wmf" /><Relationship Id="rId4" Type="http://schemas.openxmlformats.org/officeDocument/2006/relationships/oleObject" Target="../embeddings/oleObject101.bin" TargetMode="Internal" /><Relationship Id="rId5" Type="http://schemas.openxmlformats.org/officeDocument/2006/relationships/image" Target="../media/image106.wmf" /><Relationship Id="rId6" Type="http://schemas.openxmlformats.org/officeDocument/2006/relationships/vmlDrawing" Target="../drawings/vmlDrawing36.vml" /></Relationships>
</file>

<file path=ppt/slides/_rels/slide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name="">
    <p:spTree>
      <p:nvGrpSpPr>
        <p:cNvPr id="1" name=""/>
        <p:cNvGrpSpPr/>
        <p:nvPr/>
      </p:nvGrpSpPr>
      <p:grpSpPr>
        <a:xfrm>
          <a:off x="0" y="0"/>
          <a:ext cx="0" cy="0"/>
        </a:xfrm>
        <a:effectLst/>
      </p:grpSpPr>
      <p:sp>
        <p:nvSpPr>
          <p:cNvPr id="2" name="日期占位符 3"/>
          <p:cNvSpPr>
            <a:spLocks noGrp="1"/>
          </p:cNvSpPr>
          <p:nvPr>
            <p:ph type="dt" sz="half" idx="2"/>
          </p:nvPr>
        </p:nvSpPr>
        <p:spPr>
          <a:effectLst/>
        </p:spPr>
        <p:txBody>
          <a:bodyPr vert="horz" wrap="square" lIns="91440" tIns="45720" rIns="91440" bIns="45720" anchor="ctr"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fld id="{813D44C0-D25E-4AFB-9998-26C70F741BB4}"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t/>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
          <p:cNvSpPr/>
          <p:nvPr/>
        </p:nvSpPr>
        <p:spPr>
          <a:xfrm>
            <a:off x="1393825" y="1905000"/>
            <a:ext cx="6356350" cy="778017"/>
          </a:xfrm>
          <a:prstGeom prst="rect">
            <a:avLst/>
          </a:prstGeom>
          <a:effectLst/>
        </p:spPr>
        <p:txBody>
          <a:bodyPr anchorCtr="1">
            <a:spAutoFit/>
          </a:bodyPr>
          <a:lstStyle/>
          <a:p>
            <a:pPr algn="ctr"/>
            <a:r>
              <a:rPr sz="4500" b="1">
                <a:solidFill>
                  <a:srgbClr val="000000"/>
                </a:solidFill>
                <a:effectLst/>
              </a:rPr>
              <a:t>多目标规划模型</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3074" name="Rectangle 6"/>
          <p:cNvSpPr>
            <a:spLocks noChangeArrowheads="1"/>
          </p:cNvSpPr>
          <p:nvPr/>
        </p:nvSpPr>
        <p:spPr>
          <a:xfrm>
            <a:off x="1493838" y="2554288"/>
            <a:ext cx="6253059" cy="1757404"/>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30000"/>
              </a:lnSpc>
              <a:buFont typeface="Wingdings" pitchFamily="2" charset="2"/>
              <a:buChar char="l"/>
            </a:pPr>
            <a:r>
              <a:rPr kumimoji="1" lang="zh-CN" altLang="en-US" sz="2800" b="1">
                <a:effectLst/>
                <a:latin typeface="黑体" pitchFamily="49" charset="-122"/>
                <a:ea typeface="黑体" pitchFamily="49" charset="-122"/>
              </a:rPr>
              <a:t>多目标决策的基本概念</a:t>
            </a:r>
            <a:endParaRPr kumimoji="1" lang="zh-CN" altLang="en-US" sz="2400">
              <a:effectLst>
                <a:outerShdw blurRad="38100" dist="38100" dir="2700000" algn="tl">
                  <a:schemeClr val="bg2"/>
                </a:outerShdw>
              </a:effectLst>
              <a:latin typeface="Times New Roman" pitchFamily="18" charset="0"/>
            </a:endParaRPr>
          </a:p>
          <a:p>
            <a:pPr marL="0" marR="0" lvl="0" indent="0" eaLnBrk="1" hangingPunct="1">
              <a:lnSpc>
                <a:spcPct val="130000"/>
              </a:lnSpc>
              <a:buFont typeface="Wingdings" pitchFamily="2" charset="2"/>
              <a:buChar char="l"/>
            </a:pPr>
            <a:r>
              <a:rPr kumimoji="1" lang="zh-CN" altLang="en-US" sz="2800" b="1">
                <a:effectLst/>
                <a:latin typeface="黑体" pitchFamily="49" charset="-122"/>
                <a:ea typeface="黑体" pitchFamily="49" charset="-122"/>
              </a:rPr>
              <a:t>多目标决策的数学模型及其非劣解</a:t>
            </a:r>
          </a:p>
          <a:p>
            <a:pPr marL="0" marR="0" lvl="0" indent="0" eaLnBrk="1" hangingPunct="1">
              <a:lnSpc>
                <a:spcPct val="130000"/>
              </a:lnSpc>
              <a:buFont typeface="Wingdings" pitchFamily="2" charset="2"/>
              <a:buChar char="l"/>
            </a:pPr>
            <a:r>
              <a:rPr kumimoji="1" lang="zh-CN" altLang="en-US" sz="2800" b="1">
                <a:effectLst/>
                <a:latin typeface="黑体" pitchFamily="49" charset="-122"/>
                <a:ea typeface="黑体" pitchFamily="49" charset="-122"/>
              </a:rPr>
              <a:t>多目标决策建模的应用实例</a:t>
            </a:r>
            <a:r>
              <a:rPr kumimoji="1" lang="zh-CN" altLang="en-US" sz="2800">
                <a:effectLst>
                  <a:outerShdw blurRad="38100" dist="38100" dir="2700000" algn="tl">
                    <a:schemeClr val="bg2"/>
                  </a:outerShdw>
                </a:effectLst>
                <a:latin typeface="黑体" pitchFamily="49" charset="-122"/>
                <a:ea typeface="黑体" pitchFamily="49" charset="-122"/>
              </a:rPr>
              <a:t> </a:t>
            </a:r>
            <a:endParaRPr kumimoji="1" lang="zh-CN" altLang="en-US" sz="2800">
              <a:effectLst>
                <a:outerShdw blurRad="38100" dist="38100" dir="2700000" algn="tl">
                  <a:schemeClr val="bg2"/>
                </a:outerShdw>
              </a:effectLst>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3074">
                                            <p:txEl>
                                              <p:charRg st="0" end="11"/>
                                            </p:txEl>
                                          </p:spTgt>
                                        </p:tgtEl>
                                        <p:attrNameLst>
                                          <p:attrName>style.visibility</p:attrName>
                                        </p:attrNameLst>
                                      </p:cBhvr>
                                      <p:to>
                                        <p:strVal val="visible"/>
                                      </p:to>
                                    </p:set>
                                    <p:animEffect transition="in" filter="blinds(horizontal)">
                                      <p:cBhvr additive="base">
                                        <p:cTn id="7" dur="500"/>
                                        <p:tgtEl>
                                          <p:spTgt spid="3074">
                                            <p:txEl>
                                              <p:charRg st="0" end="11"/>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3074">
                                            <p:txEl>
                                              <p:charRg st="11" end="27"/>
                                            </p:txEl>
                                          </p:spTgt>
                                        </p:tgtEl>
                                        <p:attrNameLst>
                                          <p:attrName>style.visibility</p:attrName>
                                        </p:attrNameLst>
                                      </p:cBhvr>
                                      <p:to>
                                        <p:strVal val="visible"/>
                                      </p:to>
                                    </p:set>
                                    <p:animEffect transition="in" filter="blinds(horizontal)">
                                      <p:cBhvr additive="base">
                                        <p:cTn id="13" dur="500"/>
                                        <p:tgtEl>
                                          <p:spTgt spid="3074">
                                            <p:txEl>
                                              <p:charRg st="11" end="27"/>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3074">
                                            <p:txEl>
                                              <p:charRg st="27" end="41"/>
                                            </p:txEl>
                                          </p:spTgt>
                                        </p:tgtEl>
                                        <p:attrNameLst>
                                          <p:attrName>style.visibility</p:attrName>
                                        </p:attrNameLst>
                                      </p:cBhvr>
                                      <p:to>
                                        <p:strVal val="visible"/>
                                      </p:to>
                                    </p:set>
                                    <p:animEffect transition="in" filter="blinds(horizontal)">
                                      <p:cBhvr additive="base">
                                        <p:cTn id="19" dur="500"/>
                                        <p:tgtEl>
                                          <p:spTgt spid="3074">
                                            <p:txEl>
                                              <p:charRg st="27" end="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098" name="Rectangle 2"/>
          <p:cNvSpPr/>
          <p:nvPr/>
        </p:nvSpPr>
        <p:spPr>
          <a:xfrm>
            <a:off x="395288" y="2492375"/>
            <a:ext cx="7777162" cy="1143000"/>
          </a:xfrm>
          <a:prstGeom prst="rect">
            <a:avLst/>
          </a:prstGeom>
          <a:noFill/>
          <a:ln>
            <a:noFill/>
            <a:miter lim="800000"/>
          </a:ln>
          <a:effectLst/>
        </p:spPr>
        <p:txBody>
          <a:bodyPr lIns="92075" tIns="46038" rIns="92075" bIns="46038" anchor="ctr" anchorCtr="0">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4000">
                <a:effectLst/>
              </a:rPr>
              <a:t>                    </a:t>
            </a:r>
          </a:p>
          <a:p>
            <a:pPr marL="0" lvl="0" indent="0" eaLnBrk="1" hangingPunct="1"/>
            <a:r>
              <a:rPr lang="zh-CN" altLang="en-US" sz="4000">
                <a:effectLst/>
              </a:rPr>
              <a:t>用</a:t>
            </a:r>
            <a:r>
              <a:rPr lang="en-US" altLang="zh-CN" sz="4000">
                <a:effectLst/>
                <a:latin typeface="Times New Roman" pitchFamily="18" charset="0"/>
                <a:ea typeface="Times New Roman" pitchFamily="18" charset="0"/>
              </a:rPr>
              <a:t>LINGO</a:t>
            </a:r>
            <a:r>
              <a:rPr lang="zh-CN" altLang="en-US" sz="4000">
                <a:effectLst/>
              </a:rPr>
              <a:t>软件求解目标规划问题</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122" name="Rectangle 2"/>
          <p:cNvSpPr/>
          <p:nvPr>
            <p:ph type="title" idx="4294967295"/>
          </p:nvPr>
        </p:nvSpPr>
        <p:spPr>
          <a:xfrm>
            <a:off x="457200" y="274638"/>
            <a:ext cx="82296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r>
              <a:t>1. 求解方法概述</a:t>
            </a:r>
          </a:p>
        </p:txBody>
      </p:sp>
      <p:sp>
        <p:nvSpPr>
          <p:cNvPr id="5123" name="Rectangle 3"/>
          <p:cNvSpPr/>
          <p:nvPr>
            <p:ph type="body" idx="4294967295"/>
          </p:nvPr>
        </p:nvSpPr>
        <p:spPr>
          <a:xfrm>
            <a:off x="457200" y="1600200"/>
            <a:ext cx="8229600" cy="4525962"/>
          </a:xfrm>
          <a:prstGeom prst="rect">
            <a:avLst/>
          </a:prstGeom>
          <a:noFill/>
          <a:ln>
            <a:miter lim="800000"/>
          </a:ln>
          <a:effectLst/>
        </p:spPr>
        <p:txBody>
          <a:bodyPr vert="horz" wrap="square" lIns="91440" tIns="45720" rIns="91440" bIns="45720" anchor="t" anchorCtr="0">
            <a:noAutofit/>
          </a:bodyPr>
          <a:lstStyle>
            <a:lvl1pPr marL="533400" indent="-53340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533400" lvl="0" indent="-533400"/>
            <a:r>
              <a:rPr lang="en-US" altLang="zh-CN">
                <a:effectLst/>
                <a:latin typeface="Times New Roman" pitchFamily="18" charset="0"/>
                <a:ea typeface="Times New Roman" pitchFamily="18" charset="0"/>
              </a:rPr>
              <a:t>LINGO</a:t>
            </a:r>
            <a:r>
              <a:rPr lang="zh-CN" altLang="en-US">
                <a:effectLst/>
              </a:rPr>
              <a:t>（或</a:t>
            </a:r>
            <a:r>
              <a:rPr lang="en-US" altLang="zh-CN">
                <a:effectLst/>
                <a:latin typeface="Times New Roman" pitchFamily="18" charset="0"/>
                <a:ea typeface="Times New Roman" pitchFamily="18" charset="0"/>
              </a:rPr>
              <a:t>LINDO</a:t>
            </a:r>
            <a:r>
              <a:rPr lang="zh-CN" altLang="en-US">
                <a:effectLst/>
              </a:rPr>
              <a:t>）不能直接求解目标规划问题，但可以通过逐级求解线性规划的方法，求得目标规划问题的满意解。</a:t>
            </a:r>
          </a:p>
          <a:p>
            <a:pPr marL="533400" lvl="0" indent="-533400"/>
            <a:endParaRPr lang="en-US" altLang="zh-CN">
              <a:effectLst/>
            </a:endParaRP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146" name="Rectangle 2"/>
          <p:cNvSpPr/>
          <p:nvPr>
            <p:ph type="title" idx="4294967295"/>
          </p:nvPr>
        </p:nvSpPr>
        <p:spPr>
          <a:xfrm>
            <a:off x="457200" y="274638"/>
            <a:ext cx="82296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r>
              <a:t>2. 示例</a:t>
            </a:r>
          </a:p>
        </p:txBody>
      </p:sp>
      <p:sp>
        <p:nvSpPr>
          <p:cNvPr id="6147" name="Rectangle 3"/>
          <p:cNvSpPr/>
          <p:nvPr>
            <p:ph type="body" idx="4294967295"/>
          </p:nvPr>
        </p:nvSpPr>
        <p:spPr>
          <a:xfrm>
            <a:off x="457200" y="1600200"/>
            <a:ext cx="8229600" cy="4525962"/>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lvl="0"/>
            <a:r>
              <a:rPr lang="zh-CN" altLang="en-US" b="1">
                <a:effectLst/>
              </a:rPr>
              <a:t>例</a:t>
            </a:r>
            <a:r>
              <a:rPr lang="en-US" altLang="zh-CN" b="1">
                <a:effectLst/>
              </a:rPr>
              <a:t>1</a:t>
            </a:r>
            <a:r>
              <a:rPr lang="zh-CN" altLang="en-US" b="1">
                <a:effectLst/>
              </a:rPr>
              <a:t>  </a:t>
            </a:r>
            <a:r>
              <a:rPr lang="zh-CN" altLang="en-US">
                <a:effectLst/>
              </a:rPr>
              <a:t>用</a:t>
            </a:r>
            <a:r>
              <a:rPr lang="en-US" altLang="zh-CN">
                <a:effectLst/>
                <a:latin typeface="Times New Roman" pitchFamily="18" charset="0"/>
                <a:ea typeface="Times New Roman" pitchFamily="18" charset="0"/>
              </a:rPr>
              <a:t>LINGO</a:t>
            </a:r>
            <a:r>
              <a:rPr lang="zh-CN" altLang="en-US">
                <a:effectLst/>
              </a:rPr>
              <a:t>求解目标规划问题 </a:t>
            </a:r>
          </a:p>
        </p:txBody>
      </p:sp>
      <p:sp>
        <p:nvSpPr>
          <p:cNvPr id="6148" name="Rectangle 5"/>
          <p:cNvSpPr/>
          <p:nvPr/>
        </p:nvSpPr>
        <p:spPr>
          <a:xfrm>
            <a:off x="0" y="2636337"/>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6149" name="Object 4"/>
          <p:cNvGraphicFramePr>
            <a:graphicFrameLocks noChangeAspect="1"/>
          </p:cNvGraphicFramePr>
          <p:nvPr/>
        </p:nvGraphicFramePr>
        <p:xfrm>
          <a:off x="1908175" y="2565400"/>
          <a:ext cx="4681538" cy="2881312"/>
        </p:xfrm>
        <a:graphic>
          <a:graphicData uri="http://schemas.openxmlformats.org/presentationml/2006/ole">
            <mc:AlternateContent xmlns:mc="http://schemas.openxmlformats.org/markup-compatibility/2006">
              <mc:Choice xmlns:v="urn:schemas-microsoft-com:vml" Requires="v">
                <p:oleObj spid="_x0000_s1038" name="公式" r:id="rId2" progId="Equation.3">
                  <p:embed/>
                </p:oleObj>
              </mc:Choice>
              <mc:Fallback>
                <p:oleObj spid="_x0000_s1038" name="公式" r:id="rId2" progId="Equation.3">
                  <p:embed/>
                  <p:pic>
                    <p:nvPicPr>
                      <p:cNvPr id="0" name="OLE substitute image"/>
                      <p:cNvPicPr/>
                      <p:nvPr/>
                    </p:nvPicPr>
                    <p:blipFill>
                      <a:blip r:embed="rId3"/>
                      <a:stretch/>
                    </p:blipFill>
                    <p:spPr>
                      <a:xfrm>
                        <a:off x="1908175" y="2565400"/>
                        <a:ext cx="4681538" cy="2881312"/>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170" name="Rectangle 3"/>
          <p:cNvSpPr>
            <a:spLocks noGrp="1" noChangeArrowheads="1"/>
          </p:cNvSpPr>
          <p:nvPr>
            <p:ph type="body" idx="4294967295"/>
          </p:nvPr>
        </p:nvSpPr>
        <p:spPr>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a:buNone/>
            </a:pPr>
            <a:r>
              <a:rPr lang="zh-CN" altLang="en-US">
                <a:effectLst/>
              </a:rPr>
              <a:t>解：首先对应于第一优先等级，建立线性规划问题：</a:t>
            </a:r>
          </a:p>
          <a:p>
            <a:pPr marL="533400" marR="0" lvl="0" indent="-533400"/>
            <a:endParaRPr lang="zh-CN" altLang="en-US">
              <a:effectLst/>
            </a:endParaRPr>
          </a:p>
          <a:p>
            <a:pPr marL="533400" marR="0" lvl="0" indent="-533400"/>
            <a:endParaRPr lang="zh-CN" altLang="en-US">
              <a:effectLst/>
            </a:endParaRPr>
          </a:p>
          <a:p>
            <a:pPr marL="533400" marR="0" lvl="0" indent="-533400"/>
            <a:endParaRPr lang="zh-CN" altLang="en-US">
              <a:effectLst/>
            </a:endParaRPr>
          </a:p>
          <a:p>
            <a:pPr marL="533400" marR="0" lvl="0" indent="-533400"/>
            <a:endParaRPr lang="zh-CN" altLang="en-US">
              <a:effectLst/>
            </a:endParaRPr>
          </a:p>
          <a:p>
            <a:pPr marL="0" marR="0" lvl="0" indent="0">
              <a:buNone/>
            </a:pPr>
            <a:r>
              <a:rPr lang="zh-CN" altLang="en-US">
                <a:effectLst/>
              </a:rPr>
              <a:t>用</a:t>
            </a:r>
            <a:r>
              <a:rPr lang="en-US" altLang="zh-CN">
                <a:effectLst/>
                <a:latin typeface="Times New Roman" pitchFamily="18" charset="0"/>
                <a:ea typeface="Times New Roman" pitchFamily="18" charset="0"/>
              </a:rPr>
              <a:t>LINGO</a:t>
            </a:r>
            <a:r>
              <a:rPr lang="zh-CN" altLang="en-US">
                <a:effectLst/>
              </a:rPr>
              <a:t>求解，得最优解＝</a:t>
            </a:r>
            <a:r>
              <a:rPr lang="en-US" altLang="zh-CN">
                <a:effectLst/>
              </a:rPr>
              <a:t>0</a:t>
            </a:r>
            <a:r>
              <a:rPr lang="zh-CN" altLang="en-US">
                <a:effectLst/>
              </a:rPr>
              <a:t>，最优值为</a:t>
            </a:r>
            <a:r>
              <a:rPr lang="en-US" altLang="zh-CN">
                <a:effectLst/>
              </a:rPr>
              <a:t>0</a:t>
            </a:r>
            <a:r>
              <a:rPr lang="zh-CN" altLang="en-US">
                <a:effectLst/>
              </a:rPr>
              <a:t>。具体求解过程如下： </a:t>
            </a:r>
          </a:p>
        </p:txBody>
      </p:sp>
      <p:sp>
        <p:nvSpPr>
          <p:cNvPr id="7171" name="Rectangle 5"/>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172" name="Object 4"/>
          <p:cNvGraphicFramePr>
            <a:graphicFrameLocks noChangeAspect="1"/>
          </p:cNvGraphicFramePr>
          <p:nvPr/>
        </p:nvGraphicFramePr>
        <p:xfrm>
          <a:off x="2627312" y="2708275"/>
          <a:ext cx="3887788" cy="1519238"/>
        </p:xfrm>
        <a:graphic>
          <a:graphicData uri="http://schemas.openxmlformats.org/presentationml/2006/ole">
            <mc:AlternateContent xmlns:mc="http://schemas.openxmlformats.org/markup-compatibility/2006">
              <mc:Choice xmlns:v="urn:schemas-microsoft-com:vml" Requires="v">
                <p:oleObj spid="_x0000_s1039" name="公式" r:id="rId2" progId="Equation.3">
                  <p:embed/>
                </p:oleObj>
              </mc:Choice>
              <mc:Fallback>
                <p:oleObj spid="_x0000_s1039" name="公式" r:id="rId2" progId="Equation.3">
                  <p:embed/>
                  <p:pic>
                    <p:nvPicPr>
                      <p:cNvPr id="0" name="OLE substitute image"/>
                      <p:cNvPicPr/>
                      <p:nvPr/>
                    </p:nvPicPr>
                    <p:blipFill>
                      <a:blip r:embed="rId3"/>
                      <a:stretch/>
                    </p:blipFill>
                    <p:spPr>
                      <a:xfrm>
                        <a:off x="2627312" y="2708275"/>
                        <a:ext cx="3887788" cy="1519238"/>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194" name="Rectangle 2"/>
          <p:cNvSpPr/>
          <p:nvPr>
            <p:ph type="title" idx="4294967295"/>
          </p:nvPr>
        </p:nvSpPr>
        <p:spPr>
          <a:xfrm>
            <a:off x="457200" y="274638"/>
            <a:ext cx="8229600" cy="1143000"/>
          </a:xfrm>
          <a:prstGeom prst="rect">
            <a:avLst/>
          </a:prstGeom>
          <a:noFill/>
          <a:ln>
            <a:miter lim="800000"/>
          </a:ln>
          <a:effectLst/>
        </p:spPr>
        <p:txBody>
          <a:bodyPr vert="horz" wrap="square" lIns="91440" tIns="45720" rIns="91440" bIns="45720" anchor="ctr" anchorCtr="0">
            <a:noAutofit/>
          </a:bodyPr>
          <a:lstStyle>
            <a:lvl1pPr marL="800100" indent="-800100" algn="ctr"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marL="800100" lvl="0" indent="-800100"/>
            <a:r>
              <a:rPr lang="zh-CN" altLang="en-US" sz="2400">
                <a:effectLst/>
              </a:rPr>
              <a:t>启动</a:t>
            </a:r>
            <a:r>
              <a:rPr lang="en-US" altLang="zh-CN" sz="2400">
                <a:effectLst/>
                <a:latin typeface="Times New Roman" pitchFamily="18" charset="0"/>
                <a:ea typeface="Times New Roman" pitchFamily="18" charset="0"/>
              </a:rPr>
              <a:t>LINGO</a:t>
            </a:r>
            <a:r>
              <a:rPr lang="zh-CN" altLang="en-US" sz="2400">
                <a:effectLst/>
              </a:rPr>
              <a:t>软件，窗口如图</a:t>
            </a:r>
            <a:r>
              <a:rPr lang="en-US" altLang="zh-CN" sz="2400">
                <a:effectLst/>
              </a:rPr>
              <a:t>1</a:t>
            </a:r>
            <a:r>
              <a:rPr lang="zh-CN" altLang="en-US" sz="2400">
                <a:effectLst/>
              </a:rPr>
              <a:t>所示。</a:t>
            </a:r>
          </a:p>
        </p:txBody>
      </p:sp>
      <p:pic>
        <p:nvPicPr>
          <p:cNvPr id="8195" name="Picture 4"/>
          <p:cNvPicPr/>
          <p:nvPr>
            <p:ph type="body" idx="4294967295"/>
          </p:nvPr>
        </p:nvPicPr>
        <p:blipFill>
          <a:blip r:embed="rId2"/>
          <a:stretch/>
        </p:blipFill>
        <p:spPr>
          <a:xfrm>
            <a:off x="1619250" y="1341438"/>
            <a:ext cx="5695950" cy="4271962"/>
          </a:xfrm>
          <a:prstGeom prst="rect">
            <a:avLst/>
          </a:prstGeom>
          <a:noFill/>
          <a:ln>
            <a:miter lim="800000"/>
          </a:ln>
          <a:effectLst/>
        </p:spPr>
      </p:pic>
      <p:sp>
        <p:nvSpPr>
          <p:cNvPr id="8196" name="Rectangle 5"/>
          <p:cNvSpPr/>
          <p:nvPr/>
        </p:nvSpPr>
        <p:spPr>
          <a:xfrm>
            <a:off x="3708400" y="5676399"/>
            <a:ext cx="602582"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1 </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9218" name="Rectangle 3"/>
          <p:cNvSpPr/>
          <p:nvPr>
            <p:ph type="body" idx="4294967295"/>
          </p:nvPr>
        </p:nvSpPr>
        <p:spPr>
          <a:xfrm>
            <a:off x="457200" y="908050"/>
            <a:ext cx="8229600" cy="4525962"/>
          </a:xfrm>
          <a:prstGeom prst="rect">
            <a:avLst/>
          </a:prstGeom>
          <a:noFill/>
          <a:ln>
            <a:miter lim="800000"/>
          </a:ln>
          <a:effectLst/>
        </p:spPr>
        <p:txBody>
          <a:bodyPr vert="horz" wrap="square" lIns="91440" tIns="45720" rIns="91440" bIns="45720" anchor="t" anchorCtr="0">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lvl="0" indent="0">
              <a:buNone/>
            </a:pPr>
            <a:r>
              <a:rPr lang="zh-CN" altLang="en-US">
                <a:effectLst/>
                <a:latin typeface="Times New Roman" pitchFamily="18" charset="0"/>
                <a:ea typeface="Times New Roman" pitchFamily="18" charset="0"/>
              </a:rPr>
              <a:t>在</a:t>
            </a:r>
            <a:r>
              <a:rPr lang="en-US" altLang="zh-CN">
                <a:effectLst/>
                <a:latin typeface="Times New Roman" pitchFamily="18" charset="0"/>
                <a:ea typeface="Times New Roman" pitchFamily="18" charset="0"/>
              </a:rPr>
              <a:t>LINGO</a:t>
            </a:r>
            <a:r>
              <a:rPr lang="zh-CN" altLang="en-US">
                <a:effectLst/>
                <a:latin typeface="Times New Roman" pitchFamily="18" charset="0"/>
                <a:ea typeface="Times New Roman" pitchFamily="18" charset="0"/>
              </a:rPr>
              <a:t>工作区中录入以下程序（参见图</a:t>
            </a:r>
            <a:r>
              <a:rPr lang="en-US" altLang="zh-CN">
                <a:effectLst/>
                <a:latin typeface="Times New Roman" pitchFamily="18" charset="0"/>
                <a:ea typeface="Times New Roman" pitchFamily="18" charset="0"/>
              </a:rPr>
              <a:t>2</a:t>
            </a:r>
            <a:r>
              <a:rPr lang="zh-CN" altLang="en-US">
                <a:effectLst/>
                <a:latin typeface="Times New Roman" pitchFamily="18" charset="0"/>
                <a:ea typeface="Times New Roman" pitchFamily="18" charset="0"/>
              </a:rPr>
              <a:t>）</a:t>
            </a:r>
          </a:p>
          <a:p>
            <a:pPr marL="0" lvl="0" indent="0">
              <a:buNone/>
            </a:pPr>
            <a:r>
              <a:rPr lang="en-US" altLang="zh-CN">
                <a:effectLst/>
                <a:latin typeface="Times New Roman" pitchFamily="18" charset="0"/>
                <a:ea typeface="Times New Roman" pitchFamily="18" charset="0"/>
              </a:rPr>
              <a:t>model:</a:t>
            </a:r>
          </a:p>
          <a:p>
            <a:pPr marL="0" lvl="0" indent="0">
              <a:buNone/>
            </a:pPr>
            <a:r>
              <a:rPr lang="en-US" altLang="zh-CN">
                <a:effectLst/>
                <a:latin typeface="Times New Roman" pitchFamily="18" charset="0"/>
                <a:ea typeface="Times New Roman" pitchFamily="18" charset="0"/>
              </a:rPr>
              <a:t>min=d1;</a:t>
            </a:r>
          </a:p>
          <a:p>
            <a:pPr marL="0" lvl="0" indent="0">
              <a:buNone/>
            </a:pPr>
            <a:r>
              <a:rPr lang="en-US" altLang="zh-CN">
                <a:effectLst/>
                <a:latin typeface="Times New Roman" pitchFamily="18" charset="0"/>
                <a:ea typeface="Times New Roman" pitchFamily="18" charset="0"/>
              </a:rPr>
              <a:t>10*x1+15*x2+d1_-d1=40;</a:t>
            </a:r>
          </a:p>
          <a:p>
            <a:pPr marL="0" lvl="0" indent="0">
              <a:buNone/>
            </a:pPr>
            <a:r>
              <a:rPr lang="en-US" altLang="zh-CN">
                <a:effectLst/>
                <a:latin typeface="Times New Roman" pitchFamily="18" charset="0"/>
                <a:ea typeface="Times New Roman" pitchFamily="18" charset="0"/>
              </a:rPr>
              <a:t>END</a:t>
            </a:r>
          </a:p>
          <a:p>
            <a:pPr marL="0" lvl="0" indent="0">
              <a:buNone/>
            </a:pPr>
            <a:r>
              <a:rPr lang="zh-CN" altLang="en-US">
                <a:effectLst/>
                <a:latin typeface="Times New Roman" pitchFamily="18" charset="0"/>
                <a:ea typeface="Times New Roman" pitchFamily="18" charset="0"/>
              </a:rPr>
              <a:t>其中</a:t>
            </a:r>
            <a:r>
              <a:rPr lang="en-US" altLang="zh-CN">
                <a:effectLst/>
                <a:latin typeface="Times New Roman" pitchFamily="18" charset="0"/>
                <a:ea typeface="Times New Roman" pitchFamily="18" charset="0"/>
              </a:rPr>
              <a:t>x1</a:t>
            </a:r>
            <a:r>
              <a:rPr lang="zh-CN" altLang="en-US">
                <a:effectLst/>
                <a:latin typeface="Times New Roman" pitchFamily="18" charset="0"/>
                <a:ea typeface="Times New Roman" pitchFamily="18" charset="0"/>
              </a:rPr>
              <a:t>、</a:t>
            </a:r>
            <a:r>
              <a:rPr lang="en-US" altLang="zh-CN">
                <a:effectLst/>
                <a:latin typeface="Times New Roman" pitchFamily="18" charset="0"/>
                <a:ea typeface="Times New Roman" pitchFamily="18" charset="0"/>
              </a:rPr>
              <a:t>x2</a:t>
            </a:r>
            <a:r>
              <a:rPr lang="zh-CN" altLang="en-US">
                <a:effectLst/>
                <a:latin typeface="Times New Roman" pitchFamily="18" charset="0"/>
                <a:ea typeface="Times New Roman" pitchFamily="18" charset="0"/>
              </a:rPr>
              <a:t>分别代表决策变量   、  ；</a:t>
            </a:r>
            <a:r>
              <a:rPr lang="en-US" altLang="zh-CN">
                <a:effectLst/>
                <a:latin typeface="Times New Roman" pitchFamily="18" charset="0"/>
                <a:ea typeface="Times New Roman" pitchFamily="18" charset="0"/>
              </a:rPr>
              <a:t>d1_</a:t>
            </a:r>
            <a:r>
              <a:rPr lang="zh-CN" altLang="en-US">
                <a:effectLst/>
                <a:latin typeface="Times New Roman" pitchFamily="18" charset="0"/>
                <a:ea typeface="Times New Roman" pitchFamily="18" charset="0"/>
              </a:rPr>
              <a:t>、</a:t>
            </a:r>
            <a:r>
              <a:rPr lang="en-US" altLang="zh-CN">
                <a:effectLst/>
                <a:latin typeface="Times New Roman" pitchFamily="18" charset="0"/>
                <a:ea typeface="Times New Roman" pitchFamily="18" charset="0"/>
              </a:rPr>
              <a:t>d1</a:t>
            </a:r>
            <a:r>
              <a:rPr lang="zh-CN" altLang="en-US">
                <a:effectLst/>
                <a:latin typeface="Times New Roman" pitchFamily="18" charset="0"/>
                <a:ea typeface="Times New Roman" pitchFamily="18" charset="0"/>
              </a:rPr>
              <a:t>分别代表偏差变量    、  。  </a:t>
            </a:r>
          </a:p>
        </p:txBody>
      </p:sp>
      <p:sp>
        <p:nvSpPr>
          <p:cNvPr id="9219" name="Rectangle 5"/>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220" name="Object 4"/>
          <p:cNvGraphicFramePr>
            <a:graphicFrameLocks noChangeAspect="1"/>
          </p:cNvGraphicFramePr>
          <p:nvPr/>
        </p:nvGraphicFramePr>
        <p:xfrm>
          <a:off x="5724525" y="3789362"/>
          <a:ext cx="458788" cy="620712"/>
        </p:xfrm>
        <a:graphic>
          <a:graphicData uri="http://schemas.openxmlformats.org/presentationml/2006/ole">
            <mc:AlternateContent xmlns:mc="http://schemas.openxmlformats.org/markup-compatibility/2006">
              <mc:Choice xmlns:v="urn:schemas-microsoft-com:vml" Requires="v">
                <p:oleObj spid="_x0000_s1040" name="公式" r:id="rId2" progId="Equation.3">
                  <p:embed/>
                </p:oleObj>
              </mc:Choice>
              <mc:Fallback>
                <p:oleObj spid="_x0000_s1040" name="公式" r:id="rId2" progId="Equation.3">
                  <p:embed/>
                  <p:pic>
                    <p:nvPicPr>
                      <p:cNvPr id="0" name="OLE substitute image"/>
                      <p:cNvPicPr/>
                      <p:nvPr/>
                    </p:nvPicPr>
                    <p:blipFill>
                      <a:blip r:embed="rId3"/>
                      <a:stretch/>
                    </p:blipFill>
                    <p:spPr>
                      <a:xfrm>
                        <a:off x="5724525" y="3789362"/>
                        <a:ext cx="458788" cy="620712"/>
                      </a:xfrm>
                      <a:prstGeom prst="rect">
                        <a:avLst/>
                      </a:prstGeom>
                      <a:noFill/>
                      <a:effectLst/>
                    </p:spPr>
                  </p:pic>
                </p:oleObj>
              </mc:Fallback>
            </mc:AlternateContent>
          </a:graphicData>
        </a:graphic>
      </p:graphicFrame>
      <p:sp>
        <p:nvSpPr>
          <p:cNvPr id="9221" name="Rectangle 7"/>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222" name="Object 6"/>
          <p:cNvGraphicFramePr>
            <a:graphicFrameLocks noChangeAspect="1"/>
          </p:cNvGraphicFramePr>
          <p:nvPr/>
        </p:nvGraphicFramePr>
        <p:xfrm>
          <a:off x="6300788" y="3789362"/>
          <a:ext cx="571500" cy="692150"/>
        </p:xfrm>
        <a:graphic>
          <a:graphicData uri="http://schemas.openxmlformats.org/presentationml/2006/ole">
            <mc:AlternateContent xmlns:mc="http://schemas.openxmlformats.org/markup-compatibility/2006">
              <mc:Choice xmlns:v="urn:schemas-microsoft-com:vml" Requires="v">
                <p:oleObj spid="_x0000_s1041" name="公式" r:id="rId4" progId="Equation.3">
                  <p:embed/>
                </p:oleObj>
              </mc:Choice>
              <mc:Fallback>
                <p:oleObj spid="_x0000_s1041" name="公式" r:id="rId4" progId="Equation.3">
                  <p:embed/>
                  <p:pic>
                    <p:nvPicPr>
                      <p:cNvPr id="0" name="OLE substitute image"/>
                      <p:cNvPicPr/>
                      <p:nvPr/>
                    </p:nvPicPr>
                    <p:blipFill>
                      <a:blip r:embed="rId5"/>
                      <a:stretch/>
                    </p:blipFill>
                    <p:spPr>
                      <a:xfrm>
                        <a:off x="6300788" y="3789362"/>
                        <a:ext cx="571500" cy="692150"/>
                      </a:xfrm>
                      <a:prstGeom prst="rect">
                        <a:avLst/>
                      </a:prstGeom>
                      <a:noFill/>
                      <a:effectLst/>
                    </p:spPr>
                  </p:pic>
                </p:oleObj>
              </mc:Fallback>
            </mc:AlternateContent>
          </a:graphicData>
        </a:graphic>
      </p:graphicFrame>
      <p:sp>
        <p:nvSpPr>
          <p:cNvPr id="9223" name="Rectangle 9"/>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224" name="Object 8"/>
          <p:cNvGraphicFramePr>
            <a:graphicFrameLocks noChangeAspect="1"/>
          </p:cNvGraphicFramePr>
          <p:nvPr/>
        </p:nvGraphicFramePr>
        <p:xfrm>
          <a:off x="3779838" y="4365625"/>
          <a:ext cx="417512" cy="476250"/>
        </p:xfrm>
        <a:graphic>
          <a:graphicData uri="http://schemas.openxmlformats.org/presentationml/2006/ole">
            <mc:AlternateContent xmlns:mc="http://schemas.openxmlformats.org/markup-compatibility/2006">
              <mc:Choice xmlns:v="urn:schemas-microsoft-com:vml" Requires="v">
                <p:oleObj spid="_x0000_s1042" name="公式" r:id="rId6" progId="Equation.3">
                  <p:embed/>
                </p:oleObj>
              </mc:Choice>
              <mc:Fallback>
                <p:oleObj spid="_x0000_s1042" name="公式" r:id="rId6" progId="Equation.3">
                  <p:embed/>
                  <p:pic>
                    <p:nvPicPr>
                      <p:cNvPr id="0" name="OLE substitute image"/>
                      <p:cNvPicPr/>
                      <p:nvPr/>
                    </p:nvPicPr>
                    <p:blipFill>
                      <a:blip r:embed="rId7"/>
                      <a:stretch/>
                    </p:blipFill>
                    <p:spPr>
                      <a:xfrm>
                        <a:off x="3779838" y="4365625"/>
                        <a:ext cx="417512" cy="476250"/>
                      </a:xfrm>
                      <a:prstGeom prst="rect">
                        <a:avLst/>
                      </a:prstGeom>
                      <a:noFill/>
                      <a:effectLst/>
                    </p:spPr>
                  </p:pic>
                </p:oleObj>
              </mc:Fallback>
            </mc:AlternateContent>
          </a:graphicData>
        </a:graphic>
      </p:graphicFrame>
      <p:sp>
        <p:nvSpPr>
          <p:cNvPr id="9225" name="Rectangle 11"/>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226" name="Object 10"/>
          <p:cNvGraphicFramePr>
            <a:graphicFrameLocks noChangeAspect="1"/>
          </p:cNvGraphicFramePr>
          <p:nvPr/>
        </p:nvGraphicFramePr>
        <p:xfrm>
          <a:off x="4427538" y="4365625"/>
          <a:ext cx="417512" cy="477838"/>
        </p:xfrm>
        <a:graphic>
          <a:graphicData uri="http://schemas.openxmlformats.org/presentationml/2006/ole">
            <mc:AlternateContent xmlns:mc="http://schemas.openxmlformats.org/markup-compatibility/2006">
              <mc:Choice xmlns:v="urn:schemas-microsoft-com:vml" Requires="v">
                <p:oleObj spid="_x0000_s1043" name="公式" r:id="rId8" progId="Equation.3">
                  <p:embed/>
                </p:oleObj>
              </mc:Choice>
              <mc:Fallback>
                <p:oleObj spid="_x0000_s1043" name="公式" r:id="rId8" progId="Equation.3">
                  <p:embed/>
                  <p:pic>
                    <p:nvPicPr>
                      <p:cNvPr id="0" name="OLE substitute image"/>
                      <p:cNvPicPr/>
                      <p:nvPr/>
                    </p:nvPicPr>
                    <p:blipFill>
                      <a:blip r:embed="rId9"/>
                      <a:stretch/>
                    </p:blipFill>
                    <p:spPr>
                      <a:xfrm>
                        <a:off x="4427538" y="4365625"/>
                        <a:ext cx="417512" cy="477838"/>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pic>
        <p:nvPicPr>
          <p:cNvPr id="10242" name="Picture 4"/>
          <p:cNvPicPr/>
          <p:nvPr>
            <p:ph type="body" idx="4294967295"/>
          </p:nvPr>
        </p:nvPicPr>
        <p:blipFill>
          <a:blip r:embed="rId2"/>
          <a:stretch/>
        </p:blipFill>
        <p:spPr>
          <a:xfrm>
            <a:off x="1692275" y="1246188"/>
            <a:ext cx="5688012" cy="4265612"/>
          </a:xfrm>
          <a:prstGeom prst="rect">
            <a:avLst/>
          </a:prstGeom>
          <a:noFill/>
          <a:ln>
            <a:miter lim="800000"/>
          </a:ln>
          <a:effectLst/>
        </p:spPr>
      </p:pic>
      <p:sp>
        <p:nvSpPr>
          <p:cNvPr id="10243" name="Rectangle 5"/>
          <p:cNvSpPr/>
          <p:nvPr/>
        </p:nvSpPr>
        <p:spPr>
          <a:xfrm>
            <a:off x="3995738" y="5749424"/>
            <a:ext cx="602582"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2 </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1266" name="Rectangle 2"/>
          <p:cNvSpPr/>
          <p:nvPr>
            <p:ph type="title" idx="4294967295"/>
          </p:nvPr>
        </p:nvSpPr>
        <p:spPr>
          <a:xfrm>
            <a:off x="914400" y="277812"/>
            <a:ext cx="7978775"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r>
              <a:rPr lang="zh-CN" altLang="en-US" sz="2600">
                <a:effectLst/>
                <a:latin typeface="Times New Roman" pitchFamily="18" charset="0"/>
                <a:ea typeface="Times New Roman" pitchFamily="18" charset="0"/>
              </a:rPr>
              <a:t>在菜单</a:t>
            </a:r>
            <a:r>
              <a:rPr lang="en-US" altLang="zh-CN" sz="2600">
                <a:effectLst/>
                <a:latin typeface="Times New Roman" pitchFamily="18" charset="0"/>
                <a:ea typeface="Times New Roman" pitchFamily="18" charset="0"/>
              </a:rPr>
              <a:t>LINGO</a:t>
            </a:r>
            <a:r>
              <a:rPr lang="zh-CN" altLang="en-US" sz="2600">
                <a:effectLst/>
                <a:latin typeface="Times New Roman" pitchFamily="18" charset="0"/>
                <a:ea typeface="Times New Roman" pitchFamily="18" charset="0"/>
              </a:rPr>
              <a:t>下点选“</a:t>
            </a:r>
            <a:r>
              <a:rPr lang="en-US" altLang="zh-CN" sz="2600">
                <a:effectLst/>
                <a:latin typeface="Times New Roman" pitchFamily="18" charset="0"/>
                <a:ea typeface="Times New Roman" pitchFamily="18" charset="0"/>
              </a:rPr>
              <a:t>Solve”</a:t>
            </a:r>
            <a:r>
              <a:rPr lang="zh-CN" altLang="en-US" sz="2600">
                <a:effectLst/>
                <a:latin typeface="Times New Roman" pitchFamily="18" charset="0"/>
                <a:ea typeface="Times New Roman" pitchFamily="18" charset="0"/>
              </a:rPr>
              <a:t>，或按复合键“</a:t>
            </a:r>
            <a:r>
              <a:rPr lang="en-US" altLang="zh-CN" sz="2600">
                <a:effectLst/>
                <a:latin typeface="Times New Roman" pitchFamily="18" charset="0"/>
                <a:ea typeface="Times New Roman" pitchFamily="18" charset="0"/>
              </a:rPr>
              <a:t>Ctrl+S”</a:t>
            </a:r>
            <a:r>
              <a:rPr lang="zh-CN" altLang="en-US" sz="2600">
                <a:effectLst/>
                <a:latin typeface="Times New Roman" pitchFamily="18" charset="0"/>
                <a:ea typeface="Times New Roman" pitchFamily="18" charset="0"/>
              </a:rPr>
              <a:t>进行求解。</a:t>
            </a:r>
            <a:r>
              <a:rPr lang="en-US" altLang="zh-CN" sz="2600">
                <a:effectLst/>
                <a:latin typeface="Times New Roman" pitchFamily="18" charset="0"/>
                <a:ea typeface="Times New Roman" pitchFamily="18" charset="0"/>
              </a:rPr>
              <a:t>LINGO</a:t>
            </a:r>
            <a:r>
              <a:rPr lang="zh-CN" altLang="en-US" sz="2600">
                <a:effectLst/>
                <a:latin typeface="Times New Roman" pitchFamily="18" charset="0"/>
                <a:ea typeface="Times New Roman" pitchFamily="18" charset="0"/>
              </a:rPr>
              <a:t>弹出求解结果报告（参见图</a:t>
            </a:r>
            <a:r>
              <a:rPr lang="en-US" altLang="zh-CN" sz="2600">
                <a:effectLst/>
                <a:latin typeface="Times New Roman" pitchFamily="18" charset="0"/>
                <a:ea typeface="Times New Roman" pitchFamily="18" charset="0"/>
              </a:rPr>
              <a:t>3</a:t>
            </a:r>
            <a:r>
              <a:rPr lang="zh-CN" altLang="en-US" sz="2600">
                <a:effectLst/>
                <a:latin typeface="Times New Roman" pitchFamily="18" charset="0"/>
                <a:ea typeface="Times New Roman" pitchFamily="18" charset="0"/>
              </a:rPr>
              <a:t>）：</a:t>
            </a:r>
            <a:br>
              <a:rPr lang="en-US" altLang="zh-CN" sz="2600">
                <a:effectLst/>
                <a:latin typeface="Times New Roman" pitchFamily="18" charset="0"/>
                <a:ea typeface="Times New Roman" pitchFamily="18" charset="0"/>
              </a:rPr>
            </a:br>
            <a:r>
              <a:rPr lang="zh-CN" altLang="en-US" sz="2600">
                <a:effectLst/>
                <a:latin typeface="Times New Roman" pitchFamily="18" charset="0"/>
                <a:ea typeface="Times New Roman" pitchFamily="18" charset="0"/>
              </a:rPr>
              <a:t>详细信息如下 </a:t>
            </a:r>
          </a:p>
        </p:txBody>
      </p:sp>
      <p:pic>
        <p:nvPicPr>
          <p:cNvPr id="11267" name="Picture 4"/>
          <p:cNvPicPr/>
          <p:nvPr>
            <p:ph type="body" idx="4294967295"/>
          </p:nvPr>
        </p:nvPicPr>
        <p:blipFill>
          <a:blip r:embed="rId2"/>
          <a:stretch/>
        </p:blipFill>
        <p:spPr>
          <a:xfrm>
            <a:off x="1763712" y="1773238"/>
            <a:ext cx="6048375" cy="4535488"/>
          </a:xfrm>
          <a:prstGeom prst="rect">
            <a:avLst/>
          </a:prstGeom>
          <a:noFill/>
          <a:ln>
            <a:miter lim="800000"/>
          </a:ln>
          <a:effectLst/>
        </p:spPr>
      </p:pic>
      <p:sp>
        <p:nvSpPr>
          <p:cNvPr id="11268" name="Rectangle 5"/>
          <p:cNvSpPr/>
          <p:nvPr/>
        </p:nvSpPr>
        <p:spPr>
          <a:xfrm>
            <a:off x="4140200" y="6432050"/>
            <a:ext cx="602582"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3 </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2290" name="Rectangle 2"/>
          <p:cNvSpPr/>
          <p:nvPr>
            <p:ph type="title" idx="4294967295"/>
          </p:nvPr>
        </p:nvSpPr>
        <p:spPr>
          <a:xfrm>
            <a:off x="0" y="188912"/>
            <a:ext cx="8893175" cy="1143000"/>
          </a:xfrm>
          <a:prstGeom prst="rect">
            <a:avLst/>
          </a:prstGeom>
          <a:noFill/>
          <a:ln>
            <a:miter lim="800000"/>
          </a:ln>
          <a:effectLst/>
        </p:spPr>
        <p:txBody>
          <a:bodyPr vert="horz" wrap="square" lIns="91440" tIns="45720" rIns="91440" bIns="45720" anchor="ctr" anchorCtr="0">
            <a:noAutofit/>
          </a:bodyPr>
          <a:lstStyle>
            <a:lvl1pPr marL="800100" indent="-800100" algn="ctr"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marL="800100" lvl="0" indent="-800100"/>
            <a:r>
              <a:rPr lang="en-US" altLang="zh-CN" sz="2400">
                <a:effectLst/>
              </a:rPr>
              <a:t>           </a:t>
            </a:r>
            <a:r>
              <a:rPr lang="zh-CN" altLang="en-US" sz="2400">
                <a:effectLst/>
              </a:rPr>
              <a:t>对应于第二优先等级，将    ＝</a:t>
            </a:r>
            <a:r>
              <a:rPr lang="en-US" altLang="zh-CN" sz="2400">
                <a:effectLst/>
              </a:rPr>
              <a:t>0</a:t>
            </a:r>
            <a:r>
              <a:rPr lang="zh-CN" altLang="en-US" sz="2400">
                <a:effectLst/>
              </a:rPr>
              <a:t>作为约束条件，建立线性规划问题：</a:t>
            </a:r>
          </a:p>
        </p:txBody>
      </p:sp>
      <p:sp>
        <p:nvSpPr>
          <p:cNvPr id="12291" name="Rectangle 5"/>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2292" name="Object 4"/>
          <p:cNvGraphicFramePr>
            <a:graphicFrameLocks noChangeAspect="1"/>
          </p:cNvGraphicFramePr>
          <p:nvPr/>
        </p:nvGraphicFramePr>
        <p:xfrm>
          <a:off x="4514850" y="333375"/>
          <a:ext cx="417512" cy="476250"/>
        </p:xfrm>
        <a:graphic>
          <a:graphicData uri="http://schemas.openxmlformats.org/presentationml/2006/ole">
            <mc:AlternateContent xmlns:mc="http://schemas.openxmlformats.org/markup-compatibility/2006">
              <mc:Choice xmlns:v="urn:schemas-microsoft-com:vml" Requires="v">
                <p:oleObj spid="_x0000_s1044" name="公式" r:id="rId2" progId="Equation.3">
                  <p:embed/>
                </p:oleObj>
              </mc:Choice>
              <mc:Fallback>
                <p:oleObj spid="_x0000_s1044" name="公式" r:id="rId2" progId="Equation.3">
                  <p:embed/>
                  <p:pic>
                    <p:nvPicPr>
                      <p:cNvPr id="0" name="OLE substitute image"/>
                      <p:cNvPicPr/>
                      <p:nvPr/>
                    </p:nvPicPr>
                    <p:blipFill>
                      <a:blip r:embed="rId3"/>
                      <a:stretch/>
                    </p:blipFill>
                    <p:spPr>
                      <a:xfrm>
                        <a:off x="4514850" y="333375"/>
                        <a:ext cx="417512" cy="476250"/>
                      </a:xfrm>
                      <a:prstGeom prst="rect">
                        <a:avLst/>
                      </a:prstGeom>
                      <a:noFill/>
                      <a:effectLst/>
                    </p:spPr>
                  </p:pic>
                </p:oleObj>
              </mc:Fallback>
            </mc:AlternateContent>
          </a:graphicData>
        </a:graphic>
      </p:graphicFrame>
      <p:sp>
        <p:nvSpPr>
          <p:cNvPr id="12293" name="Rectangle 7"/>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2294" name="Object 6"/>
          <p:cNvGraphicFramePr>
            <a:graphicFrameLocks noChangeAspect="1"/>
          </p:cNvGraphicFramePr>
          <p:nvPr/>
        </p:nvGraphicFramePr>
        <p:xfrm>
          <a:off x="2771775" y="1641475"/>
          <a:ext cx="3529012" cy="2292350"/>
        </p:xfrm>
        <a:graphic>
          <a:graphicData uri="http://schemas.openxmlformats.org/presentationml/2006/ole">
            <mc:AlternateContent xmlns:mc="http://schemas.openxmlformats.org/markup-compatibility/2006">
              <mc:Choice xmlns:v="urn:schemas-microsoft-com:vml" Requires="v">
                <p:oleObj spid="_x0000_s1045" name="公式" r:id="rId4" progId="Equation.3">
                  <p:embed/>
                </p:oleObj>
              </mc:Choice>
              <mc:Fallback>
                <p:oleObj spid="_x0000_s1045" name="公式" r:id="rId4" progId="Equation.3">
                  <p:embed/>
                  <p:pic>
                    <p:nvPicPr>
                      <p:cNvPr id="0" name="OLE substitute image"/>
                      <p:cNvPicPr/>
                      <p:nvPr/>
                    </p:nvPicPr>
                    <p:blipFill>
                      <a:blip r:embed="rId5"/>
                      <a:stretch/>
                    </p:blipFill>
                    <p:spPr>
                      <a:xfrm>
                        <a:off x="2771775" y="1641475"/>
                        <a:ext cx="3529012" cy="2292350"/>
                      </a:xfrm>
                      <a:prstGeom prst="rect">
                        <a:avLst/>
                      </a:prstGeom>
                      <a:noFill/>
                      <a:effectLst/>
                    </p:spPr>
                  </p:pic>
                </p:oleObj>
              </mc:Fallback>
            </mc:AlternateContent>
          </a:graphicData>
        </a:graphic>
      </p:graphicFrame>
      <p:graphicFrame>
        <p:nvGraphicFramePr>
          <p:cNvPr id="12295" name="Object 9"/>
          <p:cNvGraphicFramePr>
            <a:graphicFrameLocks noChangeAspect="1"/>
          </p:cNvGraphicFramePr>
          <p:nvPr/>
        </p:nvGraphicFramePr>
        <p:xfrm>
          <a:off x="4354512" y="4806950"/>
          <a:ext cx="1296988" cy="566738"/>
        </p:xfrm>
        <a:graphic>
          <a:graphicData uri="http://schemas.openxmlformats.org/presentationml/2006/ole">
            <mc:AlternateContent xmlns:mc="http://schemas.openxmlformats.org/markup-compatibility/2006">
              <mc:Choice xmlns:v="urn:schemas-microsoft-com:vml" Requires="v">
                <p:oleObj spid="_x0000_s1046" name="公式" r:id="rId6" progId="Equation.3">
                  <p:embed/>
                </p:oleObj>
              </mc:Choice>
              <mc:Fallback>
                <p:oleObj spid="_x0000_s1046" name="公式" r:id="rId6" progId="Equation.3">
                  <p:embed/>
                  <p:pic>
                    <p:nvPicPr>
                      <p:cNvPr id="0" name="OLE substitute image"/>
                      <p:cNvPicPr/>
                      <p:nvPr/>
                    </p:nvPicPr>
                    <p:blipFill>
                      <a:blip r:embed="rId7"/>
                      <a:stretch/>
                    </p:blipFill>
                    <p:spPr>
                      <a:xfrm>
                        <a:off x="4354512" y="4806950"/>
                        <a:ext cx="1296988" cy="566738"/>
                      </a:xfrm>
                      <a:prstGeom prst="rect">
                        <a:avLst/>
                      </a:prstGeom>
                      <a:noFill/>
                      <a:effectLst/>
                    </p:spPr>
                  </p:pic>
                </p:oleObj>
              </mc:Fallback>
            </mc:AlternateContent>
          </a:graphicData>
        </a:graphic>
      </p:graphicFrame>
      <p:graphicFrame>
        <p:nvGraphicFramePr>
          <p:cNvPr id="12296" name="Object 8"/>
          <p:cNvGraphicFramePr>
            <a:graphicFrameLocks noChangeAspect="1"/>
          </p:cNvGraphicFramePr>
          <p:nvPr/>
        </p:nvGraphicFramePr>
        <p:xfrm>
          <a:off x="6227762" y="4857750"/>
          <a:ext cx="1008062" cy="515938"/>
        </p:xfrm>
        <a:graphic>
          <a:graphicData uri="http://schemas.openxmlformats.org/presentationml/2006/ole">
            <mc:AlternateContent xmlns:mc="http://schemas.openxmlformats.org/markup-compatibility/2006">
              <mc:Choice xmlns:v="urn:schemas-microsoft-com:vml" Requires="v">
                <p:oleObj spid="_x0000_s1047" name="公式" r:id="rId8" progId="Equation.3">
                  <p:embed/>
                </p:oleObj>
              </mc:Choice>
              <mc:Fallback>
                <p:oleObj spid="_x0000_s1047" name="公式" r:id="rId8" progId="Equation.3">
                  <p:embed/>
                  <p:pic>
                    <p:nvPicPr>
                      <p:cNvPr id="0" name="OLE substitute image"/>
                      <p:cNvPicPr/>
                      <p:nvPr/>
                    </p:nvPicPr>
                    <p:blipFill>
                      <a:blip r:embed="rId9"/>
                      <a:stretch/>
                    </p:blipFill>
                    <p:spPr>
                      <a:xfrm>
                        <a:off x="6227762" y="4857750"/>
                        <a:ext cx="1008062" cy="515938"/>
                      </a:xfrm>
                      <a:prstGeom prst="rect">
                        <a:avLst/>
                      </a:prstGeom>
                      <a:noFill/>
                      <a:effectLst/>
                    </p:spPr>
                  </p:pic>
                </p:oleObj>
              </mc:Fallback>
            </mc:AlternateContent>
          </a:graphicData>
        </a:graphic>
      </p:graphicFrame>
      <p:sp>
        <p:nvSpPr>
          <p:cNvPr id="12297" name="Rectangle 10"/>
          <p:cNvSpPr/>
          <p:nvPr/>
        </p:nvSpPr>
        <p:spPr>
          <a:xfrm>
            <a:off x="790575" y="4609557"/>
            <a:ext cx="8361779" cy="1848935"/>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20000"/>
              </a:lnSpc>
            </a:pPr>
            <a:r>
              <a:rPr lang="zh-CN" altLang="en-US" sz="2400">
                <a:effectLst/>
                <a:latin typeface="Times New Roman" pitchFamily="18" charset="0"/>
                <a:ea typeface="Times New Roman" pitchFamily="18" charset="0"/>
              </a:rPr>
              <a:t>用</a:t>
            </a:r>
            <a:r>
              <a:rPr lang="en-US" altLang="zh-CN" sz="2400">
                <a:effectLst/>
                <a:latin typeface="Times New Roman" pitchFamily="18" charset="0"/>
                <a:ea typeface="Times New Roman" pitchFamily="18" charset="0"/>
              </a:rPr>
              <a:t>LINGO</a:t>
            </a:r>
            <a:r>
              <a:rPr lang="zh-CN" altLang="en-US" sz="2400">
                <a:effectLst/>
                <a:latin typeface="Times New Roman" pitchFamily="18" charset="0"/>
                <a:ea typeface="Times New Roman" pitchFamily="18" charset="0"/>
              </a:rPr>
              <a:t>求解，得最优解                 ＝</a:t>
            </a:r>
            <a:r>
              <a:rPr lang="en-US" altLang="zh-CN" sz="2400">
                <a:effectLst/>
                <a:latin typeface="Times New Roman" pitchFamily="18" charset="0"/>
                <a:ea typeface="Times New Roman" pitchFamily="18" charset="0"/>
              </a:rPr>
              <a:t>0 </a:t>
            </a:r>
            <a:r>
              <a:rPr lang="zh-CN" altLang="en-US" sz="2400">
                <a:effectLst/>
                <a:latin typeface="Times New Roman" pitchFamily="18" charset="0"/>
                <a:ea typeface="Times New Roman" pitchFamily="18" charset="0"/>
              </a:rPr>
              <a:t>，          ，最优值为</a:t>
            </a:r>
            <a:r>
              <a:rPr lang="en-US" altLang="zh-CN" sz="2400">
                <a:effectLst/>
                <a:latin typeface="Times New Roman" pitchFamily="18" charset="0"/>
                <a:ea typeface="Times New Roman" pitchFamily="18" charset="0"/>
              </a:rPr>
              <a:t>6</a:t>
            </a:r>
            <a:r>
              <a:rPr lang="zh-CN" altLang="en-US" sz="2400">
                <a:effectLst/>
                <a:latin typeface="Times New Roman" pitchFamily="18" charset="0"/>
                <a:ea typeface="Times New Roman" pitchFamily="18" charset="0"/>
              </a:rPr>
              <a:t>。具体</a:t>
            </a:r>
            <a:r>
              <a:rPr lang="en-US" altLang="zh-CN" sz="2400">
                <a:effectLst/>
                <a:latin typeface="Times New Roman" pitchFamily="18" charset="0"/>
                <a:ea typeface="Times New Roman" pitchFamily="18" charset="0"/>
              </a:rPr>
              <a:t>LINGO</a:t>
            </a:r>
            <a:r>
              <a:rPr lang="zh-CN" altLang="en-US" sz="2400">
                <a:effectLst/>
                <a:latin typeface="Times New Roman" pitchFamily="18" charset="0"/>
                <a:ea typeface="Times New Roman" pitchFamily="18" charset="0"/>
              </a:rPr>
              <a:t>程序及输出信息如下：</a:t>
            </a:r>
            <a:r>
              <a:rPr lang="en-US" altLang="zh-CN" sz="2400">
                <a:effectLst/>
                <a:latin typeface="Times New Roman" pitchFamily="18" charset="0"/>
                <a:ea typeface="Times New Roman" pitchFamily="18" charset="0"/>
              </a:rPr>
              <a:t>LINGO</a:t>
            </a:r>
            <a:r>
              <a:rPr lang="zh-CN" altLang="en-US" sz="2400">
                <a:effectLst/>
                <a:latin typeface="Times New Roman" pitchFamily="18" charset="0"/>
                <a:ea typeface="Times New Roman" pitchFamily="18" charset="0"/>
              </a:rPr>
              <a:t>程序为（参见</a:t>
            </a:r>
            <a:r>
              <a:rPr lang="zh-CN" altLang="en-US" sz="2400">
                <a:solidFill>
                  <a:srgbClr val="FF0000"/>
                </a:solidFill>
                <a:effectLst/>
                <a:latin typeface="Times New Roman" pitchFamily="18" charset="0"/>
                <a:ea typeface="Times New Roman" pitchFamily="18" charset="0"/>
              </a:rPr>
              <a:t>图</a:t>
            </a:r>
            <a:r>
              <a:rPr lang="en-US" altLang="zh-CN" sz="2400">
                <a:solidFill>
                  <a:srgbClr val="FF0000"/>
                </a:solidFill>
                <a:effectLst/>
                <a:latin typeface="Times New Roman" pitchFamily="18" charset="0"/>
                <a:ea typeface="Times New Roman" pitchFamily="18" charset="0"/>
              </a:rPr>
              <a:t>4</a:t>
            </a:r>
            <a:r>
              <a:rPr lang="zh-CN" altLang="en-US" sz="2400">
                <a:solidFill>
                  <a:srgbClr val="FF0000"/>
                </a:solidFill>
                <a:effectLst/>
                <a:latin typeface="Times New Roman" pitchFamily="18" charset="0"/>
                <a:ea typeface="Times New Roman" pitchFamily="18" charset="0"/>
              </a:rPr>
              <a:t>）</a:t>
            </a:r>
            <a:r>
              <a:rPr lang="zh-CN" altLang="en-US" sz="2400">
                <a:effectLst/>
                <a:latin typeface="Times New Roman" pitchFamily="18" charset="0"/>
                <a:ea typeface="Times New Roman" pitchFamily="18" charset="0"/>
              </a:rPr>
              <a:t>： </a:t>
            </a:r>
          </a:p>
          <a:p>
            <a:pPr marL="0" lvl="0" indent="0">
              <a:lnSpc>
                <a:spcPct val="120000"/>
              </a:lnSpc>
            </a:pPr>
            <a:endParaRPr lang="en-US" altLang="zh-CN" sz="2400">
              <a:effectLst/>
              <a:latin typeface="Times New Roman" pitchFamily="18" charset="0"/>
              <a:ea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3314" name="Rectangle 3"/>
          <p:cNvSpPr/>
          <p:nvPr>
            <p:ph type="body" idx="4294967295"/>
          </p:nvPr>
        </p:nvSpPr>
        <p:spPr>
          <a:xfrm>
            <a:off x="457200" y="1600200"/>
            <a:ext cx="8229600" cy="4525962"/>
          </a:xfrm>
          <a:prstGeom prst="rect">
            <a:avLst/>
          </a:prstGeom>
          <a:noFill/>
          <a:ln>
            <a:miter lim="800000"/>
          </a:ln>
          <a:effectLst/>
        </p:spPr>
        <p:txBody>
          <a:bodyPr vert="horz" wrap="square" lIns="91440" tIns="45720" rIns="91440" bIns="45720" anchor="t" anchorCtr="0">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lvl="0" indent="0">
              <a:buNone/>
            </a:pPr>
            <a:r>
              <a:rPr lang="en-US" altLang="zh-CN">
                <a:effectLst/>
                <a:latin typeface="Times New Roman" pitchFamily="18" charset="0"/>
                <a:ea typeface="Times New Roman" pitchFamily="18" charset="0"/>
              </a:rPr>
              <a:t>model:</a:t>
            </a:r>
          </a:p>
          <a:p>
            <a:pPr marL="0" lvl="0" indent="0">
              <a:buNone/>
            </a:pPr>
            <a:r>
              <a:rPr lang="en-US" altLang="zh-CN">
                <a:effectLst/>
                <a:latin typeface="Times New Roman" pitchFamily="18" charset="0"/>
                <a:ea typeface="Times New Roman" pitchFamily="18" charset="0"/>
              </a:rPr>
              <a:t>min=d2_;</a:t>
            </a:r>
          </a:p>
          <a:p>
            <a:pPr marL="0" lvl="0" indent="0">
              <a:buNone/>
            </a:pPr>
            <a:r>
              <a:rPr lang="en-US" altLang="zh-CN">
                <a:effectLst/>
                <a:latin typeface="Times New Roman" pitchFamily="18" charset="0"/>
                <a:ea typeface="Times New Roman" pitchFamily="18" charset="0"/>
              </a:rPr>
              <a:t>10*x1+15*x2+d1_-d1=40;</a:t>
            </a:r>
          </a:p>
          <a:p>
            <a:pPr marL="0" lvl="0" indent="0">
              <a:buNone/>
            </a:pPr>
            <a:r>
              <a:rPr lang="en-US" altLang="zh-CN">
                <a:effectLst/>
                <a:latin typeface="Times New Roman" pitchFamily="18" charset="0"/>
                <a:ea typeface="Times New Roman" pitchFamily="18" charset="0"/>
              </a:rPr>
              <a:t>x1+x2+d2_-d2=10;</a:t>
            </a:r>
          </a:p>
          <a:p>
            <a:pPr marL="0" lvl="0" indent="0">
              <a:buNone/>
            </a:pPr>
            <a:r>
              <a:rPr lang="en-US" altLang="zh-CN">
                <a:effectLst/>
                <a:latin typeface="Times New Roman" pitchFamily="18" charset="0"/>
                <a:ea typeface="Times New Roman" pitchFamily="18" charset="0"/>
              </a:rPr>
              <a:t>d1=0;</a:t>
            </a:r>
          </a:p>
          <a:p>
            <a:pPr marL="0" lvl="0" indent="0">
              <a:buNone/>
            </a:pPr>
            <a:r>
              <a:rPr lang="en-US" altLang="zh-CN">
                <a:effectLst/>
                <a:latin typeface="Times New Roman" pitchFamily="18" charset="0"/>
                <a:ea typeface="Times New Roman" pitchFamily="18" charset="0"/>
              </a:rPr>
              <a:t>END</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pic>
        <p:nvPicPr>
          <p:cNvPr id="14338" name="Picture 4"/>
          <p:cNvPicPr/>
          <p:nvPr>
            <p:ph type="body" idx="4294967295"/>
          </p:nvPr>
        </p:nvPicPr>
        <p:blipFill>
          <a:blip r:embed="rId2"/>
          <a:stretch/>
        </p:blipFill>
        <p:spPr>
          <a:xfrm>
            <a:off x="1476375" y="549275"/>
            <a:ext cx="6040438" cy="4464050"/>
          </a:xfrm>
          <a:prstGeom prst="rect">
            <a:avLst/>
          </a:prstGeom>
          <a:noFill/>
          <a:ln>
            <a:miter lim="800000"/>
          </a:ln>
          <a:effectLst/>
        </p:spPr>
      </p:pic>
      <p:sp>
        <p:nvSpPr>
          <p:cNvPr id="14339" name="Rectangle 5"/>
          <p:cNvSpPr/>
          <p:nvPr/>
        </p:nvSpPr>
        <p:spPr>
          <a:xfrm>
            <a:off x="4178300" y="5244599"/>
            <a:ext cx="539019"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4</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5362" name="Rectangle 2"/>
          <p:cNvSpPr/>
          <p:nvPr>
            <p:ph type="title" idx="4294967295"/>
          </p:nvPr>
        </p:nvSpPr>
        <p:spPr>
          <a:xfrm>
            <a:off x="457200" y="274638"/>
            <a:ext cx="82296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r>
              <a:rPr lang="en-US" altLang="zh-CN" sz="2800">
                <a:effectLst/>
                <a:latin typeface="Times New Roman" pitchFamily="18" charset="0"/>
                <a:ea typeface="Times New Roman" pitchFamily="18" charset="0"/>
              </a:rPr>
              <a:t>LINGO</a:t>
            </a:r>
            <a:r>
              <a:rPr lang="zh-CN" altLang="en-US" sz="2800">
                <a:effectLst/>
              </a:rPr>
              <a:t>运算后输出为（参见图</a:t>
            </a:r>
            <a:r>
              <a:rPr lang="en-US" altLang="zh-CN" sz="2800">
                <a:effectLst/>
              </a:rPr>
              <a:t>5</a:t>
            </a:r>
            <a:r>
              <a:rPr lang="zh-CN" altLang="en-US" sz="2800">
                <a:effectLst/>
              </a:rPr>
              <a:t>）：</a:t>
            </a:r>
            <a:r>
              <a:rPr lang="zh-CN" altLang="en-US">
                <a:effectLst/>
              </a:rPr>
              <a:t> </a:t>
            </a:r>
          </a:p>
        </p:txBody>
      </p:sp>
      <p:pic>
        <p:nvPicPr>
          <p:cNvPr id="15363" name="Picture 4"/>
          <p:cNvPicPr/>
          <p:nvPr>
            <p:ph type="body" idx="4294967295"/>
          </p:nvPr>
        </p:nvPicPr>
        <p:blipFill>
          <a:blip r:embed="rId2"/>
          <a:stretch/>
        </p:blipFill>
        <p:spPr>
          <a:xfrm>
            <a:off x="1619250" y="1268412"/>
            <a:ext cx="5751512" cy="4313238"/>
          </a:xfrm>
          <a:prstGeom prst="rect">
            <a:avLst/>
          </a:prstGeom>
          <a:noFill/>
          <a:ln>
            <a:miter lim="800000"/>
          </a:ln>
          <a:effectLst/>
        </p:spPr>
      </p:pic>
      <p:sp>
        <p:nvSpPr>
          <p:cNvPr id="15364" name="Rectangle 5"/>
          <p:cNvSpPr/>
          <p:nvPr/>
        </p:nvSpPr>
        <p:spPr>
          <a:xfrm>
            <a:off x="3851275" y="5749424"/>
            <a:ext cx="602582"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5 </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6386" name="Rectangle 2"/>
          <p:cNvSpPr/>
          <p:nvPr>
            <p:ph type="title" idx="4294967295"/>
          </p:nvPr>
        </p:nvSpPr>
        <p:spPr>
          <a:xfrm>
            <a:off x="179388" y="277812"/>
            <a:ext cx="8507412" cy="1143000"/>
          </a:xfrm>
          <a:prstGeom prst="rect">
            <a:avLst/>
          </a:prstGeom>
          <a:noFill/>
          <a:ln>
            <a:miter lim="800000"/>
          </a:ln>
          <a:effectLst/>
        </p:spPr>
        <p:txBody>
          <a:bodyPr vert="horz" wrap="square" lIns="91440" tIns="45720" rIns="91440" bIns="45720" anchor="ctr" anchorCtr="0">
            <a:noAutofit/>
          </a:bodyPr>
          <a:lstStyle>
            <a:lvl1pPr marL="800100" indent="-800100" algn="ctr"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marL="800100" lvl="0" indent="-800100" algn="l"/>
            <a:r>
              <a:rPr lang="en-US" altLang="zh-CN" sz="2400">
                <a:effectLst/>
              </a:rPr>
              <a:t>  </a:t>
            </a:r>
            <a:r>
              <a:rPr lang="zh-CN" altLang="en-US" sz="2400">
                <a:effectLst/>
              </a:rPr>
              <a:t>对应于第三优先等级，将     ＝</a:t>
            </a:r>
            <a:r>
              <a:rPr lang="en-US" altLang="zh-CN" sz="2400">
                <a:effectLst/>
              </a:rPr>
              <a:t>0</a:t>
            </a:r>
            <a:r>
              <a:rPr lang="zh-CN" altLang="en-US" sz="2400">
                <a:effectLst/>
              </a:rPr>
              <a:t>，         作为约束条件，建立线性规划问题：</a:t>
            </a:r>
          </a:p>
        </p:txBody>
      </p:sp>
      <p:sp>
        <p:nvSpPr>
          <p:cNvPr id="16387" name="Rectangle 3"/>
          <p:cNvSpPr/>
          <p:nvPr>
            <p:ph type="body" idx="4294967295"/>
          </p:nvPr>
        </p:nvSpPr>
        <p:spPr>
          <a:xfrm>
            <a:off x="914400" y="4437062"/>
            <a:ext cx="8229600" cy="1693862"/>
          </a:xfrm>
          <a:prstGeom prst="rect">
            <a:avLst/>
          </a:prstGeom>
          <a:noFill/>
          <a:ln>
            <a:miter lim="800000"/>
          </a:ln>
          <a:effectLst/>
        </p:spPr>
        <p:txBody>
          <a:bodyPr vert="horz" wrap="square" lIns="91440" tIns="45720" rIns="91440" bIns="45720" anchor="t" anchorCtr="0">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lvl="0" indent="0">
              <a:lnSpc>
                <a:spcPct val="125000"/>
              </a:lnSpc>
              <a:buNone/>
            </a:pPr>
            <a:r>
              <a:rPr lang="zh-CN" altLang="en-US" sz="2400">
                <a:effectLst/>
                <a:latin typeface="Times New Roman" pitchFamily="18" charset="0"/>
                <a:ea typeface="Times New Roman" pitchFamily="18" charset="0"/>
              </a:rPr>
              <a:t>用</a:t>
            </a:r>
            <a:r>
              <a:rPr lang="en-US" altLang="zh-CN" sz="2400">
                <a:effectLst/>
                <a:latin typeface="Times New Roman" pitchFamily="18" charset="0"/>
                <a:ea typeface="Times New Roman" pitchFamily="18" charset="0"/>
              </a:rPr>
              <a:t>LINGO</a:t>
            </a:r>
            <a:r>
              <a:rPr lang="zh-CN" altLang="en-US" sz="2400">
                <a:effectLst/>
                <a:latin typeface="Times New Roman" pitchFamily="18" charset="0"/>
                <a:ea typeface="Times New Roman" pitchFamily="18" charset="0"/>
              </a:rPr>
              <a:t>求解，得最优解是                                              ，</a:t>
            </a:r>
          </a:p>
          <a:p>
            <a:pPr marL="0" lvl="0" indent="0">
              <a:lnSpc>
                <a:spcPct val="125000"/>
              </a:lnSpc>
              <a:buNone/>
            </a:pPr>
            <a:r>
              <a:rPr lang="zh-CN" altLang="en-US" sz="2400">
                <a:effectLst/>
                <a:latin typeface="Times New Roman" pitchFamily="18" charset="0"/>
                <a:ea typeface="Times New Roman" pitchFamily="18" charset="0"/>
              </a:rPr>
              <a:t>                      ，最优值为</a:t>
            </a:r>
            <a:r>
              <a:rPr lang="en-US" altLang="zh-CN" sz="2400">
                <a:effectLst/>
                <a:latin typeface="Times New Roman" pitchFamily="18" charset="0"/>
                <a:ea typeface="Times New Roman" pitchFamily="18" charset="0"/>
              </a:rPr>
              <a:t>7</a:t>
            </a:r>
            <a:r>
              <a:rPr lang="zh-CN" altLang="en-US" sz="2400">
                <a:effectLst/>
                <a:latin typeface="Times New Roman" pitchFamily="18" charset="0"/>
                <a:ea typeface="Times New Roman" pitchFamily="18" charset="0"/>
              </a:rPr>
              <a:t>。具体</a:t>
            </a:r>
            <a:r>
              <a:rPr lang="en-US" altLang="zh-CN" sz="2400">
                <a:effectLst/>
                <a:latin typeface="Times New Roman" pitchFamily="18" charset="0"/>
                <a:ea typeface="Times New Roman" pitchFamily="18" charset="0"/>
              </a:rPr>
              <a:t>LINGO</a:t>
            </a:r>
            <a:r>
              <a:rPr lang="zh-CN" altLang="en-US" sz="2400">
                <a:effectLst/>
                <a:latin typeface="Times New Roman" pitchFamily="18" charset="0"/>
                <a:ea typeface="Times New Roman" pitchFamily="18" charset="0"/>
              </a:rPr>
              <a:t>程序及输出信息如下（参见图</a:t>
            </a:r>
            <a:r>
              <a:rPr lang="en-US" altLang="zh-CN" sz="2400">
                <a:effectLst/>
                <a:latin typeface="Times New Roman" pitchFamily="18" charset="0"/>
                <a:ea typeface="Times New Roman" pitchFamily="18" charset="0"/>
              </a:rPr>
              <a:t>6</a:t>
            </a:r>
            <a:r>
              <a:rPr lang="zh-CN" altLang="en-US" sz="2400">
                <a:effectLst/>
                <a:latin typeface="Times New Roman" pitchFamily="18" charset="0"/>
                <a:ea typeface="Times New Roman" pitchFamily="18" charset="0"/>
              </a:rPr>
              <a:t>） ：</a:t>
            </a:r>
          </a:p>
        </p:txBody>
      </p:sp>
      <p:sp>
        <p:nvSpPr>
          <p:cNvPr id="16388" name="Rectangle 5"/>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6389" name="Object 4"/>
          <p:cNvGraphicFramePr>
            <a:graphicFrameLocks noChangeAspect="1"/>
          </p:cNvGraphicFramePr>
          <p:nvPr/>
        </p:nvGraphicFramePr>
        <p:xfrm>
          <a:off x="3779838" y="431800"/>
          <a:ext cx="354012" cy="404812"/>
        </p:xfrm>
        <a:graphic>
          <a:graphicData uri="http://schemas.openxmlformats.org/presentationml/2006/ole">
            <mc:AlternateContent xmlns:mc="http://schemas.openxmlformats.org/markup-compatibility/2006">
              <mc:Choice xmlns:v="urn:schemas-microsoft-com:vml" Requires="v">
                <p:oleObj spid="_x0000_s1048" name="公式" r:id="rId2" progId="Equation.3">
                  <p:embed/>
                </p:oleObj>
              </mc:Choice>
              <mc:Fallback>
                <p:oleObj spid="_x0000_s1048" name="公式" r:id="rId2" progId="Equation.3">
                  <p:embed/>
                  <p:pic>
                    <p:nvPicPr>
                      <p:cNvPr id="0" name="OLE substitute image"/>
                      <p:cNvPicPr/>
                      <p:nvPr/>
                    </p:nvPicPr>
                    <p:blipFill>
                      <a:blip r:embed="rId3"/>
                      <a:stretch/>
                    </p:blipFill>
                    <p:spPr>
                      <a:xfrm>
                        <a:off x="3779838" y="431800"/>
                        <a:ext cx="354012" cy="404812"/>
                      </a:xfrm>
                      <a:prstGeom prst="rect">
                        <a:avLst/>
                      </a:prstGeom>
                      <a:noFill/>
                      <a:effectLst/>
                    </p:spPr>
                  </p:pic>
                </p:oleObj>
              </mc:Fallback>
            </mc:AlternateContent>
          </a:graphicData>
        </a:graphic>
      </p:graphicFrame>
      <p:sp>
        <p:nvSpPr>
          <p:cNvPr id="16390" name="Rectangle 7"/>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6391" name="Object 6"/>
          <p:cNvGraphicFramePr>
            <a:graphicFrameLocks noChangeAspect="1"/>
          </p:cNvGraphicFramePr>
          <p:nvPr/>
        </p:nvGraphicFramePr>
        <p:xfrm>
          <a:off x="4932362" y="476250"/>
          <a:ext cx="755650" cy="385762"/>
        </p:xfrm>
        <a:graphic>
          <a:graphicData uri="http://schemas.openxmlformats.org/presentationml/2006/ole">
            <mc:AlternateContent xmlns:mc="http://schemas.openxmlformats.org/markup-compatibility/2006">
              <mc:Choice xmlns:v="urn:schemas-microsoft-com:vml" Requires="v">
                <p:oleObj spid="_x0000_s1049" name="公式" r:id="rId4" progId="Equation.3">
                  <p:embed/>
                </p:oleObj>
              </mc:Choice>
              <mc:Fallback>
                <p:oleObj spid="_x0000_s1049" name="公式" r:id="rId4" progId="Equation.3">
                  <p:embed/>
                  <p:pic>
                    <p:nvPicPr>
                      <p:cNvPr id="0" name="OLE substitute image"/>
                      <p:cNvPicPr/>
                      <p:nvPr/>
                    </p:nvPicPr>
                    <p:blipFill>
                      <a:blip r:embed="rId5"/>
                      <a:stretch/>
                    </p:blipFill>
                    <p:spPr>
                      <a:xfrm>
                        <a:off x="4932362" y="476250"/>
                        <a:ext cx="755650" cy="385762"/>
                      </a:xfrm>
                      <a:prstGeom prst="rect">
                        <a:avLst/>
                      </a:prstGeom>
                      <a:noFill/>
                      <a:effectLst/>
                    </p:spPr>
                  </p:pic>
                </p:oleObj>
              </mc:Fallback>
            </mc:AlternateContent>
          </a:graphicData>
        </a:graphic>
      </p:graphicFrame>
      <p:sp>
        <p:nvSpPr>
          <p:cNvPr id="16392" name="Rectangle 9"/>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6393" name="Object 8"/>
          <p:cNvGraphicFramePr>
            <a:graphicFrameLocks noChangeAspect="1"/>
          </p:cNvGraphicFramePr>
          <p:nvPr/>
        </p:nvGraphicFramePr>
        <p:xfrm>
          <a:off x="2987675" y="1390650"/>
          <a:ext cx="3529012" cy="2670175"/>
        </p:xfrm>
        <a:graphic>
          <a:graphicData uri="http://schemas.openxmlformats.org/presentationml/2006/ole">
            <mc:AlternateContent xmlns:mc="http://schemas.openxmlformats.org/markup-compatibility/2006">
              <mc:Choice xmlns:v="urn:schemas-microsoft-com:vml" Requires="v">
                <p:oleObj spid="_x0000_s1050" name="公式" r:id="rId6" progId="Equation.3">
                  <p:embed/>
                </p:oleObj>
              </mc:Choice>
              <mc:Fallback>
                <p:oleObj spid="_x0000_s1050" name="公式" r:id="rId6" progId="Equation.3">
                  <p:embed/>
                  <p:pic>
                    <p:nvPicPr>
                      <p:cNvPr id="0" name="OLE substitute image"/>
                      <p:cNvPicPr/>
                      <p:nvPr/>
                    </p:nvPicPr>
                    <p:blipFill>
                      <a:blip r:embed="rId7"/>
                      <a:stretch/>
                    </p:blipFill>
                    <p:spPr>
                      <a:xfrm>
                        <a:off x="2987675" y="1390650"/>
                        <a:ext cx="3529012" cy="2670175"/>
                      </a:xfrm>
                      <a:prstGeom prst="rect">
                        <a:avLst/>
                      </a:prstGeom>
                      <a:noFill/>
                      <a:effectLst/>
                    </p:spPr>
                  </p:pic>
                </p:oleObj>
              </mc:Fallback>
            </mc:AlternateContent>
          </a:graphicData>
        </a:graphic>
      </p:graphicFrame>
      <p:sp>
        <p:nvSpPr>
          <p:cNvPr id="16394" name="Rectangle 11"/>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6395" name="Object 10"/>
          <p:cNvGraphicFramePr>
            <a:graphicFrameLocks noChangeAspect="1"/>
          </p:cNvGraphicFramePr>
          <p:nvPr/>
        </p:nvGraphicFramePr>
        <p:xfrm>
          <a:off x="4643438" y="4486275"/>
          <a:ext cx="1763712" cy="455612"/>
        </p:xfrm>
        <a:graphic>
          <a:graphicData uri="http://schemas.openxmlformats.org/presentationml/2006/ole">
            <mc:AlternateContent xmlns:mc="http://schemas.openxmlformats.org/markup-compatibility/2006">
              <mc:Choice xmlns:v="urn:schemas-microsoft-com:vml" Requires="v">
                <p:oleObj spid="_x0000_s1051" name="公式" r:id="rId8" progId="Equation.3">
                  <p:embed/>
                </p:oleObj>
              </mc:Choice>
              <mc:Fallback>
                <p:oleObj spid="_x0000_s1051" name="公式" r:id="rId8" progId="Equation.3">
                  <p:embed/>
                  <p:pic>
                    <p:nvPicPr>
                      <p:cNvPr id="0" name="OLE substitute image"/>
                      <p:cNvPicPr/>
                      <p:nvPr/>
                    </p:nvPicPr>
                    <p:blipFill>
                      <a:blip r:embed="rId9"/>
                      <a:stretch/>
                    </p:blipFill>
                    <p:spPr>
                      <a:xfrm>
                        <a:off x="4643438" y="4486275"/>
                        <a:ext cx="1763712" cy="455612"/>
                      </a:xfrm>
                      <a:prstGeom prst="rect">
                        <a:avLst/>
                      </a:prstGeom>
                      <a:noFill/>
                      <a:effectLst/>
                    </p:spPr>
                  </p:pic>
                </p:oleObj>
              </mc:Fallback>
            </mc:AlternateContent>
          </a:graphicData>
        </a:graphic>
      </p:graphicFrame>
      <p:sp>
        <p:nvSpPr>
          <p:cNvPr id="16396" name="Rectangle 13"/>
          <p:cNvSpPr/>
          <p:nvPr/>
        </p:nvSpPr>
        <p:spPr>
          <a:xfrm>
            <a:off x="0" y="3131637"/>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6397" name="Object 12"/>
          <p:cNvGraphicFramePr>
            <a:graphicFrameLocks noChangeAspect="1"/>
          </p:cNvGraphicFramePr>
          <p:nvPr/>
        </p:nvGraphicFramePr>
        <p:xfrm>
          <a:off x="6516688" y="4508500"/>
          <a:ext cx="1633538" cy="485775"/>
        </p:xfrm>
        <a:graphic>
          <a:graphicData uri="http://schemas.openxmlformats.org/presentationml/2006/ole">
            <mc:AlternateContent xmlns:mc="http://schemas.openxmlformats.org/markup-compatibility/2006">
              <mc:Choice xmlns:v="urn:schemas-microsoft-com:vml" Requires="v">
                <p:oleObj spid="_x0000_s1052" name="公式" r:id="rId10" progId="Equation.3">
                  <p:embed/>
                </p:oleObj>
              </mc:Choice>
              <mc:Fallback>
                <p:oleObj spid="_x0000_s1052" name="公式" r:id="rId10" progId="Equation.3">
                  <p:embed/>
                  <p:pic>
                    <p:nvPicPr>
                      <p:cNvPr id="0" name="OLE substitute image"/>
                      <p:cNvPicPr/>
                      <p:nvPr/>
                    </p:nvPicPr>
                    <p:blipFill>
                      <a:blip r:embed="rId11"/>
                      <a:stretch/>
                    </p:blipFill>
                    <p:spPr>
                      <a:xfrm>
                        <a:off x="6516688" y="4508500"/>
                        <a:ext cx="1633538" cy="485775"/>
                      </a:xfrm>
                      <a:prstGeom prst="rect">
                        <a:avLst/>
                      </a:prstGeom>
                      <a:noFill/>
                      <a:effectLst/>
                    </p:spPr>
                  </p:pic>
                </p:oleObj>
              </mc:Fallback>
            </mc:AlternateContent>
          </a:graphicData>
        </a:graphic>
      </p:graphicFrame>
      <p:sp>
        <p:nvSpPr>
          <p:cNvPr id="16398" name="Rectangle 15"/>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16399" name="Object 14"/>
          <p:cNvGraphicFramePr>
            <a:graphicFrameLocks noChangeAspect="1"/>
          </p:cNvGraphicFramePr>
          <p:nvPr/>
        </p:nvGraphicFramePr>
        <p:xfrm>
          <a:off x="684212" y="5016500"/>
          <a:ext cx="1944688" cy="523875"/>
        </p:xfrm>
        <a:graphic>
          <a:graphicData uri="http://schemas.openxmlformats.org/presentationml/2006/ole">
            <mc:AlternateContent xmlns:mc="http://schemas.openxmlformats.org/markup-compatibility/2006">
              <mc:Choice xmlns:v="urn:schemas-microsoft-com:vml" Requires="v">
                <p:oleObj spid="_x0000_s1053" name="公式" r:id="rId12" progId="Equation.3">
                  <p:embed/>
                </p:oleObj>
              </mc:Choice>
              <mc:Fallback>
                <p:oleObj spid="_x0000_s1053" name="公式" r:id="rId12" progId="Equation.3">
                  <p:embed/>
                  <p:pic>
                    <p:nvPicPr>
                      <p:cNvPr id="0" name="OLE substitute image"/>
                      <p:cNvPicPr/>
                      <p:nvPr/>
                    </p:nvPicPr>
                    <p:blipFill>
                      <a:blip r:embed="rId13"/>
                      <a:stretch/>
                    </p:blipFill>
                    <p:spPr>
                      <a:xfrm>
                        <a:off x="684212" y="5016500"/>
                        <a:ext cx="1944688" cy="523875"/>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7410" name="Rectangle 3"/>
          <p:cNvSpPr>
            <a:spLocks noGrp="1" noChangeArrowheads="1"/>
          </p:cNvSpPr>
          <p:nvPr>
            <p:ph type="body" idx="4294967295"/>
          </p:nvPr>
        </p:nvSpPr>
        <p:spPr>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a:buNone/>
            </a:pPr>
            <a:r>
              <a:rPr lang="en-US" altLang="zh-CN">
                <a:effectLst/>
                <a:latin typeface="Times New Roman" pitchFamily="18" charset="0"/>
                <a:ea typeface="Times New Roman" pitchFamily="18" charset="0"/>
              </a:rPr>
              <a:t>model:</a:t>
            </a:r>
          </a:p>
          <a:p>
            <a:pPr marL="0" marR="0" lvl="0" indent="0">
              <a:buNone/>
            </a:pPr>
            <a:r>
              <a:rPr lang="en-US" altLang="zh-CN">
                <a:effectLst/>
                <a:latin typeface="Times New Roman" pitchFamily="18" charset="0"/>
                <a:ea typeface="Times New Roman" pitchFamily="18" charset="0"/>
              </a:rPr>
              <a:t>min=d3_;</a:t>
            </a:r>
          </a:p>
          <a:p>
            <a:pPr marL="0" marR="0" lvl="0" indent="0">
              <a:buNone/>
            </a:pPr>
            <a:r>
              <a:rPr lang="en-US" altLang="zh-CN">
                <a:effectLst/>
                <a:latin typeface="Times New Roman" pitchFamily="18" charset="0"/>
                <a:ea typeface="Times New Roman" pitchFamily="18" charset="0"/>
              </a:rPr>
              <a:t>10*x1+15*x2+d1_-d1=40;</a:t>
            </a:r>
          </a:p>
          <a:p>
            <a:pPr marL="0" marR="0" lvl="0" indent="0">
              <a:buNone/>
            </a:pPr>
            <a:r>
              <a:rPr lang="en-US" altLang="zh-CN">
                <a:effectLst/>
                <a:latin typeface="Times New Roman" pitchFamily="18" charset="0"/>
                <a:ea typeface="Times New Roman" pitchFamily="18" charset="0"/>
              </a:rPr>
              <a:t>x1+x2+d2_-d2=10;</a:t>
            </a:r>
          </a:p>
          <a:p>
            <a:pPr marL="0" marR="0" lvl="0" indent="0">
              <a:buNone/>
            </a:pPr>
            <a:r>
              <a:rPr lang="en-US" altLang="zh-CN">
                <a:effectLst/>
                <a:latin typeface="Times New Roman" pitchFamily="18" charset="0"/>
                <a:ea typeface="Times New Roman" pitchFamily="18" charset="0"/>
              </a:rPr>
              <a:t>x2+d3_-d3=7;</a:t>
            </a:r>
          </a:p>
          <a:p>
            <a:pPr marL="0" marR="0" lvl="0" indent="0">
              <a:buNone/>
            </a:pPr>
            <a:r>
              <a:rPr lang="en-US" altLang="zh-CN">
                <a:effectLst/>
                <a:latin typeface="Times New Roman" pitchFamily="18" charset="0"/>
                <a:ea typeface="Times New Roman" pitchFamily="18" charset="0"/>
              </a:rPr>
              <a:t>d1=0;</a:t>
            </a:r>
          </a:p>
          <a:p>
            <a:pPr marL="0" marR="0" lvl="0" indent="0">
              <a:buNone/>
            </a:pPr>
            <a:r>
              <a:rPr lang="en-US" altLang="zh-CN">
                <a:effectLst/>
                <a:latin typeface="Times New Roman" pitchFamily="18" charset="0"/>
                <a:ea typeface="Times New Roman" pitchFamily="18" charset="0"/>
              </a:rPr>
              <a:t>d2_=6;</a:t>
            </a:r>
          </a:p>
          <a:p>
            <a:pPr marL="0" marR="0" lvl="0" indent="0">
              <a:buNone/>
            </a:pPr>
            <a:r>
              <a:rPr lang="en-US" altLang="zh-CN">
                <a:effectLst/>
                <a:latin typeface="Times New Roman" pitchFamily="18" charset="0"/>
                <a:ea typeface="Times New Roman" pitchFamily="18" charset="0"/>
              </a:rPr>
              <a:t>END</a:t>
            </a:r>
          </a:p>
          <a:p>
            <a:pPr marL="342900" marR="0" lvl="0" indent="-342900"/>
            <a:endParaRPr lang="en-US" altLang="zh-CN">
              <a:effectLst/>
              <a:latin typeface="Times New Roman" pitchFamily="18" charset="0"/>
              <a:ea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pic>
        <p:nvPicPr>
          <p:cNvPr id="18434" name="Picture 4"/>
          <p:cNvPicPr/>
          <p:nvPr>
            <p:ph type="body" idx="4294967295"/>
          </p:nvPr>
        </p:nvPicPr>
        <p:blipFill>
          <a:blip r:embed="rId2"/>
          <a:stretch/>
        </p:blipFill>
        <p:spPr>
          <a:xfrm>
            <a:off x="1763712" y="620712"/>
            <a:ext cx="6040438" cy="4530725"/>
          </a:xfrm>
          <a:prstGeom prst="rect">
            <a:avLst/>
          </a:prstGeom>
          <a:noFill/>
          <a:ln>
            <a:miter lim="800000"/>
          </a:ln>
          <a:effectLst/>
        </p:spPr>
      </p:pic>
      <p:sp>
        <p:nvSpPr>
          <p:cNvPr id="18435" name="Rectangle 5"/>
          <p:cNvSpPr/>
          <p:nvPr/>
        </p:nvSpPr>
        <p:spPr>
          <a:xfrm>
            <a:off x="3995738" y="5389063"/>
            <a:ext cx="602582"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6 </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9458" name="Rectangle 2"/>
          <p:cNvSpPr/>
          <p:nvPr>
            <p:ph type="title" idx="4294967295"/>
          </p:nvPr>
        </p:nvSpPr>
        <p:spPr>
          <a:xfrm>
            <a:off x="457200" y="274638"/>
            <a:ext cx="82296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r>
              <a:rPr lang="en-US" altLang="zh-CN" sz="2400">
                <a:effectLst/>
                <a:latin typeface="Times New Roman" pitchFamily="18" charset="0"/>
                <a:ea typeface="Times New Roman" pitchFamily="18" charset="0"/>
              </a:rPr>
              <a:t>LINGO</a:t>
            </a:r>
            <a:r>
              <a:rPr lang="zh-CN" altLang="en-US" sz="2400">
                <a:effectLst/>
              </a:rPr>
              <a:t>运算后输出为：（参见图</a:t>
            </a:r>
            <a:r>
              <a:rPr lang="en-US" altLang="zh-CN" sz="2400">
                <a:effectLst/>
              </a:rPr>
              <a:t>7</a:t>
            </a:r>
            <a:r>
              <a:rPr lang="zh-CN" altLang="en-US" sz="2400">
                <a:effectLst/>
              </a:rPr>
              <a:t>）</a:t>
            </a:r>
          </a:p>
        </p:txBody>
      </p:sp>
      <p:pic>
        <p:nvPicPr>
          <p:cNvPr id="19459" name="Picture 4"/>
          <p:cNvPicPr/>
          <p:nvPr>
            <p:ph type="body" idx="4294967295"/>
          </p:nvPr>
        </p:nvPicPr>
        <p:blipFill>
          <a:blip r:embed="rId2"/>
          <a:stretch/>
        </p:blipFill>
        <p:spPr>
          <a:xfrm>
            <a:off x="1619250" y="1341438"/>
            <a:ext cx="5408612" cy="4056062"/>
          </a:xfrm>
          <a:prstGeom prst="rect">
            <a:avLst/>
          </a:prstGeom>
          <a:noFill/>
          <a:ln>
            <a:miter lim="800000"/>
          </a:ln>
          <a:effectLst/>
        </p:spPr>
      </p:pic>
      <p:sp>
        <p:nvSpPr>
          <p:cNvPr id="19460" name="Rectangle 5"/>
          <p:cNvSpPr/>
          <p:nvPr/>
        </p:nvSpPr>
        <p:spPr>
          <a:xfrm>
            <a:off x="3779838" y="5604963"/>
            <a:ext cx="602582"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a:effectLst/>
              </a:rPr>
              <a:t>图</a:t>
            </a:r>
            <a:r>
              <a:rPr lang="en-US" altLang="zh-CN">
                <a:effectLst/>
              </a:rPr>
              <a:t>7 </a:t>
            </a:r>
          </a:p>
        </p:txBody>
      </p:sp>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1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0482" name="Rectangle 3"/>
          <p:cNvSpPr/>
          <p:nvPr>
            <p:ph type="body" idx="4294967295"/>
          </p:nvPr>
        </p:nvSpPr>
        <p:spPr>
          <a:xfrm>
            <a:off x="457200" y="1600200"/>
            <a:ext cx="8229600" cy="4525962"/>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lvl="0"/>
            <a:r>
              <a:t>因此，                         ＝0，                  就是目标规划的满意解。</a:t>
            </a:r>
          </a:p>
        </p:txBody>
      </p:sp>
      <p:sp>
        <p:nvSpPr>
          <p:cNvPr id="20483" name="Rectangle 5"/>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20484" name="Object 4"/>
          <p:cNvGraphicFramePr>
            <a:graphicFrameLocks noChangeAspect="1"/>
          </p:cNvGraphicFramePr>
          <p:nvPr/>
        </p:nvGraphicFramePr>
        <p:xfrm>
          <a:off x="1979612" y="1670050"/>
          <a:ext cx="1798638" cy="463550"/>
        </p:xfrm>
        <a:graphic>
          <a:graphicData uri="http://schemas.openxmlformats.org/presentationml/2006/ole">
            <mc:AlternateContent xmlns:mc="http://schemas.openxmlformats.org/markup-compatibility/2006">
              <mc:Choice xmlns:v="urn:schemas-microsoft-com:vml" Requires="v">
                <p:oleObj spid="_x0000_s1054" name="公式" r:id="rId2" progId="Equation.3">
                  <p:embed/>
                </p:oleObj>
              </mc:Choice>
              <mc:Fallback>
                <p:oleObj spid="_x0000_s1054" name="公式" r:id="rId2" progId="Equation.3">
                  <p:embed/>
                  <p:pic>
                    <p:nvPicPr>
                      <p:cNvPr id="0" name="OLE substitute image"/>
                      <p:cNvPicPr/>
                      <p:nvPr/>
                    </p:nvPicPr>
                    <p:blipFill>
                      <a:blip r:embed="rId3"/>
                      <a:stretch/>
                    </p:blipFill>
                    <p:spPr>
                      <a:xfrm>
                        <a:off x="1979612" y="1670050"/>
                        <a:ext cx="1798638" cy="463550"/>
                      </a:xfrm>
                      <a:prstGeom prst="rect">
                        <a:avLst/>
                      </a:prstGeom>
                      <a:noFill/>
                      <a:effectLst/>
                    </p:spPr>
                  </p:pic>
                </p:oleObj>
              </mc:Fallback>
            </mc:AlternateContent>
          </a:graphicData>
        </a:graphic>
      </p:graphicFrame>
      <p:sp>
        <p:nvSpPr>
          <p:cNvPr id="20485" name="Rectangle 7"/>
          <p:cNvSpPr/>
          <p:nvPr/>
        </p:nvSpPr>
        <p:spPr>
          <a:xfrm>
            <a:off x="0" y="-183063"/>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20486" name="Object 6"/>
          <p:cNvGraphicFramePr>
            <a:graphicFrameLocks noChangeAspect="1"/>
          </p:cNvGraphicFramePr>
          <p:nvPr/>
        </p:nvGraphicFramePr>
        <p:xfrm>
          <a:off x="3779838" y="1628775"/>
          <a:ext cx="1152525" cy="503238"/>
        </p:xfrm>
        <a:graphic>
          <a:graphicData uri="http://schemas.openxmlformats.org/presentationml/2006/ole">
            <mc:AlternateContent xmlns:mc="http://schemas.openxmlformats.org/markup-compatibility/2006">
              <mc:Choice xmlns:v="urn:schemas-microsoft-com:vml" Requires="v">
                <p:oleObj spid="_x0000_s1055" name="公式" r:id="rId4" progId="Equation.3">
                  <p:embed/>
                </p:oleObj>
              </mc:Choice>
              <mc:Fallback>
                <p:oleObj spid="_x0000_s1055" name="公式" r:id="rId4" progId="Equation.3">
                  <p:embed/>
                  <p:pic>
                    <p:nvPicPr>
                      <p:cNvPr id="0" name="OLE substitute image"/>
                      <p:cNvPicPr/>
                      <p:nvPr/>
                    </p:nvPicPr>
                    <p:blipFill>
                      <a:blip r:embed="rId5"/>
                      <a:stretch/>
                    </p:blipFill>
                    <p:spPr>
                      <a:xfrm>
                        <a:off x="3779838" y="1628775"/>
                        <a:ext cx="1152525" cy="503238"/>
                      </a:xfrm>
                      <a:prstGeom prst="rect">
                        <a:avLst/>
                      </a:prstGeom>
                      <a:noFill/>
                      <a:effectLst/>
                    </p:spPr>
                  </p:pic>
                </p:oleObj>
              </mc:Fallback>
            </mc:AlternateContent>
          </a:graphicData>
        </a:graphic>
      </p:graphicFrame>
      <p:sp>
        <p:nvSpPr>
          <p:cNvPr id="20487" name="Rectangle 9"/>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20488" name="Object 8"/>
          <p:cNvGraphicFramePr>
            <a:graphicFrameLocks noChangeAspect="1"/>
          </p:cNvGraphicFramePr>
          <p:nvPr/>
        </p:nvGraphicFramePr>
        <p:xfrm>
          <a:off x="5867400" y="1639888"/>
          <a:ext cx="1835150" cy="493712"/>
        </p:xfrm>
        <a:graphic>
          <a:graphicData uri="http://schemas.openxmlformats.org/presentationml/2006/ole">
            <mc:AlternateContent xmlns:mc="http://schemas.openxmlformats.org/markup-compatibility/2006">
              <mc:Choice xmlns:v="urn:schemas-microsoft-com:vml" Requires="v">
                <p:oleObj spid="_x0000_s1056" name="公式" r:id="rId6" progId="Equation.3">
                  <p:embed/>
                </p:oleObj>
              </mc:Choice>
              <mc:Fallback>
                <p:oleObj spid="_x0000_s1056" name="公式" r:id="rId6" progId="Equation.3">
                  <p:embed/>
                  <p:pic>
                    <p:nvPicPr>
                      <p:cNvPr id="0" name="OLE substitute image"/>
                      <p:cNvPicPr/>
                      <p:nvPr/>
                    </p:nvPicPr>
                    <p:blipFill>
                      <a:blip r:embed="rId7"/>
                      <a:stretch/>
                    </p:blipFill>
                    <p:spPr>
                      <a:xfrm>
                        <a:off x="5867400" y="1639888"/>
                        <a:ext cx="1835150" cy="493712"/>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00">
        <p:cut/>
      </p:transition>
    </mc:Choice>
    <mc:Fallback>
      <p:transition spd="slow">
        <p:cut/>
      </p:transition>
    </mc:Fallback>
  </mc:AlternateContent>
  <p:timing/>
</p:sld>
</file>

<file path=ppt/slides/slide2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1506" name="Rectangle 2"/>
          <p:cNvSpPr>
            <a:spLocks noGrp="1" noChangeArrowheads="1"/>
          </p:cNvSpPr>
          <p:nvPr>
            <p:ph type="title" idx="4294967295"/>
          </p:nvPr>
        </p:nvSpPr>
        <p:spPr>
          <a:xfrm>
            <a:off x="611188" y="2636838"/>
            <a:ext cx="8229600" cy="1143000"/>
          </a:xfrm>
          <a:effectLst/>
        </p:spPr>
        <p:txBody>
          <a:bodyPr vert="horz" wrap="square" lIns="91440" tIns="45720" rIns="91440" bIns="45720" anchor="ctr" anchorCtr="0" compatLnSpc="1">
            <a:prstTxWarp prst="textNoShape">
              <a:avLst/>
            </a:prstTxWarp>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marL="0" marR="0" lvl="0" indent="0" eaLnBrk="1" hangingPunct="1"/>
            <a:r>
              <a:rPr lang="zh-CN" altLang="en-US" sz="3600" b="1">
                <a:effectLst/>
                <a:latin typeface="黑体" pitchFamily="49" charset="-122"/>
                <a:ea typeface="黑体" pitchFamily="49" charset="-122"/>
              </a:rPr>
              <a:t>第一部分</a:t>
            </a:r>
            <a:r>
              <a:rPr lang="zh-CN" altLang="en-US" sz="3600">
                <a:effectLst/>
                <a:latin typeface="黑体" pitchFamily="49" charset="-122"/>
                <a:ea typeface="黑体" pitchFamily="49" charset="-122"/>
              </a:rPr>
              <a:t>  </a:t>
            </a:r>
            <a:r>
              <a:rPr kumimoji="1" lang="zh-CN" altLang="en-US" sz="3600" b="1">
                <a:solidFill>
                  <a:schemeClr val="tx1"/>
                </a:solidFill>
                <a:effectLst/>
                <a:latin typeface="黑体" pitchFamily="49" charset="-122"/>
                <a:ea typeface="黑体" pitchFamily="49" charset="-122"/>
              </a:rPr>
              <a:t>多目标决策的基本概况</a:t>
            </a:r>
            <a:br>
              <a:rPr kumimoji="1" lang="zh-CN" altLang="en-US" sz="3600">
                <a:solidFill>
                  <a:schemeClr val="tx1"/>
                </a:solidFill>
                <a:effectLst>
                  <a:outerShdw blurRad="38100" dist="38100" dir="2700000" algn="tl">
                    <a:schemeClr val="bg2"/>
                  </a:outerShdw>
                </a:effectLst>
                <a:latin typeface="黑体" pitchFamily="49" charset="-122"/>
                <a:ea typeface="黑体" pitchFamily="49" charset="-122"/>
              </a:rPr>
            </a:br>
            <a:endParaRPr kumimoji="1" lang="zh-CN" altLang="en-US" sz="3600">
              <a:solidFill>
                <a:schemeClr val="tx1"/>
              </a:solidFill>
              <a:effectLst>
                <a:outerShdw blurRad="38100" dist="38100" dir="2700000" algn="tl">
                  <a:schemeClr val="bg2"/>
                </a:outerShdw>
              </a:effectLst>
              <a:latin typeface="黑体" pitchFamily="49" charset="-122"/>
              <a:ea typeface="黑体" pitchFamily="49" charset="-122"/>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2530" name="Rectangle 3"/>
          <p:cNvSpPr>
            <a:spLocks noGrp="1" noChangeArrowheads="1"/>
          </p:cNvSpPr>
          <p:nvPr>
            <p:ph type="body" idx="4294967295"/>
          </p:nvPr>
        </p:nvSpPr>
        <p:spPr>
          <a:xfrm>
            <a:off x="395288" y="765175"/>
            <a:ext cx="8229600" cy="5543550"/>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eaLnBrk="1" hangingPunct="1">
              <a:lnSpc>
                <a:spcPct val="80000"/>
              </a:lnSpc>
              <a:buNone/>
            </a:pPr>
            <a:r>
              <a:rPr lang="zh-CN" altLang="en-US" sz="2800">
                <a:effectLst/>
                <a:latin typeface="宋体" pitchFamily="2" charset="-122"/>
              </a:rPr>
              <a:t>    本章将从多目标决策（也称多目标规划）方法的作用出发，通过分析简单的多目标决策问题的几个案例，阐述多目标决策的基本概念。任何决策问题的解决主要依赖于所谓的决策者和分析者。决策者一般指有权挑选行动方案，并能够从中选择满意方案作为最终决策的人员。政府官员、企业行政管理人员均为某类问题的决策者。</a:t>
            </a:r>
          </a:p>
          <a:p>
            <a:pPr marL="342900" marR="0" lvl="0" indent="-342900" eaLnBrk="1" hangingPunct="1">
              <a:lnSpc>
                <a:spcPct val="80000"/>
              </a:lnSpc>
            </a:pPr>
            <a:endParaRPr lang="zh-CN" altLang="en-US" sz="2800">
              <a:effectLst/>
              <a:latin typeface="宋体" pitchFamily="2" charset="-122"/>
            </a:endParaRPr>
          </a:p>
          <a:p>
            <a:pPr marL="0" marR="0" lvl="0" indent="0" eaLnBrk="1" hangingPunct="1">
              <a:lnSpc>
                <a:spcPct val="80000"/>
              </a:lnSpc>
              <a:buNone/>
            </a:pPr>
            <a:r>
              <a:rPr lang="zh-CN" altLang="en-US" sz="2800">
                <a:effectLst/>
                <a:latin typeface="宋体" pitchFamily="2" charset="-122"/>
              </a:rPr>
              <a:t>    决策者的作用是：评价和判断各目标的相对重要性；根据目标的当前水平值以及主观的判断和经验，提供关于决策方案的偏好信息。分析者一般指能够提供可行方案和各目标之间的折中信息的人或机器，比如经济学家、工程师、系统分析员、社会学家、计算机等。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22530">
                                            <p:txEl>
                                              <p:charRg st="0" end="149"/>
                                            </p:txEl>
                                          </p:spTgt>
                                        </p:tgtEl>
                                        <p:attrNameLst>
                                          <p:attrName>style.visibility</p:attrName>
                                        </p:attrNameLst>
                                      </p:cBhvr>
                                      <p:to>
                                        <p:strVal val="visible"/>
                                      </p:to>
                                    </p:set>
                                    <p:animEffect transition="in" filter="blinds(horizontal)">
                                      <p:cBhvr additive="base">
                                        <p:cTn id="7" dur="500"/>
                                        <p:tgtEl>
                                          <p:spTgt spid="22530">
                                            <p:txEl>
                                              <p:charRg st="0" end="149"/>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22530">
                                            <p:txEl>
                                              <p:charRg st="150" end="272"/>
                                            </p:txEl>
                                          </p:spTgt>
                                        </p:tgtEl>
                                        <p:attrNameLst>
                                          <p:attrName>style.visibility</p:attrName>
                                        </p:attrNameLst>
                                      </p:cBhvr>
                                      <p:to>
                                        <p:strVal val="visible"/>
                                      </p:to>
                                    </p:set>
                                    <p:animEffect transition="in" filter="blinds(horizontal)">
                                      <p:cBhvr additive="base">
                                        <p:cTn id="13" dur="500"/>
                                        <p:tgtEl>
                                          <p:spTgt spid="22530">
                                            <p:txEl>
                                              <p:charRg st="150" end="2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3554" name="Rectangle 3"/>
          <p:cNvSpPr>
            <a:spLocks noGrp="1" noChangeArrowheads="1"/>
          </p:cNvSpPr>
          <p:nvPr>
            <p:ph type="body" idx="4294967295"/>
          </p:nvPr>
        </p:nvSpPr>
        <p:spPr>
          <a:xfrm>
            <a:off x="468313" y="908050"/>
            <a:ext cx="8229600" cy="5041900"/>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buNone/>
            </a:pPr>
            <a:r>
              <a:rPr lang="zh-CN" altLang="en-US" sz="2800">
                <a:effectLst/>
                <a:latin typeface="宋体" pitchFamily="2" charset="-122"/>
              </a:rPr>
              <a:t>    只有一个目标的决策问题称为单目标决策（或</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单目标规划）问题，相应的解题方法称为单目标方</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法。具有</a:t>
            </a:r>
            <a:r>
              <a:rPr lang="en-US" altLang="zh-CN" sz="2800">
                <a:effectLst/>
                <a:latin typeface="宋体" pitchFamily="2" charset="-122"/>
              </a:rPr>
              <a:t>2</a:t>
            </a:r>
            <a:r>
              <a:rPr lang="zh-CN" altLang="en-US" sz="2800">
                <a:effectLst/>
                <a:latin typeface="宋体" pitchFamily="2" charset="-122"/>
              </a:rPr>
              <a:t>个或</a:t>
            </a:r>
            <a:r>
              <a:rPr lang="en-US" altLang="zh-CN" sz="2800">
                <a:effectLst/>
                <a:latin typeface="宋体" pitchFamily="2" charset="-122"/>
              </a:rPr>
              <a:t>2</a:t>
            </a:r>
            <a:r>
              <a:rPr lang="zh-CN" altLang="en-US" sz="2800">
                <a:effectLst/>
                <a:latin typeface="宋体" pitchFamily="2" charset="-122"/>
              </a:rPr>
              <a:t>个以上目标的决策问题称为多目标</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决策问题，相应的求解方法称为多目标方法。从方</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法的特点来看，单目标方法强调分析者的作用，忽</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视决策者的作用。而多目标方法则由决策者探寻</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和确定备选的可行方案范围，评价目标的相对价值。</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从求解过程来看，单目标方法采用统一的单一度量</a:t>
            </a:r>
            <a:endParaRPr lang="en-US" altLang="zh-CN" sz="2800">
              <a:effectLst/>
              <a:latin typeface="宋体" pitchFamily="2" charset="-122"/>
            </a:endParaRPr>
          </a:p>
          <a:p>
            <a:pPr marL="342900" marR="0" lvl="0" indent="-342900" eaLnBrk="1" hangingPunct="1">
              <a:buNone/>
            </a:pPr>
            <a:r>
              <a:rPr lang="zh-CN" altLang="en-US" sz="2800">
                <a:effectLst/>
                <a:latin typeface="宋体" pitchFamily="2" charset="-122"/>
              </a:rPr>
              <a:t>单位，向决策者提供唯一的最优方案。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23554">
                                            <p:txEl>
                                              <p:charRg st="0" end="25"/>
                                            </p:txEl>
                                          </p:spTgt>
                                        </p:tgtEl>
                                        <p:attrNameLst>
                                          <p:attrName>style.visibility</p:attrName>
                                        </p:attrNameLst>
                                      </p:cBhvr>
                                      <p:to>
                                        <p:strVal val="visible"/>
                                      </p:to>
                                    </p:set>
                                    <p:animEffect transition="in" filter="blinds(horizontal)">
                                      <p:cBhvr additive="base">
                                        <p:cTn id="7" dur="500"/>
                                        <p:tgtEl>
                                          <p:spTgt spid="23554">
                                            <p:txEl>
                                              <p:charRg st="0" end="25"/>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23554">
                                            <p:txEl>
                                              <p:charRg st="25" end="48"/>
                                            </p:txEl>
                                          </p:spTgt>
                                        </p:tgtEl>
                                        <p:attrNameLst>
                                          <p:attrName>style.visibility</p:attrName>
                                        </p:attrNameLst>
                                      </p:cBhvr>
                                      <p:to>
                                        <p:strVal val="visible"/>
                                      </p:to>
                                    </p:set>
                                    <p:animEffect transition="in" filter="blinds(horizontal)">
                                      <p:cBhvr additive="base">
                                        <p:cTn id="13" dur="500"/>
                                        <p:tgtEl>
                                          <p:spTgt spid="23554">
                                            <p:txEl>
                                              <p:charRg st="25" end="48"/>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23554">
                                            <p:txEl>
                                              <p:charRg st="48" end="72"/>
                                            </p:txEl>
                                          </p:spTgt>
                                        </p:tgtEl>
                                        <p:attrNameLst>
                                          <p:attrName>style.visibility</p:attrName>
                                        </p:attrNameLst>
                                      </p:cBhvr>
                                      <p:to>
                                        <p:strVal val="visible"/>
                                      </p:to>
                                    </p:set>
                                    <p:animEffect transition="in" filter="blinds(horizontal)">
                                      <p:cBhvr additive="base">
                                        <p:cTn id="19" dur="500"/>
                                        <p:tgtEl>
                                          <p:spTgt spid="23554">
                                            <p:txEl>
                                              <p:charRg st="48" end="72"/>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23554">
                                            <p:txEl>
                                              <p:charRg st="72" end="95"/>
                                            </p:txEl>
                                          </p:spTgt>
                                        </p:tgtEl>
                                        <p:attrNameLst>
                                          <p:attrName>style.visibility</p:attrName>
                                        </p:attrNameLst>
                                      </p:cBhvr>
                                      <p:to>
                                        <p:strVal val="visible"/>
                                      </p:to>
                                    </p:set>
                                    <p:animEffect transition="in" filter="blinds(horizontal)">
                                      <p:cBhvr additive="base">
                                        <p:cTn id="25" dur="500"/>
                                        <p:tgtEl>
                                          <p:spTgt spid="23554">
                                            <p:txEl>
                                              <p:charRg st="72" end="95"/>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23554">
                                            <p:txEl>
                                              <p:charRg st="95" end="118"/>
                                            </p:txEl>
                                          </p:spTgt>
                                        </p:tgtEl>
                                        <p:attrNameLst>
                                          <p:attrName>style.visibility</p:attrName>
                                        </p:attrNameLst>
                                      </p:cBhvr>
                                      <p:to>
                                        <p:strVal val="visible"/>
                                      </p:to>
                                    </p:set>
                                    <p:animEffect transition="in" filter="blinds(horizontal)">
                                      <p:cBhvr additive="base">
                                        <p:cTn id="31" dur="500"/>
                                        <p:tgtEl>
                                          <p:spTgt spid="23554">
                                            <p:txEl>
                                              <p:charRg st="95" end="118"/>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23554">
                                            <p:txEl>
                                              <p:charRg st="118" end="140"/>
                                            </p:txEl>
                                          </p:spTgt>
                                        </p:tgtEl>
                                        <p:attrNameLst>
                                          <p:attrName>style.visibility</p:attrName>
                                        </p:attrNameLst>
                                      </p:cBhvr>
                                      <p:to>
                                        <p:strVal val="visible"/>
                                      </p:to>
                                    </p:set>
                                    <p:animEffect transition="in" filter="blinds(horizontal)">
                                      <p:cBhvr additive="base">
                                        <p:cTn id="37" dur="500"/>
                                        <p:tgtEl>
                                          <p:spTgt spid="23554">
                                            <p:txEl>
                                              <p:charRg st="118" end="140"/>
                                            </p:txEl>
                                          </p:spTgt>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3" presetClass="entr" presetSubtype="10" fill="hold" nodeType="clickEffect">
                                  <p:stCondLst>
                                    <p:cond delay="-9223372036854775808"/>
                                  </p:stCondLst>
                                  <p:childTnLst>
                                    <p:set>
                                      <p:cBhvr additive="base">
                                        <p:cTn id="42" dur="1" fill="hold">
                                          <p:stCondLst>
                                            <p:cond delay="0"/>
                                          </p:stCondLst>
                                        </p:cTn>
                                        <p:tgtEl>
                                          <p:spTgt spid="23554">
                                            <p:txEl>
                                              <p:charRg st="140" end="164"/>
                                            </p:txEl>
                                          </p:spTgt>
                                        </p:tgtEl>
                                        <p:attrNameLst>
                                          <p:attrName>style.visibility</p:attrName>
                                        </p:attrNameLst>
                                      </p:cBhvr>
                                      <p:to>
                                        <p:strVal val="visible"/>
                                      </p:to>
                                    </p:set>
                                    <p:animEffect transition="in" filter="blinds(horizontal)">
                                      <p:cBhvr additive="base">
                                        <p:cTn id="43" dur="500"/>
                                        <p:tgtEl>
                                          <p:spTgt spid="23554">
                                            <p:txEl>
                                              <p:charRg st="140" end="164"/>
                                            </p:txEl>
                                          </p:spTgt>
                                        </p:tgtEl>
                                      </p:cBhvr>
                                    </p:animEffect>
                                  </p:child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3" presetClass="entr" presetSubtype="10" fill="hold" nodeType="clickEffect">
                                  <p:stCondLst>
                                    <p:cond delay="-9223372036854775808"/>
                                  </p:stCondLst>
                                  <p:childTnLst>
                                    <p:set>
                                      <p:cBhvr additive="base">
                                        <p:cTn id="48" dur="1" fill="hold">
                                          <p:stCondLst>
                                            <p:cond delay="0"/>
                                          </p:stCondLst>
                                        </p:cTn>
                                        <p:tgtEl>
                                          <p:spTgt spid="23554">
                                            <p:txEl>
                                              <p:charRg st="164" end="187"/>
                                            </p:txEl>
                                          </p:spTgt>
                                        </p:tgtEl>
                                        <p:attrNameLst>
                                          <p:attrName>style.visibility</p:attrName>
                                        </p:attrNameLst>
                                      </p:cBhvr>
                                      <p:to>
                                        <p:strVal val="visible"/>
                                      </p:to>
                                    </p:set>
                                    <p:animEffect transition="in" filter="blinds(horizontal)">
                                      <p:cBhvr additive="base">
                                        <p:cTn id="49" dur="500"/>
                                        <p:tgtEl>
                                          <p:spTgt spid="23554">
                                            <p:txEl>
                                              <p:charRg st="164" end="187"/>
                                            </p:txEl>
                                          </p:spTgt>
                                        </p:tgtEl>
                                      </p:cBhvr>
                                    </p:animEffect>
                                  </p:childTnLst>
                                </p:cTn>
                              </p:par>
                            </p:childTnLst>
                          </p:cTn>
                        </p:par>
                      </p:childTnLst>
                    </p:cTn>
                  </p:par>
                  <p:par>
                    <p:cTn id="50" fill="hold">
                      <p:stCondLst>
                        <p:cond delay="indefinite"/>
                      </p:stCondLst>
                      <p:childTnLst>
                        <p:par>
                          <p:cTn id="51" fill="hold">
                            <p:stCondLst>
                              <p:cond delay="indefinite"/>
                            </p:stCondLst>
                          </p:cTn>
                        </p:par>
                        <p:par>
                          <p:cTn id="52" fill="hold">
                            <p:stCondLst>
                              <p:cond delay="0"/>
                            </p:stCondLst>
                            <p:childTnLst>
                              <p:par>
                                <p:cTn id="53" presetID="3" presetClass="entr" presetSubtype="10" fill="hold" nodeType="clickEffect">
                                  <p:stCondLst>
                                    <p:cond delay="-9223372036854775808"/>
                                  </p:stCondLst>
                                  <p:childTnLst>
                                    <p:set>
                                      <p:cBhvr additive="base">
                                        <p:cTn id="54" dur="1" fill="hold">
                                          <p:stCondLst>
                                            <p:cond delay="0"/>
                                          </p:stCondLst>
                                        </p:cTn>
                                        <p:tgtEl>
                                          <p:spTgt spid="23554">
                                            <p:txEl>
                                              <p:charRg st="187" end="206"/>
                                            </p:txEl>
                                          </p:spTgt>
                                        </p:tgtEl>
                                        <p:attrNameLst>
                                          <p:attrName>style.visibility</p:attrName>
                                        </p:attrNameLst>
                                      </p:cBhvr>
                                      <p:to>
                                        <p:strVal val="visible"/>
                                      </p:to>
                                    </p:set>
                                    <p:animEffect transition="in" filter="blinds(horizontal)">
                                      <p:cBhvr additive="base">
                                        <p:cTn id="55" dur="500"/>
                                        <p:tgtEl>
                                          <p:spTgt spid="23554">
                                            <p:txEl>
                                              <p:charRg st="187" end="2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4578" name="Rectangle 3"/>
          <p:cNvSpPr>
            <a:spLocks noGrp="1" noChangeArrowheads="1"/>
          </p:cNvSpPr>
          <p:nvPr>
            <p:ph type="body" idx="4294967295"/>
          </p:nvPr>
        </p:nvSpPr>
        <p:spPr>
          <a:xfrm>
            <a:off x="468313" y="404813"/>
            <a:ext cx="8229600" cy="5832475"/>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lnSpc>
                <a:spcPct val="90000"/>
              </a:lnSpc>
              <a:buNone/>
            </a:pPr>
            <a:r>
              <a:rPr lang="zh-CN" altLang="en-US" sz="2800">
                <a:effectLst/>
                <a:latin typeface="宋体" pitchFamily="2" charset="-122"/>
              </a:rPr>
              <a:t>    由于模型的不准确性和单一目标的片面性，这</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种所谓最优的方案并不一定是决策者满意的。自然，</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用这种最优方案作为决策者的最终决策具有强迫性</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质，往往难以为决策者接受。另一方面，多目标方</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法向决策者提供经过仔细选择的备选方案（多种方</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案）。这样使得决策者有可能利用自己的知识和经</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验对这些方案进行评价和判断，从中找出满意方案</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或给出偏好信息以及寻找更多的备选方案。</a:t>
            </a:r>
          </a:p>
          <a:p>
            <a:pPr marL="342900" marR="0" lvl="0" indent="-342900" eaLnBrk="1" hangingPunct="1">
              <a:lnSpc>
                <a:spcPct val="90000"/>
              </a:lnSpc>
              <a:buNone/>
            </a:pPr>
            <a:r>
              <a:rPr lang="zh-CN" altLang="en-US" sz="2800">
                <a:effectLst/>
                <a:latin typeface="宋体" pitchFamily="2" charset="-122"/>
              </a:rPr>
              <a:t>    概括起来，多目标决策方法处理实际决策问题</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有三个方面的优点：（</a:t>
            </a:r>
            <a:r>
              <a:rPr lang="en-US" altLang="zh-CN" sz="2800">
                <a:effectLst/>
                <a:latin typeface="宋体" pitchFamily="2" charset="-122"/>
              </a:rPr>
              <a:t>1</a:t>
            </a:r>
            <a:r>
              <a:rPr lang="zh-CN" altLang="en-US" sz="2800">
                <a:effectLst/>
                <a:latin typeface="宋体" pitchFamily="2" charset="-122"/>
              </a:rPr>
              <a:t>）加强了决策者在决策过程</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中的作用；（</a:t>
            </a:r>
            <a:r>
              <a:rPr lang="en-US" altLang="zh-CN" sz="2800">
                <a:effectLst/>
                <a:latin typeface="宋体" pitchFamily="2" charset="-122"/>
              </a:rPr>
              <a:t>2</a:t>
            </a:r>
            <a:r>
              <a:rPr lang="zh-CN" altLang="en-US" sz="2800">
                <a:effectLst/>
                <a:latin typeface="宋体" pitchFamily="2" charset="-122"/>
              </a:rPr>
              <a:t>）可以得到范围更为广泛的备选决策</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方案；（</a:t>
            </a:r>
            <a:r>
              <a:rPr lang="en-US" altLang="zh-CN" sz="2800">
                <a:effectLst/>
                <a:latin typeface="宋体" pitchFamily="2" charset="-122"/>
              </a:rPr>
              <a:t>3</a:t>
            </a:r>
            <a:r>
              <a:rPr lang="zh-CN" altLang="en-US" sz="2800">
                <a:effectLst/>
                <a:latin typeface="宋体" pitchFamily="2" charset="-122"/>
              </a:rPr>
              <a:t>）决策问题的模型和分析者对问题的直觉</a:t>
            </a:r>
            <a:endParaRPr lang="en-US" altLang="zh-CN" sz="2800">
              <a:effectLst/>
              <a:latin typeface="宋体" pitchFamily="2" charset="-122"/>
            </a:endParaRPr>
          </a:p>
          <a:p>
            <a:pPr marL="342900" marR="0" lvl="0" indent="-342900" eaLnBrk="1" hangingPunct="1">
              <a:lnSpc>
                <a:spcPct val="90000"/>
              </a:lnSpc>
              <a:buNone/>
            </a:pPr>
            <a:r>
              <a:rPr lang="zh-CN" altLang="en-US" sz="2800">
                <a:effectLst/>
                <a:latin typeface="宋体" pitchFamily="2" charset="-122"/>
              </a:rPr>
              <a:t>将更加现实。</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24578">
                                            <p:txEl>
                                              <p:charRg st="0" end="25"/>
                                            </p:txEl>
                                          </p:spTgt>
                                        </p:tgtEl>
                                        <p:attrNameLst>
                                          <p:attrName>style.visibility</p:attrName>
                                        </p:attrNameLst>
                                      </p:cBhvr>
                                      <p:to>
                                        <p:strVal val="visible"/>
                                      </p:to>
                                    </p:set>
                                    <p:animEffect transition="in" filter="blinds(horizontal)">
                                      <p:cBhvr additive="base">
                                        <p:cTn id="7" dur="500"/>
                                        <p:tgtEl>
                                          <p:spTgt spid="24578">
                                            <p:txEl>
                                              <p:charRg st="0" end="25"/>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24578">
                                            <p:txEl>
                                              <p:charRg st="25" end="49"/>
                                            </p:txEl>
                                          </p:spTgt>
                                        </p:tgtEl>
                                        <p:attrNameLst>
                                          <p:attrName>style.visibility</p:attrName>
                                        </p:attrNameLst>
                                      </p:cBhvr>
                                      <p:to>
                                        <p:strVal val="visible"/>
                                      </p:to>
                                    </p:set>
                                    <p:animEffect transition="in" filter="blinds(horizontal)">
                                      <p:cBhvr additive="base">
                                        <p:cTn id="13" dur="500"/>
                                        <p:tgtEl>
                                          <p:spTgt spid="24578">
                                            <p:txEl>
                                              <p:charRg st="25" end="49"/>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24578">
                                            <p:txEl>
                                              <p:charRg st="49" end="72"/>
                                            </p:txEl>
                                          </p:spTgt>
                                        </p:tgtEl>
                                        <p:attrNameLst>
                                          <p:attrName>style.visibility</p:attrName>
                                        </p:attrNameLst>
                                      </p:cBhvr>
                                      <p:to>
                                        <p:strVal val="visible"/>
                                      </p:to>
                                    </p:set>
                                    <p:animEffect transition="in" filter="blinds(horizontal)">
                                      <p:cBhvr additive="base">
                                        <p:cTn id="19" dur="500"/>
                                        <p:tgtEl>
                                          <p:spTgt spid="24578">
                                            <p:txEl>
                                              <p:charRg st="49" end="72"/>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24578">
                                            <p:txEl>
                                              <p:charRg st="72" end="95"/>
                                            </p:txEl>
                                          </p:spTgt>
                                        </p:tgtEl>
                                        <p:attrNameLst>
                                          <p:attrName>style.visibility</p:attrName>
                                        </p:attrNameLst>
                                      </p:cBhvr>
                                      <p:to>
                                        <p:strVal val="visible"/>
                                      </p:to>
                                    </p:set>
                                    <p:animEffect transition="in" filter="blinds(horizontal)">
                                      <p:cBhvr additive="base">
                                        <p:cTn id="25" dur="500"/>
                                        <p:tgtEl>
                                          <p:spTgt spid="24578">
                                            <p:txEl>
                                              <p:charRg st="72" end="95"/>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24578">
                                            <p:txEl>
                                              <p:charRg st="95" end="118"/>
                                            </p:txEl>
                                          </p:spTgt>
                                        </p:tgtEl>
                                        <p:attrNameLst>
                                          <p:attrName>style.visibility</p:attrName>
                                        </p:attrNameLst>
                                      </p:cBhvr>
                                      <p:to>
                                        <p:strVal val="visible"/>
                                      </p:to>
                                    </p:set>
                                    <p:animEffect transition="in" filter="blinds(horizontal)">
                                      <p:cBhvr additive="base">
                                        <p:cTn id="31" dur="500"/>
                                        <p:tgtEl>
                                          <p:spTgt spid="24578">
                                            <p:txEl>
                                              <p:charRg st="95" end="118"/>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24578">
                                            <p:txEl>
                                              <p:charRg st="118" end="141"/>
                                            </p:txEl>
                                          </p:spTgt>
                                        </p:tgtEl>
                                        <p:attrNameLst>
                                          <p:attrName>style.visibility</p:attrName>
                                        </p:attrNameLst>
                                      </p:cBhvr>
                                      <p:to>
                                        <p:strVal val="visible"/>
                                      </p:to>
                                    </p:set>
                                    <p:animEffect transition="in" filter="blinds(horizontal)">
                                      <p:cBhvr additive="base">
                                        <p:cTn id="37" dur="500"/>
                                        <p:tgtEl>
                                          <p:spTgt spid="24578">
                                            <p:txEl>
                                              <p:charRg st="118" end="141"/>
                                            </p:txEl>
                                          </p:spTgt>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3" presetClass="entr" presetSubtype="10" fill="hold" nodeType="clickEffect">
                                  <p:stCondLst>
                                    <p:cond delay="-9223372036854775808"/>
                                  </p:stCondLst>
                                  <p:childTnLst>
                                    <p:set>
                                      <p:cBhvr additive="base">
                                        <p:cTn id="42" dur="1" fill="hold">
                                          <p:stCondLst>
                                            <p:cond delay="0"/>
                                          </p:stCondLst>
                                        </p:cTn>
                                        <p:tgtEl>
                                          <p:spTgt spid="24578">
                                            <p:txEl>
                                              <p:charRg st="141" end="164"/>
                                            </p:txEl>
                                          </p:spTgt>
                                        </p:tgtEl>
                                        <p:attrNameLst>
                                          <p:attrName>style.visibility</p:attrName>
                                        </p:attrNameLst>
                                      </p:cBhvr>
                                      <p:to>
                                        <p:strVal val="visible"/>
                                      </p:to>
                                    </p:set>
                                    <p:animEffect transition="in" filter="blinds(horizontal)">
                                      <p:cBhvr additive="base">
                                        <p:cTn id="43" dur="500"/>
                                        <p:tgtEl>
                                          <p:spTgt spid="24578">
                                            <p:txEl>
                                              <p:charRg st="141" end="164"/>
                                            </p:txEl>
                                          </p:spTgt>
                                        </p:tgtEl>
                                      </p:cBhvr>
                                    </p:animEffect>
                                  </p:child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3" presetClass="entr" presetSubtype="10" fill="hold" nodeType="clickEffect">
                                  <p:stCondLst>
                                    <p:cond delay="-9223372036854775808"/>
                                  </p:stCondLst>
                                  <p:childTnLst>
                                    <p:set>
                                      <p:cBhvr additive="base">
                                        <p:cTn id="48" dur="1" fill="hold">
                                          <p:stCondLst>
                                            <p:cond delay="0"/>
                                          </p:stCondLst>
                                        </p:cTn>
                                        <p:tgtEl>
                                          <p:spTgt spid="24578">
                                            <p:txEl>
                                              <p:charRg st="164" end="184"/>
                                            </p:txEl>
                                          </p:spTgt>
                                        </p:tgtEl>
                                        <p:attrNameLst>
                                          <p:attrName>style.visibility</p:attrName>
                                        </p:attrNameLst>
                                      </p:cBhvr>
                                      <p:to>
                                        <p:strVal val="visible"/>
                                      </p:to>
                                    </p:set>
                                    <p:animEffect transition="in" filter="blinds(horizontal)">
                                      <p:cBhvr additive="base">
                                        <p:cTn id="49" dur="500"/>
                                        <p:tgtEl>
                                          <p:spTgt spid="24578">
                                            <p:txEl>
                                              <p:charRg st="164" end="184"/>
                                            </p:txEl>
                                          </p:spTgt>
                                        </p:tgtEl>
                                      </p:cBhvr>
                                    </p:animEffect>
                                  </p:childTnLst>
                                </p:cTn>
                              </p:par>
                            </p:childTnLst>
                          </p:cTn>
                        </p:par>
                      </p:childTnLst>
                    </p:cTn>
                  </p:par>
                  <p:par>
                    <p:cTn id="50" fill="hold">
                      <p:stCondLst>
                        <p:cond delay="indefinite"/>
                      </p:stCondLst>
                      <p:childTnLst>
                        <p:par>
                          <p:cTn id="51" fill="hold">
                            <p:stCondLst>
                              <p:cond delay="indefinite"/>
                            </p:stCondLst>
                          </p:cTn>
                        </p:par>
                        <p:par>
                          <p:cTn id="52" fill="hold">
                            <p:stCondLst>
                              <p:cond delay="0"/>
                            </p:stCondLst>
                            <p:childTnLst>
                              <p:par>
                                <p:cTn id="53" presetID="3" presetClass="entr" presetSubtype="10" fill="hold" nodeType="clickEffect">
                                  <p:stCondLst>
                                    <p:cond delay="-9223372036854775808"/>
                                  </p:stCondLst>
                                  <p:childTnLst>
                                    <p:set>
                                      <p:cBhvr additive="base">
                                        <p:cTn id="54" dur="1" fill="hold">
                                          <p:stCondLst>
                                            <p:cond delay="0"/>
                                          </p:stCondLst>
                                        </p:cTn>
                                        <p:tgtEl>
                                          <p:spTgt spid="24578">
                                            <p:txEl>
                                              <p:charRg st="184" end="209"/>
                                            </p:txEl>
                                          </p:spTgt>
                                        </p:tgtEl>
                                        <p:attrNameLst>
                                          <p:attrName>style.visibility</p:attrName>
                                        </p:attrNameLst>
                                      </p:cBhvr>
                                      <p:to>
                                        <p:strVal val="visible"/>
                                      </p:to>
                                    </p:set>
                                    <p:animEffect transition="in" filter="blinds(horizontal)">
                                      <p:cBhvr additive="base">
                                        <p:cTn id="55" dur="500"/>
                                        <p:tgtEl>
                                          <p:spTgt spid="24578">
                                            <p:txEl>
                                              <p:charRg st="184" end="209"/>
                                            </p:txEl>
                                          </p:spTgt>
                                        </p:tgtEl>
                                      </p:cBhvr>
                                    </p:animEffect>
                                  </p:childTnLst>
                                </p:cTn>
                              </p:par>
                            </p:childTnLst>
                          </p:cTn>
                        </p:par>
                      </p:childTnLst>
                    </p:cTn>
                  </p:par>
                  <p:par>
                    <p:cTn id="56" fill="hold">
                      <p:stCondLst>
                        <p:cond delay="indefinite"/>
                      </p:stCondLst>
                      <p:childTnLst>
                        <p:par>
                          <p:cTn id="57" fill="hold">
                            <p:stCondLst>
                              <p:cond delay="indefinite"/>
                            </p:stCondLst>
                          </p:cTn>
                        </p:par>
                        <p:par>
                          <p:cTn id="58" fill="hold">
                            <p:stCondLst>
                              <p:cond delay="0"/>
                            </p:stCondLst>
                            <p:childTnLst>
                              <p:par>
                                <p:cTn id="59" presetID="3" presetClass="entr" presetSubtype="10" fill="hold" nodeType="clickEffect">
                                  <p:stCondLst>
                                    <p:cond delay="-9223372036854775808"/>
                                  </p:stCondLst>
                                  <p:childTnLst>
                                    <p:set>
                                      <p:cBhvr additive="base">
                                        <p:cTn id="60" dur="1" fill="hold">
                                          <p:stCondLst>
                                            <p:cond delay="0"/>
                                          </p:stCondLst>
                                        </p:cTn>
                                        <p:tgtEl>
                                          <p:spTgt spid="24578">
                                            <p:txEl>
                                              <p:charRg st="209" end="233"/>
                                            </p:txEl>
                                          </p:spTgt>
                                        </p:tgtEl>
                                        <p:attrNameLst>
                                          <p:attrName>style.visibility</p:attrName>
                                        </p:attrNameLst>
                                      </p:cBhvr>
                                      <p:to>
                                        <p:strVal val="visible"/>
                                      </p:to>
                                    </p:set>
                                    <p:animEffect transition="in" filter="blinds(horizontal)">
                                      <p:cBhvr additive="base">
                                        <p:cTn id="61" dur="500"/>
                                        <p:tgtEl>
                                          <p:spTgt spid="24578">
                                            <p:txEl>
                                              <p:charRg st="209" end="233"/>
                                            </p:txEl>
                                          </p:spTgt>
                                        </p:tgtEl>
                                      </p:cBhvr>
                                    </p:animEffect>
                                  </p:childTnLst>
                                </p:cTn>
                              </p:par>
                            </p:childTnLst>
                          </p:cTn>
                        </p:par>
                      </p:childTnLst>
                    </p:cTn>
                  </p:par>
                  <p:par>
                    <p:cTn id="62" fill="hold">
                      <p:stCondLst>
                        <p:cond delay="indefinite"/>
                      </p:stCondLst>
                      <p:childTnLst>
                        <p:par>
                          <p:cTn id="63" fill="hold">
                            <p:stCondLst>
                              <p:cond delay="indefinite"/>
                            </p:stCondLst>
                          </p:cTn>
                        </p:par>
                        <p:par>
                          <p:cTn id="64" fill="hold">
                            <p:stCondLst>
                              <p:cond delay="0"/>
                            </p:stCondLst>
                            <p:childTnLst>
                              <p:par>
                                <p:cTn id="65" presetID="3" presetClass="entr" presetSubtype="10" fill="hold" nodeType="clickEffect">
                                  <p:stCondLst>
                                    <p:cond delay="-9223372036854775808"/>
                                  </p:stCondLst>
                                  <p:childTnLst>
                                    <p:set>
                                      <p:cBhvr additive="base">
                                        <p:cTn id="66" dur="1" fill="hold">
                                          <p:stCondLst>
                                            <p:cond delay="0"/>
                                          </p:stCondLst>
                                        </p:cTn>
                                        <p:tgtEl>
                                          <p:spTgt spid="24578">
                                            <p:txEl>
                                              <p:charRg st="233" end="257"/>
                                            </p:txEl>
                                          </p:spTgt>
                                        </p:tgtEl>
                                        <p:attrNameLst>
                                          <p:attrName>style.visibility</p:attrName>
                                        </p:attrNameLst>
                                      </p:cBhvr>
                                      <p:to>
                                        <p:strVal val="visible"/>
                                      </p:to>
                                    </p:set>
                                    <p:animEffect transition="in" filter="blinds(horizontal)">
                                      <p:cBhvr additive="base">
                                        <p:cTn id="67" dur="500"/>
                                        <p:tgtEl>
                                          <p:spTgt spid="24578">
                                            <p:txEl>
                                              <p:charRg st="233" end="257"/>
                                            </p:txEl>
                                          </p:spTgt>
                                        </p:tgtEl>
                                      </p:cBhvr>
                                    </p:animEffect>
                                  </p:childTnLst>
                                </p:cTn>
                              </p:par>
                            </p:childTnLst>
                          </p:cTn>
                        </p:par>
                      </p:childTnLst>
                    </p:cTn>
                  </p:par>
                  <p:par>
                    <p:cTn id="68" fill="hold">
                      <p:stCondLst>
                        <p:cond delay="indefinite"/>
                      </p:stCondLst>
                      <p:childTnLst>
                        <p:par>
                          <p:cTn id="69" fill="hold">
                            <p:stCondLst>
                              <p:cond delay="indefinite"/>
                            </p:stCondLst>
                          </p:cTn>
                        </p:par>
                        <p:par>
                          <p:cTn id="70" fill="hold">
                            <p:stCondLst>
                              <p:cond delay="0"/>
                            </p:stCondLst>
                            <p:childTnLst>
                              <p:par>
                                <p:cTn id="71" presetID="3" presetClass="entr" presetSubtype="10" fill="hold" nodeType="clickEffect">
                                  <p:stCondLst>
                                    <p:cond delay="-9223372036854775808"/>
                                  </p:stCondLst>
                                  <p:childTnLst>
                                    <p:set>
                                      <p:cBhvr additive="base">
                                        <p:cTn id="72" dur="1" fill="hold">
                                          <p:stCondLst>
                                            <p:cond delay="0"/>
                                          </p:stCondLst>
                                        </p:cTn>
                                        <p:tgtEl>
                                          <p:spTgt spid="24578">
                                            <p:txEl>
                                              <p:charRg st="257" end="281"/>
                                            </p:txEl>
                                          </p:spTgt>
                                        </p:tgtEl>
                                        <p:attrNameLst>
                                          <p:attrName>style.visibility</p:attrName>
                                        </p:attrNameLst>
                                      </p:cBhvr>
                                      <p:to>
                                        <p:strVal val="visible"/>
                                      </p:to>
                                    </p:set>
                                    <p:animEffect transition="in" filter="blinds(horizontal)">
                                      <p:cBhvr additive="base">
                                        <p:cTn id="73" dur="500"/>
                                        <p:tgtEl>
                                          <p:spTgt spid="24578">
                                            <p:txEl>
                                              <p:charRg st="257" end="281"/>
                                            </p:txEl>
                                          </p:spTgt>
                                        </p:tgtEl>
                                      </p:cBhvr>
                                    </p:animEffect>
                                  </p:childTnLst>
                                </p:cTn>
                              </p:par>
                            </p:childTnLst>
                          </p:cTn>
                        </p:par>
                      </p:childTnLst>
                    </p:cTn>
                  </p:par>
                  <p:par>
                    <p:cTn id="74" fill="hold">
                      <p:stCondLst>
                        <p:cond delay="indefinite"/>
                      </p:stCondLst>
                      <p:childTnLst>
                        <p:par>
                          <p:cTn id="75" fill="hold">
                            <p:stCondLst>
                              <p:cond delay="indefinite"/>
                            </p:stCondLst>
                          </p:cTn>
                        </p:par>
                        <p:par>
                          <p:cTn id="76" fill="hold">
                            <p:stCondLst>
                              <p:cond delay="0"/>
                            </p:stCondLst>
                            <p:childTnLst>
                              <p:par>
                                <p:cTn id="77" presetID="3" presetClass="entr" presetSubtype="10" fill="hold" nodeType="clickEffect">
                                  <p:stCondLst>
                                    <p:cond delay="-9223372036854775808"/>
                                  </p:stCondLst>
                                  <p:childTnLst>
                                    <p:set>
                                      <p:cBhvr additive="base">
                                        <p:cTn id="78" dur="1" fill="hold">
                                          <p:stCondLst>
                                            <p:cond delay="0"/>
                                          </p:stCondLst>
                                        </p:cTn>
                                        <p:tgtEl>
                                          <p:spTgt spid="24578">
                                            <p:txEl>
                                              <p:charRg st="281" end="288"/>
                                            </p:txEl>
                                          </p:spTgt>
                                        </p:tgtEl>
                                        <p:attrNameLst>
                                          <p:attrName>style.visibility</p:attrName>
                                        </p:attrNameLst>
                                      </p:cBhvr>
                                      <p:to>
                                        <p:strVal val="visible"/>
                                      </p:to>
                                    </p:set>
                                    <p:animEffect transition="in" filter="blinds(horizontal)">
                                      <p:cBhvr additive="base">
                                        <p:cTn id="79" dur="500"/>
                                        <p:tgtEl>
                                          <p:spTgt spid="24578">
                                            <p:txEl>
                                              <p:charRg st="281" end="2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5602" name="Rectangle 3"/>
          <p:cNvSpPr>
            <a:spLocks noGrp="1" noChangeArrowheads="1"/>
          </p:cNvSpPr>
          <p:nvPr>
            <p:ph type="body" idx="4294967295"/>
          </p:nvPr>
        </p:nvSpPr>
        <p:spPr>
          <a:xfrm>
            <a:off x="395288" y="476250"/>
            <a:ext cx="8229600" cy="5545138"/>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eaLnBrk="1" hangingPunct="1">
              <a:lnSpc>
                <a:spcPct val="90000"/>
              </a:lnSpc>
              <a:buNone/>
            </a:pPr>
            <a:r>
              <a:rPr lang="zh-CN" altLang="en-US" sz="2800" b="1">
                <a:effectLst/>
                <a:latin typeface="宋体" pitchFamily="2" charset="-122"/>
              </a:rPr>
              <a:t>多目标决策问题的案例及特点</a:t>
            </a:r>
          </a:p>
          <a:p>
            <a:pPr marL="342900" marR="0" lvl="0" indent="-342900" eaLnBrk="1" hangingPunct="1">
              <a:lnSpc>
                <a:spcPct val="90000"/>
              </a:lnSpc>
              <a:buNone/>
            </a:pPr>
            <a:r>
              <a:rPr lang="zh-CN" altLang="en-US" sz="2700">
                <a:effectLst/>
                <a:latin typeface="宋体" pitchFamily="2" charset="-122"/>
              </a:rPr>
              <a:t>      我们介绍两个日常生活中常见的决策问题。第一个是顾客到商店购买衣服。对于顾客而言，购买衣服就是一个决策问题，顾客本人是决策者，各种各样的衣服是行动方案集。该决策问题的解就是顾客最终买到一件合适的衣服（或选择一个满意的方案）。那么，一件衣服（即一个方案）合适否（满意否）应该根据几个指标来评价，比如衣服的质量、价格、大小、式样、颜色等。</a:t>
            </a:r>
          </a:p>
          <a:p>
            <a:pPr marL="342900" marR="0" lvl="0" indent="-342900" eaLnBrk="1" hangingPunct="1">
              <a:lnSpc>
                <a:spcPct val="90000"/>
              </a:lnSpc>
              <a:buNone/>
            </a:pPr>
            <a:r>
              <a:rPr lang="zh-CN" altLang="en-US" sz="2700">
                <a:effectLst/>
                <a:latin typeface="宋体" pitchFamily="2" charset="-122"/>
              </a:rPr>
              <a:t>      因此，顾客购买衣服的问题是多目标决策问题。又如，公务人员外出办事总要乘某种交通工具。这也是一个决策问题，决策者是公务员，备选方案是可利用的交通工具。公务员为了选择合适的交通工具，需要考虑几个指标，比如：时间、价格、舒适性、方便程度等。显然这也是一个多目标决策问题。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25602">
                                            <p:txEl>
                                              <p:charRg st="0" end="14"/>
                                            </p:txEl>
                                          </p:spTgt>
                                        </p:tgtEl>
                                        <p:attrNameLst>
                                          <p:attrName>style.visibility</p:attrName>
                                        </p:attrNameLst>
                                      </p:cBhvr>
                                      <p:to>
                                        <p:strVal val="visible"/>
                                      </p:to>
                                    </p:set>
                                    <p:animEffect transition="in" filter="blinds(horizontal)">
                                      <p:cBhvr additive="base">
                                        <p:cTn id="7" dur="500"/>
                                        <p:tgtEl>
                                          <p:spTgt spid="25602">
                                            <p:txEl>
                                              <p:charRg st="0" end="14"/>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25602">
                                            <p:txEl>
                                              <p:charRg st="14" end="187"/>
                                            </p:txEl>
                                          </p:spTgt>
                                        </p:tgtEl>
                                        <p:attrNameLst>
                                          <p:attrName>style.visibility</p:attrName>
                                        </p:attrNameLst>
                                      </p:cBhvr>
                                      <p:to>
                                        <p:strVal val="visible"/>
                                      </p:to>
                                    </p:set>
                                    <p:animEffect transition="in" filter="blinds(horizontal)">
                                      <p:cBhvr additive="base">
                                        <p:cTn id="13" dur="500"/>
                                        <p:tgtEl>
                                          <p:spTgt spid="25602">
                                            <p:txEl>
                                              <p:charRg st="14" end="187"/>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25602">
                                            <p:txEl>
                                              <p:charRg st="187" end="327"/>
                                            </p:txEl>
                                          </p:spTgt>
                                        </p:tgtEl>
                                        <p:attrNameLst>
                                          <p:attrName>style.visibility</p:attrName>
                                        </p:attrNameLst>
                                      </p:cBhvr>
                                      <p:to>
                                        <p:strVal val="visible"/>
                                      </p:to>
                                    </p:set>
                                    <p:animEffect transition="in" filter="blinds(horizontal)">
                                      <p:cBhvr additive="base">
                                        <p:cTn id="19" dur="500"/>
                                        <p:tgtEl>
                                          <p:spTgt spid="25602">
                                            <p:txEl>
                                              <p:charRg st="187" end="3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6626" name="Rectangle 3"/>
          <p:cNvSpPr>
            <a:spLocks noGrp="1" noChangeArrowheads="1"/>
          </p:cNvSpPr>
          <p:nvPr>
            <p:ph type="body" idx="4294967295"/>
          </p:nvPr>
        </p:nvSpPr>
        <p:spPr>
          <a:xfrm>
            <a:off x="468313" y="692150"/>
            <a:ext cx="8229600" cy="5616575"/>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buNone/>
            </a:pPr>
            <a:r>
              <a:rPr lang="en-US" altLang="zh-CN" sz="2800">
                <a:effectLst/>
                <a:latin typeface="宋体" pitchFamily="2" charset="-122"/>
              </a:rPr>
              <a:t>      </a:t>
            </a:r>
            <a:r>
              <a:rPr lang="zh-CN" altLang="en-US" sz="2800">
                <a:effectLst/>
                <a:latin typeface="宋体" pitchFamily="2" charset="-122"/>
              </a:rPr>
              <a:t>在生产系统、工程系统、社会经济系统中，多目标决策问题更是屡见不鲜。比如在炼油厂的生产计划中，基本的决策问题是如何根据企业的外部环境与内部条件，制定出具体的作业计划。该计划应能使企业的各种主要的经济指标达到预定的目标。这些指标包括：利润、原油量、成本、能耗等。其他企业一般也有类似的多目标计划决策问题。</a:t>
            </a:r>
          </a:p>
          <a:p>
            <a:pPr marL="342900" marR="0" lvl="0" indent="-342900" eaLnBrk="1" hangingPunct="1">
              <a:buNone/>
            </a:pPr>
            <a:r>
              <a:rPr lang="zh-CN" altLang="en-US" sz="2800">
                <a:effectLst/>
                <a:latin typeface="宋体" pitchFamily="2" charset="-122"/>
              </a:rPr>
              <a:t>      多目标决策问题有两个共同的特点，即各目标的不可公度性和相互之间的矛盾性。所谓目标的不可公度性指各目标之间没有统一的量纲，因此难以作相互比较。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26626">
                                            <p:txEl>
                                              <p:charRg st="0" end="157"/>
                                            </p:txEl>
                                          </p:spTgt>
                                        </p:tgtEl>
                                        <p:attrNameLst>
                                          <p:attrName>style.visibility</p:attrName>
                                        </p:attrNameLst>
                                      </p:cBhvr>
                                      <p:to>
                                        <p:strVal val="visible"/>
                                      </p:to>
                                    </p:set>
                                    <p:animEffect transition="in" filter="blinds(horizontal)">
                                      <p:cBhvr additive="base">
                                        <p:cTn id="7" dur="500"/>
                                        <p:tgtEl>
                                          <p:spTgt spid="26626">
                                            <p:txEl>
                                              <p:charRg st="0" end="157"/>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26626">
                                            <p:txEl>
                                              <p:charRg st="157" end="235"/>
                                            </p:txEl>
                                          </p:spTgt>
                                        </p:tgtEl>
                                        <p:attrNameLst>
                                          <p:attrName>style.visibility</p:attrName>
                                        </p:attrNameLst>
                                      </p:cBhvr>
                                      <p:to>
                                        <p:strVal val="visible"/>
                                      </p:to>
                                    </p:set>
                                    <p:animEffect transition="in" filter="blinds(horizontal)">
                                      <p:cBhvr additive="base">
                                        <p:cTn id="13" dur="500"/>
                                        <p:tgtEl>
                                          <p:spTgt spid="26626">
                                            <p:txEl>
                                              <p:charRg st="157" end="2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7650" name="Rectangle 3"/>
          <p:cNvSpPr>
            <a:spLocks noGrp="1" noChangeArrowheads="1"/>
          </p:cNvSpPr>
          <p:nvPr>
            <p:ph type="body" idx="4294967295"/>
          </p:nvPr>
        </p:nvSpPr>
        <p:spPr>
          <a:xfrm>
            <a:off x="468313" y="692150"/>
            <a:ext cx="8229600" cy="5832475"/>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lnSpc>
                <a:spcPct val="90000"/>
              </a:lnSpc>
              <a:buNone/>
            </a:pPr>
            <a:r>
              <a:rPr lang="en-US" altLang="zh-CN">
                <a:effectLst/>
                <a:latin typeface="宋体" pitchFamily="2" charset="-122"/>
              </a:rPr>
              <a:t>      </a:t>
            </a:r>
            <a:r>
              <a:rPr lang="zh-CN" altLang="en-US">
                <a:effectLst/>
                <a:latin typeface="宋体" pitchFamily="2" charset="-122"/>
              </a:rPr>
              <a:t>目标之间的矛盾性是指，如果改进某一目标的值，可能会使另一个或一些目标变差。正因为各目标的不可公度性和相互之间的矛盾性，多目标决策问题不能简单的作为单目标问题来处理。必须深入研究其特征，特别是解的性质。单目标决策一般有最优解，且往往是唯一的，有时可能存在无限多个解。但是这里的“最优”往往带有片面性，不能全而准确的反映决策者的偏好信息。多目标决策问题不存在所谓的“最优”解，只存在满意解。满意解指决策者对于有关的所有目标值都认为满意。</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8674" name="Rectangle 3"/>
          <p:cNvSpPr>
            <a:spLocks noGrp="1" noChangeArrowheads="1"/>
          </p:cNvSpPr>
          <p:nvPr>
            <p:ph type="body" sz="half" idx="4294967295"/>
          </p:nvPr>
        </p:nvSpPr>
        <p:spPr>
          <a:xfrm>
            <a:off x="395288" y="1125538"/>
            <a:ext cx="8147050" cy="4535487"/>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0" marR="0" lvl="0" indent="0" eaLnBrk="1" hangingPunct="1">
              <a:lnSpc>
                <a:spcPct val="80000"/>
              </a:lnSpc>
              <a:buNone/>
            </a:pPr>
            <a:r>
              <a:rPr lang="zh-CN" altLang="en-US" sz="3200">
                <a:effectLst/>
                <a:latin typeface="宋体" pitchFamily="2" charset="-122"/>
              </a:rPr>
              <a:t>    对于单目标决策问题的解一般具有全序最优性，而多目标决策问题的可行方案集中的各方案只有部分序而非全序，并且一般不存在满足最优性的可行解，而只有矛盾性，即，尽管某一个可行解能使</a:t>
            </a:r>
            <a:r>
              <a:rPr lang="en-US" altLang="zh-CN" sz="3200" i="1">
                <a:effectLst/>
                <a:latin typeface="Times New Roman" pitchFamily="18" charset="0"/>
                <a:ea typeface="Times New Roman" pitchFamily="18" charset="0"/>
              </a:rPr>
              <a:t>n</a:t>
            </a:r>
            <a:r>
              <a:rPr lang="zh-CN" altLang="en-US" sz="3200">
                <a:effectLst/>
                <a:latin typeface="宋体" pitchFamily="2" charset="-122"/>
              </a:rPr>
              <a:t>个目标中的某个目标最优，但不可能使其他的</a:t>
            </a:r>
            <a:r>
              <a:rPr lang="en-US" altLang="zh-CN" sz="3200" i="1">
                <a:effectLst/>
                <a:latin typeface="Times New Roman" pitchFamily="18" charset="0"/>
                <a:ea typeface="Times New Roman" pitchFamily="18" charset="0"/>
              </a:rPr>
              <a:t>n</a:t>
            </a:r>
            <a:r>
              <a:rPr lang="en-US" altLang="zh-CN" sz="3200" i="1">
                <a:effectLst/>
                <a:latin typeface="宋体" pitchFamily="2" charset="-122"/>
              </a:rPr>
              <a:t>-1</a:t>
            </a:r>
            <a:r>
              <a:rPr lang="zh-CN" altLang="en-US" sz="3200">
                <a:effectLst/>
                <a:latin typeface="宋体" pitchFamily="2" charset="-122"/>
              </a:rPr>
              <a:t>个目标同时最优。各目标之间的这种矛盾性是多目标问题的基本特性，不具有这种特性的问题实质上是单目标优化问题。可行解的非劣性正是多目标问题矛盾性所引起的。</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9698" name="Rectangle 3"/>
          <p:cNvSpPr>
            <a:spLocks noGrp="1" noChangeArrowheads="1"/>
          </p:cNvSpPr>
          <p:nvPr>
            <p:ph type="body" sz="half" idx="4294967295"/>
          </p:nvPr>
        </p:nvSpPr>
        <p:spPr>
          <a:xfrm>
            <a:off x="323850" y="1196975"/>
            <a:ext cx="7715250" cy="4525963"/>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0" marR="0" lvl="0" indent="0" eaLnBrk="1" hangingPunct="1">
              <a:buNone/>
            </a:pPr>
            <a:r>
              <a:rPr lang="zh-CN" altLang="en-US" sz="3200">
                <a:effectLst/>
                <a:latin typeface="宋体" pitchFamily="2" charset="-122"/>
              </a:rPr>
              <a:t>    非劣性的意义可解释为：设某一可行解  对应的目标函数值为   ，若不存在其他可行解既能在    的基础上改进某一目标的值，同时又不至于使任何别的目标的值变差。在不同的研究方向，非劣性可能有不同的说法，比如，数学家、经济学家和统计学家又称之为“有效性”或“最优性”。下面举一个简单的例子来说明非劣性。</a:t>
            </a:r>
          </a:p>
          <a:p>
            <a:pPr marL="342900" marR="0" lvl="0" indent="-342900" eaLnBrk="1" hangingPunct="1"/>
            <a:endParaRPr lang="en-US" altLang="zh-CN">
              <a:effectLst/>
              <a:latin typeface="宋体" pitchFamily="2" charset="-122"/>
            </a:endParaRPr>
          </a:p>
        </p:txBody>
      </p:sp>
      <p:graphicFrame>
        <p:nvGraphicFramePr>
          <p:cNvPr id="29699" name="Object 4"/>
          <p:cNvGraphicFramePr>
            <a:graphicFrameLocks noChangeAspect="1"/>
          </p:cNvGraphicFramePr>
          <p:nvPr>
            <p:ph sz="quarter" idx="4294967295"/>
          </p:nvPr>
        </p:nvGraphicFramePr>
        <p:xfrm>
          <a:off x="7618412" y="1123950"/>
          <a:ext cx="338138" cy="576262"/>
        </p:xfrm>
        <a:graphic>
          <a:graphicData uri="http://schemas.openxmlformats.org/presentationml/2006/ole">
            <mc:AlternateContent xmlns:mc="http://schemas.openxmlformats.org/markup-compatibility/2006">
              <mc:Choice xmlns:v="urn:schemas-microsoft-com:vml" Requires="v">
                <p:oleObj spid="_x0000_s1057" name="Equation" r:id="rId2" progId="Equation.DSMT4">
                  <p:embed/>
                </p:oleObj>
              </mc:Choice>
              <mc:Fallback>
                <p:oleObj spid="_x0000_s1057" name="Equation" r:id="rId2" progId="Equation.DSMT4">
                  <p:embed/>
                  <p:pic>
                    <p:nvPicPr>
                      <p:cNvPr id="0" name="OLE substitute image"/>
                      <p:cNvPicPr/>
                      <p:nvPr/>
                    </p:nvPicPr>
                    <p:blipFill>
                      <a:blip r:embed="rId3">
                        <a:alphaModFix/>
                      </a:blip>
                      <a:stretch/>
                    </p:blipFill>
                    <p:spPr>
                      <a:xfrm>
                        <a:off x="7618412" y="1123950"/>
                        <a:ext cx="338138" cy="576262"/>
                      </a:xfrm>
                      <a:prstGeom prst="rect">
                        <a:avLst/>
                      </a:prstGeom>
                      <a:noFill/>
                      <a:effectLst/>
                    </p:spPr>
                  </p:pic>
                </p:oleObj>
              </mc:Fallback>
            </mc:AlternateContent>
          </a:graphicData>
        </a:graphic>
      </p:graphicFrame>
      <p:graphicFrame>
        <p:nvGraphicFramePr>
          <p:cNvPr id="29700" name="Object 10"/>
          <p:cNvGraphicFramePr>
            <a:graphicFrameLocks noChangeAspect="1"/>
          </p:cNvGraphicFramePr>
          <p:nvPr/>
        </p:nvGraphicFramePr>
        <p:xfrm>
          <a:off x="3203575" y="2205038"/>
          <a:ext cx="749300" cy="527050"/>
        </p:xfrm>
        <a:graphic>
          <a:graphicData uri="http://schemas.openxmlformats.org/presentationml/2006/ole">
            <mc:AlternateContent xmlns:mc="http://schemas.openxmlformats.org/markup-compatibility/2006">
              <mc:Choice xmlns:v="urn:schemas-microsoft-com:vml" Requires="v">
                <p:oleObj spid="_x0000_s1058" name="Equation" r:id="rId4" progId="Equation.DSMT4">
                  <p:embed/>
                </p:oleObj>
              </mc:Choice>
              <mc:Fallback>
                <p:oleObj spid="_x0000_s1058" name="Equation" r:id="rId4" progId="Equation.DSMT4">
                  <p:embed/>
                  <p:pic>
                    <p:nvPicPr>
                      <p:cNvPr id="0" name="OLE substitute image"/>
                      <p:cNvPicPr/>
                      <p:nvPr/>
                    </p:nvPicPr>
                    <p:blipFill>
                      <a:blip r:embed="rId5"/>
                      <a:stretch/>
                    </p:blipFill>
                    <p:spPr>
                      <a:xfrm>
                        <a:off x="3203575" y="2205038"/>
                        <a:ext cx="749300" cy="527050"/>
                      </a:xfrm>
                      <a:prstGeom prst="rect">
                        <a:avLst/>
                      </a:prstGeom>
                      <a:noFill/>
                      <a:effectLst/>
                    </p:spPr>
                  </p:pic>
                </p:oleObj>
              </mc:Fallback>
            </mc:AlternateContent>
          </a:graphicData>
        </a:graphic>
      </p:graphicFrame>
      <p:graphicFrame>
        <p:nvGraphicFramePr>
          <p:cNvPr id="29701" name="Object 12"/>
          <p:cNvGraphicFramePr>
            <a:graphicFrameLocks noChangeAspect="1"/>
          </p:cNvGraphicFramePr>
          <p:nvPr/>
        </p:nvGraphicFramePr>
        <p:xfrm>
          <a:off x="4759325" y="1700212"/>
          <a:ext cx="749300" cy="527050"/>
        </p:xfrm>
        <a:graphic>
          <a:graphicData uri="http://schemas.openxmlformats.org/presentationml/2006/ole">
            <mc:AlternateContent xmlns:mc="http://schemas.openxmlformats.org/markup-compatibility/2006">
              <mc:Choice xmlns:v="urn:schemas-microsoft-com:vml" Requires="v">
                <p:oleObj spid="_x0000_s1059" name="Equation" r:id="rId6" progId="Equation.DSMT4">
                  <p:embed/>
                </p:oleObj>
              </mc:Choice>
              <mc:Fallback>
                <p:oleObj spid="_x0000_s1059" name="Equation" r:id="rId6" progId="Equation.DSMT4">
                  <p:embed/>
                  <p:pic>
                    <p:nvPicPr>
                      <p:cNvPr id="0" name="OLE substitute image"/>
                      <p:cNvPicPr/>
                      <p:nvPr/>
                    </p:nvPicPr>
                    <p:blipFill>
                      <a:blip r:embed="rId7"/>
                      <a:stretch/>
                    </p:blipFill>
                    <p:spPr>
                      <a:xfrm>
                        <a:off x="4759325" y="1700212"/>
                        <a:ext cx="749300" cy="527050"/>
                      </a:xfrm>
                      <a:prstGeom prst="rect">
                        <a:avLst/>
                      </a:prstGeom>
                      <a:noFill/>
                      <a:effectLst/>
                    </p:spPr>
                  </p:pic>
                </p:oleObj>
              </mc:Fallback>
            </mc:AlternateContent>
          </a:graphicData>
        </a:graphic>
      </p:graphicFrame>
    </p:spTree>
  </p:cSld>
  <p:clrMapOvr>
    <a:masterClrMapping/>
  </p:clrMapOvr>
  <p:transition/>
  <p:timing/>
</p:sld>
</file>

<file path=ppt/slides/slide2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0722" name="Rectangle 3"/>
          <p:cNvSpPr/>
          <p:nvPr>
            <p:ph type="body" sz="half" idx="4294967295"/>
          </p:nvPr>
        </p:nvSpPr>
        <p:spPr>
          <a:xfrm>
            <a:off x="1116012" y="836612"/>
            <a:ext cx="7561262" cy="503238"/>
          </a:xfrm>
          <a:prstGeom prst="rect">
            <a:avLst/>
          </a:prstGeom>
          <a:noFill/>
          <a:ln>
            <a:miter lim="800000"/>
          </a:ln>
          <a:effectLst/>
        </p:spPr>
        <p:txBody>
          <a:bodyPr vert="horz" wrap="square" lIns="91440" tIns="45720" rIns="91440" bIns="45720" anchor="t" anchorCtr="0">
            <a:noAutofit/>
          </a:bodyPr>
          <a:lstStyle>
            <a:lvl1pPr marL="609600" indent="-609600" algn="l"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609600" lvl="0" indent="-609600" eaLnBrk="1" hangingPunct="1">
              <a:lnSpc>
                <a:spcPct val="90000"/>
              </a:lnSpc>
              <a:buNone/>
            </a:pPr>
            <a:r>
              <a:rPr lang="zh-CN" altLang="en-US">
                <a:effectLst/>
                <a:latin typeface="黑体" pitchFamily="49" charset="-122"/>
                <a:ea typeface="黑体" pitchFamily="49" charset="-122"/>
              </a:rPr>
              <a:t>例  试分析下表所示四个方案的非劣性。</a:t>
            </a:r>
          </a:p>
          <a:p>
            <a:pPr marL="609600" lvl="0" indent="-609600" eaLnBrk="1" hangingPunct="1">
              <a:lnSpc>
                <a:spcPct val="90000"/>
              </a:lnSpc>
              <a:buNone/>
            </a:pPr>
            <a:endParaRPr lang="en-US" altLang="zh-CN">
              <a:effectLst/>
              <a:latin typeface="黑体" pitchFamily="49" charset="-122"/>
              <a:ea typeface="黑体" pitchFamily="49" charset="-122"/>
            </a:endParaRPr>
          </a:p>
        </p:txBody>
      </p:sp>
      <p:graphicFrame>
        <p:nvGraphicFramePr>
          <p:cNvPr id="30723" name="Group 581"/>
          <p:cNvGraphicFramePr>
            <a:graphicFrameLocks noGrp="1"/>
          </p:cNvGraphicFramePr>
          <p:nvPr>
            <p:ph sz="half" idx="4294967295"/>
          </p:nvPr>
        </p:nvGraphicFramePr>
        <p:xfrm>
          <a:off x="827088" y="1989138"/>
          <a:ext cx="7345362" cy="3887788"/>
        </p:xfrm>
        <a:graphic>
          <a:graphicData uri="http://schemas.openxmlformats.org/drawingml/2006/table">
            <a:tbl>
              <a:tblPr>
                <a:effectLst/>
              </a:tblPr>
              <a:tblGrid>
                <a:gridCol w="2052638"/>
                <a:gridCol w="1549400"/>
                <a:gridCol w="1547812"/>
                <a:gridCol w="2195512"/>
              </a:tblGrid>
              <a:tr h="647700">
                <a:tc rowSpan="2">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328612" algn="ctr" eaLnBrk="1" hangingPunct="1"/>
                      <a:endParaRPr kumimoji="1" lang="en-US" altLang="zh-CN" sz="2400" b="1">
                        <a:effectLst/>
                        <a:latin typeface="宋体" pitchFamily="2" charset="-122"/>
                        <a:ea typeface="Times New Roman" pitchFamily="18" charset="0"/>
                      </a:endParaRPr>
                    </a:p>
                    <a:p>
                      <a:pPr marL="0" lvl="0" indent="328612" algn="ctr" eaLnBrk="1" hangingPunct="1"/>
                      <a:r>
                        <a:rPr kumimoji="1" lang="zh-CN" altLang="en-US" sz="2400" b="1">
                          <a:effectLst/>
                          <a:latin typeface="宋体" pitchFamily="2" charset="-122"/>
                          <a:ea typeface="Times New Roman" pitchFamily="18" charset="0"/>
                        </a:rPr>
                        <a:t>方案</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gridSpan="2">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zh-CN" altLang="en-US" sz="2400" b="1">
                          <a:effectLst/>
                          <a:latin typeface="宋体" pitchFamily="2" charset="-122"/>
                          <a:ea typeface="Times New Roman" pitchFamily="18" charset="0"/>
                        </a:rPr>
                        <a:t>目标函数</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hMerge="1">
                  <a:txBody>
                    <a:bodyPr/>
                    <a:lstStyle/>
                    <a:p/>
                  </a:txBody>
                  <a:tcPr/>
                </a:tc>
                <a:tc rowSpan="2">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zh-CN" altLang="en-US" sz="2400" b="1">
                          <a:effectLst/>
                          <a:latin typeface="宋体" pitchFamily="2" charset="-122"/>
                          <a:ea typeface="Times New Roman" pitchFamily="18" charset="0"/>
                        </a:rPr>
                        <a:t>方案的性质</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47700">
                <a:tc vMerge="1">
                  <a:txBody>
                    <a:bodyPr/>
                    <a:lstStyle/>
                    <a:p/>
                  </a:txBody>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F1(x)</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F2(x)</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vMerge="1">
                  <a:txBody>
                    <a:bodyPr/>
                    <a:lstStyle/>
                    <a:p/>
                  </a:txBody>
                  <a:tcPr/>
                </a:tc>
              </a:tr>
              <a:tr h="649288">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X1</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10</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21</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zh-CN" altLang="en-US" sz="2400" b="1">
                          <a:effectLst/>
                          <a:latin typeface="宋体" pitchFamily="2" charset="-122"/>
                          <a:ea typeface="Times New Roman" pitchFamily="18" charset="0"/>
                        </a:rPr>
                        <a:t>非劣</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47700">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X2</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14</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18</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zh-CN" altLang="en-US" sz="2400" b="1">
                          <a:effectLst/>
                          <a:latin typeface="宋体" pitchFamily="2" charset="-122"/>
                          <a:ea typeface="Times New Roman" pitchFamily="18" charset="0"/>
                        </a:rPr>
                        <a:t>非劣</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47700">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X3</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12</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16</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zh-CN" altLang="en-US" sz="2400" b="1">
                          <a:effectLst/>
                          <a:latin typeface="宋体" pitchFamily="2" charset="-122"/>
                          <a:ea typeface="Times New Roman" pitchFamily="18" charset="0"/>
                        </a:rPr>
                        <a:t>劣</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47700">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X4</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8</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en-US" altLang="zh-CN" sz="2400" b="1">
                          <a:effectLst/>
                          <a:latin typeface="宋体" pitchFamily="2" charset="-122"/>
                          <a:ea typeface="Times New Roman" pitchFamily="18" charset="0"/>
                        </a:rPr>
                        <a:t>20</a:t>
                      </a:r>
                      <a:endParaRPr kumimoji="1" lang="en-US" altLang="zh-CN"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kumimoji="1" lang="zh-CN" altLang="en-US" sz="2400" b="1">
                          <a:effectLst/>
                          <a:latin typeface="宋体" pitchFamily="2" charset="-122"/>
                          <a:ea typeface="Times New Roman" pitchFamily="18" charset="0"/>
                        </a:rPr>
                        <a:t>劣</a:t>
                      </a:r>
                      <a:endParaRPr kumimoji="1" lang="zh-CN" altLang="en-US" sz="2400">
                        <a:effectLst/>
                        <a:latin typeface="宋体" pitchFamily="2" charset="-122"/>
                        <a:ea typeface="Times New Roman" pitchFamily="18" charset="0"/>
                      </a:endParaRPr>
                    </a:p>
                  </a:txBody>
                  <a:tcP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30722">
                                            <p:txEl>
                                              <p:charRg st="0" end="20"/>
                                            </p:txEl>
                                          </p:spTgt>
                                        </p:tgtEl>
                                        <p:attrNameLst>
                                          <p:attrName>style.visibility</p:attrName>
                                        </p:attrNameLst>
                                      </p:cBhvr>
                                      <p:to>
                                        <p:strVal val="visible"/>
                                      </p:to>
                                    </p:set>
                                    <p:animEffect transition="in" filter="blinds(horizontal)">
                                      <p:cBhvr additive="base">
                                        <p:cTn id="7" dur="500"/>
                                        <p:tgtEl>
                                          <p:spTgt spid="30722">
                                            <p:txEl>
                                              <p:charRg st="0" end="20"/>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30723"/>
                                        </p:tgtEl>
                                        <p:attrNameLst>
                                          <p:attrName>style.visibility</p:attrName>
                                        </p:attrNameLst>
                                      </p:cBhvr>
                                      <p:to>
                                        <p:strVal val="visible"/>
                                      </p:to>
                                    </p:set>
                                    <p:animEffect transition="in" filter="blinds(horizontal)">
                                      <p:cBhvr additive="base">
                                        <p:cTn id="13"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slides/slide3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1746" name="Rectangle 3"/>
          <p:cNvSpPr/>
          <p:nvPr>
            <p:ph type="body" sz="half" idx="4294967295"/>
          </p:nvPr>
        </p:nvSpPr>
        <p:spPr>
          <a:xfrm>
            <a:off x="133350" y="2276475"/>
            <a:ext cx="8686800" cy="2447925"/>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lvl="0" eaLnBrk="1" hangingPunct="1">
              <a:lnSpc>
                <a:spcPct val="90000"/>
              </a:lnSpc>
              <a:buNone/>
            </a:pPr>
            <a:r>
              <a:rPr lang="en-US" altLang="zh-CN">
                <a:effectLst/>
                <a:latin typeface="黑体" pitchFamily="49" charset="-122"/>
                <a:ea typeface="黑体" pitchFamily="49" charset="-122"/>
              </a:rPr>
              <a:t>  </a:t>
            </a:r>
            <a:r>
              <a:rPr lang="zh-CN" altLang="en-US">
                <a:effectLst/>
                <a:latin typeface="黑体" pitchFamily="49" charset="-122"/>
                <a:ea typeface="黑体" pitchFamily="49" charset="-122"/>
              </a:rPr>
              <a:t>解：因</a:t>
            </a:r>
            <a:r>
              <a:rPr lang="zh-CN" altLang="en-US">
                <a:effectLst/>
              </a:rPr>
              <a:t>        </a:t>
            </a:r>
          </a:p>
          <a:p>
            <a:pPr lvl="0" eaLnBrk="1" hangingPunct="1">
              <a:lnSpc>
                <a:spcPct val="90000"/>
              </a:lnSpc>
            </a:pPr>
            <a:endParaRPr lang="zh-CN" altLang="en-US">
              <a:effectLst/>
            </a:endParaRPr>
          </a:p>
          <a:p>
            <a:pPr lvl="0" eaLnBrk="1" hangingPunct="1">
              <a:lnSpc>
                <a:spcPct val="90000"/>
              </a:lnSpc>
              <a:buNone/>
            </a:pPr>
            <a:r>
              <a:rPr lang="zh-CN" altLang="en-US">
                <a:effectLst/>
                <a:latin typeface="黑体" pitchFamily="49" charset="-122"/>
                <a:ea typeface="黑体" pitchFamily="49" charset="-122"/>
              </a:rPr>
              <a:t>故 </a:t>
            </a:r>
            <a:r>
              <a:rPr lang="zh-CN" altLang="en-US">
                <a:effectLst/>
              </a:rPr>
              <a:t>              。  </a:t>
            </a:r>
          </a:p>
          <a:p>
            <a:pPr lvl="0" eaLnBrk="1" hangingPunct="1">
              <a:lnSpc>
                <a:spcPct val="90000"/>
              </a:lnSpc>
              <a:buNone/>
            </a:pPr>
            <a:r>
              <a:rPr lang="zh-CN" altLang="en-US">
                <a:effectLst/>
                <a:ea typeface="黑体" pitchFamily="49" charset="-122"/>
              </a:rPr>
              <a:t>同理</a:t>
            </a:r>
            <a:r>
              <a:rPr lang="zh-CN" altLang="en-US">
                <a:effectLst/>
              </a:rPr>
              <a:t>，                                                                 。     </a:t>
            </a:r>
          </a:p>
          <a:p>
            <a:pPr lvl="0" eaLnBrk="1" hangingPunct="1">
              <a:lnSpc>
                <a:spcPct val="90000"/>
              </a:lnSpc>
              <a:buNone/>
            </a:pPr>
            <a:r>
              <a:rPr lang="zh-CN" altLang="en-US">
                <a:effectLst/>
                <a:ea typeface="黑体" pitchFamily="49" charset="-122"/>
              </a:rPr>
              <a:t>因此四个方案的优劣性见表。</a:t>
            </a:r>
            <a:r>
              <a:rPr lang="zh-CN" altLang="en-US">
                <a:effectLst/>
              </a:rPr>
              <a:t>                               </a:t>
            </a:r>
          </a:p>
          <a:p>
            <a:pPr lvl="0" eaLnBrk="1" hangingPunct="1">
              <a:lnSpc>
                <a:spcPct val="90000"/>
              </a:lnSpc>
            </a:pPr>
            <a:endParaRPr lang="en-US" altLang="zh-CN">
              <a:effectLst/>
            </a:endParaRPr>
          </a:p>
        </p:txBody>
      </p:sp>
      <p:graphicFrame>
        <p:nvGraphicFramePr>
          <p:cNvPr id="31747" name="Object 4"/>
          <p:cNvGraphicFramePr>
            <a:graphicFrameLocks noChangeAspect="1"/>
          </p:cNvGraphicFramePr>
          <p:nvPr>
            <p:ph sz="quarter" idx="4294967295"/>
          </p:nvPr>
        </p:nvGraphicFramePr>
        <p:xfrm>
          <a:off x="1187450" y="3644900"/>
          <a:ext cx="6370638" cy="576262"/>
        </p:xfrm>
        <a:graphic>
          <a:graphicData uri="http://schemas.openxmlformats.org/presentationml/2006/ole">
            <mc:AlternateContent xmlns:mc="http://schemas.openxmlformats.org/markup-compatibility/2006">
              <mc:Choice xmlns:v="urn:schemas-microsoft-com:vml" Requires="v">
                <p:oleObj spid="_x0000_s1060" name="Equation" r:id="rId2" progId="Equation.DSMT4">
                  <p:embed/>
                </p:oleObj>
              </mc:Choice>
              <mc:Fallback>
                <p:oleObj spid="_x0000_s1060" name="Equation" r:id="rId2" progId="Equation.DSMT4">
                  <p:embed/>
                  <p:pic>
                    <p:nvPicPr>
                      <p:cNvPr id="0" name="OLE substitute image"/>
                      <p:cNvPicPr/>
                      <p:nvPr/>
                    </p:nvPicPr>
                    <p:blipFill>
                      <a:blip r:embed="rId3">
                        <a:alphaModFix/>
                      </a:blip>
                      <a:stretch/>
                    </p:blipFill>
                    <p:spPr>
                      <a:xfrm>
                        <a:off x="1187450" y="3644900"/>
                        <a:ext cx="6370638" cy="576262"/>
                      </a:xfrm>
                      <a:prstGeom prst="rect">
                        <a:avLst/>
                      </a:prstGeom>
                      <a:noFill/>
                      <a:effectLst/>
                    </p:spPr>
                  </p:pic>
                </p:oleObj>
              </mc:Fallback>
            </mc:AlternateContent>
          </a:graphicData>
        </a:graphic>
      </p:graphicFrame>
      <p:graphicFrame>
        <p:nvGraphicFramePr>
          <p:cNvPr id="31748" name="Object 10"/>
          <p:cNvGraphicFramePr>
            <a:graphicFrameLocks noChangeAspect="1"/>
          </p:cNvGraphicFramePr>
          <p:nvPr/>
        </p:nvGraphicFramePr>
        <p:xfrm>
          <a:off x="1835150" y="2133600"/>
          <a:ext cx="4765675" cy="1079500"/>
        </p:xfrm>
        <a:graphic>
          <a:graphicData uri="http://schemas.openxmlformats.org/presentationml/2006/ole">
            <mc:AlternateContent xmlns:mc="http://schemas.openxmlformats.org/markup-compatibility/2006">
              <mc:Choice xmlns:v="urn:schemas-microsoft-com:vml" Requires="v">
                <p:oleObj spid="_x0000_s1061" name="Equation" r:id="rId4" progId="Equation.DSMT4">
                  <p:embed/>
                </p:oleObj>
              </mc:Choice>
              <mc:Fallback>
                <p:oleObj spid="_x0000_s1061" name="Equation" r:id="rId4" progId="Equation.DSMT4">
                  <p:embed/>
                  <p:pic>
                    <p:nvPicPr>
                      <p:cNvPr id="0" name="OLE substitute image"/>
                      <p:cNvPicPr/>
                      <p:nvPr/>
                    </p:nvPicPr>
                    <p:blipFill>
                      <a:blip r:embed="rId5"/>
                      <a:stretch/>
                    </p:blipFill>
                    <p:spPr>
                      <a:xfrm>
                        <a:off x="1835150" y="2133600"/>
                        <a:ext cx="4765675" cy="1079500"/>
                      </a:xfrm>
                      <a:prstGeom prst="rect">
                        <a:avLst/>
                      </a:prstGeom>
                      <a:noFill/>
                      <a:effectLst/>
                    </p:spPr>
                  </p:pic>
                </p:oleObj>
              </mc:Fallback>
            </mc:AlternateContent>
          </a:graphicData>
        </a:graphic>
      </p:graphicFrame>
      <p:graphicFrame>
        <p:nvGraphicFramePr>
          <p:cNvPr id="31749" name="Object 11"/>
          <p:cNvGraphicFramePr>
            <a:graphicFrameLocks noChangeAspect="1"/>
          </p:cNvGraphicFramePr>
          <p:nvPr/>
        </p:nvGraphicFramePr>
        <p:xfrm>
          <a:off x="611188" y="3105150"/>
          <a:ext cx="1450975" cy="539750"/>
        </p:xfrm>
        <a:graphic>
          <a:graphicData uri="http://schemas.openxmlformats.org/presentationml/2006/ole">
            <mc:AlternateContent xmlns:mc="http://schemas.openxmlformats.org/markup-compatibility/2006">
              <mc:Choice xmlns:v="urn:schemas-microsoft-com:vml" Requires="v">
                <p:oleObj spid="_x0000_s1062" name="Equation" r:id="rId6" progId="Equation.DSMT4">
                  <p:embed/>
                </p:oleObj>
              </mc:Choice>
              <mc:Fallback>
                <p:oleObj spid="_x0000_s1062" name="Equation" r:id="rId6" progId="Equation.DSMT4">
                  <p:embed/>
                  <p:pic>
                    <p:nvPicPr>
                      <p:cNvPr id="0" name="OLE substitute image"/>
                      <p:cNvPicPr/>
                      <p:nvPr/>
                    </p:nvPicPr>
                    <p:blipFill>
                      <a:blip r:embed="rId7"/>
                      <a:stretch/>
                    </p:blipFill>
                    <p:spPr>
                      <a:xfrm>
                        <a:off x="611188" y="3105150"/>
                        <a:ext cx="1450975" cy="539750"/>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31746">
                                            <p:txEl>
                                              <p:charRg st="0" end="14"/>
                                            </p:txEl>
                                          </p:spTgt>
                                        </p:tgtEl>
                                        <p:attrNameLst>
                                          <p:attrName>style.visibility</p:attrName>
                                        </p:attrNameLst>
                                      </p:cBhvr>
                                      <p:to>
                                        <p:strVal val="visible"/>
                                      </p:to>
                                    </p:set>
                                    <p:animEffect transition="in" filter="blinds(horizontal)">
                                      <p:cBhvr additive="base">
                                        <p:cTn id="7" dur="500"/>
                                        <p:tgtEl>
                                          <p:spTgt spid="31746">
                                            <p:txEl>
                                              <p:charRg st="0" end="14"/>
                                            </p:txEl>
                                          </p:spTgt>
                                        </p:tgtEl>
                                      </p:cBhvr>
                                    </p:animEffect>
                                  </p:childTnLst>
                                </p:cTn>
                              </p:par>
                              <p:par>
                                <p:cTn id="8" presetID="3" presetClass="entr" presetSubtype="10" fill="hold" nodeType="withEffect">
                                  <p:stCondLst>
                                    <p:cond delay="-9223372036854775808"/>
                                  </p:stCondLst>
                                  <p:childTnLst>
                                    <p:set>
                                      <p:cBhvr additive="base">
                                        <p:cTn id="9" dur="1" fill="hold">
                                          <p:stCondLst>
                                            <p:cond delay="0"/>
                                          </p:stCondLst>
                                        </p:cTn>
                                        <p:tgtEl>
                                          <p:spTgt spid="31748"/>
                                        </p:tgtEl>
                                        <p:attrNameLst>
                                          <p:attrName>style.visibility</p:attrName>
                                        </p:attrNameLst>
                                      </p:cBhvr>
                                      <p:to>
                                        <p:strVal val="visible"/>
                                      </p:to>
                                    </p:set>
                                    <p:animEffect transition="in" filter="blinds(horizontal)">
                                      <p:cBhvr additive="base">
                                        <p:cTn id="10" dur="500"/>
                                        <p:tgtEl>
                                          <p:spTgt spid="31748"/>
                                        </p:tgtEl>
                                      </p:cBhvr>
                                    </p:animEffect>
                                  </p:childTnLst>
                                </p:cTn>
                              </p:par>
                            </p:childTnLst>
                          </p:cTn>
                        </p:par>
                      </p:childTnLst>
                    </p:cTn>
                  </p:par>
                  <p:par>
                    <p:cTn id="11" fill="hold">
                      <p:stCondLst>
                        <p:cond delay="indefinite"/>
                      </p:stCondLst>
                      <p:childTnLst>
                        <p:par>
                          <p:cTn id="12" fill="hold">
                            <p:stCondLst>
                              <p:cond delay="indefinite"/>
                            </p:stCondLst>
                          </p:cTn>
                        </p:par>
                        <p:par>
                          <p:cTn id="13" fill="hold">
                            <p:stCondLst>
                              <p:cond delay="0"/>
                            </p:stCondLst>
                            <p:childTnLst>
                              <p:par>
                                <p:cTn id="14" presetID="3" presetClass="entr" presetSubtype="10" fill="hold" nodeType="clickEffect">
                                  <p:stCondLst>
                                    <p:cond delay="-9223372036854775808"/>
                                  </p:stCondLst>
                                  <p:childTnLst>
                                    <p:set>
                                      <p:cBhvr additive="base">
                                        <p:cTn id="15" dur="1" fill="hold">
                                          <p:stCondLst>
                                            <p:cond delay="0"/>
                                          </p:stCondLst>
                                        </p:cTn>
                                        <p:tgtEl>
                                          <p:spTgt spid="31746">
                                            <p:txEl>
                                              <p:charRg st="15" end="35"/>
                                            </p:txEl>
                                          </p:spTgt>
                                        </p:tgtEl>
                                        <p:attrNameLst>
                                          <p:attrName>style.visibility</p:attrName>
                                        </p:attrNameLst>
                                      </p:cBhvr>
                                      <p:to>
                                        <p:strVal val="visible"/>
                                      </p:to>
                                    </p:set>
                                    <p:animEffect transition="in" filter="blinds(horizontal)">
                                      <p:cBhvr additive="base">
                                        <p:cTn id="16" dur="500"/>
                                        <p:tgtEl>
                                          <p:spTgt spid="31746">
                                            <p:txEl>
                                              <p:charRg st="15" end="35"/>
                                            </p:txEl>
                                          </p:spTgt>
                                        </p:tgtEl>
                                      </p:cBhvr>
                                    </p:animEffect>
                                  </p:childTnLst>
                                </p:cTn>
                              </p:par>
                              <p:par>
                                <p:cTn id="17" presetID="3" presetClass="entr" presetSubtype="10" fill="hold" nodeType="withEffect">
                                  <p:stCondLst>
                                    <p:cond delay="-9223372036854775808"/>
                                  </p:stCondLst>
                                  <p:childTnLst>
                                    <p:set>
                                      <p:cBhvr additive="base">
                                        <p:cTn id="18" dur="1" fill="hold">
                                          <p:stCondLst>
                                            <p:cond delay="0"/>
                                          </p:stCondLst>
                                        </p:cTn>
                                        <p:tgtEl>
                                          <p:spTgt spid="31749"/>
                                        </p:tgtEl>
                                        <p:attrNameLst>
                                          <p:attrName>style.visibility</p:attrName>
                                        </p:attrNameLst>
                                      </p:cBhvr>
                                      <p:to>
                                        <p:strVal val="visible"/>
                                      </p:to>
                                    </p:set>
                                    <p:animEffect transition="in" filter="blinds(horizontal)">
                                      <p:cBhvr additive="base">
                                        <p:cTn id="19" dur="500"/>
                                        <p:tgtEl>
                                          <p:spTgt spid="31749"/>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31746">
                                            <p:txEl>
                                              <p:charRg st="35" end="110"/>
                                            </p:txEl>
                                          </p:spTgt>
                                        </p:tgtEl>
                                        <p:attrNameLst>
                                          <p:attrName>style.visibility</p:attrName>
                                        </p:attrNameLst>
                                      </p:cBhvr>
                                      <p:to>
                                        <p:strVal val="visible"/>
                                      </p:to>
                                    </p:set>
                                    <p:animEffect transition="in" filter="blinds(horizontal)">
                                      <p:cBhvr additive="base">
                                        <p:cTn id="25" dur="500"/>
                                        <p:tgtEl>
                                          <p:spTgt spid="31746">
                                            <p:txEl>
                                              <p:charRg st="35" end="110"/>
                                            </p:txEl>
                                          </p:spTgt>
                                        </p:tgtEl>
                                      </p:cBhvr>
                                    </p:animEffect>
                                  </p:childTnLst>
                                </p:cTn>
                              </p:par>
                              <p:par>
                                <p:cTn id="26" presetID="3" presetClass="entr" presetSubtype="10" fill="hold" nodeType="withEffect">
                                  <p:stCondLst>
                                    <p:cond delay="-9223372036854775808"/>
                                  </p:stCondLst>
                                  <p:childTnLst>
                                    <p:set>
                                      <p:cBhvr additive="base">
                                        <p:cTn id="27" dur="1" fill="hold">
                                          <p:stCondLst>
                                            <p:cond delay="0"/>
                                          </p:stCondLst>
                                        </p:cTn>
                                        <p:tgtEl>
                                          <p:spTgt spid="31746">
                                            <p:txEl>
                                              <p:charRg st="110" end="155"/>
                                            </p:txEl>
                                          </p:spTgt>
                                        </p:tgtEl>
                                        <p:attrNameLst>
                                          <p:attrName>style.visibility</p:attrName>
                                        </p:attrNameLst>
                                      </p:cBhvr>
                                      <p:to>
                                        <p:strVal val="visible"/>
                                      </p:to>
                                    </p:set>
                                    <p:animEffect transition="in" filter="blinds(horizontal)">
                                      <p:cBhvr additive="base">
                                        <p:cTn id="28" dur="500"/>
                                        <p:tgtEl>
                                          <p:spTgt spid="31746">
                                            <p:txEl>
                                              <p:charRg st="110" end="155"/>
                                            </p:txEl>
                                          </p:spTgt>
                                        </p:tgtEl>
                                      </p:cBhvr>
                                    </p:animEffect>
                                  </p:childTnLst>
                                </p:cTn>
                              </p:par>
                              <p:par>
                                <p:cTn id="29" presetID="3" presetClass="entr" presetSubtype="10" fill="hold" nodeType="withEffect">
                                  <p:stCondLst>
                                    <p:cond delay="-9223372036854775808"/>
                                  </p:stCondLst>
                                  <p:childTnLst>
                                    <p:set>
                                      <p:cBhvr additive="base">
                                        <p:cTn id="30" dur="1" fill="hold">
                                          <p:stCondLst>
                                            <p:cond delay="0"/>
                                          </p:stCondLst>
                                        </p:cTn>
                                        <p:tgtEl>
                                          <p:spTgt spid="31747"/>
                                        </p:tgtEl>
                                        <p:attrNameLst>
                                          <p:attrName>style.visibility</p:attrName>
                                        </p:attrNameLst>
                                      </p:cBhvr>
                                      <p:to>
                                        <p:strVal val="visible"/>
                                      </p:to>
                                    </p:set>
                                    <p:animEffect transition="in" filter="blinds(horizontal)">
                                      <p:cBhvr additive="base">
                                        <p:cTn id="31" dur="500"/>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2770" name="Rectangle 2"/>
          <p:cNvSpPr>
            <a:spLocks noChangeArrowheads="1"/>
          </p:cNvSpPr>
          <p:nvPr/>
        </p:nvSpPr>
        <p:spPr>
          <a:xfrm>
            <a:off x="5071886" y="1052513"/>
            <a:ext cx="3534131" cy="5217293"/>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just" eaLnBrk="1" hangingPunct="1">
              <a:lnSpc>
                <a:spcPct val="140000"/>
              </a:lnSpc>
            </a:pPr>
            <a:r>
              <a:rPr kumimoji="1" lang="en-US" altLang="zh-CN" sz="2400">
                <a:effectLst/>
                <a:latin typeface="Times New Roman" pitchFamily="18" charset="0"/>
                <a:ea typeface="黑体" pitchFamily="49" charset="-122"/>
              </a:rPr>
              <a:t>  </a:t>
            </a:r>
            <a:r>
              <a:rPr kumimoji="1" lang="zh-CN" altLang="en-US" sz="2400" b="1">
                <a:effectLst/>
                <a:latin typeface="Times New Roman" pitchFamily="18" charset="0"/>
                <a:ea typeface="黑体" pitchFamily="49" charset="-122"/>
              </a:rPr>
              <a:t>在图</a:t>
            </a:r>
            <a:r>
              <a:rPr kumimoji="1" lang="en-US" altLang="zh-CN" sz="2400" b="1">
                <a:effectLst/>
                <a:latin typeface="Times New Roman" pitchFamily="18" charset="0"/>
                <a:ea typeface="黑体" pitchFamily="49" charset="-122"/>
              </a:rPr>
              <a:t>1</a:t>
            </a:r>
            <a:r>
              <a:rPr kumimoji="1" lang="zh-CN" altLang="en-US" sz="2400" b="1">
                <a:effectLst/>
                <a:latin typeface="Times New Roman" pitchFamily="18" charset="0"/>
                <a:ea typeface="黑体" pitchFamily="49" charset="-122"/>
              </a:rPr>
              <a:t>中，</a:t>
            </a:r>
            <a:r>
              <a:rPr kumimoji="1" lang="en-US" altLang="zh-CN" sz="2400" b="1">
                <a:effectLst/>
                <a:latin typeface="Times New Roman" pitchFamily="18" charset="0"/>
                <a:ea typeface="黑体" pitchFamily="49" charset="-122"/>
              </a:rPr>
              <a:t>max(</a:t>
            </a:r>
            <a:r>
              <a:rPr kumimoji="1" lang="en-US" altLang="zh-CN" sz="2400" b="1" i="1">
                <a:effectLst/>
                <a:latin typeface="Times New Roman" pitchFamily="18" charset="0"/>
                <a:ea typeface="黑体" pitchFamily="49" charset="-122"/>
              </a:rPr>
              <a:t>f</a:t>
            </a:r>
            <a:r>
              <a:rPr kumimoji="1" lang="en-US" altLang="zh-CN" sz="2400" b="1" baseline="-25000">
                <a:effectLst/>
                <a:latin typeface="Times New Roman" pitchFamily="18" charset="0"/>
                <a:ea typeface="黑体" pitchFamily="49" charset="-122"/>
              </a:rPr>
              <a:t>1</a:t>
            </a:r>
            <a:r>
              <a:rPr kumimoji="1" lang="en-US" altLang="zh-CN" sz="2400" b="1">
                <a:effectLst/>
                <a:latin typeface="Times New Roman" pitchFamily="18" charset="0"/>
                <a:ea typeface="黑体" pitchFamily="49" charset="-122"/>
              </a:rPr>
              <a:t>, </a:t>
            </a:r>
            <a:r>
              <a:rPr kumimoji="1" lang="en-US" altLang="zh-CN" sz="2400" b="1" i="1">
                <a:effectLst/>
                <a:latin typeface="Times New Roman" pitchFamily="18" charset="0"/>
                <a:ea typeface="黑体" pitchFamily="49" charset="-122"/>
              </a:rPr>
              <a:t>f</a:t>
            </a:r>
            <a:r>
              <a:rPr kumimoji="1" lang="en-US" altLang="zh-CN" sz="2400" b="1" baseline="-25000">
                <a:effectLst/>
                <a:latin typeface="Times New Roman" pitchFamily="18" charset="0"/>
                <a:ea typeface="黑体" pitchFamily="49" charset="-122"/>
              </a:rPr>
              <a:t>2</a:t>
            </a:r>
            <a:r>
              <a:rPr kumimoji="1" lang="en-US" altLang="zh-CN" sz="2400" b="1">
                <a:effectLst/>
                <a:latin typeface="Times New Roman" pitchFamily="18" charset="0"/>
                <a:ea typeface="黑体" pitchFamily="49" charset="-122"/>
              </a:rPr>
              <a:t>) .</a:t>
            </a:r>
            <a:r>
              <a:rPr kumimoji="1" lang="zh-CN" altLang="en-US" sz="2400" b="1">
                <a:effectLst/>
                <a:latin typeface="Times New Roman" pitchFamily="18" charset="0"/>
                <a:ea typeface="黑体" pitchFamily="49" charset="-122"/>
              </a:rPr>
              <a:t>就方案①和②来说，①的          </a:t>
            </a:r>
            <a:r>
              <a:rPr kumimoji="1" lang="en-US" altLang="zh-CN" sz="2400" b="1" i="1">
                <a:effectLst/>
                <a:latin typeface="Times New Roman" pitchFamily="18" charset="0"/>
                <a:ea typeface="黑体" pitchFamily="49" charset="-122"/>
              </a:rPr>
              <a:t>f</a:t>
            </a:r>
            <a:r>
              <a:rPr kumimoji="1" lang="en-US" altLang="zh-CN" sz="2400" b="1" baseline="-25000">
                <a:effectLst/>
                <a:latin typeface="Times New Roman" pitchFamily="18" charset="0"/>
                <a:ea typeface="黑体" pitchFamily="49" charset="-122"/>
              </a:rPr>
              <a:t>2</a:t>
            </a:r>
            <a:r>
              <a:rPr kumimoji="1" lang="en-US" altLang="zh-CN" sz="2400" b="1">
                <a:effectLst/>
                <a:latin typeface="Times New Roman" pitchFamily="18" charset="0"/>
                <a:ea typeface="黑体" pitchFamily="49" charset="-122"/>
              </a:rPr>
              <a:t> </a:t>
            </a:r>
            <a:r>
              <a:rPr kumimoji="1" lang="zh-CN" altLang="en-US" sz="2400" b="1">
                <a:effectLst/>
                <a:latin typeface="Times New Roman" pitchFamily="18" charset="0"/>
                <a:ea typeface="黑体" pitchFamily="49" charset="-122"/>
              </a:rPr>
              <a:t>目标值比②大，但其目标值 </a:t>
            </a:r>
            <a:r>
              <a:rPr kumimoji="1" lang="en-US" altLang="zh-CN" sz="2400" b="1" i="1">
                <a:effectLst/>
                <a:latin typeface="Times New Roman" pitchFamily="18" charset="0"/>
                <a:ea typeface="黑体" pitchFamily="49" charset="-122"/>
              </a:rPr>
              <a:t>f</a:t>
            </a:r>
            <a:r>
              <a:rPr kumimoji="1" lang="en-US" altLang="zh-CN" sz="2400" b="1" baseline="-25000">
                <a:effectLst/>
                <a:latin typeface="Times New Roman" pitchFamily="18" charset="0"/>
                <a:ea typeface="黑体" pitchFamily="49" charset="-122"/>
              </a:rPr>
              <a:t>1</a:t>
            </a:r>
            <a:r>
              <a:rPr kumimoji="1" lang="en-US" altLang="zh-CN" sz="2400" b="1">
                <a:effectLst/>
                <a:latin typeface="Times New Roman" pitchFamily="18" charset="0"/>
                <a:ea typeface="黑体" pitchFamily="49" charset="-122"/>
              </a:rPr>
              <a:t> </a:t>
            </a:r>
            <a:r>
              <a:rPr kumimoji="1" lang="zh-CN" altLang="en-US" sz="2400" b="1">
                <a:effectLst/>
                <a:latin typeface="Times New Roman" pitchFamily="18" charset="0"/>
                <a:ea typeface="黑体" pitchFamily="49" charset="-122"/>
              </a:rPr>
              <a:t>比②小，因此无法确定这两个方案的优与劣。</a:t>
            </a:r>
          </a:p>
          <a:p>
            <a:pPr marL="0" marR="0" lvl="0" indent="0" algn="just" eaLnBrk="1" hangingPunct="1">
              <a:lnSpc>
                <a:spcPct val="140000"/>
              </a:lnSpc>
            </a:pPr>
            <a:r>
              <a:rPr kumimoji="1" lang="zh-CN" altLang="en-US" sz="2400" b="1">
                <a:effectLst/>
                <a:latin typeface="Times New Roman" pitchFamily="18" charset="0"/>
                <a:ea typeface="黑体" pitchFamily="49" charset="-122"/>
              </a:rPr>
              <a:t>        在各个方案之间，显然：</a:t>
            </a:r>
            <a:r>
              <a:rPr kumimoji="1" lang="zh-CN" altLang="en-US" sz="2400" b="1">
                <a:effectLst/>
                <a:latin typeface="黑体" pitchFamily="49" charset="-122"/>
                <a:ea typeface="黑体" pitchFamily="49" charset="-122"/>
              </a:rPr>
              <a:t>④比①好，⑤比④好</a:t>
            </a:r>
            <a:r>
              <a:rPr kumimoji="1" lang="en-US" altLang="zh-CN" sz="2400" b="1">
                <a:effectLst/>
                <a:latin typeface="黑体" pitchFamily="49" charset="-122"/>
                <a:ea typeface="黑体" pitchFamily="49" charset="-122"/>
              </a:rPr>
              <a:t>, ⑥</a:t>
            </a:r>
            <a:r>
              <a:rPr kumimoji="1" lang="zh-CN" altLang="en-US" sz="2400" b="1">
                <a:effectLst/>
                <a:latin typeface="黑体" pitchFamily="49" charset="-122"/>
                <a:ea typeface="黑体" pitchFamily="49" charset="-122"/>
              </a:rPr>
              <a:t>比②好</a:t>
            </a:r>
            <a:r>
              <a:rPr kumimoji="1" lang="en-US" altLang="zh-CN" sz="2400" b="1">
                <a:effectLst/>
                <a:latin typeface="黑体" pitchFamily="49" charset="-122"/>
                <a:ea typeface="黑体" pitchFamily="49" charset="-122"/>
              </a:rPr>
              <a:t>,</a:t>
            </a:r>
            <a:r>
              <a:rPr kumimoji="1" lang="en-US" altLang="zh-CN" sz="2400" b="1">
                <a:effectLst>
                  <a:outerShdw blurRad="38100" dist="38100" dir="2700000" algn="tl">
                    <a:schemeClr val="bg2"/>
                  </a:outerShdw>
                </a:effectLst>
                <a:latin typeface="黑体" pitchFamily="49" charset="-122"/>
                <a:ea typeface="黑体" pitchFamily="49" charset="-122"/>
              </a:rPr>
              <a:t> </a:t>
            </a:r>
            <a:r>
              <a:rPr kumimoji="1" lang="en-US" altLang="zh-CN" sz="2400" b="1">
                <a:effectLst/>
                <a:latin typeface="黑体" pitchFamily="49" charset="-122"/>
                <a:ea typeface="黑体" pitchFamily="49" charset="-122"/>
              </a:rPr>
              <a:t>⑦</a:t>
            </a:r>
            <a:r>
              <a:rPr kumimoji="1" lang="zh-CN" altLang="en-US" sz="2400" b="1">
                <a:effectLst/>
                <a:latin typeface="黑体" pitchFamily="49" charset="-122"/>
                <a:ea typeface="黑体" pitchFamily="49" charset="-122"/>
              </a:rPr>
              <a:t>比③好</a:t>
            </a:r>
            <a:r>
              <a:rPr kumimoji="1" lang="en-US" altLang="zh-CN" sz="2400" b="1">
                <a:effectLst/>
                <a:latin typeface="Times New Roman" pitchFamily="18" charset="0"/>
                <a:ea typeface="黑体" pitchFamily="49" charset="-122"/>
              </a:rPr>
              <a:t>……</a:t>
            </a:r>
            <a:r>
              <a:rPr kumimoji="1" lang="zh-CN" altLang="en-US" sz="2400" b="1">
                <a:effectLst/>
                <a:latin typeface="黑体" pitchFamily="49" charset="-122"/>
                <a:ea typeface="黑体" pitchFamily="49" charset="-122"/>
              </a:rPr>
              <a:t>。        </a:t>
            </a:r>
          </a:p>
        </p:txBody>
      </p:sp>
      <p:pic>
        <p:nvPicPr>
          <p:cNvPr id="32771" name="Picture 3" descr="zp1150401"/>
          <p:cNvPicPr/>
          <p:nvPr/>
        </p:nvPicPr>
        <p:blipFill>
          <a:blip r:embed="rId2"/>
          <a:stretch/>
        </p:blipFill>
        <p:spPr>
          <a:xfrm>
            <a:off x="684212" y="1557338"/>
            <a:ext cx="3962400" cy="3800475"/>
          </a:xfrm>
          <a:prstGeom prst="rect">
            <a:avLst/>
          </a:prstGeom>
          <a:noFill/>
          <a:ln>
            <a:noFill/>
            <a:miter lim="800000"/>
          </a:ln>
          <a:effectLst/>
        </p:spPr>
      </p:pic>
      <p:sp>
        <p:nvSpPr>
          <p:cNvPr id="32772" name="Text Box 4"/>
          <p:cNvSpPr/>
          <p:nvPr/>
        </p:nvSpPr>
        <p:spPr>
          <a:xfrm>
            <a:off x="220662" y="914400"/>
            <a:ext cx="4500296" cy="518678"/>
          </a:xfrm>
          <a:prstGeom prst="rect">
            <a:avLst/>
          </a:prstGeom>
          <a:solidFill>
            <a:schemeClr val="accent1"/>
          </a:solidFill>
          <a:ln>
            <a:solidFill>
              <a:schemeClr val="tx1"/>
            </a:solid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800" b="1">
                <a:effectLst/>
                <a:latin typeface="宋体" pitchFamily="2" charset="-122"/>
              </a:rPr>
              <a:t>非劣性</a:t>
            </a:r>
            <a:r>
              <a:rPr kumimoji="1" lang="zh-CN" altLang="en-US" sz="2800">
                <a:effectLst/>
                <a:latin typeface="宋体" pitchFamily="2" charset="-122"/>
              </a:rPr>
              <a:t>可以用下图说明。</a:t>
            </a:r>
          </a:p>
        </p:txBody>
      </p:sp>
      <p:sp>
        <p:nvSpPr>
          <p:cNvPr id="32773" name="Text Box 5"/>
          <p:cNvSpPr/>
          <p:nvPr/>
        </p:nvSpPr>
        <p:spPr>
          <a:xfrm>
            <a:off x="373062" y="5410200"/>
            <a:ext cx="4347744" cy="396636"/>
          </a:xfrm>
          <a:prstGeom prst="rect">
            <a:avLst/>
          </a:prstGeom>
          <a:solidFill>
            <a:schemeClr val="accent1"/>
          </a:solidFill>
          <a:ln>
            <a:solidFill>
              <a:schemeClr val="tx1"/>
            </a:solid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000" b="1">
                <a:effectLst/>
              </a:rPr>
              <a:t>图  多目标规划的劣解与非劣解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32770">
                                            <p:txEl>
                                              <p:charRg st="0" end="81"/>
                                            </p:txEl>
                                          </p:spTgt>
                                        </p:tgtEl>
                                        <p:attrNameLst>
                                          <p:attrName>style.visibility</p:attrName>
                                        </p:attrNameLst>
                                      </p:cBhvr>
                                      <p:to>
                                        <p:strVal val="visible"/>
                                      </p:to>
                                    </p:set>
                                    <p:animEffect transition="in" filter="wipe(left)">
                                      <p:cBhvr additive="base">
                                        <p:cTn id="7" dur="500"/>
                                        <p:tgtEl>
                                          <p:spTgt spid="32770">
                                            <p:txEl>
                                              <p:charRg st="0" end="81"/>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grpId="0" nodeType="clickEffect">
                                  <p:stCondLst>
                                    <p:cond delay="-9223372036854775808"/>
                                  </p:stCondLst>
                                  <p:childTnLst>
                                    <p:set>
                                      <p:cBhvr additive="base">
                                        <p:cTn id="12" dur="1" fill="hold">
                                          <p:stCondLst>
                                            <p:cond delay="0"/>
                                          </p:stCondLst>
                                        </p:cTn>
                                        <p:tgtEl>
                                          <p:spTgt spid="32770">
                                            <p:txEl>
                                              <p:charRg st="81" end="133"/>
                                            </p:txEl>
                                          </p:spTgt>
                                        </p:tgtEl>
                                        <p:attrNameLst>
                                          <p:attrName>style.visibility</p:attrName>
                                        </p:attrNameLst>
                                      </p:cBhvr>
                                      <p:to>
                                        <p:strVal val="visible"/>
                                      </p:to>
                                    </p:set>
                                    <p:animEffect transition="in" filter="wipe(left)">
                                      <p:cBhvr additive="base">
                                        <p:cTn id="13" dur="500"/>
                                        <p:tgtEl>
                                          <p:spTgt spid="32770">
                                            <p:txEl>
                                              <p:charRg st="81" end="1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uiExpand="1" build="p"/>
    </p:bldLst>
  </p:timing>
</p:sld>
</file>

<file path=ppt/slides/slide3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3794" name="Rectangle 2"/>
          <p:cNvSpPr/>
          <p:nvPr>
            <p:ph type="title" idx="4294967295"/>
          </p:nvPr>
        </p:nvSpPr>
        <p:spPr>
          <a:xfrm>
            <a:off x="457200" y="2141538"/>
            <a:ext cx="82296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eaLnBrk="1" hangingPunct="1"/>
            <a:r>
              <a:rPr lang="zh-CN" altLang="en-US" sz="3000">
                <a:effectLst/>
                <a:latin typeface="黑体" pitchFamily="49" charset="-122"/>
                <a:ea typeface="黑体" pitchFamily="49" charset="-122"/>
              </a:rPr>
              <a:t>第二部分  多目标决策的数学模型及其非劣解</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34818" name="Rectangle 2"/>
          <p:cNvSpPr/>
          <p:nvPr/>
        </p:nvSpPr>
        <p:spPr>
          <a:xfrm>
            <a:off x="107950" y="738188"/>
            <a:ext cx="6415146" cy="640720"/>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20000"/>
              </a:lnSpc>
              <a:spcBef>
                <a:spcPct val="20000"/>
              </a:spcBef>
              <a:buClr>
                <a:schemeClr val="accent2"/>
              </a:buClr>
              <a:buSzPct val="150000"/>
              <a:buFont typeface="Wingdings" pitchFamily="2" charset="2"/>
            </a:pPr>
            <a:r>
              <a:rPr kumimoji="1" lang="en-US" altLang="zh-CN" sz="3000" b="1">
                <a:effectLst/>
                <a:latin typeface="黑体" pitchFamily="49" charset="-122"/>
                <a:ea typeface="黑体" pitchFamily="49" charset="-122"/>
              </a:rPr>
              <a:t>   </a:t>
            </a:r>
            <a:r>
              <a:rPr kumimoji="1" lang="zh-CN" altLang="en-US" sz="3000" b="1">
                <a:effectLst/>
                <a:latin typeface="黑体" pitchFamily="49" charset="-122"/>
                <a:ea typeface="黑体" pitchFamily="49" charset="-122"/>
              </a:rPr>
              <a:t>一、多目标决策的数学模型</a:t>
            </a:r>
          </a:p>
        </p:txBody>
      </p:sp>
      <p:sp>
        <p:nvSpPr>
          <p:cNvPr id="34819" name="Rectangle 3"/>
          <p:cNvSpPr>
            <a:spLocks noChangeArrowheads="1"/>
          </p:cNvSpPr>
          <p:nvPr/>
        </p:nvSpPr>
        <p:spPr>
          <a:xfrm>
            <a:off x="828675" y="1700213"/>
            <a:ext cx="7927959" cy="1189909"/>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effectLst/>
                <a:latin typeface="宋体" pitchFamily="2" charset="-122"/>
              </a:rPr>
              <a:t>（一）任何多目标决策问题，都由两个基本部分组成：</a:t>
            </a:r>
          </a:p>
          <a:p>
            <a:pPr marL="0" marR="0" lvl="0" indent="0" eaLnBrk="1" hangingPunct="1"/>
            <a:r>
              <a:rPr kumimoji="1" lang="zh-CN" altLang="en-US" sz="2400">
                <a:effectLst/>
                <a:latin typeface="宋体" pitchFamily="2" charset="-122"/>
              </a:rPr>
              <a:t>     （</a:t>
            </a:r>
            <a:r>
              <a:rPr kumimoji="1" lang="en-US" altLang="zh-CN" sz="2400">
                <a:effectLst/>
                <a:latin typeface="宋体" pitchFamily="2" charset="-122"/>
              </a:rPr>
              <a:t>1</a:t>
            </a:r>
            <a:r>
              <a:rPr kumimoji="1" lang="zh-CN" altLang="en-US" sz="2400">
                <a:effectLst/>
                <a:latin typeface="宋体" pitchFamily="2" charset="-122"/>
              </a:rPr>
              <a:t>）两个以上的目标函数；</a:t>
            </a:r>
          </a:p>
          <a:p>
            <a:pPr marL="0" marR="0" lvl="0" indent="0" eaLnBrk="1" hangingPunct="1"/>
            <a:r>
              <a:rPr kumimoji="1" lang="zh-CN" altLang="en-US" sz="2400">
                <a:effectLst/>
                <a:latin typeface="宋体" pitchFamily="2" charset="-122"/>
              </a:rPr>
              <a:t>     （</a:t>
            </a:r>
            <a:r>
              <a:rPr kumimoji="1" lang="en-US" altLang="zh-CN" sz="2400">
                <a:effectLst/>
                <a:latin typeface="宋体" pitchFamily="2" charset="-122"/>
              </a:rPr>
              <a:t>2</a:t>
            </a:r>
            <a:r>
              <a:rPr kumimoji="1" lang="zh-CN" altLang="en-US" sz="2400">
                <a:effectLst/>
                <a:latin typeface="宋体" pitchFamily="2" charset="-122"/>
              </a:rPr>
              <a:t>）若干个约束条件。 </a:t>
            </a:r>
          </a:p>
        </p:txBody>
      </p:sp>
      <p:sp>
        <p:nvSpPr>
          <p:cNvPr id="34820" name="Rectangle 4"/>
          <p:cNvSpPr>
            <a:spLocks noChangeArrowheads="1"/>
          </p:cNvSpPr>
          <p:nvPr/>
        </p:nvSpPr>
        <p:spPr>
          <a:xfrm>
            <a:off x="827088" y="2997200"/>
            <a:ext cx="7856449" cy="823783"/>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effectLst/>
                <a:latin typeface="宋体" pitchFamily="2" charset="-122"/>
              </a:rPr>
              <a:t>（二）对于多目标决策问题，可以将其数学模型一般地描写为如下形式： </a:t>
            </a:r>
          </a:p>
        </p:txBody>
      </p:sp>
      <p:graphicFrame>
        <p:nvGraphicFramePr>
          <p:cNvPr id="34821" name="Object 6"/>
          <p:cNvGraphicFramePr>
            <a:graphicFrameLocks noChangeAspect="1"/>
          </p:cNvGraphicFramePr>
          <p:nvPr/>
        </p:nvGraphicFramePr>
        <p:xfrm>
          <a:off x="468312" y="3789362"/>
          <a:ext cx="3976688" cy="2041525"/>
        </p:xfrm>
        <a:graphic>
          <a:graphicData uri="http://schemas.openxmlformats.org/presentationml/2006/ole">
            <mc:AlternateContent xmlns:mc="http://schemas.openxmlformats.org/markup-compatibility/2006">
              <mc:Choice xmlns:v="urn:schemas-microsoft-com:vml" Requires="v">
                <p:oleObj spid="_x0000_s1063" name="公式" r:id="rId2" progId="Equation.3">
                  <p:embed/>
                </p:oleObj>
              </mc:Choice>
              <mc:Fallback>
                <p:oleObj spid="_x0000_s1063" name="公式" r:id="rId2" progId="Equation.3">
                  <p:embed/>
                  <p:pic>
                    <p:nvPicPr>
                      <p:cNvPr id="0" name="OLE substitute image"/>
                      <p:cNvPicPr/>
                      <p:nvPr/>
                    </p:nvPicPr>
                    <p:blipFill>
                      <a:blip r:embed="rId3"/>
                      <a:stretch/>
                    </p:blipFill>
                    <p:spPr>
                      <a:xfrm>
                        <a:off x="468312" y="3789362"/>
                        <a:ext cx="3976688" cy="2041525"/>
                      </a:xfrm>
                      <a:prstGeom prst="rect">
                        <a:avLst/>
                      </a:prstGeom>
                      <a:noFill/>
                      <a:effectLst/>
                    </p:spPr>
                  </p:pic>
                </p:oleObj>
              </mc:Fallback>
            </mc:AlternateContent>
          </a:graphicData>
        </a:graphic>
      </p:graphicFrame>
      <p:graphicFrame>
        <p:nvGraphicFramePr>
          <p:cNvPr id="34822" name="Object 8"/>
          <p:cNvGraphicFramePr>
            <a:graphicFrameLocks noChangeAspect="1"/>
          </p:cNvGraphicFramePr>
          <p:nvPr/>
        </p:nvGraphicFramePr>
        <p:xfrm>
          <a:off x="4643438" y="3860800"/>
          <a:ext cx="4140200" cy="1790700"/>
        </p:xfrm>
        <a:graphic>
          <a:graphicData uri="http://schemas.openxmlformats.org/presentationml/2006/ole">
            <mc:AlternateContent xmlns:mc="http://schemas.openxmlformats.org/markup-compatibility/2006">
              <mc:Choice xmlns:v="urn:schemas-microsoft-com:vml" Requires="v">
                <p:oleObj spid="_x0000_s1064" name="Equation" r:id="rId4" progId="Equation.3">
                  <p:embed/>
                </p:oleObj>
              </mc:Choice>
              <mc:Fallback>
                <p:oleObj spid="_x0000_s1064" name="Equation" r:id="rId4" progId="Equation.3">
                  <p:embed/>
                  <p:pic>
                    <p:nvPicPr>
                      <p:cNvPr id="0" name="OLE substitute image"/>
                      <p:cNvPicPr/>
                      <p:nvPr/>
                    </p:nvPicPr>
                    <p:blipFill>
                      <a:blip r:embed="rId5"/>
                      <a:stretch/>
                    </p:blipFill>
                    <p:spPr>
                      <a:xfrm>
                        <a:off x="4643438" y="3860800"/>
                        <a:ext cx="4140200" cy="1790700"/>
                      </a:xfrm>
                      <a:prstGeom prst="rect">
                        <a:avLst/>
                      </a:prstGeom>
                      <a:noFill/>
                      <a:effectLst/>
                    </p:spPr>
                  </p:pic>
                </p:oleObj>
              </mc:Fallback>
            </mc:AlternateContent>
          </a:graphicData>
        </a:graphic>
      </p:graphicFrame>
      <p:grpSp>
        <p:nvGrpSpPr>
          <p:cNvPr id="34823" name="Group 9"/>
          <p:cNvGrpSpPr/>
          <p:nvPr/>
        </p:nvGrpSpPr>
        <p:grpSpPr>
          <a:xfrm>
            <a:off x="539750" y="5949950"/>
            <a:ext cx="7185025" cy="457200"/>
            <a:chOff x="621" y="3191"/>
            <a:chExt cx="4526" cy="288"/>
          </a:xfrm>
          <a:effectLst/>
        </p:grpSpPr>
        <p:sp>
          <p:nvSpPr>
            <p:cNvPr id="34824" name="Rectangle 10"/>
            <p:cNvSpPr>
              <a:spLocks noChangeArrowheads="1"/>
            </p:cNvSpPr>
            <p:nvPr/>
          </p:nvSpPr>
          <p:spPr>
            <a:xfrm>
              <a:off x="621" y="3191"/>
              <a:ext cx="4531" cy="288"/>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effectLst/>
                  <a:latin typeface="宋体" pitchFamily="2" charset="-122"/>
                </a:rPr>
                <a:t>式中：                  为决策变量向量。    </a:t>
              </a:r>
            </a:p>
          </p:txBody>
        </p:sp>
        <p:graphicFrame>
          <p:nvGraphicFramePr>
            <p:cNvPr id="34825" name="Object 11"/>
            <p:cNvGraphicFramePr>
              <a:graphicFrameLocks noChangeAspect="1"/>
            </p:cNvGraphicFramePr>
            <p:nvPr/>
          </p:nvGraphicFramePr>
          <p:xfrm>
            <a:off x="1289" y="3219"/>
            <a:ext cx="1546" cy="256"/>
          </p:xfrm>
          <a:graphic>
            <a:graphicData uri="http://schemas.openxmlformats.org/presentationml/2006/ole">
              <mc:AlternateContent xmlns:mc="http://schemas.openxmlformats.org/markup-compatibility/2006">
                <mc:Choice xmlns:v="urn:schemas-microsoft-com:vml" Requires="v">
                  <p:oleObj spid="_x0000_s1065" name="公式" r:id="rId6" progId="Equation.3">
                    <p:embed/>
                  </p:oleObj>
                </mc:Choice>
                <mc:Fallback>
                  <p:oleObj spid="_x0000_s1065" name="公式" r:id="rId6" progId="Equation.3">
                    <p:embed/>
                    <p:pic>
                      <p:nvPicPr>
                        <p:cNvPr id="0" name="OLE substitute image"/>
                        <p:cNvPicPr/>
                        <p:nvPr/>
                      </p:nvPicPr>
                      <p:blipFill>
                        <a:blip r:embed="rId7"/>
                        <a:stretch/>
                      </p:blipFill>
                      <p:spPr>
                        <a:xfrm>
                          <a:off x="1289" y="3219"/>
                          <a:ext cx="1546" cy="256"/>
                        </a:xfrm>
                        <a:prstGeom prst="rect">
                          <a:avLst/>
                        </a:prstGeom>
                        <a:noFill/>
                        <a:effec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34818">
                                            <p:txEl>
                                              <p:charRg st="0" end="16"/>
                                            </p:txEl>
                                          </p:spTgt>
                                        </p:tgtEl>
                                        <p:attrNameLst>
                                          <p:attrName>style.visibility</p:attrName>
                                        </p:attrNameLst>
                                      </p:cBhvr>
                                      <p:to>
                                        <p:strVal val="visible"/>
                                      </p:to>
                                    </p:set>
                                    <p:animEffect transition="in" filter="blinds(horizontal)">
                                      <p:cBhvr additive="base">
                                        <p:cTn id="7" dur="500"/>
                                        <p:tgtEl>
                                          <p:spTgt spid="34818">
                                            <p:txEl>
                                              <p:charRg st="0" end="16"/>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grpId="0" nodeType="clickEffect">
                                  <p:stCondLst>
                                    <p:cond delay="-9223372036854775808"/>
                                  </p:stCondLst>
                                  <p:childTnLst>
                                    <p:set>
                                      <p:cBhvr additive="base">
                                        <p:cTn id="12" dur="1" fill="hold">
                                          <p:stCondLst>
                                            <p:cond delay="0"/>
                                          </p:stCondLst>
                                        </p:cTn>
                                        <p:tgtEl>
                                          <p:spTgt spid="34819"/>
                                        </p:tgtEl>
                                        <p:attrNameLst>
                                          <p:attrName>style.visibility</p:attrName>
                                        </p:attrNameLst>
                                      </p:cBhvr>
                                      <p:to>
                                        <p:strVal val="visible"/>
                                      </p:to>
                                    </p:set>
                                    <p:animEffect transition="in" filter="blinds(horizontal)">
                                      <p:cBhvr additive="base">
                                        <p:cTn id="13" dur="500"/>
                                        <p:tgtEl>
                                          <p:spTgt spid="34819"/>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grpId="1" nodeType="clickEffect">
                                  <p:stCondLst>
                                    <p:cond delay="-9223372036854775808"/>
                                  </p:stCondLst>
                                  <p:childTnLst>
                                    <p:set>
                                      <p:cBhvr additive="base">
                                        <p:cTn id="18" dur="1" fill="hold">
                                          <p:stCondLst>
                                            <p:cond delay="0"/>
                                          </p:stCondLst>
                                        </p:cTn>
                                        <p:tgtEl>
                                          <p:spTgt spid="34820"/>
                                        </p:tgtEl>
                                        <p:attrNameLst>
                                          <p:attrName>style.visibility</p:attrName>
                                        </p:attrNameLst>
                                      </p:cBhvr>
                                      <p:to>
                                        <p:strVal val="visible"/>
                                      </p:to>
                                    </p:set>
                                    <p:animEffect transition="in" filter="blinds(horizontal)">
                                      <p:cBhvr additive="base">
                                        <p:cTn id="19" dur="500"/>
                                        <p:tgtEl>
                                          <p:spTgt spid="34820"/>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34821"/>
                                        </p:tgtEl>
                                        <p:attrNameLst>
                                          <p:attrName>style.visibility</p:attrName>
                                        </p:attrNameLst>
                                      </p:cBhvr>
                                      <p:to>
                                        <p:strVal val="visible"/>
                                      </p:to>
                                    </p:set>
                                    <p:animEffect transition="in" filter="blinds(horizontal)">
                                      <p:cBhvr additive="base">
                                        <p:cTn id="25" dur="500"/>
                                        <p:tgtEl>
                                          <p:spTgt spid="34821"/>
                                        </p:tgtEl>
                                      </p:cBhvr>
                                    </p:animEffect>
                                  </p:childTnLst>
                                </p:cTn>
                              </p:par>
                              <p:par>
                                <p:cTn id="26" presetID="3" presetClass="entr" presetSubtype="10" fill="hold" nodeType="withEffect">
                                  <p:stCondLst>
                                    <p:cond delay="-9223372036854775808"/>
                                  </p:stCondLst>
                                  <p:childTnLst>
                                    <p:set>
                                      <p:cBhvr additive="base">
                                        <p:cTn id="27" dur="1" fill="hold">
                                          <p:stCondLst>
                                            <p:cond delay="0"/>
                                          </p:stCondLst>
                                        </p:cTn>
                                        <p:tgtEl>
                                          <p:spTgt spid="34822"/>
                                        </p:tgtEl>
                                        <p:attrNameLst>
                                          <p:attrName>style.visibility</p:attrName>
                                        </p:attrNameLst>
                                      </p:cBhvr>
                                      <p:to>
                                        <p:strVal val="visible"/>
                                      </p:to>
                                    </p:set>
                                    <p:animEffect transition="in" filter="blinds(horizontal)">
                                      <p:cBhvr additive="base">
                                        <p:cTn id="28" dur="500"/>
                                        <p:tgtEl>
                                          <p:spTgt spid="34822"/>
                                        </p:tgtEl>
                                      </p:cBhvr>
                                    </p:animEffect>
                                  </p:childTnLst>
                                </p:cTn>
                              </p:par>
                            </p:childTnLst>
                          </p:cTn>
                        </p:par>
                      </p:childTnLst>
                    </p:cTn>
                  </p:par>
                  <p:par>
                    <p:cTn id="29" fill="hold">
                      <p:stCondLst>
                        <p:cond delay="indefinite"/>
                      </p:stCondLst>
                      <p:childTnLst>
                        <p:par>
                          <p:cTn id="30" fill="hold">
                            <p:stCondLst>
                              <p:cond delay="indefinite"/>
                            </p:stCondLst>
                          </p:cTn>
                        </p:par>
                        <p:par>
                          <p:cTn id="31" fill="hold">
                            <p:stCondLst>
                              <p:cond delay="0"/>
                            </p:stCondLst>
                            <p:childTnLst>
                              <p:par>
                                <p:cTn id="32" presetID="3" presetClass="entr" presetSubtype="10" fill="hold" nodeType="clickEffect">
                                  <p:stCondLst>
                                    <p:cond delay="-9223372036854775808"/>
                                  </p:stCondLst>
                                  <p:childTnLst>
                                    <p:set>
                                      <p:cBhvr additive="base">
                                        <p:cTn id="33" dur="1" fill="hold">
                                          <p:stCondLst>
                                            <p:cond delay="0"/>
                                          </p:stCondLst>
                                        </p:cTn>
                                        <p:tgtEl>
                                          <p:spTgt spid="34823"/>
                                        </p:tgtEl>
                                        <p:attrNameLst>
                                          <p:attrName>style.visibility</p:attrName>
                                        </p:attrNameLst>
                                      </p:cBhvr>
                                      <p:to>
                                        <p:strVal val="visible"/>
                                      </p:to>
                                    </p:set>
                                    <p:animEffect transition="in" filter="blinds(horizontal)">
                                      <p:cBhvr additive="base">
                                        <p:cTn id="34" dur="500"/>
                                        <p:tgtEl>
                                          <p:spTgt spid="34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P spid="34820" grpId="1"/>
    </p:bldLst>
  </p:timing>
</p:sld>
</file>

<file path=ppt/slides/slide3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graphicFrame>
        <p:nvGraphicFramePr>
          <p:cNvPr id="35842" name="Object 6"/>
          <p:cNvGraphicFramePr>
            <a:graphicFrameLocks noChangeAspect="1"/>
          </p:cNvGraphicFramePr>
          <p:nvPr/>
        </p:nvGraphicFramePr>
        <p:xfrm>
          <a:off x="3059112" y="1557338"/>
          <a:ext cx="2598738" cy="341312"/>
        </p:xfrm>
        <a:graphic>
          <a:graphicData uri="http://schemas.openxmlformats.org/presentationml/2006/ole">
            <mc:AlternateContent xmlns:mc="http://schemas.openxmlformats.org/markup-compatibility/2006">
              <mc:Choice xmlns:v="urn:schemas-microsoft-com:vml" Requires="v">
                <p:oleObj spid="_x0000_s1066" name="公式" r:id="rId2" progId="Equation.3">
                  <p:embed/>
                </p:oleObj>
              </mc:Choice>
              <mc:Fallback>
                <p:oleObj spid="_x0000_s1066" name="公式" r:id="rId2" progId="Equation.3">
                  <p:embed/>
                  <p:pic>
                    <p:nvPicPr>
                      <p:cNvPr id="0" name="OLE substitute image"/>
                      <p:cNvPicPr/>
                      <p:nvPr/>
                    </p:nvPicPr>
                    <p:blipFill>
                      <a:blip r:embed="rId3"/>
                      <a:stretch/>
                    </p:blipFill>
                    <p:spPr>
                      <a:xfrm>
                        <a:off x="3059112" y="1557338"/>
                        <a:ext cx="2598738" cy="341312"/>
                      </a:xfrm>
                      <a:prstGeom prst="rect">
                        <a:avLst/>
                      </a:prstGeom>
                      <a:noFill/>
                      <a:effectLst/>
                    </p:spPr>
                  </p:pic>
                </p:oleObj>
              </mc:Fallback>
            </mc:AlternateContent>
          </a:graphicData>
        </a:graphic>
      </p:graphicFrame>
      <p:graphicFrame>
        <p:nvGraphicFramePr>
          <p:cNvPr id="35843" name="Object 5"/>
          <p:cNvGraphicFramePr>
            <a:graphicFrameLocks noChangeAspect="1"/>
          </p:cNvGraphicFramePr>
          <p:nvPr/>
        </p:nvGraphicFramePr>
        <p:xfrm>
          <a:off x="3132138" y="2205038"/>
          <a:ext cx="2195512" cy="368300"/>
        </p:xfrm>
        <a:graphic>
          <a:graphicData uri="http://schemas.openxmlformats.org/presentationml/2006/ole">
            <mc:AlternateContent xmlns:mc="http://schemas.openxmlformats.org/markup-compatibility/2006">
              <mc:Choice xmlns:v="urn:schemas-microsoft-com:vml" Requires="v">
                <p:oleObj spid="_x0000_s1067" name="公式" r:id="rId4" progId="Equation.3">
                  <p:embed/>
                </p:oleObj>
              </mc:Choice>
              <mc:Fallback>
                <p:oleObj spid="_x0000_s1067" name="公式" r:id="rId4" progId="Equation.3">
                  <p:embed/>
                  <p:pic>
                    <p:nvPicPr>
                      <p:cNvPr id="0" name="OLE substitute image"/>
                      <p:cNvPicPr/>
                      <p:nvPr/>
                    </p:nvPicPr>
                    <p:blipFill>
                      <a:blip r:embed="rId5"/>
                      <a:stretch/>
                    </p:blipFill>
                    <p:spPr>
                      <a:xfrm>
                        <a:off x="3132138" y="2205038"/>
                        <a:ext cx="2195512" cy="368300"/>
                      </a:xfrm>
                      <a:prstGeom prst="rect">
                        <a:avLst/>
                      </a:prstGeom>
                      <a:noFill/>
                      <a:effectLst/>
                    </p:spPr>
                  </p:pic>
                </p:oleObj>
              </mc:Fallback>
            </mc:AlternateContent>
          </a:graphicData>
        </a:graphic>
      </p:graphicFrame>
      <p:sp>
        <p:nvSpPr>
          <p:cNvPr id="35844" name="Rectangle 8"/>
          <p:cNvSpPr>
            <a:spLocks noChangeArrowheads="1"/>
          </p:cNvSpPr>
          <p:nvPr/>
        </p:nvSpPr>
        <p:spPr>
          <a:xfrm>
            <a:off x="679983" y="692150"/>
            <a:ext cx="8468247" cy="567495"/>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457200" algn="just" eaLnBrk="1" hangingPunct="1">
              <a:lnSpc>
                <a:spcPct val="130000"/>
              </a:lnSpc>
            </a:pPr>
            <a:r>
              <a:rPr kumimoji="1" lang="zh-CN" altLang="en-US" sz="2400">
                <a:effectLst/>
                <a:latin typeface="宋体" pitchFamily="2" charset="-122"/>
              </a:rPr>
              <a:t>缩写形式：</a:t>
            </a:r>
          </a:p>
        </p:txBody>
      </p:sp>
      <p:sp>
        <p:nvSpPr>
          <p:cNvPr id="35845" name="Rectangle 9"/>
          <p:cNvSpPr>
            <a:spLocks noChangeArrowheads="1"/>
          </p:cNvSpPr>
          <p:nvPr/>
        </p:nvSpPr>
        <p:spPr>
          <a:xfrm>
            <a:off x="755650" y="3068638"/>
            <a:ext cx="7784942" cy="3093763"/>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457200" eaLnBrk="1" hangingPunct="1">
              <a:lnSpc>
                <a:spcPct val="130000"/>
              </a:lnSpc>
            </a:pPr>
            <a:r>
              <a:rPr kumimoji="1" lang="zh-CN" altLang="en-US" sz="2400">
                <a:effectLst/>
                <a:latin typeface="宋体" pitchFamily="2" charset="-122"/>
              </a:rPr>
              <a:t>有</a:t>
            </a:r>
            <a:r>
              <a:rPr kumimoji="1" lang="en-US" altLang="zh-CN" sz="2400" i="1">
                <a:effectLst/>
                <a:latin typeface="Times New Roman" pitchFamily="18" charset="0"/>
                <a:ea typeface="Times New Roman" pitchFamily="18" charset="0"/>
              </a:rPr>
              <a:t>n</a:t>
            </a:r>
            <a:r>
              <a:rPr kumimoji="1" lang="zh-CN" altLang="en-US" sz="2400">
                <a:effectLst/>
                <a:latin typeface="宋体" pitchFamily="2" charset="-122"/>
              </a:rPr>
              <a:t>个决策变量，</a:t>
            </a:r>
            <a:r>
              <a:rPr kumimoji="1" lang="en-US" altLang="zh-CN" sz="2400" i="1">
                <a:effectLst/>
                <a:latin typeface="Times New Roman" pitchFamily="18" charset="0"/>
                <a:ea typeface="Times New Roman" pitchFamily="18" charset="0"/>
              </a:rPr>
              <a:t>k</a:t>
            </a:r>
            <a:r>
              <a:rPr kumimoji="1" lang="zh-CN" altLang="en-US" sz="2400">
                <a:effectLst/>
                <a:latin typeface="宋体" pitchFamily="2" charset="-122"/>
              </a:rPr>
              <a:t>个目标函数</a:t>
            </a:r>
            <a:r>
              <a:rPr kumimoji="1" lang="zh-CN" altLang="en-US"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rPr>
              <a:t>m</a:t>
            </a:r>
            <a:r>
              <a:rPr kumimoji="1" lang="zh-CN" altLang="en-US" sz="2400">
                <a:effectLst/>
                <a:latin typeface="宋体" pitchFamily="2" charset="-122"/>
              </a:rPr>
              <a:t>个约束方程，</a:t>
            </a:r>
          </a:p>
          <a:p>
            <a:pPr marL="0" marR="0" lvl="0" indent="457200" eaLnBrk="1" hangingPunct="1">
              <a:lnSpc>
                <a:spcPct val="130000"/>
              </a:lnSpc>
            </a:pPr>
            <a:r>
              <a:rPr kumimoji="1" lang="zh-CN" altLang="en-US" sz="2400">
                <a:effectLst/>
                <a:latin typeface="宋体" pitchFamily="2" charset="-122"/>
              </a:rPr>
              <a:t>则：</a:t>
            </a:r>
          </a:p>
          <a:p>
            <a:pPr marL="0" marR="0" lvl="0" indent="457200" algn="just" eaLnBrk="1" hangingPunct="1">
              <a:lnSpc>
                <a:spcPct val="130000"/>
              </a:lnSpc>
            </a:pPr>
            <a:r>
              <a:rPr kumimoji="1" lang="zh-CN" altLang="en-US" sz="2400">
                <a:effectLst/>
                <a:latin typeface="宋体" pitchFamily="2" charset="-122"/>
              </a:rPr>
              <a:t>         </a:t>
            </a:r>
            <a:r>
              <a:rPr kumimoji="1" lang="en-US" altLang="zh-CN" sz="2400" i="1">
                <a:effectLst/>
                <a:latin typeface="Times New Roman" pitchFamily="18" charset="0"/>
                <a:ea typeface="Times New Roman" pitchFamily="18" charset="0"/>
              </a:rPr>
              <a:t>Z=F</a:t>
            </a:r>
            <a:r>
              <a:rPr kumimoji="1" lang="en-US" altLang="zh-CN"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rPr>
              <a:t>X</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是</a:t>
            </a:r>
            <a:r>
              <a:rPr kumimoji="1" lang="en-US" altLang="zh-CN" sz="2400" i="1">
                <a:effectLst/>
                <a:latin typeface="Times New Roman" pitchFamily="18" charset="0"/>
                <a:ea typeface="Times New Roman" pitchFamily="18" charset="0"/>
              </a:rPr>
              <a:t>k</a:t>
            </a:r>
            <a:r>
              <a:rPr kumimoji="1" lang="zh-CN" altLang="en-US" sz="2400">
                <a:effectLst/>
                <a:latin typeface="宋体" pitchFamily="2" charset="-122"/>
              </a:rPr>
              <a:t>维函数向量，</a:t>
            </a:r>
          </a:p>
          <a:p>
            <a:pPr marL="0" marR="0" lvl="0" indent="457200" algn="just">
              <a:lnSpc>
                <a:spcPct val="130000"/>
              </a:lnSpc>
            </a:pPr>
            <a:r>
              <a:rPr kumimoji="1" lang="zh-CN" altLang="en-US" sz="2400">
                <a:effectLst/>
                <a:latin typeface="宋体" pitchFamily="2" charset="-122"/>
                <a:sym typeface="Symbol" pitchFamily="18" charset="2"/>
              </a:rPr>
              <a:t>         </a:t>
            </a:r>
            <a:r>
              <a:rPr kumimoji="1" lang="zh-CN" altLang="en-US" sz="2400">
                <a:effectLst/>
                <a:latin typeface="Times New Roman" pitchFamily="18" charset="0"/>
                <a:ea typeface="Times New Roman" pitchFamily="18" charset="0"/>
                <a:sym typeface="Symbol" pitchFamily="18" charset="2"/>
              </a:rPr>
              <a:t></a:t>
            </a:r>
            <a:r>
              <a:rPr kumimoji="1" lang="en-US" altLang="zh-CN" sz="2400">
                <a:effectLst/>
                <a:latin typeface="Times New Roman" pitchFamily="18" charset="0"/>
                <a:ea typeface="Times New Roman" pitchFamily="18" charset="0"/>
                <a:sym typeface="Symbol" pitchFamily="18" charset="2"/>
              </a:rPr>
              <a:t>(</a:t>
            </a:r>
            <a:r>
              <a:rPr kumimoji="1" lang="en-US" altLang="zh-CN" sz="2400" i="1">
                <a:effectLst/>
                <a:latin typeface="Times New Roman" pitchFamily="18" charset="0"/>
                <a:ea typeface="Times New Roman" pitchFamily="18" charset="0"/>
                <a:sym typeface="Symbol" pitchFamily="18" charset="2"/>
              </a:rPr>
              <a:t>X</a:t>
            </a:r>
            <a:r>
              <a:rPr kumimoji="1" lang="en-US" altLang="zh-CN" sz="2400">
                <a:effectLst/>
                <a:latin typeface="Times New Roman" pitchFamily="18" charset="0"/>
                <a:ea typeface="Times New Roman" pitchFamily="18" charset="0"/>
                <a:sym typeface="Symbol" pitchFamily="18" charset="2"/>
              </a:rPr>
              <a:t>)</a:t>
            </a:r>
            <a:r>
              <a:rPr kumimoji="1" lang="zh-CN" altLang="en-US" sz="2400">
                <a:effectLst/>
                <a:latin typeface="宋体" pitchFamily="2" charset="-122"/>
              </a:rPr>
              <a:t>是</a:t>
            </a:r>
            <a:r>
              <a:rPr kumimoji="1" lang="en-US" altLang="zh-CN" sz="2400" i="1">
                <a:effectLst/>
                <a:latin typeface="Times New Roman" pitchFamily="18" charset="0"/>
                <a:ea typeface="Times New Roman" pitchFamily="18" charset="0"/>
              </a:rPr>
              <a:t>m</a:t>
            </a:r>
            <a:r>
              <a:rPr kumimoji="1" lang="zh-CN" altLang="en-US" sz="2400">
                <a:effectLst/>
                <a:latin typeface="宋体" pitchFamily="2" charset="-122"/>
              </a:rPr>
              <a:t>维函数向量；</a:t>
            </a:r>
          </a:p>
          <a:p>
            <a:pPr marL="0" marR="0" lvl="0" indent="457200">
              <a:lnSpc>
                <a:spcPct val="150000"/>
              </a:lnSpc>
            </a:pPr>
            <a:r>
              <a:rPr kumimoji="1" lang="zh-CN" altLang="en-US" sz="2400">
                <a:effectLst/>
                <a:latin typeface="宋体" pitchFamily="2" charset="-122"/>
              </a:rPr>
              <a:t>         </a:t>
            </a:r>
            <a:r>
              <a:rPr kumimoji="1" lang="en-US" altLang="zh-CN" sz="2400" i="1">
                <a:effectLst/>
                <a:latin typeface="Times New Roman" pitchFamily="18" charset="0"/>
                <a:ea typeface="Times New Roman" pitchFamily="18" charset="0"/>
              </a:rPr>
              <a:t>G</a:t>
            </a:r>
            <a:r>
              <a:rPr kumimoji="1" lang="zh-CN" altLang="en-US" sz="2400">
                <a:effectLst/>
                <a:latin typeface="宋体" pitchFamily="2" charset="-122"/>
              </a:rPr>
              <a:t>是</a:t>
            </a:r>
            <a:r>
              <a:rPr kumimoji="1" lang="en-US" altLang="zh-CN" sz="2400" i="1">
                <a:effectLst/>
                <a:latin typeface="Times New Roman" pitchFamily="18" charset="0"/>
                <a:ea typeface="Times New Roman" pitchFamily="18" charset="0"/>
              </a:rPr>
              <a:t>m</a:t>
            </a:r>
            <a:r>
              <a:rPr kumimoji="1" lang="zh-CN" altLang="en-US" sz="2400">
                <a:effectLst/>
                <a:latin typeface="宋体" pitchFamily="2" charset="-122"/>
              </a:rPr>
              <a:t>维常数向量；</a:t>
            </a:r>
          </a:p>
          <a:p>
            <a:pPr marL="0" marR="0" lvl="0" indent="457200">
              <a:lnSpc>
                <a:spcPct val="150000"/>
              </a:lnSpc>
            </a:pPr>
            <a:r>
              <a:rPr kumimoji="1" lang="zh-CN" altLang="en-US" sz="2400">
                <a:effectLst/>
                <a:latin typeface="宋体"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35844"/>
                                        </p:tgtEl>
                                        <p:attrNameLst>
                                          <p:attrName>style.visibility</p:attrName>
                                        </p:attrNameLst>
                                      </p:cBhvr>
                                      <p:to>
                                        <p:strVal val="visible"/>
                                      </p:to>
                                    </p:set>
                                    <p:animEffect transition="in" filter="blinds(horizontal)">
                                      <p:cBhvr additive="base">
                                        <p:cTn id="7" dur="500"/>
                                        <p:tgtEl>
                                          <p:spTgt spid="35844"/>
                                        </p:tgtEl>
                                      </p:cBhvr>
                                    </p:animEffect>
                                  </p:childTnLst>
                                </p:cTn>
                              </p:par>
                              <p:par>
                                <p:cTn id="8" presetID="3" presetClass="entr" presetSubtype="10" fill="hold" nodeType="withEffect">
                                  <p:stCondLst>
                                    <p:cond delay="-9223372036854775808"/>
                                  </p:stCondLst>
                                  <p:childTnLst>
                                    <p:set>
                                      <p:cBhvr additive="base">
                                        <p:cTn id="9" dur="1" fill="hold">
                                          <p:stCondLst>
                                            <p:cond delay="0"/>
                                          </p:stCondLst>
                                        </p:cTn>
                                        <p:tgtEl>
                                          <p:spTgt spid="35842"/>
                                        </p:tgtEl>
                                        <p:attrNameLst>
                                          <p:attrName>style.visibility</p:attrName>
                                        </p:attrNameLst>
                                      </p:cBhvr>
                                      <p:to>
                                        <p:strVal val="visible"/>
                                      </p:to>
                                    </p:set>
                                    <p:animEffect transition="in" filter="blinds(horizontal)">
                                      <p:cBhvr additive="base">
                                        <p:cTn id="10" dur="500"/>
                                        <p:tgtEl>
                                          <p:spTgt spid="35842"/>
                                        </p:tgtEl>
                                      </p:cBhvr>
                                    </p:animEffect>
                                  </p:childTnLst>
                                </p:cTn>
                              </p:par>
                              <p:par>
                                <p:cTn id="11" presetID="3" presetClass="entr" presetSubtype="10" fill="hold" nodeType="withEffect">
                                  <p:stCondLst>
                                    <p:cond delay="-9223372036854775808"/>
                                  </p:stCondLst>
                                  <p:childTnLst>
                                    <p:set>
                                      <p:cBhvr additive="base">
                                        <p:cTn id="12" dur="1" fill="hold">
                                          <p:stCondLst>
                                            <p:cond delay="0"/>
                                          </p:stCondLst>
                                        </p:cTn>
                                        <p:tgtEl>
                                          <p:spTgt spid="35843"/>
                                        </p:tgtEl>
                                        <p:attrNameLst>
                                          <p:attrName>style.visibility</p:attrName>
                                        </p:attrNameLst>
                                      </p:cBhvr>
                                      <p:to>
                                        <p:strVal val="visible"/>
                                      </p:to>
                                    </p:set>
                                    <p:animEffect transition="in" filter="blinds(horizontal)">
                                      <p:cBhvr additive="base">
                                        <p:cTn id="13" dur="500"/>
                                        <p:tgtEl>
                                          <p:spTgt spid="35843"/>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35845">
                                            <p:txEl>
                                              <p:charRg st="0" end="23"/>
                                            </p:txEl>
                                          </p:spTgt>
                                        </p:tgtEl>
                                        <p:attrNameLst>
                                          <p:attrName>style.visibility</p:attrName>
                                        </p:attrNameLst>
                                      </p:cBhvr>
                                      <p:to>
                                        <p:strVal val="visible"/>
                                      </p:to>
                                    </p:set>
                                    <p:animEffect transition="in" filter="blinds(horizontal)">
                                      <p:cBhvr additive="base">
                                        <p:cTn id="19" dur="500"/>
                                        <p:tgtEl>
                                          <p:spTgt spid="35845">
                                            <p:txEl>
                                              <p:charRg st="0" end="23"/>
                                            </p:txEl>
                                          </p:spTgt>
                                        </p:tgtEl>
                                      </p:cBhvr>
                                    </p:animEffect>
                                  </p:childTnLst>
                                </p:cTn>
                              </p:par>
                              <p:par>
                                <p:cTn id="20" presetID="3" presetClass="entr" presetSubtype="10" fill="hold" nodeType="withEffect">
                                  <p:stCondLst>
                                    <p:cond delay="-9223372036854775808"/>
                                  </p:stCondLst>
                                  <p:childTnLst>
                                    <p:set>
                                      <p:cBhvr additive="base">
                                        <p:cTn id="21" dur="1" fill="hold">
                                          <p:stCondLst>
                                            <p:cond delay="0"/>
                                          </p:stCondLst>
                                        </p:cTn>
                                        <p:tgtEl>
                                          <p:spTgt spid="35845">
                                            <p:txEl>
                                              <p:charRg st="23" end="26"/>
                                            </p:txEl>
                                          </p:spTgt>
                                        </p:tgtEl>
                                        <p:attrNameLst>
                                          <p:attrName>style.visibility</p:attrName>
                                        </p:attrNameLst>
                                      </p:cBhvr>
                                      <p:to>
                                        <p:strVal val="visible"/>
                                      </p:to>
                                    </p:set>
                                    <p:animEffect transition="in" filter="blinds(horizontal)">
                                      <p:cBhvr additive="base">
                                        <p:cTn id="22" dur="500"/>
                                        <p:tgtEl>
                                          <p:spTgt spid="35845">
                                            <p:txEl>
                                              <p:charRg st="23" end="26"/>
                                            </p:txEl>
                                          </p:spTgt>
                                        </p:tgtEl>
                                      </p:cBhvr>
                                    </p:animEffect>
                                  </p:childTnLst>
                                </p:cTn>
                              </p:par>
                              <p:par>
                                <p:cTn id="23" presetID="3" presetClass="entr" presetSubtype="10" fill="hold" nodeType="withEffect">
                                  <p:stCondLst>
                                    <p:cond delay="-9223372036854775808"/>
                                  </p:stCondLst>
                                  <p:childTnLst>
                                    <p:set>
                                      <p:cBhvr additive="base">
                                        <p:cTn id="24" dur="1" fill="hold">
                                          <p:stCondLst>
                                            <p:cond delay="0"/>
                                          </p:stCondLst>
                                        </p:cTn>
                                        <p:tgtEl>
                                          <p:spTgt spid="35845">
                                            <p:txEl>
                                              <p:charRg st="26" end="54"/>
                                            </p:txEl>
                                          </p:spTgt>
                                        </p:tgtEl>
                                        <p:attrNameLst>
                                          <p:attrName>style.visibility</p:attrName>
                                        </p:attrNameLst>
                                      </p:cBhvr>
                                      <p:to>
                                        <p:strVal val="visible"/>
                                      </p:to>
                                    </p:set>
                                    <p:animEffect transition="in" filter="blinds(horizontal)">
                                      <p:cBhvr additive="base">
                                        <p:cTn id="25" dur="500"/>
                                        <p:tgtEl>
                                          <p:spTgt spid="35845">
                                            <p:txEl>
                                              <p:charRg st="26" end="54"/>
                                            </p:txEl>
                                          </p:spTgt>
                                        </p:tgtEl>
                                      </p:cBhvr>
                                    </p:animEffect>
                                  </p:childTnLst>
                                </p:cTn>
                              </p:par>
                              <p:par>
                                <p:cTn id="26" presetID="3" presetClass="entr" presetSubtype="10" fill="hold" nodeType="withEffect">
                                  <p:stCondLst>
                                    <p:cond delay="-9223372036854775808"/>
                                  </p:stCondLst>
                                  <p:childTnLst>
                                    <p:set>
                                      <p:cBhvr additive="base">
                                        <p:cTn id="27" dur="1" fill="hold">
                                          <p:stCondLst>
                                            <p:cond delay="0"/>
                                          </p:stCondLst>
                                        </p:cTn>
                                        <p:tgtEl>
                                          <p:spTgt spid="35845">
                                            <p:txEl>
                                              <p:charRg st="54" end="76"/>
                                            </p:txEl>
                                          </p:spTgt>
                                        </p:tgtEl>
                                        <p:attrNameLst>
                                          <p:attrName>style.visibility</p:attrName>
                                        </p:attrNameLst>
                                      </p:cBhvr>
                                      <p:to>
                                        <p:strVal val="visible"/>
                                      </p:to>
                                    </p:set>
                                    <p:animEffect transition="in" filter="blinds(horizontal)">
                                      <p:cBhvr additive="base">
                                        <p:cTn id="28" dur="500"/>
                                        <p:tgtEl>
                                          <p:spTgt spid="35845">
                                            <p:txEl>
                                              <p:charRg st="54" end="76"/>
                                            </p:txEl>
                                          </p:spTgt>
                                        </p:tgtEl>
                                      </p:cBhvr>
                                    </p:animEffect>
                                  </p:childTnLst>
                                </p:cTn>
                              </p:par>
                              <p:par>
                                <p:cTn id="29" presetID="3" presetClass="entr" presetSubtype="10" fill="hold" nodeType="withEffect">
                                  <p:stCondLst>
                                    <p:cond delay="-9223372036854775808"/>
                                  </p:stCondLst>
                                  <p:childTnLst>
                                    <p:set>
                                      <p:cBhvr additive="base">
                                        <p:cTn id="30" dur="1" fill="hold">
                                          <p:stCondLst>
                                            <p:cond delay="0"/>
                                          </p:stCondLst>
                                        </p:cTn>
                                        <p:tgtEl>
                                          <p:spTgt spid="35845">
                                            <p:txEl>
                                              <p:charRg st="76" end="95"/>
                                            </p:txEl>
                                          </p:spTgt>
                                        </p:tgtEl>
                                        <p:attrNameLst>
                                          <p:attrName>style.visibility</p:attrName>
                                        </p:attrNameLst>
                                      </p:cBhvr>
                                      <p:to>
                                        <p:strVal val="visible"/>
                                      </p:to>
                                    </p:set>
                                    <p:animEffect transition="in" filter="blinds(horizontal)">
                                      <p:cBhvr additive="base">
                                        <p:cTn id="31" dur="500"/>
                                        <p:tgtEl>
                                          <p:spTgt spid="35845">
                                            <p:txEl>
                                              <p:charRg st="76" end="95"/>
                                            </p:txEl>
                                          </p:spTgt>
                                        </p:tgtEl>
                                      </p:cBhvr>
                                    </p:animEffect>
                                  </p:childTnLst>
                                </p:cTn>
                              </p:par>
                              <p:par>
                                <p:cTn id="32" presetID="3" presetClass="entr" presetSubtype="10" fill="hold" nodeType="withEffect">
                                  <p:stCondLst>
                                    <p:cond delay="-9223372036854775808"/>
                                  </p:stCondLst>
                                  <p:childTnLst>
                                    <p:set>
                                      <p:cBhvr additive="base">
                                        <p:cTn id="33" dur="1" fill="hold">
                                          <p:stCondLst>
                                            <p:cond delay="0"/>
                                          </p:stCondLst>
                                        </p:cTn>
                                        <p:tgtEl>
                                          <p:spTgt spid="35845">
                                            <p:txEl>
                                              <p:charRg st="95" end="104"/>
                                            </p:txEl>
                                          </p:spTgt>
                                        </p:tgtEl>
                                        <p:attrNameLst>
                                          <p:attrName>style.visibility</p:attrName>
                                        </p:attrNameLst>
                                      </p:cBhvr>
                                      <p:to>
                                        <p:strVal val="visible"/>
                                      </p:to>
                                    </p:set>
                                    <p:animEffect transition="in" filter="blinds(horizontal)">
                                      <p:cBhvr additive="base">
                                        <p:cTn id="34" dur="500"/>
                                        <p:tgtEl>
                                          <p:spTgt spid="35845">
                                            <p:txEl>
                                              <p:charRg st="95" end="10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Lst>
  </p:timing>
</p:sld>
</file>

<file path=ppt/slides/slide3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36866" name="Rectangle 3"/>
          <p:cNvSpPr>
            <a:spLocks noGrp="1" noChangeArrowheads="1"/>
          </p:cNvSpPr>
          <p:nvPr>
            <p:ph type="body" idx="4294967295"/>
          </p:nvPr>
        </p:nvSpPr>
        <p:spPr>
          <a:xfrm>
            <a:off x="179388" y="1196975"/>
            <a:ext cx="8640762" cy="3609975"/>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eaLnBrk="1" hangingPunct="1">
              <a:lnSpc>
                <a:spcPct val="110000"/>
              </a:lnSpc>
              <a:spcBef>
                <a:spcPct val="50000"/>
              </a:spcBef>
              <a:buNone/>
            </a:pPr>
            <a:r>
              <a:rPr lang="zh-CN" altLang="en-US" sz="2400">
                <a:effectLst/>
                <a:latin typeface="宋体" pitchFamily="2" charset="-122"/>
              </a:rPr>
              <a:t>多目标规划问题的求解不能只追求一个目标的最优化（最大或最小），而不顾其它目标。</a:t>
            </a:r>
          </a:p>
          <a:p>
            <a:pPr marL="0" marR="0" lvl="0" indent="0" algn="just" eaLnBrk="1" hangingPunct="1">
              <a:lnSpc>
                <a:spcPct val="110000"/>
              </a:lnSpc>
              <a:buNone/>
            </a:pPr>
            <a:r>
              <a:rPr lang="zh-CN" altLang="en-US" sz="2400">
                <a:effectLst/>
                <a:latin typeface="宋体" pitchFamily="2" charset="-122"/>
              </a:rPr>
              <a:t>对于上述多目标规划问题，求解就意味着需要做出如下的复合选择：</a:t>
            </a:r>
            <a:endParaRPr lang="zh-CN" altLang="en-US" sz="2400">
              <a:effectLst/>
              <a:latin typeface="宋体" pitchFamily="2" charset="-122"/>
              <a:ea typeface="Times New Roman" pitchFamily="18" charset="0"/>
            </a:endParaRPr>
          </a:p>
          <a:p>
            <a:pPr marL="0" marR="0" lvl="0" indent="0" eaLnBrk="1" hangingPunct="1">
              <a:lnSpc>
                <a:spcPct val="110000"/>
              </a:lnSpc>
              <a:buNone/>
            </a:pPr>
            <a:r>
              <a:rPr lang="zh-CN" altLang="en-US" sz="2400">
                <a:effectLst/>
                <a:latin typeface="宋体" pitchFamily="2" charset="-122"/>
              </a:rPr>
              <a:t>   每一个目标函数取什么值，原问题可以得到最满意的解决？</a:t>
            </a:r>
          </a:p>
          <a:p>
            <a:pPr marL="0" marR="0" lvl="0" indent="0" eaLnBrk="1" hangingPunct="1">
              <a:lnSpc>
                <a:spcPct val="110000"/>
              </a:lnSpc>
              <a:buNone/>
            </a:pPr>
            <a:r>
              <a:rPr lang="zh-CN" altLang="en-US" sz="2400">
                <a:effectLst/>
                <a:latin typeface="宋体" pitchFamily="2" charset="-122"/>
              </a:rPr>
              <a:t>   每一个决策变量取什么值，原问题可以得到最满意的解决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36866">
                                            <p:txEl>
                                              <p:charRg st="0" end="40"/>
                                            </p:txEl>
                                          </p:spTgt>
                                        </p:tgtEl>
                                        <p:attrNameLst>
                                          <p:attrName>style.visibility</p:attrName>
                                        </p:attrNameLst>
                                      </p:cBhvr>
                                      <p:to>
                                        <p:strVal val="visible"/>
                                      </p:to>
                                    </p:set>
                                    <p:animEffect transition="in" filter="wipe(left)">
                                      <p:cBhvr additive="base">
                                        <p:cTn id="7" dur="500"/>
                                        <p:tgtEl>
                                          <p:spTgt spid="36866">
                                            <p:txEl>
                                              <p:charRg st="0" end="40"/>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grpId="0" nodeType="clickEffect">
                                  <p:stCondLst>
                                    <p:cond delay="-9223372036854775808"/>
                                  </p:stCondLst>
                                  <p:childTnLst>
                                    <p:set>
                                      <p:cBhvr additive="base">
                                        <p:cTn id="12" dur="1" fill="hold">
                                          <p:stCondLst>
                                            <p:cond delay="0"/>
                                          </p:stCondLst>
                                        </p:cTn>
                                        <p:tgtEl>
                                          <p:spTgt spid="36866">
                                            <p:txEl>
                                              <p:charRg st="40" end="71"/>
                                            </p:txEl>
                                          </p:spTgt>
                                        </p:tgtEl>
                                        <p:attrNameLst>
                                          <p:attrName>style.visibility</p:attrName>
                                        </p:attrNameLst>
                                      </p:cBhvr>
                                      <p:to>
                                        <p:strVal val="visible"/>
                                      </p:to>
                                    </p:set>
                                    <p:animEffect transition="in" filter="wipe(left)">
                                      <p:cBhvr additive="base">
                                        <p:cTn id="13" dur="500"/>
                                        <p:tgtEl>
                                          <p:spTgt spid="36866">
                                            <p:txEl>
                                              <p:charRg st="40" end="71"/>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grpId="0" nodeType="clickEffect">
                                  <p:stCondLst>
                                    <p:cond delay="-9223372036854775808"/>
                                  </p:stCondLst>
                                  <p:childTnLst>
                                    <p:set>
                                      <p:cBhvr additive="base">
                                        <p:cTn id="18" dur="1" fill="hold">
                                          <p:stCondLst>
                                            <p:cond delay="0"/>
                                          </p:stCondLst>
                                        </p:cTn>
                                        <p:tgtEl>
                                          <p:spTgt spid="36866">
                                            <p:txEl>
                                              <p:charRg st="71" end="101"/>
                                            </p:txEl>
                                          </p:spTgt>
                                        </p:tgtEl>
                                        <p:attrNameLst>
                                          <p:attrName>style.visibility</p:attrName>
                                        </p:attrNameLst>
                                      </p:cBhvr>
                                      <p:to>
                                        <p:strVal val="visible"/>
                                      </p:to>
                                    </p:set>
                                    <p:animEffect transition="in" filter="wipe(left)">
                                      <p:cBhvr additive="base">
                                        <p:cTn id="19" dur="500"/>
                                        <p:tgtEl>
                                          <p:spTgt spid="36866">
                                            <p:txEl>
                                              <p:charRg st="71" end="101"/>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8" fill="hold" grpId="0" nodeType="clickEffect">
                                  <p:stCondLst>
                                    <p:cond delay="-9223372036854775808"/>
                                  </p:stCondLst>
                                  <p:childTnLst>
                                    <p:set>
                                      <p:cBhvr additive="base">
                                        <p:cTn id="24" dur="1" fill="hold">
                                          <p:stCondLst>
                                            <p:cond delay="0"/>
                                          </p:stCondLst>
                                        </p:cTn>
                                        <p:tgtEl>
                                          <p:spTgt spid="36866">
                                            <p:txEl>
                                              <p:charRg st="101" end="132"/>
                                            </p:txEl>
                                          </p:spTgt>
                                        </p:tgtEl>
                                        <p:attrNameLst>
                                          <p:attrName>style.visibility</p:attrName>
                                        </p:attrNameLst>
                                      </p:cBhvr>
                                      <p:to>
                                        <p:strVal val="visible"/>
                                      </p:to>
                                    </p:set>
                                    <p:animEffect transition="in" filter="wipe(left)">
                                      <p:cBhvr additive="base">
                                        <p:cTn id="25" dur="500"/>
                                        <p:tgtEl>
                                          <p:spTgt spid="36866">
                                            <p:txEl>
                                              <p:charRg st="101" end="1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uiExpand="1" build="p"/>
    </p:bldLst>
  </p:timing>
</p:sld>
</file>

<file path=ppt/slides/slide3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7890" name="Rectangle 2"/>
          <p:cNvSpPr>
            <a:spLocks noChangeArrowheads="1"/>
          </p:cNvSpPr>
          <p:nvPr/>
        </p:nvSpPr>
        <p:spPr>
          <a:xfrm>
            <a:off x="5071886" y="2084388"/>
            <a:ext cx="3534131" cy="1629260"/>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just" eaLnBrk="1" hangingPunct="1">
              <a:lnSpc>
                <a:spcPct val="140000"/>
              </a:lnSpc>
            </a:pPr>
            <a:r>
              <a:rPr kumimoji="1" lang="zh-CN" altLang="en-US" sz="2400">
                <a:effectLst/>
                <a:latin typeface="宋体" pitchFamily="2" charset="-122"/>
              </a:rPr>
              <a:t>如上例的各个方案之间，④比①好，⑤比④好</a:t>
            </a:r>
            <a:r>
              <a:rPr kumimoji="1" lang="en-US" altLang="zh-CN" sz="2400">
                <a:effectLst/>
                <a:latin typeface="宋体" pitchFamily="2" charset="-122"/>
              </a:rPr>
              <a:t>, ⑥</a:t>
            </a:r>
            <a:r>
              <a:rPr kumimoji="1" lang="zh-CN" altLang="en-US" sz="2400">
                <a:effectLst/>
                <a:latin typeface="宋体" pitchFamily="2" charset="-122"/>
              </a:rPr>
              <a:t>比②好</a:t>
            </a:r>
            <a:r>
              <a:rPr kumimoji="1" lang="en-US" altLang="zh-CN" sz="2400">
                <a:effectLst/>
                <a:latin typeface="宋体" pitchFamily="2" charset="-122"/>
              </a:rPr>
              <a:t>,</a:t>
            </a:r>
            <a:r>
              <a:rPr kumimoji="1" lang="en-US" altLang="zh-CN" sz="2400">
                <a:effectLst>
                  <a:outerShdw blurRad="38100" dist="38100" dir="2700000" algn="tl">
                    <a:schemeClr val="bg2"/>
                  </a:outerShdw>
                </a:effectLst>
                <a:latin typeface="宋体" pitchFamily="2" charset="-122"/>
              </a:rPr>
              <a:t> </a:t>
            </a:r>
            <a:r>
              <a:rPr kumimoji="1" lang="en-US" altLang="zh-CN" sz="2400">
                <a:effectLst/>
                <a:latin typeface="宋体" pitchFamily="2" charset="-122"/>
              </a:rPr>
              <a:t>⑦</a:t>
            </a:r>
            <a:r>
              <a:rPr kumimoji="1" lang="zh-CN" altLang="en-US" sz="2400">
                <a:effectLst/>
                <a:latin typeface="宋体" pitchFamily="2" charset="-122"/>
              </a:rPr>
              <a:t>比③好。        </a:t>
            </a:r>
          </a:p>
        </p:txBody>
      </p:sp>
      <p:pic>
        <p:nvPicPr>
          <p:cNvPr id="37891" name="Picture 3" descr="zp1150401"/>
          <p:cNvPicPr/>
          <p:nvPr/>
        </p:nvPicPr>
        <p:blipFill>
          <a:blip r:embed="rId2"/>
          <a:stretch/>
        </p:blipFill>
        <p:spPr>
          <a:xfrm>
            <a:off x="684212" y="1557338"/>
            <a:ext cx="3962400" cy="3800475"/>
          </a:xfrm>
          <a:prstGeom prst="rect">
            <a:avLst/>
          </a:prstGeom>
          <a:noFill/>
          <a:ln>
            <a:noFill/>
            <a:miter lim="800000"/>
          </a:ln>
          <a:effectLst/>
        </p:spPr>
      </p:pic>
      <p:sp>
        <p:nvSpPr>
          <p:cNvPr id="37892" name="Text Box 5"/>
          <p:cNvSpPr/>
          <p:nvPr/>
        </p:nvSpPr>
        <p:spPr>
          <a:xfrm>
            <a:off x="373062" y="5410200"/>
            <a:ext cx="4347744" cy="396636"/>
          </a:xfrm>
          <a:prstGeom prst="rect">
            <a:avLst/>
          </a:prstGeom>
          <a:solidFill>
            <a:schemeClr val="accent1"/>
          </a:solidFill>
          <a:ln>
            <a:solidFill>
              <a:schemeClr val="tx1"/>
            </a:solid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000" b="1">
                <a:effectLst/>
              </a:rPr>
              <a:t>图  多目标规划的劣解与非劣解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37890">
                                            <p:txEl>
                                              <p:charRg st="0" end="42"/>
                                            </p:txEl>
                                          </p:spTgt>
                                        </p:tgtEl>
                                        <p:attrNameLst>
                                          <p:attrName>style.visibility</p:attrName>
                                        </p:attrNameLst>
                                      </p:cBhvr>
                                      <p:to>
                                        <p:strVal val="visible"/>
                                      </p:to>
                                    </p:set>
                                    <p:animEffect transition="in" filter="wipe(left)">
                                      <p:cBhvr additive="base">
                                        <p:cTn id="7" dur="500"/>
                                        <p:tgtEl>
                                          <p:spTgt spid="37890">
                                            <p:txEl>
                                              <p:charRg st="0" end="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Lst>
  </p:timing>
</p:sld>
</file>

<file path=ppt/slides/slide3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8914" name="Rectangle 2"/>
          <p:cNvSpPr>
            <a:spLocks noChangeArrowheads="1"/>
          </p:cNvSpPr>
          <p:nvPr/>
        </p:nvSpPr>
        <p:spPr>
          <a:xfrm>
            <a:off x="5433979" y="476250"/>
            <a:ext cx="3243329" cy="4118915"/>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just" eaLnBrk="1" hangingPunct="1">
              <a:lnSpc>
                <a:spcPct val="110000"/>
              </a:lnSpc>
            </a:pPr>
            <a:r>
              <a:rPr kumimoji="1" lang="en-US" altLang="zh-CN" sz="2400">
                <a:effectLst/>
                <a:latin typeface="宋体" pitchFamily="2" charset="-122"/>
              </a:rPr>
              <a:t>  </a:t>
            </a:r>
            <a:r>
              <a:rPr kumimoji="1" lang="zh-CN" altLang="en-US" sz="2400">
                <a:effectLst/>
                <a:latin typeface="宋体" pitchFamily="2" charset="-122"/>
              </a:rPr>
              <a:t>而对于方案⑤、⑥、⑦之间则无法确定优劣，而且又没有比它们更好的其他方案，所以它们就被称为多目标规划问题的</a:t>
            </a:r>
            <a:r>
              <a:rPr kumimoji="1" lang="zh-CN" altLang="en-US" sz="2400">
                <a:solidFill>
                  <a:schemeClr val="accent2"/>
                </a:solidFill>
                <a:effectLst/>
                <a:latin typeface="宋体" pitchFamily="2" charset="-122"/>
              </a:rPr>
              <a:t>非劣解</a:t>
            </a:r>
            <a:r>
              <a:rPr kumimoji="1" lang="zh-CN" altLang="en-US" sz="2400">
                <a:effectLst/>
                <a:latin typeface="宋体" pitchFamily="2" charset="-122"/>
              </a:rPr>
              <a:t>或</a:t>
            </a:r>
            <a:r>
              <a:rPr kumimoji="1" lang="zh-CN" altLang="en-US" sz="2400">
                <a:solidFill>
                  <a:schemeClr val="accent2"/>
                </a:solidFill>
                <a:effectLst/>
                <a:latin typeface="宋体" pitchFamily="2" charset="-122"/>
              </a:rPr>
              <a:t>有效解</a:t>
            </a:r>
            <a:r>
              <a:rPr kumimoji="1" lang="zh-CN" altLang="en-US" sz="2400">
                <a:effectLst/>
                <a:latin typeface="宋体" pitchFamily="2" charset="-122"/>
              </a:rPr>
              <a:t>，其余方案都称为</a:t>
            </a:r>
            <a:r>
              <a:rPr kumimoji="1" lang="zh-CN" altLang="en-US" sz="2400">
                <a:solidFill>
                  <a:schemeClr val="accent2"/>
                </a:solidFill>
                <a:effectLst/>
                <a:latin typeface="宋体" pitchFamily="2" charset="-122"/>
              </a:rPr>
              <a:t>劣解</a:t>
            </a:r>
            <a:r>
              <a:rPr kumimoji="1" lang="zh-CN" altLang="en-US" sz="2400">
                <a:effectLst/>
                <a:latin typeface="宋体" pitchFamily="2" charset="-122"/>
              </a:rPr>
              <a:t>。</a:t>
            </a:r>
          </a:p>
          <a:p>
            <a:pPr marL="0" marR="0" lvl="0" indent="0" algn="just" eaLnBrk="1" hangingPunct="1">
              <a:lnSpc>
                <a:spcPct val="110000"/>
              </a:lnSpc>
            </a:pPr>
            <a:r>
              <a:rPr kumimoji="1" lang="zh-CN" altLang="en-US" sz="2400">
                <a:effectLst/>
                <a:latin typeface="宋体" pitchFamily="2" charset="-122"/>
              </a:rPr>
              <a:t>所有非劣解构成的集合称为</a:t>
            </a:r>
            <a:r>
              <a:rPr kumimoji="1" lang="zh-CN" altLang="en-US" sz="2400">
                <a:solidFill>
                  <a:schemeClr val="accent2"/>
                </a:solidFill>
                <a:effectLst/>
                <a:latin typeface="宋体" pitchFamily="2" charset="-122"/>
              </a:rPr>
              <a:t>非劣解集</a:t>
            </a:r>
            <a:r>
              <a:rPr kumimoji="1" lang="zh-CN" altLang="en-US" sz="2400">
                <a:effectLst/>
                <a:latin typeface="宋体" pitchFamily="2" charset="-122"/>
              </a:rPr>
              <a:t>。</a:t>
            </a:r>
          </a:p>
        </p:txBody>
      </p:sp>
      <p:pic>
        <p:nvPicPr>
          <p:cNvPr id="38915" name="Picture 3" descr="zp1150401"/>
          <p:cNvPicPr/>
          <p:nvPr/>
        </p:nvPicPr>
        <p:blipFill>
          <a:blip r:embed="rId2"/>
          <a:stretch/>
        </p:blipFill>
        <p:spPr>
          <a:xfrm>
            <a:off x="755650" y="923925"/>
            <a:ext cx="3962400" cy="3800475"/>
          </a:xfrm>
          <a:prstGeom prst="rect">
            <a:avLst/>
          </a:prstGeom>
          <a:noFill/>
          <a:ln>
            <a:noFill/>
            <a:miter lim="800000"/>
          </a:ln>
          <a:effectLst/>
        </p:spPr>
      </p:pic>
      <p:sp>
        <p:nvSpPr>
          <p:cNvPr id="38916" name="Rectangle 6"/>
          <p:cNvSpPr>
            <a:spLocks noChangeArrowheads="1"/>
          </p:cNvSpPr>
          <p:nvPr/>
        </p:nvSpPr>
        <p:spPr>
          <a:xfrm>
            <a:off x="900113" y="4941888"/>
            <a:ext cx="7640333" cy="1299747"/>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10000"/>
              </a:lnSpc>
              <a:spcBef>
                <a:spcPct val="50000"/>
              </a:spcBef>
            </a:pPr>
            <a:r>
              <a:rPr kumimoji="1" lang="en-US" altLang="zh-CN" sz="2400">
                <a:effectLst/>
                <a:latin typeface="宋体" pitchFamily="2" charset="-122"/>
                <a:ea typeface="Times New Roman" pitchFamily="18" charset="0"/>
              </a:rPr>
              <a:t>    </a:t>
            </a:r>
            <a:r>
              <a:rPr kumimoji="1" lang="zh-CN" altLang="en-US" sz="2400">
                <a:effectLst/>
                <a:latin typeface="宋体" pitchFamily="2" charset="-122"/>
                <a:ea typeface="Times New Roman" pitchFamily="18" charset="0"/>
              </a:rPr>
              <a:t>当目标函数处于冲突状态时，就不会存在使所有目标函数同时达到最大或最小值的最优解，于是我们只能寻求非劣解。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38914">
                                            <p:txEl>
                                              <p:charRg st="0" end="73"/>
                                            </p:txEl>
                                          </p:spTgt>
                                        </p:tgtEl>
                                        <p:attrNameLst>
                                          <p:attrName>style.visibility</p:attrName>
                                        </p:attrNameLst>
                                      </p:cBhvr>
                                      <p:to>
                                        <p:strVal val="visible"/>
                                      </p:to>
                                    </p:set>
                                    <p:animEffect transition="in" filter="wipe(left)">
                                      <p:cBhvr additive="base">
                                        <p:cTn id="7" dur="500"/>
                                        <p:tgtEl>
                                          <p:spTgt spid="38914">
                                            <p:txEl>
                                              <p:charRg st="0" end="73"/>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grpId="0" nodeType="clickEffect">
                                  <p:stCondLst>
                                    <p:cond delay="-9223372036854775808"/>
                                  </p:stCondLst>
                                  <p:childTnLst>
                                    <p:set>
                                      <p:cBhvr additive="base">
                                        <p:cTn id="12" dur="1" fill="hold">
                                          <p:stCondLst>
                                            <p:cond delay="0"/>
                                          </p:stCondLst>
                                        </p:cTn>
                                        <p:tgtEl>
                                          <p:spTgt spid="38914">
                                            <p:txEl>
                                              <p:charRg st="73" end="91"/>
                                            </p:txEl>
                                          </p:spTgt>
                                        </p:tgtEl>
                                        <p:attrNameLst>
                                          <p:attrName>style.visibility</p:attrName>
                                        </p:attrNameLst>
                                      </p:cBhvr>
                                      <p:to>
                                        <p:strVal val="visible"/>
                                      </p:to>
                                    </p:set>
                                    <p:animEffect transition="in" filter="wipe(left)">
                                      <p:cBhvr additive="base">
                                        <p:cTn id="13" dur="500"/>
                                        <p:tgtEl>
                                          <p:spTgt spid="38914">
                                            <p:txEl>
                                              <p:charRg st="73" end="91"/>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1" fill="hold" grpId="1" nodeType="clickEffect">
                                  <p:stCondLst>
                                    <p:cond delay="-9223372036854775808"/>
                                  </p:stCondLst>
                                  <p:childTnLst>
                                    <p:set>
                                      <p:cBhvr additive="base">
                                        <p:cTn id="18" dur="1" fill="hold">
                                          <p:stCondLst>
                                            <p:cond delay="0"/>
                                          </p:stCondLst>
                                        </p:cTn>
                                        <p:tgtEl>
                                          <p:spTgt spid="38916"/>
                                        </p:tgtEl>
                                        <p:attrNameLst>
                                          <p:attrName>style.visibility</p:attrName>
                                        </p:attrNameLst>
                                      </p:cBhvr>
                                      <p:to>
                                        <p:strVal val="visible"/>
                                      </p:to>
                                    </p:set>
                                    <p:animEffect transition="in" filter="wipe(up)">
                                      <p:cBhvr additive="base">
                                        <p:cTn id="19"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uiExpand="1" build="p"/>
      <p:bldP spid="38916" grpId="1"/>
    </p:bldLst>
  </p:timing>
</p:sld>
</file>

<file path=ppt/slides/slide3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39938" name="Rectangle 2"/>
          <p:cNvSpPr/>
          <p:nvPr>
            <p:ph type="body" idx="4294967295"/>
          </p:nvPr>
        </p:nvSpPr>
        <p:spPr>
          <a:xfrm>
            <a:off x="1751012" y="3114675"/>
            <a:ext cx="5718175" cy="3009900"/>
          </a:xfrm>
          <a:prstGeom prst="rect">
            <a:avLst/>
          </a:prstGeom>
          <a:noFill/>
          <a:ln>
            <a:miter lim="800000"/>
          </a:ln>
          <a:effectLst/>
        </p:spPr>
        <p:txBody>
          <a:bodyPr vert="horz" wrap="square" lIns="91440" tIns="45720" rIns="91440" bIns="45720" anchor="t" anchorCtr="0">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lvl="0" indent="0" eaLnBrk="1" hangingPunct="1">
              <a:lnSpc>
                <a:spcPct val="120000"/>
              </a:lnSpc>
              <a:spcBef>
                <a:spcPct val="0"/>
              </a:spcBef>
              <a:buNone/>
            </a:pPr>
            <a:r>
              <a:rPr lang="en-US" altLang="zh-CN" b="1">
                <a:effectLst/>
                <a:latin typeface="黑体" pitchFamily="49" charset="-122"/>
                <a:ea typeface="黑体" pitchFamily="49" charset="-122"/>
              </a:rPr>
              <a:t> </a:t>
            </a:r>
            <a:r>
              <a:rPr lang="zh-CN" altLang="en-US" b="1">
                <a:effectLst/>
                <a:latin typeface="黑体" pitchFamily="49" charset="-122"/>
                <a:ea typeface="黑体" pitchFamily="49" charset="-122"/>
              </a:rPr>
              <a:t>效用最优化模型</a:t>
            </a:r>
          </a:p>
          <a:p>
            <a:pPr marL="0" lvl="0" indent="0" eaLnBrk="1" hangingPunct="1">
              <a:lnSpc>
                <a:spcPct val="120000"/>
              </a:lnSpc>
              <a:spcBef>
                <a:spcPct val="0"/>
              </a:spcBef>
              <a:buNone/>
            </a:pPr>
            <a:r>
              <a:rPr lang="zh-CN" altLang="en-US" b="1">
                <a:effectLst/>
                <a:latin typeface="黑体" pitchFamily="49" charset="-122"/>
                <a:ea typeface="黑体" pitchFamily="49" charset="-122"/>
              </a:rPr>
              <a:t> 罚款模型</a:t>
            </a:r>
          </a:p>
          <a:p>
            <a:pPr marL="0" lvl="0" indent="0" eaLnBrk="1" hangingPunct="1">
              <a:lnSpc>
                <a:spcPct val="120000"/>
              </a:lnSpc>
              <a:spcBef>
                <a:spcPct val="0"/>
              </a:spcBef>
              <a:buNone/>
            </a:pPr>
            <a:r>
              <a:rPr lang="zh-CN" altLang="en-US" b="1">
                <a:effectLst/>
                <a:latin typeface="黑体" pitchFamily="49" charset="-122"/>
                <a:ea typeface="黑体" pitchFamily="49" charset="-122"/>
              </a:rPr>
              <a:t> 约束模型</a:t>
            </a:r>
          </a:p>
          <a:p>
            <a:pPr marL="0" lvl="0" indent="0" eaLnBrk="1" hangingPunct="1">
              <a:lnSpc>
                <a:spcPct val="120000"/>
              </a:lnSpc>
              <a:spcBef>
                <a:spcPct val="0"/>
              </a:spcBef>
              <a:buNone/>
            </a:pPr>
            <a:r>
              <a:rPr lang="zh-CN" altLang="en-US" b="1">
                <a:solidFill>
                  <a:srgbClr val="FF0000"/>
                </a:solidFill>
                <a:effectLst/>
                <a:latin typeface="黑体" pitchFamily="49" charset="-122"/>
                <a:ea typeface="黑体" pitchFamily="49" charset="-122"/>
              </a:rPr>
              <a:t> </a:t>
            </a:r>
            <a:r>
              <a:rPr lang="zh-CN" altLang="en-US" b="1">
                <a:solidFill>
                  <a:srgbClr val="3366FF"/>
                </a:solidFill>
                <a:effectLst/>
                <a:latin typeface="黑体" pitchFamily="49" charset="-122"/>
                <a:ea typeface="黑体" pitchFamily="49" charset="-122"/>
              </a:rPr>
              <a:t>目标规划模型</a:t>
            </a:r>
          </a:p>
          <a:p>
            <a:pPr marL="0" lvl="0" indent="0" eaLnBrk="1" hangingPunct="1">
              <a:lnSpc>
                <a:spcPct val="120000"/>
              </a:lnSpc>
              <a:spcBef>
                <a:spcPct val="0"/>
              </a:spcBef>
              <a:buFont typeface="Wingdings" pitchFamily="2" charset="2"/>
              <a:buNone/>
            </a:pPr>
            <a:endParaRPr lang="en-US" altLang="zh-CN" b="1">
              <a:solidFill>
                <a:srgbClr val="3366FF"/>
              </a:solidFill>
              <a:effectLst/>
              <a:latin typeface="黑体" pitchFamily="49" charset="-122"/>
              <a:ea typeface="黑体" pitchFamily="49" charset="-122"/>
            </a:endParaRPr>
          </a:p>
        </p:txBody>
      </p:sp>
      <p:sp>
        <p:nvSpPr>
          <p:cNvPr id="39939" name="Rectangle 3"/>
          <p:cNvSpPr/>
          <p:nvPr>
            <p:ph type="title" idx="4294967295"/>
          </p:nvPr>
        </p:nvSpPr>
        <p:spPr>
          <a:xfrm>
            <a:off x="611188" y="549275"/>
            <a:ext cx="77724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lgn="l" eaLnBrk="1" hangingPunct="1"/>
            <a:r>
              <a:rPr lang="zh-CN" altLang="en-US" sz="3000" b="1">
                <a:solidFill>
                  <a:schemeClr val="tx1"/>
                </a:solidFill>
                <a:effectLst/>
                <a:latin typeface="黑体" pitchFamily="49" charset="-122"/>
                <a:ea typeface="黑体" pitchFamily="49" charset="-122"/>
              </a:rPr>
              <a:t>二、多目标决策的非劣解的求解方法</a:t>
            </a:r>
            <a:endParaRPr lang="zh-CN" altLang="en-US" sz="3000">
              <a:effectLst/>
            </a:endParaRPr>
          </a:p>
        </p:txBody>
      </p:sp>
      <p:sp>
        <p:nvSpPr>
          <p:cNvPr id="39940" name="Rectangle 4"/>
          <p:cNvSpPr>
            <a:spLocks noChangeArrowheads="1"/>
          </p:cNvSpPr>
          <p:nvPr/>
        </p:nvSpPr>
        <p:spPr>
          <a:xfrm>
            <a:off x="1112341" y="1700213"/>
            <a:ext cx="7351119" cy="1409584"/>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just" eaLnBrk="1" hangingPunct="1">
              <a:lnSpc>
                <a:spcPct val="120000"/>
              </a:lnSpc>
            </a:pPr>
            <a:r>
              <a:rPr kumimoji="1" lang="en-US" altLang="zh-CN" sz="2400">
                <a:effectLst/>
                <a:latin typeface="宋体" pitchFamily="2" charset="-122"/>
                <a:ea typeface="Times New Roman" pitchFamily="18" charset="0"/>
              </a:rPr>
              <a:t>    </a:t>
            </a:r>
            <a:r>
              <a:rPr kumimoji="1" lang="zh-CN" altLang="en-US" sz="2400">
                <a:effectLst/>
                <a:latin typeface="宋体" pitchFamily="2" charset="-122"/>
                <a:ea typeface="Times New Roman" pitchFamily="18" charset="0"/>
              </a:rPr>
              <a:t>为了求得多目标规划问题的非劣解，常常需要将多目标规划问题转化为单目标规划问题去处理。实现这种转化，有如下几种建模方法。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39939"/>
                                        </p:tgtEl>
                                        <p:attrNameLst>
                                          <p:attrName>style.visibility</p:attrName>
                                        </p:attrNameLst>
                                      </p:cBhvr>
                                      <p:to>
                                        <p:strVal val="visible"/>
                                      </p:to>
                                    </p:set>
                                    <p:animEffect transition="in" filter="blinds(horizontal)">
                                      <p:cBhvr additive="base">
                                        <p:cTn id="7" dur="500"/>
                                        <p:tgtEl>
                                          <p:spTgt spid="39939"/>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39940">
                                            <p:txEl>
                                              <p:charRg st="0" end="64"/>
                                            </p:txEl>
                                          </p:spTgt>
                                        </p:tgtEl>
                                        <p:attrNameLst>
                                          <p:attrName>style.visibility</p:attrName>
                                        </p:attrNameLst>
                                      </p:cBhvr>
                                      <p:to>
                                        <p:strVal val="visible"/>
                                      </p:to>
                                    </p:set>
                                    <p:animEffect transition="in" filter="blinds(horizontal)">
                                      <p:cBhvr additive="base">
                                        <p:cTn id="13" dur="500"/>
                                        <p:tgtEl>
                                          <p:spTgt spid="39940">
                                            <p:txEl>
                                              <p:charRg st="0" end="64"/>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39938">
                                            <p:txEl>
                                              <p:charRg st="0" end="9"/>
                                            </p:txEl>
                                          </p:spTgt>
                                        </p:tgtEl>
                                        <p:attrNameLst>
                                          <p:attrName>style.visibility</p:attrName>
                                        </p:attrNameLst>
                                      </p:cBhvr>
                                      <p:to>
                                        <p:strVal val="visible"/>
                                      </p:to>
                                    </p:set>
                                    <p:animEffect transition="in" filter="blinds(horizontal)">
                                      <p:cBhvr additive="base">
                                        <p:cTn id="19" dur="500"/>
                                        <p:tgtEl>
                                          <p:spTgt spid="39938">
                                            <p:txEl>
                                              <p:charRg st="0" end="9"/>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39938">
                                            <p:txEl>
                                              <p:charRg st="9" end="15"/>
                                            </p:txEl>
                                          </p:spTgt>
                                        </p:tgtEl>
                                        <p:attrNameLst>
                                          <p:attrName>style.visibility</p:attrName>
                                        </p:attrNameLst>
                                      </p:cBhvr>
                                      <p:to>
                                        <p:strVal val="visible"/>
                                      </p:to>
                                    </p:set>
                                    <p:animEffect transition="in" filter="blinds(horizontal)">
                                      <p:cBhvr additive="base">
                                        <p:cTn id="25" dur="500"/>
                                        <p:tgtEl>
                                          <p:spTgt spid="39938">
                                            <p:txEl>
                                              <p:charRg st="9" end="15"/>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39938">
                                            <p:txEl>
                                              <p:charRg st="15" end="21"/>
                                            </p:txEl>
                                          </p:spTgt>
                                        </p:tgtEl>
                                        <p:attrNameLst>
                                          <p:attrName>style.visibility</p:attrName>
                                        </p:attrNameLst>
                                      </p:cBhvr>
                                      <p:to>
                                        <p:strVal val="visible"/>
                                      </p:to>
                                    </p:set>
                                    <p:animEffect transition="in" filter="blinds(horizontal)">
                                      <p:cBhvr additive="base">
                                        <p:cTn id="31" dur="500"/>
                                        <p:tgtEl>
                                          <p:spTgt spid="39938">
                                            <p:txEl>
                                              <p:charRg st="15" end="21"/>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39938">
                                            <p:txEl>
                                              <p:charRg st="21" end="29"/>
                                            </p:txEl>
                                          </p:spTgt>
                                        </p:tgtEl>
                                        <p:attrNameLst>
                                          <p:attrName>style.visibility</p:attrName>
                                        </p:attrNameLst>
                                      </p:cBhvr>
                                      <p:to>
                                        <p:strVal val="visible"/>
                                      </p:to>
                                    </p:set>
                                    <p:animEffect transition="in" filter="blinds(horizontal)">
                                      <p:cBhvr additive="base">
                                        <p:cTn id="37" dur="500"/>
                                        <p:tgtEl>
                                          <p:spTgt spid="39938">
                                            <p:txEl>
                                              <p:charRg st="21" end="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Lst>
  </p:timing>
</p:sld>
</file>

<file path=ppt/slides/slide3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graphicFrame>
        <p:nvGraphicFramePr>
          <p:cNvPr id="40962" name="Object 2"/>
          <p:cNvGraphicFramePr>
            <a:graphicFrameLocks noChangeAspect="1"/>
          </p:cNvGraphicFramePr>
          <p:nvPr/>
        </p:nvGraphicFramePr>
        <p:xfrm>
          <a:off x="2722562" y="3860800"/>
          <a:ext cx="1889125" cy="342900"/>
        </p:xfrm>
        <a:graphic>
          <a:graphicData uri="http://schemas.openxmlformats.org/presentationml/2006/ole">
            <mc:AlternateContent xmlns:mc="http://schemas.openxmlformats.org/markup-compatibility/2006">
              <mc:Choice xmlns:v="urn:schemas-microsoft-com:vml" Requires="v">
                <p:oleObj spid="_x0000_s1068" name="Equation" r:id="rId3" progId="Equation.DSMT4">
                  <p:embed/>
                </p:oleObj>
              </mc:Choice>
              <mc:Fallback>
                <p:oleObj spid="_x0000_s1068" name="Equation" r:id="rId3" progId="Equation.DSMT4">
                  <p:embed/>
                  <p:pic>
                    <p:nvPicPr>
                      <p:cNvPr id="0" name="OLE substitute image"/>
                      <p:cNvPicPr/>
                      <p:nvPr/>
                    </p:nvPicPr>
                    <p:blipFill>
                      <a:blip r:embed="rId4"/>
                      <a:stretch/>
                    </p:blipFill>
                    <p:spPr>
                      <a:xfrm>
                        <a:off x="2722562" y="3860800"/>
                        <a:ext cx="1889125" cy="342900"/>
                      </a:xfrm>
                      <a:prstGeom prst="rect">
                        <a:avLst/>
                      </a:prstGeom>
                      <a:noFill/>
                      <a:effectLst/>
                    </p:spPr>
                  </p:pic>
                </p:oleObj>
              </mc:Fallback>
            </mc:AlternateContent>
          </a:graphicData>
        </a:graphic>
      </p:graphicFrame>
      <p:graphicFrame>
        <p:nvGraphicFramePr>
          <p:cNvPr id="40963" name="Object 3"/>
          <p:cNvGraphicFramePr>
            <a:graphicFrameLocks noChangeAspect="1"/>
          </p:cNvGraphicFramePr>
          <p:nvPr/>
        </p:nvGraphicFramePr>
        <p:xfrm>
          <a:off x="2674938" y="4437062"/>
          <a:ext cx="2328862" cy="366712"/>
        </p:xfrm>
        <a:graphic>
          <a:graphicData uri="http://schemas.openxmlformats.org/presentationml/2006/ole">
            <mc:AlternateContent xmlns:mc="http://schemas.openxmlformats.org/markup-compatibility/2006">
              <mc:Choice xmlns:v="urn:schemas-microsoft-com:vml" Requires="v">
                <p:oleObj spid="_x0000_s1069" name="公式" r:id="rId5" progId="Equation.3">
                  <p:embed/>
                </p:oleObj>
              </mc:Choice>
              <mc:Fallback>
                <p:oleObj spid="_x0000_s1069" name="公式" r:id="rId5" progId="Equation.3">
                  <p:embed/>
                  <p:pic>
                    <p:nvPicPr>
                      <p:cNvPr id="0" name="OLE substitute image"/>
                      <p:cNvPicPr/>
                      <p:nvPr/>
                    </p:nvPicPr>
                    <p:blipFill>
                      <a:blip r:embed="rId6"/>
                      <a:stretch/>
                    </p:blipFill>
                    <p:spPr>
                      <a:xfrm>
                        <a:off x="2674938" y="4437062"/>
                        <a:ext cx="2328862" cy="366712"/>
                      </a:xfrm>
                      <a:prstGeom prst="rect">
                        <a:avLst/>
                      </a:prstGeom>
                      <a:noFill/>
                      <a:effectLst/>
                    </p:spPr>
                  </p:pic>
                </p:oleObj>
              </mc:Fallback>
            </mc:AlternateContent>
          </a:graphicData>
        </a:graphic>
      </p:graphicFrame>
      <p:sp>
        <p:nvSpPr>
          <p:cNvPr id="40964" name="Text Box 4"/>
          <p:cNvSpPr txBox="1">
            <a:spLocks noChangeArrowheads="1"/>
          </p:cNvSpPr>
          <p:nvPr/>
        </p:nvSpPr>
        <p:spPr>
          <a:xfrm>
            <a:off x="1044575" y="4868862"/>
            <a:ext cx="6839433" cy="579699"/>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eaLnBrk="1" hangingPunct="1">
              <a:spcBef>
                <a:spcPct val="50000"/>
              </a:spcBef>
            </a:pPr>
            <a:r>
              <a:rPr kumimoji="1" lang="en-US" altLang="zh-CN" sz="2400" i="1">
                <a:effectLst/>
                <a:latin typeface="宋体" pitchFamily="2" charset="-122"/>
                <a:sym typeface="Symbol" pitchFamily="18" charset="2"/>
              </a:rPr>
              <a:t></a:t>
            </a:r>
            <a:r>
              <a:rPr kumimoji="1" lang="zh-CN" altLang="en-US" sz="2400">
                <a:effectLst/>
                <a:latin typeface="宋体" pitchFamily="2" charset="-122"/>
              </a:rPr>
              <a:t>是与各目标函数相关的效用函数的和函数。</a:t>
            </a:r>
            <a:r>
              <a:rPr kumimoji="1" lang="zh-CN" altLang="en-US" sz="3200">
                <a:effectLst/>
                <a:latin typeface="宋体" pitchFamily="2" charset="-122"/>
              </a:rPr>
              <a:t> </a:t>
            </a:r>
          </a:p>
        </p:txBody>
      </p:sp>
      <p:sp>
        <p:nvSpPr>
          <p:cNvPr id="40965" name="Text Box 6"/>
          <p:cNvSpPr/>
          <p:nvPr/>
        </p:nvSpPr>
        <p:spPr>
          <a:xfrm>
            <a:off x="684212" y="620712"/>
            <a:ext cx="7279611" cy="750558"/>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20000"/>
              </a:lnSpc>
              <a:spcBef>
                <a:spcPct val="20000"/>
              </a:spcBef>
              <a:buClr>
                <a:schemeClr val="accent2"/>
              </a:buClr>
              <a:buSzPct val="120000"/>
              <a:buFont typeface="Wingdings" pitchFamily="2" charset="2"/>
            </a:pPr>
            <a:r>
              <a:rPr lang="zh-CN" altLang="en-US" sz="2400" b="1">
                <a:solidFill>
                  <a:srgbClr val="3366FF"/>
                </a:solidFill>
                <a:effectLst/>
                <a:latin typeface="Times New Roman" pitchFamily="18" charset="0"/>
                <a:ea typeface="黑体" pitchFamily="49" charset="-122"/>
              </a:rPr>
              <a:t>方法一     效</a:t>
            </a:r>
            <a:r>
              <a:rPr kumimoji="1" lang="zh-CN" altLang="en-US" sz="2400" b="1">
                <a:solidFill>
                  <a:srgbClr val="3366FF"/>
                </a:solidFill>
                <a:effectLst/>
                <a:latin typeface="Times New Roman" pitchFamily="18" charset="0"/>
                <a:ea typeface="黑体" pitchFamily="49" charset="-122"/>
              </a:rPr>
              <a:t>用最优化模型</a:t>
            </a:r>
            <a:r>
              <a:rPr kumimoji="1" lang="zh-CN" altLang="en-US" sz="2800" b="1">
                <a:solidFill>
                  <a:srgbClr val="3366FF"/>
                </a:solidFill>
                <a:effectLst/>
                <a:latin typeface="黑体" pitchFamily="49" charset="-122"/>
                <a:ea typeface="黑体" pitchFamily="49" charset="-122"/>
              </a:rPr>
              <a:t>（</a:t>
            </a:r>
            <a:r>
              <a:rPr kumimoji="1" lang="zh-CN" altLang="en-US" sz="2400" b="1">
                <a:solidFill>
                  <a:srgbClr val="3366FF"/>
                </a:solidFill>
                <a:effectLst/>
                <a:latin typeface="Times New Roman" pitchFamily="18" charset="0"/>
                <a:ea typeface="黑体" pitchFamily="49" charset="-122"/>
              </a:rPr>
              <a:t>线性加权法</a:t>
            </a:r>
            <a:r>
              <a:rPr kumimoji="1" lang="zh-CN" altLang="en-US" sz="2800" b="1">
                <a:solidFill>
                  <a:srgbClr val="3366FF"/>
                </a:solidFill>
                <a:effectLst/>
                <a:latin typeface="黑体" pitchFamily="49" charset="-122"/>
                <a:ea typeface="黑体" pitchFamily="49" charset="-122"/>
              </a:rPr>
              <a:t>）</a:t>
            </a:r>
            <a:r>
              <a:rPr kumimoji="1" lang="zh-CN" altLang="en-US" sz="3600">
                <a:solidFill>
                  <a:srgbClr val="3366FF"/>
                </a:solidFill>
                <a:effectLst/>
                <a:latin typeface="黑体" pitchFamily="49" charset="-122"/>
                <a:ea typeface="黑体" pitchFamily="49" charset="-122"/>
              </a:rPr>
              <a:t> </a:t>
            </a:r>
          </a:p>
        </p:txBody>
      </p:sp>
      <p:sp>
        <p:nvSpPr>
          <p:cNvPr id="40966" name="Text Box 10"/>
          <p:cNvSpPr txBox="1">
            <a:spLocks noChangeArrowheads="1"/>
          </p:cNvSpPr>
          <p:nvPr/>
        </p:nvSpPr>
        <p:spPr>
          <a:xfrm>
            <a:off x="900113" y="1412875"/>
            <a:ext cx="7279608" cy="2141836"/>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eaLnBrk="1" hangingPunct="1">
              <a:lnSpc>
                <a:spcPct val="140000"/>
              </a:lnSpc>
              <a:spcBef>
                <a:spcPct val="20000"/>
              </a:spcBef>
              <a:buClr>
                <a:schemeClr val="accent2"/>
              </a:buClr>
              <a:buSzPct val="120000"/>
              <a:buFont typeface="Wingdings" pitchFamily="2" charset="2"/>
            </a:pPr>
            <a:r>
              <a:rPr kumimoji="1" lang="zh-CN" altLang="en-US" sz="2400">
                <a:effectLst/>
                <a:latin typeface="宋体" pitchFamily="2" charset="-122"/>
              </a:rPr>
              <a:t>思想：规划问题的各个目标函数可以通过一定的方式进行求和运算。这种方法将一系列的目标函数与效用函数建立相关关系，各目标之间通过效用函数协调，使多目标规划问题转化为传统的单目标规划问题： </a:t>
            </a:r>
          </a:p>
        </p:txBody>
      </p:sp>
      <p:sp>
        <p:nvSpPr>
          <p:cNvPr id="40967" name="Rectangle 11"/>
          <p:cNvSpPr>
            <a:spLocks noChangeArrowheads="1"/>
          </p:cNvSpPr>
          <p:nvPr/>
        </p:nvSpPr>
        <p:spPr>
          <a:xfrm>
            <a:off x="395288" y="5589588"/>
            <a:ext cx="8433289" cy="427147"/>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lang="zh-CN" altLang="en-US" sz="2200">
                <a:effectLst/>
                <a:latin typeface="宋体" pitchFamily="2" charset="-122"/>
              </a:rPr>
              <a:t>但困难是要确定合理的权系数，以反映不同目标之间的重要程度。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40965">
                                            <p:txEl>
                                              <p:charRg st="0" end="24"/>
                                            </p:txEl>
                                          </p:spTgt>
                                        </p:tgtEl>
                                        <p:attrNameLst>
                                          <p:attrName>style.visibility</p:attrName>
                                        </p:attrNameLst>
                                      </p:cBhvr>
                                      <p:to>
                                        <p:strVal val="visible"/>
                                      </p:to>
                                    </p:set>
                                    <p:animEffect transition="in" filter="blinds(horizontal)">
                                      <p:cBhvr additive="base">
                                        <p:cTn id="7" dur="500"/>
                                        <p:tgtEl>
                                          <p:spTgt spid="40965">
                                            <p:txEl>
                                              <p:charRg st="0" end="24"/>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40966">
                                            <p:txEl>
                                              <p:charRg st="0" end="93"/>
                                            </p:txEl>
                                          </p:spTgt>
                                        </p:tgtEl>
                                        <p:attrNameLst>
                                          <p:attrName>style.visibility</p:attrName>
                                        </p:attrNameLst>
                                      </p:cBhvr>
                                      <p:to>
                                        <p:strVal val="visible"/>
                                      </p:to>
                                    </p:set>
                                    <p:animEffect transition="in" filter="blinds(horizontal)">
                                      <p:cBhvr additive="base">
                                        <p:cTn id="13" dur="500"/>
                                        <p:tgtEl>
                                          <p:spTgt spid="40966">
                                            <p:txEl>
                                              <p:charRg st="0" end="93"/>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40962"/>
                                        </p:tgtEl>
                                        <p:attrNameLst>
                                          <p:attrName>style.visibility</p:attrName>
                                        </p:attrNameLst>
                                      </p:cBhvr>
                                      <p:to>
                                        <p:strVal val="visible"/>
                                      </p:to>
                                    </p:set>
                                    <p:animEffect transition="in" filter="blinds(horizontal)">
                                      <p:cBhvr additive="base">
                                        <p:cTn id="19" dur="500"/>
                                        <p:tgtEl>
                                          <p:spTgt spid="40962"/>
                                        </p:tgtEl>
                                      </p:cBhvr>
                                    </p:animEffect>
                                  </p:childTnLst>
                                </p:cTn>
                              </p:par>
                              <p:par>
                                <p:cTn id="20" presetID="3" presetClass="entr" presetSubtype="10" fill="hold" nodeType="withEffect">
                                  <p:stCondLst>
                                    <p:cond delay="-9223372036854775808"/>
                                  </p:stCondLst>
                                  <p:childTnLst>
                                    <p:set>
                                      <p:cBhvr additive="base">
                                        <p:cTn id="21" dur="1" fill="hold">
                                          <p:stCondLst>
                                            <p:cond delay="0"/>
                                          </p:stCondLst>
                                        </p:cTn>
                                        <p:tgtEl>
                                          <p:spTgt spid="40963"/>
                                        </p:tgtEl>
                                        <p:attrNameLst>
                                          <p:attrName>style.visibility</p:attrName>
                                        </p:attrNameLst>
                                      </p:cBhvr>
                                      <p:to>
                                        <p:strVal val="visible"/>
                                      </p:to>
                                    </p:set>
                                    <p:animEffect transition="in" filter="blinds(horizontal)">
                                      <p:cBhvr additive="base">
                                        <p:cTn id="22" dur="500"/>
                                        <p:tgtEl>
                                          <p:spTgt spid="40963"/>
                                        </p:tgtEl>
                                      </p:cBhvr>
                                    </p:animEffect>
                                  </p:child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3" presetClass="entr" presetSubtype="10" fill="hold" grpId="0" nodeType="clickEffect">
                                  <p:stCondLst>
                                    <p:cond delay="-9223372036854775808"/>
                                  </p:stCondLst>
                                  <p:childTnLst>
                                    <p:set>
                                      <p:cBhvr additive="base">
                                        <p:cTn id="27" dur="1" fill="hold">
                                          <p:stCondLst>
                                            <p:cond delay="0"/>
                                          </p:stCondLst>
                                        </p:cTn>
                                        <p:tgtEl>
                                          <p:spTgt spid="40964"/>
                                        </p:tgtEl>
                                        <p:attrNameLst>
                                          <p:attrName>style.visibility</p:attrName>
                                        </p:attrNameLst>
                                      </p:cBhvr>
                                      <p:to>
                                        <p:strVal val="visible"/>
                                      </p:to>
                                    </p:set>
                                    <p:animEffect transition="in" filter="blinds(horizontal)">
                                      <p:cBhvr additive="base">
                                        <p:cTn id="28" dur="500"/>
                                        <p:tgtEl>
                                          <p:spTgt spid="40964"/>
                                        </p:tgtEl>
                                      </p:cBhvr>
                                    </p:animEffect>
                                  </p:childTnLst>
                                </p:cTn>
                              </p:par>
                            </p:childTnLst>
                          </p:cTn>
                        </p:par>
                      </p:childTnLst>
                    </p:cTn>
                  </p:par>
                  <p:par>
                    <p:cTn id="29" fill="hold">
                      <p:stCondLst>
                        <p:cond delay="indefinite"/>
                      </p:stCondLst>
                      <p:childTnLst>
                        <p:par>
                          <p:cTn id="30" fill="hold">
                            <p:stCondLst>
                              <p:cond delay="indefinite"/>
                            </p:stCondLst>
                          </p:cTn>
                        </p:par>
                        <p:par>
                          <p:cTn id="31" fill="hold">
                            <p:stCondLst>
                              <p:cond delay="0"/>
                            </p:stCondLst>
                            <p:childTnLst>
                              <p:par>
                                <p:cTn id="32" presetID="3" presetClass="entr" presetSubtype="10" fill="hold" grpId="1" nodeType="clickEffect">
                                  <p:stCondLst>
                                    <p:cond delay="-9223372036854775808"/>
                                  </p:stCondLst>
                                  <p:childTnLst>
                                    <p:set>
                                      <p:cBhvr additive="base">
                                        <p:cTn id="33" dur="1" fill="hold">
                                          <p:stCondLst>
                                            <p:cond delay="0"/>
                                          </p:stCondLst>
                                        </p:cTn>
                                        <p:tgtEl>
                                          <p:spTgt spid="40967"/>
                                        </p:tgtEl>
                                        <p:attrNameLst>
                                          <p:attrName>style.visibility</p:attrName>
                                        </p:attrNameLst>
                                      </p:cBhvr>
                                      <p:to>
                                        <p:strVal val="visible"/>
                                      </p:to>
                                    </p:set>
                                    <p:animEffect transition="in" filter="blinds(horizontal)">
                                      <p:cBhvr additive="base">
                                        <p:cTn id="34" dur="5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40967" grpId="1"/>
    </p:bldLst>
  </p:timing>
</p:sld>
</file>

<file path=ppt/slides/slide4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41986" name="Text Box 2"/>
          <p:cNvSpPr txBox="1">
            <a:spLocks noChangeArrowheads="1"/>
          </p:cNvSpPr>
          <p:nvPr/>
        </p:nvSpPr>
        <p:spPr>
          <a:xfrm>
            <a:off x="967805" y="922338"/>
            <a:ext cx="7497315" cy="1299746"/>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algn="just" eaLnBrk="1" hangingPunct="1">
              <a:lnSpc>
                <a:spcPct val="110000"/>
              </a:lnSpc>
              <a:spcBef>
                <a:spcPct val="50000"/>
              </a:spcBef>
            </a:pPr>
            <a:r>
              <a:rPr kumimoji="1" lang="zh-CN" altLang="en-US" sz="2400">
                <a:effectLst/>
                <a:latin typeface="宋体" pitchFamily="2" charset="-122"/>
              </a:rPr>
              <a:t>在用效用函数作为规划目标时，需要确定一组权值 </a:t>
            </a:r>
            <a:r>
              <a:rPr kumimoji="1" lang="zh-CN" altLang="en-US" sz="2400" i="1">
                <a:effectLst/>
                <a:latin typeface="宋体" pitchFamily="2" charset="-122"/>
                <a:sym typeface="Symbol" pitchFamily="18" charset="2"/>
              </a:rPr>
              <a:t></a:t>
            </a:r>
            <a:r>
              <a:rPr kumimoji="1" lang="en-US" altLang="zh-CN" sz="2400" i="1" baseline="-25000">
                <a:effectLst/>
                <a:latin typeface="宋体" pitchFamily="2" charset="-122"/>
                <a:sym typeface="Symbol" pitchFamily="18" charset="2"/>
              </a:rPr>
              <a:t>i </a:t>
            </a:r>
            <a:r>
              <a:rPr kumimoji="1" lang="zh-CN" altLang="en-US" sz="2400">
                <a:effectLst/>
                <a:latin typeface="宋体" pitchFamily="2" charset="-122"/>
              </a:rPr>
              <a:t>来反映原问题中各目标函数在总体目标中的权重，即：</a:t>
            </a:r>
          </a:p>
        </p:txBody>
      </p:sp>
      <p:graphicFrame>
        <p:nvGraphicFramePr>
          <p:cNvPr id="41987" name="Object 5"/>
          <p:cNvGraphicFramePr>
            <a:graphicFrameLocks noChangeAspect="1"/>
          </p:cNvGraphicFramePr>
          <p:nvPr/>
        </p:nvGraphicFramePr>
        <p:xfrm>
          <a:off x="2790825" y="2301875"/>
          <a:ext cx="1946275" cy="758825"/>
        </p:xfrm>
        <a:graphic>
          <a:graphicData uri="http://schemas.openxmlformats.org/presentationml/2006/ole">
            <mc:AlternateContent xmlns:mc="http://schemas.openxmlformats.org/markup-compatibility/2006">
              <mc:Choice xmlns:v="urn:schemas-microsoft-com:vml" Requires="v">
                <p:oleObj spid="_x0000_s1070" name="Equation" r:id="rId2" progId="Equation.3">
                  <p:embed/>
                </p:oleObj>
              </mc:Choice>
              <mc:Fallback>
                <p:oleObj spid="_x0000_s1070" name="Equation" r:id="rId2" progId="Equation.3">
                  <p:embed/>
                  <p:pic>
                    <p:nvPicPr>
                      <p:cNvPr id="0" name="OLE substitute image"/>
                      <p:cNvPicPr/>
                      <p:nvPr/>
                    </p:nvPicPr>
                    <p:blipFill>
                      <a:blip r:embed="rId3"/>
                      <a:stretch/>
                    </p:blipFill>
                    <p:spPr>
                      <a:xfrm>
                        <a:off x="2790825" y="2301875"/>
                        <a:ext cx="1946275" cy="758825"/>
                      </a:xfrm>
                      <a:prstGeom prst="rect">
                        <a:avLst/>
                      </a:prstGeom>
                      <a:noFill/>
                      <a:effectLst/>
                    </p:spPr>
                  </p:pic>
                </p:oleObj>
              </mc:Fallback>
            </mc:AlternateContent>
          </a:graphicData>
        </a:graphic>
      </p:graphicFrame>
      <p:graphicFrame>
        <p:nvGraphicFramePr>
          <p:cNvPr id="41988" name="Object 7"/>
          <p:cNvGraphicFramePr>
            <a:graphicFrameLocks noChangeAspect="1"/>
          </p:cNvGraphicFramePr>
          <p:nvPr/>
        </p:nvGraphicFramePr>
        <p:xfrm>
          <a:off x="2898775" y="3382962"/>
          <a:ext cx="3532188" cy="369888"/>
        </p:xfrm>
        <a:graphic>
          <a:graphicData uri="http://schemas.openxmlformats.org/presentationml/2006/ole">
            <mc:AlternateContent xmlns:mc="http://schemas.openxmlformats.org/markup-compatibility/2006">
              <mc:Choice xmlns:v="urn:schemas-microsoft-com:vml" Requires="v">
                <p:oleObj spid="_x0000_s1071" name="Equation" r:id="rId4" progId="Equation.3">
                  <p:embed/>
                </p:oleObj>
              </mc:Choice>
              <mc:Fallback>
                <p:oleObj spid="_x0000_s1071" name="Equation" r:id="rId4" progId="Equation.3">
                  <p:embed/>
                  <p:pic>
                    <p:nvPicPr>
                      <p:cNvPr id="0" name="OLE substitute image"/>
                      <p:cNvPicPr/>
                      <p:nvPr/>
                    </p:nvPicPr>
                    <p:blipFill>
                      <a:blip r:embed="rId5"/>
                      <a:stretch/>
                    </p:blipFill>
                    <p:spPr>
                      <a:xfrm>
                        <a:off x="2898775" y="3382962"/>
                        <a:ext cx="3532188" cy="369888"/>
                      </a:xfrm>
                      <a:prstGeom prst="rect">
                        <a:avLst/>
                      </a:prstGeom>
                      <a:noFill/>
                      <a:effectLst/>
                    </p:spPr>
                  </p:pic>
                </p:oleObj>
              </mc:Fallback>
            </mc:AlternateContent>
          </a:graphicData>
        </a:graphic>
      </p:graphicFrame>
      <p:graphicFrame>
        <p:nvGraphicFramePr>
          <p:cNvPr id="41989" name="Object 11"/>
          <p:cNvGraphicFramePr>
            <a:graphicFrameLocks noChangeAspect="1"/>
          </p:cNvGraphicFramePr>
          <p:nvPr/>
        </p:nvGraphicFramePr>
        <p:xfrm>
          <a:off x="4297362" y="4202112"/>
          <a:ext cx="1028700" cy="765175"/>
        </p:xfrm>
        <a:graphic>
          <a:graphicData uri="http://schemas.openxmlformats.org/presentationml/2006/ole">
            <mc:AlternateContent xmlns:mc="http://schemas.openxmlformats.org/markup-compatibility/2006">
              <mc:Choice xmlns:v="urn:schemas-microsoft-com:vml" Requires="v">
                <p:oleObj spid="_x0000_s1072" name="Equation" r:id="rId6" progId="Equation.3">
                  <p:embed/>
                </p:oleObj>
              </mc:Choice>
              <mc:Fallback>
                <p:oleObj spid="_x0000_s1072" name="Equation" r:id="rId6" progId="Equation.3">
                  <p:embed/>
                  <p:pic>
                    <p:nvPicPr>
                      <p:cNvPr id="0" name="OLE substitute image"/>
                      <p:cNvPicPr/>
                      <p:nvPr/>
                    </p:nvPicPr>
                    <p:blipFill>
                      <a:blip r:embed="rId7"/>
                      <a:stretch/>
                    </p:blipFill>
                    <p:spPr>
                      <a:xfrm>
                        <a:off x="4297362" y="4202112"/>
                        <a:ext cx="1028700" cy="765175"/>
                      </a:xfrm>
                      <a:prstGeom prst="rect">
                        <a:avLst/>
                      </a:prstGeom>
                      <a:noFill/>
                      <a:effectLst/>
                    </p:spPr>
                  </p:pic>
                </p:oleObj>
              </mc:Fallback>
            </mc:AlternateContent>
          </a:graphicData>
        </a:graphic>
      </p:graphicFrame>
      <p:graphicFrame>
        <p:nvGraphicFramePr>
          <p:cNvPr id="41990" name="Object 13"/>
          <p:cNvGraphicFramePr>
            <a:graphicFrameLocks noChangeAspect="1"/>
          </p:cNvGraphicFramePr>
          <p:nvPr/>
        </p:nvGraphicFramePr>
        <p:xfrm>
          <a:off x="3203575" y="5157788"/>
          <a:ext cx="2160588" cy="452438"/>
        </p:xfrm>
        <a:graphic>
          <a:graphicData uri="http://schemas.openxmlformats.org/presentationml/2006/ole">
            <mc:AlternateContent xmlns:mc="http://schemas.openxmlformats.org/markup-compatibility/2006">
              <mc:Choice xmlns:v="urn:schemas-microsoft-com:vml" Requires="v">
                <p:oleObj spid="_x0000_s1073" name="Equation" r:id="rId8" progId="Equation.3">
                  <p:embed/>
                </p:oleObj>
              </mc:Choice>
              <mc:Fallback>
                <p:oleObj spid="_x0000_s1073" name="Equation" r:id="rId8" progId="Equation.3">
                  <p:embed/>
                  <p:pic>
                    <p:nvPicPr>
                      <p:cNvPr id="0" name="OLE substitute image"/>
                      <p:cNvPicPr/>
                      <p:nvPr/>
                    </p:nvPicPr>
                    <p:blipFill>
                      <a:blip r:embed="rId9"/>
                      <a:stretch/>
                    </p:blipFill>
                    <p:spPr>
                      <a:xfrm>
                        <a:off x="3203575" y="5157788"/>
                        <a:ext cx="2160588" cy="452438"/>
                      </a:xfrm>
                      <a:prstGeom prst="rect">
                        <a:avLst/>
                      </a:prstGeom>
                      <a:noFill/>
                      <a:effectLst/>
                    </p:spPr>
                  </p:pic>
                </p:oleObj>
              </mc:Fallback>
            </mc:AlternateContent>
          </a:graphicData>
        </a:graphic>
      </p:graphicFrame>
      <p:graphicFrame>
        <p:nvGraphicFramePr>
          <p:cNvPr id="41991" name="Object 15"/>
          <p:cNvGraphicFramePr>
            <a:graphicFrameLocks noChangeAspect="1"/>
          </p:cNvGraphicFramePr>
          <p:nvPr/>
        </p:nvGraphicFramePr>
        <p:xfrm>
          <a:off x="3227388" y="5949950"/>
          <a:ext cx="2352675" cy="366712"/>
        </p:xfrm>
        <a:graphic>
          <a:graphicData uri="http://schemas.openxmlformats.org/presentationml/2006/ole">
            <mc:AlternateContent xmlns:mc="http://schemas.openxmlformats.org/markup-compatibility/2006">
              <mc:Choice xmlns:v="urn:schemas-microsoft-com:vml" Requires="v">
                <p:oleObj spid="_x0000_s1074" name="公式" r:id="rId10" progId="Equation.3">
                  <p:embed/>
                </p:oleObj>
              </mc:Choice>
              <mc:Fallback>
                <p:oleObj spid="_x0000_s1074" name="公式" r:id="rId10" progId="Equation.3">
                  <p:embed/>
                  <p:pic>
                    <p:nvPicPr>
                      <p:cNvPr id="0" name="OLE substitute image"/>
                      <p:cNvPicPr/>
                      <p:nvPr/>
                    </p:nvPicPr>
                    <p:blipFill>
                      <a:blip r:embed="rId11"/>
                      <a:stretch/>
                    </p:blipFill>
                    <p:spPr>
                      <a:xfrm>
                        <a:off x="3227388" y="5949950"/>
                        <a:ext cx="2352675" cy="366712"/>
                      </a:xfrm>
                      <a:prstGeom prst="rect">
                        <a:avLst/>
                      </a:prstGeom>
                      <a:noFill/>
                      <a:effectLst/>
                    </p:spPr>
                  </p:pic>
                </p:oleObj>
              </mc:Fallback>
            </mc:AlternateContent>
          </a:graphicData>
        </a:graphic>
      </p:graphicFrame>
      <p:sp>
        <p:nvSpPr>
          <p:cNvPr id="41992" name="Text Box 19"/>
          <p:cNvSpPr txBox="1">
            <a:spLocks noChangeArrowheads="1"/>
          </p:cNvSpPr>
          <p:nvPr/>
        </p:nvSpPr>
        <p:spPr>
          <a:xfrm>
            <a:off x="1257198" y="4306888"/>
            <a:ext cx="6559754" cy="530882"/>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algn="just" eaLnBrk="1" hangingPunct="1">
              <a:lnSpc>
                <a:spcPct val="120000"/>
              </a:lnSpc>
              <a:spcBef>
                <a:spcPct val="50000"/>
              </a:spcBef>
            </a:pPr>
            <a:r>
              <a:rPr kumimoji="1" lang="zh-CN" altLang="en-US" sz="2400">
                <a:effectLst/>
                <a:latin typeface="宋体" pitchFamily="2" charset="-122"/>
              </a:rPr>
              <a:t>式中， </a:t>
            </a:r>
            <a:r>
              <a:rPr kumimoji="1" lang="zh-CN" altLang="en-US" sz="2400" b="1" i="1">
                <a:effectLst/>
                <a:latin typeface="Times New Roman" pitchFamily="18" charset="0"/>
                <a:ea typeface="Times New Roman" pitchFamily="18" charset="0"/>
                <a:sym typeface="Symbol" pitchFamily="18" charset="2"/>
              </a:rPr>
              <a:t></a:t>
            </a:r>
            <a:r>
              <a:rPr kumimoji="1" lang="en-US" altLang="zh-CN" sz="2400" b="1" i="1" baseline="-25000">
                <a:effectLst/>
                <a:latin typeface="Times New Roman" pitchFamily="18" charset="0"/>
                <a:ea typeface="Times New Roman" pitchFamily="18" charset="0"/>
                <a:sym typeface="Symbol" pitchFamily="18" charset="2"/>
              </a:rPr>
              <a:t>i</a:t>
            </a:r>
            <a:r>
              <a:rPr kumimoji="1" lang="en-US" altLang="zh-CN" sz="2400" i="1" baseline="-25000">
                <a:effectLst/>
                <a:latin typeface="Times New Roman" pitchFamily="18" charset="0"/>
                <a:ea typeface="Times New Roman" pitchFamily="18" charset="0"/>
                <a:sym typeface="Symbol" pitchFamily="18" charset="2"/>
              </a:rPr>
              <a:t> </a:t>
            </a:r>
            <a:r>
              <a:rPr kumimoji="1" lang="zh-CN" altLang="en-US" sz="2400">
                <a:effectLst/>
                <a:latin typeface="宋体" pitchFamily="2" charset="-122"/>
              </a:rPr>
              <a:t>应满足：</a:t>
            </a:r>
          </a:p>
        </p:txBody>
      </p:sp>
      <p:sp>
        <p:nvSpPr>
          <p:cNvPr id="41993" name="Text Box 20"/>
          <p:cNvSpPr txBox="1">
            <a:spLocks noChangeArrowheads="1"/>
          </p:cNvSpPr>
          <p:nvPr/>
        </p:nvSpPr>
        <p:spPr>
          <a:xfrm>
            <a:off x="1257198" y="5170488"/>
            <a:ext cx="6559754" cy="530882"/>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algn="just" eaLnBrk="1" hangingPunct="1">
              <a:lnSpc>
                <a:spcPct val="120000"/>
              </a:lnSpc>
              <a:spcBef>
                <a:spcPct val="50000"/>
              </a:spcBef>
            </a:pPr>
            <a:r>
              <a:rPr kumimoji="1" lang="zh-CN" altLang="en-US" sz="2400">
                <a:effectLst/>
                <a:latin typeface="宋体" pitchFamily="2" charset="-122"/>
              </a:rPr>
              <a:t>向量形式：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41986"/>
                                        </p:tgtEl>
                                        <p:attrNameLst>
                                          <p:attrName>style.visibility</p:attrName>
                                        </p:attrNameLst>
                                      </p:cBhvr>
                                      <p:to>
                                        <p:strVal val="visible"/>
                                      </p:to>
                                    </p:set>
                                    <p:animEffect transition="in" filter="wipe(left)">
                                      <p:cBhvr additive="base">
                                        <p:cTn id="7" dur="500"/>
                                        <p:tgtEl>
                                          <p:spTgt spid="41986"/>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41987"/>
                                        </p:tgtEl>
                                        <p:attrNameLst>
                                          <p:attrName>style.visibility</p:attrName>
                                        </p:attrNameLst>
                                      </p:cBhvr>
                                      <p:to>
                                        <p:strVal val="visible"/>
                                      </p:to>
                                    </p:set>
                                    <p:animEffect transition="in" filter="wipe(left)">
                                      <p:cBhvr additive="base">
                                        <p:cTn id="13" dur="500"/>
                                        <p:tgtEl>
                                          <p:spTgt spid="41987"/>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41988"/>
                                        </p:tgtEl>
                                        <p:attrNameLst>
                                          <p:attrName>style.visibility</p:attrName>
                                        </p:attrNameLst>
                                      </p:cBhvr>
                                      <p:to>
                                        <p:strVal val="visible"/>
                                      </p:to>
                                    </p:set>
                                    <p:animEffect transition="in" filter="wipe(left)">
                                      <p:cBhvr additive="base">
                                        <p:cTn id="19" dur="500"/>
                                        <p:tgtEl>
                                          <p:spTgt spid="41988"/>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8" fill="hold" grpId="1" nodeType="clickEffect">
                                  <p:stCondLst>
                                    <p:cond delay="-9223372036854775808"/>
                                  </p:stCondLst>
                                  <p:childTnLst>
                                    <p:set>
                                      <p:cBhvr additive="base">
                                        <p:cTn id="24" dur="1" fill="hold">
                                          <p:stCondLst>
                                            <p:cond delay="0"/>
                                          </p:stCondLst>
                                        </p:cTn>
                                        <p:tgtEl>
                                          <p:spTgt spid="41992"/>
                                        </p:tgtEl>
                                        <p:attrNameLst>
                                          <p:attrName>style.visibility</p:attrName>
                                        </p:attrNameLst>
                                      </p:cBhvr>
                                      <p:to>
                                        <p:strVal val="visible"/>
                                      </p:to>
                                    </p:set>
                                    <p:animEffect transition="in" filter="wipe(left)">
                                      <p:cBhvr additive="base">
                                        <p:cTn id="25" dur="500"/>
                                        <p:tgtEl>
                                          <p:spTgt spid="41992"/>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22" presetClass="entr" presetSubtype="8" fill="hold" nodeType="clickEffect">
                                  <p:stCondLst>
                                    <p:cond delay="-9223372036854775808"/>
                                  </p:stCondLst>
                                  <p:childTnLst>
                                    <p:set>
                                      <p:cBhvr additive="base">
                                        <p:cTn id="30" dur="1" fill="hold">
                                          <p:stCondLst>
                                            <p:cond delay="0"/>
                                          </p:stCondLst>
                                        </p:cTn>
                                        <p:tgtEl>
                                          <p:spTgt spid="41989"/>
                                        </p:tgtEl>
                                        <p:attrNameLst>
                                          <p:attrName>style.visibility</p:attrName>
                                        </p:attrNameLst>
                                      </p:cBhvr>
                                      <p:to>
                                        <p:strVal val="visible"/>
                                      </p:to>
                                    </p:set>
                                    <p:animEffect transition="in" filter="wipe(left)">
                                      <p:cBhvr additive="base">
                                        <p:cTn id="31" dur="500"/>
                                        <p:tgtEl>
                                          <p:spTgt spid="41989"/>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22" presetClass="entr" presetSubtype="8" fill="hold" grpId="2" nodeType="clickEffect">
                                  <p:stCondLst>
                                    <p:cond delay="-9223372036854775808"/>
                                  </p:stCondLst>
                                  <p:childTnLst>
                                    <p:set>
                                      <p:cBhvr additive="base">
                                        <p:cTn id="36" dur="1" fill="hold">
                                          <p:stCondLst>
                                            <p:cond delay="0"/>
                                          </p:stCondLst>
                                        </p:cTn>
                                        <p:tgtEl>
                                          <p:spTgt spid="41993"/>
                                        </p:tgtEl>
                                        <p:attrNameLst>
                                          <p:attrName>style.visibility</p:attrName>
                                        </p:attrNameLst>
                                      </p:cBhvr>
                                      <p:to>
                                        <p:strVal val="visible"/>
                                      </p:to>
                                    </p:set>
                                    <p:animEffect transition="in" filter="wipe(left)">
                                      <p:cBhvr additive="base">
                                        <p:cTn id="37" dur="500"/>
                                        <p:tgtEl>
                                          <p:spTgt spid="41993"/>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1" presetClass="entr" presetSubtype="0" fill="hold" nodeType="clickEffect">
                                  <p:stCondLst>
                                    <p:cond delay="-9223372036854775808"/>
                                  </p:stCondLst>
                                  <p:childTnLst>
                                    <p:set>
                                      <p:cBhvr additive="base">
                                        <p:cTn id="42" dur="1" fill="hold">
                                          <p:stCondLst>
                                            <p:cond delay="0"/>
                                          </p:stCondLst>
                                        </p:cTn>
                                        <p:tgtEl>
                                          <p:spTgt spid="41991"/>
                                        </p:tgtEl>
                                        <p:attrNameLst>
                                          <p:attrName>style.visibility</p:attrName>
                                        </p:attrNameLst>
                                      </p:cBhvr>
                                      <p:to>
                                        <p:strVal val="visible"/>
                                      </p:to>
                                    </p:set>
                                  </p:childTnLst>
                                </p:cTn>
                              </p:par>
                              <p:par>
                                <p:cTn id="43" presetID="1" presetClass="entr" presetSubtype="0" fill="hold" nodeType="withEffect">
                                  <p:stCondLst>
                                    <p:cond delay="-9223372036854775808"/>
                                  </p:stCondLst>
                                  <p:childTnLst>
                                    <p:set>
                                      <p:cBhvr additive="base">
                                        <p:cTn id="44" dur="1" fill="hold">
                                          <p:stCondLst>
                                            <p:cond delay="0"/>
                                          </p:stCondLst>
                                        </p:cTn>
                                        <p:tgtEl>
                                          <p:spTgt spid="419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1992" grpId="1"/>
      <p:bldP spid="41993" grpId="2"/>
    </p:bldLst>
  </p:timing>
</p:sld>
</file>

<file path=ppt/slides/slide4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43010" name="Rectangle 2"/>
          <p:cNvSpPr/>
          <p:nvPr>
            <p:ph type="title" idx="4294967295"/>
          </p:nvPr>
        </p:nvSpPr>
        <p:spPr>
          <a:xfrm>
            <a:off x="685800" y="333375"/>
            <a:ext cx="7772400" cy="84455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lgn="l" eaLnBrk="1" hangingPunct="1">
              <a:buClr>
                <a:schemeClr val="accent2"/>
              </a:buClr>
              <a:buSzPct val="120000"/>
              <a:buFont typeface="Wingdings" pitchFamily="2" charset="2"/>
            </a:pPr>
            <a:r>
              <a:rPr lang="zh-CN" altLang="en-US" sz="2400" b="1">
                <a:solidFill>
                  <a:srgbClr val="3366FF"/>
                </a:solidFill>
                <a:effectLst/>
                <a:ea typeface="黑体" pitchFamily="49" charset="-122"/>
              </a:rPr>
              <a:t>方法二  罚款模型</a:t>
            </a:r>
            <a:r>
              <a:rPr lang="zh-CN" altLang="en-US" sz="2400" b="1">
                <a:solidFill>
                  <a:srgbClr val="3366FF"/>
                </a:solidFill>
                <a:effectLst/>
                <a:latin typeface="黑体" pitchFamily="49" charset="-122"/>
                <a:ea typeface="黑体" pitchFamily="49" charset="-122"/>
              </a:rPr>
              <a:t>（理想点法）</a:t>
            </a:r>
            <a:r>
              <a:rPr lang="zh-CN" altLang="en-US" sz="3200">
                <a:solidFill>
                  <a:srgbClr val="3366FF"/>
                </a:solidFill>
                <a:effectLst/>
              </a:rPr>
              <a:t> </a:t>
            </a:r>
          </a:p>
        </p:txBody>
      </p:sp>
      <p:sp>
        <p:nvSpPr>
          <p:cNvPr id="43011" name="Rectangle 3"/>
          <p:cNvSpPr>
            <a:spLocks noGrp="1" noChangeArrowheads="1"/>
          </p:cNvSpPr>
          <p:nvPr>
            <p:ph type="body" sz="half" idx="4294967295"/>
          </p:nvPr>
        </p:nvSpPr>
        <p:spPr>
          <a:xfrm>
            <a:off x="685800" y="1268413"/>
            <a:ext cx="7989888" cy="4827587"/>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0" marR="0" lvl="0" indent="0" eaLnBrk="1" hangingPunct="1">
              <a:lnSpc>
                <a:spcPct val="110000"/>
              </a:lnSpc>
              <a:buNone/>
            </a:pPr>
            <a:r>
              <a:rPr lang="zh-CN" altLang="en-US" sz="2400">
                <a:effectLst/>
                <a:latin typeface="宋体" pitchFamily="2" charset="-122"/>
              </a:rPr>
              <a:t>思想</a:t>
            </a:r>
            <a:r>
              <a:rPr lang="en-US" altLang="zh-CN" sz="2400">
                <a:effectLst/>
                <a:latin typeface="宋体" pitchFamily="2" charset="-122"/>
              </a:rPr>
              <a:t>:  </a:t>
            </a:r>
            <a:r>
              <a:rPr lang="zh-CN" altLang="en-US" sz="2400">
                <a:effectLst/>
                <a:latin typeface="宋体" pitchFamily="2" charset="-122"/>
              </a:rPr>
              <a:t>规划决策者对每一个目标函数都能提出所期望的值（或称满意值）；通过比较实际值</a:t>
            </a:r>
            <a:r>
              <a:rPr lang="zh-CN" altLang="en-US" sz="2400">
                <a:effectLst/>
                <a:latin typeface="Times New Roman" pitchFamily="18" charset="0"/>
                <a:ea typeface="Times New Roman" pitchFamily="18" charset="0"/>
              </a:rPr>
              <a:t> </a:t>
            </a:r>
            <a:r>
              <a:rPr lang="en-US" altLang="zh-CN" sz="2400" i="1">
                <a:effectLst/>
                <a:latin typeface="Times New Roman" pitchFamily="18" charset="0"/>
                <a:ea typeface="Times New Roman" pitchFamily="18" charset="0"/>
              </a:rPr>
              <a:t>f</a:t>
            </a:r>
            <a:r>
              <a:rPr lang="en-US" altLang="zh-CN" sz="2400" i="1" baseline="-25000">
                <a:effectLst/>
                <a:latin typeface="Times New Roman" pitchFamily="18" charset="0"/>
                <a:ea typeface="Times New Roman" pitchFamily="18" charset="0"/>
              </a:rPr>
              <a:t>i</a:t>
            </a:r>
            <a:r>
              <a:rPr lang="en-US" altLang="zh-CN" sz="2400">
                <a:effectLst/>
                <a:latin typeface="Times New Roman" pitchFamily="18" charset="0"/>
                <a:ea typeface="Times New Roman" pitchFamily="18" charset="0"/>
              </a:rPr>
              <a:t> </a:t>
            </a:r>
            <a:r>
              <a:rPr lang="zh-CN" altLang="en-US" sz="2400">
                <a:effectLst/>
                <a:latin typeface="宋体" pitchFamily="2" charset="-122"/>
              </a:rPr>
              <a:t>与期望值 </a:t>
            </a:r>
            <a:r>
              <a:rPr lang="en-US" altLang="zh-CN" sz="2400" i="1">
                <a:effectLst/>
                <a:latin typeface="Times New Roman" pitchFamily="18" charset="0"/>
                <a:ea typeface="Times New Roman" pitchFamily="18" charset="0"/>
              </a:rPr>
              <a:t>f</a:t>
            </a:r>
            <a:r>
              <a:rPr lang="en-US" altLang="zh-CN" sz="2400" i="1" baseline="-25000">
                <a:effectLst/>
                <a:latin typeface="Times New Roman" pitchFamily="18" charset="0"/>
                <a:ea typeface="Times New Roman" pitchFamily="18" charset="0"/>
              </a:rPr>
              <a:t>i</a:t>
            </a:r>
            <a:r>
              <a:rPr lang="en-US" altLang="zh-CN" sz="2400" i="1" baseline="30000">
                <a:effectLst/>
                <a:latin typeface="Times New Roman" pitchFamily="18" charset="0"/>
                <a:ea typeface="Times New Roman" pitchFamily="18" charset="0"/>
              </a:rPr>
              <a:t>*</a:t>
            </a:r>
            <a:r>
              <a:rPr lang="en-US" altLang="zh-CN" sz="2400">
                <a:effectLst/>
                <a:latin typeface="Times New Roman" pitchFamily="18" charset="0"/>
                <a:ea typeface="Times New Roman" pitchFamily="18" charset="0"/>
              </a:rPr>
              <a:t> </a:t>
            </a:r>
            <a:r>
              <a:rPr lang="zh-CN" altLang="en-US" sz="2400">
                <a:effectLst/>
                <a:latin typeface="宋体" pitchFamily="2" charset="-122"/>
              </a:rPr>
              <a:t>之间的偏差来选择问题的解，其数学表达式如下：</a:t>
            </a:r>
          </a:p>
        </p:txBody>
      </p:sp>
      <p:graphicFrame>
        <p:nvGraphicFramePr>
          <p:cNvPr id="43012" name="Object 28"/>
          <p:cNvGraphicFramePr>
            <a:graphicFrameLocks noChangeAspect="1"/>
          </p:cNvGraphicFramePr>
          <p:nvPr>
            <p:ph sz="quarter" idx="4294967295"/>
          </p:nvPr>
        </p:nvGraphicFramePr>
        <p:xfrm>
          <a:off x="1668462" y="5805488"/>
          <a:ext cx="311150" cy="431800"/>
        </p:xfrm>
        <a:graphic>
          <a:graphicData uri="http://schemas.openxmlformats.org/presentationml/2006/ole">
            <mc:AlternateContent xmlns:mc="http://schemas.openxmlformats.org/markup-compatibility/2006">
              <mc:Choice xmlns:v="urn:schemas-microsoft-com:vml" Requires="v">
                <p:oleObj spid="_x0000_s1075" name="Equation" r:id="rId2" progId="Equation.3">
                  <p:embed/>
                </p:oleObj>
              </mc:Choice>
              <mc:Fallback>
                <p:oleObj spid="_x0000_s1075" name="Equation" r:id="rId2" progId="Equation.3">
                  <p:embed/>
                  <p:pic>
                    <p:nvPicPr>
                      <p:cNvPr id="0" name="OLE substitute image"/>
                      <p:cNvPicPr/>
                      <p:nvPr/>
                    </p:nvPicPr>
                    <p:blipFill>
                      <a:blip r:embed="rId3">
                        <a:alphaModFix/>
                      </a:blip>
                      <a:stretch/>
                    </p:blipFill>
                    <p:spPr>
                      <a:xfrm>
                        <a:off x="1668462" y="5805488"/>
                        <a:ext cx="311150" cy="431800"/>
                      </a:xfrm>
                      <a:prstGeom prst="rect">
                        <a:avLst/>
                      </a:prstGeom>
                      <a:noFill/>
                      <a:effectLst/>
                    </p:spPr>
                  </p:pic>
                </p:oleObj>
              </mc:Fallback>
            </mc:AlternateContent>
          </a:graphicData>
        </a:graphic>
      </p:graphicFrame>
      <p:graphicFrame>
        <p:nvGraphicFramePr>
          <p:cNvPr id="43013" name="Object 10"/>
          <p:cNvGraphicFramePr>
            <a:graphicFrameLocks noChangeAspect="1"/>
          </p:cNvGraphicFramePr>
          <p:nvPr/>
        </p:nvGraphicFramePr>
        <p:xfrm>
          <a:off x="2339975" y="2997200"/>
          <a:ext cx="2838450" cy="811212"/>
        </p:xfrm>
        <a:graphic>
          <a:graphicData uri="http://schemas.openxmlformats.org/presentationml/2006/ole">
            <mc:AlternateContent xmlns:mc="http://schemas.openxmlformats.org/markup-compatibility/2006">
              <mc:Choice xmlns:v="urn:schemas-microsoft-com:vml" Requires="v">
                <p:oleObj spid="_x0000_s1076" name="Equation" r:id="rId4" progId="Equation.3">
                  <p:embed/>
                </p:oleObj>
              </mc:Choice>
              <mc:Fallback>
                <p:oleObj spid="_x0000_s1076" name="Equation" r:id="rId4" progId="Equation.3">
                  <p:embed/>
                  <p:pic>
                    <p:nvPicPr>
                      <p:cNvPr id="0" name="OLE substitute image"/>
                      <p:cNvPicPr/>
                      <p:nvPr/>
                    </p:nvPicPr>
                    <p:blipFill>
                      <a:blip r:embed="rId5"/>
                      <a:stretch/>
                    </p:blipFill>
                    <p:spPr>
                      <a:xfrm>
                        <a:off x="2339975" y="2997200"/>
                        <a:ext cx="2838450" cy="811212"/>
                      </a:xfrm>
                      <a:prstGeom prst="rect">
                        <a:avLst/>
                      </a:prstGeom>
                      <a:noFill/>
                      <a:effectLst/>
                    </p:spPr>
                  </p:pic>
                </p:oleObj>
              </mc:Fallback>
            </mc:AlternateContent>
          </a:graphicData>
        </a:graphic>
      </p:graphicFrame>
      <p:graphicFrame>
        <p:nvGraphicFramePr>
          <p:cNvPr id="43014" name="Object 12"/>
          <p:cNvGraphicFramePr>
            <a:graphicFrameLocks noChangeAspect="1"/>
          </p:cNvGraphicFramePr>
          <p:nvPr/>
        </p:nvGraphicFramePr>
        <p:xfrm>
          <a:off x="2211388" y="3692525"/>
          <a:ext cx="4521200" cy="457200"/>
        </p:xfrm>
        <a:graphic>
          <a:graphicData uri="http://schemas.openxmlformats.org/presentationml/2006/ole">
            <mc:AlternateContent xmlns:mc="http://schemas.openxmlformats.org/markup-compatibility/2006">
              <mc:Choice xmlns:v="urn:schemas-microsoft-com:vml" Requires="v">
                <p:oleObj spid="_x0000_s1077" name="Equation" r:id="rId6" progId="Equation.3">
                  <p:embed/>
                </p:oleObj>
              </mc:Choice>
              <mc:Fallback>
                <p:oleObj spid="_x0000_s1077" name="Equation" r:id="rId6" progId="Equation.3">
                  <p:embed/>
                  <p:pic>
                    <p:nvPicPr>
                      <p:cNvPr id="0" name="OLE substitute image"/>
                      <p:cNvPicPr/>
                      <p:nvPr/>
                    </p:nvPicPr>
                    <p:blipFill>
                      <a:blip r:embed="rId7"/>
                      <a:stretch/>
                    </p:blipFill>
                    <p:spPr>
                      <a:xfrm>
                        <a:off x="2211388" y="3692525"/>
                        <a:ext cx="4521200" cy="457200"/>
                      </a:xfrm>
                      <a:prstGeom prst="rect">
                        <a:avLst/>
                      </a:prstGeom>
                      <a:noFill/>
                      <a:effectLst/>
                    </p:spPr>
                  </p:pic>
                </p:oleObj>
              </mc:Fallback>
            </mc:AlternateContent>
          </a:graphicData>
        </a:graphic>
      </p:graphicFrame>
      <p:sp>
        <p:nvSpPr>
          <p:cNvPr id="43015" name="Rectangle 24"/>
          <p:cNvSpPr>
            <a:spLocks noChangeArrowheads="1"/>
          </p:cNvSpPr>
          <p:nvPr/>
        </p:nvSpPr>
        <p:spPr>
          <a:xfrm>
            <a:off x="861261" y="4267200"/>
            <a:ext cx="2776454" cy="457657"/>
          </a:xfrm>
          <a:prstGeom prst="rect">
            <a:avLst/>
          </a:prstGeom>
          <a:noFill/>
          <a:ln>
            <a:noFill/>
          </a:ln>
          <a:effectLst/>
          <a:ex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ctr" eaLnBrk="1" hangingPunct="1"/>
            <a:r>
              <a:rPr kumimoji="1" lang="zh-CN" altLang="en-US" sz="2400">
                <a:effectLst/>
                <a:latin typeface="宋体" pitchFamily="2" charset="-122"/>
              </a:rPr>
              <a:t>或写成矩阵形式：</a:t>
            </a:r>
            <a:r>
              <a:rPr kumimoji="1" lang="zh-CN" altLang="en-US" sz="2400">
                <a:effectLst>
                  <a:outerShdw blurRad="38100" dist="38100" dir="2700000" algn="tl">
                    <a:schemeClr val="bg2"/>
                  </a:outerShdw>
                </a:effectLst>
                <a:latin typeface="宋体" pitchFamily="2" charset="-122"/>
              </a:rPr>
              <a:t> </a:t>
            </a:r>
            <a:endParaRPr kumimoji="1" lang="zh-CN" altLang="en-US" sz="2400">
              <a:effectLst>
                <a:outerShdw blurRad="38100" dist="38100" dir="2700000" algn="tl">
                  <a:schemeClr val="bg2"/>
                </a:outerShdw>
              </a:effectLst>
              <a:latin typeface="宋体" pitchFamily="2" charset="-122"/>
            </a:endParaRPr>
          </a:p>
        </p:txBody>
      </p:sp>
      <p:graphicFrame>
        <p:nvGraphicFramePr>
          <p:cNvPr id="43016" name="Object 25"/>
          <p:cNvGraphicFramePr>
            <a:graphicFrameLocks noChangeAspect="1"/>
          </p:cNvGraphicFramePr>
          <p:nvPr/>
        </p:nvGraphicFramePr>
        <p:xfrm>
          <a:off x="3378200" y="4627562"/>
          <a:ext cx="3760788" cy="457200"/>
        </p:xfrm>
        <a:graphic>
          <a:graphicData uri="http://schemas.openxmlformats.org/presentationml/2006/ole">
            <mc:AlternateContent xmlns:mc="http://schemas.openxmlformats.org/markup-compatibility/2006">
              <mc:Choice xmlns:v="urn:schemas-microsoft-com:vml" Requires="v">
                <p:oleObj spid="_x0000_s1078" name="Equation" r:id="rId8" progId="Equation.3">
                  <p:embed/>
                </p:oleObj>
              </mc:Choice>
              <mc:Fallback>
                <p:oleObj spid="_x0000_s1078" name="Equation" r:id="rId8" progId="Equation.3">
                  <p:embed/>
                  <p:pic>
                    <p:nvPicPr>
                      <p:cNvPr id="0" name="OLE substitute image"/>
                      <p:cNvPicPr/>
                      <p:nvPr/>
                    </p:nvPicPr>
                    <p:blipFill>
                      <a:blip r:embed="rId9"/>
                      <a:stretch/>
                    </p:blipFill>
                    <p:spPr>
                      <a:xfrm>
                        <a:off x="3378200" y="4627562"/>
                        <a:ext cx="3760788" cy="457200"/>
                      </a:xfrm>
                      <a:prstGeom prst="rect">
                        <a:avLst/>
                      </a:prstGeom>
                      <a:noFill/>
                      <a:effectLst/>
                    </p:spPr>
                  </p:pic>
                </p:oleObj>
              </mc:Fallback>
            </mc:AlternateContent>
          </a:graphicData>
        </a:graphic>
      </p:graphicFrame>
      <p:graphicFrame>
        <p:nvGraphicFramePr>
          <p:cNvPr id="43017" name="Object 26"/>
          <p:cNvGraphicFramePr>
            <a:graphicFrameLocks noChangeAspect="1"/>
          </p:cNvGraphicFramePr>
          <p:nvPr/>
        </p:nvGraphicFramePr>
        <p:xfrm>
          <a:off x="3479800" y="5186362"/>
          <a:ext cx="1389062" cy="403225"/>
        </p:xfrm>
        <a:graphic>
          <a:graphicData uri="http://schemas.openxmlformats.org/presentationml/2006/ole">
            <mc:AlternateContent xmlns:mc="http://schemas.openxmlformats.org/markup-compatibility/2006">
              <mc:Choice xmlns:v="urn:schemas-microsoft-com:vml" Requires="v">
                <p:oleObj spid="_x0000_s1079" name="Equation" r:id="rId10" progId="Equation.3">
                  <p:embed/>
                </p:oleObj>
              </mc:Choice>
              <mc:Fallback>
                <p:oleObj spid="_x0000_s1079" name="Equation" r:id="rId10" progId="Equation.3">
                  <p:embed/>
                  <p:pic>
                    <p:nvPicPr>
                      <p:cNvPr id="0" name="OLE substitute image"/>
                      <p:cNvPicPr/>
                      <p:nvPr/>
                    </p:nvPicPr>
                    <p:blipFill>
                      <a:blip r:embed="rId11"/>
                      <a:stretch/>
                    </p:blipFill>
                    <p:spPr>
                      <a:xfrm>
                        <a:off x="3479800" y="5186362"/>
                        <a:ext cx="1389062" cy="403225"/>
                      </a:xfrm>
                      <a:prstGeom prst="rect">
                        <a:avLst/>
                      </a:prstGeom>
                      <a:noFill/>
                      <a:effectLst/>
                    </p:spPr>
                  </p:pic>
                </p:oleObj>
              </mc:Fallback>
            </mc:AlternateContent>
          </a:graphicData>
        </a:graphic>
      </p:graphicFrame>
      <p:sp>
        <p:nvSpPr>
          <p:cNvPr id="43018" name="Rectangle 27"/>
          <p:cNvSpPr>
            <a:spLocks noChangeArrowheads="1"/>
          </p:cNvSpPr>
          <p:nvPr/>
        </p:nvSpPr>
        <p:spPr>
          <a:xfrm>
            <a:off x="827088" y="5734050"/>
            <a:ext cx="7640333" cy="823783"/>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effectLst/>
                <a:latin typeface="宋体" pitchFamily="2" charset="-122"/>
              </a:rPr>
              <a:t>式中，</a:t>
            </a:r>
            <a:r>
              <a:rPr kumimoji="1" lang="zh-CN" altLang="en-US" sz="2400">
                <a:effectLst/>
                <a:latin typeface="Times New Roman" pitchFamily="18" charset="0"/>
                <a:ea typeface="Times New Roman" pitchFamily="18" charset="0"/>
              </a:rPr>
              <a:t> </a:t>
            </a:r>
            <a:r>
              <a:rPr kumimoji="1" lang="zh-CN" altLang="en-US" sz="2400">
                <a:effectLst/>
                <a:latin typeface="宋体" pitchFamily="2" charset="-122"/>
              </a:rPr>
              <a:t> 是与第</a:t>
            </a:r>
            <a:r>
              <a:rPr kumimoji="1" lang="en-US" altLang="zh-CN" sz="2400" i="1">
                <a:effectLst/>
                <a:latin typeface="Times New Roman" pitchFamily="18" charset="0"/>
                <a:ea typeface="Times New Roman" pitchFamily="18" charset="0"/>
              </a:rPr>
              <a:t>i</a:t>
            </a:r>
            <a:r>
              <a:rPr kumimoji="1" lang="zh-CN" altLang="en-US" sz="2400">
                <a:effectLst/>
                <a:latin typeface="宋体" pitchFamily="2" charset="-122"/>
              </a:rPr>
              <a:t>个目标函数相关的权重；</a:t>
            </a:r>
            <a:r>
              <a:rPr kumimoji="1" lang="en-US" altLang="zh-CN" sz="2400" i="1">
                <a:effectLst/>
                <a:latin typeface="Times New Roman" pitchFamily="18" charset="0"/>
                <a:ea typeface="Times New Roman" pitchFamily="18" charset="0"/>
              </a:rPr>
              <a:t>A</a:t>
            </a:r>
            <a:r>
              <a:rPr kumimoji="1" lang="zh-CN" altLang="en-US" sz="2400">
                <a:effectLst/>
                <a:latin typeface="宋体" pitchFamily="2" charset="-122"/>
              </a:rPr>
              <a:t>是由      </a:t>
            </a:r>
            <a:r>
              <a:rPr kumimoji="1" lang="en-US" altLang="zh-CN"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rPr>
              <a:t>i</a:t>
            </a:r>
            <a:r>
              <a:rPr kumimoji="1" lang="en-US" altLang="zh-CN" sz="2400">
                <a:effectLst/>
                <a:latin typeface="Times New Roman" pitchFamily="18" charset="0"/>
                <a:ea typeface="Times New Roman" pitchFamily="18" charset="0"/>
              </a:rPr>
              <a:t>=1,2,…,</a:t>
            </a:r>
            <a:r>
              <a:rPr kumimoji="1" lang="en-US" altLang="zh-CN" sz="2400" i="1">
                <a:effectLst/>
                <a:latin typeface="Times New Roman" pitchFamily="18" charset="0"/>
                <a:ea typeface="Times New Roman" pitchFamily="18" charset="0"/>
              </a:rPr>
              <a:t>k</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组成的</a:t>
            </a:r>
            <a:r>
              <a:rPr kumimoji="1" lang="en-US" altLang="zh-CN" sz="2400" i="1">
                <a:effectLst/>
                <a:latin typeface="Times New Roman" pitchFamily="18" charset="0"/>
                <a:ea typeface="Times New Roman" pitchFamily="18" charset="0"/>
              </a:rPr>
              <a:t>m</a:t>
            </a:r>
            <a:r>
              <a:rPr kumimoji="1" lang="en-US" altLang="zh-CN"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rPr>
              <a:t>m</a:t>
            </a:r>
            <a:r>
              <a:rPr kumimoji="1" lang="zh-CN" altLang="en-US" sz="2400">
                <a:effectLst/>
                <a:latin typeface="宋体" pitchFamily="2" charset="-122"/>
              </a:rPr>
              <a:t>对角矩阵。</a:t>
            </a:r>
          </a:p>
        </p:txBody>
      </p:sp>
      <p:graphicFrame>
        <p:nvGraphicFramePr>
          <p:cNvPr id="43019" name="Object 32"/>
          <p:cNvGraphicFramePr>
            <a:graphicFrameLocks noChangeAspect="1"/>
          </p:cNvGraphicFramePr>
          <p:nvPr>
            <p:ph sz="quarter" idx="4294967295"/>
          </p:nvPr>
        </p:nvGraphicFramePr>
        <p:xfrm>
          <a:off x="7164388" y="5805488"/>
          <a:ext cx="312738" cy="431800"/>
        </p:xfrm>
        <a:graphic>
          <a:graphicData uri="http://schemas.openxmlformats.org/presentationml/2006/ole">
            <mc:AlternateContent xmlns:mc="http://schemas.openxmlformats.org/markup-compatibility/2006">
              <mc:Choice xmlns:v="urn:schemas-microsoft-com:vml" Requires="v">
                <p:oleObj spid="_x0000_s1080" name="Equation" r:id="rId12" progId="Equation.3">
                  <p:embed/>
                </p:oleObj>
              </mc:Choice>
              <mc:Fallback>
                <p:oleObj spid="_x0000_s1080" name="Equation" r:id="rId12" progId="Equation.3">
                  <p:embed/>
                  <p:pic>
                    <p:nvPicPr>
                      <p:cNvPr id="0" name="OLE substitute image"/>
                      <p:cNvPicPr/>
                      <p:nvPr/>
                    </p:nvPicPr>
                    <p:blipFill>
                      <a:blip r:embed="rId13">
                        <a:alphaModFix/>
                      </a:blip>
                      <a:stretch/>
                    </p:blipFill>
                    <p:spPr>
                      <a:xfrm>
                        <a:off x="7164388" y="5805488"/>
                        <a:ext cx="312738" cy="431800"/>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43010"/>
                                        </p:tgtEl>
                                        <p:attrNameLst>
                                          <p:attrName>style.visibility</p:attrName>
                                        </p:attrNameLst>
                                      </p:cBhvr>
                                      <p:to>
                                        <p:strVal val="visible"/>
                                      </p:to>
                                    </p:set>
                                    <p:animEffect transition="in" filter="blinds(horizontal)">
                                      <p:cBhvr additive="base">
                                        <p:cTn id="7" dur="500"/>
                                        <p:tgtEl>
                                          <p:spTgt spid="43010"/>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43011">
                                            <p:txEl>
                                              <p:charRg st="0" end="78"/>
                                            </p:txEl>
                                          </p:spTgt>
                                        </p:tgtEl>
                                        <p:attrNameLst>
                                          <p:attrName>style.visibility</p:attrName>
                                        </p:attrNameLst>
                                      </p:cBhvr>
                                      <p:to>
                                        <p:strVal val="visible"/>
                                      </p:to>
                                    </p:set>
                                    <p:animEffect transition="in" filter="blinds(horizontal)">
                                      <p:cBhvr additive="base">
                                        <p:cTn id="13" dur="500"/>
                                        <p:tgtEl>
                                          <p:spTgt spid="43011">
                                            <p:txEl>
                                              <p:charRg st="0" end="78"/>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43013"/>
                                        </p:tgtEl>
                                        <p:attrNameLst>
                                          <p:attrName>style.visibility</p:attrName>
                                        </p:attrNameLst>
                                      </p:cBhvr>
                                      <p:to>
                                        <p:strVal val="visible"/>
                                      </p:to>
                                    </p:set>
                                    <p:animEffect transition="in" filter="blinds(horizontal)">
                                      <p:cBhvr additive="base">
                                        <p:cTn id="19" dur="500"/>
                                        <p:tgtEl>
                                          <p:spTgt spid="43013"/>
                                        </p:tgtEl>
                                      </p:cBhvr>
                                    </p:animEffect>
                                  </p:childTnLst>
                                </p:cTn>
                              </p:par>
                              <p:par>
                                <p:cTn id="20" presetID="3" presetClass="entr" presetSubtype="10" fill="hold" nodeType="withEffect">
                                  <p:stCondLst>
                                    <p:cond delay="-9223372036854775808"/>
                                  </p:stCondLst>
                                  <p:childTnLst>
                                    <p:set>
                                      <p:cBhvr additive="base">
                                        <p:cTn id="21" dur="1" fill="hold">
                                          <p:stCondLst>
                                            <p:cond delay="0"/>
                                          </p:stCondLst>
                                        </p:cTn>
                                        <p:tgtEl>
                                          <p:spTgt spid="43014"/>
                                        </p:tgtEl>
                                        <p:attrNameLst>
                                          <p:attrName>style.visibility</p:attrName>
                                        </p:attrNameLst>
                                      </p:cBhvr>
                                      <p:to>
                                        <p:strVal val="visible"/>
                                      </p:to>
                                    </p:set>
                                    <p:animEffect transition="in" filter="blinds(horizontal)">
                                      <p:cBhvr additive="base">
                                        <p:cTn id="22" dur="500"/>
                                        <p:tgtEl>
                                          <p:spTgt spid="43014"/>
                                        </p:tgtEl>
                                      </p:cBhvr>
                                    </p:animEffect>
                                  </p:child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3" presetClass="entr" presetSubtype="10" fill="hold" grpId="1" nodeType="clickEffect">
                                  <p:stCondLst>
                                    <p:cond delay="-9223372036854775808"/>
                                  </p:stCondLst>
                                  <p:childTnLst>
                                    <p:set>
                                      <p:cBhvr additive="base">
                                        <p:cTn id="27" dur="1" fill="hold">
                                          <p:stCondLst>
                                            <p:cond delay="0"/>
                                          </p:stCondLst>
                                        </p:cTn>
                                        <p:tgtEl>
                                          <p:spTgt spid="43015"/>
                                        </p:tgtEl>
                                        <p:attrNameLst>
                                          <p:attrName>style.visibility</p:attrName>
                                        </p:attrNameLst>
                                      </p:cBhvr>
                                      <p:to>
                                        <p:strVal val="visible"/>
                                      </p:to>
                                    </p:set>
                                    <p:animEffect transition="in" filter="blinds(horizontal)">
                                      <p:cBhvr additive="base">
                                        <p:cTn id="28" dur="500"/>
                                        <p:tgtEl>
                                          <p:spTgt spid="43015"/>
                                        </p:tgtEl>
                                      </p:cBhvr>
                                    </p:animEffect>
                                  </p:childTnLst>
                                </p:cTn>
                              </p:par>
                            </p:childTnLst>
                          </p:cTn>
                        </p:par>
                      </p:childTnLst>
                    </p:cTn>
                  </p:par>
                  <p:par>
                    <p:cTn id="29" fill="hold">
                      <p:stCondLst>
                        <p:cond delay="indefinite"/>
                      </p:stCondLst>
                      <p:childTnLst>
                        <p:par>
                          <p:cTn id="30" fill="hold">
                            <p:stCondLst>
                              <p:cond delay="indefinite"/>
                            </p:stCondLst>
                          </p:cTn>
                        </p:par>
                        <p:par>
                          <p:cTn id="31" fill="hold">
                            <p:stCondLst>
                              <p:cond delay="0"/>
                            </p:stCondLst>
                            <p:childTnLst>
                              <p:par>
                                <p:cTn id="32" presetID="3" presetClass="entr" presetSubtype="10" fill="hold" nodeType="clickEffect">
                                  <p:stCondLst>
                                    <p:cond delay="-9223372036854775808"/>
                                  </p:stCondLst>
                                  <p:childTnLst>
                                    <p:set>
                                      <p:cBhvr additive="base">
                                        <p:cTn id="33" dur="1" fill="hold">
                                          <p:stCondLst>
                                            <p:cond delay="0"/>
                                          </p:stCondLst>
                                        </p:cTn>
                                        <p:tgtEl>
                                          <p:spTgt spid="43016"/>
                                        </p:tgtEl>
                                        <p:attrNameLst>
                                          <p:attrName>style.visibility</p:attrName>
                                        </p:attrNameLst>
                                      </p:cBhvr>
                                      <p:to>
                                        <p:strVal val="visible"/>
                                      </p:to>
                                    </p:set>
                                    <p:animEffect transition="in" filter="blinds(horizontal)">
                                      <p:cBhvr additive="base">
                                        <p:cTn id="34" dur="500"/>
                                        <p:tgtEl>
                                          <p:spTgt spid="43016"/>
                                        </p:tgtEl>
                                      </p:cBhvr>
                                    </p:animEffect>
                                  </p:childTnLst>
                                </p:cTn>
                              </p:par>
                              <p:par>
                                <p:cTn id="35" presetID="3" presetClass="entr" presetSubtype="10" fill="hold" nodeType="withEffect">
                                  <p:stCondLst>
                                    <p:cond delay="-9223372036854775808"/>
                                  </p:stCondLst>
                                  <p:childTnLst>
                                    <p:set>
                                      <p:cBhvr additive="base">
                                        <p:cTn id="36" dur="1" fill="hold">
                                          <p:stCondLst>
                                            <p:cond delay="0"/>
                                          </p:stCondLst>
                                        </p:cTn>
                                        <p:tgtEl>
                                          <p:spTgt spid="43017"/>
                                        </p:tgtEl>
                                        <p:attrNameLst>
                                          <p:attrName>style.visibility</p:attrName>
                                        </p:attrNameLst>
                                      </p:cBhvr>
                                      <p:to>
                                        <p:strVal val="visible"/>
                                      </p:to>
                                    </p:set>
                                    <p:animEffect transition="in" filter="blinds(horizontal)">
                                      <p:cBhvr additive="base">
                                        <p:cTn id="37" dur="500"/>
                                        <p:tgtEl>
                                          <p:spTgt spid="43017"/>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3" presetClass="entr" presetSubtype="10" fill="hold" grpId="2" nodeType="clickEffect">
                                  <p:stCondLst>
                                    <p:cond delay="-9223372036854775808"/>
                                  </p:stCondLst>
                                  <p:childTnLst>
                                    <p:set>
                                      <p:cBhvr additive="base">
                                        <p:cTn id="42" dur="1" fill="hold">
                                          <p:stCondLst>
                                            <p:cond delay="0"/>
                                          </p:stCondLst>
                                        </p:cTn>
                                        <p:tgtEl>
                                          <p:spTgt spid="43018"/>
                                        </p:tgtEl>
                                        <p:attrNameLst>
                                          <p:attrName>style.visibility</p:attrName>
                                        </p:attrNameLst>
                                      </p:cBhvr>
                                      <p:to>
                                        <p:strVal val="visible"/>
                                      </p:to>
                                    </p:set>
                                    <p:animEffect transition="in" filter="blinds(horizontal)">
                                      <p:cBhvr additive="base">
                                        <p:cTn id="43" dur="500"/>
                                        <p:tgtEl>
                                          <p:spTgt spid="43018"/>
                                        </p:tgtEl>
                                      </p:cBhvr>
                                    </p:animEffect>
                                  </p:childTnLst>
                                </p:cTn>
                              </p:par>
                              <p:par>
                                <p:cTn id="44" presetID="3" presetClass="entr" presetSubtype="10" fill="hold" nodeType="withEffect">
                                  <p:stCondLst>
                                    <p:cond delay="-9223372036854775808"/>
                                  </p:stCondLst>
                                  <p:childTnLst>
                                    <p:set>
                                      <p:cBhvr additive="base">
                                        <p:cTn id="45" dur="1" fill="hold">
                                          <p:stCondLst>
                                            <p:cond delay="0"/>
                                          </p:stCondLst>
                                        </p:cTn>
                                        <p:tgtEl>
                                          <p:spTgt spid="43019"/>
                                        </p:tgtEl>
                                        <p:attrNameLst>
                                          <p:attrName>style.visibility</p:attrName>
                                        </p:attrNameLst>
                                      </p:cBhvr>
                                      <p:to>
                                        <p:strVal val="visible"/>
                                      </p:to>
                                    </p:set>
                                    <p:animEffect transition="in" filter="blinds(horizontal)">
                                      <p:cBhvr additive="base">
                                        <p:cTn id="46" dur="500"/>
                                        <p:tgtEl>
                                          <p:spTgt spid="43019"/>
                                        </p:tgtEl>
                                      </p:cBhvr>
                                    </p:animEffect>
                                  </p:childTnLst>
                                </p:cTn>
                              </p:par>
                              <p:par>
                                <p:cTn id="47" presetID="3" presetClass="entr" presetSubtype="10" fill="hold" nodeType="withEffect">
                                  <p:stCondLst>
                                    <p:cond delay="-9223372036854775808"/>
                                  </p:stCondLst>
                                  <p:childTnLst>
                                    <p:set>
                                      <p:cBhvr additive="base">
                                        <p:cTn id="48" dur="1" fill="hold">
                                          <p:stCondLst>
                                            <p:cond delay="0"/>
                                          </p:stCondLst>
                                        </p:cTn>
                                        <p:tgtEl>
                                          <p:spTgt spid="43012"/>
                                        </p:tgtEl>
                                        <p:attrNameLst>
                                          <p:attrName>style.visibility</p:attrName>
                                        </p:attrNameLst>
                                      </p:cBhvr>
                                      <p:to>
                                        <p:strVal val="visible"/>
                                      </p:to>
                                    </p:set>
                                    <p:animEffect transition="in" filter="blinds(horizontal)">
                                      <p:cBhvr additive="base">
                                        <p:cTn id="49"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P spid="43015" grpId="1"/>
      <p:bldP spid="43018" grpId="2"/>
    </p:bldLst>
  </p:timing>
</p:sld>
</file>

<file path=ppt/slides/slide4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44034" name="Text Box 2"/>
          <p:cNvSpPr txBox="1">
            <a:spLocks noChangeArrowheads="1"/>
          </p:cNvSpPr>
          <p:nvPr/>
        </p:nvSpPr>
        <p:spPr>
          <a:xfrm>
            <a:off x="611188" y="981075"/>
            <a:ext cx="7929547" cy="2691025"/>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eaLnBrk="1" hangingPunct="1">
              <a:lnSpc>
                <a:spcPct val="110000"/>
              </a:lnSpc>
              <a:spcBef>
                <a:spcPct val="50000"/>
              </a:spcBef>
              <a:buClr>
                <a:srgbClr val="FF6600"/>
              </a:buClr>
              <a:buSzPct val="150000"/>
              <a:buFont typeface="Wingdings" pitchFamily="2" charset="2"/>
            </a:pPr>
            <a:r>
              <a:rPr kumimoji="1" lang="zh-CN" altLang="en-US" sz="2400">
                <a:effectLst/>
                <a:latin typeface="宋体" pitchFamily="2" charset="-122"/>
              </a:rPr>
              <a:t>理论依据 ：若规划问题的某一目标可以给出一个可供选择的范围，则该目标就可以作为约束条件而被排除出目标组，进入约束条件组中。</a:t>
            </a:r>
            <a:endParaRPr kumimoji="1" lang="zh-CN" altLang="en-US" sz="2400">
              <a:effectLst/>
              <a:latin typeface="宋体" pitchFamily="2" charset="-122"/>
              <a:ea typeface="Times New Roman" pitchFamily="18" charset="0"/>
            </a:endParaRPr>
          </a:p>
          <a:p>
            <a:pPr marL="0" marR="0" lvl="0" indent="0" eaLnBrk="1" hangingPunct="1">
              <a:lnSpc>
                <a:spcPct val="110000"/>
              </a:lnSpc>
              <a:spcBef>
                <a:spcPct val="50000"/>
              </a:spcBef>
              <a:buClr>
                <a:srgbClr val="FF6600"/>
              </a:buClr>
              <a:buSzPct val="150000"/>
              <a:buFont typeface="Wingdings" pitchFamily="2" charset="2"/>
            </a:pPr>
            <a:r>
              <a:rPr kumimoji="1" lang="zh-CN" altLang="en-US" sz="2400">
                <a:effectLst/>
                <a:latin typeface="宋体" pitchFamily="2" charset="-122"/>
              </a:rPr>
              <a:t>假如，除第一个目标外，其余目标都可以提出一个可供选择的范围，则该多目标规划问题就可以转化为单目标规划问题： </a:t>
            </a:r>
          </a:p>
        </p:txBody>
      </p:sp>
      <p:sp>
        <p:nvSpPr>
          <p:cNvPr id="44035" name="Text Box 15"/>
          <p:cNvSpPr/>
          <p:nvPr/>
        </p:nvSpPr>
        <p:spPr>
          <a:xfrm>
            <a:off x="612775" y="450850"/>
            <a:ext cx="6941134" cy="530882"/>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20000"/>
              </a:lnSpc>
              <a:spcBef>
                <a:spcPct val="50000"/>
              </a:spcBef>
              <a:buClr>
                <a:schemeClr val="accent2"/>
              </a:buClr>
              <a:buSzPct val="120000"/>
              <a:buFont typeface="Wingdings" pitchFamily="2" charset="2"/>
            </a:pPr>
            <a:r>
              <a:rPr kumimoji="1" lang="zh-CN" altLang="en-US" sz="2400" b="1">
                <a:solidFill>
                  <a:schemeClr val="accent2"/>
                </a:solidFill>
                <a:effectLst/>
                <a:latin typeface="黑体" pitchFamily="49" charset="-122"/>
                <a:ea typeface="黑体" pitchFamily="49" charset="-122"/>
              </a:rPr>
              <a:t>方法三  约束模型（极大极小法）</a:t>
            </a:r>
            <a:r>
              <a:rPr kumimoji="1" lang="zh-CN" altLang="en-US" sz="2400">
                <a:solidFill>
                  <a:schemeClr val="accent2"/>
                </a:solidFill>
                <a:effectLst/>
                <a:latin typeface="黑体" pitchFamily="49" charset="-122"/>
                <a:ea typeface="黑体" pitchFamily="49" charset="-122"/>
              </a:rPr>
              <a:t> </a:t>
            </a:r>
          </a:p>
        </p:txBody>
      </p:sp>
      <p:graphicFrame>
        <p:nvGraphicFramePr>
          <p:cNvPr id="44036" name="Object 17"/>
          <p:cNvGraphicFramePr>
            <a:graphicFrameLocks noChangeAspect="1"/>
          </p:cNvGraphicFramePr>
          <p:nvPr/>
        </p:nvGraphicFramePr>
        <p:xfrm>
          <a:off x="2300288" y="3933825"/>
          <a:ext cx="3919538" cy="457200"/>
        </p:xfrm>
        <a:graphic>
          <a:graphicData uri="http://schemas.openxmlformats.org/presentationml/2006/ole">
            <mc:AlternateContent xmlns:mc="http://schemas.openxmlformats.org/markup-compatibility/2006">
              <mc:Choice xmlns:v="urn:schemas-microsoft-com:vml" Requires="v">
                <p:oleObj spid="_x0000_s1081" name="Equation" r:id="rId2" progId="Equation.3">
                  <p:embed/>
                </p:oleObj>
              </mc:Choice>
              <mc:Fallback>
                <p:oleObj spid="_x0000_s1081" name="Equation" r:id="rId2" progId="Equation.3">
                  <p:embed/>
                  <p:pic>
                    <p:nvPicPr>
                      <p:cNvPr id="0" name="OLE substitute image"/>
                      <p:cNvPicPr/>
                      <p:nvPr/>
                    </p:nvPicPr>
                    <p:blipFill>
                      <a:blip r:embed="rId3"/>
                      <a:stretch/>
                    </p:blipFill>
                    <p:spPr>
                      <a:xfrm>
                        <a:off x="2300288" y="3933825"/>
                        <a:ext cx="3919538" cy="457200"/>
                      </a:xfrm>
                      <a:prstGeom prst="rect">
                        <a:avLst/>
                      </a:prstGeom>
                      <a:noFill/>
                      <a:effectLst/>
                    </p:spPr>
                  </p:pic>
                </p:oleObj>
              </mc:Fallback>
            </mc:AlternateContent>
          </a:graphicData>
        </a:graphic>
      </p:graphicFrame>
      <p:graphicFrame>
        <p:nvGraphicFramePr>
          <p:cNvPr id="44037" name="Object 18"/>
          <p:cNvGraphicFramePr>
            <a:graphicFrameLocks noChangeAspect="1"/>
          </p:cNvGraphicFramePr>
          <p:nvPr/>
        </p:nvGraphicFramePr>
        <p:xfrm>
          <a:off x="2192338" y="4543425"/>
          <a:ext cx="4467225" cy="457200"/>
        </p:xfrm>
        <a:graphic>
          <a:graphicData uri="http://schemas.openxmlformats.org/presentationml/2006/ole">
            <mc:AlternateContent xmlns:mc="http://schemas.openxmlformats.org/markup-compatibility/2006">
              <mc:Choice xmlns:v="urn:schemas-microsoft-com:vml" Requires="v">
                <p:oleObj spid="_x0000_s1082" name="Equation" r:id="rId4" progId="Equation.3">
                  <p:embed/>
                </p:oleObj>
              </mc:Choice>
              <mc:Fallback>
                <p:oleObj spid="_x0000_s1082" name="Equation" r:id="rId4" progId="Equation.3">
                  <p:embed/>
                  <p:pic>
                    <p:nvPicPr>
                      <p:cNvPr id="0" name="OLE substitute image"/>
                      <p:cNvPicPr/>
                      <p:nvPr/>
                    </p:nvPicPr>
                    <p:blipFill>
                      <a:blip r:embed="rId5"/>
                      <a:stretch/>
                    </p:blipFill>
                    <p:spPr>
                      <a:xfrm>
                        <a:off x="2192338" y="4543425"/>
                        <a:ext cx="4467225" cy="457200"/>
                      </a:xfrm>
                      <a:prstGeom prst="rect">
                        <a:avLst/>
                      </a:prstGeom>
                      <a:noFill/>
                      <a:effectLst/>
                    </p:spPr>
                  </p:pic>
                </p:oleObj>
              </mc:Fallback>
            </mc:AlternateContent>
          </a:graphicData>
        </a:graphic>
      </p:graphicFrame>
      <p:graphicFrame>
        <p:nvGraphicFramePr>
          <p:cNvPr id="44038" name="Object 19"/>
          <p:cNvGraphicFramePr>
            <a:graphicFrameLocks noChangeAspect="1"/>
          </p:cNvGraphicFramePr>
          <p:nvPr/>
        </p:nvGraphicFramePr>
        <p:xfrm>
          <a:off x="2282825" y="5229225"/>
          <a:ext cx="3883025" cy="511175"/>
        </p:xfrm>
        <a:graphic>
          <a:graphicData uri="http://schemas.openxmlformats.org/presentationml/2006/ole">
            <mc:AlternateContent xmlns:mc="http://schemas.openxmlformats.org/markup-compatibility/2006">
              <mc:Choice xmlns:v="urn:schemas-microsoft-com:vml" Requires="v">
                <p:oleObj spid="_x0000_s1083" name="Equation" r:id="rId6" progId="Equation.3">
                  <p:embed/>
                </p:oleObj>
              </mc:Choice>
              <mc:Fallback>
                <p:oleObj spid="_x0000_s1083" name="Equation" r:id="rId6" progId="Equation.3">
                  <p:embed/>
                  <p:pic>
                    <p:nvPicPr>
                      <p:cNvPr id="0" name="OLE substitute image"/>
                      <p:cNvPicPr/>
                      <p:nvPr/>
                    </p:nvPicPr>
                    <p:blipFill>
                      <a:blip r:embed="rId7"/>
                      <a:stretch/>
                    </p:blipFill>
                    <p:spPr>
                      <a:xfrm>
                        <a:off x="2282825" y="5229225"/>
                        <a:ext cx="3883025" cy="511175"/>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44035"/>
                                        </p:tgtEl>
                                        <p:attrNameLst>
                                          <p:attrName>style.visibility</p:attrName>
                                        </p:attrNameLst>
                                      </p:cBhvr>
                                      <p:to>
                                        <p:strVal val="visible"/>
                                      </p:to>
                                    </p:set>
                                    <p:animEffect transition="in" filter="blinds(horizontal)">
                                      <p:cBhvr additive="base">
                                        <p:cTn id="7" dur="500"/>
                                        <p:tgtEl>
                                          <p:spTgt spid="44035"/>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44034">
                                            <p:txEl>
                                              <p:charRg st="0" end="62"/>
                                            </p:txEl>
                                          </p:spTgt>
                                        </p:tgtEl>
                                        <p:attrNameLst>
                                          <p:attrName>style.visibility</p:attrName>
                                        </p:attrNameLst>
                                      </p:cBhvr>
                                      <p:to>
                                        <p:strVal val="visible"/>
                                      </p:to>
                                    </p:set>
                                    <p:animEffect transition="in" filter="blinds(horizontal)">
                                      <p:cBhvr additive="base">
                                        <p:cTn id="13" dur="500"/>
                                        <p:tgtEl>
                                          <p:spTgt spid="44034">
                                            <p:txEl>
                                              <p:charRg st="0" end="62"/>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44034">
                                            <p:txEl>
                                              <p:charRg st="62" end="117"/>
                                            </p:txEl>
                                          </p:spTgt>
                                        </p:tgtEl>
                                        <p:attrNameLst>
                                          <p:attrName>style.visibility</p:attrName>
                                        </p:attrNameLst>
                                      </p:cBhvr>
                                      <p:to>
                                        <p:strVal val="visible"/>
                                      </p:to>
                                    </p:set>
                                    <p:animEffect transition="in" filter="blinds(horizontal)">
                                      <p:cBhvr additive="base">
                                        <p:cTn id="19" dur="500"/>
                                        <p:tgtEl>
                                          <p:spTgt spid="44034">
                                            <p:txEl>
                                              <p:charRg st="62" end="117"/>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44036"/>
                                        </p:tgtEl>
                                        <p:attrNameLst>
                                          <p:attrName>style.visibility</p:attrName>
                                        </p:attrNameLst>
                                      </p:cBhvr>
                                      <p:to>
                                        <p:strVal val="visible"/>
                                      </p:to>
                                    </p:set>
                                    <p:animEffect transition="in" filter="blinds(horizontal)">
                                      <p:cBhvr additive="base">
                                        <p:cTn id="25" dur="500"/>
                                        <p:tgtEl>
                                          <p:spTgt spid="44036"/>
                                        </p:tgtEl>
                                      </p:cBhvr>
                                    </p:animEffect>
                                  </p:childTnLst>
                                </p:cTn>
                              </p:par>
                              <p:par>
                                <p:cTn id="26" presetID="3" presetClass="entr" presetSubtype="10" fill="hold" nodeType="withEffect">
                                  <p:stCondLst>
                                    <p:cond delay="-9223372036854775808"/>
                                  </p:stCondLst>
                                  <p:childTnLst>
                                    <p:set>
                                      <p:cBhvr additive="base">
                                        <p:cTn id="27" dur="1" fill="hold">
                                          <p:stCondLst>
                                            <p:cond delay="0"/>
                                          </p:stCondLst>
                                        </p:cTn>
                                        <p:tgtEl>
                                          <p:spTgt spid="44037"/>
                                        </p:tgtEl>
                                        <p:attrNameLst>
                                          <p:attrName>style.visibility</p:attrName>
                                        </p:attrNameLst>
                                      </p:cBhvr>
                                      <p:to>
                                        <p:strVal val="visible"/>
                                      </p:to>
                                    </p:set>
                                    <p:animEffect transition="in" filter="blinds(horizontal)">
                                      <p:cBhvr additive="base">
                                        <p:cTn id="28" dur="500"/>
                                        <p:tgtEl>
                                          <p:spTgt spid="44037"/>
                                        </p:tgtEl>
                                      </p:cBhvr>
                                    </p:animEffect>
                                  </p:childTnLst>
                                </p:cTn>
                              </p:par>
                              <p:par>
                                <p:cTn id="29" presetID="3" presetClass="entr" presetSubtype="10" fill="hold" nodeType="withEffect">
                                  <p:stCondLst>
                                    <p:cond delay="-9223372036854775808"/>
                                  </p:stCondLst>
                                  <p:childTnLst>
                                    <p:set>
                                      <p:cBhvr additive="base">
                                        <p:cTn id="30" dur="1" fill="hold">
                                          <p:stCondLst>
                                            <p:cond delay="0"/>
                                          </p:stCondLst>
                                        </p:cTn>
                                        <p:tgtEl>
                                          <p:spTgt spid="44038"/>
                                        </p:tgtEl>
                                        <p:attrNameLst>
                                          <p:attrName>style.visibility</p:attrName>
                                        </p:attrNameLst>
                                      </p:cBhvr>
                                      <p:to>
                                        <p:strVal val="visible"/>
                                      </p:to>
                                    </p:set>
                                    <p:animEffect transition="in" filter="blinds(horizontal)">
                                      <p:cBhvr additive="base">
                                        <p:cTn id="31"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Lst>
  </p:timing>
</p:sld>
</file>

<file path=ppt/slides/slide4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5058" name="Text Box 2"/>
          <p:cNvSpPr/>
          <p:nvPr/>
        </p:nvSpPr>
        <p:spPr>
          <a:xfrm>
            <a:off x="395288" y="115888"/>
            <a:ext cx="5622191" cy="518678"/>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buClr>
                <a:schemeClr val="accent2"/>
              </a:buClr>
              <a:buSzPct val="120000"/>
              <a:buFont typeface="Wingdings" pitchFamily="2" charset="2"/>
            </a:pPr>
            <a:r>
              <a:rPr kumimoji="1" lang="zh-CN" altLang="en-US" sz="2400" b="1">
                <a:solidFill>
                  <a:schemeClr val="accent2"/>
                </a:solidFill>
                <a:effectLst/>
                <a:latin typeface="黑体" pitchFamily="49" charset="-122"/>
                <a:ea typeface="黑体" pitchFamily="49" charset="-122"/>
              </a:rPr>
              <a:t>方法四  目标规划模型（目标规划法）</a:t>
            </a:r>
            <a:r>
              <a:rPr kumimoji="1" lang="zh-CN" altLang="en-US" sz="2800">
                <a:effectLst/>
              </a:rPr>
              <a:t> </a:t>
            </a:r>
          </a:p>
        </p:txBody>
      </p:sp>
      <p:sp>
        <p:nvSpPr>
          <p:cNvPr id="45059" name="Rectangle 3"/>
          <p:cNvSpPr>
            <a:spLocks noChangeArrowheads="1"/>
          </p:cNvSpPr>
          <p:nvPr/>
        </p:nvSpPr>
        <p:spPr>
          <a:xfrm>
            <a:off x="827088" y="620713"/>
            <a:ext cx="7784939" cy="1501116"/>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40000"/>
              </a:lnSpc>
            </a:pPr>
            <a:r>
              <a:rPr kumimoji="1" lang="en-US" altLang="zh-CN" sz="2200">
                <a:effectLst/>
                <a:latin typeface="宋体" pitchFamily="2" charset="-122"/>
              </a:rPr>
              <a:t>   </a:t>
            </a:r>
            <a:r>
              <a:rPr kumimoji="1" lang="zh-CN" altLang="en-US" sz="2200">
                <a:effectLst/>
                <a:latin typeface="宋体" pitchFamily="2" charset="-122"/>
              </a:rPr>
              <a:t>需要预先确定各个目标的期望值 </a:t>
            </a:r>
            <a:r>
              <a:rPr kumimoji="1" lang="en-US" altLang="zh-CN" sz="2200" i="1">
                <a:effectLst/>
                <a:latin typeface="Times New Roman" pitchFamily="18" charset="0"/>
                <a:ea typeface="Times New Roman" pitchFamily="18" charset="0"/>
              </a:rPr>
              <a:t>f</a:t>
            </a:r>
            <a:r>
              <a:rPr kumimoji="1" lang="en-US" altLang="zh-CN" sz="2200" i="1" baseline="-25000">
                <a:effectLst/>
                <a:latin typeface="Times New Roman" pitchFamily="18" charset="0"/>
                <a:ea typeface="Times New Roman" pitchFamily="18" charset="0"/>
              </a:rPr>
              <a:t>i</a:t>
            </a:r>
            <a:r>
              <a:rPr kumimoji="1" lang="en-US" altLang="zh-CN" sz="2200" baseline="30000">
                <a:effectLst/>
                <a:latin typeface="Times New Roman" pitchFamily="18" charset="0"/>
                <a:ea typeface="Times New Roman" pitchFamily="18" charset="0"/>
              </a:rPr>
              <a:t>*</a:t>
            </a:r>
            <a:r>
              <a:rPr kumimoji="1" lang="en-US" altLang="zh-CN" sz="2200">
                <a:effectLst/>
                <a:latin typeface="宋体" pitchFamily="2" charset="-122"/>
              </a:rPr>
              <a:t> </a:t>
            </a:r>
            <a:r>
              <a:rPr kumimoji="1" lang="zh-CN" altLang="en-US" sz="2200">
                <a:effectLst/>
                <a:latin typeface="宋体" pitchFamily="2" charset="-122"/>
              </a:rPr>
              <a:t>，同时给每一个目标赋予一个优先因子和权系数，假定有</a:t>
            </a:r>
            <a:r>
              <a:rPr kumimoji="1" lang="en-US" altLang="zh-CN" sz="2200" i="1">
                <a:effectLst/>
                <a:latin typeface="Times New Roman" pitchFamily="18" charset="0"/>
                <a:ea typeface="Times New Roman" pitchFamily="18" charset="0"/>
              </a:rPr>
              <a:t>K</a:t>
            </a:r>
            <a:r>
              <a:rPr kumimoji="1" lang="zh-CN" altLang="en-US" sz="2200">
                <a:effectLst/>
                <a:latin typeface="宋体" pitchFamily="2" charset="-122"/>
              </a:rPr>
              <a:t>个目标，</a:t>
            </a:r>
            <a:r>
              <a:rPr kumimoji="1" lang="en-US" altLang="zh-CN" sz="2200" i="1">
                <a:effectLst/>
                <a:latin typeface="Times New Roman" pitchFamily="18" charset="0"/>
                <a:ea typeface="Times New Roman" pitchFamily="18" charset="0"/>
              </a:rPr>
              <a:t>L</a:t>
            </a:r>
            <a:r>
              <a:rPr kumimoji="1" lang="zh-CN" altLang="en-US" sz="2200">
                <a:effectLst/>
                <a:latin typeface="宋体" pitchFamily="2" charset="-122"/>
              </a:rPr>
              <a:t>个优先级</a:t>
            </a:r>
            <a:r>
              <a:rPr kumimoji="1" lang="en-US" altLang="zh-CN" sz="2200">
                <a:effectLst/>
                <a:latin typeface="Times New Roman" pitchFamily="18" charset="0"/>
                <a:ea typeface="Times New Roman" pitchFamily="18" charset="0"/>
              </a:rPr>
              <a:t>( </a:t>
            </a:r>
            <a:r>
              <a:rPr kumimoji="1" lang="en-US" altLang="zh-CN" sz="2200" i="1">
                <a:effectLst/>
                <a:latin typeface="Times New Roman" pitchFamily="18" charset="0"/>
                <a:ea typeface="Times New Roman" pitchFamily="18" charset="0"/>
              </a:rPr>
              <a:t>L</a:t>
            </a:r>
            <a:r>
              <a:rPr kumimoji="1" lang="en-US" altLang="zh-CN" sz="2200">
                <a:effectLst/>
                <a:latin typeface="Times New Roman" pitchFamily="18" charset="0"/>
                <a:ea typeface="Times New Roman" pitchFamily="18" charset="0"/>
              </a:rPr>
              <a:t>≤</a:t>
            </a:r>
            <a:r>
              <a:rPr kumimoji="1" lang="en-US" altLang="zh-CN" sz="2200" i="1">
                <a:effectLst/>
                <a:latin typeface="Times New Roman" pitchFamily="18" charset="0"/>
                <a:ea typeface="Times New Roman" pitchFamily="18" charset="0"/>
              </a:rPr>
              <a:t>K</a:t>
            </a:r>
            <a:r>
              <a:rPr kumimoji="1" lang="en-US" altLang="zh-CN" sz="2200">
                <a:effectLst/>
                <a:latin typeface="Times New Roman" pitchFamily="18" charset="0"/>
                <a:ea typeface="Times New Roman" pitchFamily="18" charset="0"/>
              </a:rPr>
              <a:t>)</a:t>
            </a:r>
            <a:r>
              <a:rPr kumimoji="1" lang="zh-CN" altLang="en-US" sz="2200">
                <a:effectLst/>
                <a:latin typeface="宋体" pitchFamily="2" charset="-122"/>
              </a:rPr>
              <a:t>，目标规划模型的数学形式为： </a:t>
            </a:r>
          </a:p>
        </p:txBody>
      </p:sp>
      <p:graphicFrame>
        <p:nvGraphicFramePr>
          <p:cNvPr id="45060" name="Object 4"/>
          <p:cNvGraphicFramePr>
            <a:graphicFrameLocks noChangeAspect="1"/>
          </p:cNvGraphicFramePr>
          <p:nvPr/>
        </p:nvGraphicFramePr>
        <p:xfrm>
          <a:off x="2051050" y="2060575"/>
          <a:ext cx="3959225" cy="723900"/>
        </p:xfrm>
        <a:graphic>
          <a:graphicData uri="http://schemas.openxmlformats.org/presentationml/2006/ole">
            <mc:AlternateContent xmlns:mc="http://schemas.openxmlformats.org/markup-compatibility/2006">
              <mc:Choice xmlns:v="urn:schemas-microsoft-com:vml" Requires="v">
                <p:oleObj spid="_x0000_s1084" name="公式" r:id="rId2" progId="Equation.3">
                  <p:embed/>
                </p:oleObj>
              </mc:Choice>
              <mc:Fallback>
                <p:oleObj spid="_x0000_s1084" name="公式" r:id="rId2" progId="Equation.3">
                  <p:embed/>
                  <p:pic>
                    <p:nvPicPr>
                      <p:cNvPr id="0" name="OLE substitute image"/>
                      <p:cNvPicPr/>
                      <p:nvPr/>
                    </p:nvPicPr>
                    <p:blipFill>
                      <a:blip r:embed="rId3"/>
                      <a:stretch/>
                    </p:blipFill>
                    <p:spPr>
                      <a:xfrm>
                        <a:off x="2051050" y="2060575"/>
                        <a:ext cx="3959225" cy="723900"/>
                      </a:xfrm>
                      <a:prstGeom prst="rect">
                        <a:avLst/>
                      </a:prstGeom>
                      <a:noFill/>
                      <a:effectLst/>
                    </p:spPr>
                  </p:pic>
                </p:oleObj>
              </mc:Fallback>
            </mc:AlternateContent>
          </a:graphicData>
        </a:graphic>
      </p:graphicFrame>
      <p:graphicFrame>
        <p:nvGraphicFramePr>
          <p:cNvPr id="45061" name="Object 5"/>
          <p:cNvGraphicFramePr>
            <a:graphicFrameLocks noChangeAspect="1"/>
          </p:cNvGraphicFramePr>
          <p:nvPr/>
        </p:nvGraphicFramePr>
        <p:xfrm>
          <a:off x="1957388" y="2781300"/>
          <a:ext cx="4343400" cy="381000"/>
        </p:xfrm>
        <a:graphic>
          <a:graphicData uri="http://schemas.openxmlformats.org/presentationml/2006/ole">
            <mc:AlternateContent xmlns:mc="http://schemas.openxmlformats.org/markup-compatibility/2006">
              <mc:Choice xmlns:v="urn:schemas-microsoft-com:vml" Requires="v">
                <p:oleObj spid="_x0000_s1085" name="公式" r:id="rId4" progId="Equation.3">
                  <p:embed/>
                </p:oleObj>
              </mc:Choice>
              <mc:Fallback>
                <p:oleObj spid="_x0000_s1085" name="公式" r:id="rId4" progId="Equation.3">
                  <p:embed/>
                  <p:pic>
                    <p:nvPicPr>
                      <p:cNvPr id="0" name="OLE substitute image"/>
                      <p:cNvPicPr/>
                      <p:nvPr/>
                    </p:nvPicPr>
                    <p:blipFill>
                      <a:blip r:embed="rId5"/>
                      <a:stretch/>
                    </p:blipFill>
                    <p:spPr>
                      <a:xfrm>
                        <a:off x="1957388" y="2781300"/>
                        <a:ext cx="4343400" cy="381000"/>
                      </a:xfrm>
                      <a:prstGeom prst="rect">
                        <a:avLst/>
                      </a:prstGeom>
                      <a:noFill/>
                      <a:effectLst/>
                    </p:spPr>
                  </p:pic>
                </p:oleObj>
              </mc:Fallback>
            </mc:AlternateContent>
          </a:graphicData>
        </a:graphic>
      </p:graphicFrame>
      <p:graphicFrame>
        <p:nvGraphicFramePr>
          <p:cNvPr id="45062" name="Object 6"/>
          <p:cNvGraphicFramePr>
            <a:graphicFrameLocks noChangeAspect="1"/>
          </p:cNvGraphicFramePr>
          <p:nvPr/>
        </p:nvGraphicFramePr>
        <p:xfrm>
          <a:off x="1979612" y="3284538"/>
          <a:ext cx="3979862" cy="406400"/>
        </p:xfrm>
        <a:graphic>
          <a:graphicData uri="http://schemas.openxmlformats.org/presentationml/2006/ole">
            <mc:AlternateContent xmlns:mc="http://schemas.openxmlformats.org/markup-compatibility/2006">
              <mc:Choice xmlns:v="urn:schemas-microsoft-com:vml" Requires="v">
                <p:oleObj spid="_x0000_s1086" name="公式" r:id="rId6" progId="Equation.3">
                  <p:embed/>
                </p:oleObj>
              </mc:Choice>
              <mc:Fallback>
                <p:oleObj spid="_x0000_s1086" name="公式" r:id="rId6" progId="Equation.3">
                  <p:embed/>
                  <p:pic>
                    <p:nvPicPr>
                      <p:cNvPr id="0" name="OLE substitute image"/>
                      <p:cNvPicPr/>
                      <p:nvPr/>
                    </p:nvPicPr>
                    <p:blipFill>
                      <a:blip r:embed="rId7"/>
                      <a:stretch/>
                    </p:blipFill>
                    <p:spPr>
                      <a:xfrm>
                        <a:off x="1979612" y="3284538"/>
                        <a:ext cx="3979862" cy="406400"/>
                      </a:xfrm>
                      <a:prstGeom prst="rect">
                        <a:avLst/>
                      </a:prstGeom>
                      <a:noFill/>
                      <a:effectLst/>
                    </p:spPr>
                  </p:pic>
                </p:oleObj>
              </mc:Fallback>
            </mc:AlternateContent>
          </a:graphicData>
        </a:graphic>
      </p:graphicFrame>
      <p:sp>
        <p:nvSpPr>
          <p:cNvPr id="45063" name="Rectangle 7"/>
          <p:cNvSpPr>
            <a:spLocks noChangeArrowheads="1"/>
          </p:cNvSpPr>
          <p:nvPr/>
        </p:nvSpPr>
        <p:spPr>
          <a:xfrm>
            <a:off x="684213" y="3789363"/>
            <a:ext cx="7551345" cy="2953414"/>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40000"/>
              </a:lnSpc>
            </a:pPr>
            <a:r>
              <a:rPr kumimoji="1" lang="zh-CN" altLang="en-US" sz="2400">
                <a:effectLst/>
                <a:latin typeface="宋体" pitchFamily="2" charset="-122"/>
              </a:rPr>
              <a:t>式</a:t>
            </a:r>
            <a:r>
              <a:rPr kumimoji="1" lang="zh-CN" altLang="en-US" sz="2200">
                <a:effectLst/>
                <a:latin typeface="宋体" pitchFamily="2" charset="-122"/>
              </a:rPr>
              <a:t>中：</a:t>
            </a:r>
          </a:p>
          <a:p>
            <a:pPr marL="0" marR="0" lvl="0" indent="0" eaLnBrk="1" hangingPunct="1">
              <a:lnSpc>
                <a:spcPct val="140000"/>
              </a:lnSpc>
            </a:pPr>
            <a:r>
              <a:rPr kumimoji="1" lang="zh-CN" altLang="en-US" sz="2200">
                <a:effectLst/>
                <a:latin typeface="宋体" pitchFamily="2" charset="-122"/>
              </a:rPr>
              <a:t>   </a:t>
            </a:r>
            <a:r>
              <a:rPr kumimoji="1" lang="en-US" altLang="zh-CN" sz="2200" i="1">
                <a:effectLst/>
                <a:latin typeface="Times New Roman" pitchFamily="18" charset="0"/>
                <a:ea typeface="Times New Roman" pitchFamily="18" charset="0"/>
              </a:rPr>
              <a:t>d</a:t>
            </a:r>
            <a:r>
              <a:rPr kumimoji="1" lang="en-US" altLang="zh-CN" sz="2200" i="1" baseline="-25000">
                <a:effectLst/>
                <a:latin typeface="Times New Roman" pitchFamily="18" charset="0"/>
                <a:ea typeface="Times New Roman" pitchFamily="18" charset="0"/>
              </a:rPr>
              <a:t>i</a:t>
            </a:r>
            <a:r>
              <a:rPr kumimoji="1" lang="en-US" altLang="zh-CN" sz="2200" i="1" baseline="30000">
                <a:effectLst/>
                <a:latin typeface="Times New Roman" pitchFamily="18" charset="0"/>
                <a:ea typeface="Times New Roman" pitchFamily="18" charset="0"/>
              </a:rPr>
              <a:t>+</a:t>
            </a:r>
            <a:r>
              <a:rPr kumimoji="1" lang="en-US" altLang="zh-CN" sz="2200">
                <a:effectLst/>
                <a:latin typeface="Times New Roman" pitchFamily="18" charset="0"/>
                <a:ea typeface="Times New Roman" pitchFamily="18" charset="0"/>
              </a:rPr>
              <a:t>  </a:t>
            </a:r>
            <a:r>
              <a:rPr kumimoji="1" lang="zh-CN" altLang="en-US" sz="2200">
                <a:effectLst/>
                <a:latin typeface="宋体" pitchFamily="2" charset="-122"/>
              </a:rPr>
              <a:t>和 </a:t>
            </a:r>
            <a:r>
              <a:rPr kumimoji="1" lang="en-US" altLang="zh-CN" sz="2200" i="1">
                <a:effectLst/>
                <a:latin typeface="Times New Roman" pitchFamily="18" charset="0"/>
                <a:ea typeface="Times New Roman" pitchFamily="18" charset="0"/>
              </a:rPr>
              <a:t>d</a:t>
            </a:r>
            <a:r>
              <a:rPr kumimoji="1" lang="en-US" altLang="zh-CN" sz="2200" i="1" baseline="-25000">
                <a:effectLst/>
                <a:latin typeface="Times New Roman" pitchFamily="18" charset="0"/>
                <a:ea typeface="Times New Roman" pitchFamily="18" charset="0"/>
              </a:rPr>
              <a:t>i</a:t>
            </a:r>
            <a:r>
              <a:rPr kumimoji="1" lang="zh-CN" altLang="en-US" sz="2200" i="1" baseline="30000">
                <a:effectLst/>
                <a:latin typeface="Times New Roman" pitchFamily="18" charset="0"/>
                <a:ea typeface="Times New Roman" pitchFamily="18" charset="0"/>
              </a:rPr>
              <a:t>－</a:t>
            </a:r>
            <a:r>
              <a:rPr kumimoji="1" lang="zh-CN" altLang="en-US" sz="2200">
                <a:effectLst/>
                <a:latin typeface="宋体" pitchFamily="2" charset="-122"/>
              </a:rPr>
              <a:t>分别表示</a:t>
            </a:r>
            <a:r>
              <a:rPr kumimoji="1" lang="zh-CN" altLang="en-US" sz="2200">
                <a:effectLst/>
                <a:latin typeface="Times New Roman" pitchFamily="18" charset="0"/>
                <a:ea typeface="Times New Roman" pitchFamily="18" charset="0"/>
              </a:rPr>
              <a:t>与 </a:t>
            </a:r>
            <a:r>
              <a:rPr kumimoji="1" lang="en-US" altLang="zh-CN" sz="2200" i="1">
                <a:effectLst/>
                <a:latin typeface="Times New Roman" pitchFamily="18" charset="0"/>
                <a:ea typeface="Times New Roman" pitchFamily="18" charset="0"/>
              </a:rPr>
              <a:t>f</a:t>
            </a:r>
            <a:r>
              <a:rPr kumimoji="1" lang="en-US" altLang="zh-CN" sz="2200" i="1" baseline="-25000">
                <a:effectLst/>
                <a:latin typeface="Times New Roman" pitchFamily="18" charset="0"/>
                <a:ea typeface="Times New Roman" pitchFamily="18" charset="0"/>
              </a:rPr>
              <a:t>i</a:t>
            </a:r>
            <a:r>
              <a:rPr kumimoji="1" lang="en-US" altLang="zh-CN" sz="2200">
                <a:effectLst/>
                <a:latin typeface="Times New Roman" pitchFamily="18" charset="0"/>
                <a:ea typeface="Times New Roman" pitchFamily="18" charset="0"/>
              </a:rPr>
              <a:t>  </a:t>
            </a:r>
            <a:r>
              <a:rPr kumimoji="1" lang="zh-CN" altLang="en-US" sz="2200">
                <a:effectLst/>
                <a:latin typeface="宋体" pitchFamily="2" charset="-122"/>
              </a:rPr>
              <a:t>相应的、与</a:t>
            </a:r>
            <a:r>
              <a:rPr kumimoji="1" lang="en-US" altLang="zh-CN" sz="2200" i="1">
                <a:effectLst/>
                <a:latin typeface="Times New Roman" pitchFamily="18" charset="0"/>
                <a:ea typeface="Times New Roman" pitchFamily="18" charset="0"/>
              </a:rPr>
              <a:t>f</a:t>
            </a:r>
            <a:r>
              <a:rPr kumimoji="1" lang="en-US" altLang="zh-CN" sz="2200" i="1" baseline="-25000">
                <a:effectLst/>
                <a:latin typeface="Times New Roman" pitchFamily="18" charset="0"/>
                <a:ea typeface="Times New Roman" pitchFamily="18" charset="0"/>
              </a:rPr>
              <a:t>i</a:t>
            </a:r>
            <a:r>
              <a:rPr kumimoji="1" lang="en-US" altLang="zh-CN" sz="2200" i="1" baseline="30000">
                <a:effectLst/>
                <a:latin typeface="Times New Roman" pitchFamily="18" charset="0"/>
                <a:ea typeface="Times New Roman" pitchFamily="18" charset="0"/>
              </a:rPr>
              <a:t>*</a:t>
            </a:r>
            <a:r>
              <a:rPr kumimoji="1" lang="en-US" altLang="zh-CN" sz="2200">
                <a:effectLst/>
                <a:latin typeface="Times New Roman" pitchFamily="18" charset="0"/>
                <a:ea typeface="Times New Roman" pitchFamily="18" charset="0"/>
              </a:rPr>
              <a:t> </a:t>
            </a:r>
            <a:r>
              <a:rPr kumimoji="1" lang="zh-CN" altLang="en-US" sz="2200">
                <a:effectLst/>
                <a:latin typeface="宋体" pitchFamily="2" charset="-122"/>
              </a:rPr>
              <a:t>相比的目标超过值和不足值，即</a:t>
            </a:r>
            <a:r>
              <a:rPr kumimoji="1" lang="zh-CN" altLang="en-US" sz="2200" b="1">
                <a:effectLst/>
                <a:latin typeface="黑体" pitchFamily="49" charset="-122"/>
                <a:ea typeface="黑体" pitchFamily="49" charset="-122"/>
              </a:rPr>
              <a:t>正、负偏差变量</a:t>
            </a:r>
            <a:r>
              <a:rPr kumimoji="1" lang="zh-CN" altLang="en-US" sz="2200">
                <a:effectLst/>
                <a:latin typeface="宋体" pitchFamily="2" charset="-122"/>
              </a:rPr>
              <a:t>；</a:t>
            </a:r>
          </a:p>
          <a:p>
            <a:pPr marL="0" marR="0" lvl="0" indent="0" eaLnBrk="1" hangingPunct="1">
              <a:lnSpc>
                <a:spcPct val="140000"/>
              </a:lnSpc>
            </a:pPr>
            <a:r>
              <a:rPr kumimoji="1" lang="zh-CN" altLang="en-US" sz="2200" i="1">
                <a:effectLst/>
                <a:latin typeface="宋体" pitchFamily="2" charset="-122"/>
              </a:rPr>
              <a:t>   </a:t>
            </a:r>
            <a:r>
              <a:rPr kumimoji="1" lang="en-US" altLang="zh-CN" sz="2200" i="1">
                <a:effectLst/>
                <a:latin typeface="Times New Roman" pitchFamily="18" charset="0"/>
                <a:ea typeface="Times New Roman" pitchFamily="18" charset="0"/>
              </a:rPr>
              <a:t>p</a:t>
            </a:r>
            <a:r>
              <a:rPr kumimoji="1" lang="en-US" altLang="zh-CN" sz="2200" i="1" baseline="-25000">
                <a:effectLst/>
                <a:latin typeface="Times New Roman" pitchFamily="18" charset="0"/>
                <a:ea typeface="Times New Roman" pitchFamily="18" charset="0"/>
              </a:rPr>
              <a:t>l</a:t>
            </a:r>
            <a:r>
              <a:rPr kumimoji="1" lang="zh-CN" altLang="en-US" sz="2200">
                <a:effectLst/>
                <a:latin typeface="宋体" pitchFamily="2" charset="-122"/>
              </a:rPr>
              <a:t>表示第</a:t>
            </a:r>
            <a:r>
              <a:rPr kumimoji="1" lang="en-US" altLang="zh-CN" sz="2200" i="1">
                <a:effectLst/>
                <a:latin typeface="Times New Roman" pitchFamily="18" charset="0"/>
                <a:ea typeface="Times New Roman" pitchFamily="18" charset="0"/>
              </a:rPr>
              <a:t>l</a:t>
            </a:r>
            <a:r>
              <a:rPr kumimoji="1" lang="zh-CN" altLang="en-US" sz="2200">
                <a:effectLst/>
                <a:latin typeface="宋体" pitchFamily="2" charset="-122"/>
              </a:rPr>
              <a:t>个优先级；</a:t>
            </a:r>
          </a:p>
          <a:p>
            <a:pPr marL="0" marR="0" lvl="0" indent="0" eaLnBrk="1" hangingPunct="1">
              <a:lnSpc>
                <a:spcPct val="140000"/>
              </a:lnSpc>
            </a:pPr>
            <a:r>
              <a:rPr kumimoji="1" lang="zh-CN" altLang="en-US" sz="2200" i="1">
                <a:effectLst/>
                <a:latin typeface="宋体" pitchFamily="2" charset="-122"/>
                <a:sym typeface="Symbol" pitchFamily="18" charset="2"/>
              </a:rPr>
              <a:t>   </a:t>
            </a:r>
            <a:r>
              <a:rPr kumimoji="1" lang="en-US" altLang="zh-CN" sz="2200" i="1" baseline="-25000">
                <a:effectLst/>
                <a:latin typeface="Times New Roman" pitchFamily="18" charset="0"/>
                <a:ea typeface="Times New Roman" pitchFamily="18" charset="0"/>
                <a:sym typeface="Symbol" pitchFamily="18" charset="2"/>
              </a:rPr>
              <a:t>lk</a:t>
            </a:r>
            <a:r>
              <a:rPr kumimoji="1" lang="en-US" altLang="zh-CN" sz="2200" i="1" baseline="30000">
                <a:effectLst/>
                <a:latin typeface="Times New Roman" pitchFamily="18" charset="0"/>
                <a:ea typeface="Times New Roman" pitchFamily="18" charset="0"/>
                <a:sym typeface="Symbol" pitchFamily="18" charset="2"/>
              </a:rPr>
              <a:t>+</a:t>
            </a:r>
            <a:r>
              <a:rPr kumimoji="1" lang="zh-CN" altLang="en-US" sz="2200">
                <a:effectLst/>
                <a:latin typeface="宋体" pitchFamily="2" charset="-122"/>
              </a:rPr>
              <a:t>、</a:t>
            </a:r>
            <a:r>
              <a:rPr kumimoji="1" lang="zh-CN" altLang="en-US" sz="2200" i="1">
                <a:effectLst/>
                <a:latin typeface="宋体" pitchFamily="2" charset="-122"/>
                <a:sym typeface="Symbol" pitchFamily="18" charset="2"/>
              </a:rPr>
              <a:t></a:t>
            </a:r>
            <a:r>
              <a:rPr kumimoji="1" lang="en-US" altLang="zh-CN" sz="2200" i="1" baseline="-25000">
                <a:effectLst/>
                <a:latin typeface="Times New Roman" pitchFamily="18" charset="0"/>
                <a:ea typeface="Times New Roman" pitchFamily="18" charset="0"/>
                <a:sym typeface="Symbol" pitchFamily="18" charset="2"/>
              </a:rPr>
              <a:t>lk</a:t>
            </a:r>
            <a:r>
              <a:rPr kumimoji="1" lang="en-US" altLang="zh-CN" sz="2200" i="1" baseline="30000">
                <a:effectLst/>
                <a:latin typeface="Times New Roman" pitchFamily="18" charset="0"/>
                <a:ea typeface="Times New Roman" pitchFamily="18" charset="0"/>
                <a:sym typeface="Symbol" pitchFamily="18" charset="2"/>
              </a:rPr>
              <a:t>-</a:t>
            </a:r>
            <a:r>
              <a:rPr kumimoji="1" lang="zh-CN" altLang="en-US" sz="2200">
                <a:effectLst/>
                <a:latin typeface="宋体" pitchFamily="2" charset="-122"/>
              </a:rPr>
              <a:t>表示在同一优先级 </a:t>
            </a:r>
            <a:r>
              <a:rPr kumimoji="1" lang="en-US" altLang="zh-CN" sz="2200" i="1">
                <a:effectLst/>
                <a:latin typeface="Times New Roman" pitchFamily="18" charset="0"/>
                <a:ea typeface="Times New Roman" pitchFamily="18" charset="0"/>
              </a:rPr>
              <a:t>p</a:t>
            </a:r>
            <a:r>
              <a:rPr kumimoji="1" lang="en-US" altLang="zh-CN" sz="2200" i="1" baseline="-25000">
                <a:effectLst/>
                <a:latin typeface="Times New Roman" pitchFamily="18" charset="0"/>
                <a:ea typeface="Times New Roman" pitchFamily="18" charset="0"/>
              </a:rPr>
              <a:t>l</a:t>
            </a:r>
            <a:r>
              <a:rPr kumimoji="1" lang="en-US" altLang="zh-CN" sz="2200" i="1" baseline="-25000">
                <a:effectLst/>
                <a:latin typeface="宋体" pitchFamily="2" charset="-122"/>
              </a:rPr>
              <a:t> </a:t>
            </a:r>
            <a:r>
              <a:rPr kumimoji="1" lang="zh-CN" altLang="en-US" sz="2200">
                <a:effectLst/>
                <a:latin typeface="宋体" pitchFamily="2" charset="-122"/>
              </a:rPr>
              <a:t>中，不同目标的正、负偏差变量的权系数。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45058"/>
                                        </p:tgtEl>
                                        <p:attrNameLst>
                                          <p:attrName>style.visibility</p:attrName>
                                        </p:attrNameLst>
                                      </p:cBhvr>
                                      <p:to>
                                        <p:strVal val="visible"/>
                                      </p:to>
                                    </p:set>
                                    <p:animEffect transition="in" filter="blinds(horizontal)">
                                      <p:cBhvr additive="base">
                                        <p:cTn id="7" dur="500"/>
                                        <p:tgtEl>
                                          <p:spTgt spid="45058"/>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45059">
                                            <p:txEl>
                                              <p:charRg st="0" end="79"/>
                                            </p:txEl>
                                          </p:spTgt>
                                        </p:tgtEl>
                                        <p:attrNameLst>
                                          <p:attrName>style.visibility</p:attrName>
                                        </p:attrNameLst>
                                      </p:cBhvr>
                                      <p:to>
                                        <p:strVal val="visible"/>
                                      </p:to>
                                    </p:set>
                                    <p:animEffect transition="in" filter="blinds(horizontal)">
                                      <p:cBhvr additive="base">
                                        <p:cTn id="13" dur="500"/>
                                        <p:tgtEl>
                                          <p:spTgt spid="45059">
                                            <p:txEl>
                                              <p:charRg st="0" end="79"/>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45060"/>
                                        </p:tgtEl>
                                        <p:attrNameLst>
                                          <p:attrName>style.visibility</p:attrName>
                                        </p:attrNameLst>
                                      </p:cBhvr>
                                      <p:to>
                                        <p:strVal val="visible"/>
                                      </p:to>
                                    </p:set>
                                    <p:animEffect transition="in" filter="blinds(horizontal)">
                                      <p:cBhvr additive="base">
                                        <p:cTn id="19" dur="500"/>
                                        <p:tgtEl>
                                          <p:spTgt spid="45060"/>
                                        </p:tgtEl>
                                      </p:cBhvr>
                                    </p:animEffect>
                                  </p:childTnLst>
                                </p:cTn>
                              </p:par>
                              <p:par>
                                <p:cTn id="20" presetID="3" presetClass="entr" presetSubtype="10" fill="hold" nodeType="withEffect">
                                  <p:stCondLst>
                                    <p:cond delay="-9223372036854775808"/>
                                  </p:stCondLst>
                                  <p:childTnLst>
                                    <p:set>
                                      <p:cBhvr additive="base">
                                        <p:cTn id="21" dur="1" fill="hold">
                                          <p:stCondLst>
                                            <p:cond delay="0"/>
                                          </p:stCondLst>
                                        </p:cTn>
                                        <p:tgtEl>
                                          <p:spTgt spid="45061"/>
                                        </p:tgtEl>
                                        <p:attrNameLst>
                                          <p:attrName>style.visibility</p:attrName>
                                        </p:attrNameLst>
                                      </p:cBhvr>
                                      <p:to>
                                        <p:strVal val="visible"/>
                                      </p:to>
                                    </p:set>
                                    <p:animEffect transition="in" filter="blinds(horizontal)">
                                      <p:cBhvr additive="base">
                                        <p:cTn id="22" dur="500"/>
                                        <p:tgtEl>
                                          <p:spTgt spid="45061"/>
                                        </p:tgtEl>
                                      </p:cBhvr>
                                    </p:animEffect>
                                  </p:childTnLst>
                                </p:cTn>
                              </p:par>
                              <p:par>
                                <p:cTn id="23" presetID="3" presetClass="entr" presetSubtype="10" fill="hold" nodeType="withEffect">
                                  <p:stCondLst>
                                    <p:cond delay="-9223372036854775808"/>
                                  </p:stCondLst>
                                  <p:childTnLst>
                                    <p:set>
                                      <p:cBhvr additive="base">
                                        <p:cTn id="24" dur="1" fill="hold">
                                          <p:stCondLst>
                                            <p:cond delay="0"/>
                                          </p:stCondLst>
                                        </p:cTn>
                                        <p:tgtEl>
                                          <p:spTgt spid="45062"/>
                                        </p:tgtEl>
                                        <p:attrNameLst>
                                          <p:attrName>style.visibility</p:attrName>
                                        </p:attrNameLst>
                                      </p:cBhvr>
                                      <p:to>
                                        <p:strVal val="visible"/>
                                      </p:to>
                                    </p:set>
                                    <p:animEffect transition="in" filter="blinds(horizontal)">
                                      <p:cBhvr additive="base">
                                        <p:cTn id="25" dur="500"/>
                                        <p:tgtEl>
                                          <p:spTgt spid="45062"/>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45063">
                                            <p:txEl>
                                              <p:charRg st="0" end="4"/>
                                            </p:txEl>
                                          </p:spTgt>
                                        </p:tgtEl>
                                        <p:attrNameLst>
                                          <p:attrName>style.visibility</p:attrName>
                                        </p:attrNameLst>
                                      </p:cBhvr>
                                      <p:to>
                                        <p:strVal val="visible"/>
                                      </p:to>
                                    </p:set>
                                    <p:animEffect transition="in" filter="blinds(horizontal)">
                                      <p:cBhvr additive="base">
                                        <p:cTn id="31" dur="500"/>
                                        <p:tgtEl>
                                          <p:spTgt spid="45063">
                                            <p:txEl>
                                              <p:charRg st="0" end="4"/>
                                            </p:txEl>
                                          </p:spTgt>
                                        </p:tgtEl>
                                      </p:cBhvr>
                                    </p:animEffect>
                                  </p:childTnLst>
                                </p:cTn>
                              </p:par>
                              <p:par>
                                <p:cTn id="32" presetID="3" presetClass="entr" presetSubtype="10" fill="hold" nodeType="withEffect">
                                  <p:stCondLst>
                                    <p:cond delay="-9223372036854775808"/>
                                  </p:stCondLst>
                                  <p:childTnLst>
                                    <p:set>
                                      <p:cBhvr additive="base">
                                        <p:cTn id="33" dur="1" fill="hold">
                                          <p:stCondLst>
                                            <p:cond delay="0"/>
                                          </p:stCondLst>
                                        </p:cTn>
                                        <p:tgtEl>
                                          <p:spTgt spid="45063">
                                            <p:txEl>
                                              <p:charRg st="4" end="59"/>
                                            </p:txEl>
                                          </p:spTgt>
                                        </p:tgtEl>
                                        <p:attrNameLst>
                                          <p:attrName>style.visibility</p:attrName>
                                        </p:attrNameLst>
                                      </p:cBhvr>
                                      <p:to>
                                        <p:strVal val="visible"/>
                                      </p:to>
                                    </p:set>
                                    <p:animEffect transition="in" filter="blinds(horizontal)">
                                      <p:cBhvr additive="base">
                                        <p:cTn id="34" dur="500"/>
                                        <p:tgtEl>
                                          <p:spTgt spid="45063">
                                            <p:txEl>
                                              <p:charRg st="4" end="59"/>
                                            </p:txEl>
                                          </p:spTgt>
                                        </p:tgtEl>
                                      </p:cBhvr>
                                    </p:animEffect>
                                  </p:childTnLst>
                                </p:cTn>
                              </p:par>
                              <p:par>
                                <p:cTn id="35" presetID="3" presetClass="entr" presetSubtype="10" fill="hold" nodeType="withEffect">
                                  <p:stCondLst>
                                    <p:cond delay="-9223372036854775808"/>
                                  </p:stCondLst>
                                  <p:childTnLst>
                                    <p:set>
                                      <p:cBhvr additive="base">
                                        <p:cTn id="36" dur="1" fill="hold">
                                          <p:stCondLst>
                                            <p:cond delay="0"/>
                                          </p:stCondLst>
                                        </p:cTn>
                                        <p:tgtEl>
                                          <p:spTgt spid="45063">
                                            <p:txEl>
                                              <p:charRg st="59" end="74"/>
                                            </p:txEl>
                                          </p:spTgt>
                                        </p:tgtEl>
                                        <p:attrNameLst>
                                          <p:attrName>style.visibility</p:attrName>
                                        </p:attrNameLst>
                                      </p:cBhvr>
                                      <p:to>
                                        <p:strVal val="visible"/>
                                      </p:to>
                                    </p:set>
                                    <p:animEffect transition="in" filter="blinds(horizontal)">
                                      <p:cBhvr additive="base">
                                        <p:cTn id="37" dur="500"/>
                                        <p:tgtEl>
                                          <p:spTgt spid="45063">
                                            <p:txEl>
                                              <p:charRg st="59" end="74"/>
                                            </p:txEl>
                                          </p:spTgt>
                                        </p:tgtEl>
                                      </p:cBhvr>
                                    </p:animEffect>
                                  </p:childTnLst>
                                </p:cTn>
                              </p:par>
                              <p:par>
                                <p:cTn id="38" presetID="3" presetClass="entr" presetSubtype="10" fill="hold" nodeType="withEffect">
                                  <p:stCondLst>
                                    <p:cond delay="-9223372036854775808"/>
                                  </p:stCondLst>
                                  <p:childTnLst>
                                    <p:set>
                                      <p:cBhvr additive="base">
                                        <p:cTn id="39" dur="1" fill="hold">
                                          <p:stCondLst>
                                            <p:cond delay="0"/>
                                          </p:stCondLst>
                                        </p:cTn>
                                        <p:tgtEl>
                                          <p:spTgt spid="45063">
                                            <p:txEl>
                                              <p:charRg st="74" end="119"/>
                                            </p:txEl>
                                          </p:spTgt>
                                        </p:tgtEl>
                                        <p:attrNameLst>
                                          <p:attrName>style.visibility</p:attrName>
                                        </p:attrNameLst>
                                      </p:cBhvr>
                                      <p:to>
                                        <p:strVal val="visible"/>
                                      </p:to>
                                    </p:set>
                                    <p:animEffect transition="in" filter="blinds(horizontal)">
                                      <p:cBhvr additive="base">
                                        <p:cTn id="40" dur="500"/>
                                        <p:tgtEl>
                                          <p:spTgt spid="45063">
                                            <p:txEl>
                                              <p:charRg st="74"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Lst>
  </p:timing>
</p:sld>
</file>

<file path=ppt/slides/slide4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46082" name="Rectangle 3"/>
          <p:cNvSpPr>
            <a:spLocks noGrp="1" noChangeArrowheads="1"/>
          </p:cNvSpPr>
          <p:nvPr>
            <p:ph type="body" idx="4294967295"/>
          </p:nvPr>
        </p:nvSpPr>
        <p:spPr>
          <a:xfrm>
            <a:off x="900113" y="2060575"/>
            <a:ext cx="7993062" cy="1409700"/>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eaLnBrk="1" hangingPunct="1">
              <a:lnSpc>
                <a:spcPct val="90000"/>
              </a:lnSpc>
              <a:spcBef>
                <a:spcPct val="0"/>
              </a:spcBef>
              <a:buNone/>
            </a:pPr>
            <a:r>
              <a:rPr kumimoji="1" lang="en-US" altLang="zh-CN">
                <a:effectLst/>
                <a:latin typeface="宋体" pitchFamily="2" charset="-122"/>
              </a:rPr>
              <a:t>1.</a:t>
            </a:r>
            <a:r>
              <a:rPr kumimoji="1" lang="zh-CN" altLang="en-US">
                <a:effectLst/>
                <a:latin typeface="宋体" pitchFamily="2" charset="-122"/>
              </a:rPr>
              <a:t>基本思想 ：</a:t>
            </a:r>
            <a:r>
              <a:rPr lang="zh-CN" altLang="en-US">
                <a:effectLst/>
                <a:latin typeface="宋体" pitchFamily="2" charset="-122"/>
              </a:rPr>
              <a:t>给定若干目标以及实现这</a:t>
            </a:r>
          </a:p>
          <a:p>
            <a:pPr marL="0" marR="0" lvl="0" indent="0" eaLnBrk="1" hangingPunct="1">
              <a:lnSpc>
                <a:spcPct val="90000"/>
              </a:lnSpc>
              <a:spcBef>
                <a:spcPct val="0"/>
              </a:spcBef>
              <a:buNone/>
            </a:pPr>
            <a:r>
              <a:rPr lang="zh-CN" altLang="en-US">
                <a:effectLst/>
                <a:latin typeface="宋体" pitchFamily="2" charset="-122"/>
              </a:rPr>
              <a:t>些目标的优先顺序，在有限的资源条件下，使总的偏离目标值的偏差最小。</a:t>
            </a:r>
          </a:p>
        </p:txBody>
      </p:sp>
      <p:sp>
        <p:nvSpPr>
          <p:cNvPr id="46083" name="Rectangle 10"/>
          <p:cNvSpPr/>
          <p:nvPr>
            <p:ph type="title" idx="4294967295"/>
          </p:nvPr>
        </p:nvSpPr>
        <p:spPr>
          <a:xfrm>
            <a:off x="611188" y="1125538"/>
            <a:ext cx="4648200" cy="854075"/>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algn="l" eaLnBrk="1" hangingPunct="1"/>
            <a:r>
              <a:rPr lang="zh-CN" altLang="en-US" sz="3000" b="1">
                <a:effectLst/>
                <a:latin typeface="黑体" pitchFamily="49" charset="-122"/>
                <a:ea typeface="黑体" pitchFamily="49" charset="-122"/>
              </a:rPr>
              <a:t>三、目标规划方法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46083"/>
                                        </p:tgtEl>
                                        <p:attrNameLst>
                                          <p:attrName>style.visibility</p:attrName>
                                        </p:attrNameLst>
                                      </p:cBhvr>
                                      <p:to>
                                        <p:strVal val="visible"/>
                                      </p:to>
                                    </p:set>
                                    <p:animEffect transition="in" filter="blinds(horizontal)">
                                      <p:cBhvr additive="base">
                                        <p:cTn id="7" dur="500"/>
                                        <p:tgtEl>
                                          <p:spTgt spid="46083"/>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46082">
                                            <p:txEl>
                                              <p:charRg st="0" end="20"/>
                                            </p:txEl>
                                          </p:spTgt>
                                        </p:tgtEl>
                                        <p:attrNameLst>
                                          <p:attrName>style.visibility</p:attrName>
                                        </p:attrNameLst>
                                      </p:cBhvr>
                                      <p:to>
                                        <p:strVal val="visible"/>
                                      </p:to>
                                    </p:set>
                                    <p:animEffect transition="in" filter="blinds(horizontal)">
                                      <p:cBhvr additive="base">
                                        <p:cTn id="13" dur="500"/>
                                        <p:tgtEl>
                                          <p:spTgt spid="46082">
                                            <p:txEl>
                                              <p:charRg st="0" end="20"/>
                                            </p:txEl>
                                          </p:spTgt>
                                        </p:tgtEl>
                                      </p:cBhvr>
                                    </p:animEffect>
                                  </p:childTnLst>
                                </p:cTn>
                              </p:par>
                              <p:par>
                                <p:cTn id="14" presetID="3" presetClass="entr" presetSubtype="10" fill="hold" nodeType="withEffect">
                                  <p:stCondLst>
                                    <p:cond delay="-9223372036854775808"/>
                                  </p:stCondLst>
                                  <p:childTnLst>
                                    <p:set>
                                      <p:cBhvr additive="base">
                                        <p:cTn id="15" dur="1" fill="hold">
                                          <p:stCondLst>
                                            <p:cond delay="0"/>
                                          </p:stCondLst>
                                        </p:cTn>
                                        <p:tgtEl>
                                          <p:spTgt spid="46082">
                                            <p:txEl>
                                              <p:charRg st="20" end="54"/>
                                            </p:txEl>
                                          </p:spTgt>
                                        </p:tgtEl>
                                        <p:attrNameLst>
                                          <p:attrName>style.visibility</p:attrName>
                                        </p:attrNameLst>
                                      </p:cBhvr>
                                      <p:to>
                                        <p:strVal val="visible"/>
                                      </p:to>
                                    </p:set>
                                    <p:animEffect transition="in" filter="blinds(horizontal)">
                                      <p:cBhvr additive="base">
                                        <p:cTn id="16" dur="500"/>
                                        <p:tgtEl>
                                          <p:spTgt spid="46082">
                                            <p:txEl>
                                              <p:charRg st="20" end="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Lst>
  </p:timing>
</p:sld>
</file>

<file path=ppt/slides/slide4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7106" name="Rectangle 2"/>
          <p:cNvSpPr>
            <a:spLocks noGrp="1" noChangeArrowheads="1"/>
          </p:cNvSpPr>
          <p:nvPr>
            <p:ph type="body" idx="4294967295"/>
          </p:nvPr>
        </p:nvSpPr>
        <p:spPr>
          <a:xfrm>
            <a:off x="1042988" y="1125538"/>
            <a:ext cx="7416800" cy="1582737"/>
          </a:xfrm>
          <a:effectLst/>
        </p:spPr>
        <p:txBody>
          <a:bodyPr vert="horz" wrap="square" lIns="91440" tIns="45720" rIns="91440" bIns="45720" anchor="t" anchorCtr="0" compatLnSpc="1">
            <a:prstTxWarp prst="textNoShape">
              <a:avLst/>
            </a:prstTxWarp>
            <a:noAutofit/>
          </a:bodyPr>
          <a:lstStyle>
            <a:lvl1pPr marL="0" indent="0" algn="l"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0" marR="0" lvl="0" indent="0" algn="just" eaLnBrk="1" hangingPunct="1">
              <a:lnSpc>
                <a:spcPct val="120000"/>
              </a:lnSpc>
              <a:buNone/>
            </a:pPr>
            <a:r>
              <a:rPr lang="zh-CN" altLang="en-US" sz="2400">
                <a:effectLst/>
                <a:latin typeface="宋体" pitchFamily="2" charset="-122"/>
              </a:rPr>
              <a:t>假定有</a:t>
            </a:r>
            <a:r>
              <a:rPr lang="en-US" altLang="zh-CN" sz="2400" i="1">
                <a:effectLst/>
                <a:latin typeface="Times New Roman" pitchFamily="18" charset="0"/>
                <a:ea typeface="Times New Roman" pitchFamily="18" charset="0"/>
              </a:rPr>
              <a:t>L</a:t>
            </a:r>
            <a:r>
              <a:rPr lang="zh-CN" altLang="en-US" sz="2400">
                <a:effectLst/>
                <a:latin typeface="宋体" pitchFamily="2" charset="-122"/>
              </a:rPr>
              <a:t>个目标，</a:t>
            </a:r>
            <a:r>
              <a:rPr lang="en-US" altLang="zh-CN" sz="2400" i="1">
                <a:effectLst/>
                <a:latin typeface="Times New Roman" pitchFamily="18" charset="0"/>
                <a:ea typeface="Times New Roman" pitchFamily="18" charset="0"/>
              </a:rPr>
              <a:t>K</a:t>
            </a:r>
            <a:r>
              <a:rPr lang="zh-CN" altLang="en-US" sz="2400">
                <a:effectLst/>
                <a:latin typeface="宋体" pitchFamily="2" charset="-122"/>
              </a:rPr>
              <a:t>个优先级</a:t>
            </a:r>
            <a:r>
              <a:rPr lang="en-US" altLang="zh-CN" sz="2400">
                <a:effectLst/>
                <a:latin typeface="宋体" pitchFamily="2" charset="-122"/>
              </a:rPr>
              <a:t>(</a:t>
            </a:r>
            <a:r>
              <a:rPr lang="en-US" altLang="zh-CN" sz="2400" i="1">
                <a:effectLst/>
                <a:latin typeface="Times New Roman" pitchFamily="18" charset="0"/>
                <a:ea typeface="Times New Roman" pitchFamily="18" charset="0"/>
              </a:rPr>
              <a:t>K</a:t>
            </a:r>
            <a:r>
              <a:rPr lang="en-US" altLang="zh-CN" sz="2400">
                <a:effectLst/>
                <a:latin typeface="Times New Roman" pitchFamily="18" charset="0"/>
                <a:ea typeface="Times New Roman" pitchFamily="18" charset="0"/>
              </a:rPr>
              <a:t>≤</a:t>
            </a:r>
            <a:r>
              <a:rPr lang="en-US" altLang="zh-CN" sz="2400" i="1">
                <a:effectLst/>
                <a:latin typeface="Times New Roman" pitchFamily="18" charset="0"/>
                <a:ea typeface="Times New Roman" pitchFamily="18" charset="0"/>
              </a:rPr>
              <a:t>L</a:t>
            </a:r>
            <a:r>
              <a:rPr lang="en-US" altLang="zh-CN" sz="2400">
                <a:effectLst/>
                <a:latin typeface="宋体" pitchFamily="2" charset="-122"/>
              </a:rPr>
              <a:t>)</a:t>
            </a:r>
            <a:r>
              <a:rPr lang="zh-CN" altLang="en-US" sz="2400">
                <a:effectLst/>
                <a:latin typeface="宋体" pitchFamily="2" charset="-122"/>
              </a:rPr>
              <a:t>，</a:t>
            </a:r>
            <a:r>
              <a:rPr lang="en-US" altLang="zh-CN" sz="2400" i="1">
                <a:effectLst/>
                <a:latin typeface="Times New Roman" pitchFamily="18" charset="0"/>
                <a:ea typeface="Times New Roman" pitchFamily="18" charset="0"/>
              </a:rPr>
              <a:t>n</a:t>
            </a:r>
            <a:r>
              <a:rPr lang="zh-CN" altLang="en-US" sz="2400">
                <a:effectLst/>
                <a:latin typeface="宋体" pitchFamily="2" charset="-122"/>
              </a:rPr>
              <a:t>个变量。在同一优先级</a:t>
            </a:r>
            <a:r>
              <a:rPr lang="en-US" altLang="zh-CN" sz="2400" i="1">
                <a:effectLst/>
                <a:latin typeface="Times New Roman" pitchFamily="18" charset="0"/>
                <a:ea typeface="Times New Roman" pitchFamily="18" charset="0"/>
              </a:rPr>
              <a:t>p</a:t>
            </a:r>
            <a:r>
              <a:rPr lang="en-US" altLang="zh-CN" sz="2400" i="1" baseline="-25000">
                <a:effectLst/>
                <a:latin typeface="Times New Roman" pitchFamily="18" charset="0"/>
                <a:ea typeface="Times New Roman" pitchFamily="18" charset="0"/>
              </a:rPr>
              <a:t>k</a:t>
            </a:r>
            <a:r>
              <a:rPr lang="zh-CN" altLang="en-US" sz="2400">
                <a:effectLst/>
                <a:latin typeface="宋体" pitchFamily="2" charset="-122"/>
              </a:rPr>
              <a:t>中不同目标的正、负偏差变量的权系数分别为</a:t>
            </a:r>
            <a:r>
              <a:rPr lang="zh-CN" altLang="en-US" sz="2400" i="1">
                <a:effectLst/>
                <a:latin typeface="宋体" pitchFamily="2" charset="-122"/>
                <a:sym typeface="Symbol" pitchFamily="18" charset="2"/>
              </a:rPr>
              <a:t></a:t>
            </a:r>
            <a:r>
              <a:rPr lang="en-US" altLang="zh-CN" sz="2400" i="1" baseline="-25000">
                <a:effectLst/>
                <a:latin typeface="Times New Roman" pitchFamily="18" charset="0"/>
                <a:ea typeface="Times New Roman" pitchFamily="18" charset="0"/>
                <a:sym typeface="Symbol" pitchFamily="18" charset="2"/>
              </a:rPr>
              <a:t>kl</a:t>
            </a:r>
            <a:r>
              <a:rPr lang="en-US" altLang="zh-CN" sz="2400" baseline="30000">
                <a:effectLst/>
                <a:latin typeface="Times New Roman" pitchFamily="18" charset="0"/>
                <a:ea typeface="Times New Roman" pitchFamily="18" charset="0"/>
                <a:sym typeface="Symbol" pitchFamily="18" charset="2"/>
              </a:rPr>
              <a:t>+</a:t>
            </a:r>
            <a:r>
              <a:rPr lang="en-US" altLang="zh-CN" sz="2400">
                <a:effectLst/>
                <a:latin typeface="Times New Roman" pitchFamily="18" charset="0"/>
                <a:ea typeface="Times New Roman" pitchFamily="18" charset="0"/>
              </a:rPr>
              <a:t> </a:t>
            </a:r>
            <a:r>
              <a:rPr lang="zh-CN" altLang="en-US" sz="2400">
                <a:effectLst/>
                <a:latin typeface="Times New Roman" pitchFamily="18" charset="0"/>
                <a:ea typeface="Times New Roman" pitchFamily="18" charset="0"/>
              </a:rPr>
              <a:t>、</a:t>
            </a:r>
            <a:r>
              <a:rPr lang="zh-CN" altLang="en-US" sz="2400" i="1">
                <a:effectLst/>
                <a:latin typeface="Times New Roman" pitchFamily="18" charset="0"/>
                <a:ea typeface="Times New Roman" pitchFamily="18" charset="0"/>
                <a:sym typeface="Symbol" pitchFamily="18" charset="2"/>
              </a:rPr>
              <a:t></a:t>
            </a:r>
            <a:r>
              <a:rPr lang="en-US" altLang="zh-CN" sz="2400" i="1" baseline="-25000">
                <a:effectLst/>
                <a:latin typeface="Times New Roman" pitchFamily="18" charset="0"/>
                <a:ea typeface="Times New Roman" pitchFamily="18" charset="0"/>
                <a:sym typeface="Symbol" pitchFamily="18" charset="2"/>
              </a:rPr>
              <a:t>kl</a:t>
            </a:r>
            <a:r>
              <a:rPr lang="en-US" altLang="zh-CN" sz="2400" baseline="30000">
                <a:effectLst/>
                <a:latin typeface="Times New Roman" pitchFamily="18" charset="0"/>
                <a:ea typeface="Times New Roman" pitchFamily="18" charset="0"/>
                <a:sym typeface="Symbol" pitchFamily="18" charset="2"/>
              </a:rPr>
              <a:t>-</a:t>
            </a:r>
            <a:r>
              <a:rPr lang="en-US" altLang="zh-CN" sz="2400">
                <a:effectLst/>
                <a:latin typeface="Times New Roman" pitchFamily="18" charset="0"/>
                <a:ea typeface="Times New Roman" pitchFamily="18" charset="0"/>
              </a:rPr>
              <a:t> </a:t>
            </a:r>
            <a:r>
              <a:rPr lang="zh-CN" altLang="en-US" sz="2400">
                <a:effectLst/>
                <a:latin typeface="宋体" pitchFamily="2" charset="-122"/>
              </a:rPr>
              <a:t>，则多目标规划问题可以表示为：</a:t>
            </a:r>
          </a:p>
        </p:txBody>
      </p:sp>
      <p:graphicFrame>
        <p:nvGraphicFramePr>
          <p:cNvPr id="47107" name="Object 3"/>
          <p:cNvGraphicFramePr>
            <a:graphicFrameLocks noChangeAspect="1"/>
          </p:cNvGraphicFramePr>
          <p:nvPr/>
        </p:nvGraphicFramePr>
        <p:xfrm>
          <a:off x="1979612" y="2565400"/>
          <a:ext cx="4392612" cy="893762"/>
        </p:xfrm>
        <a:graphic>
          <a:graphicData uri="http://schemas.openxmlformats.org/presentationml/2006/ole">
            <mc:AlternateContent xmlns:mc="http://schemas.openxmlformats.org/markup-compatibility/2006">
              <mc:Choice xmlns:v="urn:schemas-microsoft-com:vml" Requires="v">
                <p:oleObj spid="_x0000_s1087" name="Equation" r:id="rId2" progId="Equation.3">
                  <p:embed/>
                </p:oleObj>
              </mc:Choice>
              <mc:Fallback>
                <p:oleObj spid="_x0000_s1087" name="Equation" r:id="rId2" progId="Equation.3">
                  <p:embed/>
                  <p:pic>
                    <p:nvPicPr>
                      <p:cNvPr id="0" name="OLE substitute image"/>
                      <p:cNvPicPr/>
                      <p:nvPr/>
                    </p:nvPicPr>
                    <p:blipFill>
                      <a:blip r:embed="rId3"/>
                      <a:stretch/>
                    </p:blipFill>
                    <p:spPr>
                      <a:xfrm>
                        <a:off x="1979612" y="2565400"/>
                        <a:ext cx="4392612" cy="893762"/>
                      </a:xfrm>
                      <a:prstGeom prst="rect">
                        <a:avLst/>
                      </a:prstGeom>
                      <a:noFill/>
                      <a:effectLst/>
                    </p:spPr>
                  </p:pic>
                </p:oleObj>
              </mc:Fallback>
            </mc:AlternateContent>
          </a:graphicData>
        </a:graphic>
      </p:graphicFrame>
      <p:graphicFrame>
        <p:nvGraphicFramePr>
          <p:cNvPr id="47108" name="Object 4"/>
          <p:cNvGraphicFramePr>
            <a:graphicFrameLocks noChangeAspect="1"/>
          </p:cNvGraphicFramePr>
          <p:nvPr/>
        </p:nvGraphicFramePr>
        <p:xfrm>
          <a:off x="2051050" y="3500438"/>
          <a:ext cx="4683125" cy="849312"/>
        </p:xfrm>
        <a:graphic>
          <a:graphicData uri="http://schemas.openxmlformats.org/presentationml/2006/ole">
            <mc:AlternateContent xmlns:mc="http://schemas.openxmlformats.org/markup-compatibility/2006">
              <mc:Choice xmlns:v="urn:schemas-microsoft-com:vml" Requires="v">
                <p:oleObj spid="_x0000_s1088" name="公式" r:id="rId4" progId="Equation.3">
                  <p:embed/>
                </p:oleObj>
              </mc:Choice>
              <mc:Fallback>
                <p:oleObj spid="_x0000_s1088" name="公式" r:id="rId4" progId="Equation.3">
                  <p:embed/>
                  <p:pic>
                    <p:nvPicPr>
                      <p:cNvPr id="0" name="OLE substitute image"/>
                      <p:cNvPicPr/>
                      <p:nvPr/>
                    </p:nvPicPr>
                    <p:blipFill>
                      <a:blip r:embed="rId5"/>
                      <a:stretch/>
                    </p:blipFill>
                    <p:spPr>
                      <a:xfrm>
                        <a:off x="2051050" y="3500438"/>
                        <a:ext cx="4683125" cy="849312"/>
                      </a:xfrm>
                      <a:prstGeom prst="rect">
                        <a:avLst/>
                      </a:prstGeom>
                      <a:noFill/>
                      <a:effectLst/>
                    </p:spPr>
                  </p:pic>
                </p:oleObj>
              </mc:Fallback>
            </mc:AlternateContent>
          </a:graphicData>
        </a:graphic>
      </p:graphicFrame>
      <p:graphicFrame>
        <p:nvGraphicFramePr>
          <p:cNvPr id="47109" name="Object 5"/>
          <p:cNvGraphicFramePr>
            <a:graphicFrameLocks noChangeAspect="1"/>
          </p:cNvGraphicFramePr>
          <p:nvPr/>
        </p:nvGraphicFramePr>
        <p:xfrm>
          <a:off x="2051050" y="4365625"/>
          <a:ext cx="4462462" cy="838200"/>
        </p:xfrm>
        <a:graphic>
          <a:graphicData uri="http://schemas.openxmlformats.org/presentationml/2006/ole">
            <mc:AlternateContent xmlns:mc="http://schemas.openxmlformats.org/markup-compatibility/2006">
              <mc:Choice xmlns:v="urn:schemas-microsoft-com:vml" Requires="v">
                <p:oleObj spid="_x0000_s1089" name="公式" r:id="rId6" progId="Equation.3">
                  <p:embed/>
                </p:oleObj>
              </mc:Choice>
              <mc:Fallback>
                <p:oleObj spid="_x0000_s1089" name="公式" r:id="rId6" progId="Equation.3">
                  <p:embed/>
                  <p:pic>
                    <p:nvPicPr>
                      <p:cNvPr id="0" name="OLE substitute image"/>
                      <p:cNvPicPr/>
                      <p:nvPr/>
                    </p:nvPicPr>
                    <p:blipFill>
                      <a:blip r:embed="rId7"/>
                      <a:stretch/>
                    </p:blipFill>
                    <p:spPr>
                      <a:xfrm>
                        <a:off x="2051050" y="4365625"/>
                        <a:ext cx="4462462" cy="838200"/>
                      </a:xfrm>
                      <a:prstGeom prst="rect">
                        <a:avLst/>
                      </a:prstGeom>
                      <a:noFill/>
                      <a:effectLst/>
                    </p:spPr>
                  </p:pic>
                </p:oleObj>
              </mc:Fallback>
            </mc:AlternateContent>
          </a:graphicData>
        </a:graphic>
      </p:graphicFrame>
      <p:graphicFrame>
        <p:nvGraphicFramePr>
          <p:cNvPr id="47110" name="Object 6"/>
          <p:cNvGraphicFramePr>
            <a:graphicFrameLocks noChangeAspect="1"/>
          </p:cNvGraphicFramePr>
          <p:nvPr/>
        </p:nvGraphicFramePr>
        <p:xfrm>
          <a:off x="2051050" y="5373688"/>
          <a:ext cx="4321175" cy="457200"/>
        </p:xfrm>
        <a:graphic>
          <a:graphicData uri="http://schemas.openxmlformats.org/presentationml/2006/ole">
            <mc:AlternateContent xmlns:mc="http://schemas.openxmlformats.org/markup-compatibility/2006">
              <mc:Choice xmlns:v="urn:schemas-microsoft-com:vml" Requires="v">
                <p:oleObj spid="_x0000_s1090" name="Equation" r:id="rId8" progId="Equation.DSMT4">
                  <p:embed/>
                </p:oleObj>
              </mc:Choice>
              <mc:Fallback>
                <p:oleObj spid="_x0000_s1090" name="Equation" r:id="rId8" progId="Equation.DSMT4">
                  <p:embed/>
                  <p:pic>
                    <p:nvPicPr>
                      <p:cNvPr id="0" name="OLE substitute image"/>
                      <p:cNvPicPr/>
                      <p:nvPr/>
                    </p:nvPicPr>
                    <p:blipFill>
                      <a:blip r:embed="rId9"/>
                      <a:stretch/>
                    </p:blipFill>
                    <p:spPr>
                      <a:xfrm>
                        <a:off x="2051050" y="5373688"/>
                        <a:ext cx="4321175" cy="457200"/>
                      </a:xfrm>
                      <a:prstGeom prst="rect">
                        <a:avLst/>
                      </a:prstGeom>
                      <a:noFill/>
                      <a:effectLst/>
                    </p:spPr>
                  </p:pic>
                </p:oleObj>
              </mc:Fallback>
            </mc:AlternateContent>
          </a:graphicData>
        </a:graphic>
      </p:graphicFrame>
      <p:graphicFrame>
        <p:nvGraphicFramePr>
          <p:cNvPr id="47111" name="Object 7"/>
          <p:cNvGraphicFramePr>
            <a:graphicFrameLocks noChangeAspect="1"/>
          </p:cNvGraphicFramePr>
          <p:nvPr/>
        </p:nvGraphicFramePr>
        <p:xfrm>
          <a:off x="2054225" y="5805488"/>
          <a:ext cx="3414712" cy="511175"/>
        </p:xfrm>
        <a:graphic>
          <a:graphicData uri="http://schemas.openxmlformats.org/presentationml/2006/ole">
            <mc:AlternateContent xmlns:mc="http://schemas.openxmlformats.org/markup-compatibility/2006">
              <mc:Choice xmlns:v="urn:schemas-microsoft-com:vml" Requires="v">
                <p:oleObj spid="_x0000_s1091" name="公式" r:id="rId10" progId="Equation.3">
                  <p:embed/>
                </p:oleObj>
              </mc:Choice>
              <mc:Fallback>
                <p:oleObj spid="_x0000_s1091" name="公式" r:id="rId10" progId="Equation.3">
                  <p:embed/>
                  <p:pic>
                    <p:nvPicPr>
                      <p:cNvPr id="0" name="OLE substitute image"/>
                      <p:cNvPicPr/>
                      <p:nvPr/>
                    </p:nvPicPr>
                    <p:blipFill>
                      <a:blip r:embed="rId11"/>
                      <a:stretch/>
                    </p:blipFill>
                    <p:spPr>
                      <a:xfrm>
                        <a:off x="2054225" y="5805488"/>
                        <a:ext cx="3414712" cy="511175"/>
                      </a:xfrm>
                      <a:prstGeom prst="rect">
                        <a:avLst/>
                      </a:prstGeom>
                      <a:noFill/>
                      <a:effectLst/>
                    </p:spPr>
                  </p:pic>
                </p:oleObj>
              </mc:Fallback>
            </mc:AlternateContent>
          </a:graphicData>
        </a:graphic>
      </p:graphicFrame>
      <p:sp>
        <p:nvSpPr>
          <p:cNvPr id="47112" name="Rectangle 8"/>
          <p:cNvSpPr/>
          <p:nvPr/>
        </p:nvSpPr>
        <p:spPr>
          <a:xfrm>
            <a:off x="684212" y="549275"/>
            <a:ext cx="5568163" cy="518678"/>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buFont typeface="Wingdings" pitchFamily="2" charset="2"/>
            </a:pPr>
            <a:r>
              <a:rPr kumimoji="1" lang="en-US" altLang="zh-CN" sz="2800" b="1">
                <a:effectLst/>
                <a:latin typeface="黑体" pitchFamily="49" charset="-122"/>
                <a:ea typeface="黑体" pitchFamily="49" charset="-122"/>
              </a:rPr>
              <a:t>2.</a:t>
            </a:r>
            <a:r>
              <a:rPr kumimoji="1" lang="zh-CN" altLang="en-US" sz="2800" b="1">
                <a:effectLst/>
                <a:latin typeface="黑体" pitchFamily="49" charset="-122"/>
                <a:ea typeface="黑体" pitchFamily="49" charset="-122"/>
              </a:rPr>
              <a:t>目标规划模型的一般形式 </a:t>
            </a:r>
          </a:p>
        </p:txBody>
      </p:sp>
      <p:sp>
        <p:nvSpPr>
          <p:cNvPr id="47113" name="Rectangle 9"/>
          <p:cNvSpPr/>
          <p:nvPr/>
        </p:nvSpPr>
        <p:spPr>
          <a:xfrm>
            <a:off x="7019858" y="2708275"/>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a:solidFill>
                  <a:schemeClr val="accent2"/>
                </a:solidFill>
                <a:effectLst/>
                <a:latin typeface="Times New Roman" pitchFamily="18" charset="0"/>
                <a:ea typeface="黑体" pitchFamily="49" charset="-122"/>
              </a:rPr>
              <a:t>目标函数</a:t>
            </a:r>
          </a:p>
        </p:txBody>
      </p:sp>
      <p:sp>
        <p:nvSpPr>
          <p:cNvPr id="47114" name="Rectangle 10"/>
          <p:cNvSpPr/>
          <p:nvPr/>
        </p:nvSpPr>
        <p:spPr>
          <a:xfrm>
            <a:off x="7019858" y="3644900"/>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a:solidFill>
                  <a:schemeClr val="accent2"/>
                </a:solidFill>
                <a:effectLst/>
                <a:latin typeface="Times New Roman" pitchFamily="18" charset="0"/>
                <a:ea typeface="黑体" pitchFamily="49" charset="-122"/>
              </a:rPr>
              <a:t>目标约束</a:t>
            </a:r>
          </a:p>
        </p:txBody>
      </p:sp>
      <p:sp>
        <p:nvSpPr>
          <p:cNvPr id="47115" name="Rectangle 11"/>
          <p:cNvSpPr/>
          <p:nvPr/>
        </p:nvSpPr>
        <p:spPr>
          <a:xfrm>
            <a:off x="7019858" y="4437062"/>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a:solidFill>
                  <a:schemeClr val="accent2"/>
                </a:solidFill>
                <a:effectLst/>
                <a:latin typeface="Times New Roman" pitchFamily="18" charset="0"/>
                <a:ea typeface="黑体" pitchFamily="49" charset="-122"/>
              </a:rPr>
              <a:t>绝对约束</a:t>
            </a:r>
          </a:p>
        </p:txBody>
      </p:sp>
      <p:sp>
        <p:nvSpPr>
          <p:cNvPr id="47116" name="Rectangle 12"/>
          <p:cNvSpPr/>
          <p:nvPr/>
        </p:nvSpPr>
        <p:spPr>
          <a:xfrm>
            <a:off x="6984933" y="5516562"/>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a:solidFill>
                  <a:schemeClr val="accent2"/>
                </a:solidFill>
                <a:effectLst/>
                <a:latin typeface="Times New Roman" pitchFamily="18" charset="0"/>
                <a:ea typeface="黑体" pitchFamily="49" charset="-122"/>
              </a:rPr>
              <a:t>非负约束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47106">
                                            <p:txEl>
                                              <p:charRg st="0" end="79"/>
                                            </p:txEl>
                                          </p:spTgt>
                                        </p:tgtEl>
                                        <p:attrNameLst>
                                          <p:attrName>style.visibility</p:attrName>
                                        </p:attrNameLst>
                                      </p:cBhvr>
                                      <p:to>
                                        <p:strVal val="visible"/>
                                      </p:to>
                                    </p:set>
                                    <p:animEffect transition="in" filter="wipe(left)">
                                      <p:cBhvr additive="base">
                                        <p:cTn id="7" dur="500"/>
                                        <p:tgtEl>
                                          <p:spTgt spid="47106">
                                            <p:txEl>
                                              <p:charRg st="0" end="79"/>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47107"/>
                                        </p:tgtEl>
                                        <p:attrNameLst>
                                          <p:attrName>style.visibility</p:attrName>
                                        </p:attrNameLst>
                                      </p:cBhvr>
                                      <p:to>
                                        <p:strVal val="visible"/>
                                      </p:to>
                                    </p:set>
                                    <p:animEffect transition="in" filter="wipe(left)">
                                      <p:cBhvr additive="base">
                                        <p:cTn id="13" dur="500"/>
                                        <p:tgtEl>
                                          <p:spTgt spid="47107"/>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grpId="1" nodeType="clickEffect">
                                  <p:stCondLst>
                                    <p:cond delay="-9223372036854775808"/>
                                  </p:stCondLst>
                                  <p:childTnLst>
                                    <p:set>
                                      <p:cBhvr additive="base">
                                        <p:cTn id="18" dur="1" fill="hold">
                                          <p:stCondLst>
                                            <p:cond delay="0"/>
                                          </p:stCondLst>
                                        </p:cTn>
                                        <p:tgtEl>
                                          <p:spTgt spid="47113"/>
                                        </p:tgtEl>
                                        <p:attrNameLst>
                                          <p:attrName>style.visibility</p:attrName>
                                        </p:attrNameLst>
                                      </p:cBhvr>
                                      <p:to>
                                        <p:strVal val="visible"/>
                                      </p:to>
                                    </p:set>
                                    <p:animEffect transition="in" filter="wipe(left)">
                                      <p:cBhvr additive="base">
                                        <p:cTn id="19" dur="500"/>
                                        <p:tgtEl>
                                          <p:spTgt spid="47113"/>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8" fill="hold" nodeType="clickEffect">
                                  <p:stCondLst>
                                    <p:cond delay="-9223372036854775808"/>
                                  </p:stCondLst>
                                  <p:childTnLst>
                                    <p:set>
                                      <p:cBhvr additive="base">
                                        <p:cTn id="24" dur="1" fill="hold">
                                          <p:stCondLst>
                                            <p:cond delay="0"/>
                                          </p:stCondLst>
                                        </p:cTn>
                                        <p:tgtEl>
                                          <p:spTgt spid="47108"/>
                                        </p:tgtEl>
                                        <p:attrNameLst>
                                          <p:attrName>style.visibility</p:attrName>
                                        </p:attrNameLst>
                                      </p:cBhvr>
                                      <p:to>
                                        <p:strVal val="visible"/>
                                      </p:to>
                                    </p:set>
                                    <p:animEffect transition="in" filter="wipe(left)">
                                      <p:cBhvr additive="base">
                                        <p:cTn id="25" dur="500"/>
                                        <p:tgtEl>
                                          <p:spTgt spid="47108"/>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22" presetClass="entr" presetSubtype="8" fill="hold" grpId="2" nodeType="clickEffect">
                                  <p:stCondLst>
                                    <p:cond delay="-9223372036854775808"/>
                                  </p:stCondLst>
                                  <p:childTnLst>
                                    <p:set>
                                      <p:cBhvr additive="base">
                                        <p:cTn id="30" dur="1" fill="hold">
                                          <p:stCondLst>
                                            <p:cond delay="0"/>
                                          </p:stCondLst>
                                        </p:cTn>
                                        <p:tgtEl>
                                          <p:spTgt spid="47114"/>
                                        </p:tgtEl>
                                        <p:attrNameLst>
                                          <p:attrName>style.visibility</p:attrName>
                                        </p:attrNameLst>
                                      </p:cBhvr>
                                      <p:to>
                                        <p:strVal val="visible"/>
                                      </p:to>
                                    </p:set>
                                    <p:animEffect transition="in" filter="wipe(left)">
                                      <p:cBhvr additive="base">
                                        <p:cTn id="31" dur="500"/>
                                        <p:tgtEl>
                                          <p:spTgt spid="47114"/>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22" presetClass="entr" presetSubtype="8" fill="hold" nodeType="clickEffect">
                                  <p:stCondLst>
                                    <p:cond delay="-9223372036854775808"/>
                                  </p:stCondLst>
                                  <p:childTnLst>
                                    <p:set>
                                      <p:cBhvr additive="base">
                                        <p:cTn id="36" dur="1" fill="hold">
                                          <p:stCondLst>
                                            <p:cond delay="0"/>
                                          </p:stCondLst>
                                        </p:cTn>
                                        <p:tgtEl>
                                          <p:spTgt spid="47109"/>
                                        </p:tgtEl>
                                        <p:attrNameLst>
                                          <p:attrName>style.visibility</p:attrName>
                                        </p:attrNameLst>
                                      </p:cBhvr>
                                      <p:to>
                                        <p:strVal val="visible"/>
                                      </p:to>
                                    </p:set>
                                    <p:animEffect transition="in" filter="wipe(left)">
                                      <p:cBhvr additive="base">
                                        <p:cTn id="37" dur="500"/>
                                        <p:tgtEl>
                                          <p:spTgt spid="47109"/>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22" presetClass="entr" presetSubtype="8" fill="hold" grpId="3" nodeType="clickEffect">
                                  <p:stCondLst>
                                    <p:cond delay="-9223372036854775808"/>
                                  </p:stCondLst>
                                  <p:childTnLst>
                                    <p:set>
                                      <p:cBhvr additive="base">
                                        <p:cTn id="42" dur="1" fill="hold">
                                          <p:stCondLst>
                                            <p:cond delay="0"/>
                                          </p:stCondLst>
                                        </p:cTn>
                                        <p:tgtEl>
                                          <p:spTgt spid="47115"/>
                                        </p:tgtEl>
                                        <p:attrNameLst>
                                          <p:attrName>style.visibility</p:attrName>
                                        </p:attrNameLst>
                                      </p:cBhvr>
                                      <p:to>
                                        <p:strVal val="visible"/>
                                      </p:to>
                                    </p:set>
                                    <p:animEffect transition="in" filter="wipe(left)">
                                      <p:cBhvr additive="base">
                                        <p:cTn id="43" dur="500"/>
                                        <p:tgtEl>
                                          <p:spTgt spid="47115"/>
                                        </p:tgtEl>
                                      </p:cBhvr>
                                    </p:animEffect>
                                  </p:child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22" presetClass="entr" presetSubtype="8" fill="hold" nodeType="clickEffect">
                                  <p:stCondLst>
                                    <p:cond delay="-9223372036854775808"/>
                                  </p:stCondLst>
                                  <p:childTnLst>
                                    <p:set>
                                      <p:cBhvr additive="base">
                                        <p:cTn id="48" dur="1" fill="hold">
                                          <p:stCondLst>
                                            <p:cond delay="0"/>
                                          </p:stCondLst>
                                        </p:cTn>
                                        <p:tgtEl>
                                          <p:spTgt spid="47110"/>
                                        </p:tgtEl>
                                        <p:attrNameLst>
                                          <p:attrName>style.visibility</p:attrName>
                                        </p:attrNameLst>
                                      </p:cBhvr>
                                      <p:to>
                                        <p:strVal val="visible"/>
                                      </p:to>
                                    </p:set>
                                    <p:animEffect transition="in" filter="wipe(left)">
                                      <p:cBhvr additive="base">
                                        <p:cTn id="49" dur="500"/>
                                        <p:tgtEl>
                                          <p:spTgt spid="47110"/>
                                        </p:tgtEl>
                                      </p:cBhvr>
                                    </p:animEffect>
                                  </p:childTnLst>
                                </p:cTn>
                              </p:par>
                            </p:childTnLst>
                          </p:cTn>
                        </p:par>
                      </p:childTnLst>
                    </p:cTn>
                  </p:par>
                  <p:par>
                    <p:cTn id="50" fill="hold">
                      <p:stCondLst>
                        <p:cond delay="indefinite"/>
                      </p:stCondLst>
                      <p:childTnLst>
                        <p:par>
                          <p:cTn id="51" fill="hold">
                            <p:stCondLst>
                              <p:cond delay="indefinite"/>
                            </p:stCondLst>
                          </p:cTn>
                        </p:par>
                        <p:par>
                          <p:cTn id="52" fill="hold">
                            <p:stCondLst>
                              <p:cond delay="0"/>
                            </p:stCondLst>
                            <p:childTnLst>
                              <p:par>
                                <p:cTn id="53" presetID="22" presetClass="entr" presetSubtype="8" fill="hold" nodeType="clickEffect">
                                  <p:stCondLst>
                                    <p:cond delay="-9223372036854775808"/>
                                  </p:stCondLst>
                                  <p:childTnLst>
                                    <p:set>
                                      <p:cBhvr additive="base">
                                        <p:cTn id="54" dur="1" fill="hold">
                                          <p:stCondLst>
                                            <p:cond delay="0"/>
                                          </p:stCondLst>
                                        </p:cTn>
                                        <p:tgtEl>
                                          <p:spTgt spid="47111"/>
                                        </p:tgtEl>
                                        <p:attrNameLst>
                                          <p:attrName>style.visibility</p:attrName>
                                        </p:attrNameLst>
                                      </p:cBhvr>
                                      <p:to>
                                        <p:strVal val="visible"/>
                                      </p:to>
                                    </p:set>
                                    <p:animEffect transition="in" filter="wipe(left)">
                                      <p:cBhvr additive="base">
                                        <p:cTn id="55" dur="500"/>
                                        <p:tgtEl>
                                          <p:spTgt spid="47111"/>
                                        </p:tgtEl>
                                      </p:cBhvr>
                                    </p:animEffect>
                                  </p:childTnLst>
                                </p:cTn>
                              </p:par>
                            </p:childTnLst>
                          </p:cTn>
                        </p:par>
                      </p:childTnLst>
                    </p:cTn>
                  </p:par>
                  <p:par>
                    <p:cTn id="56" fill="hold">
                      <p:stCondLst>
                        <p:cond delay="indefinite"/>
                      </p:stCondLst>
                      <p:childTnLst>
                        <p:par>
                          <p:cTn id="57" fill="hold">
                            <p:stCondLst>
                              <p:cond delay="indefinite"/>
                            </p:stCondLst>
                          </p:cTn>
                        </p:par>
                        <p:par>
                          <p:cTn id="58" fill="hold">
                            <p:stCondLst>
                              <p:cond delay="0"/>
                            </p:stCondLst>
                            <p:childTnLst>
                              <p:par>
                                <p:cTn id="59" presetID="22" presetClass="entr" presetSubtype="8" fill="hold" grpId="4" nodeType="clickEffect">
                                  <p:stCondLst>
                                    <p:cond delay="-9223372036854775808"/>
                                  </p:stCondLst>
                                  <p:childTnLst>
                                    <p:set>
                                      <p:cBhvr additive="base">
                                        <p:cTn id="60" dur="1" fill="hold">
                                          <p:stCondLst>
                                            <p:cond delay="0"/>
                                          </p:stCondLst>
                                        </p:cTn>
                                        <p:tgtEl>
                                          <p:spTgt spid="47116"/>
                                        </p:tgtEl>
                                        <p:attrNameLst>
                                          <p:attrName>style.visibility</p:attrName>
                                        </p:attrNameLst>
                                      </p:cBhvr>
                                      <p:to>
                                        <p:strVal val="visible"/>
                                      </p:to>
                                    </p:set>
                                    <p:animEffect transition="in" filter="wipe(left)">
                                      <p:cBhvr additive="base">
                                        <p:cTn id="61" dur="500"/>
                                        <p:tgtEl>
                                          <p:spTgt spid="47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uild="p"/>
      <p:bldP spid="47113" grpId="1"/>
      <p:bldP spid="47114" grpId="2"/>
      <p:bldP spid="47115" grpId="3"/>
      <p:bldP spid="47116" grpId="4"/>
    </p:bldLst>
  </p:timing>
</p:sld>
</file>

<file path=ppt/slides/slide4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8130" name="Rectangle 2"/>
          <p:cNvSpPr>
            <a:spLocks noChangeArrowheads="1"/>
          </p:cNvSpPr>
          <p:nvPr/>
        </p:nvSpPr>
        <p:spPr>
          <a:xfrm>
            <a:off x="323850" y="3803650"/>
            <a:ext cx="8360190" cy="1848935"/>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20000"/>
              </a:lnSpc>
            </a:pPr>
            <a:r>
              <a:rPr kumimoji="1" lang="zh-CN" altLang="en-US" sz="2400">
                <a:effectLst/>
                <a:latin typeface="宋体" pitchFamily="2" charset="-122"/>
              </a:rPr>
              <a:t>在以上各式中，</a:t>
            </a:r>
            <a:r>
              <a:rPr kumimoji="1" lang="zh-CN" altLang="en-US" sz="2400" b="1" i="1">
                <a:effectLst/>
                <a:latin typeface="Times New Roman" pitchFamily="18" charset="0"/>
                <a:ea typeface="黑体" pitchFamily="49" charset="-122"/>
                <a:sym typeface="Symbol" pitchFamily="18" charset="2"/>
              </a:rPr>
              <a:t></a:t>
            </a:r>
            <a:r>
              <a:rPr kumimoji="1" lang="en-US" altLang="zh-CN" sz="2400" b="1" i="1" baseline="-25000">
                <a:effectLst/>
                <a:latin typeface="Times New Roman" pitchFamily="18" charset="0"/>
                <a:ea typeface="黑体" pitchFamily="49" charset="-122"/>
                <a:sym typeface="Symbol" pitchFamily="18" charset="2"/>
              </a:rPr>
              <a:t>kl</a:t>
            </a:r>
            <a:r>
              <a:rPr kumimoji="1" lang="en-US" altLang="zh-CN" sz="2400" b="1" baseline="30000">
                <a:effectLst/>
                <a:latin typeface="Times New Roman" pitchFamily="18" charset="0"/>
                <a:ea typeface="黑体" pitchFamily="49" charset="-122"/>
                <a:sym typeface="Symbol" pitchFamily="18" charset="2"/>
              </a:rPr>
              <a:t>+</a:t>
            </a:r>
            <a:r>
              <a:rPr kumimoji="1" lang="en-US" altLang="zh-CN" sz="2400" b="1">
                <a:effectLst/>
                <a:latin typeface="Times New Roman" pitchFamily="18" charset="0"/>
                <a:ea typeface="黑体" pitchFamily="49" charset="-122"/>
              </a:rPr>
              <a:t> </a:t>
            </a:r>
            <a:r>
              <a:rPr kumimoji="1" lang="zh-CN" altLang="en-US" sz="2400" b="1">
                <a:effectLst/>
                <a:latin typeface="Times New Roman" pitchFamily="18" charset="0"/>
                <a:ea typeface="黑体" pitchFamily="49" charset="-122"/>
              </a:rPr>
              <a:t>、</a:t>
            </a:r>
            <a:r>
              <a:rPr kumimoji="1" lang="zh-CN" altLang="en-US" sz="2400" b="1" i="1">
                <a:effectLst/>
                <a:latin typeface="Times New Roman" pitchFamily="18" charset="0"/>
                <a:ea typeface="黑体" pitchFamily="49" charset="-122"/>
                <a:sym typeface="Symbol" pitchFamily="18" charset="2"/>
              </a:rPr>
              <a:t></a:t>
            </a:r>
            <a:r>
              <a:rPr kumimoji="1" lang="en-US" altLang="zh-CN" sz="2400" b="1" i="1" baseline="-25000">
                <a:effectLst/>
                <a:latin typeface="Times New Roman" pitchFamily="18" charset="0"/>
                <a:ea typeface="黑体" pitchFamily="49" charset="-122"/>
                <a:sym typeface="Symbol" pitchFamily="18" charset="2"/>
              </a:rPr>
              <a:t>kl</a:t>
            </a:r>
            <a:r>
              <a:rPr kumimoji="1" lang="en-US" altLang="zh-CN" sz="2400" b="1" baseline="30000">
                <a:effectLst/>
                <a:latin typeface="Times New Roman" pitchFamily="18" charset="0"/>
                <a:ea typeface="黑体" pitchFamily="49" charset="-122"/>
                <a:sym typeface="Symbol" pitchFamily="18" charset="2"/>
              </a:rPr>
              <a:t>-</a:t>
            </a:r>
            <a:r>
              <a:rPr kumimoji="1" lang="en-US" altLang="zh-CN" sz="2400" b="1">
                <a:effectLst/>
                <a:latin typeface="Times New Roman" pitchFamily="18" charset="0"/>
                <a:ea typeface="黑体" pitchFamily="49" charset="-122"/>
              </a:rPr>
              <a:t> </a:t>
            </a:r>
            <a:r>
              <a:rPr kumimoji="1" lang="zh-CN" altLang="en-US" sz="2400">
                <a:effectLst/>
                <a:latin typeface="宋体" pitchFamily="2" charset="-122"/>
              </a:rPr>
              <a:t>分别为赋予</a:t>
            </a:r>
            <a:r>
              <a:rPr kumimoji="1" lang="en-US" altLang="zh-CN" sz="2400" i="1">
                <a:effectLst/>
                <a:latin typeface="Times New Roman" pitchFamily="18" charset="0"/>
                <a:ea typeface="Times New Roman" pitchFamily="18" charset="0"/>
              </a:rPr>
              <a:t>p</a:t>
            </a:r>
            <a:r>
              <a:rPr kumimoji="1" lang="en-US" altLang="zh-CN" sz="2400" i="1" baseline="-25000">
                <a:effectLst/>
                <a:latin typeface="Times New Roman" pitchFamily="18" charset="0"/>
                <a:ea typeface="Times New Roman" pitchFamily="18" charset="0"/>
              </a:rPr>
              <a:t>l</a:t>
            </a:r>
            <a:r>
              <a:rPr kumimoji="1" lang="zh-CN" altLang="en-US" sz="2400">
                <a:effectLst/>
                <a:latin typeface="宋体" pitchFamily="2" charset="-122"/>
              </a:rPr>
              <a:t>优先因子的第 </a:t>
            </a:r>
            <a:r>
              <a:rPr kumimoji="1" lang="en-US" altLang="zh-CN" sz="2400" i="1">
                <a:effectLst/>
                <a:latin typeface="Times New Roman" pitchFamily="18" charset="0"/>
                <a:ea typeface="Times New Roman" pitchFamily="18" charset="0"/>
              </a:rPr>
              <a:t>k</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个目标的正、负偏差变量的权系数</a:t>
            </a:r>
            <a:r>
              <a:rPr kumimoji="1" lang="zh-CN" altLang="en-US" sz="2400" b="1">
                <a:effectLst/>
                <a:latin typeface="Times New Roman" pitchFamily="18" charset="0"/>
                <a:ea typeface="黑体" pitchFamily="49" charset="-122"/>
              </a:rPr>
              <a:t>，</a:t>
            </a:r>
            <a:r>
              <a:rPr kumimoji="1" lang="en-US" altLang="zh-CN" sz="2400" i="1">
                <a:effectLst/>
                <a:latin typeface="Times New Roman" pitchFamily="18" charset="0"/>
                <a:ea typeface="Times New Roman" pitchFamily="18" charset="0"/>
              </a:rPr>
              <a:t>g</a:t>
            </a:r>
            <a:r>
              <a:rPr kumimoji="1" lang="en-US" altLang="zh-CN" sz="2400" i="1" baseline="-25000">
                <a:effectLst/>
                <a:latin typeface="Times New Roman" pitchFamily="18" charset="0"/>
                <a:ea typeface="Times New Roman" pitchFamily="18" charset="0"/>
              </a:rPr>
              <a:t>k</a:t>
            </a:r>
            <a:r>
              <a:rPr kumimoji="1" lang="zh-CN" altLang="en-US" sz="2400">
                <a:effectLst/>
                <a:latin typeface="宋体" pitchFamily="2" charset="-122"/>
              </a:rPr>
              <a:t>为</a:t>
            </a:r>
            <a:r>
              <a:rPr kumimoji="1" lang="zh-CN" altLang="en-US" sz="2400">
                <a:effectLst/>
                <a:latin typeface="Times New Roman" pitchFamily="18" charset="0"/>
                <a:ea typeface="Times New Roman" pitchFamily="18" charset="0"/>
              </a:rPr>
              <a:t>第 </a:t>
            </a:r>
            <a:r>
              <a:rPr kumimoji="1" lang="en-US" altLang="zh-CN" sz="2400" i="1">
                <a:effectLst/>
                <a:latin typeface="Times New Roman" pitchFamily="18" charset="0"/>
                <a:ea typeface="Times New Roman" pitchFamily="18" charset="0"/>
              </a:rPr>
              <a:t>k</a:t>
            </a:r>
            <a:r>
              <a:rPr kumimoji="1" lang="zh-CN" altLang="en-US" sz="2400">
                <a:effectLst/>
                <a:latin typeface="Times New Roman" pitchFamily="18" charset="0"/>
                <a:ea typeface="Times New Roman" pitchFamily="18" charset="0"/>
              </a:rPr>
              <a:t>个</a:t>
            </a:r>
            <a:r>
              <a:rPr kumimoji="1" lang="zh-CN" altLang="en-US" sz="2400">
                <a:effectLst/>
                <a:latin typeface="宋体" pitchFamily="2" charset="-122"/>
              </a:rPr>
              <a:t>目标的预期值，</a:t>
            </a:r>
            <a:r>
              <a:rPr kumimoji="1" lang="en-US" altLang="zh-CN" sz="2400" i="1">
                <a:effectLst/>
                <a:latin typeface="Times New Roman" pitchFamily="18" charset="0"/>
                <a:ea typeface="Times New Roman" pitchFamily="18" charset="0"/>
              </a:rPr>
              <a:t>x</a:t>
            </a:r>
            <a:r>
              <a:rPr kumimoji="1" lang="en-US" altLang="zh-CN" sz="2400" i="1" baseline="-25000">
                <a:effectLst/>
                <a:latin typeface="Times New Roman" pitchFamily="18" charset="0"/>
                <a:ea typeface="Times New Roman" pitchFamily="18" charset="0"/>
              </a:rPr>
              <a:t>j</a:t>
            </a:r>
            <a:r>
              <a:rPr kumimoji="1" lang="zh-CN" altLang="en-US" sz="2400">
                <a:effectLst/>
                <a:latin typeface="宋体" pitchFamily="2" charset="-122"/>
              </a:rPr>
              <a:t>为决策变量，</a:t>
            </a:r>
            <a:r>
              <a:rPr kumimoji="1" lang="en-US" altLang="zh-CN" sz="2400" i="1">
                <a:effectLst/>
                <a:latin typeface="Times New Roman" pitchFamily="18" charset="0"/>
                <a:ea typeface="Times New Roman" pitchFamily="18" charset="0"/>
                <a:sym typeface="Symbol" pitchFamily="18" charset="2"/>
              </a:rPr>
              <a:t>d</a:t>
            </a:r>
            <a:r>
              <a:rPr kumimoji="1" lang="en-US" altLang="zh-CN" sz="2400" i="1" baseline="-25000">
                <a:effectLst/>
                <a:latin typeface="Times New Roman" pitchFamily="18" charset="0"/>
                <a:ea typeface="Times New Roman" pitchFamily="18" charset="0"/>
                <a:sym typeface="Symbol" pitchFamily="18" charset="2"/>
              </a:rPr>
              <a:t>k</a:t>
            </a:r>
            <a:r>
              <a:rPr kumimoji="1" lang="en-US" altLang="zh-CN" sz="2400" baseline="30000">
                <a:effectLst/>
                <a:latin typeface="Times New Roman" pitchFamily="18" charset="0"/>
                <a:ea typeface="Times New Roman" pitchFamily="18" charset="0"/>
                <a:sym typeface="Symbol" pitchFamily="18" charset="2"/>
              </a:rPr>
              <a:t>+</a:t>
            </a:r>
            <a:r>
              <a:rPr kumimoji="1" lang="en-US" altLang="zh-CN" sz="2400">
                <a:effectLst/>
                <a:latin typeface="Times New Roman" pitchFamily="18" charset="0"/>
                <a:ea typeface="Times New Roman" pitchFamily="18" charset="0"/>
              </a:rPr>
              <a:t> </a:t>
            </a:r>
            <a:r>
              <a:rPr kumimoji="1" lang="zh-CN" altLang="en-US"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sym typeface="Symbol" pitchFamily="18" charset="2"/>
              </a:rPr>
              <a:t>d</a:t>
            </a:r>
            <a:r>
              <a:rPr kumimoji="1" lang="en-US" altLang="zh-CN" sz="2400" i="1" baseline="-25000">
                <a:effectLst/>
                <a:latin typeface="Times New Roman" pitchFamily="18" charset="0"/>
                <a:ea typeface="Times New Roman" pitchFamily="18" charset="0"/>
                <a:sym typeface="Symbol" pitchFamily="18" charset="2"/>
              </a:rPr>
              <a:t>k</a:t>
            </a:r>
            <a:r>
              <a:rPr kumimoji="1" lang="en-US" altLang="zh-CN" sz="2400" baseline="30000">
                <a:effectLst/>
                <a:latin typeface="Times New Roman" pitchFamily="18" charset="0"/>
                <a:ea typeface="Times New Roman" pitchFamily="18" charset="0"/>
                <a:sym typeface="Symbol" pitchFamily="18" charset="2"/>
              </a:rPr>
              <a:t>-</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分别为第 </a:t>
            </a:r>
            <a:r>
              <a:rPr kumimoji="1" lang="en-US" altLang="zh-CN" sz="2400" i="1">
                <a:effectLst/>
                <a:latin typeface="Times New Roman" pitchFamily="18" charset="0"/>
                <a:ea typeface="Times New Roman" pitchFamily="18" charset="0"/>
              </a:rPr>
              <a:t>k </a:t>
            </a:r>
            <a:r>
              <a:rPr kumimoji="1" lang="zh-CN" altLang="en-US" sz="2400">
                <a:effectLst/>
                <a:latin typeface="宋体" pitchFamily="2" charset="-122"/>
              </a:rPr>
              <a:t>个目标的正、负偏差变量。</a:t>
            </a:r>
          </a:p>
        </p:txBody>
      </p:sp>
      <p:sp>
        <p:nvSpPr>
          <p:cNvPr id="48131" name="Rectangle 3"/>
          <p:cNvSpPr/>
          <p:nvPr/>
        </p:nvSpPr>
        <p:spPr>
          <a:xfrm>
            <a:off x="6948422" y="260350"/>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b="1">
                <a:solidFill>
                  <a:schemeClr val="accent2"/>
                </a:solidFill>
                <a:effectLst/>
                <a:latin typeface="Times New Roman" pitchFamily="18" charset="0"/>
                <a:ea typeface="黑体" pitchFamily="49" charset="-122"/>
              </a:rPr>
              <a:t>目标函数</a:t>
            </a:r>
          </a:p>
        </p:txBody>
      </p:sp>
      <p:sp>
        <p:nvSpPr>
          <p:cNvPr id="48132" name="Rectangle 4"/>
          <p:cNvSpPr/>
          <p:nvPr/>
        </p:nvSpPr>
        <p:spPr>
          <a:xfrm>
            <a:off x="6948422" y="1052512"/>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b="1">
                <a:solidFill>
                  <a:schemeClr val="accent2"/>
                </a:solidFill>
                <a:effectLst/>
                <a:latin typeface="Times New Roman" pitchFamily="18" charset="0"/>
                <a:ea typeface="黑体" pitchFamily="49" charset="-122"/>
              </a:rPr>
              <a:t>目标约束</a:t>
            </a:r>
          </a:p>
        </p:txBody>
      </p:sp>
      <p:sp>
        <p:nvSpPr>
          <p:cNvPr id="48133" name="Rectangle 5"/>
          <p:cNvSpPr/>
          <p:nvPr/>
        </p:nvSpPr>
        <p:spPr>
          <a:xfrm>
            <a:off x="6948422" y="1916112"/>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b="1">
                <a:solidFill>
                  <a:schemeClr val="accent2"/>
                </a:solidFill>
                <a:effectLst/>
                <a:latin typeface="Times New Roman" pitchFamily="18" charset="0"/>
                <a:ea typeface="黑体" pitchFamily="49" charset="-122"/>
              </a:rPr>
              <a:t>绝对约束</a:t>
            </a:r>
          </a:p>
        </p:txBody>
      </p:sp>
      <p:sp>
        <p:nvSpPr>
          <p:cNvPr id="48134" name="Rectangle 6"/>
          <p:cNvSpPr/>
          <p:nvPr/>
        </p:nvSpPr>
        <p:spPr>
          <a:xfrm>
            <a:off x="6948422" y="2925762"/>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b="1">
                <a:solidFill>
                  <a:schemeClr val="accent2"/>
                </a:solidFill>
                <a:effectLst/>
                <a:latin typeface="Times New Roman" pitchFamily="18" charset="0"/>
                <a:ea typeface="黑体" pitchFamily="49" charset="-122"/>
              </a:rPr>
              <a:t>非负约束</a:t>
            </a:r>
          </a:p>
        </p:txBody>
      </p:sp>
      <p:graphicFrame>
        <p:nvGraphicFramePr>
          <p:cNvPr id="48135" name="Object 7"/>
          <p:cNvGraphicFramePr>
            <a:graphicFrameLocks noChangeAspect="1"/>
          </p:cNvGraphicFramePr>
          <p:nvPr/>
        </p:nvGraphicFramePr>
        <p:xfrm>
          <a:off x="1476375" y="188912"/>
          <a:ext cx="4608512" cy="842962"/>
        </p:xfrm>
        <a:graphic>
          <a:graphicData uri="http://schemas.openxmlformats.org/presentationml/2006/ole">
            <mc:AlternateContent xmlns:mc="http://schemas.openxmlformats.org/markup-compatibility/2006">
              <mc:Choice xmlns:v="urn:schemas-microsoft-com:vml" Requires="v">
                <p:oleObj spid="_x0000_s1092" name="Equation" r:id="rId2" progId="Equation.3">
                  <p:embed/>
                </p:oleObj>
              </mc:Choice>
              <mc:Fallback>
                <p:oleObj spid="_x0000_s1092" name="Equation" r:id="rId2" progId="Equation.3">
                  <p:embed/>
                  <p:pic>
                    <p:nvPicPr>
                      <p:cNvPr id="0" name="OLE substitute image"/>
                      <p:cNvPicPr/>
                      <p:nvPr/>
                    </p:nvPicPr>
                    <p:blipFill>
                      <a:blip r:embed="rId3"/>
                      <a:stretch/>
                    </p:blipFill>
                    <p:spPr>
                      <a:xfrm>
                        <a:off x="1476375" y="188912"/>
                        <a:ext cx="4608512" cy="842962"/>
                      </a:xfrm>
                      <a:prstGeom prst="rect">
                        <a:avLst/>
                      </a:prstGeom>
                      <a:noFill/>
                      <a:effectLst/>
                    </p:spPr>
                  </p:pic>
                </p:oleObj>
              </mc:Fallback>
            </mc:AlternateContent>
          </a:graphicData>
        </a:graphic>
      </p:graphicFrame>
      <p:graphicFrame>
        <p:nvGraphicFramePr>
          <p:cNvPr id="48136" name="Object 8"/>
          <p:cNvGraphicFramePr>
            <a:graphicFrameLocks noChangeAspect="1"/>
          </p:cNvGraphicFramePr>
          <p:nvPr/>
        </p:nvGraphicFramePr>
        <p:xfrm>
          <a:off x="1763712" y="995362"/>
          <a:ext cx="4683125" cy="849312"/>
        </p:xfrm>
        <a:graphic>
          <a:graphicData uri="http://schemas.openxmlformats.org/presentationml/2006/ole">
            <mc:AlternateContent xmlns:mc="http://schemas.openxmlformats.org/markup-compatibility/2006">
              <mc:Choice xmlns:v="urn:schemas-microsoft-com:vml" Requires="v">
                <p:oleObj spid="_x0000_s1093" name="公式" r:id="rId4" progId="Equation.3">
                  <p:embed/>
                </p:oleObj>
              </mc:Choice>
              <mc:Fallback>
                <p:oleObj spid="_x0000_s1093" name="公式" r:id="rId4" progId="Equation.3">
                  <p:embed/>
                  <p:pic>
                    <p:nvPicPr>
                      <p:cNvPr id="0" name="OLE substitute image"/>
                      <p:cNvPicPr/>
                      <p:nvPr/>
                    </p:nvPicPr>
                    <p:blipFill>
                      <a:blip r:embed="rId5"/>
                      <a:stretch/>
                    </p:blipFill>
                    <p:spPr>
                      <a:xfrm>
                        <a:off x="1763712" y="995362"/>
                        <a:ext cx="4683125" cy="849312"/>
                      </a:xfrm>
                      <a:prstGeom prst="rect">
                        <a:avLst/>
                      </a:prstGeom>
                      <a:noFill/>
                      <a:effectLst/>
                    </p:spPr>
                  </p:pic>
                </p:oleObj>
              </mc:Fallback>
            </mc:AlternateContent>
          </a:graphicData>
        </a:graphic>
      </p:graphicFrame>
      <p:graphicFrame>
        <p:nvGraphicFramePr>
          <p:cNvPr id="48137" name="Object 9"/>
          <p:cNvGraphicFramePr>
            <a:graphicFrameLocks noChangeAspect="1"/>
          </p:cNvGraphicFramePr>
          <p:nvPr/>
        </p:nvGraphicFramePr>
        <p:xfrm>
          <a:off x="1763712" y="1870075"/>
          <a:ext cx="4462462" cy="838200"/>
        </p:xfrm>
        <a:graphic>
          <a:graphicData uri="http://schemas.openxmlformats.org/presentationml/2006/ole">
            <mc:AlternateContent xmlns:mc="http://schemas.openxmlformats.org/markup-compatibility/2006">
              <mc:Choice xmlns:v="urn:schemas-microsoft-com:vml" Requires="v">
                <p:oleObj spid="_x0000_s1094" name="公式" r:id="rId6" progId="Equation.3">
                  <p:embed/>
                </p:oleObj>
              </mc:Choice>
              <mc:Fallback>
                <p:oleObj spid="_x0000_s1094" name="公式" r:id="rId6" progId="Equation.3">
                  <p:embed/>
                  <p:pic>
                    <p:nvPicPr>
                      <p:cNvPr id="0" name="OLE substitute image"/>
                      <p:cNvPicPr/>
                      <p:nvPr/>
                    </p:nvPicPr>
                    <p:blipFill>
                      <a:blip r:embed="rId7"/>
                      <a:stretch/>
                    </p:blipFill>
                    <p:spPr>
                      <a:xfrm>
                        <a:off x="1763712" y="1870075"/>
                        <a:ext cx="4462462" cy="838200"/>
                      </a:xfrm>
                      <a:prstGeom prst="rect">
                        <a:avLst/>
                      </a:prstGeom>
                      <a:noFill/>
                      <a:effectLst/>
                    </p:spPr>
                  </p:pic>
                </p:oleObj>
              </mc:Fallback>
            </mc:AlternateContent>
          </a:graphicData>
        </a:graphic>
      </p:graphicFrame>
      <p:graphicFrame>
        <p:nvGraphicFramePr>
          <p:cNvPr id="48138" name="Object 10"/>
          <p:cNvGraphicFramePr>
            <a:graphicFrameLocks noChangeAspect="1"/>
          </p:cNvGraphicFramePr>
          <p:nvPr/>
        </p:nvGraphicFramePr>
        <p:xfrm>
          <a:off x="1763712" y="2781300"/>
          <a:ext cx="4321175" cy="457200"/>
        </p:xfrm>
        <a:graphic>
          <a:graphicData uri="http://schemas.openxmlformats.org/presentationml/2006/ole">
            <mc:AlternateContent xmlns:mc="http://schemas.openxmlformats.org/markup-compatibility/2006">
              <mc:Choice xmlns:v="urn:schemas-microsoft-com:vml" Requires="v">
                <p:oleObj spid="_x0000_s1095" name="公式" r:id="rId8" progId="Equation.3">
                  <p:embed/>
                </p:oleObj>
              </mc:Choice>
              <mc:Fallback>
                <p:oleObj spid="_x0000_s1095" name="公式" r:id="rId8" progId="Equation.3">
                  <p:embed/>
                  <p:pic>
                    <p:nvPicPr>
                      <p:cNvPr id="0" name="OLE substitute image"/>
                      <p:cNvPicPr/>
                      <p:nvPr/>
                    </p:nvPicPr>
                    <p:blipFill>
                      <a:blip r:embed="rId9"/>
                      <a:stretch/>
                    </p:blipFill>
                    <p:spPr>
                      <a:xfrm>
                        <a:off x="1763712" y="2781300"/>
                        <a:ext cx="4321175" cy="457200"/>
                      </a:xfrm>
                      <a:prstGeom prst="rect">
                        <a:avLst/>
                      </a:prstGeom>
                      <a:noFill/>
                      <a:effectLst/>
                    </p:spPr>
                  </p:pic>
                </p:oleObj>
              </mc:Fallback>
            </mc:AlternateContent>
          </a:graphicData>
        </a:graphic>
      </p:graphicFrame>
      <p:graphicFrame>
        <p:nvGraphicFramePr>
          <p:cNvPr id="48139" name="Object 11"/>
          <p:cNvGraphicFramePr>
            <a:graphicFrameLocks noChangeAspect="1"/>
          </p:cNvGraphicFramePr>
          <p:nvPr/>
        </p:nvGraphicFramePr>
        <p:xfrm>
          <a:off x="1766888" y="3213100"/>
          <a:ext cx="3414712" cy="511175"/>
        </p:xfrm>
        <a:graphic>
          <a:graphicData uri="http://schemas.openxmlformats.org/presentationml/2006/ole">
            <mc:AlternateContent xmlns:mc="http://schemas.openxmlformats.org/markup-compatibility/2006">
              <mc:Choice xmlns:v="urn:schemas-microsoft-com:vml" Requires="v">
                <p:oleObj spid="_x0000_s1096" name="公式" r:id="rId10" progId="Equation.3">
                  <p:embed/>
                </p:oleObj>
              </mc:Choice>
              <mc:Fallback>
                <p:oleObj spid="_x0000_s1096" name="公式" r:id="rId10" progId="Equation.3">
                  <p:embed/>
                  <p:pic>
                    <p:nvPicPr>
                      <p:cNvPr id="0" name="OLE substitute image"/>
                      <p:cNvPicPr/>
                      <p:nvPr/>
                    </p:nvPicPr>
                    <p:blipFill>
                      <a:blip r:embed="rId11"/>
                      <a:stretch/>
                    </p:blipFill>
                    <p:spPr>
                      <a:xfrm>
                        <a:off x="1766888" y="3213100"/>
                        <a:ext cx="3414712" cy="511175"/>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48130">
                                            <p:txEl>
                                              <p:charRg st="0" end="101"/>
                                            </p:txEl>
                                          </p:spTgt>
                                        </p:tgtEl>
                                        <p:attrNameLst>
                                          <p:attrName>style.visibility</p:attrName>
                                        </p:attrNameLst>
                                      </p:cBhvr>
                                      <p:to>
                                        <p:strVal val="visible"/>
                                      </p:to>
                                    </p:set>
                                    <p:animEffect transition="in" filter="wipe(left)">
                                      <p:cBhvr additive="base">
                                        <p:cTn id="7" dur="500"/>
                                        <p:tgtEl>
                                          <p:spTgt spid="48130">
                                            <p:txEl>
                                              <p:charRg st="0" end="101"/>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48135"/>
                                        </p:tgtEl>
                                        <p:attrNameLst>
                                          <p:attrName>style.visibility</p:attrName>
                                        </p:attrNameLst>
                                      </p:cBhvr>
                                      <p:to>
                                        <p:strVal val="visible"/>
                                      </p:to>
                                    </p:set>
                                    <p:animEffect transition="in" filter="wipe(left)">
                                      <p:cBhvr additive="base">
                                        <p:cTn id="13" dur="500"/>
                                        <p:tgtEl>
                                          <p:spTgt spid="48135"/>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48136"/>
                                        </p:tgtEl>
                                        <p:attrNameLst>
                                          <p:attrName>style.visibility</p:attrName>
                                        </p:attrNameLst>
                                      </p:cBhvr>
                                      <p:to>
                                        <p:strVal val="visible"/>
                                      </p:to>
                                    </p:set>
                                    <p:animEffect transition="in" filter="wipe(left)">
                                      <p:cBhvr additive="base">
                                        <p:cTn id="19" dur="500"/>
                                        <p:tgtEl>
                                          <p:spTgt spid="48136"/>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8" fill="hold" nodeType="clickEffect">
                                  <p:stCondLst>
                                    <p:cond delay="-9223372036854775808"/>
                                  </p:stCondLst>
                                  <p:childTnLst>
                                    <p:set>
                                      <p:cBhvr additive="base">
                                        <p:cTn id="24" dur="1" fill="hold">
                                          <p:stCondLst>
                                            <p:cond delay="0"/>
                                          </p:stCondLst>
                                        </p:cTn>
                                        <p:tgtEl>
                                          <p:spTgt spid="48137"/>
                                        </p:tgtEl>
                                        <p:attrNameLst>
                                          <p:attrName>style.visibility</p:attrName>
                                        </p:attrNameLst>
                                      </p:cBhvr>
                                      <p:to>
                                        <p:strVal val="visible"/>
                                      </p:to>
                                    </p:set>
                                    <p:animEffect transition="in" filter="wipe(left)">
                                      <p:cBhvr additive="base">
                                        <p:cTn id="25" dur="500"/>
                                        <p:tgtEl>
                                          <p:spTgt spid="48137"/>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22" presetClass="entr" presetSubtype="8" fill="hold" nodeType="clickEffect">
                                  <p:stCondLst>
                                    <p:cond delay="-9223372036854775808"/>
                                  </p:stCondLst>
                                  <p:childTnLst>
                                    <p:set>
                                      <p:cBhvr additive="base">
                                        <p:cTn id="30" dur="1" fill="hold">
                                          <p:stCondLst>
                                            <p:cond delay="0"/>
                                          </p:stCondLst>
                                        </p:cTn>
                                        <p:tgtEl>
                                          <p:spTgt spid="48138"/>
                                        </p:tgtEl>
                                        <p:attrNameLst>
                                          <p:attrName>style.visibility</p:attrName>
                                        </p:attrNameLst>
                                      </p:cBhvr>
                                      <p:to>
                                        <p:strVal val="visible"/>
                                      </p:to>
                                    </p:set>
                                    <p:animEffect transition="in" filter="wipe(left)">
                                      <p:cBhvr additive="base">
                                        <p:cTn id="31" dur="500"/>
                                        <p:tgtEl>
                                          <p:spTgt spid="48138"/>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22" presetClass="entr" presetSubtype="8" fill="hold" nodeType="clickEffect">
                                  <p:stCondLst>
                                    <p:cond delay="-9223372036854775808"/>
                                  </p:stCondLst>
                                  <p:childTnLst>
                                    <p:set>
                                      <p:cBhvr additive="base">
                                        <p:cTn id="36" dur="1" fill="hold">
                                          <p:stCondLst>
                                            <p:cond delay="0"/>
                                          </p:stCondLst>
                                        </p:cTn>
                                        <p:tgtEl>
                                          <p:spTgt spid="48139"/>
                                        </p:tgtEl>
                                        <p:attrNameLst>
                                          <p:attrName>style.visibility</p:attrName>
                                        </p:attrNameLst>
                                      </p:cBhvr>
                                      <p:to>
                                        <p:strVal val="visible"/>
                                      </p:to>
                                    </p:set>
                                    <p:animEffect transition="in" filter="wipe(left)">
                                      <p:cBhvr additive="base">
                                        <p:cTn id="37" dur="500"/>
                                        <p:tgtEl>
                                          <p:spTgt spid="48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4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49154" name="Rectangle 3"/>
          <p:cNvSpPr>
            <a:spLocks noChangeArrowheads="1"/>
          </p:cNvSpPr>
          <p:nvPr/>
        </p:nvSpPr>
        <p:spPr>
          <a:xfrm>
            <a:off x="755650" y="549275"/>
            <a:ext cx="7246239" cy="457657"/>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b="1">
                <a:effectLst/>
                <a:latin typeface="宋体" pitchFamily="2" charset="-122"/>
              </a:rPr>
              <a:t>目标规划数学模型中的有关概念。 </a:t>
            </a:r>
          </a:p>
        </p:txBody>
      </p:sp>
      <p:sp>
        <p:nvSpPr>
          <p:cNvPr id="49155" name="Rectangle 10"/>
          <p:cNvSpPr>
            <a:spLocks noChangeArrowheads="1"/>
          </p:cNvSpPr>
          <p:nvPr/>
        </p:nvSpPr>
        <p:spPr>
          <a:xfrm>
            <a:off x="468313" y="1196975"/>
            <a:ext cx="8288681" cy="2544575"/>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304800" eaLnBrk="1" hangingPunct="1">
              <a:lnSpc>
                <a:spcPct val="120000"/>
              </a:lnSpc>
            </a:pPr>
            <a:r>
              <a:rPr kumimoji="1" lang="en-US" altLang="zh-CN" sz="2400" b="1">
                <a:solidFill>
                  <a:schemeClr val="accent2"/>
                </a:solidFill>
                <a:effectLst/>
                <a:latin typeface="Times New Roman" pitchFamily="18" charset="0"/>
                <a:ea typeface="黑体" pitchFamily="49" charset="-122"/>
              </a:rPr>
              <a:t>(1)  </a:t>
            </a:r>
            <a:r>
              <a:rPr kumimoji="1" lang="zh-CN" altLang="en-US" sz="2400" b="1">
                <a:solidFill>
                  <a:schemeClr val="accent2"/>
                </a:solidFill>
                <a:effectLst/>
                <a:latin typeface="Times New Roman" pitchFamily="18" charset="0"/>
                <a:ea typeface="黑体" pitchFamily="49" charset="-122"/>
              </a:rPr>
              <a:t>偏差变量</a:t>
            </a:r>
          </a:p>
          <a:p>
            <a:pPr marL="0" marR="0" lvl="0" indent="304800" algn="just">
              <a:lnSpc>
                <a:spcPct val="110000"/>
              </a:lnSpc>
            </a:pPr>
            <a:r>
              <a:rPr kumimoji="1" lang="zh-CN" altLang="en-US" sz="2400">
                <a:effectLst/>
                <a:latin typeface="宋体" pitchFamily="2" charset="-122"/>
              </a:rPr>
              <a:t>  在目标规划模型中，除了决策变量外，还需要引入正、负偏差变量 </a:t>
            </a:r>
            <a:r>
              <a:rPr kumimoji="1" lang="en-US" altLang="zh-CN" sz="2400" i="1">
                <a:effectLst/>
                <a:latin typeface="Times New Roman" pitchFamily="18" charset="0"/>
                <a:ea typeface="Times New Roman" pitchFamily="18" charset="0"/>
              </a:rPr>
              <a:t>d </a:t>
            </a:r>
            <a:r>
              <a:rPr kumimoji="1" lang="en-US" altLang="zh-CN" sz="2400" baseline="30000">
                <a:effectLst/>
                <a:latin typeface="Times New Roman" pitchFamily="18" charset="0"/>
                <a:ea typeface="Times New Roman" pitchFamily="18" charset="0"/>
              </a:rPr>
              <a:t>+</a:t>
            </a:r>
            <a:r>
              <a:rPr kumimoji="1" lang="zh-CN" altLang="en-US"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rPr>
              <a:t>d </a:t>
            </a:r>
            <a:r>
              <a:rPr kumimoji="1" lang="en-US" altLang="zh-CN" sz="2400" i="1" baseline="30000">
                <a:effectLst/>
                <a:latin typeface="Times New Roman" pitchFamily="18" charset="0"/>
                <a:ea typeface="Times New Roman" pitchFamily="18" charset="0"/>
              </a:rPr>
              <a:t>-</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。其中，正偏差变量表示决策值超过目标值的部分，负偏差变量表示决策值未达到目标值的部分。</a:t>
            </a:r>
          </a:p>
          <a:p>
            <a:pPr marL="0" marR="0" lvl="0" indent="304800" algn="just">
              <a:lnSpc>
                <a:spcPct val="110000"/>
              </a:lnSpc>
            </a:pPr>
            <a:r>
              <a:rPr kumimoji="1" lang="zh-CN" altLang="en-US" sz="2400">
                <a:effectLst/>
                <a:latin typeface="宋体" pitchFamily="2" charset="-122"/>
              </a:rPr>
              <a:t>  因为决策值不可能既超过目标值同时又未达到目标值，故有</a:t>
            </a:r>
            <a:r>
              <a:rPr kumimoji="1" lang="en-US" altLang="zh-CN" sz="2400" i="1">
                <a:effectLst/>
                <a:latin typeface="Times New Roman" pitchFamily="18" charset="0"/>
                <a:ea typeface="Times New Roman" pitchFamily="18" charset="0"/>
              </a:rPr>
              <a:t>d </a:t>
            </a:r>
            <a:r>
              <a:rPr kumimoji="1" lang="en-US" altLang="zh-CN" sz="2400" baseline="30000">
                <a:effectLst/>
                <a:latin typeface="Times New Roman" pitchFamily="18" charset="0"/>
                <a:ea typeface="Times New Roman" pitchFamily="18" charset="0"/>
              </a:rPr>
              <a:t>+</a:t>
            </a:r>
            <a:r>
              <a:rPr kumimoji="1" lang="en-US" altLang="zh-CN" sz="2400">
                <a:effectLst/>
                <a:latin typeface="Times New Roman" pitchFamily="18" charset="0"/>
                <a:ea typeface="Times New Roman" pitchFamily="18" charset="0"/>
              </a:rPr>
              <a:t>×</a:t>
            </a:r>
            <a:r>
              <a:rPr kumimoji="1" lang="en-US" altLang="zh-CN" sz="2400" i="1">
                <a:effectLst/>
                <a:latin typeface="Times New Roman" pitchFamily="18" charset="0"/>
                <a:ea typeface="Times New Roman" pitchFamily="18" charset="0"/>
              </a:rPr>
              <a:t>d </a:t>
            </a:r>
            <a:r>
              <a:rPr kumimoji="1" lang="en-US" altLang="zh-CN" sz="2400" i="1" baseline="30000">
                <a:effectLst/>
                <a:latin typeface="Times New Roman" pitchFamily="18" charset="0"/>
                <a:ea typeface="Times New Roman" pitchFamily="18" charset="0"/>
              </a:rPr>
              <a:t>-</a:t>
            </a:r>
            <a:r>
              <a:rPr kumimoji="1" lang="en-US" altLang="zh-CN" sz="2400">
                <a:effectLst/>
                <a:latin typeface="Times New Roman" pitchFamily="18" charset="0"/>
                <a:ea typeface="Times New Roman" pitchFamily="18" charset="0"/>
              </a:rPr>
              <a:t> </a:t>
            </a:r>
            <a:r>
              <a:rPr kumimoji="1" lang="en-US" altLang="zh-CN" sz="2400">
                <a:effectLst/>
                <a:latin typeface="宋体" pitchFamily="2" charset="-122"/>
              </a:rPr>
              <a:t>=0</a:t>
            </a:r>
            <a:r>
              <a:rPr kumimoji="1" lang="zh-CN" altLang="en-US" sz="2400">
                <a:effectLst/>
                <a:latin typeface="宋体" pitchFamily="2" charset="-122"/>
              </a:rPr>
              <a:t>成立。</a:t>
            </a:r>
          </a:p>
        </p:txBody>
      </p:sp>
      <p:sp>
        <p:nvSpPr>
          <p:cNvPr id="49156" name="Rectangle 11"/>
          <p:cNvSpPr>
            <a:spLocks noChangeArrowheads="1"/>
          </p:cNvSpPr>
          <p:nvPr/>
        </p:nvSpPr>
        <p:spPr>
          <a:xfrm>
            <a:off x="611188" y="4149725"/>
            <a:ext cx="7929562" cy="2374900"/>
          </a:xfrm>
          <a:prstGeom prst="rect">
            <a:avLst/>
          </a:prstGeom>
          <a:noFill/>
          <a:ln>
            <a:noFill/>
          </a:ln>
          <a:effectLst/>
          <a:extLst/>
        </p:spPr>
        <p:txBody>
          <a:bodyPr>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20000"/>
              </a:lnSpc>
              <a:spcBef>
                <a:spcPct val="20000"/>
              </a:spcBef>
              <a:buClr>
                <a:schemeClr val="tx1"/>
              </a:buClr>
              <a:buSzPct val="120000"/>
              <a:buFont typeface="Wingdings" pitchFamily="2" charset="2"/>
            </a:pPr>
            <a:r>
              <a:rPr lang="en-US" altLang="zh-CN" sz="2400" b="1">
                <a:solidFill>
                  <a:schemeClr val="accent2"/>
                </a:solidFill>
                <a:effectLst/>
              </a:rPr>
              <a:t>  (2)</a:t>
            </a:r>
            <a:r>
              <a:rPr lang="en-US" altLang="zh-CN" sz="3200" b="1">
                <a:solidFill>
                  <a:schemeClr val="accent2"/>
                </a:solidFill>
                <a:effectLst/>
              </a:rPr>
              <a:t> </a:t>
            </a:r>
            <a:r>
              <a:rPr lang="zh-CN" altLang="en-US" sz="2400" b="1">
                <a:solidFill>
                  <a:schemeClr val="accent2"/>
                </a:solidFill>
                <a:effectLst/>
                <a:latin typeface="黑体" pitchFamily="49" charset="-122"/>
                <a:ea typeface="黑体" pitchFamily="49" charset="-122"/>
              </a:rPr>
              <a:t>绝对约束和目标约束</a:t>
            </a:r>
            <a:r>
              <a:rPr lang="zh-CN" altLang="en-US" sz="2400">
                <a:effectLst/>
                <a:latin typeface="黑体" pitchFamily="49" charset="-122"/>
                <a:ea typeface="黑体" pitchFamily="49" charset="-122"/>
              </a:rPr>
              <a:t> </a:t>
            </a:r>
          </a:p>
          <a:p>
            <a:pPr marL="0" marR="0" lvl="0" indent="0" eaLnBrk="1" hangingPunct="1">
              <a:lnSpc>
                <a:spcPct val="120000"/>
              </a:lnSpc>
              <a:spcBef>
                <a:spcPct val="20000"/>
              </a:spcBef>
              <a:buClr>
                <a:schemeClr val="tx1"/>
              </a:buClr>
              <a:buSzPct val="150000"/>
              <a:buFont typeface="Wingdings" pitchFamily="2" charset="2"/>
            </a:pPr>
            <a:r>
              <a:rPr lang="zh-CN" altLang="en-US" sz="2400">
                <a:effectLst/>
                <a:latin typeface="黑体" pitchFamily="49" charset="-122"/>
                <a:ea typeface="黑体" pitchFamily="49" charset="-122"/>
              </a:rPr>
              <a:t>    </a:t>
            </a:r>
            <a:r>
              <a:rPr lang="zh-CN" altLang="en-US" sz="2400">
                <a:effectLst/>
                <a:latin typeface="宋体" pitchFamily="2" charset="-122"/>
              </a:rPr>
              <a:t>绝对约束，必须严格满足的等式约束和不等式约束，譬如，线性规划问题的所有约束条件都是绝对约束，不能满足这些约束条件的解称为非可行解，所以它们是硬约束。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49154"/>
                                        </p:tgtEl>
                                        <p:attrNameLst>
                                          <p:attrName>style.visibility</p:attrName>
                                        </p:attrNameLst>
                                      </p:cBhvr>
                                      <p:to>
                                        <p:strVal val="visible"/>
                                      </p:to>
                                    </p:set>
                                    <p:animEffect transition="in" filter="wipe(left)">
                                      <p:cBhvr additive="base">
                                        <p:cTn id="7" dur="500"/>
                                        <p:tgtEl>
                                          <p:spTgt spid="49154"/>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grpId="1" nodeType="clickEffect">
                                  <p:stCondLst>
                                    <p:cond delay="-9223372036854775808"/>
                                  </p:stCondLst>
                                  <p:childTnLst>
                                    <p:set>
                                      <p:cBhvr additive="base">
                                        <p:cTn id="12" dur="1" fill="hold">
                                          <p:stCondLst>
                                            <p:cond delay="0"/>
                                          </p:stCondLst>
                                        </p:cTn>
                                        <p:tgtEl>
                                          <p:spTgt spid="49155"/>
                                        </p:tgtEl>
                                        <p:attrNameLst>
                                          <p:attrName>style.visibility</p:attrName>
                                        </p:attrNameLst>
                                      </p:cBhvr>
                                      <p:to>
                                        <p:strVal val="visible"/>
                                      </p:to>
                                    </p:set>
                                    <p:animEffect transition="in" filter="wipe(left)">
                                      <p:cBhvr additive="base">
                                        <p:cTn id="13" dur="500"/>
                                        <p:tgtEl>
                                          <p:spTgt spid="49155"/>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grpId="2" nodeType="clickEffect">
                                  <p:stCondLst>
                                    <p:cond delay="-9223372036854775808"/>
                                  </p:stCondLst>
                                  <p:childTnLst>
                                    <p:set>
                                      <p:cBhvr additive="base">
                                        <p:cTn id="18" dur="1" fill="hold">
                                          <p:stCondLst>
                                            <p:cond delay="0"/>
                                          </p:stCondLst>
                                        </p:cTn>
                                        <p:tgtEl>
                                          <p:spTgt spid="49156"/>
                                        </p:tgtEl>
                                        <p:attrNameLst>
                                          <p:attrName>style.visibility</p:attrName>
                                        </p:attrNameLst>
                                      </p:cBhvr>
                                      <p:to>
                                        <p:strVal val="visible"/>
                                      </p:to>
                                    </p:set>
                                    <p:animEffect transition="in" filter="wipe(left)">
                                      <p:cBhvr additive="base">
                                        <p:cTn id="19"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1"/>
      <p:bldP spid="49156" grpId="2"/>
    </p:bldLst>
  </p:timing>
</p:sld>
</file>

<file path=ppt/slides/slide4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50178" name="Rectangle 2"/>
          <p:cNvSpPr>
            <a:spLocks noGrp="1" noChangeArrowheads="1"/>
          </p:cNvSpPr>
          <p:nvPr>
            <p:ph idx="4294967295"/>
          </p:nvPr>
        </p:nvSpPr>
        <p:spPr>
          <a:xfrm>
            <a:off x="395288" y="1989138"/>
            <a:ext cx="8185150" cy="2808287"/>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lnSpc>
                <a:spcPct val="120000"/>
              </a:lnSpc>
              <a:buClr>
                <a:schemeClr val="tx1"/>
              </a:buClr>
              <a:buSzPct val="150000"/>
              <a:buFont typeface="Wingdings" pitchFamily="2" charset="2"/>
              <a:buNone/>
            </a:pPr>
            <a:r>
              <a:rPr lang="en-US" altLang="zh-CN" sz="2400">
                <a:effectLst/>
                <a:latin typeface="宋体" pitchFamily="2" charset="-122"/>
              </a:rPr>
              <a:t>  </a:t>
            </a:r>
            <a:r>
              <a:rPr lang="zh-CN" altLang="en-US" sz="2400">
                <a:effectLst/>
                <a:latin typeface="宋体" pitchFamily="2" charset="-122"/>
              </a:rPr>
              <a:t>目标约束，目标规划所特有的，可以将约束方程右端项看作是追求的目标值，在达到此目标值时允许发生正的或负的偏差 ，可加入正负偏差变量，是</a:t>
            </a:r>
            <a:r>
              <a:rPr lang="zh-CN" altLang="en-US" sz="2400" b="1">
                <a:solidFill>
                  <a:srgbClr val="7575D1"/>
                </a:solidFill>
                <a:effectLst/>
                <a:latin typeface="黑体" pitchFamily="49" charset="-122"/>
                <a:ea typeface="黑体" pitchFamily="49" charset="-122"/>
              </a:rPr>
              <a:t>软约束</a:t>
            </a:r>
            <a:r>
              <a:rPr lang="zh-CN" altLang="en-US" sz="2400">
                <a:effectLst/>
                <a:latin typeface="宋体" pitchFamily="2" charset="-122"/>
              </a:rPr>
              <a:t>。</a:t>
            </a:r>
          </a:p>
          <a:p>
            <a:pPr marL="342900" marR="0" lvl="0" indent="-342900" eaLnBrk="1" hangingPunct="1">
              <a:lnSpc>
                <a:spcPct val="120000"/>
              </a:lnSpc>
              <a:buClr>
                <a:schemeClr val="tx1"/>
              </a:buClr>
              <a:buSzPct val="150000"/>
              <a:buFont typeface="Wingdings" pitchFamily="2" charset="2"/>
              <a:buNone/>
            </a:pPr>
            <a:r>
              <a:rPr lang="zh-CN" altLang="en-US" sz="2400">
                <a:effectLst/>
                <a:latin typeface="宋体" pitchFamily="2" charset="-122"/>
              </a:rPr>
              <a:t>      线性规划问题的目标函数，在给定目标值和加入正、负偏差变量后可以转化为目标约束，也可以根据问题的需要将绝对约束转化为目标约束。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50178">
                                            <p:txEl>
                                              <p:charRg st="0" end="73"/>
                                            </p:txEl>
                                          </p:spTgt>
                                        </p:tgtEl>
                                        <p:attrNameLst>
                                          <p:attrName>style.visibility</p:attrName>
                                        </p:attrNameLst>
                                      </p:cBhvr>
                                      <p:to>
                                        <p:strVal val="visible"/>
                                      </p:to>
                                    </p:set>
                                    <p:animEffect transition="in" filter="wipe(left)">
                                      <p:cBhvr additive="base">
                                        <p:cTn id="7" dur="500"/>
                                        <p:tgtEl>
                                          <p:spTgt spid="50178">
                                            <p:txEl>
                                              <p:charRg st="0" end="73"/>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grpId="0" nodeType="clickEffect">
                                  <p:stCondLst>
                                    <p:cond delay="-9223372036854775808"/>
                                  </p:stCondLst>
                                  <p:childTnLst>
                                    <p:set>
                                      <p:cBhvr additive="base">
                                        <p:cTn id="12" dur="1" fill="hold">
                                          <p:stCondLst>
                                            <p:cond delay="0"/>
                                          </p:stCondLst>
                                        </p:cTn>
                                        <p:tgtEl>
                                          <p:spTgt spid="50178">
                                            <p:txEl>
                                              <p:charRg st="73" end="142"/>
                                            </p:txEl>
                                          </p:spTgt>
                                        </p:tgtEl>
                                        <p:attrNameLst>
                                          <p:attrName>style.visibility</p:attrName>
                                        </p:attrNameLst>
                                      </p:cBhvr>
                                      <p:to>
                                        <p:strVal val="visible"/>
                                      </p:to>
                                    </p:set>
                                    <p:animEffect transition="in" filter="wipe(left)">
                                      <p:cBhvr additive="base">
                                        <p:cTn id="13" dur="500"/>
                                        <p:tgtEl>
                                          <p:spTgt spid="50178">
                                            <p:txEl>
                                              <p:charRg st="73"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uiExpand="1" build="p"/>
    </p:bldLst>
  </p:timing>
</p:sld>
</file>

<file path=ppt/slides/slide4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51202" name="Rectangle 2"/>
          <p:cNvSpPr>
            <a:spLocks noGrp="1" noChangeArrowheads="1"/>
          </p:cNvSpPr>
          <p:nvPr>
            <p:ph idx="4294967295"/>
          </p:nvPr>
        </p:nvSpPr>
        <p:spPr>
          <a:xfrm>
            <a:off x="0" y="4292600"/>
            <a:ext cx="8675688" cy="1528763"/>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a:lnSpc>
                <a:spcPct val="120000"/>
              </a:lnSpc>
              <a:spcBef>
                <a:spcPct val="0"/>
              </a:spcBef>
              <a:buNone/>
            </a:pPr>
            <a:r>
              <a:rPr lang="en-US" altLang="zh-CN" sz="2400">
                <a:effectLst/>
                <a:latin typeface="宋体" pitchFamily="2" charset="-122"/>
              </a:rPr>
              <a:t>       </a:t>
            </a:r>
            <a:r>
              <a:rPr lang="zh-CN" altLang="en-US" sz="2400">
                <a:effectLst/>
                <a:latin typeface="宋体" pitchFamily="2" charset="-122"/>
              </a:rPr>
              <a:t>若要区别具有相同优先因子</a:t>
            </a:r>
            <a:r>
              <a:rPr lang="zh-CN" altLang="en-US" sz="2400">
                <a:effectLst/>
                <a:latin typeface="Times New Roman" pitchFamily="18" charset="0"/>
                <a:ea typeface="Times New Roman" pitchFamily="18" charset="0"/>
              </a:rPr>
              <a:t> </a:t>
            </a:r>
            <a:r>
              <a:rPr lang="en-US" altLang="zh-CN" sz="2400" i="1">
                <a:effectLst/>
                <a:latin typeface="Times New Roman" pitchFamily="18" charset="0"/>
                <a:ea typeface="Times New Roman" pitchFamily="18" charset="0"/>
              </a:rPr>
              <a:t>p</a:t>
            </a:r>
            <a:r>
              <a:rPr lang="en-US" altLang="zh-CN" sz="2400" baseline="-25000">
                <a:effectLst/>
                <a:latin typeface="Times New Roman" pitchFamily="18" charset="0"/>
                <a:ea typeface="Times New Roman" pitchFamily="18" charset="0"/>
              </a:rPr>
              <a:t>l</a:t>
            </a:r>
            <a:r>
              <a:rPr lang="en-US" altLang="zh-CN" sz="2400">
                <a:effectLst/>
                <a:latin typeface="Times New Roman" pitchFamily="18" charset="0"/>
                <a:ea typeface="Times New Roman" pitchFamily="18" charset="0"/>
              </a:rPr>
              <a:t>  </a:t>
            </a:r>
            <a:r>
              <a:rPr lang="zh-CN" altLang="en-US" sz="2400">
                <a:effectLst/>
                <a:latin typeface="宋体" pitchFamily="2" charset="-122"/>
              </a:rPr>
              <a:t>的目标的差别，就可以分别赋予它们不同的权系数</a:t>
            </a:r>
            <a:r>
              <a:rPr lang="zh-CN" altLang="en-US" sz="2400" i="1">
                <a:effectLst/>
                <a:latin typeface="宋体" pitchFamily="2" charset="-122"/>
                <a:sym typeface="Symbol" pitchFamily="18" charset="2"/>
              </a:rPr>
              <a:t></a:t>
            </a:r>
            <a:r>
              <a:rPr lang="en-US" altLang="zh-CN" sz="2400" i="1" baseline="-25000">
                <a:effectLst/>
                <a:latin typeface="Times New Roman" pitchFamily="18" charset="0"/>
                <a:ea typeface="Times New Roman" pitchFamily="18" charset="0"/>
              </a:rPr>
              <a:t>i</a:t>
            </a:r>
            <a:r>
              <a:rPr lang="en-US" altLang="zh-CN" sz="2400" i="1" baseline="30000">
                <a:effectLst/>
                <a:latin typeface="Times New Roman" pitchFamily="18" charset="0"/>
                <a:ea typeface="Times New Roman" pitchFamily="18" charset="0"/>
              </a:rPr>
              <a:t>*</a:t>
            </a:r>
            <a:r>
              <a:rPr lang="en-US" altLang="zh-CN" sz="2400">
                <a:effectLst/>
                <a:latin typeface="Times New Roman" pitchFamily="18" charset="0"/>
                <a:ea typeface="Times New Roman" pitchFamily="18" charset="0"/>
              </a:rPr>
              <a:t> ( </a:t>
            </a:r>
            <a:r>
              <a:rPr lang="en-US" altLang="zh-CN" sz="2400" i="1">
                <a:effectLst/>
                <a:latin typeface="Times New Roman" pitchFamily="18" charset="0"/>
                <a:ea typeface="Times New Roman" pitchFamily="18" charset="0"/>
              </a:rPr>
              <a:t>i</a:t>
            </a:r>
            <a:r>
              <a:rPr lang="en-US" altLang="zh-CN" sz="2400">
                <a:effectLst/>
                <a:latin typeface="Times New Roman" pitchFamily="18" charset="0"/>
                <a:ea typeface="Times New Roman" pitchFamily="18" charset="0"/>
              </a:rPr>
              <a:t>=1,2,…,</a:t>
            </a:r>
            <a:r>
              <a:rPr lang="en-US" altLang="zh-CN" sz="2400" i="1">
                <a:effectLst/>
                <a:latin typeface="Times New Roman" pitchFamily="18" charset="0"/>
                <a:ea typeface="Times New Roman" pitchFamily="18" charset="0"/>
              </a:rPr>
              <a:t>k</a:t>
            </a:r>
            <a:r>
              <a:rPr lang="en-US" altLang="zh-CN" sz="2400">
                <a:effectLst/>
                <a:latin typeface="Times New Roman" pitchFamily="18" charset="0"/>
                <a:ea typeface="Times New Roman" pitchFamily="18" charset="0"/>
              </a:rPr>
              <a:t> )</a:t>
            </a:r>
            <a:r>
              <a:rPr lang="zh-CN" altLang="en-US" sz="2400">
                <a:effectLst/>
                <a:latin typeface="宋体" pitchFamily="2" charset="-122"/>
              </a:rPr>
              <a:t>。这些优先因子和权系数都由决策者按照具体情况而定。</a:t>
            </a:r>
          </a:p>
        </p:txBody>
      </p:sp>
      <p:sp>
        <p:nvSpPr>
          <p:cNvPr id="51203" name="Rectangle 5"/>
          <p:cNvSpPr>
            <a:spLocks noChangeArrowheads="1"/>
          </p:cNvSpPr>
          <p:nvPr/>
        </p:nvSpPr>
        <p:spPr>
          <a:xfrm>
            <a:off x="319674" y="701675"/>
            <a:ext cx="8360190" cy="3423276"/>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just" eaLnBrk="1" hangingPunct="1">
              <a:lnSpc>
                <a:spcPct val="130000"/>
              </a:lnSpc>
            </a:pPr>
            <a:r>
              <a:rPr kumimoji="1" lang="en-US" altLang="zh-CN" sz="2400" b="1">
                <a:solidFill>
                  <a:schemeClr val="accent2"/>
                </a:solidFill>
                <a:effectLst/>
                <a:latin typeface="Times New Roman" pitchFamily="18" charset="0"/>
                <a:ea typeface="黑体" pitchFamily="49" charset="-122"/>
              </a:rPr>
              <a:t>(3)</a:t>
            </a:r>
            <a:r>
              <a:rPr kumimoji="1" lang="zh-CN" altLang="en-US" sz="2400" b="1">
                <a:solidFill>
                  <a:schemeClr val="accent2"/>
                </a:solidFill>
                <a:effectLst/>
                <a:latin typeface="Times New Roman" pitchFamily="18" charset="0"/>
                <a:ea typeface="黑体" pitchFamily="49" charset="-122"/>
              </a:rPr>
              <a:t>优先因子（优先等级）与权系数</a:t>
            </a:r>
          </a:p>
          <a:p>
            <a:pPr marL="0" marR="0" lvl="0" indent="0">
              <a:lnSpc>
                <a:spcPct val="130000"/>
              </a:lnSpc>
            </a:pPr>
            <a:r>
              <a:rPr kumimoji="1" lang="zh-CN" altLang="en-US" sz="2400">
                <a:effectLst/>
                <a:latin typeface="Times New Roman" pitchFamily="18" charset="0"/>
                <a:ea typeface="黑体" pitchFamily="49" charset="-122"/>
              </a:rPr>
              <a:t>         </a:t>
            </a:r>
            <a:r>
              <a:rPr kumimoji="1" lang="zh-CN" altLang="en-US" sz="2400">
                <a:effectLst/>
                <a:latin typeface="宋体" pitchFamily="2" charset="-122"/>
              </a:rPr>
              <a:t>一个规划问题</a:t>
            </a:r>
            <a:r>
              <a:rPr kumimoji="1" lang="en-US" altLang="zh-CN" sz="2400">
                <a:effectLst/>
                <a:latin typeface="宋体" pitchFamily="2" charset="-122"/>
              </a:rPr>
              <a:t>,</a:t>
            </a:r>
            <a:r>
              <a:rPr kumimoji="1" lang="zh-CN" altLang="en-US" sz="2400">
                <a:effectLst/>
                <a:latin typeface="宋体" pitchFamily="2" charset="-122"/>
              </a:rPr>
              <a:t>常常有若干个目标，决策者对各个目标的考虑</a:t>
            </a:r>
            <a:r>
              <a:rPr kumimoji="1" lang="en-US" altLang="zh-CN" sz="2400">
                <a:effectLst/>
                <a:latin typeface="宋体" pitchFamily="2" charset="-122"/>
              </a:rPr>
              <a:t>,</a:t>
            </a:r>
            <a:r>
              <a:rPr kumimoji="1" lang="zh-CN" altLang="en-US" sz="2400">
                <a:effectLst/>
                <a:latin typeface="宋体" pitchFamily="2" charset="-122"/>
              </a:rPr>
              <a:t>往往是有主次的。凡要求第一位达到的目标赋予优先因子 </a:t>
            </a:r>
            <a:r>
              <a:rPr kumimoji="1" lang="en-US" altLang="zh-CN" sz="2400" i="1">
                <a:effectLst/>
                <a:latin typeface="Times New Roman" pitchFamily="18" charset="0"/>
                <a:ea typeface="Times New Roman" pitchFamily="18" charset="0"/>
              </a:rPr>
              <a:t>p</a:t>
            </a:r>
            <a:r>
              <a:rPr kumimoji="1" lang="en-US" altLang="zh-CN" sz="2400" baseline="-25000">
                <a:effectLst/>
                <a:latin typeface="Times New Roman" pitchFamily="18" charset="0"/>
                <a:ea typeface="Times New Roman" pitchFamily="18" charset="0"/>
              </a:rPr>
              <a:t>1</a:t>
            </a:r>
            <a:r>
              <a:rPr kumimoji="1" lang="en-US" altLang="zh-CN" sz="2400">
                <a:effectLst/>
                <a:latin typeface="宋体" pitchFamily="2" charset="-122"/>
              </a:rPr>
              <a:t> </a:t>
            </a:r>
            <a:r>
              <a:rPr kumimoji="1" lang="zh-CN" altLang="en-US" sz="2400">
                <a:effectLst/>
                <a:latin typeface="宋体" pitchFamily="2" charset="-122"/>
              </a:rPr>
              <a:t>，次位的目标赋予优先因子 </a:t>
            </a:r>
            <a:r>
              <a:rPr kumimoji="1" lang="en-US" altLang="zh-CN" sz="2400" i="1">
                <a:effectLst/>
                <a:latin typeface="Times New Roman" pitchFamily="18" charset="0"/>
                <a:ea typeface="Times New Roman" pitchFamily="18" charset="0"/>
              </a:rPr>
              <a:t>p</a:t>
            </a:r>
            <a:r>
              <a:rPr kumimoji="1" lang="en-US" altLang="zh-CN" sz="2400" baseline="-25000">
                <a:effectLst/>
                <a:latin typeface="Times New Roman" pitchFamily="18" charset="0"/>
                <a:ea typeface="Times New Roman" pitchFamily="18" charset="0"/>
              </a:rPr>
              <a:t>2</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a:t>
            </a:r>
            <a:r>
              <a:rPr kumimoji="1" lang="en-US" altLang="zh-CN" sz="2400">
                <a:effectLst/>
                <a:latin typeface="宋体" pitchFamily="2" charset="-122"/>
              </a:rPr>
              <a:t>……</a:t>
            </a:r>
            <a:r>
              <a:rPr kumimoji="1" lang="zh-CN" altLang="en-US" sz="2400">
                <a:effectLst/>
                <a:latin typeface="宋体" pitchFamily="2" charset="-122"/>
              </a:rPr>
              <a:t>，并规定</a:t>
            </a:r>
            <a:r>
              <a:rPr kumimoji="1" lang="en-US" altLang="zh-CN" sz="2400" i="1">
                <a:effectLst/>
                <a:latin typeface="Times New Roman" pitchFamily="18" charset="0"/>
                <a:ea typeface="Times New Roman" pitchFamily="18" charset="0"/>
              </a:rPr>
              <a:t>p</a:t>
            </a:r>
            <a:r>
              <a:rPr kumimoji="1" lang="en-US" altLang="zh-CN" sz="2400" i="1" baseline="-25000">
                <a:effectLst/>
                <a:latin typeface="Times New Roman" pitchFamily="18" charset="0"/>
                <a:ea typeface="Times New Roman" pitchFamily="18" charset="0"/>
              </a:rPr>
              <a:t>l</a:t>
            </a:r>
            <a:r>
              <a:rPr kumimoji="1" lang="en-US" altLang="zh-CN" sz="2400">
                <a:effectLst/>
                <a:latin typeface="Times New Roman" pitchFamily="18" charset="0"/>
                <a:ea typeface="Times New Roman" pitchFamily="18" charset="0"/>
              </a:rPr>
              <a:t>&gt;&gt;</a:t>
            </a:r>
            <a:r>
              <a:rPr kumimoji="1" lang="en-US" altLang="zh-CN" sz="2400" i="1">
                <a:effectLst/>
                <a:latin typeface="Times New Roman" pitchFamily="18" charset="0"/>
                <a:ea typeface="Times New Roman" pitchFamily="18" charset="0"/>
              </a:rPr>
              <a:t>p</a:t>
            </a:r>
            <a:r>
              <a:rPr kumimoji="1" lang="en-US" altLang="zh-CN" sz="2400" i="1" baseline="-25000">
                <a:effectLst/>
                <a:latin typeface="Times New Roman" pitchFamily="18" charset="0"/>
                <a:ea typeface="Times New Roman" pitchFamily="18" charset="0"/>
              </a:rPr>
              <a:t>l</a:t>
            </a:r>
            <a:r>
              <a:rPr kumimoji="1" lang="en-US" altLang="zh-CN" sz="2400" baseline="-25000">
                <a:effectLst/>
                <a:latin typeface="Times New Roman" pitchFamily="18" charset="0"/>
                <a:ea typeface="Times New Roman" pitchFamily="18" charset="0"/>
              </a:rPr>
              <a:t>+1</a:t>
            </a:r>
            <a:r>
              <a:rPr kumimoji="1" lang="en-US" altLang="zh-CN" sz="2400">
                <a:effectLst/>
                <a:latin typeface="Times New Roman" pitchFamily="18" charset="0"/>
                <a:ea typeface="Times New Roman" pitchFamily="18" charset="0"/>
              </a:rPr>
              <a:t> (</a:t>
            </a:r>
            <a:r>
              <a:rPr kumimoji="1" lang="en-US" altLang="zh-CN" sz="2400" i="1">
                <a:effectLst/>
                <a:latin typeface="Times New Roman" pitchFamily="18" charset="0"/>
                <a:ea typeface="Times New Roman" pitchFamily="18" charset="0"/>
              </a:rPr>
              <a:t>l</a:t>
            </a:r>
            <a:r>
              <a:rPr kumimoji="1" lang="en-US" altLang="zh-CN" sz="2400">
                <a:effectLst/>
                <a:latin typeface="Times New Roman" pitchFamily="18" charset="0"/>
                <a:ea typeface="Times New Roman" pitchFamily="18" charset="0"/>
              </a:rPr>
              <a:t>=1,2</a:t>
            </a:r>
            <a:r>
              <a:rPr kumimoji="1" lang="en-US" altLang="zh-CN" sz="2400">
                <a:effectLst/>
                <a:latin typeface="宋体" pitchFamily="2" charset="-122"/>
              </a:rPr>
              <a:t>,..)</a:t>
            </a:r>
            <a:r>
              <a:rPr kumimoji="1" lang="zh-CN" altLang="en-US" sz="2400">
                <a:effectLst/>
                <a:latin typeface="Times New Roman" pitchFamily="18" charset="0"/>
                <a:ea typeface="Times New Roman" pitchFamily="18" charset="0"/>
              </a:rPr>
              <a:t>表示  </a:t>
            </a:r>
            <a:r>
              <a:rPr kumimoji="1" lang="en-US" altLang="zh-CN" sz="2400" i="1">
                <a:effectLst/>
                <a:latin typeface="Times New Roman" pitchFamily="18" charset="0"/>
                <a:ea typeface="Times New Roman" pitchFamily="18" charset="0"/>
              </a:rPr>
              <a:t>p</a:t>
            </a:r>
            <a:r>
              <a:rPr kumimoji="1" lang="en-US" altLang="zh-CN" sz="2400" i="1" baseline="-25000">
                <a:effectLst/>
                <a:latin typeface="Times New Roman" pitchFamily="18" charset="0"/>
                <a:ea typeface="Times New Roman" pitchFamily="18" charset="0"/>
              </a:rPr>
              <a:t>l</a:t>
            </a:r>
            <a:r>
              <a:rPr kumimoji="1" lang="en-US" altLang="zh-CN" sz="2400">
                <a:effectLst/>
                <a:latin typeface="Times New Roman" pitchFamily="18" charset="0"/>
                <a:ea typeface="Times New Roman" pitchFamily="18" charset="0"/>
              </a:rPr>
              <a:t> </a:t>
            </a:r>
            <a:r>
              <a:rPr kumimoji="1" lang="zh-CN" altLang="en-US" sz="2400">
                <a:effectLst/>
                <a:latin typeface="宋体" pitchFamily="2" charset="-122"/>
              </a:rPr>
              <a:t>比 </a:t>
            </a:r>
            <a:r>
              <a:rPr kumimoji="1" lang="en-US" altLang="zh-CN" sz="2400" i="1">
                <a:effectLst/>
                <a:latin typeface="Times New Roman" pitchFamily="18" charset="0"/>
                <a:ea typeface="Times New Roman" pitchFamily="18" charset="0"/>
              </a:rPr>
              <a:t>p</a:t>
            </a:r>
            <a:r>
              <a:rPr kumimoji="1" lang="en-US" altLang="zh-CN" sz="2400" i="1" baseline="-25000">
                <a:effectLst/>
                <a:latin typeface="Times New Roman" pitchFamily="18" charset="0"/>
                <a:ea typeface="Times New Roman" pitchFamily="18" charset="0"/>
              </a:rPr>
              <a:t>l</a:t>
            </a:r>
            <a:r>
              <a:rPr kumimoji="1" lang="en-US" altLang="zh-CN" sz="2400" baseline="-25000">
                <a:effectLst/>
                <a:latin typeface="Times New Roman" pitchFamily="18" charset="0"/>
                <a:ea typeface="Times New Roman" pitchFamily="18" charset="0"/>
              </a:rPr>
              <a:t>+1</a:t>
            </a:r>
            <a:r>
              <a:rPr kumimoji="1" lang="en-US" altLang="zh-CN" sz="2400">
                <a:effectLst/>
                <a:latin typeface="宋体" pitchFamily="2" charset="-122"/>
              </a:rPr>
              <a:t> </a:t>
            </a:r>
            <a:r>
              <a:rPr kumimoji="1" lang="zh-CN" altLang="en-US" sz="2400">
                <a:effectLst/>
                <a:latin typeface="宋体" pitchFamily="2" charset="-122"/>
              </a:rPr>
              <a:t>有更大的优先权。即</a:t>
            </a:r>
            <a:r>
              <a:rPr kumimoji="1" lang="en-US" altLang="zh-CN" sz="2400">
                <a:effectLst/>
                <a:latin typeface="宋体" pitchFamily="2" charset="-122"/>
              </a:rPr>
              <a:t>:</a:t>
            </a:r>
            <a:r>
              <a:rPr kumimoji="1" lang="zh-CN" altLang="en-US" sz="2400">
                <a:effectLst/>
                <a:latin typeface="宋体" pitchFamily="2" charset="-122"/>
              </a:rPr>
              <a:t>首先保证 </a:t>
            </a:r>
            <a:r>
              <a:rPr kumimoji="1" lang="en-US" altLang="zh-CN" sz="2400" i="1">
                <a:effectLst/>
                <a:latin typeface="Times New Roman" pitchFamily="18" charset="0"/>
                <a:ea typeface="Times New Roman" pitchFamily="18" charset="0"/>
              </a:rPr>
              <a:t>p</a:t>
            </a:r>
            <a:r>
              <a:rPr kumimoji="1" lang="en-US" altLang="zh-CN" sz="2400" baseline="-25000">
                <a:effectLst/>
                <a:latin typeface="Times New Roman" pitchFamily="18" charset="0"/>
                <a:ea typeface="Times New Roman" pitchFamily="18" charset="0"/>
              </a:rPr>
              <a:t>1</a:t>
            </a:r>
            <a:r>
              <a:rPr kumimoji="1" lang="en-US" altLang="zh-CN" sz="2400">
                <a:effectLst/>
                <a:latin typeface="宋体" pitchFamily="2" charset="-122"/>
              </a:rPr>
              <a:t> </a:t>
            </a:r>
            <a:r>
              <a:rPr kumimoji="1" lang="zh-CN" altLang="en-US" sz="2400">
                <a:effectLst/>
                <a:latin typeface="宋体" pitchFamily="2" charset="-122"/>
              </a:rPr>
              <a:t>级目标的实现，这时可以不考虑次级目标；而</a:t>
            </a:r>
            <a:r>
              <a:rPr kumimoji="1" lang="en-US" altLang="zh-CN" sz="2400" i="1">
                <a:effectLst/>
                <a:latin typeface="Times New Roman" pitchFamily="18" charset="0"/>
                <a:ea typeface="Times New Roman" pitchFamily="18" charset="0"/>
              </a:rPr>
              <a:t>p</a:t>
            </a:r>
            <a:r>
              <a:rPr kumimoji="1" lang="en-US" altLang="zh-CN" sz="2400" baseline="-25000">
                <a:effectLst/>
                <a:latin typeface="Times New Roman" pitchFamily="18" charset="0"/>
                <a:ea typeface="Times New Roman" pitchFamily="18" charset="0"/>
              </a:rPr>
              <a:t>2</a:t>
            </a:r>
            <a:r>
              <a:rPr kumimoji="1" lang="zh-CN" altLang="en-US" sz="2400">
                <a:effectLst/>
                <a:latin typeface="宋体" pitchFamily="2" charset="-122"/>
              </a:rPr>
              <a:t>级目标是在实现</a:t>
            </a:r>
            <a:r>
              <a:rPr kumimoji="1" lang="en-US" altLang="zh-CN" sz="2400" i="1">
                <a:effectLst/>
                <a:latin typeface="Times New Roman" pitchFamily="18" charset="0"/>
                <a:ea typeface="Times New Roman" pitchFamily="18" charset="0"/>
              </a:rPr>
              <a:t>p</a:t>
            </a:r>
            <a:r>
              <a:rPr kumimoji="1" lang="en-US" altLang="zh-CN" sz="2400" baseline="-25000">
                <a:effectLst/>
                <a:latin typeface="Times New Roman" pitchFamily="18" charset="0"/>
                <a:ea typeface="Times New Roman" pitchFamily="18" charset="0"/>
              </a:rPr>
              <a:t>1</a:t>
            </a:r>
            <a:r>
              <a:rPr kumimoji="1" lang="en-US" altLang="zh-CN" sz="2400">
                <a:effectLst/>
                <a:latin typeface="宋体" pitchFamily="2" charset="-122"/>
              </a:rPr>
              <a:t> </a:t>
            </a:r>
            <a:r>
              <a:rPr kumimoji="1" lang="zh-CN" altLang="en-US" sz="2400">
                <a:effectLst/>
                <a:latin typeface="宋体" pitchFamily="2" charset="-122"/>
              </a:rPr>
              <a:t>级目标的基础上考虑的；依此类推。</a:t>
            </a:r>
            <a:endParaRPr kumimoji="1" lang="zh-CN" altLang="en-US" sz="2400">
              <a:effectLst/>
              <a:latin typeface="Times New Roman" pitchFamily="18" charset="0"/>
              <a:ea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51203">
                                            <p:txEl>
                                              <p:charRg st="0" end="18"/>
                                            </p:txEl>
                                          </p:spTgt>
                                        </p:tgtEl>
                                        <p:attrNameLst>
                                          <p:attrName>style.visibility</p:attrName>
                                        </p:attrNameLst>
                                      </p:cBhvr>
                                      <p:to>
                                        <p:strVal val="visible"/>
                                      </p:to>
                                    </p:set>
                                    <p:animEffect transition="in" filter="blinds(horizontal)">
                                      <p:cBhvr additive="base">
                                        <p:cTn id="7" dur="500"/>
                                        <p:tgtEl>
                                          <p:spTgt spid="51203">
                                            <p:txEl>
                                              <p:charRg st="0" end="18"/>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51203">
                                            <p:txEl>
                                              <p:charRg st="18" end="207"/>
                                            </p:txEl>
                                          </p:spTgt>
                                        </p:tgtEl>
                                        <p:attrNameLst>
                                          <p:attrName>style.visibility</p:attrName>
                                        </p:attrNameLst>
                                      </p:cBhvr>
                                      <p:to>
                                        <p:strVal val="visible"/>
                                      </p:to>
                                    </p:set>
                                    <p:animEffect transition="in" filter="blinds(horizontal)">
                                      <p:cBhvr additive="base">
                                        <p:cTn id="13" dur="500"/>
                                        <p:tgtEl>
                                          <p:spTgt spid="51203">
                                            <p:txEl>
                                              <p:charRg st="18" end="207"/>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51202">
                                            <p:txEl>
                                              <p:charRg st="0" end="89"/>
                                            </p:txEl>
                                          </p:spTgt>
                                        </p:tgtEl>
                                        <p:attrNameLst>
                                          <p:attrName>style.visibility</p:attrName>
                                        </p:attrNameLst>
                                      </p:cBhvr>
                                      <p:to>
                                        <p:strVal val="visible"/>
                                      </p:to>
                                    </p:set>
                                    <p:animEffect transition="in" filter="blinds(horizontal)">
                                      <p:cBhvr additive="base">
                                        <p:cTn id="19" dur="500"/>
                                        <p:tgtEl>
                                          <p:spTgt spid="51202">
                                            <p:txEl>
                                              <p:charRg st="0" end="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MasterSp="0">
  <p:cSld>
    <p:spTree>
      <p:nvGrpSpPr>
        <p:cNvPr id="1" name=""/>
        <p:cNvGrpSpPr/>
        <p:nvPr/>
      </p:nvGrpSpPr>
      <p:grpSpPr>
        <a:xfrm>
          <a:off x="0" y="0"/>
          <a:ext cx="0" cy="0"/>
        </a:xfrm>
        <a:effectLst/>
      </p:grpSpPr>
      <p:sp>
        <p:nvSpPr>
          <p:cNvPr id="52226" name="Text Box 2"/>
          <p:cNvSpPr txBox="1">
            <a:spLocks noChangeArrowheads="1"/>
          </p:cNvSpPr>
          <p:nvPr/>
        </p:nvSpPr>
        <p:spPr>
          <a:xfrm>
            <a:off x="539750" y="476250"/>
            <a:ext cx="8072565" cy="1967926"/>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25146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6pPr>
            <a:lvl7pPr marL="29718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7pPr>
            <a:lvl8pPr marL="3429000" indent="-228600" algn="l" defTabSz="914400" rtl="0" eaLnBrk="0" fontAlgn="base" latinLnBrk="0" hangingPunct="0">
              <a:lnSpc>
                <a:spcPct val="100000"/>
              </a:lnSpc>
              <a:spcBef>
                <a:spcPct val="0"/>
              </a:spcBef>
              <a:spcAft>
                <a:spcPct val="0"/>
              </a:spcAft>
              <a:buNone/>
              <a:defRPr kumimoji="0" lang="zh-CN" altLang="en-US" b="0" i="0" u="none" kern="1200" baseline="0">
                <a:solidFill>
                  <a:schemeClr val="tx1"/>
                </a:solidFill>
                <a:effectLst/>
                <a:latin typeface="Arial"/>
                <a:ea typeface="宋体" panose="02010600030101010101" pitchFamily="2" charset="-122"/>
                <a:cs typeface="Arial"/>
              </a:defRPr>
            </a:lvl8pPr>
            <a:lvl9pPr marL="3886200" indent="-228600" eaLnBrk="0" fontAlgn="base" hangingPunct="0">
              <a:spcBef>
                <a:spcPct val="0"/>
              </a:spcBef>
              <a:spcAft>
                <a:spcPct val="0"/>
              </a:spcAft>
              <a:defRPr lang="zh-CN" altLang="en-US">
                <a:solidFill>
                  <a:schemeClr val="tx1"/>
                </a:solidFill>
                <a:effectLst/>
                <a:latin typeface="Arial"/>
                <a:ea typeface="宋体" panose="02010600030101010101" pitchFamily="2" charset="-122"/>
              </a:defRPr>
            </a:lvl9pPr>
          </a:lstStyle>
          <a:p>
            <a:pPr marL="0" marR="0" lvl="0" indent="0" eaLnBrk="1" hangingPunct="1">
              <a:spcBef>
                <a:spcPct val="50000"/>
              </a:spcBef>
              <a:buSzPct val="120000"/>
            </a:pPr>
            <a:r>
              <a:rPr kumimoji="1" lang="en-US" altLang="zh-CN" sz="2400" b="1">
                <a:solidFill>
                  <a:schemeClr val="accent2"/>
                </a:solidFill>
                <a:effectLst/>
                <a:latin typeface="黑体" pitchFamily="49" charset="-122"/>
                <a:ea typeface="黑体" pitchFamily="49" charset="-122"/>
              </a:rPr>
              <a:t>(4)</a:t>
            </a:r>
            <a:r>
              <a:rPr kumimoji="1" lang="zh-CN" altLang="en-US" sz="2400" b="1">
                <a:solidFill>
                  <a:schemeClr val="accent2"/>
                </a:solidFill>
                <a:effectLst/>
                <a:latin typeface="黑体" pitchFamily="49" charset="-122"/>
                <a:ea typeface="黑体" pitchFamily="49" charset="-122"/>
              </a:rPr>
              <a:t>目标函数</a:t>
            </a:r>
          </a:p>
          <a:p>
            <a:pPr marL="0" marR="0" lvl="0" indent="0" eaLnBrk="1" hangingPunct="1">
              <a:spcBef>
                <a:spcPct val="50000"/>
              </a:spcBef>
            </a:pPr>
            <a:r>
              <a:rPr kumimoji="1" lang="zh-CN" altLang="en-US" sz="2200">
                <a:effectLst/>
                <a:latin typeface="黑体" pitchFamily="49" charset="-122"/>
                <a:ea typeface="黑体" pitchFamily="49" charset="-122"/>
              </a:rPr>
              <a:t>    </a:t>
            </a:r>
            <a:r>
              <a:rPr kumimoji="1" lang="zh-CN" altLang="en-US" sz="2200">
                <a:effectLst/>
                <a:latin typeface="宋体" pitchFamily="2" charset="-122"/>
              </a:rPr>
              <a:t>目标规划的目标函数（准则函数）是按照各目标约束的正、负偏差变量和赋予相应的优先因子而构造的。当每一目标确定后，尽可能缩小与目标值的偏离。因此，目标规划的目标函数只能是：</a:t>
            </a:r>
          </a:p>
        </p:txBody>
      </p:sp>
      <p:graphicFrame>
        <p:nvGraphicFramePr>
          <p:cNvPr id="52227" name="Object 11"/>
          <p:cNvGraphicFramePr>
            <a:graphicFrameLocks noChangeAspect="1"/>
          </p:cNvGraphicFramePr>
          <p:nvPr/>
        </p:nvGraphicFramePr>
        <p:xfrm>
          <a:off x="3851275" y="2238375"/>
          <a:ext cx="2663825" cy="469900"/>
        </p:xfrm>
        <a:graphic>
          <a:graphicData uri="http://schemas.openxmlformats.org/presentationml/2006/ole">
            <mc:AlternateContent xmlns:mc="http://schemas.openxmlformats.org/markup-compatibility/2006">
              <mc:Choice xmlns:v="urn:schemas-microsoft-com:vml" Requires="v">
                <p:oleObj spid="_x0000_s1097" name="Equation" r:id="rId2" progId="Equation.DSMT4">
                  <p:embed/>
                </p:oleObj>
              </mc:Choice>
              <mc:Fallback>
                <p:oleObj spid="_x0000_s1097" name="Equation" r:id="rId2" progId="Equation.DSMT4">
                  <p:embed/>
                  <p:pic>
                    <p:nvPicPr>
                      <p:cNvPr id="0" name="OLE substitute image"/>
                      <p:cNvPicPr/>
                      <p:nvPr/>
                    </p:nvPicPr>
                    <p:blipFill>
                      <a:blip r:embed="rId3"/>
                      <a:stretch/>
                    </p:blipFill>
                    <p:spPr>
                      <a:xfrm>
                        <a:off x="3851275" y="2238375"/>
                        <a:ext cx="2663825" cy="469900"/>
                      </a:xfrm>
                      <a:prstGeom prst="rect">
                        <a:avLst/>
                      </a:prstGeom>
                      <a:noFill/>
                      <a:effectLst/>
                    </p:spPr>
                  </p:pic>
                </p:oleObj>
              </mc:Fallback>
            </mc:AlternateContent>
          </a:graphicData>
        </a:graphic>
      </p:graphicFrame>
      <p:sp>
        <p:nvSpPr>
          <p:cNvPr id="52228" name="Rectangle 18"/>
          <p:cNvSpPr/>
          <p:nvPr/>
        </p:nvSpPr>
        <p:spPr>
          <a:xfrm>
            <a:off x="468312" y="3068638"/>
            <a:ext cx="8078788" cy="1219200"/>
          </a:xfrm>
          <a:prstGeom prst="rect">
            <a:avLst/>
          </a:prstGeom>
          <a:noFill/>
          <a:ln>
            <a:noFill/>
            <a:miter lim="800000"/>
          </a:ln>
          <a:effectLst/>
        </p:spPr>
        <p:txBody>
          <a:bodyPr>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342900" lvl="0" indent="-342900" eaLnBrk="1" hangingPunct="1">
              <a:lnSpc>
                <a:spcPct val="120000"/>
              </a:lnSpc>
            </a:pPr>
            <a:r>
              <a:rPr lang="en-US" altLang="zh-CN" sz="2200">
                <a:effectLst/>
                <a:latin typeface="Times New Roman" pitchFamily="18" charset="0"/>
                <a:ea typeface="黑体" pitchFamily="49" charset="-122"/>
              </a:rPr>
              <a:t>a) </a:t>
            </a:r>
            <a:r>
              <a:rPr lang="zh-CN" altLang="en-US" sz="2200">
                <a:effectLst/>
                <a:latin typeface="宋体" pitchFamily="2" charset="-122"/>
                <a:ea typeface="黑体" pitchFamily="49" charset="-122"/>
              </a:rPr>
              <a:t>要求恰好达到目标值，就是正、负偏差变量都要尽可能小</a:t>
            </a:r>
            <a:r>
              <a:rPr lang="en-US" altLang="zh-CN" sz="2200">
                <a:effectLst/>
                <a:latin typeface="宋体" pitchFamily="2" charset="-122"/>
                <a:ea typeface="黑体" pitchFamily="49" charset="-122"/>
              </a:rPr>
              <a:t>,</a:t>
            </a:r>
            <a:r>
              <a:rPr lang="zh-CN" altLang="en-US" sz="2200">
                <a:effectLst/>
                <a:latin typeface="宋体" pitchFamily="2" charset="-122"/>
                <a:ea typeface="黑体" pitchFamily="49" charset="-122"/>
              </a:rPr>
              <a:t>即 </a:t>
            </a:r>
          </a:p>
        </p:txBody>
      </p:sp>
      <p:graphicFrame>
        <p:nvGraphicFramePr>
          <p:cNvPr id="52229" name="Object 19"/>
          <p:cNvGraphicFramePr>
            <a:graphicFrameLocks noChangeAspect="1"/>
          </p:cNvGraphicFramePr>
          <p:nvPr/>
        </p:nvGraphicFramePr>
        <p:xfrm>
          <a:off x="3203575" y="3429000"/>
          <a:ext cx="3119438" cy="576262"/>
        </p:xfrm>
        <a:graphic>
          <a:graphicData uri="http://schemas.openxmlformats.org/presentationml/2006/ole">
            <mc:AlternateContent xmlns:mc="http://schemas.openxmlformats.org/markup-compatibility/2006">
              <mc:Choice xmlns:v="urn:schemas-microsoft-com:vml" Requires="v">
                <p:oleObj spid="_x0000_s1098" name="Equation" r:id="rId4" progId="Equation.DSMT4">
                  <p:embed/>
                </p:oleObj>
              </mc:Choice>
              <mc:Fallback>
                <p:oleObj spid="_x0000_s1098" name="Equation" r:id="rId4" progId="Equation.DSMT4">
                  <p:embed/>
                  <p:pic>
                    <p:nvPicPr>
                      <p:cNvPr id="0" name="OLE substitute image"/>
                      <p:cNvPicPr/>
                      <p:nvPr/>
                    </p:nvPicPr>
                    <p:blipFill>
                      <a:blip r:embed="rId5"/>
                      <a:stretch/>
                    </p:blipFill>
                    <p:spPr>
                      <a:xfrm>
                        <a:off x="3203575" y="3429000"/>
                        <a:ext cx="3119438" cy="576262"/>
                      </a:xfrm>
                      <a:prstGeom prst="rect">
                        <a:avLst/>
                      </a:prstGeom>
                      <a:noFill/>
                      <a:effectLst/>
                    </p:spPr>
                  </p:pic>
                </p:oleObj>
              </mc:Fallback>
            </mc:AlternateContent>
          </a:graphicData>
        </a:graphic>
      </p:graphicFrame>
      <p:sp>
        <p:nvSpPr>
          <p:cNvPr id="52230" name="Rectangle 20"/>
          <p:cNvSpPr>
            <a:spLocks noChangeArrowheads="1"/>
          </p:cNvSpPr>
          <p:nvPr/>
        </p:nvSpPr>
        <p:spPr>
          <a:xfrm>
            <a:off x="464317" y="4005263"/>
            <a:ext cx="7999467" cy="897008"/>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just" eaLnBrk="1" hangingPunct="1">
              <a:lnSpc>
                <a:spcPct val="120000"/>
              </a:lnSpc>
            </a:pPr>
            <a:r>
              <a:rPr kumimoji="1" lang="en-US" altLang="zh-CN" sz="2200">
                <a:effectLst/>
                <a:latin typeface="Times New Roman" pitchFamily="18" charset="0"/>
                <a:ea typeface="黑体" pitchFamily="49" charset="-122"/>
              </a:rPr>
              <a:t>b) </a:t>
            </a:r>
            <a:r>
              <a:rPr kumimoji="1" lang="zh-CN" altLang="en-US" sz="2200">
                <a:effectLst/>
                <a:latin typeface="宋体" pitchFamily="2" charset="-122"/>
              </a:rPr>
              <a:t>要求不超过目标值，即允许达不到目标值，就是正偏差变量要尽可能小，即</a:t>
            </a:r>
          </a:p>
        </p:txBody>
      </p:sp>
      <p:graphicFrame>
        <p:nvGraphicFramePr>
          <p:cNvPr id="52231" name="Object 21"/>
          <p:cNvGraphicFramePr>
            <a:graphicFrameLocks noChangeAspect="1"/>
          </p:cNvGraphicFramePr>
          <p:nvPr/>
        </p:nvGraphicFramePr>
        <p:xfrm>
          <a:off x="4427538" y="4437062"/>
          <a:ext cx="1920875" cy="396875"/>
        </p:xfrm>
        <a:graphic>
          <a:graphicData uri="http://schemas.openxmlformats.org/presentationml/2006/ole">
            <mc:AlternateContent xmlns:mc="http://schemas.openxmlformats.org/markup-compatibility/2006">
              <mc:Choice xmlns:v="urn:schemas-microsoft-com:vml" Requires="v">
                <p:oleObj spid="_x0000_s1099" name="公式" r:id="rId6" progId="Equation.3">
                  <p:embed/>
                </p:oleObj>
              </mc:Choice>
              <mc:Fallback>
                <p:oleObj spid="_x0000_s1099" name="公式" r:id="rId6" progId="Equation.3">
                  <p:embed/>
                  <p:pic>
                    <p:nvPicPr>
                      <p:cNvPr id="0" name="OLE substitute image"/>
                      <p:cNvPicPr/>
                      <p:nvPr/>
                    </p:nvPicPr>
                    <p:blipFill>
                      <a:blip r:embed="rId7"/>
                      <a:stretch/>
                    </p:blipFill>
                    <p:spPr>
                      <a:xfrm>
                        <a:off x="4427538" y="4437062"/>
                        <a:ext cx="1920875" cy="396875"/>
                      </a:xfrm>
                      <a:prstGeom prst="rect">
                        <a:avLst/>
                      </a:prstGeom>
                      <a:noFill/>
                      <a:effectLst/>
                    </p:spPr>
                  </p:pic>
                </p:oleObj>
              </mc:Fallback>
            </mc:AlternateContent>
          </a:graphicData>
        </a:graphic>
      </p:graphicFrame>
      <p:sp>
        <p:nvSpPr>
          <p:cNvPr id="52232" name="Rectangle 22"/>
          <p:cNvSpPr>
            <a:spLocks noChangeArrowheads="1"/>
          </p:cNvSpPr>
          <p:nvPr/>
        </p:nvSpPr>
        <p:spPr>
          <a:xfrm>
            <a:off x="250825" y="4868863"/>
            <a:ext cx="8361779" cy="897008"/>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lnSpc>
                <a:spcPct val="120000"/>
              </a:lnSpc>
            </a:pPr>
            <a:r>
              <a:rPr kumimoji="1" lang="en-US" altLang="zh-CN" sz="2200">
                <a:effectLst/>
                <a:latin typeface="黑体" pitchFamily="49" charset="-122"/>
                <a:ea typeface="黑体" pitchFamily="49" charset="-122"/>
              </a:rPr>
              <a:t> </a:t>
            </a:r>
            <a:r>
              <a:rPr kumimoji="1" lang="en-US" altLang="zh-CN" sz="2200">
                <a:effectLst/>
                <a:latin typeface="Times New Roman" pitchFamily="18" charset="0"/>
                <a:ea typeface="黑体" pitchFamily="49" charset="-122"/>
              </a:rPr>
              <a:t> c) </a:t>
            </a:r>
            <a:r>
              <a:rPr kumimoji="1" lang="zh-CN" altLang="en-US" sz="2200">
                <a:effectLst/>
                <a:latin typeface="宋体" pitchFamily="2" charset="-122"/>
              </a:rPr>
              <a:t>要求超过目标值，也就是超过量不限，但负偏差变量要尽可能小，即 </a:t>
            </a:r>
          </a:p>
        </p:txBody>
      </p:sp>
      <p:graphicFrame>
        <p:nvGraphicFramePr>
          <p:cNvPr id="52233" name="Object 23"/>
          <p:cNvGraphicFramePr>
            <a:graphicFrameLocks noChangeAspect="1"/>
          </p:cNvGraphicFramePr>
          <p:nvPr/>
        </p:nvGraphicFramePr>
        <p:xfrm>
          <a:off x="3348038" y="5337175"/>
          <a:ext cx="2160588" cy="468312"/>
        </p:xfrm>
        <a:graphic>
          <a:graphicData uri="http://schemas.openxmlformats.org/presentationml/2006/ole">
            <mc:AlternateContent xmlns:mc="http://schemas.openxmlformats.org/markup-compatibility/2006">
              <mc:Choice xmlns:v="urn:schemas-microsoft-com:vml" Requires="v">
                <p:oleObj spid="_x0000_s1100" name="Equation" r:id="rId8" progId="Equation.3">
                  <p:embed/>
                </p:oleObj>
              </mc:Choice>
              <mc:Fallback>
                <p:oleObj spid="_x0000_s1100" name="Equation" r:id="rId8" progId="Equation.3">
                  <p:embed/>
                  <p:pic>
                    <p:nvPicPr>
                      <p:cNvPr id="0" name="OLE substitute image"/>
                      <p:cNvPicPr/>
                      <p:nvPr/>
                    </p:nvPicPr>
                    <p:blipFill>
                      <a:blip r:embed="rId9"/>
                      <a:stretch/>
                    </p:blipFill>
                    <p:spPr>
                      <a:xfrm>
                        <a:off x="3348038" y="5337175"/>
                        <a:ext cx="2160588" cy="468312"/>
                      </a:xfrm>
                      <a:prstGeom prst="rect">
                        <a:avLst/>
                      </a:prstGeom>
                      <a:noFill/>
                      <a:effectLst/>
                    </p:spPr>
                  </p:pic>
                </p:oleObj>
              </mc:Fallback>
            </mc:AlternateContent>
          </a:graphicData>
        </a:graphic>
      </p:graphicFrame>
      <p:sp>
        <p:nvSpPr>
          <p:cNvPr id="52234" name="Rectangle 24"/>
          <p:cNvSpPr>
            <a:spLocks noChangeArrowheads="1"/>
          </p:cNvSpPr>
          <p:nvPr/>
        </p:nvSpPr>
        <p:spPr>
          <a:xfrm>
            <a:off x="640776" y="2592388"/>
            <a:ext cx="2420498" cy="427147"/>
          </a:xfrm>
          <a:prstGeom prst="rect">
            <a:avLst/>
          </a:prstGeom>
          <a:noFill/>
          <a:ln>
            <a:noFill/>
          </a:ln>
          <a:effectLst/>
          <a:ex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algn="ctr" eaLnBrk="1" hangingPunct="1"/>
            <a:r>
              <a:rPr kumimoji="1" lang="zh-CN" altLang="en-US" sz="2200">
                <a:effectLst/>
                <a:latin typeface="宋体" pitchFamily="2" charset="-122"/>
              </a:rPr>
              <a:t>基本形式有三种：</a:t>
            </a:r>
          </a:p>
        </p:txBody>
      </p:sp>
      <p:sp>
        <p:nvSpPr>
          <p:cNvPr id="52235" name="Rectangle 25"/>
          <p:cNvSpPr>
            <a:spLocks noChangeArrowheads="1"/>
          </p:cNvSpPr>
          <p:nvPr/>
        </p:nvSpPr>
        <p:spPr>
          <a:xfrm>
            <a:off x="468313" y="5876925"/>
            <a:ext cx="8217171" cy="762762"/>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lang="zh-CN" altLang="en-US" sz="2200">
                <a:effectLst/>
                <a:latin typeface="宋体" pitchFamily="2" charset="-122"/>
              </a:rPr>
              <a:t>对每一个具体目标规划问题，可根据决策者的要求和赋于各目标的优先因子来构造目标函数。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52226"/>
                                        </p:tgtEl>
                                        <p:attrNameLst>
                                          <p:attrName>style.visibility</p:attrName>
                                        </p:attrNameLst>
                                      </p:cBhvr>
                                      <p:to>
                                        <p:strVal val="visible"/>
                                      </p:to>
                                    </p:set>
                                    <p:animEffect transition="in" filter="wipe(left)">
                                      <p:cBhvr additive="base">
                                        <p:cTn id="7" dur="500"/>
                                        <p:tgtEl>
                                          <p:spTgt spid="52226"/>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52227"/>
                                        </p:tgtEl>
                                        <p:attrNameLst>
                                          <p:attrName>style.visibility</p:attrName>
                                        </p:attrNameLst>
                                      </p:cBhvr>
                                      <p:to>
                                        <p:strVal val="visible"/>
                                      </p:to>
                                    </p:set>
                                    <p:animEffect transition="in" filter="wipe(left)">
                                      <p:cBhvr additive="base">
                                        <p:cTn id="13" dur="500"/>
                                        <p:tgtEl>
                                          <p:spTgt spid="52227"/>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grpId="4" nodeType="clickEffect">
                                  <p:stCondLst>
                                    <p:cond delay="-9223372036854775808"/>
                                  </p:stCondLst>
                                  <p:childTnLst>
                                    <p:set>
                                      <p:cBhvr additive="base">
                                        <p:cTn id="18" dur="1" fill="hold">
                                          <p:stCondLst>
                                            <p:cond delay="0"/>
                                          </p:stCondLst>
                                        </p:cTn>
                                        <p:tgtEl>
                                          <p:spTgt spid="52234"/>
                                        </p:tgtEl>
                                        <p:attrNameLst>
                                          <p:attrName>style.visibility</p:attrName>
                                        </p:attrNameLst>
                                      </p:cBhvr>
                                      <p:to>
                                        <p:strVal val="visible"/>
                                      </p:to>
                                    </p:set>
                                    <p:animEffect transition="in" filter="wipe(left)">
                                      <p:cBhvr additive="base">
                                        <p:cTn id="19" dur="500"/>
                                        <p:tgtEl>
                                          <p:spTgt spid="52234"/>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8" fill="hold" grpId="1" nodeType="clickEffect">
                                  <p:stCondLst>
                                    <p:cond delay="-9223372036854775808"/>
                                  </p:stCondLst>
                                  <p:childTnLst>
                                    <p:set>
                                      <p:cBhvr additive="base">
                                        <p:cTn id="24" dur="1" fill="hold">
                                          <p:stCondLst>
                                            <p:cond delay="0"/>
                                          </p:stCondLst>
                                        </p:cTn>
                                        <p:tgtEl>
                                          <p:spTgt spid="52228"/>
                                        </p:tgtEl>
                                        <p:attrNameLst>
                                          <p:attrName>style.visibility</p:attrName>
                                        </p:attrNameLst>
                                      </p:cBhvr>
                                      <p:to>
                                        <p:strVal val="visible"/>
                                      </p:to>
                                    </p:set>
                                    <p:animEffect transition="in" filter="wipe(left)">
                                      <p:cBhvr additive="base">
                                        <p:cTn id="25" dur="500"/>
                                        <p:tgtEl>
                                          <p:spTgt spid="52228"/>
                                        </p:tgtEl>
                                      </p:cBhvr>
                                    </p:animEffect>
                                  </p:childTnLst>
                                </p:cTn>
                              </p:par>
                              <p:par>
                                <p:cTn id="26" presetID="22" presetClass="entr" presetSubtype="8" fill="hold" nodeType="withEffect">
                                  <p:stCondLst>
                                    <p:cond delay="-9223372036854775808"/>
                                  </p:stCondLst>
                                  <p:childTnLst>
                                    <p:set>
                                      <p:cBhvr additive="base">
                                        <p:cTn id="27" dur="1" fill="hold">
                                          <p:stCondLst>
                                            <p:cond delay="0"/>
                                          </p:stCondLst>
                                        </p:cTn>
                                        <p:tgtEl>
                                          <p:spTgt spid="52229"/>
                                        </p:tgtEl>
                                        <p:attrNameLst>
                                          <p:attrName>style.visibility</p:attrName>
                                        </p:attrNameLst>
                                      </p:cBhvr>
                                      <p:to>
                                        <p:strVal val="visible"/>
                                      </p:to>
                                    </p:set>
                                    <p:animEffect transition="in" filter="wipe(left)">
                                      <p:cBhvr additive="base">
                                        <p:cTn id="28" dur="500"/>
                                        <p:tgtEl>
                                          <p:spTgt spid="52229"/>
                                        </p:tgtEl>
                                      </p:cBhvr>
                                    </p:animEffect>
                                  </p:childTnLst>
                                </p:cTn>
                              </p:par>
                            </p:childTnLst>
                          </p:cTn>
                        </p:par>
                      </p:childTnLst>
                    </p:cTn>
                  </p:par>
                  <p:par>
                    <p:cTn id="29" fill="hold">
                      <p:stCondLst>
                        <p:cond delay="indefinite"/>
                      </p:stCondLst>
                      <p:childTnLst>
                        <p:par>
                          <p:cTn id="30" fill="hold">
                            <p:stCondLst>
                              <p:cond delay="indefinite"/>
                            </p:stCondLst>
                          </p:cTn>
                        </p:par>
                        <p:par>
                          <p:cTn id="31" fill="hold">
                            <p:stCondLst>
                              <p:cond delay="0"/>
                            </p:stCondLst>
                            <p:childTnLst>
                              <p:par>
                                <p:cTn id="32" presetID="22" presetClass="entr" presetSubtype="8" fill="hold" grpId="2" nodeType="clickEffect">
                                  <p:stCondLst>
                                    <p:cond delay="-9223372036854775808"/>
                                  </p:stCondLst>
                                  <p:childTnLst>
                                    <p:set>
                                      <p:cBhvr additive="base">
                                        <p:cTn id="33" dur="1" fill="hold">
                                          <p:stCondLst>
                                            <p:cond delay="0"/>
                                          </p:stCondLst>
                                        </p:cTn>
                                        <p:tgtEl>
                                          <p:spTgt spid="52230"/>
                                        </p:tgtEl>
                                        <p:attrNameLst>
                                          <p:attrName>style.visibility</p:attrName>
                                        </p:attrNameLst>
                                      </p:cBhvr>
                                      <p:to>
                                        <p:strVal val="visible"/>
                                      </p:to>
                                    </p:set>
                                    <p:animEffect transition="in" filter="wipe(left)">
                                      <p:cBhvr additive="base">
                                        <p:cTn id="34" dur="500"/>
                                        <p:tgtEl>
                                          <p:spTgt spid="52230"/>
                                        </p:tgtEl>
                                      </p:cBhvr>
                                    </p:animEffect>
                                  </p:childTnLst>
                                </p:cTn>
                              </p:par>
                              <p:par>
                                <p:cTn id="35" presetID="22" presetClass="entr" presetSubtype="8" fill="hold" nodeType="withEffect">
                                  <p:stCondLst>
                                    <p:cond delay="-9223372036854775808"/>
                                  </p:stCondLst>
                                  <p:childTnLst>
                                    <p:set>
                                      <p:cBhvr additive="base">
                                        <p:cTn id="36" dur="1" fill="hold">
                                          <p:stCondLst>
                                            <p:cond delay="0"/>
                                          </p:stCondLst>
                                        </p:cTn>
                                        <p:tgtEl>
                                          <p:spTgt spid="52231"/>
                                        </p:tgtEl>
                                        <p:attrNameLst>
                                          <p:attrName>style.visibility</p:attrName>
                                        </p:attrNameLst>
                                      </p:cBhvr>
                                      <p:to>
                                        <p:strVal val="visible"/>
                                      </p:to>
                                    </p:set>
                                    <p:animEffect transition="in" filter="wipe(left)">
                                      <p:cBhvr additive="base">
                                        <p:cTn id="37" dur="500"/>
                                        <p:tgtEl>
                                          <p:spTgt spid="52231"/>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22" presetClass="entr" presetSubtype="8" fill="hold" grpId="3" nodeType="clickEffect">
                                  <p:stCondLst>
                                    <p:cond delay="-9223372036854775808"/>
                                  </p:stCondLst>
                                  <p:childTnLst>
                                    <p:set>
                                      <p:cBhvr additive="base">
                                        <p:cTn id="42" dur="1" fill="hold">
                                          <p:stCondLst>
                                            <p:cond delay="0"/>
                                          </p:stCondLst>
                                        </p:cTn>
                                        <p:tgtEl>
                                          <p:spTgt spid="52232"/>
                                        </p:tgtEl>
                                        <p:attrNameLst>
                                          <p:attrName>style.visibility</p:attrName>
                                        </p:attrNameLst>
                                      </p:cBhvr>
                                      <p:to>
                                        <p:strVal val="visible"/>
                                      </p:to>
                                    </p:set>
                                    <p:animEffect transition="in" filter="wipe(left)">
                                      <p:cBhvr additive="base">
                                        <p:cTn id="43" dur="500"/>
                                        <p:tgtEl>
                                          <p:spTgt spid="52232"/>
                                        </p:tgtEl>
                                      </p:cBhvr>
                                    </p:animEffect>
                                  </p:childTnLst>
                                </p:cTn>
                              </p:par>
                              <p:par>
                                <p:cTn id="44" presetID="22" presetClass="entr" presetSubtype="8" fill="hold" nodeType="withEffect">
                                  <p:stCondLst>
                                    <p:cond delay="-9223372036854775808"/>
                                  </p:stCondLst>
                                  <p:childTnLst>
                                    <p:set>
                                      <p:cBhvr additive="base">
                                        <p:cTn id="45" dur="1" fill="hold">
                                          <p:stCondLst>
                                            <p:cond delay="0"/>
                                          </p:stCondLst>
                                        </p:cTn>
                                        <p:tgtEl>
                                          <p:spTgt spid="52233"/>
                                        </p:tgtEl>
                                        <p:attrNameLst>
                                          <p:attrName>style.visibility</p:attrName>
                                        </p:attrNameLst>
                                      </p:cBhvr>
                                      <p:to>
                                        <p:strVal val="visible"/>
                                      </p:to>
                                    </p:set>
                                    <p:animEffect transition="in" filter="wipe(left)">
                                      <p:cBhvr additive="base">
                                        <p:cTn id="46" dur="500"/>
                                        <p:tgtEl>
                                          <p:spTgt spid="52233"/>
                                        </p:tgtEl>
                                      </p:cBhvr>
                                    </p:animEffect>
                                  </p:childTnLst>
                                </p:cTn>
                              </p:par>
                            </p:childTnLst>
                          </p:cTn>
                        </p:par>
                      </p:childTnLst>
                    </p:cTn>
                  </p:par>
                  <p:par>
                    <p:cTn id="47" fill="hold">
                      <p:stCondLst>
                        <p:cond delay="indefinite"/>
                      </p:stCondLst>
                      <p:childTnLst>
                        <p:par>
                          <p:cTn id="48" fill="hold">
                            <p:stCondLst>
                              <p:cond delay="indefinite"/>
                            </p:stCondLst>
                          </p:cTn>
                        </p:par>
                        <p:par>
                          <p:cTn id="49" fill="hold">
                            <p:stCondLst>
                              <p:cond delay="0"/>
                            </p:stCondLst>
                            <p:childTnLst>
                              <p:par>
                                <p:cTn id="50" presetID="3" presetClass="entr" presetSubtype="10" fill="hold" grpId="5" nodeType="clickEffect">
                                  <p:stCondLst>
                                    <p:cond delay="-9223372036854775808"/>
                                  </p:stCondLst>
                                  <p:childTnLst>
                                    <p:set>
                                      <p:cBhvr additive="base">
                                        <p:cTn id="51" dur="1" fill="hold">
                                          <p:stCondLst>
                                            <p:cond delay="0"/>
                                          </p:stCondLst>
                                        </p:cTn>
                                        <p:tgtEl>
                                          <p:spTgt spid="52235"/>
                                        </p:tgtEl>
                                        <p:attrNameLst>
                                          <p:attrName>style.visibility</p:attrName>
                                        </p:attrNameLst>
                                      </p:cBhvr>
                                      <p:to>
                                        <p:strVal val="visible"/>
                                      </p:to>
                                    </p:set>
                                    <p:animEffect transition="in" filter="blinds(horizontal)">
                                      <p:cBhvr additive="base">
                                        <p:cTn id="52" dur="500"/>
                                        <p:tgtEl>
                                          <p:spTgt spid="52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52228" grpId="1"/>
      <p:bldP spid="52230" grpId="2"/>
      <p:bldP spid="52232" grpId="3"/>
      <p:bldP spid="52234" grpId="4"/>
      <p:bldP spid="52235" grpId="5"/>
    </p:bldLst>
  </p:timing>
</p:sld>
</file>

<file path=ppt/slides/slide5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3250" name="Rectangle 2"/>
          <p:cNvSpPr>
            <a:spLocks noChangeArrowheads="1"/>
          </p:cNvSpPr>
          <p:nvPr/>
        </p:nvSpPr>
        <p:spPr>
          <a:xfrm>
            <a:off x="323850" y="1636571"/>
            <a:ext cx="8828970" cy="1556035"/>
          </a:xfrm>
          <a:prstGeom prst="rect">
            <a:avLst/>
          </a:prstGeom>
          <a:noFill/>
          <a:ln>
            <a:noFill/>
          </a:ln>
          <a:effectLst/>
          <a:ex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266700"/>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1</a:t>
            </a:r>
            <a:r>
              <a:rPr kumimoji="1" lang="zh-CN" altLang="en-US" sz="2400">
                <a:solidFill>
                  <a:schemeClr val="tx2"/>
                </a:solidFill>
                <a:effectLst/>
                <a:latin typeface="宋体" pitchFamily="2" charset="-122"/>
              </a:rPr>
              <a:t>）目标规划数学模型的形式有：线性模型、非线性模型、整数模型、交互作用模型等；</a:t>
            </a:r>
          </a:p>
          <a:p>
            <a:pPr marL="0" marR="0" lvl="0" indent="266700"/>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2</a:t>
            </a:r>
            <a:r>
              <a:rPr kumimoji="1" lang="zh-CN" altLang="en-US" sz="2400">
                <a:solidFill>
                  <a:schemeClr val="tx2"/>
                </a:solidFill>
                <a:effectLst/>
                <a:latin typeface="宋体" pitchFamily="2" charset="-122"/>
              </a:rPr>
              <a:t>）一个目标中的两个偏差变量</a:t>
            </a:r>
            <a:r>
              <a:rPr kumimoji="1" lang="en-US" altLang="zh-CN" sz="2400" i="1">
                <a:solidFill>
                  <a:schemeClr val="tx2"/>
                </a:solidFill>
                <a:effectLst/>
                <a:latin typeface="Times New Roman" pitchFamily="18" charset="0"/>
                <a:ea typeface="Times New Roman" pitchFamily="18" charset="0"/>
              </a:rPr>
              <a:t>d</a:t>
            </a:r>
            <a:r>
              <a:rPr kumimoji="1" lang="en-US" altLang="zh-CN" sz="2400" i="1" baseline="-25000">
                <a:solidFill>
                  <a:schemeClr val="tx2"/>
                </a:solidFill>
                <a:effectLst/>
                <a:latin typeface="Times New Roman" pitchFamily="18" charset="0"/>
                <a:ea typeface="Times New Roman" pitchFamily="18" charset="0"/>
              </a:rPr>
              <a:t>i</a:t>
            </a:r>
            <a:r>
              <a:rPr kumimoji="1" lang="en-US" altLang="zh-CN" sz="2400" i="1" baseline="30000">
                <a:solidFill>
                  <a:schemeClr val="tx2"/>
                </a:solidFill>
                <a:effectLst/>
                <a:latin typeface="Times New Roman" pitchFamily="18" charset="0"/>
                <a:ea typeface="Times New Roman" pitchFamily="18" charset="0"/>
              </a:rPr>
              <a:t>-</a:t>
            </a:r>
            <a:r>
              <a:rPr kumimoji="1" lang="zh-CN" altLang="en-US" sz="2400" i="1">
                <a:solidFill>
                  <a:schemeClr val="tx2"/>
                </a:solidFill>
                <a:effectLst/>
                <a:latin typeface="Times New Roman" pitchFamily="18" charset="0"/>
                <a:ea typeface="Times New Roman" pitchFamily="18" charset="0"/>
              </a:rPr>
              <a:t>、</a:t>
            </a:r>
            <a:r>
              <a:rPr kumimoji="1" lang="en-US" altLang="zh-CN" sz="2400" i="1">
                <a:solidFill>
                  <a:schemeClr val="tx2"/>
                </a:solidFill>
                <a:effectLst/>
                <a:latin typeface="Times New Roman" pitchFamily="18" charset="0"/>
                <a:ea typeface="Times New Roman" pitchFamily="18" charset="0"/>
              </a:rPr>
              <a:t>d</a:t>
            </a:r>
            <a:r>
              <a:rPr kumimoji="1" lang="en-US" altLang="zh-CN" sz="2400" i="1" baseline="-25000">
                <a:solidFill>
                  <a:schemeClr val="tx2"/>
                </a:solidFill>
                <a:effectLst/>
                <a:latin typeface="Times New Roman" pitchFamily="18" charset="0"/>
                <a:ea typeface="Times New Roman" pitchFamily="18" charset="0"/>
              </a:rPr>
              <a:t>i</a:t>
            </a:r>
            <a:r>
              <a:rPr kumimoji="1" lang="en-US" altLang="zh-CN" sz="2400" baseline="30000">
                <a:solidFill>
                  <a:schemeClr val="tx2"/>
                </a:solidFill>
                <a:effectLst/>
                <a:latin typeface="Times New Roman" pitchFamily="18" charset="0"/>
                <a:ea typeface="Times New Roman" pitchFamily="18" charset="0"/>
              </a:rPr>
              <a:t>+</a:t>
            </a:r>
            <a:r>
              <a:rPr kumimoji="1" lang="zh-CN" altLang="en-US" sz="2400">
                <a:solidFill>
                  <a:schemeClr val="tx2"/>
                </a:solidFill>
                <a:effectLst/>
                <a:latin typeface="宋体" pitchFamily="2" charset="-122"/>
              </a:rPr>
              <a:t>至少一个等于零，偏差变量向量的叉积等于零：</a:t>
            </a:r>
            <a:r>
              <a:rPr kumimoji="1" lang="en-US" altLang="zh-CN" sz="2400" i="1">
                <a:solidFill>
                  <a:schemeClr val="tx2"/>
                </a:solidFill>
                <a:effectLst/>
                <a:latin typeface="Times New Roman" pitchFamily="18" charset="0"/>
                <a:ea typeface="Times New Roman" pitchFamily="18" charset="0"/>
              </a:rPr>
              <a:t>d</a:t>
            </a:r>
            <a:r>
              <a:rPr kumimoji="1" lang="zh-CN" altLang="en-US" sz="2400" i="1" baseline="30000">
                <a:solidFill>
                  <a:schemeClr val="tx2"/>
                </a:solidFill>
                <a:effectLst/>
                <a:latin typeface="Times New Roman" pitchFamily="18" charset="0"/>
                <a:ea typeface="Times New Roman" pitchFamily="18" charset="0"/>
              </a:rPr>
              <a:t>－</a:t>
            </a:r>
            <a:r>
              <a:rPr kumimoji="1" lang="en-US" altLang="zh-CN" sz="2400" i="1">
                <a:solidFill>
                  <a:schemeClr val="tx2"/>
                </a:solidFill>
                <a:effectLst/>
                <a:latin typeface="Times New Roman" pitchFamily="18" charset="0"/>
                <a:ea typeface="Times New Roman" pitchFamily="18" charset="0"/>
              </a:rPr>
              <a:t>×d</a:t>
            </a:r>
            <a:r>
              <a:rPr kumimoji="1" lang="zh-CN" altLang="en-US" sz="2400" baseline="30000">
                <a:solidFill>
                  <a:schemeClr val="tx2"/>
                </a:solidFill>
                <a:effectLst/>
                <a:latin typeface="宋体" pitchFamily="2" charset="-122"/>
              </a:rPr>
              <a:t>＋</a:t>
            </a:r>
            <a:r>
              <a:rPr kumimoji="1" lang="en-US" altLang="zh-CN" sz="2400">
                <a:solidFill>
                  <a:schemeClr val="tx2"/>
                </a:solidFill>
                <a:effectLst/>
                <a:latin typeface="宋体" pitchFamily="2" charset="-122"/>
              </a:rPr>
              <a:t>=0</a:t>
            </a:r>
            <a:r>
              <a:rPr kumimoji="1" lang="zh-CN" altLang="en-US" sz="2400">
                <a:solidFill>
                  <a:schemeClr val="tx2"/>
                </a:solidFill>
                <a:effectLst/>
                <a:latin typeface="宋体" pitchFamily="2" charset="-122"/>
              </a:rPr>
              <a:t>；</a:t>
            </a:r>
            <a:endParaRPr kumimoji="1" lang="en-US" altLang="zh-CN" sz="2400">
              <a:solidFill>
                <a:schemeClr val="tx2"/>
              </a:solidFill>
              <a:effectLst/>
              <a:latin typeface="宋体" pitchFamily="2" charset="-122"/>
            </a:endParaRPr>
          </a:p>
        </p:txBody>
      </p:sp>
      <p:sp>
        <p:nvSpPr>
          <p:cNvPr id="53251" name="Rectangle 3"/>
          <p:cNvSpPr>
            <a:spLocks noChangeArrowheads="1"/>
          </p:cNvSpPr>
          <p:nvPr/>
        </p:nvSpPr>
        <p:spPr>
          <a:xfrm>
            <a:off x="323850" y="3184884"/>
            <a:ext cx="8504796" cy="1189909"/>
          </a:xfrm>
          <a:prstGeom prst="rect">
            <a:avLst/>
          </a:prstGeom>
          <a:noFill/>
          <a:ln>
            <a:noFill/>
          </a:ln>
          <a:effectLst/>
          <a:ex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en-US" altLang="zh-CN" sz="2400" b="1">
                <a:solidFill>
                  <a:schemeClr val="tx2"/>
                </a:solidFill>
                <a:effectLst/>
                <a:latin typeface="Times New Roman" pitchFamily="18" charset="0"/>
              </a:rPr>
              <a:t>   </a:t>
            </a:r>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3</a:t>
            </a:r>
            <a:r>
              <a:rPr kumimoji="1" lang="zh-CN" altLang="en-US" sz="2400">
                <a:solidFill>
                  <a:schemeClr val="tx2"/>
                </a:solidFill>
                <a:effectLst/>
                <a:latin typeface="宋体" pitchFamily="2" charset="-122"/>
              </a:rPr>
              <a:t>）一般目标规划是将多个目标函数写成一个由偏差变量构成的函数求最小值，按多个目标的重要性，确定优先等级，顺序求最小值；</a:t>
            </a:r>
          </a:p>
        </p:txBody>
      </p:sp>
      <p:sp>
        <p:nvSpPr>
          <p:cNvPr id="53252" name="Rectangle 4"/>
          <p:cNvSpPr>
            <a:spLocks noChangeArrowheads="1"/>
          </p:cNvSpPr>
          <p:nvPr/>
        </p:nvSpPr>
        <p:spPr>
          <a:xfrm>
            <a:off x="323850" y="4363395"/>
            <a:ext cx="8794011" cy="1922161"/>
          </a:xfrm>
          <a:prstGeom prst="rect">
            <a:avLst/>
          </a:prstGeom>
          <a:noFill/>
          <a:ln>
            <a:noFill/>
          </a:ln>
          <a:effectLst/>
          <a:ex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en-US" altLang="zh-CN" sz="2400" b="1">
                <a:solidFill>
                  <a:schemeClr val="tx2"/>
                </a:solidFill>
                <a:effectLst/>
                <a:latin typeface="Times New Roman" pitchFamily="18" charset="0"/>
              </a:rPr>
              <a:t>  </a:t>
            </a:r>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4</a:t>
            </a:r>
            <a:r>
              <a:rPr kumimoji="1" lang="zh-CN" altLang="en-US" sz="2400">
                <a:solidFill>
                  <a:schemeClr val="tx2"/>
                </a:solidFill>
                <a:effectLst/>
                <a:latin typeface="宋体" pitchFamily="2" charset="-122"/>
              </a:rPr>
              <a:t>）按决策者的意愿，事先给定所要达到的目标值。</a:t>
            </a:r>
          </a:p>
          <a:p>
            <a:pPr marL="0" marR="0" lvl="0" indent="0" eaLnBrk="1" hangingPunct="1"/>
            <a:r>
              <a:rPr kumimoji="1" lang="zh-CN" altLang="en-US" sz="2400">
                <a:solidFill>
                  <a:schemeClr val="tx2"/>
                </a:solidFill>
                <a:effectLst/>
                <a:latin typeface="宋体" pitchFamily="2" charset="-122"/>
              </a:rPr>
              <a:t>当期望结果不超过目标值时，目标函数求正偏差变量最小；</a:t>
            </a:r>
            <a:endParaRPr kumimoji="1" lang="en-US" altLang="zh-CN" sz="2400">
              <a:solidFill>
                <a:schemeClr val="tx2"/>
              </a:solidFill>
              <a:effectLst/>
              <a:latin typeface="宋体" pitchFamily="2" charset="-122"/>
            </a:endParaRPr>
          </a:p>
          <a:p>
            <a:pPr marL="0" marR="0" lvl="0" indent="0" eaLnBrk="1" hangingPunct="1"/>
            <a:r>
              <a:rPr kumimoji="1" lang="zh-CN" altLang="en-US" sz="2400">
                <a:solidFill>
                  <a:schemeClr val="tx2"/>
                </a:solidFill>
                <a:effectLst/>
                <a:latin typeface="宋体" pitchFamily="2" charset="-122"/>
              </a:rPr>
              <a:t>当期望结果不低于目标值时，目标函数求负偏差变量最小；</a:t>
            </a:r>
            <a:endParaRPr kumimoji="1" lang="en-US" altLang="zh-CN" sz="2400">
              <a:solidFill>
                <a:schemeClr val="tx2"/>
              </a:solidFill>
              <a:effectLst/>
              <a:latin typeface="宋体" pitchFamily="2" charset="-122"/>
            </a:endParaRPr>
          </a:p>
          <a:p>
            <a:pPr marL="0" marR="0" lvl="0" indent="0" eaLnBrk="1" hangingPunct="1"/>
            <a:r>
              <a:rPr kumimoji="1" lang="zh-CN" altLang="en-US" sz="2400">
                <a:solidFill>
                  <a:schemeClr val="tx2"/>
                </a:solidFill>
                <a:effectLst/>
                <a:latin typeface="宋体" pitchFamily="2" charset="-122"/>
              </a:rPr>
              <a:t>当期望结果恰好等于目标值时，目标函数求正负偏差变量之和最小。</a:t>
            </a:r>
          </a:p>
        </p:txBody>
      </p:sp>
      <p:sp>
        <p:nvSpPr>
          <p:cNvPr id="53253" name="Rectangle 5"/>
          <p:cNvSpPr/>
          <p:nvPr/>
        </p:nvSpPr>
        <p:spPr>
          <a:xfrm>
            <a:off x="395288" y="908050"/>
            <a:ext cx="1296696" cy="1189909"/>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3600" b="1">
                <a:effectLst/>
                <a:latin typeface="Times New Roman" pitchFamily="18" charset="0"/>
              </a:rPr>
              <a:t>评注：</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9223372036854775808"/>
                                  </p:stCondLst>
                                  <p:childTnLst>
                                    <p:set>
                                      <p:cBhvr additive="base">
                                        <p:cTn id="6" dur="1" fill="hold">
                                          <p:stCondLst>
                                            <p:cond delay="0"/>
                                          </p:stCondLst>
                                        </p:cTn>
                                        <p:tgtEl>
                                          <p:spTgt spid="53253"/>
                                        </p:tgtEl>
                                        <p:attrNameLst>
                                          <p:attrName>style.visibility</p:attrName>
                                        </p:attrNameLst>
                                      </p:cBhvr>
                                      <p:to>
                                        <p:strVal val="visible"/>
                                      </p:to>
                                    </p:set>
                                    <p:animEffect transition="in" filter="wipe(left)">
                                      <p:cBhvr additive="base">
                                        <p:cTn id="7" dur="2000"/>
                                        <p:tgtEl>
                                          <p:spTgt spid="53253"/>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53250">
                                            <p:txEl>
                                              <p:charRg st="0" end="41"/>
                                            </p:txEl>
                                          </p:spTgt>
                                        </p:tgtEl>
                                        <p:attrNameLst>
                                          <p:attrName>style.visibility</p:attrName>
                                        </p:attrNameLst>
                                      </p:cBhvr>
                                      <p:to>
                                        <p:strVal val="visible"/>
                                      </p:to>
                                    </p:set>
                                    <p:animEffect transition="in" filter="wipe(left)">
                                      <p:cBhvr additive="base">
                                        <p:cTn id="13" dur="2000"/>
                                        <p:tgtEl>
                                          <p:spTgt spid="53250">
                                            <p:txEl>
                                              <p:charRg st="0" end="41"/>
                                            </p:txEl>
                                          </p:spTgt>
                                        </p:tgtEl>
                                      </p:cBhvr>
                                    </p:animEffect>
                                  </p:childTnLst>
                                </p:cTn>
                              </p:par>
                            </p:childTnLst>
                          </p:cTn>
                        </p:par>
                      </p:childTnLst>
                    </p:cTn>
                  </p:par>
                  <p:par>
                    <p:cTn id="14" fill="hold">
                      <p:stCondLst>
                        <p:cond delay="indefinite"/>
                        <p:cond evt="onBegin" delay="0">
                          <p:tn val="13"/>
                        </p:cond>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53250">
                                            <p:txEl>
                                              <p:charRg st="41" end="93"/>
                                            </p:txEl>
                                          </p:spTgt>
                                        </p:tgtEl>
                                        <p:attrNameLst>
                                          <p:attrName>style.visibility</p:attrName>
                                        </p:attrNameLst>
                                      </p:cBhvr>
                                      <p:to>
                                        <p:strVal val="visible"/>
                                      </p:to>
                                    </p:set>
                                    <p:animEffect transition="in" filter="wipe(left)">
                                      <p:cBhvr additive="base">
                                        <p:cTn id="19" dur="2000"/>
                                        <p:tgtEl>
                                          <p:spTgt spid="53250">
                                            <p:txEl>
                                              <p:charRg st="41" end="93"/>
                                            </p:txEl>
                                          </p:spTgt>
                                        </p:tgtEl>
                                      </p:cBhvr>
                                    </p:animEffect>
                                  </p:childTnLst>
                                </p:cTn>
                              </p:par>
                            </p:childTnLst>
                          </p:cTn>
                        </p:par>
                      </p:childTnLst>
                    </p:cTn>
                  </p:par>
                  <p:par>
                    <p:cTn id="20" fill="hold">
                      <p:stCondLst>
                        <p:cond delay="indefinite"/>
                        <p:cond evt="onBegin" delay="0">
                          <p:tn val="19"/>
                        </p:cond>
                      </p:stCondLst>
                      <p:childTnLst>
                        <p:par>
                          <p:cTn id="21" fill="hold">
                            <p:stCondLst>
                              <p:cond delay="indefinite"/>
                            </p:stCondLst>
                          </p:cTn>
                        </p:par>
                        <p:par>
                          <p:cTn id="22" fill="hold">
                            <p:stCondLst>
                              <p:cond delay="0"/>
                            </p:stCondLst>
                            <p:childTnLst>
                              <p:par>
                                <p:cTn id="23" presetID="22" presetClass="entr" presetSubtype="8" fill="hold" nodeType="clickEffect">
                                  <p:stCondLst>
                                    <p:cond delay="-9223372036854775808"/>
                                  </p:stCondLst>
                                  <p:childTnLst>
                                    <p:set>
                                      <p:cBhvr additive="base">
                                        <p:cTn id="24" dur="1" fill="hold">
                                          <p:stCondLst>
                                            <p:cond delay="0"/>
                                          </p:stCondLst>
                                        </p:cTn>
                                        <p:tgtEl>
                                          <p:spTgt spid="53251">
                                            <p:txEl>
                                              <p:charRg st="0" end="64"/>
                                            </p:txEl>
                                          </p:spTgt>
                                        </p:tgtEl>
                                        <p:attrNameLst>
                                          <p:attrName>style.visibility</p:attrName>
                                        </p:attrNameLst>
                                      </p:cBhvr>
                                      <p:to>
                                        <p:strVal val="visible"/>
                                      </p:to>
                                    </p:set>
                                    <p:animEffect transition="in" filter="wipe(left)">
                                      <p:cBhvr additive="base">
                                        <p:cTn id="25" dur="2000"/>
                                        <p:tgtEl>
                                          <p:spTgt spid="53251">
                                            <p:txEl>
                                              <p:charRg st="0" end="64"/>
                                            </p:txEl>
                                          </p:spTgt>
                                        </p:tgtEl>
                                      </p:cBhvr>
                                    </p:animEffect>
                                  </p:childTnLst>
                                </p:cTn>
                              </p:par>
                            </p:childTnLst>
                          </p:cTn>
                        </p:par>
                      </p:childTnLst>
                    </p:cTn>
                  </p:par>
                  <p:par>
                    <p:cTn id="26" fill="hold">
                      <p:stCondLst>
                        <p:cond delay="indefinite"/>
                        <p:cond evt="onBegin" delay="0">
                          <p:tn val="25"/>
                        </p:cond>
                      </p:stCondLst>
                      <p:childTnLst>
                        <p:par>
                          <p:cTn id="27" fill="hold">
                            <p:stCondLst>
                              <p:cond delay="indefinite"/>
                            </p:stCondLst>
                          </p:cTn>
                        </p:par>
                        <p:par>
                          <p:cTn id="28" fill="hold">
                            <p:stCondLst>
                              <p:cond delay="0"/>
                            </p:stCondLst>
                            <p:childTnLst>
                              <p:par>
                                <p:cTn id="29" presetID="22" presetClass="entr" presetSubtype="8" fill="hold" nodeType="clickEffect">
                                  <p:stCondLst>
                                    <p:cond delay="-9223372036854775808"/>
                                  </p:stCondLst>
                                  <p:childTnLst>
                                    <p:set>
                                      <p:cBhvr additive="base">
                                        <p:cTn id="30" dur="1" fill="hold">
                                          <p:stCondLst>
                                            <p:cond delay="0"/>
                                          </p:stCondLst>
                                        </p:cTn>
                                        <p:tgtEl>
                                          <p:spTgt spid="53252">
                                            <p:txEl>
                                              <p:charRg st="0" end="27"/>
                                            </p:txEl>
                                          </p:spTgt>
                                        </p:tgtEl>
                                        <p:attrNameLst>
                                          <p:attrName>style.visibility</p:attrName>
                                        </p:attrNameLst>
                                      </p:cBhvr>
                                      <p:to>
                                        <p:strVal val="visible"/>
                                      </p:to>
                                    </p:set>
                                    <p:animEffect transition="in" filter="wipe(left)">
                                      <p:cBhvr additive="base">
                                        <p:cTn id="31" dur="2000"/>
                                        <p:tgtEl>
                                          <p:spTgt spid="53252">
                                            <p:txEl>
                                              <p:charRg st="0" end="27"/>
                                            </p:txEl>
                                          </p:spTgt>
                                        </p:tgtEl>
                                      </p:cBhvr>
                                    </p:animEffect>
                                  </p:childTnLst>
                                </p:cTn>
                              </p:par>
                            </p:childTnLst>
                          </p:cTn>
                        </p:par>
                      </p:childTnLst>
                    </p:cTn>
                  </p:par>
                  <p:par>
                    <p:cTn id="32" fill="hold">
                      <p:stCondLst>
                        <p:cond delay="indefinite"/>
                        <p:cond evt="onBegin" delay="0">
                          <p:tn val="31"/>
                        </p:cond>
                      </p:stCondLst>
                      <p:childTnLst>
                        <p:par>
                          <p:cTn id="33" fill="hold">
                            <p:stCondLst>
                              <p:cond delay="indefinite"/>
                            </p:stCondLst>
                          </p:cTn>
                        </p:par>
                        <p:par>
                          <p:cTn id="34" fill="hold">
                            <p:stCondLst>
                              <p:cond delay="0"/>
                            </p:stCondLst>
                            <p:childTnLst>
                              <p:par>
                                <p:cTn id="35" presetID="22" presetClass="entr" presetSubtype="8" fill="hold" nodeType="clickEffect">
                                  <p:stCondLst>
                                    <p:cond delay="-9223372036854775808"/>
                                  </p:stCondLst>
                                  <p:childTnLst>
                                    <p:set>
                                      <p:cBhvr additive="base">
                                        <p:cTn id="36" dur="1" fill="hold">
                                          <p:stCondLst>
                                            <p:cond delay="0"/>
                                          </p:stCondLst>
                                        </p:cTn>
                                        <p:tgtEl>
                                          <p:spTgt spid="53252">
                                            <p:txEl>
                                              <p:charRg st="27" end="54"/>
                                            </p:txEl>
                                          </p:spTgt>
                                        </p:tgtEl>
                                        <p:attrNameLst>
                                          <p:attrName>style.visibility</p:attrName>
                                        </p:attrNameLst>
                                      </p:cBhvr>
                                      <p:to>
                                        <p:strVal val="visible"/>
                                      </p:to>
                                    </p:set>
                                    <p:animEffect transition="in" filter="wipe(left)">
                                      <p:cBhvr additive="base">
                                        <p:cTn id="37" dur="2000"/>
                                        <p:tgtEl>
                                          <p:spTgt spid="53252">
                                            <p:txEl>
                                              <p:charRg st="27" end="54"/>
                                            </p:txEl>
                                          </p:spTgt>
                                        </p:tgtEl>
                                      </p:cBhvr>
                                    </p:animEffect>
                                  </p:childTnLst>
                                </p:cTn>
                              </p:par>
                            </p:childTnLst>
                          </p:cTn>
                        </p:par>
                      </p:childTnLst>
                    </p:cTn>
                  </p:par>
                  <p:par>
                    <p:cTn id="38" fill="hold">
                      <p:stCondLst>
                        <p:cond delay="indefinite"/>
                        <p:cond evt="onBegin" delay="0">
                          <p:tn val="37"/>
                        </p:cond>
                      </p:stCondLst>
                      <p:childTnLst>
                        <p:par>
                          <p:cTn id="39" fill="hold">
                            <p:stCondLst>
                              <p:cond delay="indefinite"/>
                            </p:stCondLst>
                          </p:cTn>
                        </p:par>
                        <p:par>
                          <p:cTn id="40" fill="hold">
                            <p:stCondLst>
                              <p:cond delay="0"/>
                            </p:stCondLst>
                            <p:childTnLst>
                              <p:par>
                                <p:cTn id="41" presetID="22" presetClass="entr" presetSubtype="8" fill="hold" nodeType="clickEffect">
                                  <p:stCondLst>
                                    <p:cond delay="-9223372036854775808"/>
                                  </p:stCondLst>
                                  <p:childTnLst>
                                    <p:set>
                                      <p:cBhvr additive="base">
                                        <p:cTn id="42" dur="1" fill="hold">
                                          <p:stCondLst>
                                            <p:cond delay="0"/>
                                          </p:stCondLst>
                                        </p:cTn>
                                        <p:tgtEl>
                                          <p:spTgt spid="53252">
                                            <p:txEl>
                                              <p:charRg st="54" end="81"/>
                                            </p:txEl>
                                          </p:spTgt>
                                        </p:tgtEl>
                                        <p:attrNameLst>
                                          <p:attrName>style.visibility</p:attrName>
                                        </p:attrNameLst>
                                      </p:cBhvr>
                                      <p:to>
                                        <p:strVal val="visible"/>
                                      </p:to>
                                    </p:set>
                                    <p:animEffect transition="in" filter="wipe(left)">
                                      <p:cBhvr additive="base">
                                        <p:cTn id="43" dur="2000"/>
                                        <p:tgtEl>
                                          <p:spTgt spid="53252">
                                            <p:txEl>
                                              <p:charRg st="54" end="81"/>
                                            </p:txEl>
                                          </p:spTgt>
                                        </p:tgtEl>
                                      </p:cBhvr>
                                    </p:animEffect>
                                  </p:childTnLst>
                                </p:cTn>
                              </p:par>
                            </p:childTnLst>
                          </p:cTn>
                        </p:par>
                      </p:childTnLst>
                    </p:cTn>
                  </p:par>
                  <p:par>
                    <p:cTn id="44" fill="hold">
                      <p:stCondLst>
                        <p:cond delay="indefinite"/>
                        <p:cond evt="onBegin" delay="0">
                          <p:tn val="43"/>
                        </p:cond>
                      </p:stCondLst>
                      <p:childTnLst>
                        <p:par>
                          <p:cTn id="45" fill="hold">
                            <p:stCondLst>
                              <p:cond delay="indefinite"/>
                            </p:stCondLst>
                          </p:cTn>
                        </p:par>
                        <p:par>
                          <p:cTn id="46" fill="hold">
                            <p:stCondLst>
                              <p:cond delay="0"/>
                            </p:stCondLst>
                            <p:childTnLst>
                              <p:par>
                                <p:cTn id="47" presetID="22" presetClass="entr" presetSubtype="8" fill="hold" nodeType="clickEffect">
                                  <p:stCondLst>
                                    <p:cond delay="-9223372036854775808"/>
                                  </p:stCondLst>
                                  <p:childTnLst>
                                    <p:set>
                                      <p:cBhvr additive="base">
                                        <p:cTn id="48" dur="1" fill="hold">
                                          <p:stCondLst>
                                            <p:cond delay="0"/>
                                          </p:stCondLst>
                                        </p:cTn>
                                        <p:tgtEl>
                                          <p:spTgt spid="53252">
                                            <p:txEl>
                                              <p:charRg st="81" end="112"/>
                                            </p:txEl>
                                          </p:spTgt>
                                        </p:tgtEl>
                                        <p:attrNameLst>
                                          <p:attrName>style.visibility</p:attrName>
                                        </p:attrNameLst>
                                      </p:cBhvr>
                                      <p:to>
                                        <p:strVal val="visible"/>
                                      </p:to>
                                    </p:set>
                                    <p:animEffect transition="in" filter="wipe(left)">
                                      <p:cBhvr additive="base">
                                        <p:cTn id="49" dur="2000"/>
                                        <p:tgtEl>
                                          <p:spTgt spid="53252">
                                            <p:txEl>
                                              <p:charRg st="81"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Lst>
  </p:timing>
</p:sld>
</file>

<file path=ppt/slides/slide5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4274" name="Rectangle 2"/>
          <p:cNvSpPr>
            <a:spLocks noChangeArrowheads="1"/>
          </p:cNvSpPr>
          <p:nvPr/>
        </p:nvSpPr>
        <p:spPr>
          <a:xfrm>
            <a:off x="323850" y="1162409"/>
            <a:ext cx="8828970" cy="1189909"/>
          </a:xfrm>
          <a:prstGeom prst="rect">
            <a:avLst/>
          </a:prstGeom>
          <a:noFill/>
          <a:ln>
            <a:noFill/>
          </a:ln>
          <a:effectLst/>
          <a:ex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5</a:t>
            </a:r>
            <a:r>
              <a:rPr kumimoji="1" lang="zh-CN" altLang="en-US" sz="2400">
                <a:solidFill>
                  <a:schemeClr val="tx2"/>
                </a:solidFill>
                <a:effectLst/>
                <a:latin typeface="宋体" pitchFamily="2" charset="-122"/>
              </a:rPr>
              <a:t>）由目标构成的约束称为目标约束，目标约束具有更大的弹性，允许结果与所制定的目标值存在正或负的偏差；如果决策者要求结果一定不能有正或负的偏差，这种约束称为系统约束；</a:t>
            </a:r>
          </a:p>
        </p:txBody>
      </p:sp>
      <p:sp>
        <p:nvSpPr>
          <p:cNvPr id="54275" name="Rectangle 3"/>
          <p:cNvSpPr>
            <a:spLocks noChangeArrowheads="1"/>
          </p:cNvSpPr>
          <p:nvPr/>
        </p:nvSpPr>
        <p:spPr>
          <a:xfrm>
            <a:off x="323850" y="2635609"/>
            <a:ext cx="8577895" cy="1189909"/>
          </a:xfrm>
          <a:prstGeom prst="rect">
            <a:avLst/>
          </a:prstGeom>
          <a:noFill/>
          <a:ln>
            <a:noFill/>
          </a:ln>
          <a:effectLst/>
          <a:ex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6</a:t>
            </a:r>
            <a:r>
              <a:rPr kumimoji="1" lang="zh-CN" altLang="en-US" sz="2400">
                <a:solidFill>
                  <a:schemeClr val="tx2"/>
                </a:solidFill>
                <a:effectLst/>
                <a:latin typeface="宋体" pitchFamily="2" charset="-122"/>
              </a:rPr>
              <a:t>）目标的排序问题。多个目标之间有相互冲突时，决策者首先必须对目标排序。排序的方法有两两比较法、专家评分等方法，构造各目标的权系数，依据权系数的大小确定目标顺序；</a:t>
            </a:r>
          </a:p>
        </p:txBody>
      </p:sp>
      <p:sp>
        <p:nvSpPr>
          <p:cNvPr id="54276" name="Rectangle 10"/>
          <p:cNvSpPr>
            <a:spLocks noChangeArrowheads="1"/>
          </p:cNvSpPr>
          <p:nvPr/>
        </p:nvSpPr>
        <p:spPr>
          <a:xfrm>
            <a:off x="323850" y="4005263"/>
            <a:ext cx="8290271" cy="1556035"/>
          </a:xfrm>
          <a:prstGeom prst="rect">
            <a:avLst/>
          </a:prstGeom>
          <a:noFill/>
          <a:ln>
            <a:noFill/>
          </a:ln>
          <a:effectLst/>
          <a:ex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7</a:t>
            </a:r>
            <a:r>
              <a:rPr kumimoji="1" lang="zh-CN" altLang="en-US" sz="2400">
                <a:solidFill>
                  <a:schemeClr val="tx2"/>
                </a:solidFill>
                <a:effectLst/>
                <a:latin typeface="宋体" pitchFamily="2" charset="-122"/>
              </a:rPr>
              <a:t>）合理的确定目标数。目标规划的目标函数中包含了多个目标，决策者对于具有相同重要性的目标可以合并为一个目标，如果同一目标中还想分出先后次序，可以赋予不同的权系数，按系数大小再排序。</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54274">
                                            <p:txEl>
                                              <p:charRg st="0" end="84"/>
                                            </p:txEl>
                                          </p:spTgt>
                                        </p:tgtEl>
                                        <p:attrNameLst>
                                          <p:attrName>style.visibility</p:attrName>
                                        </p:attrNameLst>
                                      </p:cBhvr>
                                      <p:to>
                                        <p:strVal val="visible"/>
                                      </p:to>
                                    </p:set>
                                    <p:animEffect transition="in" filter="blinds(horizontal)">
                                      <p:cBhvr additive="base">
                                        <p:cTn id="7" dur="500"/>
                                        <p:tgtEl>
                                          <p:spTgt spid="54274">
                                            <p:txEl>
                                              <p:charRg st="0" end="84"/>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grpId="0" nodeType="clickEffect">
                                  <p:stCondLst>
                                    <p:cond delay="-9223372036854775808"/>
                                  </p:stCondLst>
                                  <p:childTnLst>
                                    <p:set>
                                      <p:cBhvr additive="base">
                                        <p:cTn id="12" dur="1" fill="hold">
                                          <p:stCondLst>
                                            <p:cond delay="0"/>
                                          </p:stCondLst>
                                        </p:cTn>
                                        <p:tgtEl>
                                          <p:spTgt spid="54275"/>
                                        </p:tgtEl>
                                        <p:attrNameLst>
                                          <p:attrName>style.visibility</p:attrName>
                                        </p:attrNameLst>
                                      </p:cBhvr>
                                      <p:to>
                                        <p:strVal val="visible"/>
                                      </p:to>
                                    </p:set>
                                    <p:animEffect transition="in" filter="blinds(horizontal)">
                                      <p:cBhvr additive="base">
                                        <p:cTn id="13" dur="500"/>
                                        <p:tgtEl>
                                          <p:spTgt spid="54275"/>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grpId="1" nodeType="clickEffect">
                                  <p:stCondLst>
                                    <p:cond delay="-9223372036854775808"/>
                                  </p:stCondLst>
                                  <p:childTnLst>
                                    <p:set>
                                      <p:cBhvr additive="base">
                                        <p:cTn id="18" dur="1" fill="hold">
                                          <p:stCondLst>
                                            <p:cond delay="0"/>
                                          </p:stCondLst>
                                        </p:cTn>
                                        <p:tgtEl>
                                          <p:spTgt spid="54276"/>
                                        </p:tgtEl>
                                        <p:attrNameLst>
                                          <p:attrName>style.visibility</p:attrName>
                                        </p:attrNameLst>
                                      </p:cBhvr>
                                      <p:to>
                                        <p:strVal val="visible"/>
                                      </p:to>
                                    </p:set>
                                    <p:animEffect transition="in" filter="blinds(horizontal)">
                                      <p:cBhvr additive="base">
                                        <p:cTn id="19" dur="500"/>
                                        <p:tgtEl>
                                          <p:spTgt spid="54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p:bldP spid="54276" grpId="1"/>
    </p:bldLst>
  </p:timing>
</p:sld>
</file>

<file path=ppt/slides/slide5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5298" name="Rectangle 2"/>
          <p:cNvSpPr>
            <a:spLocks noChangeArrowheads="1"/>
          </p:cNvSpPr>
          <p:nvPr/>
        </p:nvSpPr>
        <p:spPr>
          <a:xfrm>
            <a:off x="323850" y="1409144"/>
            <a:ext cx="8504796" cy="3020538"/>
          </a:xfrm>
          <a:prstGeom prst="rect">
            <a:avLst/>
          </a:prstGeom>
          <a:noFill/>
          <a:ln>
            <a:noFill/>
          </a:ln>
          <a:effectLst/>
          <a:ex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marR="0" lvl="0" indent="0" eaLnBrk="1" hangingPunct="1"/>
            <a:r>
              <a:rPr kumimoji="1" lang="zh-CN" altLang="en-US" sz="2400">
                <a:solidFill>
                  <a:schemeClr val="tx2"/>
                </a:solidFill>
                <a:effectLst/>
                <a:latin typeface="宋体" pitchFamily="2" charset="-122"/>
              </a:rPr>
              <a:t>（</a:t>
            </a:r>
            <a:r>
              <a:rPr kumimoji="1" lang="en-US" altLang="zh-CN" sz="2400">
                <a:solidFill>
                  <a:schemeClr val="tx2"/>
                </a:solidFill>
                <a:effectLst/>
                <a:latin typeface="宋体" pitchFamily="2" charset="-122"/>
              </a:rPr>
              <a:t>8</a:t>
            </a:r>
            <a:r>
              <a:rPr kumimoji="1" lang="zh-CN" altLang="en-US" sz="2400">
                <a:solidFill>
                  <a:schemeClr val="tx2"/>
                </a:solidFill>
                <a:effectLst/>
                <a:latin typeface="宋体" pitchFamily="2" charset="-122"/>
              </a:rPr>
              <a:t>）多目标决策问题．多目标决策研究的范围比较广泛，在决策中，可能同时要求多个目标达到最优．例如，企业在对多个项目投资时期望收益率尽可能最大，投资风险尽可能最小，属于多目标决策问题，本章的目标规划尽管包含有多个目标，但还是按单个目标求偏差变量的最小值，目标函数中不含有决策变量，目标规划只是多目标决策的一种特殊情形．本章不讨论多目标规划的求解方法，只给出利用</a:t>
            </a:r>
            <a:r>
              <a:rPr kumimoji="1" lang="en-US" altLang="zh-CN" sz="2400">
                <a:solidFill>
                  <a:schemeClr val="tx2"/>
                </a:solidFill>
                <a:effectLst/>
                <a:latin typeface="Times New Roman" pitchFamily="18" charset="0"/>
                <a:ea typeface="Times New Roman" pitchFamily="18" charset="0"/>
              </a:rPr>
              <a:t>lingo</a:t>
            </a:r>
            <a:r>
              <a:rPr kumimoji="1" lang="zh-CN" altLang="en-US" sz="2400">
                <a:solidFill>
                  <a:schemeClr val="tx2"/>
                </a:solidFill>
                <a:effectLst/>
                <a:latin typeface="宋体" pitchFamily="2" charset="-122"/>
              </a:rPr>
              <a:t>软件求解线性多目标规划的简单程序。</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9223372036854775808"/>
                                  </p:stCondLst>
                                  <p:childTnLst>
                                    <p:set>
                                      <p:cBhvr additive="base">
                                        <p:cTn id="6" dur="1" fill="hold">
                                          <p:stCondLst>
                                            <p:cond delay="0"/>
                                          </p:stCondLst>
                                        </p:cTn>
                                        <p:tgtEl>
                                          <p:spTgt spid="55298"/>
                                        </p:tgtEl>
                                        <p:attrNameLst>
                                          <p:attrName>style.visibility</p:attrName>
                                        </p:attrNameLst>
                                      </p:cBhvr>
                                      <p:to>
                                        <p:strVal val="visible"/>
                                      </p:to>
                                    </p:set>
                                    <p:animEffect transition="in" filter="wipe(up)">
                                      <p:cBhvr additive="base">
                                        <p:cTn id="7" dur="2000"/>
                                        <p:tgtEl>
                                          <p:spTgt spid="5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Lst>
  </p:timing>
</p:sld>
</file>

<file path=ppt/slides/slide5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cxnSp>
        <p:nvCxnSpPr>
          <p:cNvPr id="56322" name="Line 2"/>
          <p:cNvCxnSpPr/>
          <p:nvPr/>
        </p:nvCxnSpPr>
        <p:spPr>
          <a:xfrm flipH="1">
            <a:off x="1828800" y="685800"/>
            <a:ext cx="0" cy="1905000"/>
          </a:xfrm>
          <a:prstGeom prst="line">
            <a:avLst/>
          </a:prstGeom>
          <a:noFill/>
          <a:ln w="12700">
            <a:solidFill>
              <a:schemeClr val="tx1"/>
            </a:solidFill>
            <a:miter lim="800000"/>
          </a:ln>
          <a:effectLst/>
        </p:spPr>
      </p:cxnSp>
      <p:grpSp>
        <p:nvGrpSpPr>
          <p:cNvPr id="56323" name="Group 3"/>
          <p:cNvGrpSpPr/>
          <p:nvPr/>
        </p:nvGrpSpPr>
        <p:grpSpPr>
          <a:xfrm>
            <a:off x="1042988" y="152400"/>
            <a:ext cx="8077200" cy="3046412"/>
            <a:chOff x="657" y="96"/>
            <a:chExt cx="5088" cy="1898"/>
          </a:xfrm>
          <a:effectLst/>
        </p:grpSpPr>
        <p:sp>
          <p:nvSpPr>
            <p:cNvPr id="56325" name="Text Box 4"/>
            <p:cNvSpPr/>
            <p:nvPr/>
          </p:nvSpPr>
          <p:spPr>
            <a:xfrm>
              <a:off x="654" y="96"/>
              <a:ext cx="5093" cy="1882"/>
            </a:xfrm>
            <a:prstGeom prst="rect">
              <a:avLst/>
            </a:prstGeom>
            <a:noFill/>
            <a:ln w="12700">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just" eaLnBrk="1" hangingPunct="1">
                <a:spcBef>
                  <a:spcPct val="50000"/>
                </a:spcBef>
              </a:pPr>
              <a:r>
                <a:rPr kumimoji="1" lang="zh-CN" altLang="en-US" sz="2400" b="1">
                  <a:effectLst/>
                </a:rPr>
                <a:t>引例1    </a:t>
              </a:r>
              <a:r>
                <a:rPr kumimoji="1" lang="zh-CN" altLang="en-US" sz="2400">
                  <a:effectLst/>
                </a:rPr>
                <a:t>生产计划问题</a:t>
              </a:r>
            </a:p>
            <a:p>
              <a:pPr marL="0" lvl="0" indent="0" algn="just" eaLnBrk="1" hangingPunct="1">
                <a:spcBef>
                  <a:spcPct val="50000"/>
                </a:spcBef>
              </a:pPr>
              <a:r>
                <a:rPr kumimoji="1" lang="zh-CN" altLang="en-US" sz="2400">
                  <a:effectLst/>
                </a:rPr>
                <a:t>                           </a:t>
              </a:r>
              <a:r>
                <a:rPr kumimoji="1" lang="zh-CN" altLang="en-US" sz="2000">
                  <a:solidFill>
                    <a:srgbClr val="FF0000"/>
                  </a:solidFill>
                  <a:effectLst/>
                </a:rPr>
                <a:t>甲            乙           资源限额</a:t>
              </a:r>
            </a:p>
            <a:p>
              <a:pPr marL="0" lvl="0" indent="0" algn="just" eaLnBrk="1" hangingPunct="1">
                <a:spcBef>
                  <a:spcPct val="50000"/>
                </a:spcBef>
              </a:pPr>
              <a:r>
                <a:rPr kumimoji="1" lang="zh-CN" altLang="en-US" sz="2000">
                  <a:solidFill>
                    <a:srgbClr val="FF0000"/>
                  </a:solidFill>
                  <a:effectLst/>
                </a:rPr>
                <a:t>                 材料        2              3                24</a:t>
              </a:r>
            </a:p>
            <a:p>
              <a:pPr marL="0" lvl="0" indent="0" algn="just" eaLnBrk="1" hangingPunct="1">
                <a:spcBef>
                  <a:spcPct val="50000"/>
                </a:spcBef>
              </a:pPr>
              <a:r>
                <a:rPr kumimoji="1" lang="zh-CN" altLang="en-US" sz="2000">
                  <a:solidFill>
                    <a:srgbClr val="FF0000"/>
                  </a:solidFill>
                  <a:effectLst/>
                </a:rPr>
                <a:t>                 工时        3              2               26</a:t>
              </a:r>
            </a:p>
            <a:p>
              <a:pPr marL="0" lvl="0" indent="0" algn="just" eaLnBrk="1" hangingPunct="1">
                <a:spcBef>
                  <a:spcPct val="50000"/>
                </a:spcBef>
              </a:pPr>
              <a:r>
                <a:rPr kumimoji="1" lang="zh-CN" altLang="en-US" sz="2000">
                  <a:solidFill>
                    <a:srgbClr val="FF0000"/>
                  </a:solidFill>
                  <a:effectLst/>
                </a:rPr>
                <a:t>           单位利润     4              3</a:t>
              </a:r>
              <a:r>
                <a:rPr kumimoji="1" lang="zh-CN" altLang="en-US" sz="2400">
                  <a:effectLst/>
                </a:rPr>
                <a:t>   </a:t>
              </a:r>
            </a:p>
            <a:p>
              <a:pPr marL="0" lvl="0" indent="0" algn="just" eaLnBrk="1" hangingPunct="1">
                <a:spcBef>
                  <a:spcPct val="50000"/>
                </a:spcBef>
              </a:pPr>
              <a:endParaRPr kumimoji="1" lang="zh-CN" altLang="en-US" sz="2400">
                <a:effectLst/>
              </a:endParaRPr>
            </a:p>
          </p:txBody>
        </p:sp>
        <p:cxnSp>
          <p:nvCxnSpPr>
            <p:cNvPr id="56326" name="Line 5"/>
            <p:cNvCxnSpPr/>
            <p:nvPr/>
          </p:nvCxnSpPr>
          <p:spPr>
            <a:xfrm>
              <a:off x="1152" y="432"/>
              <a:ext cx="3024" cy="0"/>
            </a:xfrm>
            <a:prstGeom prst="line">
              <a:avLst/>
            </a:prstGeom>
            <a:noFill/>
            <a:ln w="12700">
              <a:solidFill>
                <a:schemeClr val="tx1"/>
              </a:solidFill>
              <a:miter lim="800000"/>
            </a:ln>
            <a:effectLst/>
          </p:spPr>
        </p:cxnSp>
        <p:cxnSp>
          <p:nvCxnSpPr>
            <p:cNvPr id="56327" name="Line 6"/>
            <p:cNvCxnSpPr/>
            <p:nvPr/>
          </p:nvCxnSpPr>
          <p:spPr>
            <a:xfrm>
              <a:off x="1152" y="1632"/>
              <a:ext cx="3024" cy="0"/>
            </a:xfrm>
            <a:prstGeom prst="line">
              <a:avLst/>
            </a:prstGeom>
            <a:noFill/>
            <a:ln w="12700">
              <a:solidFill>
                <a:schemeClr val="tx1"/>
              </a:solidFill>
              <a:miter lim="800000"/>
            </a:ln>
            <a:effectLst/>
          </p:spPr>
        </p:cxnSp>
        <p:cxnSp>
          <p:nvCxnSpPr>
            <p:cNvPr id="56328" name="Line 7"/>
            <p:cNvCxnSpPr/>
            <p:nvPr/>
          </p:nvCxnSpPr>
          <p:spPr>
            <a:xfrm flipH="1">
              <a:off x="1872" y="432"/>
              <a:ext cx="0" cy="1200"/>
            </a:xfrm>
            <a:prstGeom prst="line">
              <a:avLst/>
            </a:prstGeom>
            <a:noFill/>
            <a:ln w="12700">
              <a:solidFill>
                <a:schemeClr val="tx1"/>
              </a:solidFill>
              <a:miter lim="800000"/>
            </a:ln>
            <a:effectLst/>
          </p:spPr>
        </p:cxnSp>
        <p:cxnSp>
          <p:nvCxnSpPr>
            <p:cNvPr id="56329" name="Line 8"/>
            <p:cNvCxnSpPr/>
            <p:nvPr/>
          </p:nvCxnSpPr>
          <p:spPr>
            <a:xfrm flipH="1">
              <a:off x="2352" y="432"/>
              <a:ext cx="0" cy="1200"/>
            </a:xfrm>
            <a:prstGeom prst="line">
              <a:avLst/>
            </a:prstGeom>
            <a:noFill/>
            <a:ln w="12700">
              <a:solidFill>
                <a:schemeClr val="tx1"/>
              </a:solidFill>
              <a:miter lim="800000"/>
            </a:ln>
            <a:effectLst/>
          </p:spPr>
        </p:cxnSp>
        <p:cxnSp>
          <p:nvCxnSpPr>
            <p:cNvPr id="56330" name="Line 9"/>
            <p:cNvCxnSpPr/>
            <p:nvPr/>
          </p:nvCxnSpPr>
          <p:spPr>
            <a:xfrm flipH="1">
              <a:off x="2976" y="432"/>
              <a:ext cx="0" cy="1200"/>
            </a:xfrm>
            <a:prstGeom prst="line">
              <a:avLst/>
            </a:prstGeom>
            <a:noFill/>
            <a:ln w="12700">
              <a:solidFill>
                <a:schemeClr val="tx1"/>
              </a:solidFill>
              <a:miter lim="800000"/>
            </a:ln>
            <a:effectLst/>
          </p:spPr>
        </p:cxnSp>
        <p:cxnSp>
          <p:nvCxnSpPr>
            <p:cNvPr id="56331" name="Line 10"/>
            <p:cNvCxnSpPr/>
            <p:nvPr/>
          </p:nvCxnSpPr>
          <p:spPr>
            <a:xfrm flipH="1">
              <a:off x="4176" y="432"/>
              <a:ext cx="0" cy="1200"/>
            </a:xfrm>
            <a:prstGeom prst="line">
              <a:avLst/>
            </a:prstGeom>
            <a:noFill/>
            <a:ln w="12700">
              <a:solidFill>
                <a:schemeClr val="tx1"/>
              </a:solidFill>
              <a:miter lim="800000"/>
            </a:ln>
            <a:effectLst/>
          </p:spPr>
        </p:cxnSp>
        <p:cxnSp>
          <p:nvCxnSpPr>
            <p:cNvPr id="56332" name="Line 11"/>
            <p:cNvCxnSpPr/>
            <p:nvPr/>
          </p:nvCxnSpPr>
          <p:spPr>
            <a:xfrm>
              <a:off x="1152" y="720"/>
              <a:ext cx="3024" cy="0"/>
            </a:xfrm>
            <a:prstGeom prst="line">
              <a:avLst/>
            </a:prstGeom>
            <a:noFill/>
            <a:ln w="12700">
              <a:solidFill>
                <a:schemeClr val="tx1"/>
              </a:solidFill>
              <a:miter lim="800000"/>
            </a:ln>
            <a:effectLst/>
          </p:spPr>
        </p:cxnSp>
        <p:cxnSp>
          <p:nvCxnSpPr>
            <p:cNvPr id="56333" name="Line 12"/>
            <p:cNvCxnSpPr/>
            <p:nvPr/>
          </p:nvCxnSpPr>
          <p:spPr>
            <a:xfrm>
              <a:off x="1152" y="1344"/>
              <a:ext cx="3024" cy="0"/>
            </a:xfrm>
            <a:prstGeom prst="line">
              <a:avLst/>
            </a:prstGeom>
            <a:noFill/>
            <a:ln w="12700">
              <a:solidFill>
                <a:schemeClr val="tx1"/>
              </a:solidFill>
              <a:miter lim="800000"/>
            </a:ln>
            <a:effectLst/>
          </p:spPr>
        </p:cxnSp>
      </p:grpSp>
      <p:sp>
        <p:nvSpPr>
          <p:cNvPr id="56324" name="Text Box 13"/>
          <p:cNvSpPr/>
          <p:nvPr/>
        </p:nvSpPr>
        <p:spPr>
          <a:xfrm>
            <a:off x="888174" y="2590800"/>
            <a:ext cx="8009001" cy="4118914"/>
          </a:xfrm>
          <a:prstGeom prst="rect">
            <a:avLst/>
          </a:prstGeom>
          <a:noFill/>
          <a:ln w="12700">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just" eaLnBrk="1" hangingPunct="1">
              <a:spcBef>
                <a:spcPct val="50000"/>
              </a:spcBef>
            </a:pPr>
            <a:r>
              <a:rPr kumimoji="1" lang="zh-CN" altLang="en-US" sz="2400">
                <a:effectLst/>
              </a:rPr>
              <a:t>现在工厂领导要考虑市场等一系列其他因素，提出如下目标：</a:t>
            </a:r>
          </a:p>
          <a:p>
            <a:pPr marL="0" lvl="0" indent="0" algn="just" eaLnBrk="1" hangingPunct="1">
              <a:spcBef>
                <a:spcPct val="50000"/>
              </a:spcBef>
            </a:pPr>
            <a:r>
              <a:rPr kumimoji="1" lang="zh-CN" altLang="en-US" sz="2400">
                <a:effectLst/>
              </a:rPr>
              <a:t>（1）根据市场信息，甲产品的销量有下降的趋势，而乙产品的销量有上升的趋势，故考虑乙产品的产量应大于甲产品的产量。</a:t>
            </a:r>
          </a:p>
          <a:p>
            <a:pPr marL="0" lvl="0" indent="0" algn="just" eaLnBrk="1" hangingPunct="1">
              <a:spcBef>
                <a:spcPct val="50000"/>
              </a:spcBef>
            </a:pPr>
            <a:r>
              <a:rPr kumimoji="1" lang="zh-CN" altLang="en-US" sz="2400">
                <a:effectLst/>
              </a:rPr>
              <a:t>（2）尽可能充分利用工时，不希望加班。</a:t>
            </a:r>
          </a:p>
          <a:p>
            <a:pPr marL="0" lvl="0" indent="0" algn="just" eaLnBrk="1" hangingPunct="1">
              <a:spcBef>
                <a:spcPct val="50000"/>
              </a:spcBef>
            </a:pPr>
            <a:r>
              <a:rPr kumimoji="1" lang="zh-CN" altLang="en-US" sz="2400">
                <a:effectLst/>
              </a:rPr>
              <a:t>（3）应尽可能达到并超过计划利润30元。</a:t>
            </a:r>
          </a:p>
          <a:p>
            <a:pPr marL="0" lvl="0" indent="0" eaLnBrk="1" hangingPunct="1">
              <a:spcBef>
                <a:spcPct val="50000"/>
              </a:spcBef>
            </a:pPr>
            <a:r>
              <a:rPr kumimoji="1" lang="zh-CN" altLang="en-US" sz="2400">
                <a:effectLst/>
              </a:rPr>
              <a:t>现在的问题是：在原材料不能超计划使用的前提下，如何安排生产才能使上述目标依次实现？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9223372036854775808"/>
                                  </p:stCondLst>
                                  <p:childTnLst>
                                    <p:set>
                                      <p:cBhvr additive="base">
                                        <p:cTn id="6" dur="1" fill="hold">
                                          <p:stCondLst>
                                            <p:cond delay="0"/>
                                          </p:stCondLst>
                                        </p:cTn>
                                        <p:tgtEl>
                                          <p:spTgt spid="56323"/>
                                        </p:tgtEl>
                                        <p:attrNameLst>
                                          <p:attrName>style.visibility</p:attrName>
                                        </p:attrNameLst>
                                      </p:cBhvr>
                                      <p:to>
                                        <p:strVal val="visible"/>
                                      </p:to>
                                    </p:set>
                                    <p:anim calcmode="lin" valueType="num">
                                      <p:cBhvr additive="base">
                                        <p:cTn id="7" dur="500" fill="hold"/>
                                        <p:tgtEl>
                                          <p:spTgt spid="56323"/>
                                        </p:tgtEl>
                                        <p:attrNameLst>
                                          <p:attrName>ppt_x</p:attrName>
                                        </p:attrNameLst>
                                      </p:cBhvr>
                                      <p:tavLst>
                                        <p:tav tm="0">
                                          <p:val>
                                            <p:strVal val="0-#ppt_w/2"/>
                                          </p:val>
                                        </p:tav>
                                        <p:tav tm="100000">
                                          <p:val>
                                            <p:strVal val="#ppt_x"/>
                                          </p:val>
                                        </p:tav>
                                      </p:tavLst>
                                    </p:anim>
                                    <p:anim calcmode="lin" valueType="num">
                                      <p:cBhvr additive="base">
                                        <p:cTn id="8" dur="500" fill="hold"/>
                                        <p:tgtEl>
                                          <p:spTgt spid="56323"/>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9" fill="hold">
                      <p:stCondLst>
                        <p:cond delay="indefinite"/>
                      </p:stCondLst>
                      <p:childTnLst>
                        <p:par>
                          <p:cTn id="10" fill="hold">
                            <p:stCondLst>
                              <p:cond delay="indefinite"/>
                            </p:stCondLst>
                          </p:cTn>
                        </p:par>
                        <p:par>
                          <p:cTn id="11" fill="hold">
                            <p:stCondLst>
                              <p:cond delay="0"/>
                            </p:stCondLst>
                            <p:childTnLst>
                              <p:par>
                                <p:cTn id="12" presetID="2" presetClass="entr" presetSubtype="8" fill="hold" grpId="0" nodeType="clickEffect">
                                  <p:stCondLst>
                                    <p:cond delay="-9223372036854775808"/>
                                  </p:stCondLst>
                                  <p:childTnLst>
                                    <p:set>
                                      <p:cBhvr additive="base">
                                        <p:cTn id="13" dur="1" fill="hold">
                                          <p:stCondLst>
                                            <p:cond delay="0"/>
                                          </p:stCondLst>
                                        </p:cTn>
                                        <p:tgtEl>
                                          <p:spTgt spid="56324">
                                            <p:txEl>
                                              <p:charRg st="0" end="28"/>
                                            </p:txEl>
                                          </p:spTgt>
                                        </p:tgtEl>
                                        <p:attrNameLst>
                                          <p:attrName>style.visibility</p:attrName>
                                        </p:attrNameLst>
                                      </p:cBhvr>
                                      <p:to>
                                        <p:strVal val="visible"/>
                                      </p:to>
                                    </p:set>
                                    <p:anim calcmode="lin" valueType="num">
                                      <p:cBhvr additive="base">
                                        <p:cTn id="14" dur="500" fill="hold"/>
                                        <p:tgtEl>
                                          <p:spTgt spid="56324">
                                            <p:txEl>
                                              <p:charRg st="0" end="28"/>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56324">
                                            <p:txEl>
                                              <p:charRg st="0" end="28"/>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16" fill="hold">
                      <p:stCondLst>
                        <p:cond delay="indefinite"/>
                      </p:stCondLst>
                      <p:childTnLst>
                        <p:par>
                          <p:cTn id="17" fill="hold">
                            <p:stCondLst>
                              <p:cond delay="indefinite"/>
                            </p:stCondLst>
                          </p:cTn>
                        </p:par>
                        <p:par>
                          <p:cTn id="18" fill="hold">
                            <p:stCondLst>
                              <p:cond delay="0"/>
                            </p:stCondLst>
                            <p:childTnLst>
                              <p:par>
                                <p:cTn id="19" presetID="2" presetClass="entr" presetSubtype="8" fill="hold" grpId="0" nodeType="clickEffect">
                                  <p:stCondLst>
                                    <p:cond delay="-9223372036854775808"/>
                                  </p:stCondLst>
                                  <p:childTnLst>
                                    <p:set>
                                      <p:cBhvr additive="base">
                                        <p:cTn id="20" dur="1" fill="hold">
                                          <p:stCondLst>
                                            <p:cond delay="0"/>
                                          </p:stCondLst>
                                        </p:cTn>
                                        <p:tgtEl>
                                          <p:spTgt spid="56324">
                                            <p:txEl>
                                              <p:charRg st="28" end="85"/>
                                            </p:txEl>
                                          </p:spTgt>
                                        </p:tgtEl>
                                        <p:attrNameLst>
                                          <p:attrName>style.visibility</p:attrName>
                                        </p:attrNameLst>
                                      </p:cBhvr>
                                      <p:to>
                                        <p:strVal val="visible"/>
                                      </p:to>
                                    </p:set>
                                    <p:anim calcmode="lin" valueType="num">
                                      <p:cBhvr additive="base">
                                        <p:cTn id="21" dur="500" fill="hold"/>
                                        <p:tgtEl>
                                          <p:spTgt spid="56324">
                                            <p:txEl>
                                              <p:charRg st="28" end="85"/>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6324">
                                            <p:txEl>
                                              <p:charRg st="28" end="85"/>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2" presetClass="entr" presetSubtype="8" fill="hold" grpId="0" nodeType="clickEffect">
                                  <p:stCondLst>
                                    <p:cond delay="-9223372036854775808"/>
                                  </p:stCondLst>
                                  <p:childTnLst>
                                    <p:set>
                                      <p:cBhvr additive="base">
                                        <p:cTn id="27" dur="1" fill="hold">
                                          <p:stCondLst>
                                            <p:cond delay="0"/>
                                          </p:stCondLst>
                                        </p:cTn>
                                        <p:tgtEl>
                                          <p:spTgt spid="56324">
                                            <p:txEl>
                                              <p:charRg st="85" end="105"/>
                                            </p:txEl>
                                          </p:spTgt>
                                        </p:tgtEl>
                                        <p:attrNameLst>
                                          <p:attrName>style.visibility</p:attrName>
                                        </p:attrNameLst>
                                      </p:cBhvr>
                                      <p:to>
                                        <p:strVal val="visible"/>
                                      </p:to>
                                    </p:set>
                                    <p:anim calcmode="lin" valueType="num">
                                      <p:cBhvr additive="base">
                                        <p:cTn id="28" dur="500" fill="hold"/>
                                        <p:tgtEl>
                                          <p:spTgt spid="56324">
                                            <p:txEl>
                                              <p:charRg st="85" end="105"/>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6324">
                                            <p:txEl>
                                              <p:charRg st="85" end="105"/>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30" fill="hold">
                      <p:stCondLst>
                        <p:cond delay="indefinite"/>
                      </p:stCondLst>
                      <p:childTnLst>
                        <p:par>
                          <p:cTn id="31" fill="hold">
                            <p:stCondLst>
                              <p:cond delay="indefinite"/>
                            </p:stCondLst>
                          </p:cTn>
                        </p:par>
                        <p:par>
                          <p:cTn id="32" fill="hold">
                            <p:stCondLst>
                              <p:cond delay="0"/>
                            </p:stCondLst>
                            <p:childTnLst>
                              <p:par>
                                <p:cTn id="33" presetID="2" presetClass="entr" presetSubtype="8" fill="hold" grpId="0" nodeType="clickEffect">
                                  <p:stCondLst>
                                    <p:cond delay="-9223372036854775808"/>
                                  </p:stCondLst>
                                  <p:childTnLst>
                                    <p:set>
                                      <p:cBhvr additive="base">
                                        <p:cTn id="34" dur="1" fill="hold">
                                          <p:stCondLst>
                                            <p:cond delay="0"/>
                                          </p:stCondLst>
                                        </p:cTn>
                                        <p:tgtEl>
                                          <p:spTgt spid="56324">
                                            <p:txEl>
                                              <p:charRg st="105" end="126"/>
                                            </p:txEl>
                                          </p:spTgt>
                                        </p:tgtEl>
                                        <p:attrNameLst>
                                          <p:attrName>style.visibility</p:attrName>
                                        </p:attrNameLst>
                                      </p:cBhvr>
                                      <p:to>
                                        <p:strVal val="visible"/>
                                      </p:to>
                                    </p:set>
                                    <p:anim calcmode="lin" valueType="num">
                                      <p:cBhvr additive="base">
                                        <p:cTn id="35" dur="500" fill="hold"/>
                                        <p:tgtEl>
                                          <p:spTgt spid="56324">
                                            <p:txEl>
                                              <p:charRg st="105" end="12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6324">
                                            <p:txEl>
                                              <p:charRg st="105" end="126"/>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37" fill="hold">
                      <p:stCondLst>
                        <p:cond delay="indefinite"/>
                      </p:stCondLst>
                      <p:childTnLst>
                        <p:par>
                          <p:cTn id="38" fill="hold">
                            <p:stCondLst>
                              <p:cond delay="indefinite"/>
                            </p:stCondLst>
                          </p:cTn>
                        </p:par>
                        <p:par>
                          <p:cTn id="39" fill="hold">
                            <p:stCondLst>
                              <p:cond delay="0"/>
                            </p:stCondLst>
                            <p:childTnLst>
                              <p:par>
                                <p:cTn id="40" presetID="2" presetClass="entr" presetSubtype="8" fill="hold" grpId="0" nodeType="clickEffect">
                                  <p:stCondLst>
                                    <p:cond delay="-9223372036854775808"/>
                                  </p:stCondLst>
                                  <p:childTnLst>
                                    <p:set>
                                      <p:cBhvr additive="base">
                                        <p:cTn id="41" dur="1" fill="hold">
                                          <p:stCondLst>
                                            <p:cond delay="0"/>
                                          </p:stCondLst>
                                        </p:cTn>
                                        <p:tgtEl>
                                          <p:spTgt spid="56324">
                                            <p:txEl>
                                              <p:charRg st="126" end="168"/>
                                            </p:txEl>
                                          </p:spTgt>
                                        </p:tgtEl>
                                        <p:attrNameLst>
                                          <p:attrName>style.visibility</p:attrName>
                                        </p:attrNameLst>
                                      </p:cBhvr>
                                      <p:to>
                                        <p:strVal val="visible"/>
                                      </p:to>
                                    </p:set>
                                    <p:anim calcmode="lin" valueType="num">
                                      <p:cBhvr additive="base">
                                        <p:cTn id="42" dur="500" fill="hold"/>
                                        <p:tgtEl>
                                          <p:spTgt spid="56324">
                                            <p:txEl>
                                              <p:charRg st="126" end="168"/>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56324">
                                            <p:txEl>
                                              <p:charRg st="126" end="168"/>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uiExpand="1" build="p"/>
    </p:bldLst>
  </p:timing>
</p:sld>
</file>

<file path=ppt/slides/slide5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7346" name="Text Box 2"/>
          <p:cNvSpPr/>
          <p:nvPr/>
        </p:nvSpPr>
        <p:spPr>
          <a:xfrm>
            <a:off x="391002" y="152400"/>
            <a:ext cx="8577896" cy="6242444"/>
          </a:xfrm>
          <a:prstGeom prst="rect">
            <a:avLst/>
          </a:prstGeom>
          <a:noFill/>
          <a:ln w="12700">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just" eaLnBrk="1" hangingPunct="1">
              <a:lnSpc>
                <a:spcPct val="115000"/>
              </a:lnSpc>
              <a:spcBef>
                <a:spcPct val="50000"/>
              </a:spcBef>
            </a:pPr>
            <a:r>
              <a:rPr kumimoji="1" lang="zh-CN" altLang="en-US" sz="2400">
                <a:effectLst/>
              </a:rPr>
              <a:t>解：（1）决策变量：设每天生产甲、乙两种产品各为</a:t>
            </a:r>
            <a:r>
              <a:rPr kumimoji="1" lang="en-US" altLang="zh-CN" sz="2400">
                <a:effectLst/>
              </a:rPr>
              <a:t>x</a:t>
            </a:r>
            <a:r>
              <a:rPr kumimoji="1" lang="en-US" altLang="zh-CN" sz="2400" baseline="-30000">
                <a:effectLst/>
              </a:rPr>
              <a:t>1</a:t>
            </a:r>
            <a:r>
              <a:rPr kumimoji="1" lang="zh-CN" altLang="en-US" sz="2400">
                <a:effectLst/>
              </a:rPr>
              <a:t>和</a:t>
            </a:r>
            <a:r>
              <a:rPr kumimoji="1" lang="en-US" altLang="zh-CN" sz="2400">
                <a:effectLst/>
              </a:rPr>
              <a:t>x</a:t>
            </a:r>
            <a:r>
              <a:rPr kumimoji="1" lang="en-US" altLang="zh-CN" sz="2400" baseline="-30000">
                <a:effectLst/>
              </a:rPr>
              <a:t>2</a:t>
            </a:r>
            <a:endParaRPr kumimoji="1" lang="en-US" altLang="zh-CN" sz="2400">
              <a:effectLst/>
            </a:endParaRPr>
          </a:p>
          <a:p>
            <a:pPr marL="0" lvl="0" indent="0" algn="just" eaLnBrk="1" hangingPunct="1">
              <a:lnSpc>
                <a:spcPct val="115000"/>
              </a:lnSpc>
              <a:spcBef>
                <a:spcPct val="50000"/>
              </a:spcBef>
            </a:pPr>
            <a:r>
              <a:rPr kumimoji="1" lang="en-US" altLang="zh-CN" sz="2400">
                <a:effectLst/>
              </a:rPr>
              <a:t>      </a:t>
            </a:r>
            <a:r>
              <a:rPr kumimoji="1" lang="zh-CN" altLang="en-US" sz="2400">
                <a:effectLst/>
              </a:rPr>
              <a:t>偏差变量：对于每一目标，我们引进正、负偏差变量。   </a:t>
            </a:r>
          </a:p>
          <a:p>
            <a:pPr marL="0" lvl="0" indent="0" algn="just" eaLnBrk="1" hangingPunct="1">
              <a:lnSpc>
                <a:spcPct val="115000"/>
              </a:lnSpc>
              <a:spcBef>
                <a:spcPct val="50000"/>
              </a:spcBef>
            </a:pPr>
            <a:r>
              <a:rPr kumimoji="1" lang="zh-CN" altLang="en-US" sz="2400">
                <a:effectLst/>
              </a:rPr>
              <a:t>      如对于目标1，设</a:t>
            </a:r>
            <a:r>
              <a:rPr kumimoji="1" lang="en-US" altLang="zh-CN" sz="2400">
                <a:effectLst/>
              </a:rPr>
              <a:t>d</a:t>
            </a:r>
            <a:r>
              <a:rPr kumimoji="1" lang="en-US" altLang="zh-CN" sz="2400" baseline="-30000">
                <a:effectLst/>
              </a:rPr>
              <a:t>1</a:t>
            </a:r>
            <a:r>
              <a:rPr kumimoji="1" lang="en-US" altLang="zh-CN" sz="2400" baseline="30000">
                <a:effectLst/>
              </a:rPr>
              <a:t>-</a:t>
            </a:r>
            <a:r>
              <a:rPr kumimoji="1" lang="zh-CN" altLang="en-US" sz="2400">
                <a:effectLst/>
              </a:rPr>
              <a:t>表示乙产品的产量低于甲产品产量的数，</a:t>
            </a:r>
            <a:r>
              <a:rPr kumimoji="1" lang="en-US" altLang="zh-CN" sz="2400">
                <a:effectLst/>
              </a:rPr>
              <a:t>d</a:t>
            </a:r>
            <a:r>
              <a:rPr kumimoji="1" lang="en-US" altLang="zh-CN" sz="2400" baseline="-30000">
                <a:effectLst/>
              </a:rPr>
              <a:t>1</a:t>
            </a:r>
            <a:r>
              <a:rPr kumimoji="1" lang="en-US" altLang="zh-CN" sz="2400" baseline="30000">
                <a:effectLst/>
              </a:rPr>
              <a:t>+</a:t>
            </a:r>
            <a:r>
              <a:rPr kumimoji="1" lang="zh-CN" altLang="en-US" sz="2400">
                <a:effectLst/>
              </a:rPr>
              <a:t>表示乙产品的产量高于甲产品产量的数。称它们分别为产量比较的负偏差变量和正偏差变量。则对于目标1，可将它表示为等式约束的形式</a:t>
            </a:r>
          </a:p>
          <a:p>
            <a:pPr marL="0" lvl="0" indent="0" algn="just" eaLnBrk="1" hangingPunct="1">
              <a:lnSpc>
                <a:spcPct val="115000"/>
              </a:lnSpc>
              <a:spcBef>
                <a:spcPct val="50000"/>
              </a:spcBef>
            </a:pPr>
            <a:r>
              <a:rPr kumimoji="1" lang="zh-CN" altLang="en-US" sz="2400">
                <a:effectLst/>
              </a:rPr>
              <a:t>                  -</a:t>
            </a:r>
            <a:r>
              <a:rPr kumimoji="1" lang="en-US" altLang="zh-CN" sz="2400">
                <a:effectLst/>
              </a:rPr>
              <a:t>x</a:t>
            </a:r>
            <a:r>
              <a:rPr kumimoji="1" lang="en-US" altLang="zh-CN" sz="2400" baseline="-30000">
                <a:effectLst/>
              </a:rPr>
              <a:t>1</a:t>
            </a:r>
            <a:r>
              <a:rPr kumimoji="1" lang="en-US" altLang="zh-CN" sz="2400">
                <a:effectLst/>
              </a:rPr>
              <a:t>+x</a:t>
            </a:r>
            <a:r>
              <a:rPr kumimoji="1" lang="en-US" altLang="zh-CN" sz="2400" baseline="-30000">
                <a:effectLst/>
              </a:rPr>
              <a:t>2</a:t>
            </a:r>
            <a:r>
              <a:rPr kumimoji="1" lang="en-US" altLang="zh-CN" sz="2400">
                <a:effectLst/>
              </a:rPr>
              <a:t>+ d</a:t>
            </a:r>
            <a:r>
              <a:rPr kumimoji="1" lang="en-US" altLang="zh-CN" sz="2400" baseline="-30000">
                <a:effectLst/>
              </a:rPr>
              <a:t>1</a:t>
            </a:r>
            <a:r>
              <a:rPr kumimoji="1" lang="en-US" altLang="zh-CN" sz="2400" baseline="30000">
                <a:effectLst/>
              </a:rPr>
              <a:t>-</a:t>
            </a:r>
            <a:r>
              <a:rPr kumimoji="1" lang="en-US" altLang="zh-CN" sz="2400">
                <a:effectLst/>
              </a:rPr>
              <a:t>- d</a:t>
            </a:r>
            <a:r>
              <a:rPr kumimoji="1" lang="en-US" altLang="zh-CN" sz="2400" baseline="-30000">
                <a:effectLst/>
              </a:rPr>
              <a:t>1</a:t>
            </a:r>
            <a:r>
              <a:rPr kumimoji="1" lang="en-US" altLang="zh-CN" sz="2400" baseline="30000">
                <a:effectLst/>
              </a:rPr>
              <a:t>+</a:t>
            </a:r>
            <a:r>
              <a:rPr kumimoji="1" lang="en-US" altLang="zh-CN" sz="2400">
                <a:effectLst/>
              </a:rPr>
              <a:t> =0         (</a:t>
            </a:r>
            <a:r>
              <a:rPr kumimoji="1" lang="zh-CN" altLang="en-US" sz="2400">
                <a:effectLst/>
              </a:rPr>
              <a:t>目标约束)</a:t>
            </a:r>
          </a:p>
          <a:p>
            <a:pPr marL="0" lvl="0" indent="0" algn="just" eaLnBrk="1" hangingPunct="1">
              <a:lnSpc>
                <a:spcPct val="115000"/>
              </a:lnSpc>
              <a:spcBef>
                <a:spcPct val="50000"/>
              </a:spcBef>
            </a:pPr>
            <a:r>
              <a:rPr kumimoji="1" lang="zh-CN" altLang="en-US" sz="2400">
                <a:effectLst/>
                <a:ea typeface="黑体" pitchFamily="49" charset="-122"/>
              </a:rPr>
              <a:t>   </a:t>
            </a:r>
            <a:r>
              <a:rPr kumimoji="1" lang="zh-CN" altLang="en-US" sz="2400">
                <a:effectLst/>
              </a:rPr>
              <a:t>同样设</a:t>
            </a:r>
            <a:r>
              <a:rPr kumimoji="1" lang="en-US" altLang="zh-CN" sz="2400">
                <a:effectLst/>
              </a:rPr>
              <a:t>d</a:t>
            </a:r>
            <a:r>
              <a:rPr kumimoji="1" lang="en-US" altLang="zh-CN" sz="2400" baseline="-30000">
                <a:effectLst/>
              </a:rPr>
              <a:t>2</a:t>
            </a:r>
            <a:r>
              <a:rPr kumimoji="1" lang="en-US" altLang="zh-CN" sz="2400" baseline="30000">
                <a:effectLst/>
              </a:rPr>
              <a:t>-</a:t>
            </a:r>
            <a:r>
              <a:rPr kumimoji="1" lang="zh-CN" altLang="en-US" sz="2400">
                <a:effectLst/>
              </a:rPr>
              <a:t>和</a:t>
            </a:r>
            <a:r>
              <a:rPr kumimoji="1" lang="en-US" altLang="zh-CN" sz="2400">
                <a:effectLst/>
              </a:rPr>
              <a:t>d</a:t>
            </a:r>
            <a:r>
              <a:rPr kumimoji="1" lang="en-US" altLang="zh-CN" sz="2400" baseline="-30000">
                <a:effectLst/>
              </a:rPr>
              <a:t>2</a:t>
            </a:r>
            <a:r>
              <a:rPr kumimoji="1" lang="en-US" altLang="zh-CN" sz="2400" baseline="30000">
                <a:effectLst/>
              </a:rPr>
              <a:t>+</a:t>
            </a:r>
            <a:r>
              <a:rPr kumimoji="1" lang="zh-CN" altLang="en-US" sz="2400">
                <a:effectLst/>
              </a:rPr>
              <a:t>分别表示安排生产时，低于可利用工时和高于可利用工时，即加班工时的偏差变量，则对目标2，有</a:t>
            </a:r>
          </a:p>
          <a:p>
            <a:pPr marL="0" lvl="0" indent="0" algn="just" eaLnBrk="1" hangingPunct="1">
              <a:lnSpc>
                <a:spcPct val="115000"/>
              </a:lnSpc>
              <a:spcBef>
                <a:spcPct val="50000"/>
              </a:spcBef>
            </a:pPr>
            <a:r>
              <a:rPr kumimoji="1" lang="zh-CN" altLang="en-US" sz="2400">
                <a:effectLst/>
              </a:rPr>
              <a:t>                   3</a:t>
            </a:r>
            <a:r>
              <a:rPr kumimoji="1" lang="en-US" altLang="zh-CN" sz="2400">
                <a:effectLst/>
              </a:rPr>
              <a:t>x</a:t>
            </a:r>
            <a:r>
              <a:rPr kumimoji="1" lang="en-US" altLang="zh-CN" sz="2400" baseline="-30000">
                <a:effectLst/>
              </a:rPr>
              <a:t>1</a:t>
            </a:r>
            <a:r>
              <a:rPr kumimoji="1" lang="en-US" altLang="zh-CN" sz="2400">
                <a:effectLst/>
              </a:rPr>
              <a:t>+2x</a:t>
            </a:r>
            <a:r>
              <a:rPr kumimoji="1" lang="en-US" altLang="zh-CN" sz="2400" baseline="-30000">
                <a:effectLst/>
              </a:rPr>
              <a:t>2</a:t>
            </a:r>
            <a:r>
              <a:rPr kumimoji="1" lang="en-US" altLang="zh-CN" sz="2400">
                <a:effectLst/>
              </a:rPr>
              <a:t>+ d</a:t>
            </a:r>
            <a:r>
              <a:rPr kumimoji="1" lang="en-US" altLang="zh-CN" sz="2400" baseline="-30000">
                <a:effectLst/>
              </a:rPr>
              <a:t>2</a:t>
            </a:r>
            <a:r>
              <a:rPr kumimoji="1" lang="en-US" altLang="zh-CN" sz="2400" baseline="30000">
                <a:effectLst/>
              </a:rPr>
              <a:t>-</a:t>
            </a:r>
            <a:r>
              <a:rPr kumimoji="1" lang="en-US" altLang="zh-CN" sz="2400">
                <a:effectLst/>
              </a:rPr>
              <a:t>-d</a:t>
            </a:r>
            <a:r>
              <a:rPr kumimoji="1" lang="en-US" altLang="zh-CN" sz="2400" baseline="-30000">
                <a:effectLst/>
              </a:rPr>
              <a:t>2</a:t>
            </a:r>
            <a:r>
              <a:rPr kumimoji="1" lang="en-US" altLang="zh-CN" sz="2400" baseline="30000">
                <a:effectLst/>
              </a:rPr>
              <a:t>+</a:t>
            </a:r>
            <a:r>
              <a:rPr kumimoji="1" lang="en-US" altLang="zh-CN" sz="2400">
                <a:effectLst/>
              </a:rPr>
              <a:t> =26</a:t>
            </a:r>
          </a:p>
          <a:p>
            <a:pPr marL="0" lvl="0" indent="0" eaLnBrk="1" hangingPunct="1">
              <a:lnSpc>
                <a:spcPct val="115000"/>
              </a:lnSpc>
              <a:spcBef>
                <a:spcPct val="50000"/>
              </a:spcBef>
            </a:pPr>
            <a:r>
              <a:rPr kumimoji="1" lang="en-US" altLang="zh-CN" sz="2400">
                <a:effectLst/>
              </a:rPr>
              <a:t>  </a:t>
            </a:r>
            <a:r>
              <a:rPr kumimoji="1" lang="zh-CN" altLang="en-US" sz="2400">
                <a:effectLst/>
              </a:rPr>
              <a:t>对于目标3，设</a:t>
            </a:r>
            <a:r>
              <a:rPr kumimoji="1" lang="en-US" altLang="zh-CN" sz="2400">
                <a:effectLst/>
              </a:rPr>
              <a:t>d</a:t>
            </a:r>
            <a:r>
              <a:rPr kumimoji="1" lang="en-US" altLang="zh-CN" sz="2400" baseline="-30000">
                <a:effectLst/>
              </a:rPr>
              <a:t>3</a:t>
            </a:r>
            <a:r>
              <a:rPr kumimoji="1" lang="en-US" altLang="zh-CN" sz="2400" baseline="30000">
                <a:effectLst/>
              </a:rPr>
              <a:t>-</a:t>
            </a:r>
            <a:r>
              <a:rPr kumimoji="1" lang="zh-CN" altLang="en-US" sz="2400">
                <a:effectLst/>
              </a:rPr>
              <a:t>和</a:t>
            </a:r>
            <a:r>
              <a:rPr kumimoji="1" lang="en-US" altLang="zh-CN" sz="2400">
                <a:effectLst/>
              </a:rPr>
              <a:t>d</a:t>
            </a:r>
            <a:r>
              <a:rPr kumimoji="1" lang="en-US" altLang="zh-CN" sz="2400" baseline="-30000">
                <a:effectLst/>
              </a:rPr>
              <a:t>3</a:t>
            </a:r>
            <a:r>
              <a:rPr kumimoji="1" lang="en-US" altLang="zh-CN" sz="2400" baseline="30000">
                <a:effectLst/>
              </a:rPr>
              <a:t>+</a:t>
            </a:r>
            <a:r>
              <a:rPr kumimoji="1" lang="zh-CN" altLang="en-US" sz="2400">
                <a:effectLst/>
              </a:rPr>
              <a:t>分别表示安排生产时，低于计划利润30元和高于计划利润30元的偏差变量，有：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9223372036854775808"/>
                                  </p:stCondLst>
                                  <p:childTnLst>
                                    <p:set>
                                      <p:cBhvr additive="base">
                                        <p:cTn id="6" dur="1" fill="hold">
                                          <p:stCondLst>
                                            <p:cond delay="0"/>
                                          </p:stCondLst>
                                        </p:cTn>
                                        <p:tgtEl>
                                          <p:spTgt spid="57346">
                                            <p:txEl>
                                              <p:charRg st="0" end="30"/>
                                            </p:txEl>
                                          </p:spTgt>
                                        </p:tgtEl>
                                        <p:attrNameLst>
                                          <p:attrName>style.visibility</p:attrName>
                                        </p:attrNameLst>
                                      </p:cBhvr>
                                      <p:to>
                                        <p:strVal val="visible"/>
                                      </p:to>
                                    </p:set>
                                    <p:anim calcmode="lin" valueType="num">
                                      <p:cBhvr additive="base">
                                        <p:cTn id="7" dur="500" fill="hold"/>
                                        <p:tgtEl>
                                          <p:spTgt spid="57346">
                                            <p:txEl>
                                              <p:charRg st="0" end="3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346">
                                            <p:txEl>
                                              <p:charRg st="0" end="30"/>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9" fill="hold">
                      <p:stCondLst>
                        <p:cond delay="indefinite"/>
                      </p:stCondLst>
                      <p:childTnLst>
                        <p:par>
                          <p:cTn id="10" fill="hold">
                            <p:stCondLst>
                              <p:cond delay="indefinite"/>
                            </p:stCondLst>
                          </p:cTn>
                        </p:par>
                        <p:par>
                          <p:cTn id="11" fill="hold">
                            <p:stCondLst>
                              <p:cond delay="0"/>
                            </p:stCondLst>
                            <p:childTnLst>
                              <p:par>
                                <p:cTn id="12" presetID="2" presetClass="entr" presetSubtype="8" fill="hold" grpId="0" nodeType="clickEffect">
                                  <p:stCondLst>
                                    <p:cond delay="-9223372036854775808"/>
                                  </p:stCondLst>
                                  <p:childTnLst>
                                    <p:set>
                                      <p:cBhvr additive="base">
                                        <p:cTn id="13" dur="1" fill="hold">
                                          <p:stCondLst>
                                            <p:cond delay="0"/>
                                          </p:stCondLst>
                                        </p:cTn>
                                        <p:tgtEl>
                                          <p:spTgt spid="57346">
                                            <p:txEl>
                                              <p:charRg st="30" end="64"/>
                                            </p:txEl>
                                          </p:spTgt>
                                        </p:tgtEl>
                                        <p:attrNameLst>
                                          <p:attrName>style.visibility</p:attrName>
                                        </p:attrNameLst>
                                      </p:cBhvr>
                                      <p:to>
                                        <p:strVal val="visible"/>
                                      </p:to>
                                    </p:set>
                                    <p:anim calcmode="lin" valueType="num">
                                      <p:cBhvr additive="base">
                                        <p:cTn id="14" dur="500" fill="hold"/>
                                        <p:tgtEl>
                                          <p:spTgt spid="57346">
                                            <p:txEl>
                                              <p:charRg st="30" end="64"/>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57346">
                                            <p:txEl>
                                              <p:charRg st="30" end="64"/>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16" fill="hold">
                      <p:stCondLst>
                        <p:cond delay="indefinite"/>
                      </p:stCondLst>
                      <p:childTnLst>
                        <p:par>
                          <p:cTn id="17" fill="hold">
                            <p:stCondLst>
                              <p:cond delay="indefinite"/>
                            </p:stCondLst>
                          </p:cTn>
                        </p:par>
                        <p:par>
                          <p:cTn id="18" fill="hold">
                            <p:stCondLst>
                              <p:cond delay="0"/>
                            </p:stCondLst>
                            <p:childTnLst>
                              <p:par>
                                <p:cTn id="19" presetID="2" presetClass="entr" presetSubtype="8" fill="hold" grpId="0" nodeType="clickEffect">
                                  <p:stCondLst>
                                    <p:cond delay="-9223372036854775808"/>
                                  </p:stCondLst>
                                  <p:childTnLst>
                                    <p:set>
                                      <p:cBhvr additive="base">
                                        <p:cTn id="20" dur="1" fill="hold">
                                          <p:stCondLst>
                                            <p:cond delay="0"/>
                                          </p:stCondLst>
                                        </p:cTn>
                                        <p:tgtEl>
                                          <p:spTgt spid="57346">
                                            <p:txEl>
                                              <p:charRg st="64" end="164"/>
                                            </p:txEl>
                                          </p:spTgt>
                                        </p:tgtEl>
                                        <p:attrNameLst>
                                          <p:attrName>style.visibility</p:attrName>
                                        </p:attrNameLst>
                                      </p:cBhvr>
                                      <p:to>
                                        <p:strVal val="visible"/>
                                      </p:to>
                                    </p:set>
                                    <p:anim calcmode="lin" valueType="num">
                                      <p:cBhvr additive="base">
                                        <p:cTn id="21" dur="500" fill="hold"/>
                                        <p:tgtEl>
                                          <p:spTgt spid="57346">
                                            <p:txEl>
                                              <p:charRg st="64" end="16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7346">
                                            <p:txEl>
                                              <p:charRg st="64" end="164"/>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2" presetClass="entr" presetSubtype="8" fill="hold" grpId="0" nodeType="clickEffect">
                                  <p:stCondLst>
                                    <p:cond delay="-9223372036854775808"/>
                                  </p:stCondLst>
                                  <p:childTnLst>
                                    <p:set>
                                      <p:cBhvr additive="base">
                                        <p:cTn id="27" dur="1" fill="hold">
                                          <p:stCondLst>
                                            <p:cond delay="0"/>
                                          </p:stCondLst>
                                        </p:cTn>
                                        <p:tgtEl>
                                          <p:spTgt spid="57346">
                                            <p:txEl>
                                              <p:charRg st="164" end="217"/>
                                            </p:txEl>
                                          </p:spTgt>
                                        </p:tgtEl>
                                        <p:attrNameLst>
                                          <p:attrName>style.visibility</p:attrName>
                                        </p:attrNameLst>
                                      </p:cBhvr>
                                      <p:to>
                                        <p:strVal val="visible"/>
                                      </p:to>
                                    </p:set>
                                    <p:anim calcmode="lin" valueType="num">
                                      <p:cBhvr additive="base">
                                        <p:cTn id="28" dur="500" fill="hold"/>
                                        <p:tgtEl>
                                          <p:spTgt spid="57346">
                                            <p:txEl>
                                              <p:charRg st="164" end="217"/>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7346">
                                            <p:txEl>
                                              <p:charRg st="164" end="217"/>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30" fill="hold">
                      <p:stCondLst>
                        <p:cond delay="indefinite"/>
                      </p:stCondLst>
                      <p:childTnLst>
                        <p:par>
                          <p:cTn id="31" fill="hold">
                            <p:stCondLst>
                              <p:cond delay="indefinite"/>
                            </p:stCondLst>
                          </p:cTn>
                        </p:par>
                        <p:par>
                          <p:cTn id="32" fill="hold">
                            <p:stCondLst>
                              <p:cond delay="0"/>
                            </p:stCondLst>
                            <p:childTnLst>
                              <p:par>
                                <p:cTn id="33" presetID="2" presetClass="entr" presetSubtype="8" fill="hold" grpId="0" nodeType="clickEffect">
                                  <p:stCondLst>
                                    <p:cond delay="-9223372036854775808"/>
                                  </p:stCondLst>
                                  <p:childTnLst>
                                    <p:set>
                                      <p:cBhvr additive="base">
                                        <p:cTn id="34" dur="1" fill="hold">
                                          <p:stCondLst>
                                            <p:cond delay="0"/>
                                          </p:stCondLst>
                                        </p:cTn>
                                        <p:tgtEl>
                                          <p:spTgt spid="57346">
                                            <p:txEl>
                                              <p:charRg st="217" end="275"/>
                                            </p:txEl>
                                          </p:spTgt>
                                        </p:tgtEl>
                                        <p:attrNameLst>
                                          <p:attrName>style.visibility</p:attrName>
                                        </p:attrNameLst>
                                      </p:cBhvr>
                                      <p:to>
                                        <p:strVal val="visible"/>
                                      </p:to>
                                    </p:set>
                                    <p:anim calcmode="lin" valueType="num">
                                      <p:cBhvr additive="base">
                                        <p:cTn id="35" dur="500" fill="hold"/>
                                        <p:tgtEl>
                                          <p:spTgt spid="57346">
                                            <p:txEl>
                                              <p:charRg st="217" end="27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7346">
                                            <p:txEl>
                                              <p:charRg st="217" end="275"/>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37" fill="hold">
                      <p:stCondLst>
                        <p:cond delay="indefinite"/>
                      </p:stCondLst>
                      <p:childTnLst>
                        <p:par>
                          <p:cTn id="38" fill="hold">
                            <p:stCondLst>
                              <p:cond delay="indefinite"/>
                            </p:stCondLst>
                          </p:cTn>
                        </p:par>
                        <p:par>
                          <p:cTn id="39" fill="hold">
                            <p:stCondLst>
                              <p:cond delay="0"/>
                            </p:stCondLst>
                            <p:childTnLst>
                              <p:par>
                                <p:cTn id="40" presetID="2" presetClass="entr" presetSubtype="8" fill="hold" grpId="0" nodeType="clickEffect">
                                  <p:stCondLst>
                                    <p:cond delay="-9223372036854775808"/>
                                  </p:stCondLst>
                                  <p:childTnLst>
                                    <p:set>
                                      <p:cBhvr additive="base">
                                        <p:cTn id="41" dur="1" fill="hold">
                                          <p:stCondLst>
                                            <p:cond delay="0"/>
                                          </p:stCondLst>
                                        </p:cTn>
                                        <p:tgtEl>
                                          <p:spTgt spid="57346">
                                            <p:txEl>
                                              <p:charRg st="275" end="315"/>
                                            </p:txEl>
                                          </p:spTgt>
                                        </p:tgtEl>
                                        <p:attrNameLst>
                                          <p:attrName>style.visibility</p:attrName>
                                        </p:attrNameLst>
                                      </p:cBhvr>
                                      <p:to>
                                        <p:strVal val="visible"/>
                                      </p:to>
                                    </p:set>
                                    <p:anim calcmode="lin" valueType="num">
                                      <p:cBhvr additive="base">
                                        <p:cTn id="42" dur="500" fill="hold"/>
                                        <p:tgtEl>
                                          <p:spTgt spid="57346">
                                            <p:txEl>
                                              <p:charRg st="275" end="31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57346">
                                            <p:txEl>
                                              <p:charRg st="275" end="315"/>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2" presetClass="entr" presetSubtype="8" fill="hold" grpId="0" nodeType="clickEffect">
                                  <p:stCondLst>
                                    <p:cond delay="-9223372036854775808"/>
                                  </p:stCondLst>
                                  <p:childTnLst>
                                    <p:set>
                                      <p:cBhvr additive="base">
                                        <p:cTn id="48" dur="1" fill="hold">
                                          <p:stCondLst>
                                            <p:cond delay="0"/>
                                          </p:stCondLst>
                                        </p:cTn>
                                        <p:tgtEl>
                                          <p:spTgt spid="57346">
                                            <p:txEl>
                                              <p:charRg st="315" end="370"/>
                                            </p:txEl>
                                          </p:spTgt>
                                        </p:tgtEl>
                                        <p:attrNameLst>
                                          <p:attrName>style.visibility</p:attrName>
                                        </p:attrNameLst>
                                      </p:cBhvr>
                                      <p:to>
                                        <p:strVal val="visible"/>
                                      </p:to>
                                    </p:set>
                                    <p:anim calcmode="lin" valueType="num">
                                      <p:cBhvr additive="base">
                                        <p:cTn id="49" dur="500" fill="hold"/>
                                        <p:tgtEl>
                                          <p:spTgt spid="57346">
                                            <p:txEl>
                                              <p:charRg st="315" end="37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7346">
                                            <p:txEl>
                                              <p:charRg st="315" end="370"/>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uiExpand="1" build="p"/>
    </p:bldLst>
  </p:timing>
</p:sld>
</file>

<file path=ppt/slides/slide5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8370" name="Text Box 2"/>
          <p:cNvSpPr/>
          <p:nvPr/>
        </p:nvSpPr>
        <p:spPr>
          <a:xfrm>
            <a:off x="1062761" y="228600"/>
            <a:ext cx="8085278" cy="3203601"/>
          </a:xfrm>
          <a:prstGeom prst="rect">
            <a:avLst/>
          </a:prstGeom>
          <a:noFill/>
          <a:ln w="12700">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just" eaLnBrk="1" hangingPunct="1">
              <a:spcBef>
                <a:spcPct val="50000"/>
              </a:spcBef>
            </a:pPr>
            <a:r>
              <a:rPr kumimoji="1" lang="zh-CN" altLang="en-US" sz="2400">
                <a:effectLst/>
              </a:rPr>
              <a:t>                     4</a:t>
            </a:r>
            <a:r>
              <a:rPr kumimoji="1" lang="en-US" altLang="zh-CN" sz="2400">
                <a:effectLst/>
              </a:rPr>
              <a:t>x</a:t>
            </a:r>
            <a:r>
              <a:rPr kumimoji="1" lang="en-US" altLang="zh-CN" sz="2400" baseline="-30000">
                <a:effectLst/>
              </a:rPr>
              <a:t>1</a:t>
            </a:r>
            <a:r>
              <a:rPr kumimoji="1" lang="en-US" altLang="zh-CN" sz="2400">
                <a:effectLst/>
              </a:rPr>
              <a:t>+3x</a:t>
            </a:r>
            <a:r>
              <a:rPr kumimoji="1" lang="en-US" altLang="zh-CN" sz="2400" baseline="-30000">
                <a:effectLst/>
              </a:rPr>
              <a:t>2</a:t>
            </a:r>
            <a:r>
              <a:rPr kumimoji="1" lang="en-US" altLang="zh-CN" sz="2400">
                <a:effectLst/>
              </a:rPr>
              <a:t>+ d</a:t>
            </a:r>
            <a:r>
              <a:rPr kumimoji="1" lang="en-US" altLang="zh-CN" sz="2400" baseline="-30000">
                <a:effectLst/>
              </a:rPr>
              <a:t>3</a:t>
            </a:r>
            <a:r>
              <a:rPr kumimoji="1" lang="en-US" altLang="zh-CN" sz="2400" baseline="30000">
                <a:effectLst/>
              </a:rPr>
              <a:t>-</a:t>
            </a:r>
            <a:r>
              <a:rPr kumimoji="1" lang="en-US" altLang="zh-CN" sz="2400">
                <a:effectLst/>
              </a:rPr>
              <a:t>-d</a:t>
            </a:r>
            <a:r>
              <a:rPr kumimoji="1" lang="en-US" altLang="zh-CN" sz="2400" baseline="-30000">
                <a:effectLst/>
              </a:rPr>
              <a:t>3</a:t>
            </a:r>
            <a:r>
              <a:rPr kumimoji="1" lang="en-US" altLang="zh-CN" sz="2400" baseline="30000">
                <a:effectLst/>
              </a:rPr>
              <a:t>+</a:t>
            </a:r>
            <a:r>
              <a:rPr kumimoji="1" lang="en-US" altLang="zh-CN" sz="2400">
                <a:effectLst/>
              </a:rPr>
              <a:t> =30</a:t>
            </a:r>
          </a:p>
          <a:p>
            <a:pPr marL="0" lvl="0" indent="0" algn="just" eaLnBrk="1" hangingPunct="1">
              <a:spcBef>
                <a:spcPct val="50000"/>
              </a:spcBef>
            </a:pPr>
            <a:r>
              <a:rPr kumimoji="1" lang="en-US" altLang="zh-CN" sz="2400">
                <a:effectLst/>
              </a:rPr>
              <a:t>        （2）</a:t>
            </a:r>
            <a:r>
              <a:rPr kumimoji="1" lang="zh-CN" altLang="en-US" sz="2400">
                <a:effectLst/>
              </a:rPr>
              <a:t>约束条件：有资源约束和目标约束</a:t>
            </a:r>
          </a:p>
          <a:p>
            <a:pPr marL="0" lvl="0" indent="0" algn="just" eaLnBrk="1" hangingPunct="1">
              <a:spcBef>
                <a:spcPct val="50000"/>
              </a:spcBef>
            </a:pPr>
            <a:r>
              <a:rPr kumimoji="1" lang="zh-CN" altLang="en-US" sz="2400">
                <a:effectLst/>
              </a:rPr>
              <a:t>             资源约束：2</a:t>
            </a:r>
            <a:r>
              <a:rPr kumimoji="1" lang="en-US" altLang="zh-CN" sz="2400">
                <a:effectLst/>
              </a:rPr>
              <a:t>x</a:t>
            </a:r>
            <a:r>
              <a:rPr kumimoji="1" lang="en-US" altLang="zh-CN" sz="2400" baseline="-30000">
                <a:effectLst/>
              </a:rPr>
              <a:t>1</a:t>
            </a:r>
            <a:r>
              <a:rPr kumimoji="1" lang="en-US" altLang="zh-CN" sz="2400">
                <a:effectLst/>
              </a:rPr>
              <a:t>+3x</a:t>
            </a:r>
            <a:r>
              <a:rPr kumimoji="1" lang="en-US" altLang="zh-CN" sz="2400" baseline="-30000">
                <a:effectLst/>
              </a:rPr>
              <a:t>2</a:t>
            </a:r>
            <a:r>
              <a:rPr kumimoji="1" lang="en-US" altLang="zh-CN" sz="2400">
                <a:effectLst/>
              </a:rPr>
              <a:t>≤24</a:t>
            </a:r>
          </a:p>
          <a:p>
            <a:pPr marL="0" lvl="0" indent="0" algn="just" eaLnBrk="1" hangingPunct="1">
              <a:spcBef>
                <a:spcPct val="50000"/>
              </a:spcBef>
            </a:pPr>
            <a:r>
              <a:rPr kumimoji="1" lang="en-US" altLang="zh-CN" sz="2400">
                <a:effectLst/>
              </a:rPr>
              <a:t>             </a:t>
            </a:r>
            <a:r>
              <a:rPr kumimoji="1" lang="zh-CN" altLang="en-US" sz="2400">
                <a:effectLst/>
              </a:rPr>
              <a:t>目标约束：为上述各目标中得出的约束</a:t>
            </a:r>
          </a:p>
          <a:p>
            <a:pPr marL="0" lvl="0" indent="0" algn="just" eaLnBrk="1" hangingPunct="1">
              <a:spcBef>
                <a:spcPct val="50000"/>
              </a:spcBef>
            </a:pPr>
            <a:r>
              <a:rPr kumimoji="1" lang="zh-CN" altLang="en-US" sz="2400">
                <a:effectLst/>
              </a:rPr>
              <a:t>        （3）目标函数：三个目标依次为：</a:t>
            </a:r>
          </a:p>
          <a:p>
            <a:pPr marL="0" lvl="0" indent="0" algn="just" eaLnBrk="1" hangingPunct="1">
              <a:spcBef>
                <a:spcPct val="50000"/>
              </a:spcBef>
            </a:pPr>
            <a:r>
              <a:rPr kumimoji="1" lang="zh-CN" altLang="en-US" sz="2400">
                <a:effectLst/>
              </a:rPr>
              <a:t>             </a:t>
            </a:r>
            <a:r>
              <a:rPr kumimoji="1" lang="en-US" altLang="zh-CN" sz="2400">
                <a:effectLst/>
              </a:rPr>
              <a:t>minZ</a:t>
            </a:r>
            <a:r>
              <a:rPr kumimoji="1" lang="en-US" altLang="zh-CN" sz="2400" baseline="-30000">
                <a:effectLst/>
              </a:rPr>
              <a:t>1</a:t>
            </a:r>
            <a:r>
              <a:rPr kumimoji="1" lang="en-US" altLang="zh-CN" sz="2400">
                <a:effectLst/>
              </a:rPr>
              <a:t>=d</a:t>
            </a:r>
            <a:r>
              <a:rPr kumimoji="1" lang="en-US" altLang="zh-CN" sz="2400" baseline="-30000">
                <a:effectLst/>
              </a:rPr>
              <a:t>1</a:t>
            </a:r>
            <a:r>
              <a:rPr kumimoji="1" lang="en-US" altLang="zh-CN" sz="2400" baseline="30000">
                <a:effectLst/>
              </a:rPr>
              <a:t>-</a:t>
            </a:r>
            <a:r>
              <a:rPr kumimoji="1" lang="en-US" altLang="zh-CN" sz="2400">
                <a:effectLst/>
              </a:rPr>
              <a:t>  ，minZ</a:t>
            </a:r>
            <a:r>
              <a:rPr kumimoji="1" lang="en-US" altLang="zh-CN" sz="2400" baseline="-30000">
                <a:effectLst/>
              </a:rPr>
              <a:t>2</a:t>
            </a:r>
            <a:r>
              <a:rPr kumimoji="1" lang="en-US" altLang="zh-CN" sz="2400">
                <a:effectLst/>
              </a:rPr>
              <a:t>=d</a:t>
            </a:r>
            <a:r>
              <a:rPr kumimoji="1" lang="en-US" altLang="zh-CN" sz="2400" baseline="-30000">
                <a:effectLst/>
              </a:rPr>
              <a:t>2</a:t>
            </a:r>
            <a:r>
              <a:rPr kumimoji="1" lang="en-US" altLang="zh-CN" sz="2400" baseline="30000">
                <a:effectLst/>
              </a:rPr>
              <a:t>+</a:t>
            </a:r>
            <a:r>
              <a:rPr kumimoji="1" lang="en-US" altLang="zh-CN" sz="2400">
                <a:effectLst/>
              </a:rPr>
              <a:t>+d</a:t>
            </a:r>
            <a:r>
              <a:rPr kumimoji="1" lang="en-US" altLang="zh-CN" sz="2400" baseline="-30000">
                <a:effectLst/>
              </a:rPr>
              <a:t>2</a:t>
            </a:r>
            <a:r>
              <a:rPr kumimoji="1" lang="en-US" altLang="zh-CN" sz="2400" baseline="30000">
                <a:effectLst/>
              </a:rPr>
              <a:t>-</a:t>
            </a:r>
            <a:r>
              <a:rPr kumimoji="1" lang="en-US" altLang="zh-CN" sz="2400">
                <a:effectLst/>
              </a:rPr>
              <a:t>   ，minZ</a:t>
            </a:r>
            <a:r>
              <a:rPr kumimoji="1" lang="en-US" altLang="zh-CN" sz="2400" baseline="-30000">
                <a:effectLst/>
              </a:rPr>
              <a:t>3</a:t>
            </a:r>
            <a:r>
              <a:rPr kumimoji="1" lang="en-US" altLang="zh-CN" sz="2400">
                <a:effectLst/>
              </a:rPr>
              <a:t>=d</a:t>
            </a:r>
            <a:r>
              <a:rPr kumimoji="1" lang="en-US" altLang="zh-CN" sz="2400" baseline="-30000">
                <a:effectLst/>
              </a:rPr>
              <a:t>3</a:t>
            </a:r>
            <a:r>
              <a:rPr kumimoji="1" lang="en-US" altLang="zh-CN" sz="2400" baseline="30000">
                <a:effectLst/>
              </a:rPr>
              <a:t>-</a:t>
            </a:r>
            <a:r>
              <a:rPr kumimoji="1" lang="en-US" altLang="zh-CN" sz="2400">
                <a:effectLst/>
              </a:rPr>
              <a:t> </a:t>
            </a:r>
          </a:p>
        </p:txBody>
      </p:sp>
      <p:grpSp>
        <p:nvGrpSpPr>
          <p:cNvPr id="58371" name="Group 3"/>
          <p:cNvGrpSpPr/>
          <p:nvPr/>
        </p:nvGrpSpPr>
        <p:grpSpPr>
          <a:xfrm>
            <a:off x="1524000" y="3657600"/>
            <a:ext cx="7239000" cy="3200400"/>
            <a:chOff x="720" y="2304"/>
            <a:chExt cx="5040" cy="2016"/>
          </a:xfrm>
          <a:effectLst/>
        </p:grpSpPr>
        <p:sp>
          <p:nvSpPr>
            <p:cNvPr id="58372" name="Text Box 4"/>
            <p:cNvSpPr/>
            <p:nvPr/>
          </p:nvSpPr>
          <p:spPr>
            <a:xfrm>
              <a:off x="717" y="2304"/>
              <a:ext cx="5045" cy="2018"/>
            </a:xfrm>
            <a:prstGeom prst="rect">
              <a:avLst/>
            </a:prstGeom>
            <a:noFill/>
            <a:ln w="12700">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just" eaLnBrk="1" hangingPunct="1">
                <a:spcBef>
                  <a:spcPct val="50000"/>
                </a:spcBef>
              </a:pPr>
              <a:r>
                <a:rPr kumimoji="1" lang="zh-CN" altLang="en-US" sz="2400">
                  <a:effectLst/>
                </a:rPr>
                <a:t>因而该问题的数学模型可表述如下：</a:t>
              </a:r>
            </a:p>
            <a:p>
              <a:pPr marL="0" lvl="0" indent="0" algn="just" eaLnBrk="1" hangingPunct="1">
                <a:spcBef>
                  <a:spcPct val="50000"/>
                </a:spcBef>
              </a:pPr>
              <a:r>
                <a:rPr kumimoji="1" lang="zh-CN" altLang="en-US" sz="2400">
                  <a:effectLst/>
                </a:rPr>
                <a:t> </a:t>
              </a:r>
              <a:r>
                <a:rPr kumimoji="1" lang="en-US" altLang="zh-CN" sz="2400">
                  <a:effectLst/>
                </a:rPr>
                <a:t>minZ</a:t>
              </a:r>
              <a:r>
                <a:rPr kumimoji="1" lang="en-US" altLang="zh-CN" sz="2400" baseline="-30000">
                  <a:effectLst/>
                </a:rPr>
                <a:t>1</a:t>
              </a:r>
              <a:r>
                <a:rPr kumimoji="1" lang="en-US" altLang="zh-CN" sz="2400">
                  <a:effectLst/>
                </a:rPr>
                <a:t>=d</a:t>
              </a:r>
              <a:r>
                <a:rPr kumimoji="1" lang="en-US" altLang="zh-CN" sz="2400" baseline="-30000">
                  <a:effectLst/>
                </a:rPr>
                <a:t>1</a:t>
              </a:r>
              <a:r>
                <a:rPr kumimoji="1" lang="en-US" altLang="zh-CN" sz="2400" baseline="30000">
                  <a:effectLst/>
                </a:rPr>
                <a:t>-  </a:t>
              </a:r>
              <a:r>
                <a:rPr kumimoji="1" lang="en-US" altLang="zh-CN" sz="2400">
                  <a:effectLst/>
                </a:rPr>
                <a:t>，minZ</a:t>
              </a:r>
              <a:r>
                <a:rPr kumimoji="1" lang="en-US" altLang="zh-CN" sz="2400" baseline="-30000">
                  <a:effectLst/>
                </a:rPr>
                <a:t>2</a:t>
              </a:r>
              <a:r>
                <a:rPr kumimoji="1" lang="en-US" altLang="zh-CN" sz="2400">
                  <a:effectLst/>
                </a:rPr>
                <a:t>=d</a:t>
              </a:r>
              <a:r>
                <a:rPr kumimoji="1" lang="en-US" altLang="zh-CN" sz="2400" baseline="-30000">
                  <a:effectLst/>
                </a:rPr>
                <a:t>2</a:t>
              </a:r>
              <a:r>
                <a:rPr kumimoji="1" lang="en-US" altLang="zh-CN" sz="2400" baseline="30000">
                  <a:effectLst/>
                </a:rPr>
                <a:t>+</a:t>
              </a:r>
              <a:r>
                <a:rPr kumimoji="1" lang="en-US" altLang="zh-CN" sz="2400">
                  <a:effectLst/>
                </a:rPr>
                <a:t>+d</a:t>
              </a:r>
              <a:r>
                <a:rPr kumimoji="1" lang="en-US" altLang="zh-CN" sz="2400" baseline="-30000">
                  <a:effectLst/>
                </a:rPr>
                <a:t>2</a:t>
              </a:r>
              <a:r>
                <a:rPr kumimoji="1" lang="en-US" altLang="zh-CN" sz="2400" baseline="30000">
                  <a:effectLst/>
                </a:rPr>
                <a:t>-</a:t>
              </a:r>
              <a:r>
                <a:rPr kumimoji="1" lang="en-US" altLang="zh-CN" sz="2400">
                  <a:effectLst/>
                </a:rPr>
                <a:t>，minZ</a:t>
              </a:r>
              <a:r>
                <a:rPr kumimoji="1" lang="en-US" altLang="zh-CN" sz="2400" baseline="-30000">
                  <a:effectLst/>
                </a:rPr>
                <a:t>3</a:t>
              </a:r>
              <a:r>
                <a:rPr kumimoji="1" lang="en-US" altLang="zh-CN" sz="2400">
                  <a:effectLst/>
                </a:rPr>
                <a:t>=d</a:t>
              </a:r>
              <a:r>
                <a:rPr kumimoji="1" lang="en-US" altLang="zh-CN" sz="2400" baseline="-30000">
                  <a:effectLst/>
                </a:rPr>
                <a:t>3</a:t>
              </a:r>
              <a:r>
                <a:rPr kumimoji="1" lang="en-US" altLang="zh-CN" sz="2400" baseline="30000">
                  <a:effectLst/>
                </a:rPr>
                <a:t>-</a:t>
              </a:r>
              <a:endParaRPr kumimoji="1" lang="en-US" altLang="zh-CN" sz="2400">
                <a:effectLst/>
              </a:endParaRPr>
            </a:p>
            <a:p>
              <a:pPr marL="0" lvl="0" indent="0" algn="just" eaLnBrk="1" hangingPunct="1">
                <a:spcBef>
                  <a:spcPct val="50000"/>
                </a:spcBef>
              </a:pPr>
              <a:r>
                <a:rPr kumimoji="1" lang="en-US" altLang="zh-CN" sz="2400">
                  <a:effectLst/>
                </a:rPr>
                <a:t>                      2x</a:t>
              </a:r>
              <a:r>
                <a:rPr kumimoji="1" lang="en-US" altLang="zh-CN" sz="2400" baseline="-30000">
                  <a:effectLst/>
                </a:rPr>
                <a:t>1</a:t>
              </a:r>
              <a:r>
                <a:rPr kumimoji="1" lang="en-US" altLang="zh-CN" sz="2400">
                  <a:effectLst/>
                </a:rPr>
                <a:t>+3x</a:t>
              </a:r>
              <a:r>
                <a:rPr kumimoji="1" lang="en-US" altLang="zh-CN" sz="2400" baseline="-30000">
                  <a:effectLst/>
                </a:rPr>
                <a:t>2</a:t>
              </a:r>
              <a:r>
                <a:rPr kumimoji="1" lang="en-US" altLang="zh-CN" sz="2400">
                  <a:effectLst/>
                </a:rPr>
                <a:t>≤24</a:t>
              </a:r>
            </a:p>
            <a:p>
              <a:pPr marL="0" lvl="0" indent="0" algn="just" eaLnBrk="1" hangingPunct="1">
                <a:spcBef>
                  <a:spcPct val="50000"/>
                </a:spcBef>
              </a:pPr>
              <a:r>
                <a:rPr kumimoji="1" lang="en-US" altLang="zh-CN" sz="2400">
                  <a:effectLst/>
                </a:rPr>
                <a:t>         s．t．   -x</a:t>
              </a:r>
              <a:r>
                <a:rPr kumimoji="1" lang="en-US" altLang="zh-CN" sz="2400" baseline="-30000">
                  <a:effectLst/>
                </a:rPr>
                <a:t>1</a:t>
              </a:r>
              <a:r>
                <a:rPr kumimoji="1" lang="en-US" altLang="zh-CN" sz="2400">
                  <a:effectLst/>
                </a:rPr>
                <a:t>+x</a:t>
              </a:r>
              <a:r>
                <a:rPr kumimoji="1" lang="en-US" altLang="zh-CN" sz="2400" baseline="-30000">
                  <a:effectLst/>
                </a:rPr>
                <a:t>2</a:t>
              </a:r>
              <a:r>
                <a:rPr kumimoji="1" lang="en-US" altLang="zh-CN" sz="2400">
                  <a:effectLst/>
                </a:rPr>
                <a:t>+ d</a:t>
              </a:r>
              <a:r>
                <a:rPr kumimoji="1" lang="en-US" altLang="zh-CN" sz="2400" baseline="-30000">
                  <a:effectLst/>
                </a:rPr>
                <a:t>1</a:t>
              </a:r>
              <a:r>
                <a:rPr kumimoji="1" lang="en-US" altLang="zh-CN" sz="2400" baseline="30000">
                  <a:effectLst/>
                </a:rPr>
                <a:t>-</a:t>
              </a:r>
              <a:r>
                <a:rPr kumimoji="1" lang="en-US" altLang="zh-CN" sz="2400">
                  <a:effectLst/>
                </a:rPr>
                <a:t>- d</a:t>
              </a:r>
              <a:r>
                <a:rPr kumimoji="1" lang="en-US" altLang="zh-CN" sz="2400" baseline="-30000">
                  <a:effectLst/>
                </a:rPr>
                <a:t>1</a:t>
              </a:r>
              <a:r>
                <a:rPr kumimoji="1" lang="en-US" altLang="zh-CN" sz="2400" baseline="30000">
                  <a:effectLst/>
                </a:rPr>
                <a:t>+</a:t>
              </a:r>
              <a:r>
                <a:rPr kumimoji="1" lang="en-US" altLang="zh-CN" sz="2400">
                  <a:effectLst/>
                </a:rPr>
                <a:t> =0</a:t>
              </a:r>
            </a:p>
            <a:p>
              <a:pPr marL="0" lvl="0" indent="0" algn="just" eaLnBrk="1" hangingPunct="1">
                <a:spcBef>
                  <a:spcPct val="50000"/>
                </a:spcBef>
              </a:pPr>
              <a:r>
                <a:rPr kumimoji="1" lang="en-US" altLang="zh-CN" sz="2400">
                  <a:effectLst/>
                </a:rPr>
                <a:t>                      3x</a:t>
              </a:r>
              <a:r>
                <a:rPr kumimoji="1" lang="en-US" altLang="zh-CN" sz="2400" baseline="-30000">
                  <a:effectLst/>
                </a:rPr>
                <a:t>1</a:t>
              </a:r>
              <a:r>
                <a:rPr kumimoji="1" lang="en-US" altLang="zh-CN" sz="2400">
                  <a:effectLst/>
                </a:rPr>
                <a:t>+2x</a:t>
              </a:r>
              <a:r>
                <a:rPr kumimoji="1" lang="en-US" altLang="zh-CN" sz="2400" baseline="-30000">
                  <a:effectLst/>
                </a:rPr>
                <a:t>2</a:t>
              </a:r>
              <a:r>
                <a:rPr kumimoji="1" lang="en-US" altLang="zh-CN" sz="2400">
                  <a:effectLst/>
                </a:rPr>
                <a:t>+ d</a:t>
              </a:r>
              <a:r>
                <a:rPr kumimoji="1" lang="en-US" altLang="zh-CN" sz="2400" baseline="-30000">
                  <a:effectLst/>
                </a:rPr>
                <a:t>2</a:t>
              </a:r>
              <a:r>
                <a:rPr kumimoji="1" lang="en-US" altLang="zh-CN" sz="2400" baseline="30000">
                  <a:effectLst/>
                </a:rPr>
                <a:t>-</a:t>
              </a:r>
              <a:r>
                <a:rPr kumimoji="1" lang="en-US" altLang="zh-CN" sz="2400">
                  <a:effectLst/>
                </a:rPr>
                <a:t>-d</a:t>
              </a:r>
              <a:r>
                <a:rPr kumimoji="1" lang="en-US" altLang="zh-CN" sz="2400" baseline="-30000">
                  <a:effectLst/>
                </a:rPr>
                <a:t>2</a:t>
              </a:r>
              <a:r>
                <a:rPr kumimoji="1" lang="en-US" altLang="zh-CN" sz="2400" baseline="30000">
                  <a:effectLst/>
                </a:rPr>
                <a:t>+</a:t>
              </a:r>
              <a:r>
                <a:rPr kumimoji="1" lang="en-US" altLang="zh-CN" sz="2400">
                  <a:effectLst/>
                </a:rPr>
                <a:t> =26</a:t>
              </a:r>
            </a:p>
            <a:p>
              <a:pPr marL="0" lvl="0" indent="0" eaLnBrk="1" hangingPunct="1">
                <a:spcBef>
                  <a:spcPct val="50000"/>
                </a:spcBef>
              </a:pPr>
              <a:r>
                <a:rPr kumimoji="1" lang="en-US" altLang="zh-CN" sz="2400">
                  <a:effectLst/>
                </a:rPr>
                <a:t>                     4x</a:t>
              </a:r>
              <a:r>
                <a:rPr kumimoji="1" lang="en-US" altLang="zh-CN" sz="2400" baseline="-30000">
                  <a:effectLst/>
                </a:rPr>
                <a:t>1</a:t>
              </a:r>
              <a:r>
                <a:rPr kumimoji="1" lang="en-US" altLang="zh-CN" sz="2400">
                  <a:effectLst/>
                </a:rPr>
                <a:t>+3x</a:t>
              </a:r>
              <a:r>
                <a:rPr kumimoji="1" lang="en-US" altLang="zh-CN" sz="2400" baseline="-30000">
                  <a:effectLst/>
                </a:rPr>
                <a:t>2</a:t>
              </a:r>
              <a:r>
                <a:rPr kumimoji="1" lang="en-US" altLang="zh-CN" sz="2400">
                  <a:effectLst/>
                </a:rPr>
                <a:t>+ d</a:t>
              </a:r>
              <a:r>
                <a:rPr kumimoji="1" lang="en-US" altLang="zh-CN" sz="2400" baseline="-30000">
                  <a:effectLst/>
                </a:rPr>
                <a:t>3</a:t>
              </a:r>
              <a:r>
                <a:rPr kumimoji="1" lang="en-US" altLang="zh-CN" sz="2400" baseline="30000">
                  <a:effectLst/>
                </a:rPr>
                <a:t>-</a:t>
              </a:r>
              <a:r>
                <a:rPr kumimoji="1" lang="en-US" altLang="zh-CN" sz="2400">
                  <a:effectLst/>
                </a:rPr>
                <a:t>-d</a:t>
              </a:r>
              <a:r>
                <a:rPr kumimoji="1" lang="en-US" altLang="zh-CN" sz="2400" baseline="-30000">
                  <a:effectLst/>
                </a:rPr>
                <a:t>3</a:t>
              </a:r>
              <a:r>
                <a:rPr kumimoji="1" lang="en-US" altLang="zh-CN" sz="2400" baseline="30000">
                  <a:effectLst/>
                </a:rPr>
                <a:t>+</a:t>
              </a:r>
              <a:r>
                <a:rPr kumimoji="1" lang="en-US" altLang="zh-CN" sz="2400">
                  <a:effectLst/>
                </a:rPr>
                <a:t> =30 </a:t>
              </a:r>
            </a:p>
          </p:txBody>
        </p:sp>
        <p:sp>
          <p:nvSpPr>
            <p:cNvPr id="58373" name="AutoShape 5"/>
            <p:cNvSpPr/>
            <p:nvPr/>
          </p:nvSpPr>
          <p:spPr>
            <a:xfrm>
              <a:off x="1632" y="3120"/>
              <a:ext cx="144" cy="1200"/>
            </a:xfrm>
            <a:prstGeom prst="leftBrace">
              <a:avLst>
                <a:gd name="adj1" fmla="val 69444"/>
                <a:gd name="adj2" fmla="val 50000"/>
              </a:avLst>
            </a:prstGeom>
            <a:noFill/>
            <a:ln w="12700">
              <a:solidFill>
                <a:schemeClr val="tx1"/>
              </a:solidFill>
              <a:round/>
            </a:ln>
            <a:effectLst/>
          </p:spPr>
          <p:txBody>
            <a:bodyPr wrap="none" anchor="ctr" anchorCtr="0">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9223372036854775808"/>
                                  </p:stCondLst>
                                  <p:childTnLst>
                                    <p:set>
                                      <p:cBhvr additive="base">
                                        <p:cTn id="6" dur="1" fill="hold">
                                          <p:stCondLst>
                                            <p:cond delay="0"/>
                                          </p:stCondLst>
                                        </p:cTn>
                                        <p:tgtEl>
                                          <p:spTgt spid="58370">
                                            <p:txEl>
                                              <p:charRg st="0" end="42"/>
                                            </p:txEl>
                                          </p:spTgt>
                                        </p:tgtEl>
                                        <p:attrNameLst>
                                          <p:attrName>style.visibility</p:attrName>
                                        </p:attrNameLst>
                                      </p:cBhvr>
                                      <p:to>
                                        <p:strVal val="visible"/>
                                      </p:to>
                                    </p:set>
                                    <p:anim calcmode="lin" valueType="num">
                                      <p:cBhvr additive="base">
                                        <p:cTn id="7" dur="500" fill="hold"/>
                                        <p:tgtEl>
                                          <p:spTgt spid="58370">
                                            <p:txEl>
                                              <p:charRg st="0" end="4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370">
                                            <p:txEl>
                                              <p:charRg st="0" end="42"/>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9" fill="hold">
                      <p:stCondLst>
                        <p:cond delay="indefinite"/>
                      </p:stCondLst>
                      <p:childTnLst>
                        <p:par>
                          <p:cTn id="10" fill="hold">
                            <p:stCondLst>
                              <p:cond delay="indefinite"/>
                            </p:stCondLst>
                          </p:cTn>
                        </p:par>
                        <p:par>
                          <p:cTn id="11" fill="hold">
                            <p:stCondLst>
                              <p:cond delay="0"/>
                            </p:stCondLst>
                            <p:childTnLst>
                              <p:par>
                                <p:cTn id="12" presetID="2" presetClass="entr" presetSubtype="8" fill="hold" grpId="0" nodeType="clickEffect">
                                  <p:stCondLst>
                                    <p:cond delay="-9223372036854775808"/>
                                  </p:stCondLst>
                                  <p:childTnLst>
                                    <p:set>
                                      <p:cBhvr additive="base">
                                        <p:cTn id="13" dur="1" fill="hold">
                                          <p:stCondLst>
                                            <p:cond delay="0"/>
                                          </p:stCondLst>
                                        </p:cTn>
                                        <p:tgtEl>
                                          <p:spTgt spid="58370">
                                            <p:txEl>
                                              <p:charRg st="42" end="69"/>
                                            </p:txEl>
                                          </p:spTgt>
                                        </p:tgtEl>
                                        <p:attrNameLst>
                                          <p:attrName>style.visibility</p:attrName>
                                        </p:attrNameLst>
                                      </p:cBhvr>
                                      <p:to>
                                        <p:strVal val="visible"/>
                                      </p:to>
                                    </p:set>
                                    <p:anim calcmode="lin" valueType="num">
                                      <p:cBhvr additive="base">
                                        <p:cTn id="14" dur="500" fill="hold"/>
                                        <p:tgtEl>
                                          <p:spTgt spid="58370">
                                            <p:txEl>
                                              <p:charRg st="42" end="69"/>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58370">
                                            <p:txEl>
                                              <p:charRg st="42" end="69"/>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16" fill="hold">
                      <p:stCondLst>
                        <p:cond delay="indefinite"/>
                      </p:stCondLst>
                      <p:childTnLst>
                        <p:par>
                          <p:cTn id="17" fill="hold">
                            <p:stCondLst>
                              <p:cond delay="indefinite"/>
                            </p:stCondLst>
                          </p:cTn>
                        </p:par>
                        <p:par>
                          <p:cTn id="18" fill="hold">
                            <p:stCondLst>
                              <p:cond delay="0"/>
                            </p:stCondLst>
                            <p:childTnLst>
                              <p:par>
                                <p:cTn id="19" presetID="2" presetClass="entr" presetSubtype="8" fill="hold" grpId="0" nodeType="clickEffect">
                                  <p:stCondLst>
                                    <p:cond delay="-9223372036854775808"/>
                                  </p:stCondLst>
                                  <p:childTnLst>
                                    <p:set>
                                      <p:cBhvr additive="base">
                                        <p:cTn id="20" dur="1" fill="hold">
                                          <p:stCondLst>
                                            <p:cond delay="0"/>
                                          </p:stCondLst>
                                        </p:cTn>
                                        <p:tgtEl>
                                          <p:spTgt spid="58370">
                                            <p:txEl>
                                              <p:charRg st="69" end="98"/>
                                            </p:txEl>
                                          </p:spTgt>
                                        </p:tgtEl>
                                        <p:attrNameLst>
                                          <p:attrName>style.visibility</p:attrName>
                                        </p:attrNameLst>
                                      </p:cBhvr>
                                      <p:to>
                                        <p:strVal val="visible"/>
                                      </p:to>
                                    </p:set>
                                    <p:anim calcmode="lin" valueType="num">
                                      <p:cBhvr additive="base">
                                        <p:cTn id="21" dur="500" fill="hold"/>
                                        <p:tgtEl>
                                          <p:spTgt spid="58370">
                                            <p:txEl>
                                              <p:charRg st="69" end="98"/>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8370">
                                            <p:txEl>
                                              <p:charRg st="69" end="98"/>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2" presetClass="entr" presetSubtype="8" fill="hold" grpId="0" nodeType="clickEffect">
                                  <p:stCondLst>
                                    <p:cond delay="-9223372036854775808"/>
                                  </p:stCondLst>
                                  <p:childTnLst>
                                    <p:set>
                                      <p:cBhvr additive="base">
                                        <p:cTn id="27" dur="1" fill="hold">
                                          <p:stCondLst>
                                            <p:cond delay="0"/>
                                          </p:stCondLst>
                                        </p:cTn>
                                        <p:tgtEl>
                                          <p:spTgt spid="58370">
                                            <p:txEl>
                                              <p:charRg st="98" end="129"/>
                                            </p:txEl>
                                          </p:spTgt>
                                        </p:tgtEl>
                                        <p:attrNameLst>
                                          <p:attrName>style.visibility</p:attrName>
                                        </p:attrNameLst>
                                      </p:cBhvr>
                                      <p:to>
                                        <p:strVal val="visible"/>
                                      </p:to>
                                    </p:set>
                                    <p:anim calcmode="lin" valueType="num">
                                      <p:cBhvr additive="base">
                                        <p:cTn id="28" dur="500" fill="hold"/>
                                        <p:tgtEl>
                                          <p:spTgt spid="58370">
                                            <p:txEl>
                                              <p:charRg st="98" end="129"/>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8370">
                                            <p:txEl>
                                              <p:charRg st="98" end="129"/>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30" fill="hold">
                      <p:stCondLst>
                        <p:cond delay="indefinite"/>
                      </p:stCondLst>
                      <p:childTnLst>
                        <p:par>
                          <p:cTn id="31" fill="hold">
                            <p:stCondLst>
                              <p:cond delay="indefinite"/>
                            </p:stCondLst>
                          </p:cTn>
                        </p:par>
                        <p:par>
                          <p:cTn id="32" fill="hold">
                            <p:stCondLst>
                              <p:cond delay="0"/>
                            </p:stCondLst>
                            <p:childTnLst>
                              <p:par>
                                <p:cTn id="33" presetID="2" presetClass="entr" presetSubtype="8" fill="hold" grpId="0" nodeType="clickEffect">
                                  <p:stCondLst>
                                    <p:cond delay="-9223372036854775808"/>
                                  </p:stCondLst>
                                  <p:childTnLst>
                                    <p:set>
                                      <p:cBhvr additive="base">
                                        <p:cTn id="34" dur="1" fill="hold">
                                          <p:stCondLst>
                                            <p:cond delay="0"/>
                                          </p:stCondLst>
                                        </p:cTn>
                                        <p:tgtEl>
                                          <p:spTgt spid="58370">
                                            <p:txEl>
                                              <p:charRg st="129" end="154"/>
                                            </p:txEl>
                                          </p:spTgt>
                                        </p:tgtEl>
                                        <p:attrNameLst>
                                          <p:attrName>style.visibility</p:attrName>
                                        </p:attrNameLst>
                                      </p:cBhvr>
                                      <p:to>
                                        <p:strVal val="visible"/>
                                      </p:to>
                                    </p:set>
                                    <p:anim calcmode="lin" valueType="num">
                                      <p:cBhvr additive="base">
                                        <p:cTn id="35" dur="500" fill="hold"/>
                                        <p:tgtEl>
                                          <p:spTgt spid="58370">
                                            <p:txEl>
                                              <p:charRg st="129" end="15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8370">
                                            <p:txEl>
                                              <p:charRg st="129" end="154"/>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37" fill="hold">
                      <p:stCondLst>
                        <p:cond delay="indefinite"/>
                      </p:stCondLst>
                      <p:childTnLst>
                        <p:par>
                          <p:cTn id="38" fill="hold">
                            <p:stCondLst>
                              <p:cond delay="indefinite"/>
                            </p:stCondLst>
                          </p:cTn>
                        </p:par>
                        <p:par>
                          <p:cTn id="39" fill="hold">
                            <p:stCondLst>
                              <p:cond delay="0"/>
                            </p:stCondLst>
                            <p:childTnLst>
                              <p:par>
                                <p:cTn id="40" presetID="2" presetClass="entr" presetSubtype="8" fill="hold" grpId="0" nodeType="clickEffect">
                                  <p:stCondLst>
                                    <p:cond delay="-9223372036854775808"/>
                                  </p:stCondLst>
                                  <p:childTnLst>
                                    <p:set>
                                      <p:cBhvr additive="base">
                                        <p:cTn id="41" dur="1" fill="hold">
                                          <p:stCondLst>
                                            <p:cond delay="0"/>
                                          </p:stCondLst>
                                        </p:cTn>
                                        <p:tgtEl>
                                          <p:spTgt spid="58370">
                                            <p:txEl>
                                              <p:charRg st="154" end="207"/>
                                            </p:txEl>
                                          </p:spTgt>
                                        </p:tgtEl>
                                        <p:attrNameLst>
                                          <p:attrName>style.visibility</p:attrName>
                                        </p:attrNameLst>
                                      </p:cBhvr>
                                      <p:to>
                                        <p:strVal val="visible"/>
                                      </p:to>
                                    </p:set>
                                    <p:anim calcmode="lin" valueType="num">
                                      <p:cBhvr additive="base">
                                        <p:cTn id="42" dur="500" fill="hold"/>
                                        <p:tgtEl>
                                          <p:spTgt spid="58370">
                                            <p:txEl>
                                              <p:charRg st="154" end="207"/>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58370">
                                            <p:txEl>
                                              <p:charRg st="154" end="207"/>
                                            </p:txEl>
                                          </p:spTgt>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2" presetClass="entr" presetSubtype="8" fill="hold" nodeType="clickEffect">
                                  <p:stCondLst>
                                    <p:cond delay="-9223372036854775808"/>
                                  </p:stCondLst>
                                  <p:childTnLst>
                                    <p:set>
                                      <p:cBhvr additive="base">
                                        <p:cTn id="48" dur="1" fill="hold">
                                          <p:stCondLst>
                                            <p:cond delay="0"/>
                                          </p:stCondLst>
                                        </p:cTn>
                                        <p:tgtEl>
                                          <p:spTgt spid="58371"/>
                                        </p:tgtEl>
                                        <p:attrNameLst>
                                          <p:attrName>style.visibility</p:attrName>
                                        </p:attrNameLst>
                                      </p:cBhvr>
                                      <p:to>
                                        <p:strVal val="visible"/>
                                      </p:to>
                                    </p:set>
                                    <p:anim calcmode="lin" valueType="num">
                                      <p:cBhvr additive="base">
                                        <p:cTn id="49" dur="500" fill="hold"/>
                                        <p:tgtEl>
                                          <p:spTgt spid="58371"/>
                                        </p:tgtEl>
                                        <p:attrNameLst>
                                          <p:attrName>ppt_x</p:attrName>
                                        </p:attrNameLst>
                                      </p:cBhvr>
                                      <p:tavLst>
                                        <p:tav tm="0">
                                          <p:val>
                                            <p:strVal val="0-#ppt_w/2"/>
                                          </p:val>
                                        </p:tav>
                                        <p:tav tm="100000">
                                          <p:val>
                                            <p:strVal val="#ppt_x"/>
                                          </p:val>
                                        </p:tav>
                                      </p:tavLst>
                                    </p:anim>
                                    <p:anim calcmode="lin" valueType="num">
                                      <p:cBhvr additive="base">
                                        <p:cTn id="50" dur="500" fill="hold"/>
                                        <p:tgtEl>
                                          <p:spTgt spid="58371"/>
                                        </p:tgtEl>
                                        <p:attrNameLst>
                                          <p:attrName>ppt_y</p:attrName>
                                        </p:attrNameLst>
                                      </p:cBhvr>
                                      <p:tavLst>
                                        <p:tav tm="0">
                                          <p:val>
                                            <p:strVal val="#ppt_y"/>
                                          </p:val>
                                        </p:tav>
                                        <p:tav tm="100000">
                                          <p:val>
                                            <p:strVal val="#ppt_y"/>
                                          </p:val>
                                        </p:tav>
                                      </p:tavLst>
                                    </p:anim>
                                  </p:childTnLst>
                                  <p:subTnLst>
                                    <p:audio>
                                      <p:cMediaNode>
                                        <p:cTn repeatDur="-9223372036854775808" display="0" masterRel="sameClick">
                                          <p:stCondLst>
                                            <p:cond evt="onStopAudio" delay="0">
                                              <p:tgtEl>
                                                <p:sldTgt/>
                                              </p:tgtEl>
                                            </p:cond>
                                          </p:st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uiExpand="1" build="p"/>
    </p:bldLst>
  </p:timing>
</p:sld>
</file>

<file path=ppt/slides/slide5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9394" name="Rectangle 3"/>
          <p:cNvSpPr>
            <a:spLocks noGrp="1" noChangeArrowheads="1"/>
          </p:cNvSpPr>
          <p:nvPr>
            <p:ph type="body" sz="half" idx="4294967295"/>
          </p:nvPr>
        </p:nvSpPr>
        <p:spPr>
          <a:xfrm>
            <a:off x="684213" y="1916113"/>
            <a:ext cx="8208962" cy="1295400"/>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342900" marR="0" lvl="0" indent="-342900" eaLnBrk="1" hangingPunct="1">
              <a:buNone/>
            </a:pPr>
            <a:r>
              <a:rPr lang="zh-CN" altLang="en-US" sz="2400">
                <a:effectLst/>
                <a:latin typeface="宋体" pitchFamily="2" charset="-122"/>
              </a:rPr>
              <a:t>例  某企业生产甲、乙两种产品，需要用到</a:t>
            </a:r>
            <a:r>
              <a:rPr lang="en-US" altLang="zh-CN" sz="2400" i="1">
                <a:effectLst/>
                <a:latin typeface="Times New Roman" pitchFamily="18" charset="0"/>
                <a:ea typeface="Times New Roman" pitchFamily="18" charset="0"/>
              </a:rPr>
              <a:t>A</a:t>
            </a:r>
            <a:r>
              <a:rPr lang="en-US" altLang="zh-CN" sz="2400">
                <a:effectLst/>
                <a:latin typeface="Times New Roman" pitchFamily="18" charset="0"/>
                <a:ea typeface="Times New Roman" pitchFamily="18" charset="0"/>
              </a:rPr>
              <a:t>, </a:t>
            </a:r>
            <a:r>
              <a:rPr lang="en-US" altLang="zh-CN" sz="2400" i="1">
                <a:effectLst/>
                <a:latin typeface="Times New Roman" pitchFamily="18" charset="0"/>
                <a:ea typeface="Times New Roman" pitchFamily="18" charset="0"/>
              </a:rPr>
              <a:t>B</a:t>
            </a:r>
            <a:r>
              <a:rPr lang="en-US" altLang="zh-CN" sz="2400">
                <a:effectLst/>
                <a:latin typeface="Times New Roman" pitchFamily="18" charset="0"/>
                <a:ea typeface="Times New Roman" pitchFamily="18" charset="0"/>
              </a:rPr>
              <a:t>,</a:t>
            </a:r>
            <a:r>
              <a:rPr lang="en-US" altLang="zh-CN" sz="2400" i="1">
                <a:effectLst/>
                <a:latin typeface="Times New Roman" pitchFamily="18" charset="0"/>
                <a:ea typeface="Times New Roman" pitchFamily="18" charset="0"/>
              </a:rPr>
              <a:t>C </a:t>
            </a:r>
            <a:r>
              <a:rPr lang="zh-CN" altLang="en-US" sz="2400">
                <a:effectLst/>
                <a:latin typeface="宋体" pitchFamily="2" charset="-122"/>
              </a:rPr>
              <a:t>三种设备，关于产品的赢利与使用设备的工时及限制如下表所示。问该企业应如何安排生产，才能达到下列目标：</a:t>
            </a:r>
          </a:p>
        </p:txBody>
      </p:sp>
      <p:graphicFrame>
        <p:nvGraphicFramePr>
          <p:cNvPr id="59395" name="Group 143"/>
          <p:cNvGraphicFramePr>
            <a:graphicFrameLocks noGrp="1"/>
          </p:cNvGraphicFramePr>
          <p:nvPr>
            <p:ph sz="half" idx="4294967295"/>
          </p:nvPr>
        </p:nvGraphicFramePr>
        <p:xfrm>
          <a:off x="1042988" y="3386138"/>
          <a:ext cx="7489824" cy="2641600"/>
        </p:xfrm>
        <a:graphic>
          <a:graphicData uri="http://schemas.openxmlformats.org/drawingml/2006/table">
            <a:tbl>
              <a:tblPr>
                <a:effectLst/>
              </a:tblPr>
              <a:tblGrid>
                <a:gridCol w="1819275"/>
                <a:gridCol w="1890712"/>
                <a:gridCol w="1889125"/>
                <a:gridCol w="1890712"/>
              </a:tblGrid>
              <a:tr h="7016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endParaRPr lang="zh-CN" altLang="zh-CN" sz="2000">
                        <a:effectLst/>
                        <a:latin typeface="黑体" pitchFamily="49" charset="-122"/>
                        <a:ea typeface="黑体" pitchFamily="49" charset="-122"/>
                      </a:endParaRP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甲</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乙</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设备的生产能力（</a:t>
                      </a:r>
                      <a:r>
                        <a:rPr kumimoji="1" lang="en-US" altLang="zh-CN" sz="2000">
                          <a:effectLst/>
                          <a:latin typeface="Times New Roman" pitchFamily="18" charset="0"/>
                          <a:ea typeface="黑体" pitchFamily="49" charset="-122"/>
                        </a:rPr>
                        <a:t>h</a:t>
                      </a:r>
                      <a:r>
                        <a:rPr kumimoji="1" lang="zh-CN" altLang="en-US"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i="1">
                          <a:effectLst/>
                          <a:latin typeface="Times New Roman" pitchFamily="18" charset="0"/>
                          <a:ea typeface="黑体" pitchFamily="49" charset="-122"/>
                        </a:rPr>
                        <a:t>A</a:t>
                      </a:r>
                      <a:r>
                        <a:rPr kumimoji="1" lang="en-US" altLang="zh-CN" sz="2000">
                          <a:effectLst/>
                          <a:latin typeface="Times New Roman" pitchFamily="18" charset="0"/>
                          <a:ea typeface="黑体" pitchFamily="49" charset="-122"/>
                        </a:rPr>
                        <a:t>(h</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r>
                        <a:rPr kumimoji="1" lang="en-US" altLang="zh-CN"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2</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2</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12</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i="1">
                          <a:effectLst/>
                          <a:latin typeface="Times New Roman" pitchFamily="18" charset="0"/>
                          <a:ea typeface="黑体" pitchFamily="49" charset="-122"/>
                        </a:rPr>
                        <a:t>B(</a:t>
                      </a:r>
                      <a:r>
                        <a:rPr kumimoji="1" lang="en-US" altLang="zh-CN" sz="2000">
                          <a:effectLst/>
                          <a:latin typeface="Times New Roman" pitchFamily="18" charset="0"/>
                          <a:ea typeface="黑体" pitchFamily="49" charset="-122"/>
                        </a:rPr>
                        <a:t>h</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r>
                        <a:rPr kumimoji="1" lang="en-US" altLang="zh-CN"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4</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16</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i="1">
                          <a:effectLst/>
                          <a:latin typeface="Times New Roman" pitchFamily="18" charset="0"/>
                          <a:ea typeface="黑体" pitchFamily="49" charset="-122"/>
                        </a:rPr>
                        <a:t>C</a:t>
                      </a:r>
                      <a:r>
                        <a:rPr kumimoji="1" lang="en-US" altLang="zh-CN" sz="2000">
                          <a:effectLst/>
                          <a:latin typeface="Times New Roman" pitchFamily="18" charset="0"/>
                          <a:ea typeface="黑体" pitchFamily="49" charset="-122"/>
                        </a:rPr>
                        <a:t>(h</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r>
                        <a:rPr kumimoji="1" lang="en-US" altLang="zh-CN"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5</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15</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749300">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赢利（元</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200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300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endParaRPr lang="zh-CN" altLang="zh-CN" sz="2000">
                        <a:effectLst/>
                        <a:latin typeface="黑体" pitchFamily="49" charset="-122"/>
                        <a:ea typeface="黑体" pitchFamily="49" charset="-122"/>
                      </a:endParaRP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
        <p:nvSpPr>
          <p:cNvPr id="59427" name="Rectangle 142"/>
          <p:cNvSpPr/>
          <p:nvPr>
            <p:ph type="title" idx="4294967295"/>
          </p:nvPr>
        </p:nvSpPr>
        <p:spPr>
          <a:xfrm>
            <a:off x="323850" y="836612"/>
            <a:ext cx="7508875" cy="936625"/>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eaLnBrk="1" hangingPunct="1"/>
            <a:r>
              <a:rPr lang="zh-CN" altLang="en-US" sz="3200" b="1">
                <a:effectLst/>
                <a:latin typeface="黑体" pitchFamily="49" charset="-122"/>
                <a:ea typeface="黑体" pitchFamily="49" charset="-122"/>
              </a:rPr>
              <a:t>四、多目标规划问题求解的</a:t>
            </a:r>
            <a:r>
              <a:rPr lang="en-US" altLang="zh-CN" sz="3200" b="1">
                <a:effectLst/>
                <a:latin typeface="Times New Roman" pitchFamily="18" charset="0"/>
                <a:ea typeface="黑体" pitchFamily="49" charset="-122"/>
              </a:rPr>
              <a:t>LINGO</a:t>
            </a:r>
            <a:r>
              <a:rPr lang="zh-CN" altLang="en-US" sz="3200" b="1">
                <a:effectLst/>
                <a:latin typeface="黑体" pitchFamily="49" charset="-122"/>
                <a:ea typeface="黑体" pitchFamily="49" charset="-122"/>
              </a:rPr>
              <a:t>程序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9223372036854775808"/>
                                  </p:stCondLst>
                                  <p:childTnLst>
                                    <p:set>
                                      <p:cBhvr additive="base">
                                        <p:cTn id="6" dur="1" fill="hold">
                                          <p:stCondLst>
                                            <p:cond delay="0"/>
                                          </p:stCondLst>
                                        </p:cTn>
                                        <p:tgtEl>
                                          <p:spTgt spid="59427"/>
                                        </p:tgtEl>
                                        <p:attrNameLst>
                                          <p:attrName>style.visibility</p:attrName>
                                        </p:attrNameLst>
                                      </p:cBhvr>
                                      <p:to>
                                        <p:strVal val="visible"/>
                                      </p:to>
                                    </p:set>
                                    <p:animEffect transition="in" filter="blinds(horizontal)">
                                      <p:cBhvr additive="base">
                                        <p:cTn id="7" dur="500"/>
                                        <p:tgtEl>
                                          <p:spTgt spid="59427"/>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grpId="0" nodeType="clickEffect">
                                  <p:stCondLst>
                                    <p:cond delay="-9223372036854775808"/>
                                  </p:stCondLst>
                                  <p:childTnLst>
                                    <p:set>
                                      <p:cBhvr additive="base">
                                        <p:cTn id="12" dur="1" fill="hold">
                                          <p:stCondLst>
                                            <p:cond delay="0"/>
                                          </p:stCondLst>
                                        </p:cTn>
                                        <p:tgtEl>
                                          <p:spTgt spid="59394">
                                            <p:txEl>
                                              <p:charRg st="0" end="78"/>
                                            </p:txEl>
                                          </p:spTgt>
                                        </p:tgtEl>
                                        <p:attrNameLst>
                                          <p:attrName>style.visibility</p:attrName>
                                        </p:attrNameLst>
                                      </p:cBhvr>
                                      <p:to>
                                        <p:strVal val="visible"/>
                                      </p:to>
                                    </p:set>
                                    <p:animEffect transition="in" filter="blinds(horizontal)">
                                      <p:cBhvr additive="base">
                                        <p:cTn id="13" dur="500"/>
                                        <p:tgtEl>
                                          <p:spTgt spid="59394">
                                            <p:txEl>
                                              <p:charRg st="0" end="78"/>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59395"/>
                                        </p:tgtEl>
                                        <p:attrNameLst>
                                          <p:attrName>style.visibility</p:attrName>
                                        </p:attrNameLst>
                                      </p:cBhvr>
                                      <p:to>
                                        <p:strVal val="visible"/>
                                      </p:to>
                                    </p:set>
                                    <p:animEffect transition="in" filter="blinds(horizontal)">
                                      <p:cBhvr additive="base">
                                        <p:cTn id="19" dur="500"/>
                                        <p:tgtEl>
                                          <p:spTgt spid="59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p:bldP spid="59427" grpId="1"/>
    </p:bldLst>
  </p:timing>
</p:sld>
</file>

<file path=ppt/slides/slide5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0418" name="Rectangle 3"/>
          <p:cNvSpPr>
            <a:spLocks noGrp="1" noChangeArrowheads="1"/>
          </p:cNvSpPr>
          <p:nvPr>
            <p:ph type="body" idx="4294967295"/>
          </p:nvPr>
        </p:nvSpPr>
        <p:spPr>
          <a:xfrm>
            <a:off x="468313" y="3069927"/>
            <a:ext cx="8567737" cy="3527425"/>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lnSpc>
                <a:spcPct val="90000"/>
              </a:lnSpc>
              <a:buNone/>
            </a:pPr>
            <a:r>
              <a:rPr lang="zh-CN" altLang="en-US" sz="2600">
                <a:effectLst/>
                <a:latin typeface="宋体" pitchFamily="2" charset="-122"/>
              </a:rPr>
              <a:t>（</a:t>
            </a:r>
            <a:r>
              <a:rPr lang="en-US" altLang="zh-CN" sz="2600">
                <a:effectLst/>
                <a:latin typeface="宋体" pitchFamily="2" charset="-122"/>
              </a:rPr>
              <a:t>1</a:t>
            </a:r>
            <a:r>
              <a:rPr lang="zh-CN" altLang="en-US" sz="2600">
                <a:effectLst/>
                <a:latin typeface="宋体" pitchFamily="2" charset="-122"/>
              </a:rPr>
              <a:t>）力求使利润指标不低于</a:t>
            </a:r>
            <a:r>
              <a:rPr lang="en-US" altLang="zh-CN" sz="2600">
                <a:effectLst/>
                <a:latin typeface="宋体" pitchFamily="2" charset="-122"/>
              </a:rPr>
              <a:t>1500 </a:t>
            </a:r>
            <a:r>
              <a:rPr lang="zh-CN" altLang="en-US" sz="2600">
                <a:effectLst/>
                <a:latin typeface="宋体" pitchFamily="2" charset="-122"/>
              </a:rPr>
              <a:t>元；</a:t>
            </a:r>
          </a:p>
          <a:p>
            <a:pPr marL="342900" marR="0" lvl="0" indent="-342900" eaLnBrk="1" hangingPunct="1">
              <a:lnSpc>
                <a:spcPct val="90000"/>
              </a:lnSpc>
              <a:buNone/>
            </a:pPr>
            <a:r>
              <a:rPr lang="zh-CN" altLang="en-US" sz="2600">
                <a:effectLst/>
                <a:latin typeface="宋体" pitchFamily="2" charset="-122"/>
              </a:rPr>
              <a:t>（</a:t>
            </a:r>
            <a:r>
              <a:rPr lang="en-US" altLang="zh-CN" sz="2600">
                <a:effectLst/>
                <a:latin typeface="宋体" pitchFamily="2" charset="-122"/>
              </a:rPr>
              <a:t>2</a:t>
            </a:r>
            <a:r>
              <a:rPr lang="zh-CN" altLang="en-US" sz="2600">
                <a:effectLst/>
                <a:latin typeface="宋体" pitchFamily="2" charset="-122"/>
              </a:rPr>
              <a:t>）考虑到市场需求，甲、乙两种产品的产量比应尽量  </a:t>
            </a:r>
            <a:endParaRPr lang="en-US" altLang="zh-CN" sz="2600">
              <a:effectLst/>
              <a:latin typeface="宋体" pitchFamily="2" charset="-122"/>
            </a:endParaRPr>
          </a:p>
          <a:p>
            <a:pPr marL="342900" marR="0" lvl="0" indent="-342900" eaLnBrk="1" hangingPunct="1">
              <a:lnSpc>
                <a:spcPct val="90000"/>
              </a:lnSpc>
              <a:buNone/>
            </a:pPr>
            <a:r>
              <a:rPr lang="en-US" altLang="zh-CN" sz="2600">
                <a:effectLst/>
                <a:latin typeface="宋体" pitchFamily="2" charset="-122"/>
              </a:rPr>
              <a:t>     </a:t>
            </a:r>
            <a:r>
              <a:rPr lang="zh-CN" altLang="en-US" sz="2600">
                <a:effectLst/>
                <a:latin typeface="宋体" pitchFamily="2" charset="-122"/>
              </a:rPr>
              <a:t>保持</a:t>
            </a:r>
            <a:r>
              <a:rPr lang="en-US" altLang="zh-CN" sz="2600">
                <a:effectLst/>
                <a:latin typeface="宋体" pitchFamily="2" charset="-122"/>
              </a:rPr>
              <a:t>1:2</a:t>
            </a:r>
            <a:r>
              <a:rPr lang="zh-CN" altLang="en-US" sz="2600">
                <a:effectLst/>
                <a:latin typeface="宋体" pitchFamily="2" charset="-122"/>
              </a:rPr>
              <a:t>；</a:t>
            </a:r>
          </a:p>
          <a:p>
            <a:pPr marL="342900" marR="0" lvl="0" indent="-342900" eaLnBrk="1" hangingPunct="1">
              <a:lnSpc>
                <a:spcPct val="90000"/>
              </a:lnSpc>
              <a:buNone/>
            </a:pPr>
            <a:r>
              <a:rPr lang="zh-CN" altLang="en-US" sz="2600">
                <a:effectLst/>
                <a:latin typeface="宋体" pitchFamily="2" charset="-122"/>
              </a:rPr>
              <a:t>（</a:t>
            </a:r>
            <a:r>
              <a:rPr lang="en-US" altLang="zh-CN" sz="2600">
                <a:effectLst/>
                <a:latin typeface="宋体" pitchFamily="2" charset="-122"/>
              </a:rPr>
              <a:t>3</a:t>
            </a:r>
            <a:r>
              <a:rPr lang="zh-CN" altLang="en-US" sz="2600">
                <a:effectLst/>
                <a:latin typeface="宋体" pitchFamily="2" charset="-122"/>
              </a:rPr>
              <a:t>）设备</a:t>
            </a:r>
            <a:r>
              <a:rPr lang="en-US" altLang="zh-CN" sz="2600" i="1">
                <a:effectLst/>
                <a:latin typeface="Times New Roman" pitchFamily="18" charset="0"/>
                <a:ea typeface="Times New Roman" pitchFamily="18" charset="0"/>
              </a:rPr>
              <a:t>A </a:t>
            </a:r>
            <a:r>
              <a:rPr lang="zh-CN" altLang="en-US" sz="2600">
                <a:effectLst/>
                <a:latin typeface="宋体" pitchFamily="2" charset="-122"/>
              </a:rPr>
              <a:t>为贵重设备，严格禁止超时使用；</a:t>
            </a:r>
          </a:p>
          <a:p>
            <a:pPr marL="342900" marR="0" lvl="0" indent="-342900" eaLnBrk="1" hangingPunct="1">
              <a:lnSpc>
                <a:spcPct val="90000"/>
              </a:lnSpc>
              <a:buNone/>
            </a:pPr>
            <a:r>
              <a:rPr lang="zh-CN" altLang="en-US" sz="2600">
                <a:effectLst/>
                <a:latin typeface="宋体" pitchFamily="2" charset="-122"/>
              </a:rPr>
              <a:t>（</a:t>
            </a:r>
            <a:r>
              <a:rPr lang="en-US" altLang="zh-CN" sz="2600">
                <a:effectLst/>
                <a:latin typeface="宋体" pitchFamily="2" charset="-122"/>
              </a:rPr>
              <a:t>4</a:t>
            </a:r>
            <a:r>
              <a:rPr lang="zh-CN" altLang="en-US" sz="2600">
                <a:effectLst/>
                <a:latin typeface="宋体" pitchFamily="2" charset="-122"/>
              </a:rPr>
              <a:t>）设备</a:t>
            </a:r>
            <a:r>
              <a:rPr lang="en-US" altLang="zh-CN" sz="2600" i="1">
                <a:effectLst/>
                <a:latin typeface="Times New Roman" pitchFamily="18" charset="0"/>
                <a:ea typeface="Times New Roman" pitchFamily="18" charset="0"/>
              </a:rPr>
              <a:t>C </a:t>
            </a:r>
            <a:r>
              <a:rPr lang="zh-CN" altLang="en-US" sz="2600">
                <a:effectLst/>
                <a:latin typeface="宋体" pitchFamily="2" charset="-122"/>
              </a:rPr>
              <a:t>可以适当加班，但要控制；设备</a:t>
            </a:r>
            <a:r>
              <a:rPr lang="en-US" altLang="zh-CN" sz="2600" i="1">
                <a:effectLst/>
                <a:latin typeface="Times New Roman" pitchFamily="18" charset="0"/>
                <a:ea typeface="Times New Roman" pitchFamily="18" charset="0"/>
              </a:rPr>
              <a:t>B </a:t>
            </a:r>
            <a:r>
              <a:rPr lang="zh-CN" altLang="en-US" sz="2600">
                <a:effectLst/>
                <a:latin typeface="Times New Roman" pitchFamily="18" charset="0"/>
                <a:ea typeface="Times New Roman" pitchFamily="18" charset="0"/>
              </a:rPr>
              <a:t>既</a:t>
            </a:r>
            <a:r>
              <a:rPr lang="zh-CN" altLang="en-US" sz="2600">
                <a:effectLst/>
                <a:latin typeface="宋体" pitchFamily="2" charset="-122"/>
              </a:rPr>
              <a:t>要求充分利用，又尽可能不加班。在重要性上，设备</a:t>
            </a:r>
            <a:r>
              <a:rPr lang="en-US" altLang="zh-CN" sz="2600" i="1">
                <a:effectLst/>
                <a:latin typeface="Times New Roman" pitchFamily="18" charset="0"/>
                <a:ea typeface="Times New Roman" pitchFamily="18" charset="0"/>
              </a:rPr>
              <a:t>B</a:t>
            </a:r>
            <a:r>
              <a:rPr lang="zh-CN" altLang="en-US" sz="2600">
                <a:effectLst/>
                <a:latin typeface="宋体" pitchFamily="2" charset="-122"/>
              </a:rPr>
              <a:t>是设备</a:t>
            </a:r>
            <a:r>
              <a:rPr lang="en-US" altLang="zh-CN" sz="2600" i="1">
                <a:effectLst/>
                <a:latin typeface="Times New Roman" pitchFamily="18" charset="0"/>
                <a:ea typeface="Times New Roman" pitchFamily="18" charset="0"/>
              </a:rPr>
              <a:t>C </a:t>
            </a:r>
            <a:r>
              <a:rPr lang="zh-CN" altLang="en-US" sz="2600">
                <a:effectLst/>
                <a:latin typeface="宋体" pitchFamily="2" charset="-122"/>
              </a:rPr>
              <a:t>的</a:t>
            </a:r>
            <a:r>
              <a:rPr lang="en-US" altLang="zh-CN" sz="2600">
                <a:effectLst/>
                <a:latin typeface="宋体" pitchFamily="2" charset="-122"/>
              </a:rPr>
              <a:t>3</a:t>
            </a:r>
            <a:r>
              <a:rPr lang="zh-CN" altLang="en-US" sz="2600">
                <a:effectLst/>
                <a:latin typeface="宋体" pitchFamily="2" charset="-122"/>
              </a:rPr>
              <a:t>倍。</a:t>
            </a:r>
          </a:p>
          <a:p>
            <a:pPr marL="342900" marR="0" lvl="0" indent="-342900" eaLnBrk="1" hangingPunct="1">
              <a:lnSpc>
                <a:spcPct val="90000"/>
              </a:lnSpc>
              <a:buNone/>
            </a:pPr>
            <a:r>
              <a:rPr lang="zh-CN" altLang="en-US" sz="2600">
                <a:effectLst/>
                <a:latin typeface="宋体" pitchFamily="2" charset="-122"/>
              </a:rPr>
              <a:t> 建立相应的目标规划模型并求解。</a:t>
            </a:r>
          </a:p>
        </p:txBody>
      </p:sp>
      <p:graphicFrame>
        <p:nvGraphicFramePr>
          <p:cNvPr id="60419" name="Group 143"/>
          <p:cNvGraphicFramePr>
            <a:graphicFrameLocks noGrp="1"/>
          </p:cNvGraphicFramePr>
          <p:nvPr/>
        </p:nvGraphicFramePr>
        <p:xfrm>
          <a:off x="898525" y="260350"/>
          <a:ext cx="7489824" cy="2641600"/>
        </p:xfrm>
        <a:graphic>
          <a:graphicData uri="http://schemas.openxmlformats.org/drawingml/2006/table">
            <a:tbl>
              <a:tblPr>
                <a:effectLst/>
              </a:tblPr>
              <a:tblGrid>
                <a:gridCol w="1819275"/>
                <a:gridCol w="1890712"/>
                <a:gridCol w="1889125"/>
                <a:gridCol w="1890712"/>
              </a:tblGrid>
              <a:tr h="7016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endParaRPr lang="zh-CN" altLang="zh-CN" sz="2000">
                        <a:effectLst/>
                        <a:latin typeface="黑体" pitchFamily="49" charset="-122"/>
                        <a:ea typeface="黑体" pitchFamily="49" charset="-122"/>
                      </a:endParaRP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甲</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乙</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设备的生产能力（</a:t>
                      </a:r>
                      <a:r>
                        <a:rPr kumimoji="1" lang="en-US" altLang="zh-CN" sz="2000">
                          <a:effectLst/>
                          <a:latin typeface="Times New Roman" pitchFamily="18" charset="0"/>
                          <a:ea typeface="黑体" pitchFamily="49" charset="-122"/>
                        </a:rPr>
                        <a:t>h</a:t>
                      </a:r>
                      <a:r>
                        <a:rPr kumimoji="1" lang="zh-CN" altLang="en-US"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i="1">
                          <a:effectLst/>
                          <a:latin typeface="Times New Roman" pitchFamily="18" charset="0"/>
                          <a:ea typeface="黑体" pitchFamily="49" charset="-122"/>
                        </a:rPr>
                        <a:t>A</a:t>
                      </a:r>
                      <a:r>
                        <a:rPr kumimoji="1" lang="en-US" altLang="zh-CN" sz="2000">
                          <a:effectLst/>
                          <a:latin typeface="Times New Roman" pitchFamily="18" charset="0"/>
                          <a:ea typeface="黑体" pitchFamily="49" charset="-122"/>
                        </a:rPr>
                        <a:t>(h</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r>
                        <a:rPr kumimoji="1" lang="en-US" altLang="zh-CN"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2</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2</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12</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i="1">
                          <a:effectLst/>
                          <a:latin typeface="Times New Roman" pitchFamily="18" charset="0"/>
                          <a:ea typeface="黑体" pitchFamily="49" charset="-122"/>
                        </a:rPr>
                        <a:t>B(</a:t>
                      </a:r>
                      <a:r>
                        <a:rPr kumimoji="1" lang="en-US" altLang="zh-CN" sz="2000">
                          <a:effectLst/>
                          <a:latin typeface="Times New Roman" pitchFamily="18" charset="0"/>
                          <a:ea typeface="黑体" pitchFamily="49" charset="-122"/>
                        </a:rPr>
                        <a:t>h</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r>
                        <a:rPr kumimoji="1" lang="en-US" altLang="zh-CN"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4</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16</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i="1">
                          <a:effectLst/>
                          <a:latin typeface="Times New Roman" pitchFamily="18" charset="0"/>
                          <a:ea typeface="黑体" pitchFamily="49" charset="-122"/>
                        </a:rPr>
                        <a:t>C</a:t>
                      </a:r>
                      <a:r>
                        <a:rPr kumimoji="1" lang="en-US" altLang="zh-CN" sz="2000">
                          <a:effectLst/>
                          <a:latin typeface="Times New Roman" pitchFamily="18" charset="0"/>
                          <a:ea typeface="黑体" pitchFamily="49" charset="-122"/>
                        </a:rPr>
                        <a:t>(h</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r>
                        <a:rPr kumimoji="1" lang="en-US" altLang="zh-CN" sz="2000">
                          <a:effectLst/>
                          <a:latin typeface="黑体" pitchFamily="49" charset="-122"/>
                          <a:ea typeface="黑体" pitchFamily="49" charset="-122"/>
                        </a:rPr>
                        <a:t>)</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5</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15</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749300">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zh-CN" altLang="en-US" sz="2000">
                          <a:effectLst/>
                          <a:latin typeface="黑体" pitchFamily="49" charset="-122"/>
                          <a:ea typeface="黑体" pitchFamily="49" charset="-122"/>
                        </a:rPr>
                        <a:t>赢利（元</a:t>
                      </a:r>
                      <a:r>
                        <a:rPr kumimoji="1" lang="en-US" altLang="zh-CN" sz="2000">
                          <a:effectLst/>
                          <a:latin typeface="黑体" pitchFamily="49" charset="-122"/>
                          <a:ea typeface="黑体" pitchFamily="49" charset="-122"/>
                        </a:rPr>
                        <a:t>/</a:t>
                      </a:r>
                      <a:r>
                        <a:rPr kumimoji="1" lang="zh-CN" altLang="en-US" sz="2000">
                          <a:effectLst/>
                          <a:latin typeface="黑体" pitchFamily="49" charset="-122"/>
                          <a:ea typeface="黑体" pitchFamily="49" charset="-122"/>
                        </a:rPr>
                        <a:t>件）</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200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342900" lvl="0" indent="-342900" algn="ctr" eaLnBrk="1" hangingPunct="1"/>
                      <a:r>
                        <a:rPr kumimoji="1" lang="en-US" altLang="zh-CN" sz="2000">
                          <a:effectLst/>
                          <a:latin typeface="黑体" pitchFamily="49" charset="-122"/>
                          <a:ea typeface="黑体" pitchFamily="49" charset="-122"/>
                        </a:rPr>
                        <a:t>300</a:t>
                      </a: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6" bIns="45696">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endParaRPr lang="zh-CN" altLang="zh-CN" sz="2000">
                        <a:effectLst/>
                        <a:latin typeface="黑体" pitchFamily="49" charset="-122"/>
                        <a:ea typeface="黑体" pitchFamily="49" charset="-122"/>
                      </a:endParaRPr>
                    </a:p>
                  </a:txBody>
                  <a:tcPr marT="45696" marB="45696">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60418">
                                            <p:txEl>
                                              <p:charRg st="0" end="21"/>
                                            </p:txEl>
                                          </p:spTgt>
                                        </p:tgtEl>
                                        <p:attrNameLst>
                                          <p:attrName>style.visibility</p:attrName>
                                        </p:attrNameLst>
                                      </p:cBhvr>
                                      <p:to>
                                        <p:strVal val="visible"/>
                                      </p:to>
                                    </p:set>
                                    <p:animEffect transition="in" filter="blinds(horizontal)">
                                      <p:cBhvr additive="base">
                                        <p:cTn id="7" dur="500"/>
                                        <p:tgtEl>
                                          <p:spTgt spid="60418">
                                            <p:txEl>
                                              <p:charRg st="0" end="21"/>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60418">
                                            <p:txEl>
                                              <p:charRg st="21" end="49"/>
                                            </p:txEl>
                                          </p:spTgt>
                                        </p:tgtEl>
                                        <p:attrNameLst>
                                          <p:attrName>style.visibility</p:attrName>
                                        </p:attrNameLst>
                                      </p:cBhvr>
                                      <p:to>
                                        <p:strVal val="visible"/>
                                      </p:to>
                                    </p:set>
                                    <p:animEffect transition="in" filter="blinds(horizontal)">
                                      <p:cBhvr additive="base">
                                        <p:cTn id="13" dur="500"/>
                                        <p:tgtEl>
                                          <p:spTgt spid="60418">
                                            <p:txEl>
                                              <p:charRg st="21" end="49"/>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60418">
                                            <p:txEl>
                                              <p:charRg st="49" end="61"/>
                                            </p:txEl>
                                          </p:spTgt>
                                        </p:tgtEl>
                                        <p:attrNameLst>
                                          <p:attrName>style.visibility</p:attrName>
                                        </p:attrNameLst>
                                      </p:cBhvr>
                                      <p:to>
                                        <p:strVal val="visible"/>
                                      </p:to>
                                    </p:set>
                                    <p:animEffect transition="in" filter="blinds(horizontal)">
                                      <p:cBhvr additive="base">
                                        <p:cTn id="19" dur="500"/>
                                        <p:tgtEl>
                                          <p:spTgt spid="60418">
                                            <p:txEl>
                                              <p:charRg st="49" end="61"/>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60418">
                                            <p:txEl>
                                              <p:charRg st="61" end="84"/>
                                            </p:txEl>
                                          </p:spTgt>
                                        </p:tgtEl>
                                        <p:attrNameLst>
                                          <p:attrName>style.visibility</p:attrName>
                                        </p:attrNameLst>
                                      </p:cBhvr>
                                      <p:to>
                                        <p:strVal val="visible"/>
                                      </p:to>
                                    </p:set>
                                    <p:animEffect transition="in" filter="blinds(horizontal)">
                                      <p:cBhvr additive="base">
                                        <p:cTn id="25" dur="500"/>
                                        <p:tgtEl>
                                          <p:spTgt spid="60418">
                                            <p:txEl>
                                              <p:charRg st="61" end="84"/>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60418">
                                            <p:txEl>
                                              <p:charRg st="84" end="142"/>
                                            </p:txEl>
                                          </p:spTgt>
                                        </p:tgtEl>
                                        <p:attrNameLst>
                                          <p:attrName>style.visibility</p:attrName>
                                        </p:attrNameLst>
                                      </p:cBhvr>
                                      <p:to>
                                        <p:strVal val="visible"/>
                                      </p:to>
                                    </p:set>
                                    <p:animEffect transition="in" filter="blinds(horizontal)">
                                      <p:cBhvr additive="base">
                                        <p:cTn id="31" dur="500"/>
                                        <p:tgtEl>
                                          <p:spTgt spid="60418">
                                            <p:txEl>
                                              <p:charRg st="84" end="142"/>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60418">
                                            <p:txEl>
                                              <p:charRg st="142" end="159"/>
                                            </p:txEl>
                                          </p:spTgt>
                                        </p:tgtEl>
                                        <p:attrNameLst>
                                          <p:attrName>style.visibility</p:attrName>
                                        </p:attrNameLst>
                                      </p:cBhvr>
                                      <p:to>
                                        <p:strVal val="visible"/>
                                      </p:to>
                                    </p:set>
                                    <p:animEffect transition="in" filter="blinds(horizontal)">
                                      <p:cBhvr additive="base">
                                        <p:cTn id="37" dur="500"/>
                                        <p:tgtEl>
                                          <p:spTgt spid="60418">
                                            <p:txEl>
                                              <p:charRg st="142" end="159"/>
                                            </p:txEl>
                                          </p:spTgt>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3" presetClass="entr" presetSubtype="10" fill="hold" nodeType="clickEffect">
                                  <p:stCondLst>
                                    <p:cond delay="-9223372036854775808"/>
                                  </p:stCondLst>
                                  <p:childTnLst>
                                    <p:set>
                                      <p:cBhvr additive="base">
                                        <p:cTn id="42" dur="1" fill="hold">
                                          <p:stCondLst>
                                            <p:cond delay="0"/>
                                          </p:stCondLst>
                                        </p:cTn>
                                        <p:tgtEl>
                                          <p:spTgt spid="60419"/>
                                        </p:tgtEl>
                                        <p:attrNameLst>
                                          <p:attrName>style.visibility</p:attrName>
                                        </p:attrNameLst>
                                      </p:cBhvr>
                                      <p:to>
                                        <p:strVal val="visible"/>
                                      </p:to>
                                    </p:set>
                                    <p:animEffect transition="in" filter="blinds(horizontal)">
                                      <p:cBhvr additive="base">
                                        <p:cTn id="43"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1442" name="Rectangle 3"/>
          <p:cNvSpPr>
            <a:spLocks noGrp="1" noChangeArrowheads="1"/>
          </p:cNvSpPr>
          <p:nvPr>
            <p:ph type="body" sz="half" idx="4294967295"/>
          </p:nvPr>
        </p:nvSpPr>
        <p:spPr>
          <a:xfrm>
            <a:off x="468313" y="1196975"/>
            <a:ext cx="8435975" cy="4525963"/>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342900" marR="0" lvl="0" indent="-342900" eaLnBrk="1" hangingPunct="1">
              <a:buNone/>
            </a:pPr>
            <a:r>
              <a:rPr lang="zh-CN" altLang="en-US" sz="2600">
                <a:effectLst/>
                <a:latin typeface="宋体" pitchFamily="2" charset="-122"/>
              </a:rPr>
              <a:t>解：设备</a:t>
            </a:r>
            <a:r>
              <a:rPr lang="en-US" altLang="zh-CN" sz="2600" i="1">
                <a:effectLst/>
                <a:latin typeface="Times New Roman" pitchFamily="18" charset="0"/>
                <a:ea typeface="Times New Roman" pitchFamily="18" charset="0"/>
              </a:rPr>
              <a:t>A </a:t>
            </a:r>
            <a:r>
              <a:rPr lang="zh-CN" altLang="en-US" sz="2600">
                <a:effectLst/>
                <a:latin typeface="宋体" pitchFamily="2" charset="-122"/>
              </a:rPr>
              <a:t>是刚性约束，其余是柔性约束。首先，最重要的指标是企业的利润，因此，将它的优先级列为第一级；其次，甲、乙两种产品的产量保持</a:t>
            </a:r>
            <a:r>
              <a:rPr lang="en-US" altLang="zh-CN" sz="2600">
                <a:effectLst/>
                <a:latin typeface="宋体" pitchFamily="2" charset="-122"/>
              </a:rPr>
              <a:t>1:2 </a:t>
            </a:r>
            <a:r>
              <a:rPr lang="zh-CN" altLang="en-US" sz="2600">
                <a:effectLst/>
                <a:latin typeface="宋体" pitchFamily="2" charset="-122"/>
              </a:rPr>
              <a:t>的比例，列为第二级；再次，设备</a:t>
            </a:r>
            <a:r>
              <a:rPr lang="en-US" altLang="zh-CN" sz="2600" i="1">
                <a:effectLst/>
                <a:latin typeface="Times New Roman" pitchFamily="18" charset="0"/>
                <a:ea typeface="Times New Roman" pitchFamily="18" charset="0"/>
              </a:rPr>
              <a:t>C</a:t>
            </a:r>
            <a:r>
              <a:rPr lang="en-US" altLang="zh-CN" sz="2600">
                <a:effectLst/>
                <a:latin typeface="Times New Roman" pitchFamily="18" charset="0"/>
                <a:ea typeface="Times New Roman" pitchFamily="18" charset="0"/>
              </a:rPr>
              <a:t>, </a:t>
            </a:r>
            <a:r>
              <a:rPr lang="en-US" altLang="zh-CN" sz="2600" i="1">
                <a:effectLst/>
                <a:latin typeface="Times New Roman" pitchFamily="18" charset="0"/>
                <a:ea typeface="Times New Roman" pitchFamily="18" charset="0"/>
              </a:rPr>
              <a:t>B</a:t>
            </a:r>
            <a:r>
              <a:rPr lang="zh-CN" altLang="en-US" sz="2600">
                <a:effectLst/>
                <a:latin typeface="宋体" pitchFamily="2" charset="-122"/>
              </a:rPr>
              <a:t>的工作时间要有所控制，列为第三级。在第三级中，设备</a:t>
            </a:r>
            <a:r>
              <a:rPr lang="en-US" altLang="zh-CN" sz="2600" i="1">
                <a:effectLst/>
                <a:latin typeface="宋体" pitchFamily="2" charset="-122"/>
              </a:rPr>
              <a:t>B</a:t>
            </a:r>
            <a:r>
              <a:rPr lang="zh-CN" altLang="en-US" sz="2600">
                <a:effectLst/>
                <a:latin typeface="宋体" pitchFamily="2" charset="-122"/>
              </a:rPr>
              <a:t>的重要性是设备</a:t>
            </a:r>
            <a:r>
              <a:rPr lang="en-US" altLang="zh-CN" sz="2600" i="1">
                <a:effectLst/>
                <a:latin typeface="Times New Roman" pitchFamily="18" charset="0"/>
                <a:ea typeface="Times New Roman" pitchFamily="18" charset="0"/>
              </a:rPr>
              <a:t>C </a:t>
            </a:r>
            <a:r>
              <a:rPr lang="zh-CN" altLang="en-US" sz="2600">
                <a:effectLst/>
                <a:latin typeface="宋体" pitchFamily="2" charset="-122"/>
              </a:rPr>
              <a:t>的三倍，因此，它们的权重不一样，设备</a:t>
            </a:r>
            <a:r>
              <a:rPr lang="en-US" altLang="zh-CN" sz="2600" i="1">
                <a:effectLst/>
                <a:latin typeface="Times New Roman" pitchFamily="18" charset="0"/>
                <a:ea typeface="Times New Roman" pitchFamily="18" charset="0"/>
              </a:rPr>
              <a:t>B </a:t>
            </a:r>
            <a:r>
              <a:rPr lang="zh-CN" altLang="en-US" sz="2600">
                <a:effectLst/>
                <a:latin typeface="宋体" pitchFamily="2" charset="-122"/>
              </a:rPr>
              <a:t>前的系数是设备</a:t>
            </a:r>
            <a:r>
              <a:rPr lang="en-US" altLang="zh-CN" sz="2600" i="1">
                <a:effectLst/>
                <a:latin typeface="Times New Roman" pitchFamily="18" charset="0"/>
                <a:ea typeface="Times New Roman" pitchFamily="18" charset="0"/>
              </a:rPr>
              <a:t>C</a:t>
            </a:r>
            <a:r>
              <a:rPr lang="en-US" altLang="zh-CN" sz="2600" i="1">
                <a:effectLst/>
                <a:latin typeface="宋体" pitchFamily="2" charset="-122"/>
              </a:rPr>
              <a:t> </a:t>
            </a:r>
            <a:r>
              <a:rPr lang="zh-CN" altLang="en-US" sz="2600">
                <a:effectLst/>
                <a:latin typeface="宋体" pitchFamily="2" charset="-122"/>
              </a:rPr>
              <a:t>前系数的</a:t>
            </a:r>
            <a:r>
              <a:rPr lang="en-US" altLang="zh-CN" sz="2600">
                <a:effectLst/>
                <a:latin typeface="宋体" pitchFamily="2" charset="-122"/>
              </a:rPr>
              <a:t>3 </a:t>
            </a:r>
            <a:r>
              <a:rPr lang="zh-CN" altLang="en-US" sz="2600">
                <a:effectLst/>
                <a:latin typeface="宋体" pitchFamily="2" charset="-122"/>
              </a:rPr>
              <a:t>倍。由此得到相应的目标规划模型。设甲乙的产量分别为      。</a:t>
            </a:r>
          </a:p>
        </p:txBody>
      </p:sp>
      <p:graphicFrame>
        <p:nvGraphicFramePr>
          <p:cNvPr id="61443" name="Object 4"/>
          <p:cNvGraphicFramePr>
            <a:graphicFrameLocks noChangeAspect="1"/>
          </p:cNvGraphicFramePr>
          <p:nvPr>
            <p:ph sz="half" idx="4294967295"/>
          </p:nvPr>
        </p:nvGraphicFramePr>
        <p:xfrm>
          <a:off x="3924300" y="3933825"/>
          <a:ext cx="863600" cy="574675"/>
        </p:xfrm>
        <a:graphic>
          <a:graphicData uri="http://schemas.openxmlformats.org/presentationml/2006/ole">
            <mc:AlternateContent xmlns:mc="http://schemas.openxmlformats.org/markup-compatibility/2006">
              <mc:Choice xmlns:v="urn:schemas-microsoft-com:vml" Requires="v">
                <p:oleObj spid="_x0000_s1101" name="Equation" r:id="rId2" progId="Equation.DSMT4">
                  <p:embed/>
                </p:oleObj>
              </mc:Choice>
              <mc:Fallback>
                <p:oleObj spid="_x0000_s1101" name="Equation" r:id="rId2" progId="Equation.DSMT4">
                  <p:embed/>
                  <p:pic>
                    <p:nvPicPr>
                      <p:cNvPr id="0" name="OLE substitute image"/>
                      <p:cNvPicPr/>
                      <p:nvPr/>
                    </p:nvPicPr>
                    <p:blipFill>
                      <a:blip r:embed="rId3">
                        <a:alphaModFix/>
                      </a:blip>
                      <a:stretch/>
                    </p:blipFill>
                    <p:spPr>
                      <a:xfrm>
                        <a:off x="3924300" y="3933825"/>
                        <a:ext cx="863600" cy="574675"/>
                      </a:xfrm>
                      <a:prstGeom prst="rect">
                        <a:avLst/>
                      </a:prstGeom>
                      <a:noFill/>
                      <a:effectLst/>
                    </p:spPr>
                  </p:pic>
                </p:oleObj>
              </mc:Fallback>
            </mc:AlternateContent>
          </a:graphicData>
        </a:graphic>
      </p:graphicFrame>
    </p:spTree>
  </p:cSld>
  <p:clrMapOvr>
    <a:masterClrMapping/>
  </p:clrMapOvr>
  <p:transition/>
  <p:timing/>
</p:sld>
</file>

<file path=ppt/slides/slide6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2466" name="Rectangle 5"/>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62467" name="Object 4"/>
          <p:cNvGraphicFramePr>
            <a:graphicFrameLocks noChangeAspect="1"/>
          </p:cNvGraphicFramePr>
          <p:nvPr/>
        </p:nvGraphicFramePr>
        <p:xfrm>
          <a:off x="1187450" y="1052512"/>
          <a:ext cx="7046912" cy="576262"/>
        </p:xfrm>
        <a:graphic>
          <a:graphicData uri="http://schemas.openxmlformats.org/presentationml/2006/ole">
            <mc:AlternateContent xmlns:mc="http://schemas.openxmlformats.org/markup-compatibility/2006">
              <mc:Choice xmlns:v="urn:schemas-microsoft-com:vml" Requires="v">
                <p:oleObj spid="_x0000_s1102" name="Equation" r:id="rId2" progId="Equation.DSMT4">
                  <p:embed/>
                </p:oleObj>
              </mc:Choice>
              <mc:Fallback>
                <p:oleObj spid="_x0000_s1102" name="Equation" r:id="rId2" progId="Equation.DSMT4">
                  <p:embed/>
                  <p:pic>
                    <p:nvPicPr>
                      <p:cNvPr id="0" name="OLE substitute image"/>
                      <p:cNvPicPr/>
                      <p:nvPr/>
                    </p:nvPicPr>
                    <p:blipFill>
                      <a:blip r:embed="rId3"/>
                      <a:stretch/>
                    </p:blipFill>
                    <p:spPr>
                      <a:xfrm>
                        <a:off x="1187450" y="1052512"/>
                        <a:ext cx="7046912" cy="576262"/>
                      </a:xfrm>
                      <a:prstGeom prst="rect">
                        <a:avLst/>
                      </a:prstGeom>
                      <a:noFill/>
                      <a:effectLst/>
                    </p:spPr>
                  </p:pic>
                </p:oleObj>
              </mc:Fallback>
            </mc:AlternateContent>
          </a:graphicData>
        </a:graphic>
      </p:graphicFrame>
      <p:sp>
        <p:nvSpPr>
          <p:cNvPr id="62468" name="Rectangle 7"/>
          <p:cNvSpPr/>
          <p:nvPr/>
        </p:nvSpPr>
        <p:spPr>
          <a:xfrm>
            <a:off x="0" y="2393449"/>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62469" name="Object 6"/>
          <p:cNvGraphicFramePr>
            <a:graphicFrameLocks noChangeAspect="1"/>
          </p:cNvGraphicFramePr>
          <p:nvPr/>
        </p:nvGraphicFramePr>
        <p:xfrm>
          <a:off x="1449388" y="1773238"/>
          <a:ext cx="6218238" cy="4678362"/>
        </p:xfrm>
        <a:graphic>
          <a:graphicData uri="http://schemas.openxmlformats.org/presentationml/2006/ole">
            <mc:AlternateContent xmlns:mc="http://schemas.openxmlformats.org/markup-compatibility/2006">
              <mc:Choice xmlns:v="urn:schemas-microsoft-com:vml" Requires="v">
                <p:oleObj spid="_x0000_s1103" name="Equation" r:id="rId4" progId="Equation.DSMT4">
                  <p:embed/>
                </p:oleObj>
              </mc:Choice>
              <mc:Fallback>
                <p:oleObj spid="_x0000_s1103" name="Equation" r:id="rId4" progId="Equation.DSMT4">
                  <p:embed/>
                  <p:pic>
                    <p:nvPicPr>
                      <p:cNvPr id="0" name="OLE substitute image"/>
                      <p:cNvPicPr/>
                      <p:nvPr/>
                    </p:nvPicPr>
                    <p:blipFill>
                      <a:blip r:embed="rId5"/>
                      <a:stretch/>
                    </p:blipFill>
                    <p:spPr>
                      <a:xfrm>
                        <a:off x="1449388" y="1773238"/>
                        <a:ext cx="6218238" cy="4678362"/>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62469"/>
                                        </p:tgtEl>
                                        <p:attrNameLst>
                                          <p:attrName>style.visibility</p:attrName>
                                        </p:attrNameLst>
                                      </p:cBhvr>
                                      <p:to>
                                        <p:strVal val="visible"/>
                                      </p:to>
                                    </p:set>
                                    <p:animEffect transition="in" filter="blinds(horizontal)">
                                      <p:cBhvr additive="base">
                                        <p:cTn id="7" dur="500"/>
                                        <p:tgtEl>
                                          <p:spTgt spid="62469"/>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62467"/>
                                        </p:tgtEl>
                                        <p:attrNameLst>
                                          <p:attrName>style.visibility</p:attrName>
                                        </p:attrNameLst>
                                      </p:cBhvr>
                                      <p:to>
                                        <p:strVal val="visible"/>
                                      </p:to>
                                    </p:set>
                                    <p:animEffect transition="in" filter="blinds(horizontal)">
                                      <p:cBhvr additive="base">
                                        <p:cTn id="13" dur="500"/>
                                        <p:tgtEl>
                                          <p:spTgt spid="6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3490" name="Rectangle 3"/>
          <p:cNvSpPr/>
          <p:nvPr>
            <p:ph type="body" idx="4294967295"/>
          </p:nvPr>
        </p:nvSpPr>
        <p:spPr>
          <a:xfrm>
            <a:off x="468312" y="547688"/>
            <a:ext cx="8229600" cy="5976938"/>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lvl="0" eaLnBrk="1" hangingPunct="1">
              <a:lnSpc>
                <a:spcPct val="80000"/>
              </a:lnSpc>
              <a:buNone/>
            </a:pPr>
            <a:r>
              <a:rPr lang="zh-CN" altLang="en-US" sz="2200" b="1">
                <a:effectLst/>
                <a:latin typeface="黑体" pitchFamily="49" charset="-122"/>
                <a:ea typeface="黑体" pitchFamily="49" charset="-122"/>
              </a:rPr>
              <a:t>求第一级目标。</a:t>
            </a:r>
            <a:r>
              <a:rPr lang="en-US" altLang="zh-CN" sz="2200" b="1">
                <a:effectLst/>
                <a:latin typeface="Times New Roman" pitchFamily="18" charset="0"/>
                <a:ea typeface="黑体" pitchFamily="49" charset="-122"/>
              </a:rPr>
              <a:t>LINGO </a:t>
            </a:r>
            <a:r>
              <a:rPr lang="zh-CN" altLang="en-US" sz="2200" b="1">
                <a:effectLst/>
                <a:latin typeface="黑体" pitchFamily="49" charset="-122"/>
                <a:ea typeface="黑体" pitchFamily="49" charset="-122"/>
              </a:rPr>
              <a:t>程序如下：</a:t>
            </a:r>
          </a:p>
          <a:p>
            <a:pPr lvl="0" eaLnBrk="1" hangingPunct="1">
              <a:lnSpc>
                <a:spcPct val="80000"/>
              </a:lnSpc>
              <a:buNone/>
            </a:pPr>
            <a:r>
              <a:rPr lang="en-US" altLang="zh-CN" sz="2200">
                <a:effectLst/>
                <a:latin typeface="Times New Roman" pitchFamily="18" charset="0"/>
              </a:rPr>
              <a:t>model:</a:t>
            </a:r>
          </a:p>
          <a:p>
            <a:pPr lvl="0" eaLnBrk="1" hangingPunct="1">
              <a:lnSpc>
                <a:spcPct val="80000"/>
              </a:lnSpc>
              <a:buNone/>
            </a:pPr>
            <a:r>
              <a:rPr lang="en-US" altLang="zh-CN" sz="2200">
                <a:effectLst/>
                <a:latin typeface="Times New Roman" pitchFamily="18" charset="0"/>
              </a:rPr>
              <a:t>sets:</a:t>
            </a:r>
          </a:p>
          <a:p>
            <a:pPr lvl="0" eaLnBrk="1" hangingPunct="1">
              <a:lnSpc>
                <a:spcPct val="80000"/>
              </a:lnSpc>
              <a:buNone/>
            </a:pPr>
            <a:r>
              <a:rPr lang="en-US" altLang="zh-CN" sz="2200">
                <a:effectLst/>
                <a:latin typeface="Times New Roman" pitchFamily="18" charset="0"/>
              </a:rPr>
              <a:t>variable/1..2/:x; S_Con_Num/1..4/:g,dplus,dminus;</a:t>
            </a:r>
          </a:p>
          <a:p>
            <a:pPr lvl="0" eaLnBrk="1" hangingPunct="1">
              <a:lnSpc>
                <a:spcPct val="80000"/>
              </a:lnSpc>
              <a:buNone/>
            </a:pPr>
            <a:r>
              <a:rPr lang="en-US" altLang="zh-CN" sz="2200">
                <a:effectLst/>
                <a:latin typeface="Times New Roman" pitchFamily="18" charset="0"/>
              </a:rPr>
              <a:t>S_con(S_Con_Num,Variable):c;</a:t>
            </a:r>
            <a:endParaRPr lang="nb-NO" altLang="zh-CN" sz="2200">
              <a:effectLst/>
              <a:latin typeface="Times New Roman" pitchFamily="18" charset="0"/>
            </a:endParaRPr>
          </a:p>
          <a:p>
            <a:pPr lvl="0" eaLnBrk="1" hangingPunct="1">
              <a:lnSpc>
                <a:spcPct val="80000"/>
              </a:lnSpc>
              <a:buNone/>
            </a:pPr>
            <a:r>
              <a:rPr lang="nb-NO" altLang="zh-CN" sz="2200">
                <a:effectLst/>
                <a:latin typeface="Times New Roman" pitchFamily="18" charset="0"/>
              </a:rPr>
              <a:t>endsets</a:t>
            </a:r>
          </a:p>
          <a:p>
            <a:pPr lvl="0" eaLnBrk="1" hangingPunct="1">
              <a:lnSpc>
                <a:spcPct val="80000"/>
              </a:lnSpc>
              <a:buNone/>
            </a:pPr>
            <a:r>
              <a:rPr lang="nb-NO" altLang="zh-CN" sz="2200">
                <a:effectLst/>
                <a:latin typeface="Times New Roman" pitchFamily="18" charset="0"/>
              </a:rPr>
              <a:t>data:</a:t>
            </a:r>
          </a:p>
          <a:p>
            <a:pPr lvl="0" eaLnBrk="1" hangingPunct="1">
              <a:lnSpc>
                <a:spcPct val="80000"/>
              </a:lnSpc>
              <a:buNone/>
            </a:pPr>
            <a:r>
              <a:rPr lang="nb-NO" altLang="zh-CN" sz="2200">
                <a:effectLst/>
                <a:latin typeface="Times New Roman" pitchFamily="18" charset="0"/>
              </a:rPr>
              <a:t>g=1500 0 16 15;</a:t>
            </a:r>
          </a:p>
          <a:p>
            <a:pPr lvl="0" eaLnBrk="1" hangingPunct="1">
              <a:lnSpc>
                <a:spcPct val="80000"/>
              </a:lnSpc>
              <a:buNone/>
            </a:pPr>
            <a:r>
              <a:rPr lang="nb-NO" altLang="zh-CN" sz="2200">
                <a:effectLst/>
                <a:latin typeface="Times New Roman" pitchFamily="18" charset="0"/>
              </a:rPr>
              <a:t>c=200 300 2 -1 4 0 0 5;</a:t>
            </a:r>
          </a:p>
          <a:p>
            <a:pPr lvl="0" eaLnBrk="1" hangingPunct="1">
              <a:lnSpc>
                <a:spcPct val="80000"/>
              </a:lnSpc>
              <a:buNone/>
            </a:pPr>
            <a:r>
              <a:rPr lang="nb-NO" altLang="zh-CN" sz="2200">
                <a:effectLst/>
                <a:latin typeface="Times New Roman" pitchFamily="18" charset="0"/>
              </a:rPr>
              <a:t>enddata</a:t>
            </a:r>
          </a:p>
          <a:p>
            <a:pPr lvl="0" eaLnBrk="1" hangingPunct="1">
              <a:lnSpc>
                <a:spcPct val="80000"/>
              </a:lnSpc>
              <a:buNone/>
            </a:pPr>
            <a:r>
              <a:rPr lang="nb-NO" altLang="zh-CN" sz="2200">
                <a:effectLst/>
                <a:latin typeface="Times New Roman" pitchFamily="18" charset="0"/>
              </a:rPr>
              <a:t>min=dminus(1);</a:t>
            </a:r>
          </a:p>
          <a:p>
            <a:pPr lvl="0" eaLnBrk="1" hangingPunct="1">
              <a:lnSpc>
                <a:spcPct val="80000"/>
              </a:lnSpc>
              <a:buNone/>
            </a:pPr>
            <a:r>
              <a:rPr lang="nb-NO" altLang="zh-CN" sz="2200">
                <a:effectLst/>
                <a:latin typeface="Times New Roman" pitchFamily="18" charset="0"/>
              </a:rPr>
              <a:t>2*x(1)+2*x(2)&lt;12;</a:t>
            </a:r>
          </a:p>
          <a:p>
            <a:pPr lvl="0" eaLnBrk="1" hangingPunct="1">
              <a:lnSpc>
                <a:spcPct val="80000"/>
              </a:lnSpc>
              <a:buNone/>
            </a:pPr>
            <a:r>
              <a:rPr lang="nb-NO" altLang="zh-CN" sz="2200">
                <a:effectLst/>
                <a:latin typeface="Times New Roman" pitchFamily="18" charset="0"/>
              </a:rPr>
              <a:t>@for(S_Con_Num(i):@sum(Variable(j):c(i,j)*x(j))+dminus(i)-dplus(i</a:t>
            </a:r>
            <a:endParaRPr lang="en-US" altLang="zh-CN" sz="2200">
              <a:effectLst/>
              <a:latin typeface="Times New Roman" pitchFamily="18" charset="0"/>
            </a:endParaRPr>
          </a:p>
          <a:p>
            <a:pPr lvl="0" eaLnBrk="1" hangingPunct="1">
              <a:lnSpc>
                <a:spcPct val="80000"/>
              </a:lnSpc>
              <a:buNone/>
            </a:pPr>
            <a:r>
              <a:rPr lang="en-US" altLang="zh-CN" sz="2200">
                <a:effectLst/>
                <a:latin typeface="Times New Roman" pitchFamily="18" charset="0"/>
              </a:rPr>
              <a:t>)=g(i));</a:t>
            </a:r>
          </a:p>
          <a:p>
            <a:pPr lvl="0" eaLnBrk="1" hangingPunct="1">
              <a:lnSpc>
                <a:spcPct val="80000"/>
              </a:lnSpc>
              <a:buNone/>
            </a:pPr>
            <a:r>
              <a:rPr lang="en-US" altLang="zh-CN" sz="2200">
                <a:effectLst/>
                <a:latin typeface="Times New Roman" pitchFamily="18" charset="0"/>
              </a:rPr>
              <a:t>end</a:t>
            </a:r>
          </a:p>
          <a:p>
            <a:pPr lvl="0" eaLnBrk="1" hangingPunct="1">
              <a:lnSpc>
                <a:spcPct val="80000"/>
              </a:lnSpc>
              <a:buNone/>
            </a:pPr>
            <a:r>
              <a:rPr lang="zh-CN" altLang="en-US" sz="2200" b="1">
                <a:effectLst/>
                <a:latin typeface="黑体" pitchFamily="49" charset="-122"/>
                <a:ea typeface="黑体" pitchFamily="49" charset="-122"/>
              </a:rPr>
              <a:t>求得</a:t>
            </a:r>
            <a:r>
              <a:rPr lang="en-US" altLang="zh-CN" sz="2200" b="1">
                <a:effectLst/>
                <a:latin typeface="Times New Roman" pitchFamily="18" charset="0"/>
                <a:ea typeface="黑体" pitchFamily="49" charset="-122"/>
              </a:rPr>
              <a:t>dminus(1)=0</a:t>
            </a:r>
            <a:r>
              <a:rPr lang="zh-CN" altLang="en-US" sz="2200" b="1">
                <a:effectLst/>
                <a:latin typeface="黑体" pitchFamily="49" charset="-122"/>
                <a:ea typeface="黑体" pitchFamily="49" charset="-122"/>
              </a:rPr>
              <a:t>，即目标函数的最优值为</a:t>
            </a:r>
            <a:r>
              <a:rPr lang="en-US" altLang="zh-CN" sz="2200" b="1">
                <a:effectLst/>
                <a:latin typeface="黑体" pitchFamily="49" charset="-122"/>
                <a:ea typeface="黑体" pitchFamily="49" charset="-122"/>
              </a:rPr>
              <a:t>0</a:t>
            </a:r>
            <a:r>
              <a:rPr lang="zh-CN" altLang="en-US" sz="2200" b="1">
                <a:effectLst/>
                <a:latin typeface="黑体" pitchFamily="49" charset="-122"/>
                <a:ea typeface="黑体" pitchFamily="49" charset="-122"/>
              </a:rPr>
              <a:t>，第一级偏差为</a:t>
            </a:r>
            <a:r>
              <a:rPr lang="en-US" altLang="zh-CN" sz="2200" b="1">
                <a:effectLst/>
                <a:latin typeface="黑体" pitchFamily="49" charset="-122"/>
                <a:ea typeface="黑体" pitchFamily="49" charset="-122"/>
              </a:rPr>
              <a:t>0</a:t>
            </a:r>
            <a:r>
              <a:rPr lang="zh-CN" altLang="en-US" sz="2200" b="1">
                <a:effectLst/>
                <a:latin typeface="黑体" pitchFamily="49" charset="-122"/>
                <a:ea typeface="黑体" pitchFamily="49" charset="-122"/>
              </a:rPr>
              <a:t>。</a:t>
            </a:r>
          </a:p>
        </p:txBody>
      </p:sp>
    </p:spTree>
  </p:cSld>
  <p:clrMapOvr>
    <a:masterClrMapping/>
  </p:clrMapOvr>
  <p:transition/>
  <p:timing/>
</p:sld>
</file>

<file path=ppt/slides/slide6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4514" name="Rectangle 3"/>
          <p:cNvSpPr/>
          <p:nvPr>
            <p:ph type="body" idx="4294967295"/>
          </p:nvPr>
        </p:nvSpPr>
        <p:spPr>
          <a:xfrm>
            <a:off x="468312" y="765175"/>
            <a:ext cx="8229600" cy="4525962"/>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lvl="0" eaLnBrk="1" hangingPunct="1">
              <a:lnSpc>
                <a:spcPct val="80000"/>
              </a:lnSpc>
              <a:buNone/>
            </a:pPr>
            <a:r>
              <a:rPr lang="zh-CN" altLang="en-US" sz="2000" b="1">
                <a:effectLst/>
                <a:latin typeface="黑体" pitchFamily="49" charset="-122"/>
                <a:ea typeface="黑体" pitchFamily="49" charset="-122"/>
              </a:rPr>
              <a:t>求第二级目标，</a:t>
            </a:r>
            <a:r>
              <a:rPr lang="en-US" altLang="zh-CN" sz="2000" b="1">
                <a:effectLst/>
                <a:latin typeface="Times New Roman" pitchFamily="18" charset="0"/>
                <a:ea typeface="黑体" pitchFamily="49" charset="-122"/>
              </a:rPr>
              <a:t>LINGO </a:t>
            </a:r>
            <a:r>
              <a:rPr lang="zh-CN" altLang="en-US" sz="2000" b="1">
                <a:effectLst/>
                <a:latin typeface="黑体" pitchFamily="49" charset="-122"/>
                <a:ea typeface="黑体" pitchFamily="49" charset="-122"/>
              </a:rPr>
              <a:t>程序如下：</a:t>
            </a:r>
          </a:p>
          <a:p>
            <a:pPr lvl="0" eaLnBrk="1" hangingPunct="1">
              <a:lnSpc>
                <a:spcPct val="80000"/>
              </a:lnSpc>
              <a:buNone/>
            </a:pPr>
            <a:r>
              <a:rPr lang="en-US" altLang="zh-CN" sz="1800">
                <a:effectLst/>
                <a:latin typeface="Times New Roman" pitchFamily="18" charset="0"/>
              </a:rPr>
              <a:t>model:</a:t>
            </a:r>
          </a:p>
          <a:p>
            <a:pPr lvl="0" eaLnBrk="1" hangingPunct="1">
              <a:lnSpc>
                <a:spcPct val="80000"/>
              </a:lnSpc>
              <a:buNone/>
            </a:pPr>
            <a:r>
              <a:rPr lang="en-US" altLang="zh-CN" sz="1800">
                <a:effectLst/>
                <a:latin typeface="Times New Roman" pitchFamily="18" charset="0"/>
              </a:rPr>
              <a:t>sets:</a:t>
            </a:r>
          </a:p>
          <a:p>
            <a:pPr lvl="0" eaLnBrk="1" hangingPunct="1">
              <a:lnSpc>
                <a:spcPct val="80000"/>
              </a:lnSpc>
              <a:buNone/>
            </a:pPr>
            <a:r>
              <a:rPr lang="en-US" altLang="zh-CN" sz="1800">
                <a:effectLst/>
                <a:latin typeface="Times New Roman" pitchFamily="18" charset="0"/>
              </a:rPr>
              <a:t>variable/1..2/:x;</a:t>
            </a:r>
          </a:p>
          <a:p>
            <a:pPr lvl="0" eaLnBrk="1" hangingPunct="1">
              <a:lnSpc>
                <a:spcPct val="80000"/>
              </a:lnSpc>
              <a:buNone/>
            </a:pPr>
            <a:r>
              <a:rPr lang="en-US" altLang="zh-CN" sz="1800">
                <a:effectLst/>
                <a:latin typeface="Times New Roman" pitchFamily="18" charset="0"/>
              </a:rPr>
              <a:t>S_Con_Num/1..4/:g,dplus,dminus;</a:t>
            </a:r>
          </a:p>
          <a:p>
            <a:pPr lvl="0" eaLnBrk="1" hangingPunct="1">
              <a:lnSpc>
                <a:spcPct val="80000"/>
              </a:lnSpc>
              <a:buNone/>
            </a:pPr>
            <a:r>
              <a:rPr lang="en-US" altLang="zh-CN" sz="1800">
                <a:effectLst/>
                <a:latin typeface="Times New Roman" pitchFamily="18" charset="0"/>
              </a:rPr>
              <a:t>S_con(S_Con_Num,Variable):c;</a:t>
            </a:r>
            <a:endParaRPr lang="nb-NO" altLang="zh-CN" sz="1800">
              <a:effectLst/>
              <a:latin typeface="Times New Roman" pitchFamily="18" charset="0"/>
            </a:endParaRPr>
          </a:p>
          <a:p>
            <a:pPr lvl="0" eaLnBrk="1" hangingPunct="1">
              <a:lnSpc>
                <a:spcPct val="80000"/>
              </a:lnSpc>
              <a:buNone/>
            </a:pPr>
            <a:r>
              <a:rPr lang="nb-NO" altLang="zh-CN" sz="1800">
                <a:effectLst/>
                <a:latin typeface="Times New Roman" pitchFamily="18" charset="0"/>
              </a:rPr>
              <a:t>endsets</a:t>
            </a:r>
          </a:p>
          <a:p>
            <a:pPr lvl="0" eaLnBrk="1" hangingPunct="1">
              <a:lnSpc>
                <a:spcPct val="80000"/>
              </a:lnSpc>
              <a:buNone/>
            </a:pPr>
            <a:r>
              <a:rPr lang="nb-NO" altLang="zh-CN" sz="1800">
                <a:effectLst/>
                <a:latin typeface="Times New Roman" pitchFamily="18" charset="0"/>
              </a:rPr>
              <a:t>data:</a:t>
            </a:r>
          </a:p>
          <a:p>
            <a:pPr lvl="0" eaLnBrk="1" hangingPunct="1">
              <a:lnSpc>
                <a:spcPct val="80000"/>
              </a:lnSpc>
              <a:buNone/>
            </a:pPr>
            <a:r>
              <a:rPr lang="nb-NO" altLang="zh-CN" sz="1800">
                <a:effectLst/>
                <a:latin typeface="Times New Roman" pitchFamily="18" charset="0"/>
              </a:rPr>
              <a:t>g=1500 0 16 15;</a:t>
            </a:r>
          </a:p>
          <a:p>
            <a:pPr lvl="0" eaLnBrk="1" hangingPunct="1">
              <a:lnSpc>
                <a:spcPct val="80000"/>
              </a:lnSpc>
              <a:buNone/>
            </a:pPr>
            <a:r>
              <a:rPr lang="nb-NO" altLang="zh-CN" sz="1800">
                <a:effectLst/>
                <a:latin typeface="Times New Roman" pitchFamily="18" charset="0"/>
              </a:rPr>
              <a:t>c=200 300 2 -1 4 0 0 5;</a:t>
            </a:r>
          </a:p>
          <a:p>
            <a:pPr lvl="0" eaLnBrk="1" hangingPunct="1">
              <a:lnSpc>
                <a:spcPct val="80000"/>
              </a:lnSpc>
              <a:buNone/>
            </a:pPr>
            <a:r>
              <a:rPr lang="nb-NO" altLang="zh-CN" sz="1800">
                <a:effectLst/>
                <a:latin typeface="Times New Roman" pitchFamily="18" charset="0"/>
              </a:rPr>
              <a:t>enddata</a:t>
            </a:r>
          </a:p>
          <a:p>
            <a:pPr lvl="0" eaLnBrk="1" hangingPunct="1">
              <a:lnSpc>
                <a:spcPct val="80000"/>
              </a:lnSpc>
              <a:buNone/>
            </a:pPr>
            <a:r>
              <a:rPr lang="nb-NO" altLang="zh-CN" sz="1800">
                <a:effectLst/>
                <a:latin typeface="Times New Roman" pitchFamily="18" charset="0"/>
              </a:rPr>
              <a:t>min=dplus(2)+dminus(2); !</a:t>
            </a:r>
            <a:r>
              <a:rPr lang="zh-CN" altLang="nb-NO" sz="1800">
                <a:effectLst/>
                <a:latin typeface="Times New Roman" pitchFamily="18" charset="0"/>
              </a:rPr>
              <a:t>二级目标函数</a:t>
            </a:r>
            <a:r>
              <a:rPr lang="nb-NO" altLang="zh-CN" sz="1800">
                <a:effectLst/>
                <a:latin typeface="Times New Roman" pitchFamily="18" charset="0"/>
              </a:rPr>
              <a:t>;</a:t>
            </a:r>
          </a:p>
          <a:p>
            <a:pPr lvl="0" eaLnBrk="1" hangingPunct="1">
              <a:lnSpc>
                <a:spcPct val="80000"/>
              </a:lnSpc>
              <a:buNone/>
            </a:pPr>
            <a:r>
              <a:rPr lang="nb-NO" altLang="zh-CN" sz="1800">
                <a:effectLst/>
                <a:latin typeface="Times New Roman" pitchFamily="18" charset="0"/>
              </a:rPr>
              <a:t>2*x(1)+2*x(2)&lt;12;</a:t>
            </a:r>
          </a:p>
          <a:p>
            <a:pPr lvl="0" eaLnBrk="1" hangingPunct="1">
              <a:lnSpc>
                <a:spcPct val="80000"/>
              </a:lnSpc>
              <a:buNone/>
            </a:pPr>
            <a:r>
              <a:rPr lang="nb-NO" altLang="zh-CN" sz="1800">
                <a:effectLst/>
                <a:latin typeface="Times New Roman" pitchFamily="18" charset="0"/>
              </a:rPr>
              <a:t>@for(S_Con_Num(i):@sum(Variable(j):c(i,j)*x(j))+dminus(i)-dplus(i</a:t>
            </a:r>
          </a:p>
          <a:p>
            <a:pPr lvl="0" eaLnBrk="1" hangingPunct="1">
              <a:lnSpc>
                <a:spcPct val="80000"/>
              </a:lnSpc>
              <a:buNone/>
            </a:pPr>
            <a:r>
              <a:rPr lang="nb-NO" altLang="zh-CN" sz="1800">
                <a:effectLst/>
                <a:latin typeface="Times New Roman" pitchFamily="18" charset="0"/>
              </a:rPr>
              <a:t>)=g(i));</a:t>
            </a:r>
          </a:p>
          <a:p>
            <a:pPr lvl="0" eaLnBrk="1" hangingPunct="1">
              <a:lnSpc>
                <a:spcPct val="80000"/>
              </a:lnSpc>
              <a:buNone/>
            </a:pPr>
            <a:r>
              <a:rPr lang="nb-NO" altLang="zh-CN" sz="1800">
                <a:effectLst/>
                <a:latin typeface="Times New Roman" pitchFamily="18" charset="0"/>
              </a:rPr>
              <a:t>dminus(1)=0;!</a:t>
            </a:r>
            <a:r>
              <a:rPr lang="zh-CN" altLang="nb-NO" sz="1800">
                <a:effectLst/>
                <a:latin typeface="Times New Roman" pitchFamily="18" charset="0"/>
              </a:rPr>
              <a:t>一级目标约束</a:t>
            </a:r>
            <a:r>
              <a:rPr lang="nb-NO" altLang="zh-CN" sz="1800">
                <a:effectLst/>
                <a:latin typeface="Times New Roman" pitchFamily="18" charset="0"/>
              </a:rPr>
              <a:t>;</a:t>
            </a:r>
          </a:p>
          <a:p>
            <a:pPr lvl="0" eaLnBrk="1" hangingPunct="1">
              <a:lnSpc>
                <a:spcPct val="80000"/>
              </a:lnSpc>
              <a:buNone/>
            </a:pPr>
            <a:r>
              <a:rPr lang="nb-NO" altLang="zh-CN" sz="1800">
                <a:effectLst/>
                <a:latin typeface="Times New Roman" pitchFamily="18" charset="0"/>
              </a:rPr>
              <a:t>@for(variable:@gin(x));</a:t>
            </a:r>
            <a:endParaRPr lang="en-US" altLang="zh-CN" sz="1800">
              <a:effectLst/>
              <a:latin typeface="Times New Roman" pitchFamily="18" charset="0"/>
            </a:endParaRPr>
          </a:p>
          <a:p>
            <a:pPr lvl="0" eaLnBrk="1" hangingPunct="1">
              <a:lnSpc>
                <a:spcPct val="80000"/>
              </a:lnSpc>
              <a:buNone/>
            </a:pPr>
            <a:r>
              <a:rPr lang="en-US" altLang="zh-CN" sz="1800">
                <a:effectLst/>
                <a:latin typeface="Times New Roman" pitchFamily="18" charset="0"/>
              </a:rPr>
              <a:t>end</a:t>
            </a:r>
          </a:p>
          <a:p>
            <a:pPr lvl="0" eaLnBrk="1" hangingPunct="1">
              <a:lnSpc>
                <a:spcPct val="80000"/>
              </a:lnSpc>
              <a:buNone/>
            </a:pPr>
            <a:r>
              <a:rPr lang="zh-CN" altLang="en-US" sz="2000" b="1">
                <a:effectLst/>
                <a:latin typeface="黑体" pitchFamily="49" charset="-122"/>
                <a:ea typeface="黑体" pitchFamily="49" charset="-122"/>
              </a:rPr>
              <a:t>求得目标函数的最优值为</a:t>
            </a:r>
            <a:r>
              <a:rPr lang="en-US" altLang="zh-CN" sz="2000" b="1">
                <a:effectLst/>
                <a:latin typeface="黑体" pitchFamily="49" charset="-122"/>
                <a:ea typeface="黑体" pitchFamily="49" charset="-122"/>
              </a:rPr>
              <a:t>0</a:t>
            </a:r>
            <a:r>
              <a:rPr lang="zh-CN" altLang="en-US" sz="2000" b="1">
                <a:effectLst/>
                <a:latin typeface="黑体" pitchFamily="49" charset="-122"/>
                <a:ea typeface="黑体" pitchFamily="49" charset="-122"/>
              </a:rPr>
              <a:t>，即第二级的偏差仍为</a:t>
            </a:r>
            <a:r>
              <a:rPr lang="en-US" altLang="zh-CN" sz="2000" b="1">
                <a:effectLst/>
                <a:latin typeface="黑体" pitchFamily="49" charset="-122"/>
                <a:ea typeface="黑体" pitchFamily="49" charset="-122"/>
              </a:rPr>
              <a:t>0</a:t>
            </a:r>
            <a:r>
              <a:rPr lang="zh-CN" altLang="en-US" sz="2000" b="1">
                <a:effectLst/>
                <a:latin typeface="黑体" pitchFamily="49" charset="-122"/>
                <a:ea typeface="黑体" pitchFamily="49" charset="-122"/>
              </a:rPr>
              <a:t>。</a:t>
            </a:r>
          </a:p>
        </p:txBody>
      </p:sp>
    </p:spTree>
  </p:cSld>
  <p:clrMapOvr>
    <a:masterClrMapping/>
  </p:clrMapOvr>
  <p:transition/>
  <p:timing/>
</p:sld>
</file>

<file path=ppt/slides/slide6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5538" name="Rectangle 3"/>
          <p:cNvSpPr/>
          <p:nvPr>
            <p:ph type="body" idx="4294967295"/>
          </p:nvPr>
        </p:nvSpPr>
        <p:spPr>
          <a:xfrm>
            <a:off x="468312" y="549275"/>
            <a:ext cx="8229600" cy="5688012"/>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lvl="0" eaLnBrk="1" hangingPunct="1">
              <a:lnSpc>
                <a:spcPct val="80000"/>
              </a:lnSpc>
              <a:buNone/>
            </a:pPr>
            <a:r>
              <a:rPr lang="zh-CN" altLang="en-US" sz="2000">
                <a:effectLst/>
                <a:latin typeface="黑体" pitchFamily="49" charset="-122"/>
                <a:ea typeface="黑体" pitchFamily="49" charset="-122"/>
              </a:rPr>
              <a:t>求第三级目标，</a:t>
            </a:r>
            <a:r>
              <a:rPr lang="en-US" altLang="zh-CN" sz="2000">
                <a:effectLst/>
                <a:latin typeface="Times New Roman" pitchFamily="18" charset="0"/>
                <a:ea typeface="黑体" pitchFamily="49" charset="-122"/>
              </a:rPr>
              <a:t>LINGO </a:t>
            </a:r>
            <a:r>
              <a:rPr lang="zh-CN" altLang="en-US" sz="2000">
                <a:effectLst/>
                <a:latin typeface="黑体" pitchFamily="49" charset="-122"/>
                <a:ea typeface="黑体" pitchFamily="49" charset="-122"/>
              </a:rPr>
              <a:t>程序如下：</a:t>
            </a:r>
          </a:p>
          <a:p>
            <a:pPr lvl="0" eaLnBrk="1" hangingPunct="1">
              <a:lnSpc>
                <a:spcPct val="80000"/>
              </a:lnSpc>
              <a:buNone/>
            </a:pPr>
            <a:r>
              <a:rPr lang="en-US" altLang="zh-CN" sz="2000">
                <a:effectLst/>
                <a:latin typeface="Times New Roman" pitchFamily="18" charset="0"/>
              </a:rPr>
              <a:t>model:</a:t>
            </a:r>
          </a:p>
          <a:p>
            <a:pPr lvl="0" eaLnBrk="1" hangingPunct="1">
              <a:lnSpc>
                <a:spcPct val="80000"/>
              </a:lnSpc>
              <a:buNone/>
            </a:pPr>
            <a:r>
              <a:rPr lang="en-US" altLang="zh-CN" sz="2000">
                <a:effectLst/>
                <a:latin typeface="Times New Roman" pitchFamily="18" charset="0"/>
              </a:rPr>
              <a:t>sets:</a:t>
            </a:r>
          </a:p>
          <a:p>
            <a:pPr lvl="0" eaLnBrk="1" hangingPunct="1">
              <a:lnSpc>
                <a:spcPct val="80000"/>
              </a:lnSpc>
              <a:buNone/>
            </a:pPr>
            <a:r>
              <a:rPr lang="en-US" altLang="zh-CN" sz="2000">
                <a:effectLst/>
                <a:latin typeface="Times New Roman" pitchFamily="18" charset="0"/>
              </a:rPr>
              <a:t>variable/1..2/:x;</a:t>
            </a:r>
          </a:p>
          <a:p>
            <a:pPr lvl="0" eaLnBrk="1" hangingPunct="1">
              <a:lnSpc>
                <a:spcPct val="80000"/>
              </a:lnSpc>
              <a:buNone/>
            </a:pPr>
            <a:r>
              <a:rPr lang="en-US" altLang="zh-CN" sz="2000">
                <a:effectLst/>
                <a:latin typeface="Times New Roman" pitchFamily="18" charset="0"/>
              </a:rPr>
              <a:t>S_Con_Num/1..4/:g,dplus,dminus;</a:t>
            </a:r>
          </a:p>
          <a:p>
            <a:pPr lvl="0" eaLnBrk="1" hangingPunct="1">
              <a:lnSpc>
                <a:spcPct val="80000"/>
              </a:lnSpc>
              <a:buNone/>
            </a:pPr>
            <a:r>
              <a:rPr lang="en-US" altLang="zh-CN" sz="2000">
                <a:effectLst/>
                <a:latin typeface="Times New Roman" pitchFamily="18" charset="0"/>
              </a:rPr>
              <a:t>S_con(S_Con_Num,Variable):c;</a:t>
            </a:r>
            <a:endParaRPr lang="nb-NO" altLang="zh-CN" sz="2000">
              <a:effectLst/>
              <a:latin typeface="Times New Roman" pitchFamily="18" charset="0"/>
            </a:endParaRPr>
          </a:p>
          <a:p>
            <a:pPr lvl="0" eaLnBrk="1" hangingPunct="1">
              <a:lnSpc>
                <a:spcPct val="80000"/>
              </a:lnSpc>
              <a:buNone/>
            </a:pPr>
            <a:r>
              <a:rPr lang="nb-NO" altLang="zh-CN" sz="2000">
                <a:effectLst/>
                <a:latin typeface="Times New Roman" pitchFamily="18" charset="0"/>
              </a:rPr>
              <a:t>endsets</a:t>
            </a:r>
          </a:p>
          <a:p>
            <a:pPr lvl="0" eaLnBrk="1" hangingPunct="1">
              <a:lnSpc>
                <a:spcPct val="80000"/>
              </a:lnSpc>
              <a:buNone/>
            </a:pPr>
            <a:r>
              <a:rPr lang="nb-NO" altLang="zh-CN" sz="2000">
                <a:effectLst/>
                <a:latin typeface="Times New Roman" pitchFamily="18" charset="0"/>
              </a:rPr>
              <a:t>data:</a:t>
            </a:r>
          </a:p>
          <a:p>
            <a:pPr lvl="0" eaLnBrk="1" hangingPunct="1">
              <a:lnSpc>
                <a:spcPct val="80000"/>
              </a:lnSpc>
              <a:buNone/>
            </a:pPr>
            <a:r>
              <a:rPr lang="nb-NO" altLang="zh-CN" sz="2000">
                <a:effectLst/>
                <a:latin typeface="Times New Roman" pitchFamily="18" charset="0"/>
              </a:rPr>
              <a:t>g=1500 0 16 15;</a:t>
            </a:r>
          </a:p>
          <a:p>
            <a:pPr lvl="0" eaLnBrk="1" hangingPunct="1">
              <a:lnSpc>
                <a:spcPct val="80000"/>
              </a:lnSpc>
              <a:buNone/>
            </a:pPr>
            <a:r>
              <a:rPr lang="nb-NO" altLang="zh-CN" sz="2000">
                <a:effectLst/>
                <a:latin typeface="Times New Roman" pitchFamily="18" charset="0"/>
              </a:rPr>
              <a:t>c=200 300 2 -1 4 0 0 5;</a:t>
            </a:r>
          </a:p>
          <a:p>
            <a:pPr lvl="0" eaLnBrk="1" hangingPunct="1">
              <a:lnSpc>
                <a:spcPct val="80000"/>
              </a:lnSpc>
              <a:buNone/>
            </a:pPr>
            <a:r>
              <a:rPr lang="nb-NO" altLang="zh-CN" sz="2000">
                <a:effectLst/>
                <a:latin typeface="Times New Roman" pitchFamily="18" charset="0"/>
              </a:rPr>
              <a:t>enddata</a:t>
            </a:r>
          </a:p>
          <a:p>
            <a:pPr lvl="0" eaLnBrk="1" hangingPunct="1">
              <a:lnSpc>
                <a:spcPct val="80000"/>
              </a:lnSpc>
              <a:buNone/>
            </a:pPr>
            <a:r>
              <a:rPr lang="nb-NO" altLang="zh-CN" sz="2000">
                <a:effectLst/>
                <a:latin typeface="Times New Roman" pitchFamily="18" charset="0"/>
              </a:rPr>
              <a:t>min=3*dplus(3)+3*dminus(3)+dplus(4); !</a:t>
            </a:r>
            <a:r>
              <a:rPr lang="zh-CN" altLang="nb-NO" sz="2000">
                <a:effectLst/>
                <a:latin typeface="Times New Roman" pitchFamily="18" charset="0"/>
              </a:rPr>
              <a:t>三级目标函数</a:t>
            </a:r>
            <a:r>
              <a:rPr lang="nb-NO" altLang="zh-CN" sz="2000">
                <a:effectLst/>
                <a:latin typeface="Times New Roman" pitchFamily="18" charset="0"/>
              </a:rPr>
              <a:t>;</a:t>
            </a:r>
          </a:p>
          <a:p>
            <a:pPr lvl="0" eaLnBrk="1" hangingPunct="1">
              <a:lnSpc>
                <a:spcPct val="80000"/>
              </a:lnSpc>
              <a:buNone/>
            </a:pPr>
            <a:r>
              <a:rPr lang="nb-NO" altLang="zh-CN" sz="2000">
                <a:effectLst/>
                <a:latin typeface="Times New Roman" pitchFamily="18" charset="0"/>
              </a:rPr>
              <a:t>2*x(1)+2*x(2)&lt;12;</a:t>
            </a:r>
          </a:p>
          <a:p>
            <a:pPr lvl="0" eaLnBrk="1" hangingPunct="1">
              <a:lnSpc>
                <a:spcPct val="80000"/>
              </a:lnSpc>
              <a:buNone/>
            </a:pPr>
            <a:r>
              <a:rPr lang="nb-NO" altLang="zh-CN" sz="2000">
                <a:effectLst/>
                <a:latin typeface="Times New Roman" pitchFamily="18" charset="0"/>
              </a:rPr>
              <a:t>@for(S_Con_Num(i):@sum(Variable(j):c(i,j)*x(j))+dminus(i)-dplus(i</a:t>
            </a:r>
            <a:endParaRPr lang="en-US" altLang="zh-CN" sz="2000">
              <a:effectLst/>
              <a:latin typeface="Times New Roman" pitchFamily="18" charset="0"/>
            </a:endParaRPr>
          </a:p>
          <a:p>
            <a:pPr lvl="0" eaLnBrk="1" hangingPunct="1">
              <a:lnSpc>
                <a:spcPct val="80000"/>
              </a:lnSpc>
              <a:buNone/>
            </a:pPr>
            <a:r>
              <a:rPr lang="en-US" altLang="zh-CN" sz="2000">
                <a:effectLst/>
                <a:latin typeface="Times New Roman" pitchFamily="18" charset="0"/>
              </a:rPr>
              <a:t>)=g(i));</a:t>
            </a:r>
          </a:p>
          <a:p>
            <a:pPr lvl="0" eaLnBrk="1" hangingPunct="1">
              <a:lnSpc>
                <a:spcPct val="80000"/>
              </a:lnSpc>
              <a:buNone/>
            </a:pPr>
            <a:r>
              <a:rPr lang="en-US" altLang="zh-CN" sz="2000">
                <a:effectLst/>
                <a:latin typeface="Times New Roman" pitchFamily="18" charset="0"/>
              </a:rPr>
              <a:t>dminus(1)=0;!</a:t>
            </a:r>
            <a:r>
              <a:rPr lang="zh-CN" altLang="en-US" sz="2000">
                <a:effectLst/>
                <a:latin typeface="Times New Roman" pitchFamily="18" charset="0"/>
              </a:rPr>
              <a:t>一级目标约束</a:t>
            </a:r>
            <a:r>
              <a:rPr lang="en-US" altLang="zh-CN" sz="2000">
                <a:effectLst/>
                <a:latin typeface="Times New Roman" pitchFamily="18" charset="0"/>
              </a:rPr>
              <a:t>;</a:t>
            </a:r>
          </a:p>
          <a:p>
            <a:pPr lvl="0" eaLnBrk="1" hangingPunct="1">
              <a:lnSpc>
                <a:spcPct val="80000"/>
              </a:lnSpc>
              <a:buNone/>
            </a:pPr>
            <a:r>
              <a:rPr lang="en-US" altLang="zh-CN" sz="2000">
                <a:effectLst/>
                <a:latin typeface="Times New Roman" pitchFamily="18" charset="0"/>
              </a:rPr>
              <a:t>dplus(2)+dminus(2)=0;!</a:t>
            </a:r>
            <a:r>
              <a:rPr lang="zh-CN" altLang="en-US" sz="2000">
                <a:effectLst/>
                <a:latin typeface="Times New Roman" pitchFamily="18" charset="0"/>
              </a:rPr>
              <a:t>二级目标约束</a:t>
            </a:r>
            <a:r>
              <a:rPr lang="en-US" altLang="zh-CN" sz="2000">
                <a:effectLst/>
                <a:latin typeface="Times New Roman" pitchFamily="18" charset="0"/>
              </a:rPr>
              <a:t>;</a:t>
            </a:r>
          </a:p>
          <a:p>
            <a:pPr lvl="0" eaLnBrk="1" hangingPunct="1">
              <a:lnSpc>
                <a:spcPct val="80000"/>
              </a:lnSpc>
              <a:buNone/>
            </a:pPr>
            <a:r>
              <a:rPr lang="en-US" altLang="zh-CN" sz="2000">
                <a:effectLst/>
                <a:latin typeface="Times New Roman" pitchFamily="18" charset="0"/>
              </a:rPr>
              <a:t>end</a:t>
            </a:r>
          </a:p>
          <a:p>
            <a:pPr lvl="0" eaLnBrk="1" hangingPunct="1">
              <a:lnSpc>
                <a:spcPct val="80000"/>
              </a:lnSpc>
              <a:buNone/>
            </a:pPr>
            <a:r>
              <a:rPr lang="zh-CN" altLang="en-US" sz="2000" b="1">
                <a:effectLst/>
                <a:latin typeface="黑体" pitchFamily="49" charset="-122"/>
                <a:ea typeface="黑体" pitchFamily="49" charset="-122"/>
              </a:rPr>
              <a:t>目标函数的最优值为</a:t>
            </a:r>
            <a:r>
              <a:rPr lang="en-US" altLang="zh-CN" sz="2000" b="1">
                <a:effectLst/>
                <a:latin typeface="黑体" pitchFamily="49" charset="-122"/>
                <a:ea typeface="黑体" pitchFamily="49" charset="-122"/>
              </a:rPr>
              <a:t>29</a:t>
            </a:r>
            <a:r>
              <a:rPr lang="zh-CN" altLang="en-US" sz="2000" b="1">
                <a:effectLst/>
                <a:latin typeface="黑体" pitchFamily="49" charset="-122"/>
                <a:ea typeface="黑体" pitchFamily="49" charset="-122"/>
              </a:rPr>
              <a:t>，即第三级偏差为</a:t>
            </a:r>
            <a:r>
              <a:rPr lang="en-US" altLang="zh-CN" sz="2000" b="1">
                <a:effectLst/>
                <a:latin typeface="黑体" pitchFamily="49" charset="-122"/>
                <a:ea typeface="黑体" pitchFamily="49" charset="-122"/>
              </a:rPr>
              <a:t>29</a:t>
            </a:r>
            <a:r>
              <a:rPr lang="zh-CN" altLang="en-US" sz="2000" b="1">
                <a:effectLst/>
                <a:latin typeface="黑体" pitchFamily="49" charset="-122"/>
                <a:ea typeface="黑体" pitchFamily="49" charset="-122"/>
              </a:rPr>
              <a:t>。</a:t>
            </a:r>
          </a:p>
        </p:txBody>
      </p:sp>
    </p:spTree>
  </p:cSld>
  <p:clrMapOvr>
    <a:masterClrMapping/>
  </p:clrMapOvr>
  <p:transition/>
  <p:timing/>
</p:sld>
</file>

<file path=ppt/slides/slide6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6562" name="Rectangle 3"/>
          <p:cNvSpPr>
            <a:spLocks noGrp="1" noChangeArrowheads="1"/>
          </p:cNvSpPr>
          <p:nvPr>
            <p:ph type="body" idx="4294967295"/>
          </p:nvPr>
        </p:nvSpPr>
        <p:spPr>
          <a:xfrm>
            <a:off x="1692275" y="2420938"/>
            <a:ext cx="6202363" cy="1828800"/>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marL="342900" marR="0" lvl="0" indent="-342900" eaLnBrk="1" hangingPunct="1">
              <a:buNone/>
            </a:pPr>
            <a:r>
              <a:rPr lang="zh-CN" altLang="en-US" sz="2400">
                <a:effectLst/>
                <a:latin typeface="宋体" pitchFamily="2" charset="-122"/>
              </a:rPr>
              <a:t>分析计算结果，                    。                                       </a:t>
            </a:r>
          </a:p>
          <a:p>
            <a:pPr marL="342900" marR="0" lvl="0" indent="-342900" eaLnBrk="1" hangingPunct="1">
              <a:buNone/>
            </a:pPr>
            <a:r>
              <a:rPr lang="zh-CN" altLang="en-US" sz="2400">
                <a:effectLst/>
                <a:latin typeface="宋体" pitchFamily="2" charset="-122"/>
              </a:rPr>
              <a:t>因此，目标规划的最优解为           。</a:t>
            </a:r>
          </a:p>
          <a:p>
            <a:pPr marL="342900" marR="0" lvl="0" indent="-342900" eaLnBrk="1" hangingPunct="1">
              <a:buNone/>
            </a:pPr>
            <a:r>
              <a:rPr lang="zh-CN" altLang="en-US" sz="2400">
                <a:effectLst/>
                <a:latin typeface="宋体" pitchFamily="2" charset="-122"/>
              </a:rPr>
              <a:t>最优利润为</a:t>
            </a:r>
            <a:r>
              <a:rPr lang="en-US" altLang="zh-CN" sz="2400">
                <a:effectLst/>
                <a:latin typeface="宋体" pitchFamily="2" charset="-122"/>
              </a:rPr>
              <a:t>1600</a:t>
            </a:r>
            <a:r>
              <a:rPr lang="zh-CN" altLang="en-US" sz="2400">
                <a:effectLst/>
                <a:latin typeface="宋体" pitchFamily="2" charset="-122"/>
              </a:rPr>
              <a:t>。</a:t>
            </a:r>
          </a:p>
        </p:txBody>
      </p:sp>
      <p:sp>
        <p:nvSpPr>
          <p:cNvPr id="66563" name="Rectangle 5"/>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66564" name="Rectangle 7"/>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66565" name="Object 6"/>
          <p:cNvGraphicFramePr>
            <a:graphicFrameLocks noChangeAspect="1"/>
          </p:cNvGraphicFramePr>
          <p:nvPr/>
        </p:nvGraphicFramePr>
        <p:xfrm>
          <a:off x="3781425" y="2384425"/>
          <a:ext cx="3167062" cy="539750"/>
        </p:xfrm>
        <a:graphic>
          <a:graphicData uri="http://schemas.openxmlformats.org/presentationml/2006/ole">
            <mc:AlternateContent xmlns:mc="http://schemas.openxmlformats.org/markup-compatibility/2006">
              <mc:Choice xmlns:v="urn:schemas-microsoft-com:vml" Requires="v">
                <p:oleObj spid="_x0000_s1104" name="Equation" r:id="rId2" progId="Equation.DSMT4">
                  <p:embed/>
                </p:oleObj>
              </mc:Choice>
              <mc:Fallback>
                <p:oleObj spid="_x0000_s1104" name="Equation" r:id="rId2" progId="Equation.DSMT4">
                  <p:embed/>
                  <p:pic>
                    <p:nvPicPr>
                      <p:cNvPr id="0" name="OLE substitute image"/>
                      <p:cNvPicPr/>
                      <p:nvPr/>
                    </p:nvPicPr>
                    <p:blipFill>
                      <a:blip r:embed="rId3"/>
                      <a:stretch/>
                    </p:blipFill>
                    <p:spPr>
                      <a:xfrm>
                        <a:off x="3781425" y="2384425"/>
                        <a:ext cx="3167062" cy="539750"/>
                      </a:xfrm>
                      <a:prstGeom prst="rect">
                        <a:avLst/>
                      </a:prstGeom>
                      <a:noFill/>
                      <a:effectLst/>
                    </p:spPr>
                  </p:pic>
                </p:oleObj>
              </mc:Fallback>
            </mc:AlternateContent>
          </a:graphicData>
        </a:graphic>
      </p:graphicFrame>
      <p:sp>
        <p:nvSpPr>
          <p:cNvPr id="66566" name="Rectangle 9"/>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66567" name="Object 8"/>
          <p:cNvGraphicFramePr>
            <a:graphicFrameLocks noChangeAspect="1"/>
          </p:cNvGraphicFramePr>
          <p:nvPr/>
        </p:nvGraphicFramePr>
        <p:xfrm>
          <a:off x="5440362" y="2781300"/>
          <a:ext cx="1652588" cy="576262"/>
        </p:xfrm>
        <a:graphic>
          <a:graphicData uri="http://schemas.openxmlformats.org/presentationml/2006/ole">
            <mc:AlternateContent xmlns:mc="http://schemas.openxmlformats.org/markup-compatibility/2006">
              <mc:Choice xmlns:v="urn:schemas-microsoft-com:vml" Requires="v">
                <p:oleObj spid="_x0000_s1105" name="Equation" r:id="rId4" progId="Equation.DSMT4">
                  <p:embed/>
                </p:oleObj>
              </mc:Choice>
              <mc:Fallback>
                <p:oleObj spid="_x0000_s1105" name="Equation" r:id="rId4" progId="Equation.DSMT4">
                  <p:embed/>
                  <p:pic>
                    <p:nvPicPr>
                      <p:cNvPr id="0" name="OLE substitute image"/>
                      <p:cNvPicPr/>
                      <p:nvPr/>
                    </p:nvPicPr>
                    <p:blipFill>
                      <a:blip r:embed="rId5"/>
                      <a:stretch/>
                    </p:blipFill>
                    <p:spPr>
                      <a:xfrm>
                        <a:off x="5440362" y="2781300"/>
                        <a:ext cx="1652588" cy="576262"/>
                      </a:xfrm>
                      <a:prstGeom prst="rect">
                        <a:avLst/>
                      </a:prstGeom>
                      <a:noFill/>
                      <a:effectLst/>
                    </p:spPr>
                  </p:pic>
                </p:oleObj>
              </mc:Fallback>
            </mc:AlternateContent>
          </a:graphicData>
        </a:graphic>
      </p:graphicFrame>
    </p:spTree>
  </p:cSld>
  <p:clrMapOvr>
    <a:masterClrMapping/>
  </p:clrMapOvr>
  <p:transition/>
  <p:timing/>
</p:sld>
</file>

<file path=ppt/slides/slide6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7586" name="Rectangle 2"/>
          <p:cNvSpPr/>
          <p:nvPr>
            <p:ph type="title" idx="4294967295"/>
          </p:nvPr>
        </p:nvSpPr>
        <p:spPr>
          <a:xfrm>
            <a:off x="468312" y="0"/>
            <a:ext cx="8229600" cy="706438"/>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eaLnBrk="1" hangingPunct="1"/>
            <a:r>
              <a:rPr lang="zh-CN" altLang="en-US" sz="3200">
                <a:effectLst/>
                <a:latin typeface="黑体" pitchFamily="49" charset="-122"/>
                <a:ea typeface="黑体" pitchFamily="49" charset="-122"/>
              </a:rPr>
              <a:t>多目标规划的</a:t>
            </a:r>
            <a:r>
              <a:rPr lang="en-US" altLang="zh-CN" sz="3200">
                <a:effectLst/>
                <a:latin typeface="Times New Roman" pitchFamily="18" charset="0"/>
                <a:ea typeface="黑体" pitchFamily="49" charset="-122"/>
              </a:rPr>
              <a:t>LINGO</a:t>
            </a:r>
            <a:r>
              <a:rPr lang="zh-CN" altLang="en-US" sz="3200">
                <a:effectLst/>
                <a:latin typeface="黑体" pitchFamily="49" charset="-122"/>
                <a:ea typeface="黑体" pitchFamily="49" charset="-122"/>
              </a:rPr>
              <a:t>通用程序</a:t>
            </a:r>
          </a:p>
        </p:txBody>
      </p:sp>
      <p:sp>
        <p:nvSpPr>
          <p:cNvPr id="67587" name="Rectangle 3"/>
          <p:cNvSpPr/>
          <p:nvPr>
            <p:ph type="body" idx="4294967295"/>
          </p:nvPr>
        </p:nvSpPr>
        <p:spPr>
          <a:xfrm>
            <a:off x="468312" y="1268412"/>
            <a:ext cx="8229600" cy="4525962"/>
          </a:xfrm>
          <a:prstGeom prst="rect">
            <a:avLst/>
          </a:prstGeom>
          <a:noFill/>
          <a:ln>
            <a:miter lim="800000"/>
          </a:ln>
          <a:effectLst/>
        </p:spPr>
        <p:txBody>
          <a:bodyPr vert="horz"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mn-lt"/>
                <a:ea typeface="+mn-ea"/>
              </a:defRPr>
            </a:lvl5pPr>
            <a:lvl6pPr marL="2514600" indent="-228600" algn="l" rtl="0" fontAlgn="base">
              <a:spcBef>
                <a:spcPct val="20000"/>
              </a:spcBef>
              <a:spcAft>
                <a:spcPct val="0"/>
              </a:spcAft>
              <a:buChar char="»"/>
              <a:defRPr lang="zh-CN" altLang="en-US" sz="2000">
                <a:solidFill>
                  <a:schemeClr val="tx1"/>
                </a:solidFill>
                <a:effectLst/>
                <a:latin typeface="+mn-lt"/>
                <a:ea typeface="+mn-ea"/>
              </a:defRPr>
            </a:lvl6pPr>
            <a:lvl7pPr marL="2971800" indent="-228600" algn="l" rtl="0" fontAlgn="base">
              <a:spcBef>
                <a:spcPct val="20000"/>
              </a:spcBef>
              <a:spcAft>
                <a:spcPct val="0"/>
              </a:spcAft>
              <a:buChar char="»"/>
              <a:defRPr lang="zh-CN" altLang="en-US" sz="2000">
                <a:solidFill>
                  <a:schemeClr val="tx1"/>
                </a:solidFill>
                <a:effectLst/>
                <a:latin typeface="+mn-lt"/>
                <a:ea typeface="+mn-ea"/>
              </a:defRPr>
            </a:lvl7pPr>
            <a:lvl8pPr marL="3429000" indent="-228600" algn="l" rtl="0" fontAlgn="base">
              <a:spcBef>
                <a:spcPct val="20000"/>
              </a:spcBef>
              <a:spcAft>
                <a:spcPct val="0"/>
              </a:spcAft>
              <a:buChar char="»"/>
              <a:defRPr lang="zh-CN" altLang="en-US" sz="2000">
                <a:solidFill>
                  <a:schemeClr val="tx1"/>
                </a:solidFill>
                <a:effectLst/>
                <a:latin typeface="+mn-lt"/>
                <a:ea typeface="+mn-ea"/>
              </a:defRPr>
            </a:lvl8pPr>
            <a:lvl9pPr marL="3886200" indent="-228600" algn="l" rtl="0" fontAlgn="base">
              <a:spcBef>
                <a:spcPct val="20000"/>
              </a:spcBef>
              <a:spcAft>
                <a:spcPct val="0"/>
              </a:spcAft>
              <a:buChar char="»"/>
              <a:defRPr lang="zh-CN" altLang="en-US" sz="2000">
                <a:solidFill>
                  <a:schemeClr val="tx1"/>
                </a:solidFill>
                <a:effectLst/>
                <a:latin typeface="+mn-lt"/>
                <a:ea typeface="+mn-ea"/>
              </a:defRPr>
            </a:lvl9pPr>
          </a:lstStyle>
          <a:p>
            <a:pPr lvl="0" eaLnBrk="1" hangingPunct="1">
              <a:lnSpc>
                <a:spcPct val="80000"/>
              </a:lnSpc>
              <a:buNone/>
            </a:pPr>
            <a:r>
              <a:rPr lang="en-US" altLang="zh-CN" sz="1000">
                <a:effectLst/>
                <a:latin typeface="Times New Roman" pitchFamily="18" charset="0"/>
              </a:rPr>
              <a:t>model:</a:t>
            </a:r>
          </a:p>
          <a:p>
            <a:pPr lvl="0" eaLnBrk="1" hangingPunct="1">
              <a:lnSpc>
                <a:spcPct val="80000"/>
              </a:lnSpc>
              <a:buNone/>
            </a:pPr>
            <a:r>
              <a:rPr lang="en-US" altLang="zh-CN" sz="1000">
                <a:effectLst/>
                <a:latin typeface="Times New Roman" pitchFamily="18" charset="0"/>
              </a:rPr>
              <a:t>sets:</a:t>
            </a:r>
          </a:p>
          <a:p>
            <a:pPr lvl="0" eaLnBrk="1" hangingPunct="1">
              <a:lnSpc>
                <a:spcPct val="80000"/>
              </a:lnSpc>
              <a:buNone/>
            </a:pPr>
            <a:r>
              <a:rPr lang="en-US" altLang="zh-CN" sz="1000">
                <a:effectLst/>
                <a:latin typeface="Times New Roman" pitchFamily="18" charset="0"/>
              </a:rPr>
              <a:t>level/1..3/:p,z,goal;</a:t>
            </a:r>
          </a:p>
          <a:p>
            <a:pPr lvl="0" eaLnBrk="1" hangingPunct="1">
              <a:lnSpc>
                <a:spcPct val="80000"/>
              </a:lnSpc>
              <a:buNone/>
            </a:pPr>
            <a:r>
              <a:rPr lang="en-US" altLang="zh-CN" sz="1000">
                <a:effectLst/>
                <a:latin typeface="Times New Roman" pitchFamily="18" charset="0"/>
              </a:rPr>
              <a:t>variable/1..2/:x;</a:t>
            </a:r>
          </a:p>
          <a:p>
            <a:pPr lvl="0" eaLnBrk="1" hangingPunct="1">
              <a:lnSpc>
                <a:spcPct val="80000"/>
              </a:lnSpc>
              <a:buNone/>
            </a:pPr>
            <a:r>
              <a:rPr lang="en-US" altLang="zh-CN" sz="1000">
                <a:effectLst/>
                <a:latin typeface="Times New Roman" pitchFamily="18" charset="0"/>
              </a:rPr>
              <a:t>h_con_num/1..1/:b;</a:t>
            </a:r>
          </a:p>
          <a:p>
            <a:pPr lvl="0" eaLnBrk="1" hangingPunct="1">
              <a:lnSpc>
                <a:spcPct val="80000"/>
              </a:lnSpc>
              <a:buNone/>
            </a:pPr>
            <a:r>
              <a:rPr lang="en-US" altLang="zh-CN" sz="1000">
                <a:effectLst/>
                <a:latin typeface="Times New Roman" pitchFamily="18" charset="0"/>
              </a:rPr>
              <a:t>s_con_num/1..4/:g,dplus,dminus;</a:t>
            </a:r>
          </a:p>
          <a:p>
            <a:pPr lvl="0" eaLnBrk="1" hangingPunct="1">
              <a:lnSpc>
                <a:spcPct val="80000"/>
              </a:lnSpc>
              <a:buNone/>
            </a:pPr>
            <a:r>
              <a:rPr lang="en-US" altLang="zh-CN" sz="1000">
                <a:effectLst/>
                <a:latin typeface="Times New Roman" pitchFamily="18" charset="0"/>
              </a:rPr>
              <a:t>h_con(h_con_num,variable):a;</a:t>
            </a:r>
          </a:p>
          <a:p>
            <a:pPr lvl="0" eaLnBrk="1" hangingPunct="1">
              <a:lnSpc>
                <a:spcPct val="80000"/>
              </a:lnSpc>
              <a:buNone/>
            </a:pPr>
            <a:r>
              <a:rPr lang="en-US" altLang="zh-CN" sz="1000">
                <a:effectLst/>
                <a:latin typeface="Times New Roman" pitchFamily="18" charset="0"/>
              </a:rPr>
              <a:t>s_con(s_con_num,variable):c;</a:t>
            </a:r>
          </a:p>
          <a:p>
            <a:pPr lvl="0" eaLnBrk="1" hangingPunct="1">
              <a:lnSpc>
                <a:spcPct val="80000"/>
              </a:lnSpc>
              <a:buNone/>
            </a:pPr>
            <a:r>
              <a:rPr lang="en-US" altLang="zh-CN" sz="1000">
                <a:effectLst/>
                <a:latin typeface="Times New Roman" pitchFamily="18" charset="0"/>
              </a:rPr>
              <a:t>obj(level,s_con_num)/1 1,2 2,3 3,3 4/:wplus,wminus;</a:t>
            </a:r>
          </a:p>
          <a:p>
            <a:pPr lvl="0" eaLnBrk="1" hangingPunct="1">
              <a:lnSpc>
                <a:spcPct val="80000"/>
              </a:lnSpc>
              <a:buNone/>
            </a:pPr>
            <a:r>
              <a:rPr lang="en-US" altLang="zh-CN" sz="1000">
                <a:effectLst/>
                <a:latin typeface="Times New Roman" pitchFamily="18" charset="0"/>
              </a:rPr>
              <a:t>endsets</a:t>
            </a:r>
          </a:p>
          <a:p>
            <a:pPr lvl="0" eaLnBrk="1" hangingPunct="1">
              <a:lnSpc>
                <a:spcPct val="80000"/>
              </a:lnSpc>
              <a:buNone/>
            </a:pPr>
            <a:r>
              <a:rPr lang="en-US" altLang="zh-CN" sz="1000">
                <a:effectLst/>
                <a:latin typeface="Times New Roman" pitchFamily="18" charset="0"/>
              </a:rPr>
              <a:t>data:</a:t>
            </a:r>
          </a:p>
          <a:p>
            <a:pPr lvl="0" eaLnBrk="1" hangingPunct="1">
              <a:lnSpc>
                <a:spcPct val="80000"/>
              </a:lnSpc>
              <a:buNone/>
            </a:pPr>
            <a:r>
              <a:rPr lang="en-US" altLang="zh-CN" sz="1000">
                <a:effectLst/>
                <a:latin typeface="Times New Roman" pitchFamily="18" charset="0"/>
              </a:rPr>
              <a:t>ctr=?;</a:t>
            </a:r>
          </a:p>
          <a:p>
            <a:pPr lvl="0" eaLnBrk="1" hangingPunct="1">
              <a:lnSpc>
                <a:spcPct val="80000"/>
              </a:lnSpc>
              <a:buNone/>
            </a:pPr>
            <a:r>
              <a:rPr lang="en-US" altLang="zh-CN" sz="1000">
                <a:effectLst/>
                <a:latin typeface="Times New Roman" pitchFamily="18" charset="0"/>
              </a:rPr>
              <a:t>goal=? ? 0;</a:t>
            </a:r>
          </a:p>
          <a:p>
            <a:pPr lvl="0" eaLnBrk="1" hangingPunct="1">
              <a:lnSpc>
                <a:spcPct val="80000"/>
              </a:lnSpc>
              <a:buNone/>
            </a:pPr>
            <a:r>
              <a:rPr lang="en-US" altLang="zh-CN" sz="1000">
                <a:effectLst/>
                <a:latin typeface="Times New Roman" pitchFamily="18" charset="0"/>
              </a:rPr>
              <a:t>b=12;</a:t>
            </a:r>
          </a:p>
          <a:p>
            <a:pPr lvl="0" eaLnBrk="1" hangingPunct="1">
              <a:lnSpc>
                <a:spcPct val="80000"/>
              </a:lnSpc>
              <a:buNone/>
            </a:pPr>
            <a:r>
              <a:rPr lang="en-US" altLang="zh-CN" sz="1000">
                <a:effectLst/>
                <a:latin typeface="Times New Roman" pitchFamily="18" charset="0"/>
              </a:rPr>
              <a:t>g=1500 0 16 15;</a:t>
            </a:r>
          </a:p>
          <a:p>
            <a:pPr lvl="0" eaLnBrk="1" hangingPunct="1">
              <a:lnSpc>
                <a:spcPct val="80000"/>
              </a:lnSpc>
              <a:buNone/>
            </a:pPr>
            <a:r>
              <a:rPr lang="en-US" altLang="zh-CN" sz="1000">
                <a:effectLst/>
                <a:latin typeface="Times New Roman" pitchFamily="18" charset="0"/>
              </a:rPr>
              <a:t>a=2 2;</a:t>
            </a:r>
          </a:p>
          <a:p>
            <a:pPr lvl="0" eaLnBrk="1" hangingPunct="1">
              <a:lnSpc>
                <a:spcPct val="80000"/>
              </a:lnSpc>
              <a:buNone/>
            </a:pPr>
            <a:r>
              <a:rPr lang="en-US" altLang="zh-CN" sz="1000">
                <a:effectLst/>
                <a:latin typeface="Times New Roman" pitchFamily="18" charset="0"/>
              </a:rPr>
              <a:t>c=200 300 2 -1 4 0 0 5;</a:t>
            </a:r>
          </a:p>
          <a:p>
            <a:pPr lvl="0" eaLnBrk="1" hangingPunct="1">
              <a:lnSpc>
                <a:spcPct val="80000"/>
              </a:lnSpc>
              <a:buNone/>
            </a:pPr>
            <a:r>
              <a:rPr lang="en-US" altLang="zh-CN" sz="1000">
                <a:effectLst/>
                <a:latin typeface="Times New Roman" pitchFamily="18" charset="0"/>
              </a:rPr>
              <a:t>wplus=0 1 3 1;</a:t>
            </a:r>
          </a:p>
          <a:p>
            <a:pPr lvl="0" eaLnBrk="1" hangingPunct="1">
              <a:lnSpc>
                <a:spcPct val="80000"/>
              </a:lnSpc>
              <a:buNone/>
            </a:pPr>
            <a:r>
              <a:rPr lang="en-US" altLang="zh-CN" sz="1000">
                <a:effectLst/>
                <a:latin typeface="Times New Roman" pitchFamily="18" charset="0"/>
              </a:rPr>
              <a:t>wminus=1 1 3 0;</a:t>
            </a:r>
          </a:p>
          <a:p>
            <a:pPr lvl="0" eaLnBrk="1" hangingPunct="1">
              <a:lnSpc>
                <a:spcPct val="80000"/>
              </a:lnSpc>
              <a:buNone/>
            </a:pPr>
            <a:r>
              <a:rPr lang="en-US" altLang="zh-CN" sz="1000">
                <a:effectLst/>
                <a:latin typeface="Times New Roman" pitchFamily="18" charset="0"/>
              </a:rPr>
              <a:t>enddata</a:t>
            </a:r>
          </a:p>
          <a:p>
            <a:pPr lvl="0" eaLnBrk="1" hangingPunct="1">
              <a:lnSpc>
                <a:spcPct val="80000"/>
              </a:lnSpc>
              <a:buNone/>
            </a:pPr>
            <a:r>
              <a:rPr lang="en-US" altLang="zh-CN" sz="1000">
                <a:effectLst/>
                <a:latin typeface="Times New Roman" pitchFamily="18" charset="0"/>
              </a:rPr>
              <a:t>min=@sum(level:p*z);</a:t>
            </a:r>
          </a:p>
          <a:p>
            <a:pPr lvl="0" eaLnBrk="1" hangingPunct="1">
              <a:lnSpc>
                <a:spcPct val="80000"/>
              </a:lnSpc>
              <a:buNone/>
            </a:pPr>
            <a:r>
              <a:rPr lang="en-US" altLang="zh-CN" sz="1000">
                <a:effectLst/>
                <a:latin typeface="Times New Roman" pitchFamily="18" charset="0"/>
              </a:rPr>
              <a:t>p(ctr)=1;</a:t>
            </a:r>
          </a:p>
          <a:p>
            <a:pPr lvl="0" eaLnBrk="1" hangingPunct="1">
              <a:lnSpc>
                <a:spcPct val="80000"/>
              </a:lnSpc>
              <a:buNone/>
            </a:pPr>
            <a:r>
              <a:rPr lang="en-US" altLang="zh-CN" sz="1000">
                <a:effectLst/>
                <a:latin typeface="Times New Roman" pitchFamily="18" charset="0"/>
              </a:rPr>
              <a:t>@for(level(i)|i#ne#ctr:p(i)=0);</a:t>
            </a:r>
          </a:p>
          <a:p>
            <a:pPr lvl="0" eaLnBrk="1" hangingPunct="1">
              <a:lnSpc>
                <a:spcPct val="80000"/>
              </a:lnSpc>
              <a:buNone/>
            </a:pPr>
            <a:r>
              <a:rPr lang="en-US" altLang="zh-CN" sz="1000">
                <a:effectLst/>
                <a:latin typeface="Times New Roman" pitchFamily="18" charset="0"/>
              </a:rPr>
              <a:t>@for(level(i):z(i)=@sum(obj(i,j):wplus(i,j)*dplus(j)+wminus(i,j)*</a:t>
            </a:r>
          </a:p>
          <a:p>
            <a:pPr lvl="0" eaLnBrk="1" hangingPunct="1">
              <a:lnSpc>
                <a:spcPct val="80000"/>
              </a:lnSpc>
              <a:buNone/>
            </a:pPr>
            <a:r>
              <a:rPr lang="en-US" altLang="zh-CN" sz="1000">
                <a:effectLst/>
                <a:latin typeface="Times New Roman" pitchFamily="18" charset="0"/>
              </a:rPr>
              <a:t>dminus(j)));</a:t>
            </a:r>
          </a:p>
          <a:p>
            <a:pPr lvl="0" eaLnBrk="1" hangingPunct="1">
              <a:lnSpc>
                <a:spcPct val="80000"/>
              </a:lnSpc>
              <a:buNone/>
            </a:pPr>
            <a:r>
              <a:rPr lang="en-US" altLang="zh-CN" sz="1000">
                <a:effectLst/>
                <a:latin typeface="Times New Roman" pitchFamily="18" charset="0"/>
              </a:rPr>
              <a:t>@for(h_con_num(i):@sum(variable(j):a(i,j)*x(j))&lt;b(i));</a:t>
            </a:r>
          </a:p>
          <a:p>
            <a:pPr lvl="0" eaLnBrk="1" hangingPunct="1">
              <a:lnSpc>
                <a:spcPct val="80000"/>
              </a:lnSpc>
              <a:buNone/>
            </a:pPr>
            <a:r>
              <a:rPr lang="en-US" altLang="zh-CN" sz="1000">
                <a:effectLst/>
                <a:latin typeface="Times New Roman" pitchFamily="18" charset="0"/>
              </a:rPr>
              <a:t>@for(s_con_num(i):@sum(variable(j):c(i,j)*x(j))+dminus(i)-dplus(i</a:t>
            </a:r>
            <a:endParaRPr lang="nb-NO" altLang="zh-CN" sz="1000">
              <a:effectLst/>
              <a:latin typeface="Times New Roman" pitchFamily="18" charset="0"/>
            </a:endParaRPr>
          </a:p>
          <a:p>
            <a:pPr lvl="0" eaLnBrk="1" hangingPunct="1">
              <a:lnSpc>
                <a:spcPct val="80000"/>
              </a:lnSpc>
              <a:buNone/>
            </a:pPr>
            <a:r>
              <a:rPr lang="nb-NO" altLang="zh-CN" sz="1000">
                <a:effectLst/>
                <a:latin typeface="Times New Roman" pitchFamily="18" charset="0"/>
              </a:rPr>
              <a:t>)=g(i));</a:t>
            </a:r>
          </a:p>
          <a:p>
            <a:pPr lvl="0" eaLnBrk="1" hangingPunct="1">
              <a:lnSpc>
                <a:spcPct val="80000"/>
              </a:lnSpc>
              <a:buNone/>
            </a:pPr>
            <a:r>
              <a:rPr lang="nb-NO" altLang="zh-CN" sz="1000">
                <a:effectLst/>
                <a:latin typeface="Times New Roman" pitchFamily="18" charset="0"/>
              </a:rPr>
              <a:t>@for(level(i)|i #lt# @size(level):@bnd(0,z(i),goal(i)));</a:t>
            </a:r>
            <a:endParaRPr lang="en-US" altLang="zh-CN" sz="1000">
              <a:effectLst/>
              <a:latin typeface="Times New Roman" pitchFamily="18" charset="0"/>
            </a:endParaRPr>
          </a:p>
          <a:p>
            <a:pPr lvl="0" eaLnBrk="1" hangingPunct="1">
              <a:lnSpc>
                <a:spcPct val="80000"/>
              </a:lnSpc>
              <a:buNone/>
            </a:pPr>
            <a:r>
              <a:rPr lang="en-US" altLang="zh-CN" sz="1000">
                <a:effectLst/>
                <a:latin typeface="Times New Roman" pitchFamily="18" charset="0"/>
              </a:rPr>
              <a:t>end</a:t>
            </a:r>
          </a:p>
        </p:txBody>
      </p:sp>
    </p:spTree>
  </p:cSld>
  <p:clrMapOvr>
    <a:masterClrMapping/>
  </p:clrMapOvr>
  <p:transition/>
  <p:timing/>
</p:sld>
</file>

<file path=ppt/slides/slide6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8610" name="Rectangle 3"/>
          <p:cNvSpPr>
            <a:spLocks noGrp="1" noChangeArrowheads="1"/>
          </p:cNvSpPr>
          <p:nvPr>
            <p:ph type="body" sz="half" idx="4294967295"/>
          </p:nvPr>
        </p:nvSpPr>
        <p:spPr>
          <a:xfrm>
            <a:off x="468313" y="1052513"/>
            <a:ext cx="7786687" cy="4525962"/>
          </a:xfrm>
          <a:effectLst/>
        </p:spPr>
        <p:txBody>
          <a:bodyPr vert="horz" wrap="square" lIns="91440" tIns="45720" rIns="91440" bIns="45720" anchor="t" anchorCtr="0" compatLnSpc="1">
            <a:prstTxWarp prst="textNoShape">
              <a:avLst/>
            </a:prstTxWarp>
            <a:no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2800" b="0" i="0" u="none">
                <a:solidFill>
                  <a:schemeClr val="tx1"/>
                </a:solidFill>
                <a:effectLst/>
                <a:latin typeface="Arial"/>
                <a:ea typeface="宋体" panose="02010600030101010101" pitchFamily="2" charset="-122"/>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400" b="0" i="0" u="none">
                <a:solidFill>
                  <a:schemeClr val="tx1"/>
                </a:solidFill>
                <a:effectLst/>
                <a:latin typeface="Arial"/>
                <a:ea typeface="宋体" panose="02010600030101010101" pitchFamily="2" charset="-122"/>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000" b="0" i="0" u="none">
                <a:solidFill>
                  <a:schemeClr val="tx1"/>
                </a:solidFill>
                <a:effectLst/>
                <a:latin typeface="Arial"/>
                <a:ea typeface="宋体" panose="02010600030101010101" pitchFamily="2" charset="-122"/>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1800" b="0" i="0" u="none">
                <a:solidFill>
                  <a:schemeClr val="tx1"/>
                </a:solidFill>
                <a:effectLst/>
                <a:latin typeface="Arial"/>
                <a:ea typeface="宋体" panose="02010600030101010101" pitchFamily="2" charset="-122"/>
              </a:defRPr>
            </a:lvl5pPr>
          </a:lstStyle>
          <a:p>
            <a:pPr marL="342900" marR="0" lvl="0" indent="-342900" eaLnBrk="1" hangingPunct="1">
              <a:lnSpc>
                <a:spcPct val="90000"/>
              </a:lnSpc>
              <a:buNone/>
            </a:pPr>
            <a:r>
              <a:rPr lang="zh-CN" altLang="en-US" sz="2200">
                <a:effectLst/>
                <a:latin typeface="宋体" pitchFamily="2" charset="-122"/>
              </a:rPr>
              <a:t>当程序运行时，会出现一个对话框。</a:t>
            </a:r>
          </a:p>
          <a:p>
            <a:pPr marL="342900" marR="0" lvl="0" indent="-342900" eaLnBrk="1" hangingPunct="1">
              <a:lnSpc>
                <a:spcPct val="90000"/>
              </a:lnSpc>
              <a:buNone/>
            </a:pPr>
            <a:r>
              <a:rPr lang="zh-CN" altLang="en-US" sz="2200">
                <a:effectLst/>
                <a:latin typeface="宋体" pitchFamily="2" charset="-122"/>
              </a:rPr>
              <a:t>在做第一级目标计算时，</a:t>
            </a:r>
            <a:r>
              <a:rPr lang="en-US" altLang="zh-CN" sz="2200">
                <a:effectLst/>
                <a:latin typeface="Times New Roman" pitchFamily="18" charset="0"/>
                <a:ea typeface="Times New Roman" pitchFamily="18" charset="0"/>
              </a:rPr>
              <a:t>ctr </a:t>
            </a:r>
            <a:r>
              <a:rPr lang="zh-CN" altLang="en-US" sz="2200">
                <a:effectLst/>
                <a:latin typeface="宋体" pitchFamily="2" charset="-122"/>
              </a:rPr>
              <a:t>输入</a:t>
            </a:r>
            <a:r>
              <a:rPr lang="en-US" altLang="zh-CN" sz="2200">
                <a:effectLst/>
                <a:latin typeface="宋体" pitchFamily="2" charset="-122"/>
              </a:rPr>
              <a:t>1</a:t>
            </a:r>
            <a:r>
              <a:rPr lang="zh-CN" altLang="en-US" sz="2200">
                <a:effectLst/>
                <a:latin typeface="宋体" pitchFamily="2" charset="-122"/>
              </a:rPr>
              <a:t>，</a:t>
            </a:r>
            <a:r>
              <a:rPr lang="en-US" altLang="zh-CN" sz="2200">
                <a:effectLst/>
                <a:latin typeface="Times New Roman" pitchFamily="18" charset="0"/>
                <a:ea typeface="Times New Roman" pitchFamily="18" charset="0"/>
              </a:rPr>
              <a:t>goal</a:t>
            </a:r>
            <a:r>
              <a:rPr lang="en-US" altLang="zh-CN" sz="2200">
                <a:effectLst/>
                <a:latin typeface="宋体" pitchFamily="2" charset="-122"/>
              </a:rPr>
              <a:t>(1)</a:t>
            </a:r>
            <a:r>
              <a:rPr lang="zh-CN" altLang="en-US" sz="2200">
                <a:effectLst/>
                <a:latin typeface="宋体" pitchFamily="2" charset="-122"/>
              </a:rPr>
              <a:t>和</a:t>
            </a:r>
            <a:r>
              <a:rPr lang="en-US" altLang="zh-CN" sz="2200">
                <a:effectLst/>
                <a:latin typeface="Times New Roman" pitchFamily="18" charset="0"/>
                <a:ea typeface="Times New Roman" pitchFamily="18" charset="0"/>
              </a:rPr>
              <a:t>goal</a:t>
            </a:r>
            <a:r>
              <a:rPr lang="en-US" altLang="zh-CN" sz="2200">
                <a:effectLst/>
                <a:latin typeface="宋体" pitchFamily="2" charset="-122"/>
              </a:rPr>
              <a:t>(2)</a:t>
            </a:r>
            <a:r>
              <a:rPr lang="zh-CN" altLang="en-US" sz="2200">
                <a:effectLst/>
                <a:latin typeface="宋体" pitchFamily="2" charset="-122"/>
              </a:rPr>
              <a:t>输入两</a:t>
            </a:r>
            <a:endParaRPr lang="en-US" altLang="zh-CN" sz="2200">
              <a:effectLst/>
              <a:latin typeface="宋体" pitchFamily="2" charset="-122"/>
            </a:endParaRPr>
          </a:p>
          <a:p>
            <a:pPr marL="342900" marR="0" lvl="0" indent="-342900" eaLnBrk="1" hangingPunct="1">
              <a:lnSpc>
                <a:spcPct val="90000"/>
              </a:lnSpc>
              <a:buNone/>
            </a:pPr>
            <a:r>
              <a:rPr lang="zh-CN" altLang="en-US" sz="2200">
                <a:effectLst/>
                <a:latin typeface="宋体" pitchFamily="2" charset="-122"/>
              </a:rPr>
              <a:t>个较大的值，表明这两项约束不起作用。求得第一级的最优偏</a:t>
            </a:r>
            <a:endParaRPr lang="en-US" altLang="zh-CN" sz="2200">
              <a:effectLst/>
              <a:latin typeface="宋体" pitchFamily="2" charset="-122"/>
            </a:endParaRPr>
          </a:p>
          <a:p>
            <a:pPr marL="342900" marR="0" lvl="0" indent="-342900" eaLnBrk="1" hangingPunct="1">
              <a:lnSpc>
                <a:spcPct val="90000"/>
              </a:lnSpc>
              <a:buNone/>
            </a:pPr>
            <a:r>
              <a:rPr lang="zh-CN" altLang="en-US" sz="2200">
                <a:effectLst/>
                <a:latin typeface="宋体" pitchFamily="2" charset="-122"/>
              </a:rPr>
              <a:t>差为</a:t>
            </a:r>
            <a:r>
              <a:rPr lang="en-US" altLang="zh-CN" sz="2200">
                <a:effectLst/>
                <a:latin typeface="宋体" pitchFamily="2" charset="-122"/>
              </a:rPr>
              <a:t>0</a:t>
            </a:r>
            <a:r>
              <a:rPr lang="zh-CN" altLang="en-US" sz="2200">
                <a:effectLst/>
                <a:latin typeface="宋体" pitchFamily="2" charset="-122"/>
              </a:rPr>
              <a:t>，进行第二轮计算。</a:t>
            </a:r>
          </a:p>
          <a:p>
            <a:pPr marL="342900" marR="0" lvl="0" indent="-342900" eaLnBrk="1" hangingPunct="1">
              <a:lnSpc>
                <a:spcPct val="90000"/>
              </a:lnSpc>
              <a:buNone/>
            </a:pPr>
            <a:r>
              <a:rPr lang="zh-CN" altLang="en-US" sz="2200">
                <a:effectLst/>
                <a:latin typeface="宋体" pitchFamily="2" charset="-122"/>
              </a:rPr>
              <a:t>在第二级目标的运算中，</a:t>
            </a:r>
            <a:r>
              <a:rPr lang="en-US" altLang="zh-CN" sz="2200">
                <a:effectLst/>
                <a:latin typeface="Times New Roman" pitchFamily="18" charset="0"/>
                <a:ea typeface="Times New Roman" pitchFamily="18" charset="0"/>
              </a:rPr>
              <a:t>ctr</a:t>
            </a:r>
            <a:r>
              <a:rPr lang="en-US" altLang="zh-CN" sz="2200" b="1">
                <a:effectLst/>
                <a:latin typeface="宋体" pitchFamily="2" charset="-122"/>
              </a:rPr>
              <a:t> </a:t>
            </a:r>
            <a:r>
              <a:rPr lang="zh-CN" altLang="en-US" sz="2200">
                <a:effectLst/>
                <a:latin typeface="宋体" pitchFamily="2" charset="-122"/>
              </a:rPr>
              <a:t>输入</a:t>
            </a:r>
            <a:r>
              <a:rPr lang="en-US" altLang="zh-CN" sz="2200">
                <a:effectLst/>
                <a:latin typeface="宋体" pitchFamily="2" charset="-122"/>
              </a:rPr>
              <a:t>2</a:t>
            </a:r>
            <a:r>
              <a:rPr lang="zh-CN" altLang="en-US" sz="2200">
                <a:effectLst/>
                <a:latin typeface="宋体" pitchFamily="2" charset="-122"/>
              </a:rPr>
              <a:t>。由于第一级的偏差为</a:t>
            </a:r>
            <a:r>
              <a:rPr lang="en-US" altLang="zh-CN" sz="2200">
                <a:effectLst/>
                <a:latin typeface="宋体" pitchFamily="2" charset="-122"/>
              </a:rPr>
              <a:t>0</a:t>
            </a:r>
            <a:r>
              <a:rPr lang="zh-CN" altLang="en-US" sz="2200">
                <a:effectLst/>
                <a:latin typeface="宋体" pitchFamily="2" charset="-122"/>
              </a:rPr>
              <a:t>，</a:t>
            </a:r>
            <a:endParaRPr lang="en-US" altLang="zh-CN" sz="2200">
              <a:effectLst/>
              <a:latin typeface="宋体" pitchFamily="2" charset="-122"/>
            </a:endParaRPr>
          </a:p>
          <a:p>
            <a:pPr marL="342900" marR="0" lvl="0" indent="-342900" eaLnBrk="1" hangingPunct="1">
              <a:lnSpc>
                <a:spcPct val="90000"/>
              </a:lnSpc>
              <a:buNone/>
            </a:pPr>
            <a:r>
              <a:rPr lang="zh-CN" altLang="en-US" sz="2200">
                <a:effectLst/>
                <a:latin typeface="宋体" pitchFamily="2" charset="-122"/>
              </a:rPr>
              <a:t>因此</a:t>
            </a:r>
            <a:r>
              <a:rPr lang="en-US" altLang="zh-CN" sz="2200">
                <a:effectLst/>
                <a:latin typeface="Times New Roman" pitchFamily="18" charset="0"/>
                <a:ea typeface="Times New Roman" pitchFamily="18" charset="0"/>
              </a:rPr>
              <a:t>goal</a:t>
            </a:r>
            <a:r>
              <a:rPr lang="en-US" altLang="zh-CN" sz="2200">
                <a:effectLst/>
                <a:latin typeface="宋体" pitchFamily="2" charset="-122"/>
              </a:rPr>
              <a:t>(1)</a:t>
            </a:r>
            <a:r>
              <a:rPr lang="zh-CN" altLang="en-US" sz="2200">
                <a:effectLst/>
                <a:latin typeface="宋体" pitchFamily="2" charset="-122"/>
              </a:rPr>
              <a:t>的输入值为</a:t>
            </a:r>
            <a:r>
              <a:rPr lang="en-US" altLang="zh-CN" sz="2200">
                <a:effectLst/>
                <a:latin typeface="宋体" pitchFamily="2" charset="-122"/>
              </a:rPr>
              <a:t>0</a:t>
            </a:r>
            <a:r>
              <a:rPr lang="zh-CN" altLang="en-US" sz="2200">
                <a:effectLst/>
                <a:latin typeface="宋体" pitchFamily="2" charset="-122"/>
              </a:rPr>
              <a:t>，</a:t>
            </a:r>
            <a:r>
              <a:rPr lang="en-US" altLang="zh-CN" sz="2200">
                <a:effectLst/>
                <a:latin typeface="Times New Roman" pitchFamily="18" charset="0"/>
                <a:ea typeface="Times New Roman" pitchFamily="18" charset="0"/>
              </a:rPr>
              <a:t>goal</a:t>
            </a:r>
            <a:r>
              <a:rPr lang="en-US" altLang="zh-CN" sz="2200">
                <a:effectLst/>
                <a:latin typeface="宋体" pitchFamily="2" charset="-122"/>
              </a:rPr>
              <a:t>(2)</a:t>
            </a:r>
            <a:r>
              <a:rPr lang="zh-CN" altLang="en-US" sz="2200">
                <a:effectLst/>
                <a:latin typeface="宋体" pitchFamily="2" charset="-122"/>
              </a:rPr>
              <a:t>输入一个较大的值。求得第</a:t>
            </a:r>
            <a:endParaRPr lang="en-US" altLang="zh-CN" sz="2200">
              <a:effectLst/>
              <a:latin typeface="宋体" pitchFamily="2" charset="-122"/>
            </a:endParaRPr>
          </a:p>
          <a:p>
            <a:pPr marL="342900" marR="0" lvl="0" indent="-342900" eaLnBrk="1" hangingPunct="1">
              <a:lnSpc>
                <a:spcPct val="90000"/>
              </a:lnSpc>
              <a:buNone/>
            </a:pPr>
            <a:r>
              <a:rPr lang="zh-CN" altLang="en-US" sz="2200">
                <a:effectLst/>
                <a:latin typeface="宋体" pitchFamily="2" charset="-122"/>
              </a:rPr>
              <a:t>二级的最优偏差仍为</a:t>
            </a:r>
            <a:r>
              <a:rPr lang="en-US" altLang="zh-CN" sz="2200">
                <a:effectLst/>
                <a:latin typeface="宋体" pitchFamily="2" charset="-122"/>
              </a:rPr>
              <a:t>0</a:t>
            </a:r>
            <a:r>
              <a:rPr lang="zh-CN" altLang="en-US" sz="2200">
                <a:effectLst/>
                <a:latin typeface="宋体" pitchFamily="2" charset="-122"/>
              </a:rPr>
              <a:t>，进行第三级计算。</a:t>
            </a:r>
          </a:p>
          <a:p>
            <a:pPr marL="342900" marR="0" lvl="0" indent="-342900" eaLnBrk="1" hangingPunct="1">
              <a:lnSpc>
                <a:spcPct val="90000"/>
              </a:lnSpc>
              <a:buNone/>
            </a:pPr>
            <a:r>
              <a:rPr lang="zh-CN" altLang="en-US" sz="2200">
                <a:effectLst/>
                <a:latin typeface="宋体" pitchFamily="2" charset="-122"/>
              </a:rPr>
              <a:t>在第三级的计算中，</a:t>
            </a:r>
            <a:r>
              <a:rPr lang="en-US" altLang="zh-CN" sz="2200">
                <a:effectLst/>
                <a:latin typeface="Times New Roman" pitchFamily="18" charset="0"/>
                <a:ea typeface="Times New Roman" pitchFamily="18" charset="0"/>
              </a:rPr>
              <a:t>ctr </a:t>
            </a:r>
            <a:r>
              <a:rPr lang="zh-CN" altLang="en-US" sz="2200">
                <a:effectLst/>
                <a:latin typeface="宋体" pitchFamily="2" charset="-122"/>
              </a:rPr>
              <a:t>输入</a:t>
            </a:r>
            <a:r>
              <a:rPr lang="en-US" altLang="zh-CN" sz="2200">
                <a:effectLst/>
                <a:latin typeface="宋体" pitchFamily="2" charset="-122"/>
              </a:rPr>
              <a:t>3</a:t>
            </a:r>
            <a:r>
              <a:rPr lang="zh-CN" altLang="en-US" sz="2200">
                <a:effectLst/>
                <a:latin typeface="宋体" pitchFamily="2" charset="-122"/>
              </a:rPr>
              <a:t>。由于第一级、第二级的偏差均</a:t>
            </a:r>
            <a:endParaRPr lang="en-US" altLang="zh-CN" sz="2200">
              <a:effectLst/>
              <a:latin typeface="宋体" pitchFamily="2" charset="-122"/>
            </a:endParaRPr>
          </a:p>
          <a:p>
            <a:pPr marL="342900" marR="0" lvl="0" indent="-342900" eaLnBrk="1" hangingPunct="1">
              <a:lnSpc>
                <a:spcPct val="90000"/>
              </a:lnSpc>
              <a:buNone/>
            </a:pPr>
            <a:r>
              <a:rPr lang="zh-CN" altLang="en-US" sz="2200">
                <a:effectLst/>
                <a:latin typeface="宋体" pitchFamily="2" charset="-122"/>
              </a:rPr>
              <a:t>是</a:t>
            </a:r>
            <a:r>
              <a:rPr lang="en-US" altLang="zh-CN" sz="2200">
                <a:effectLst/>
                <a:latin typeface="宋体" pitchFamily="2" charset="-122"/>
              </a:rPr>
              <a:t>0</a:t>
            </a:r>
            <a:r>
              <a:rPr lang="zh-CN" altLang="en-US" sz="2200">
                <a:effectLst/>
                <a:latin typeface="宋体" pitchFamily="2" charset="-122"/>
              </a:rPr>
              <a:t>，因此，</a:t>
            </a:r>
            <a:r>
              <a:rPr lang="en-US" altLang="zh-CN" sz="2200">
                <a:effectLst/>
                <a:latin typeface="Times New Roman" pitchFamily="18" charset="0"/>
                <a:ea typeface="Times New Roman" pitchFamily="18" charset="0"/>
              </a:rPr>
              <a:t>goal(</a:t>
            </a:r>
            <a:r>
              <a:rPr lang="en-US" altLang="zh-CN" sz="2200">
                <a:effectLst/>
                <a:latin typeface="宋体" pitchFamily="2" charset="-122"/>
              </a:rPr>
              <a:t>1)</a:t>
            </a:r>
            <a:r>
              <a:rPr lang="zh-CN" altLang="en-US" sz="2200">
                <a:effectLst/>
                <a:latin typeface="宋体" pitchFamily="2" charset="-122"/>
              </a:rPr>
              <a:t>和</a:t>
            </a:r>
            <a:r>
              <a:rPr lang="en-US" altLang="zh-CN" sz="2200">
                <a:effectLst/>
                <a:latin typeface="Times New Roman" pitchFamily="18" charset="0"/>
                <a:ea typeface="Times New Roman" pitchFamily="18" charset="0"/>
              </a:rPr>
              <a:t>goal</a:t>
            </a:r>
            <a:r>
              <a:rPr lang="en-US" altLang="zh-CN" sz="2200">
                <a:effectLst/>
                <a:latin typeface="宋体" pitchFamily="2" charset="-122"/>
              </a:rPr>
              <a:t>(2)</a:t>
            </a:r>
            <a:r>
              <a:rPr lang="zh-CN" altLang="en-US" sz="2200">
                <a:effectLst/>
                <a:latin typeface="宋体" pitchFamily="2" charset="-122"/>
              </a:rPr>
              <a:t>的输入值也均是</a:t>
            </a:r>
            <a:r>
              <a:rPr lang="en-US" altLang="zh-CN" sz="2200">
                <a:effectLst/>
                <a:latin typeface="宋体" pitchFamily="2" charset="-122"/>
              </a:rPr>
              <a:t>0</a:t>
            </a:r>
            <a:r>
              <a:rPr lang="zh-CN" altLang="en-US" sz="2200">
                <a:effectLst/>
                <a:latin typeface="宋体" pitchFamily="2" charset="-122"/>
              </a:rPr>
              <a:t>。</a:t>
            </a:r>
          </a:p>
          <a:p>
            <a:pPr marL="342900" marR="0" lvl="0" indent="-342900" eaLnBrk="1" hangingPunct="1">
              <a:lnSpc>
                <a:spcPct val="90000"/>
              </a:lnSpc>
              <a:buNone/>
            </a:pPr>
            <a:r>
              <a:rPr lang="zh-CN" altLang="en-US" sz="2200">
                <a:effectLst/>
                <a:latin typeface="宋体" pitchFamily="2" charset="-122"/>
              </a:rPr>
              <a:t>   最终结果是：            ，最优利润是</a:t>
            </a:r>
            <a:r>
              <a:rPr lang="en-US" altLang="zh-CN" sz="2200">
                <a:effectLst/>
                <a:latin typeface="宋体" pitchFamily="2" charset="-122"/>
              </a:rPr>
              <a:t>1600 </a:t>
            </a:r>
            <a:r>
              <a:rPr lang="zh-CN" altLang="en-US" sz="2200">
                <a:effectLst/>
                <a:latin typeface="宋体" pitchFamily="2" charset="-122"/>
              </a:rPr>
              <a:t>元，第三级</a:t>
            </a:r>
            <a:endParaRPr lang="en-US" altLang="zh-CN" sz="2200">
              <a:effectLst/>
              <a:latin typeface="宋体" pitchFamily="2" charset="-122"/>
            </a:endParaRPr>
          </a:p>
          <a:p>
            <a:pPr marL="342900" marR="0" lvl="0" indent="-342900" eaLnBrk="1" hangingPunct="1">
              <a:lnSpc>
                <a:spcPct val="90000"/>
              </a:lnSpc>
              <a:buNone/>
            </a:pPr>
            <a:r>
              <a:rPr lang="zh-CN" altLang="en-US" sz="2200">
                <a:effectLst/>
                <a:latin typeface="宋体" pitchFamily="2" charset="-122"/>
              </a:rPr>
              <a:t>的最优偏差为</a:t>
            </a:r>
            <a:r>
              <a:rPr lang="en-US" altLang="zh-CN" sz="2200">
                <a:effectLst/>
                <a:latin typeface="宋体" pitchFamily="2" charset="-122"/>
              </a:rPr>
              <a:t>29</a:t>
            </a:r>
            <a:r>
              <a:rPr lang="zh-CN" altLang="en-US" sz="2200">
                <a:effectLst/>
                <a:latin typeface="宋体" pitchFamily="2" charset="-122"/>
              </a:rPr>
              <a:t>。</a:t>
            </a:r>
          </a:p>
        </p:txBody>
      </p:sp>
      <p:graphicFrame>
        <p:nvGraphicFramePr>
          <p:cNvPr id="68611" name="Object 4"/>
          <p:cNvGraphicFramePr>
            <a:graphicFrameLocks noChangeAspect="1"/>
          </p:cNvGraphicFramePr>
          <p:nvPr>
            <p:ph sz="half" idx="4294967295"/>
          </p:nvPr>
        </p:nvGraphicFramePr>
        <p:xfrm>
          <a:off x="2546350" y="4365625"/>
          <a:ext cx="1665288" cy="468312"/>
        </p:xfrm>
        <a:graphic>
          <a:graphicData uri="http://schemas.openxmlformats.org/presentationml/2006/ole">
            <mc:AlternateContent xmlns:mc="http://schemas.openxmlformats.org/markup-compatibility/2006">
              <mc:Choice xmlns:v="urn:schemas-microsoft-com:vml" Requires="v">
                <p:oleObj spid="_x0000_s1106" name="Equation" r:id="rId2" progId="Equation.DSMT4">
                  <p:embed/>
                </p:oleObj>
              </mc:Choice>
              <mc:Fallback>
                <p:oleObj spid="_x0000_s1106" name="Equation" r:id="rId2" progId="Equation.DSMT4">
                  <p:embed/>
                  <p:pic>
                    <p:nvPicPr>
                      <p:cNvPr id="0" name="OLE substitute image"/>
                      <p:cNvPicPr/>
                      <p:nvPr/>
                    </p:nvPicPr>
                    <p:blipFill>
                      <a:blip r:embed="rId3">
                        <a:alphaModFix/>
                      </a:blip>
                      <a:stretch/>
                    </p:blipFill>
                    <p:spPr>
                      <a:xfrm>
                        <a:off x="2546350" y="4365625"/>
                        <a:ext cx="1665288" cy="468312"/>
                      </a:xfrm>
                      <a:prstGeom prst="rect">
                        <a:avLst/>
                      </a:prstGeom>
                      <a:noFill/>
                      <a:effectLst/>
                    </p:spPr>
                  </p:pic>
                </p:oleObj>
              </mc:Fallback>
            </mc:AlternateContent>
          </a:graphicData>
        </a:graphic>
      </p:graphicFrame>
    </p:spTree>
  </p:cSld>
  <p:clrMapOvr>
    <a:masterClrMapping/>
  </p:clrMapOvr>
  <p:transition/>
  <p:timing/>
</p:sld>
</file>

<file path=ppt/slides/slide6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69634" name="Rectangle 2"/>
          <p:cNvSpPr/>
          <p:nvPr>
            <p:ph type="title" idx="4294967295"/>
          </p:nvPr>
        </p:nvSpPr>
        <p:spPr>
          <a:xfrm>
            <a:off x="468312" y="2349500"/>
            <a:ext cx="8229600" cy="1143000"/>
          </a:xfrm>
          <a:prstGeom prst="rect">
            <a:avLst/>
          </a:prstGeom>
          <a:noFill/>
          <a:ln>
            <a:miter lim="800000"/>
          </a:ln>
          <a:effectLst/>
        </p:spPr>
        <p:txBody>
          <a:bodyPr vert="horz"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a:solidFill>
                  <a:schemeClr val="tx2"/>
                </a:solidFill>
                <a:effectLst/>
                <a:latin typeface="+mj-lt"/>
                <a:ea typeface="+mj-ea"/>
                <a:cs typeface="+mj-cs"/>
              </a:defRPr>
            </a:lvl1pPr>
            <a:lvl2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2pPr>
            <a:lvl3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3pPr>
            <a:lvl4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4pPr>
            <a:lvl5pPr algn="ctr" rtl="0" eaLnBrk="0" fontAlgn="base" hangingPunct="0">
              <a:spcBef>
                <a:spcPct val="0"/>
              </a:spcBef>
              <a:spcAft>
                <a:spcPct val="0"/>
              </a:spcAft>
              <a:defRPr lang="zh-CN" altLang="en-US" sz="4400">
                <a:solidFill>
                  <a:schemeClr val="tx2"/>
                </a:solidFill>
                <a:effectLst/>
                <a:latin typeface="Arial"/>
                <a:ea typeface="宋体" panose="02010600030101010101" pitchFamily="2" charset="-122"/>
              </a:defRPr>
            </a:lvl5pPr>
            <a:lvl6pPr marL="457200" algn="ctr" rtl="0" fontAlgn="base">
              <a:spcBef>
                <a:spcPct val="0"/>
              </a:spcBef>
              <a:spcAft>
                <a:spcPct val="0"/>
              </a:spcAft>
              <a:defRPr lang="zh-CN" altLang="en-US" sz="4400">
                <a:solidFill>
                  <a:schemeClr val="tx2"/>
                </a:solidFill>
                <a:effectLst/>
                <a:latin typeface="Arial"/>
                <a:ea typeface="宋体" panose="02010600030101010101" pitchFamily="2" charset="-122"/>
              </a:defRPr>
            </a:lvl6pPr>
            <a:lvl7pPr marL="914400" algn="ctr" rtl="0" fontAlgn="base">
              <a:spcBef>
                <a:spcPct val="0"/>
              </a:spcBef>
              <a:spcAft>
                <a:spcPct val="0"/>
              </a:spcAft>
              <a:defRPr lang="zh-CN" altLang="en-US" sz="4400">
                <a:solidFill>
                  <a:schemeClr val="tx2"/>
                </a:solidFill>
                <a:effectLst/>
                <a:latin typeface="Arial"/>
                <a:ea typeface="宋体" panose="02010600030101010101" pitchFamily="2" charset="-122"/>
              </a:defRPr>
            </a:lvl7pPr>
            <a:lvl8pPr marL="1371600" algn="ctr" rtl="0" fontAlgn="base">
              <a:spcBef>
                <a:spcPct val="0"/>
              </a:spcBef>
              <a:spcAft>
                <a:spcPct val="0"/>
              </a:spcAft>
              <a:defRPr lang="zh-CN" altLang="en-US" sz="4400">
                <a:solidFill>
                  <a:schemeClr val="tx2"/>
                </a:solidFill>
                <a:effectLst/>
                <a:latin typeface="Arial"/>
                <a:ea typeface="宋体" panose="02010600030101010101" pitchFamily="2" charset="-122"/>
              </a:defRPr>
            </a:lvl8pPr>
            <a:lvl9pPr marL="1828800" algn="ctr" rtl="0" fontAlgn="base">
              <a:spcBef>
                <a:spcPct val="0"/>
              </a:spcBef>
              <a:spcAft>
                <a:spcPct val="0"/>
              </a:spcAft>
              <a:defRPr lang="zh-CN" altLang="en-US" sz="4400">
                <a:solidFill>
                  <a:schemeClr val="tx2"/>
                </a:solidFill>
                <a:effectLst/>
                <a:latin typeface="Arial"/>
                <a:ea typeface="宋体" panose="02010600030101010101" pitchFamily="2" charset="-122"/>
              </a:defRPr>
            </a:lvl9pPr>
          </a:lstStyle>
          <a:p>
            <a:pPr lvl="0" eaLnBrk="1" hangingPunct="1"/>
            <a:r>
              <a:rPr lang="zh-CN" altLang="en-US" sz="3200" b="1">
                <a:effectLst/>
                <a:latin typeface="黑体" pitchFamily="49" charset="-122"/>
                <a:ea typeface="黑体" pitchFamily="49" charset="-122"/>
              </a:rPr>
              <a:t>第三部分   </a:t>
            </a:r>
            <a:r>
              <a:rPr kumimoji="1" lang="zh-CN" altLang="en-US" sz="3200" b="1">
                <a:solidFill>
                  <a:schemeClr val="tx1"/>
                </a:solidFill>
                <a:effectLst/>
                <a:latin typeface="黑体" pitchFamily="49" charset="-122"/>
                <a:ea typeface="黑体" pitchFamily="49" charset="-122"/>
              </a:rPr>
              <a:t>多目标决策建模的应用实例</a:t>
            </a:r>
            <a:r>
              <a:rPr kumimoji="1" lang="zh-CN" altLang="en-US">
                <a:effectLst/>
              </a:rPr>
              <a:t> </a:t>
            </a:r>
          </a:p>
        </p:txBody>
      </p:sp>
    </p:spTree>
  </p:cSld>
  <p:clrMapOvr>
    <a:masterClrMapping/>
  </p:clrMapOvr>
  <p:transition/>
  <p:timing/>
</p:sld>
</file>

<file path=ppt/slides/slide6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0658" name="Rectangle 2"/>
          <p:cNvSpPr/>
          <p:nvPr/>
        </p:nvSpPr>
        <p:spPr>
          <a:xfrm>
            <a:off x="323850" y="1556608"/>
            <a:ext cx="8360190"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例１考虑资源消耗如表</a:t>
            </a:r>
            <a:r>
              <a:rPr kumimoji="1" lang="en-US" altLang="zh-CN" sz="2400" b="1">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所示。</a:t>
            </a:r>
            <a:r>
              <a:rPr kumimoji="1" lang="en-US" altLang="zh-CN" sz="2400" b="1" i="1">
                <a:solidFill>
                  <a:schemeClr val="tx2"/>
                </a:solidFill>
                <a:effectLst/>
                <a:latin typeface="Times New Roman" pitchFamily="18" charset="0"/>
              </a:rPr>
              <a:t>x</a:t>
            </a:r>
            <a:r>
              <a:rPr kumimoji="1" lang="en-US" altLang="zh-CN" sz="2400" b="1" baseline="-30000">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x</a:t>
            </a:r>
            <a:r>
              <a:rPr kumimoji="1" lang="en-US" altLang="zh-CN" sz="2400" b="1" baseline="-30000">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x</a:t>
            </a:r>
            <a:r>
              <a:rPr kumimoji="1" lang="en-US" altLang="zh-CN" sz="2400" b="1" baseline="-30000">
                <a:solidFill>
                  <a:schemeClr val="tx2"/>
                </a:solidFill>
                <a:effectLst/>
                <a:latin typeface="Times New Roman" pitchFamily="18" charset="0"/>
              </a:rPr>
              <a:t>3</a:t>
            </a:r>
            <a:r>
              <a:rPr kumimoji="1" lang="zh-CN" altLang="en-US" sz="2400" b="1">
                <a:solidFill>
                  <a:schemeClr val="tx2"/>
                </a:solidFill>
                <a:effectLst/>
                <a:latin typeface="Times New Roman" pitchFamily="18" charset="0"/>
              </a:rPr>
              <a:t>分别为甲、乙、丙的产量。</a:t>
            </a:r>
          </a:p>
        </p:txBody>
      </p:sp>
      <p:sp>
        <p:nvSpPr>
          <p:cNvPr id="70659" name="Rectangle 3"/>
          <p:cNvSpPr/>
          <p:nvPr/>
        </p:nvSpPr>
        <p:spPr>
          <a:xfrm>
            <a:off x="1000125" y="1968500"/>
            <a:ext cx="183063" cy="366126"/>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70660" name="Rectangle 4"/>
          <p:cNvSpPr/>
          <p:nvPr/>
        </p:nvSpPr>
        <p:spPr>
          <a:xfrm>
            <a:off x="323850" y="6021508"/>
            <a:ext cx="5776651" cy="39663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000" b="1">
                <a:solidFill>
                  <a:schemeClr val="tx2"/>
                </a:solidFill>
                <a:effectLst/>
                <a:latin typeface="Times New Roman" pitchFamily="18" charset="0"/>
              </a:rPr>
              <a:t>使企业在计划期内总利润最大的线性规划模型为：</a:t>
            </a:r>
          </a:p>
        </p:txBody>
      </p:sp>
      <p:sp>
        <p:nvSpPr>
          <p:cNvPr id="70661" name="Rectangle 5"/>
          <p:cNvSpPr/>
          <p:nvPr/>
        </p:nvSpPr>
        <p:spPr>
          <a:xfrm>
            <a:off x="995362" y="2463800"/>
            <a:ext cx="183063" cy="366126"/>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0662" name="Group 6"/>
          <p:cNvGraphicFramePr>
            <a:graphicFrameLocks noGrp="1"/>
          </p:cNvGraphicFramePr>
          <p:nvPr/>
        </p:nvGraphicFramePr>
        <p:xfrm>
          <a:off x="900112" y="2781300"/>
          <a:ext cx="6840537" cy="2990850"/>
        </p:xfrm>
        <a:graphic>
          <a:graphicData uri="http://schemas.openxmlformats.org/drawingml/2006/table">
            <a:tbl>
              <a:tblPr>
                <a:effectLst/>
              </a:tblPr>
              <a:tblGrid>
                <a:gridCol w="1800225"/>
                <a:gridCol w="1225550"/>
                <a:gridCol w="1147762"/>
                <a:gridCol w="1233488"/>
                <a:gridCol w="1433512"/>
              </a:tblGrid>
              <a:tr h="1006475">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r>
                        <a:rPr lang="en-US" altLang="zh-CN" sz="2000" b="1">
                          <a:solidFill>
                            <a:schemeClr val="tx2"/>
                          </a:solidFill>
                          <a:effectLst/>
                        </a:rPr>
                        <a:t>             </a:t>
                      </a:r>
                      <a:r>
                        <a:rPr lang="zh-CN" altLang="en-US" sz="2000" b="1">
                          <a:solidFill>
                            <a:schemeClr val="tx2"/>
                          </a:solidFill>
                          <a:effectLst/>
                        </a:rPr>
                        <a:t>产品</a:t>
                      </a:r>
                      <a:endParaRPr lang="zh-CN" altLang="en-US" sz="2000" b="1">
                        <a:solidFill>
                          <a:schemeClr val="tx2"/>
                        </a:solidFill>
                        <a:effectLst/>
                        <a:ea typeface="Times New Roman" pitchFamily="18" charset="0"/>
                      </a:endParaRPr>
                    </a:p>
                    <a:p>
                      <a:pPr marL="0" lvl="0" indent="0"/>
                      <a:r>
                        <a:rPr lang="zh-CN" altLang="en-US" sz="2000" b="1">
                          <a:solidFill>
                            <a:schemeClr val="tx2"/>
                          </a:solidFill>
                          <a:effectLst/>
                        </a:rPr>
                        <a:t>      </a:t>
                      </a:r>
                      <a:endParaRPr lang="zh-CN" altLang="en-US" sz="2000" b="1">
                        <a:solidFill>
                          <a:schemeClr val="tx2"/>
                        </a:solidFill>
                        <a:effectLst/>
                        <a:ea typeface="Times New Roman" pitchFamily="18" charset="0"/>
                      </a:endParaRPr>
                    </a:p>
                    <a:p>
                      <a:pPr marL="0" lvl="0" indent="0"/>
                      <a:r>
                        <a:rPr lang="zh-CN" altLang="en-US" sz="2000" b="1">
                          <a:solidFill>
                            <a:schemeClr val="tx2"/>
                          </a:solidFill>
                          <a:effectLst/>
                        </a:rPr>
                        <a:t>资源</a:t>
                      </a:r>
                    </a:p>
                  </a:txBody>
                  <a:tcPr marT="45730" marB="45730">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甲</a:t>
                      </a:r>
                    </a:p>
                  </a:txBody>
                  <a:tcPr marT="45730" marB="45730" anchor="ctr">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乙</a:t>
                      </a:r>
                    </a:p>
                  </a:txBody>
                  <a:tcPr marT="45730" marB="45730" anchor="ctr">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丙</a:t>
                      </a:r>
                    </a:p>
                  </a:txBody>
                  <a:tcPr marT="45730" marB="4573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现有资源</a:t>
                      </a:r>
                    </a:p>
                  </a:txBody>
                  <a:tcPr marT="45730" marB="45730" anchor="ctr">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设备</a:t>
                      </a:r>
                      <a:r>
                        <a:rPr lang="en-US" altLang="zh-CN" sz="2000" b="1">
                          <a:solidFill>
                            <a:schemeClr val="tx2"/>
                          </a:solidFill>
                          <a:effectLst/>
                        </a:rPr>
                        <a:t>A</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3</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1</a:t>
                      </a:r>
                    </a:p>
                  </a:txBody>
                  <a:tcPr marT="45730" marB="45730">
                    <a:lnL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2</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200</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设备</a:t>
                      </a:r>
                      <a:r>
                        <a:rPr lang="en-US" altLang="zh-CN" sz="2000" b="1">
                          <a:solidFill>
                            <a:schemeClr val="tx2"/>
                          </a:solidFill>
                          <a:effectLst/>
                        </a:rPr>
                        <a:t>B</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2</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2</a:t>
                      </a:r>
                    </a:p>
                  </a:txBody>
                  <a:tcPr marT="45730" marB="45730">
                    <a:lnL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4</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200</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材料</a:t>
                      </a:r>
                      <a:r>
                        <a:rPr lang="en-US" altLang="zh-CN" sz="2000" b="1">
                          <a:solidFill>
                            <a:schemeClr val="tx2"/>
                          </a:solidFill>
                          <a:effectLst/>
                        </a:rPr>
                        <a:t>C</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4</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5</a:t>
                      </a:r>
                    </a:p>
                  </a:txBody>
                  <a:tcPr marT="45730" marB="45730">
                    <a:lnL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1</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360</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材料</a:t>
                      </a:r>
                      <a:r>
                        <a:rPr lang="en-US" altLang="zh-CN" sz="2000" b="1">
                          <a:solidFill>
                            <a:schemeClr val="tx2"/>
                          </a:solidFill>
                          <a:effectLst/>
                        </a:rPr>
                        <a:t>D</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2</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3</a:t>
                      </a:r>
                    </a:p>
                  </a:txBody>
                  <a:tcPr marT="45730" marB="45730">
                    <a:lnL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5</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300</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solidFill>
                            <a:schemeClr val="tx2"/>
                          </a:solidFill>
                          <a:effectLst/>
                        </a:rPr>
                        <a:t>利润（元</a:t>
                      </a:r>
                      <a:r>
                        <a:rPr lang="en-US" altLang="zh-CN" sz="2000" b="1">
                          <a:solidFill>
                            <a:schemeClr val="tx2"/>
                          </a:solidFill>
                          <a:effectLst/>
                        </a:rPr>
                        <a:t>/</a:t>
                      </a:r>
                      <a:r>
                        <a:rPr lang="zh-CN" altLang="en-US" sz="2000" b="1">
                          <a:solidFill>
                            <a:schemeClr val="tx2"/>
                          </a:solidFill>
                          <a:effectLst/>
                        </a:rPr>
                        <a:t>件）</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40</a:t>
                      </a: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30</a:t>
                      </a:r>
                    </a:p>
                  </a:txBody>
                  <a:tcPr marT="45730" marB="45730">
                    <a:lnL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solidFill>
                            <a:schemeClr val="tx2"/>
                          </a:solidFill>
                          <a:effectLst/>
                        </a:rPr>
                        <a:t>50</a:t>
                      </a:r>
                    </a:p>
                  </a:txBody>
                  <a:tcPr marT="45730" marB="45730">
                    <a:lnL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30" bIns="4573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spcBef>
                          <a:spcPct val="20000"/>
                        </a:spcBef>
                      </a:pPr>
                      <a:endParaRPr lang="zh-CN" altLang="zh-CN" sz="2000" b="1">
                        <a:solidFill>
                          <a:schemeClr val="tx2"/>
                        </a:solidFill>
                        <a:effectLst/>
                      </a:endParaRPr>
                    </a:p>
                  </a:txBody>
                  <a:tcPr marT="45730" marB="45730">
                    <a:lnL w="12700" cap="flat" cmpd="sng" algn="ctr">
                      <a:solidFill>
                        <a:prstClr val="black"/>
                      </a:solidFill>
                      <a:prstDash val="solid"/>
                      <a:round/>
                      <a:headEnd type="none" w="med" len="med"/>
                      <a:tailEnd type="none" w="med" len="med"/>
                    </a:lnL>
                    <a:lnR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
        <p:nvSpPr>
          <p:cNvPr id="70709" name="Rectangle 56"/>
          <p:cNvSpPr/>
          <p:nvPr/>
        </p:nvSpPr>
        <p:spPr>
          <a:xfrm>
            <a:off x="3779334" y="2349619"/>
            <a:ext cx="1009070" cy="396636"/>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000" b="1">
                <a:solidFill>
                  <a:schemeClr val="tx2"/>
                </a:solidFill>
                <a:effectLst/>
                <a:latin typeface="Times New Roman" pitchFamily="18" charset="0"/>
              </a:rPr>
              <a:t>表</a:t>
            </a:r>
            <a:r>
              <a:rPr kumimoji="1" lang="en-US" altLang="zh-CN" sz="2000" b="1">
                <a:solidFill>
                  <a:schemeClr val="tx2"/>
                </a:solidFill>
                <a:effectLst/>
                <a:latin typeface="Times New Roman" pitchFamily="18" charset="0"/>
              </a:rPr>
              <a:t>1</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70658">
                                            <p:txEl>
                                              <p:charRg st="0" end="35"/>
                                            </p:txEl>
                                          </p:spTgt>
                                        </p:tgtEl>
                                        <p:attrNameLst>
                                          <p:attrName>style.visibility</p:attrName>
                                        </p:attrNameLst>
                                      </p:cBhvr>
                                      <p:to>
                                        <p:strVal val="visible"/>
                                      </p:to>
                                    </p:set>
                                    <p:animEffect transition="in" filter="blinds(horizontal)">
                                      <p:cBhvr additive="base">
                                        <p:cTn id="7" dur="500"/>
                                        <p:tgtEl>
                                          <p:spTgt spid="70658">
                                            <p:txEl>
                                              <p:charRg st="0" end="35"/>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grpId="0" nodeType="clickEffect">
                                  <p:stCondLst>
                                    <p:cond delay="-9223372036854775808"/>
                                  </p:stCondLst>
                                  <p:childTnLst>
                                    <p:set>
                                      <p:cBhvr additive="base">
                                        <p:cTn id="12" dur="1" fill="hold">
                                          <p:stCondLst>
                                            <p:cond delay="0"/>
                                          </p:stCondLst>
                                        </p:cTn>
                                        <p:tgtEl>
                                          <p:spTgt spid="70709"/>
                                        </p:tgtEl>
                                        <p:attrNameLst>
                                          <p:attrName>style.visibility</p:attrName>
                                        </p:attrNameLst>
                                      </p:cBhvr>
                                      <p:to>
                                        <p:strVal val="visible"/>
                                      </p:to>
                                    </p:set>
                                    <p:animEffect transition="in" filter="blinds(horizontal)">
                                      <p:cBhvr additive="base">
                                        <p:cTn id="13" dur="500"/>
                                        <p:tgtEl>
                                          <p:spTgt spid="70709"/>
                                        </p:tgtEl>
                                      </p:cBhvr>
                                    </p:animEffect>
                                  </p:childTnLst>
                                </p:cTn>
                              </p:par>
                              <p:par>
                                <p:cTn id="14" presetID="3" presetClass="entr" presetSubtype="10" fill="hold" nodeType="withEffect">
                                  <p:stCondLst>
                                    <p:cond delay="-9223372036854775808"/>
                                  </p:stCondLst>
                                  <p:childTnLst>
                                    <p:set>
                                      <p:cBhvr additive="base">
                                        <p:cTn id="15" dur="1" fill="hold">
                                          <p:stCondLst>
                                            <p:cond delay="0"/>
                                          </p:stCondLst>
                                        </p:cTn>
                                        <p:tgtEl>
                                          <p:spTgt spid="70662"/>
                                        </p:tgtEl>
                                        <p:attrNameLst>
                                          <p:attrName>style.visibility</p:attrName>
                                        </p:attrNameLst>
                                      </p:cBhvr>
                                      <p:to>
                                        <p:strVal val="visible"/>
                                      </p:to>
                                    </p:set>
                                    <p:animEffect transition="in" filter="blinds(horizontal)">
                                      <p:cBhvr additive="base">
                                        <p:cTn id="16" dur="500"/>
                                        <p:tgtEl>
                                          <p:spTgt spid="70662"/>
                                        </p:tgtEl>
                                      </p:cBhvr>
                                    </p:animEffect>
                                  </p:childTnLst>
                                </p:cTn>
                              </p:par>
                            </p:childTnLst>
                          </p:cTn>
                        </p:par>
                      </p:childTnLst>
                    </p:cTn>
                  </p:par>
                  <p:par>
                    <p:cTn id="17" fill="hold">
                      <p:stCondLst>
                        <p:cond delay="indefinite"/>
                      </p:stCondLst>
                      <p:childTnLst>
                        <p:par>
                          <p:cTn id="18" fill="hold">
                            <p:stCondLst>
                              <p:cond delay="indefinite"/>
                            </p:stCondLst>
                          </p:cTn>
                        </p:par>
                        <p:par>
                          <p:cTn id="19" fill="hold">
                            <p:stCondLst>
                              <p:cond delay="0"/>
                            </p:stCondLst>
                            <p:childTnLst>
                              <p:par>
                                <p:cTn id="20" presetID="3" presetClass="entr" presetSubtype="10" fill="hold" nodeType="clickEffect">
                                  <p:stCondLst>
                                    <p:cond delay="-9223372036854775808"/>
                                  </p:stCondLst>
                                  <p:childTnLst>
                                    <p:set>
                                      <p:cBhvr additive="base">
                                        <p:cTn id="21" dur="1" fill="hold">
                                          <p:stCondLst>
                                            <p:cond delay="0"/>
                                          </p:stCondLst>
                                        </p:cTn>
                                        <p:tgtEl>
                                          <p:spTgt spid="70660">
                                            <p:txEl>
                                              <p:charRg st="0" end="23"/>
                                            </p:txEl>
                                          </p:spTgt>
                                        </p:tgtEl>
                                        <p:attrNameLst>
                                          <p:attrName>style.visibility</p:attrName>
                                        </p:attrNameLst>
                                      </p:cBhvr>
                                      <p:to>
                                        <p:strVal val="visible"/>
                                      </p:to>
                                    </p:set>
                                    <p:animEffect transition="in" filter="blinds(horizontal)">
                                      <p:cBhvr additive="base">
                                        <p:cTn id="22" dur="500"/>
                                        <p:tgtEl>
                                          <p:spTgt spid="70660">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09" grpId="0"/>
    </p:bldLst>
  </p:timing>
</p:sld>
</file>

<file path=ppt/slides/slide6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graphicFrame>
        <p:nvGraphicFramePr>
          <p:cNvPr id="71682" name="Object 2"/>
          <p:cNvGraphicFramePr>
            <a:graphicFrameLocks noChangeAspect="1"/>
          </p:cNvGraphicFramePr>
          <p:nvPr/>
        </p:nvGraphicFramePr>
        <p:xfrm>
          <a:off x="971550" y="908050"/>
          <a:ext cx="3887788" cy="468312"/>
        </p:xfrm>
        <a:graphic>
          <a:graphicData uri="http://schemas.openxmlformats.org/presentationml/2006/ole">
            <mc:AlternateContent xmlns:mc="http://schemas.openxmlformats.org/markup-compatibility/2006">
              <mc:Choice xmlns:v="urn:schemas-microsoft-com:vml" Requires="v">
                <p:oleObj spid="_x0000_s1107" name="公式" r:id="rId2" progId="Equation.3">
                  <p:embed/>
                </p:oleObj>
              </mc:Choice>
              <mc:Fallback>
                <p:oleObj spid="_x0000_s1107" name="公式" r:id="rId2" progId="Equation.3">
                  <p:embed/>
                  <p:pic>
                    <p:nvPicPr>
                      <p:cNvPr id="0" name="OLE substitute image"/>
                      <p:cNvPicPr/>
                      <p:nvPr/>
                    </p:nvPicPr>
                    <p:blipFill>
                      <a:blip r:embed="rId3"/>
                      <a:stretch/>
                    </p:blipFill>
                    <p:spPr>
                      <a:xfrm>
                        <a:off x="971550" y="908050"/>
                        <a:ext cx="3887788" cy="468312"/>
                      </a:xfrm>
                      <a:prstGeom prst="rect">
                        <a:avLst/>
                      </a:prstGeom>
                      <a:noFill/>
                      <a:effectLst/>
                    </p:spPr>
                  </p:pic>
                </p:oleObj>
              </mc:Fallback>
            </mc:AlternateContent>
          </a:graphicData>
        </a:graphic>
      </p:graphicFrame>
      <p:graphicFrame>
        <p:nvGraphicFramePr>
          <p:cNvPr id="71683" name="Object 3"/>
          <p:cNvGraphicFramePr>
            <a:graphicFrameLocks noChangeAspect="1"/>
          </p:cNvGraphicFramePr>
          <p:nvPr/>
        </p:nvGraphicFramePr>
        <p:xfrm>
          <a:off x="1187450" y="1412875"/>
          <a:ext cx="2922588" cy="2368550"/>
        </p:xfrm>
        <a:graphic>
          <a:graphicData uri="http://schemas.openxmlformats.org/presentationml/2006/ole">
            <mc:AlternateContent xmlns:mc="http://schemas.openxmlformats.org/markup-compatibility/2006">
              <mc:Choice xmlns:v="urn:schemas-microsoft-com:vml" Requires="v">
                <p:oleObj spid="_x0000_s1108" name="公式" r:id="rId4" progId="Equation.3">
                  <p:embed/>
                </p:oleObj>
              </mc:Choice>
              <mc:Fallback>
                <p:oleObj spid="_x0000_s1108" name="公式" r:id="rId4" progId="Equation.3">
                  <p:embed/>
                  <p:pic>
                    <p:nvPicPr>
                      <p:cNvPr id="0" name="OLE substitute image"/>
                      <p:cNvPicPr/>
                      <p:nvPr/>
                    </p:nvPicPr>
                    <p:blipFill>
                      <a:blip r:embed="rId5"/>
                      <a:stretch/>
                    </p:blipFill>
                    <p:spPr>
                      <a:xfrm>
                        <a:off x="1187450" y="1412875"/>
                        <a:ext cx="2922588" cy="2368550"/>
                      </a:xfrm>
                      <a:prstGeom prst="rect">
                        <a:avLst/>
                      </a:prstGeom>
                      <a:noFill/>
                      <a:effectLst/>
                    </p:spPr>
                  </p:pic>
                </p:oleObj>
              </mc:Fallback>
            </mc:AlternateContent>
          </a:graphicData>
        </a:graphic>
      </p:graphicFrame>
      <p:sp>
        <p:nvSpPr>
          <p:cNvPr id="71684" name="Rectangle 4"/>
          <p:cNvSpPr/>
          <p:nvPr/>
        </p:nvSpPr>
        <p:spPr>
          <a:xfrm>
            <a:off x="323850" y="4436834"/>
            <a:ext cx="7387669" cy="457657"/>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最优解</a:t>
            </a:r>
            <a:r>
              <a:rPr kumimoji="1" lang="en-US" altLang="zh-CN" sz="2400" b="1">
                <a:solidFill>
                  <a:schemeClr val="tx2"/>
                </a:solidFill>
                <a:effectLst/>
                <a:latin typeface="Times New Roman" pitchFamily="18" charset="0"/>
              </a:rPr>
              <a:t>X</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50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10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Z</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3400</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71682"/>
                                        </p:tgtEl>
                                        <p:attrNameLst>
                                          <p:attrName>style.visibility</p:attrName>
                                        </p:attrNameLst>
                                      </p:cBhvr>
                                      <p:to>
                                        <p:strVal val="visible"/>
                                      </p:to>
                                    </p:set>
                                    <p:animEffect transition="in" filter="wipe(left)">
                                      <p:cBhvr additive="base">
                                        <p:cTn id="7" dur="2000"/>
                                        <p:tgtEl>
                                          <p:spTgt spid="71682"/>
                                        </p:tgtEl>
                                      </p:cBhvr>
                                    </p:animEffect>
                                  </p:childTnLst>
                                </p:cTn>
                              </p:par>
                            </p:childTnLst>
                          </p:cTn>
                        </p:par>
                        <p:par>
                          <p:cTn id="8" fill="hold">
                            <p:stCondLst>
                              <p:cond delay="2000"/>
                            </p:stCondLst>
                            <p:childTnLst>
                              <p:par>
                                <p:cTn id="9" presetID="22" presetClass="entr" presetSubtype="1" fill="hold" nodeType="afterEffect">
                                  <p:stCondLst>
                                    <p:cond delay="-9223372036854775808"/>
                                  </p:stCondLst>
                                  <p:childTnLst>
                                    <p:set>
                                      <p:cBhvr additive="base">
                                        <p:cTn id="10" dur="1" fill="hold">
                                          <p:stCondLst>
                                            <p:cond delay="0"/>
                                          </p:stCondLst>
                                        </p:cTn>
                                        <p:tgtEl>
                                          <p:spTgt spid="71683"/>
                                        </p:tgtEl>
                                        <p:attrNameLst>
                                          <p:attrName>style.visibility</p:attrName>
                                        </p:attrNameLst>
                                      </p:cBhvr>
                                      <p:to>
                                        <p:strVal val="visible"/>
                                      </p:to>
                                    </p:set>
                                    <p:animEffect transition="in" filter="wipe(up)">
                                      <p:cBhvr additive="base">
                                        <p:cTn id="11" dur="2000"/>
                                        <p:tgtEl>
                                          <p:spTgt spid="71683"/>
                                        </p:tgtEl>
                                      </p:cBhvr>
                                    </p:animEffect>
                                  </p:childTnLst>
                                </p:cTn>
                              </p:par>
                            </p:childTnLst>
                          </p:cTn>
                        </p:par>
                      </p:childTnLst>
                    </p:cTn>
                  </p:par>
                  <p:par>
                    <p:cTn id="12" fill="hold">
                      <p:stCondLst>
                        <p:cond delay="indefinite"/>
                        <p:cond evt="onBegin" delay="0">
                          <p:tn val="11"/>
                        </p:cond>
                      </p:stCondLst>
                      <p:childTnLst>
                        <p:par>
                          <p:cTn id="13" fill="hold">
                            <p:stCondLst>
                              <p:cond delay="indefinite"/>
                            </p:stCondLst>
                          </p:cTn>
                        </p:par>
                        <p:par>
                          <p:cTn id="14" fill="hold">
                            <p:stCondLst>
                              <p:cond delay="0"/>
                            </p:stCondLst>
                            <p:childTnLst>
                              <p:par>
                                <p:cTn id="15" presetID="22" presetClass="entr" presetSubtype="8" fill="hold" nodeType="clickEffect">
                                  <p:stCondLst>
                                    <p:cond delay="-9223372036854775808"/>
                                  </p:stCondLst>
                                  <p:childTnLst>
                                    <p:set>
                                      <p:cBhvr additive="base">
                                        <p:cTn id="16" dur="1" fill="hold">
                                          <p:stCondLst>
                                            <p:cond delay="0"/>
                                          </p:stCondLst>
                                        </p:cTn>
                                        <p:tgtEl>
                                          <p:spTgt spid="71684">
                                            <p:txEl>
                                              <p:charRg st="0" end="23"/>
                                            </p:txEl>
                                          </p:spTgt>
                                        </p:tgtEl>
                                        <p:attrNameLst>
                                          <p:attrName>style.visibility</p:attrName>
                                        </p:attrNameLst>
                                      </p:cBhvr>
                                      <p:to>
                                        <p:strVal val="visible"/>
                                      </p:to>
                                    </p:set>
                                    <p:animEffect transition="in" filter="wipe(left)">
                                      <p:cBhvr additive="base">
                                        <p:cTn id="17" dur="2000"/>
                                        <p:tgtEl>
                                          <p:spTgt spid="71684">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2706" name="Rectangle 2"/>
          <p:cNvSpPr/>
          <p:nvPr/>
        </p:nvSpPr>
        <p:spPr>
          <a:xfrm>
            <a:off x="323850" y="755881"/>
            <a:ext cx="8577895" cy="3606340"/>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266700" eaLnBrk="1" hangingPunct="1">
              <a:lnSpc>
                <a:spcPct val="120000"/>
              </a:lnSpc>
            </a:pPr>
            <a:r>
              <a:rPr kumimoji="1" lang="en-US" altLang="zh-CN" sz="2000">
                <a:effectLst/>
                <a:latin typeface="Times New Roman" pitchFamily="18" charset="0"/>
              </a:rPr>
              <a:t>    </a:t>
            </a:r>
            <a:r>
              <a:rPr kumimoji="1" lang="zh-CN" altLang="en-US" sz="2400" b="1">
                <a:solidFill>
                  <a:schemeClr val="tx2"/>
                </a:solidFill>
                <a:effectLst/>
                <a:latin typeface="Times New Roman" pitchFamily="18" charset="0"/>
              </a:rPr>
              <a:t>现在决策者根据企业的实际情况和市场需求，需要重新制定经营目标，其目标的优先顺序是：</a:t>
            </a:r>
          </a:p>
          <a:p>
            <a:pPr marL="0" lvl="0" indent="266700" eaLnBrk="1" hangingPunct="1">
              <a:lnSpc>
                <a:spcPct val="120000"/>
              </a:lnSpc>
            </a:pP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）利润不少于</a:t>
            </a:r>
            <a:r>
              <a:rPr kumimoji="1" lang="en-US" altLang="zh-CN" sz="2400" b="1">
                <a:solidFill>
                  <a:schemeClr val="tx2"/>
                </a:solidFill>
                <a:effectLst/>
                <a:latin typeface="Times New Roman" pitchFamily="18" charset="0"/>
              </a:rPr>
              <a:t>3200</a:t>
            </a:r>
            <a:r>
              <a:rPr kumimoji="1" lang="zh-CN" altLang="en-US" sz="2400" b="1">
                <a:solidFill>
                  <a:schemeClr val="tx2"/>
                </a:solidFill>
                <a:effectLst/>
                <a:latin typeface="Times New Roman" pitchFamily="18" charset="0"/>
              </a:rPr>
              <a:t>元；</a:t>
            </a:r>
          </a:p>
          <a:p>
            <a:pPr marL="0" lvl="0" indent="266700" eaLnBrk="1" hangingPunct="1">
              <a:lnSpc>
                <a:spcPct val="120000"/>
              </a:lnSpc>
            </a:pP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）产品甲与产品乙的产量比例尽量不超过</a:t>
            </a:r>
            <a:r>
              <a:rPr kumimoji="1" lang="en-US" altLang="zh-CN" sz="2400" b="1">
                <a:solidFill>
                  <a:schemeClr val="tx2"/>
                </a:solidFill>
                <a:effectLst/>
                <a:latin typeface="Times New Roman" pitchFamily="18" charset="0"/>
              </a:rPr>
              <a:t>1.5</a:t>
            </a:r>
            <a:r>
              <a:rPr kumimoji="1" lang="zh-CN" altLang="en-US" sz="2400" b="1">
                <a:solidFill>
                  <a:schemeClr val="tx2"/>
                </a:solidFill>
                <a:effectLst/>
                <a:latin typeface="Times New Roman" pitchFamily="18" charset="0"/>
              </a:rPr>
              <a:t>；</a:t>
            </a:r>
            <a:endParaRPr kumimoji="1" lang="en-US" altLang="zh-CN" sz="2400" b="1">
              <a:solidFill>
                <a:schemeClr val="tx2"/>
              </a:solidFill>
              <a:effectLst/>
              <a:latin typeface="Times New Roman" pitchFamily="18" charset="0"/>
            </a:endParaRPr>
          </a:p>
          <a:p>
            <a:pPr marL="0" lvl="0" indent="266700" eaLnBrk="1" hangingPunct="1">
              <a:lnSpc>
                <a:spcPct val="120000"/>
              </a:lnSpc>
            </a:pP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a:t>
            </a:r>
            <a:r>
              <a:rPr kumimoji="1" lang="zh-CN" altLang="en-US" sz="2400" b="1">
                <a:solidFill>
                  <a:schemeClr val="tx2"/>
                </a:solidFill>
                <a:effectLst/>
                <a:latin typeface="Times New Roman" pitchFamily="18" charset="0"/>
              </a:rPr>
              <a:t>）提高产品丙的产量使之达到</a:t>
            </a:r>
            <a:r>
              <a:rPr kumimoji="1" lang="en-US" altLang="zh-CN" sz="2400" b="1">
                <a:solidFill>
                  <a:schemeClr val="tx2"/>
                </a:solidFill>
                <a:effectLst/>
                <a:latin typeface="Times New Roman" pitchFamily="18" charset="0"/>
              </a:rPr>
              <a:t>30</a:t>
            </a:r>
            <a:r>
              <a:rPr kumimoji="1" lang="zh-CN" altLang="en-US" sz="2400" b="1">
                <a:solidFill>
                  <a:schemeClr val="tx2"/>
                </a:solidFill>
                <a:effectLst/>
                <a:latin typeface="Times New Roman" pitchFamily="18" charset="0"/>
              </a:rPr>
              <a:t>件；</a:t>
            </a:r>
          </a:p>
          <a:p>
            <a:pPr marL="0" lvl="0" indent="266700" eaLnBrk="1" hangingPunct="1">
              <a:lnSpc>
                <a:spcPct val="120000"/>
              </a:lnSpc>
            </a:pP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4</a:t>
            </a:r>
            <a:r>
              <a:rPr kumimoji="1" lang="zh-CN" altLang="en-US" sz="2400" b="1">
                <a:solidFill>
                  <a:schemeClr val="tx2"/>
                </a:solidFill>
                <a:effectLst/>
                <a:latin typeface="Times New Roman" pitchFamily="18" charset="0"/>
              </a:rPr>
              <a:t>）设备加工能力不足可以加班解决，能不加班最好不加班；</a:t>
            </a:r>
          </a:p>
          <a:p>
            <a:pPr marL="0" lvl="0" indent="266700" eaLnBrk="1" hangingPunct="1">
              <a:lnSpc>
                <a:spcPct val="120000"/>
              </a:lnSpc>
            </a:pP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5</a:t>
            </a:r>
            <a:r>
              <a:rPr kumimoji="1" lang="zh-CN" altLang="en-US" sz="2400" b="1">
                <a:solidFill>
                  <a:schemeClr val="tx2"/>
                </a:solidFill>
                <a:effectLst/>
                <a:latin typeface="Times New Roman" pitchFamily="18" charset="0"/>
              </a:rPr>
              <a:t>）受到资金的限制，只能使用现有材料不能再购进。</a:t>
            </a:r>
          </a:p>
        </p:txBody>
      </p:sp>
      <p:sp>
        <p:nvSpPr>
          <p:cNvPr id="72707" name="Rectangle 3"/>
          <p:cNvSpPr/>
          <p:nvPr/>
        </p:nvSpPr>
        <p:spPr>
          <a:xfrm>
            <a:off x="323850" y="4291872"/>
            <a:ext cx="8433287"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解：设甲、乙、丙产品的产量分别为</a:t>
            </a:r>
            <a:r>
              <a:rPr kumimoji="1" lang="en-US" altLang="zh-CN" sz="2400" b="1" i="1">
                <a:solidFill>
                  <a:schemeClr val="tx2"/>
                </a:solidFill>
                <a:effectLst/>
                <a:latin typeface="Times New Roman" pitchFamily="18" charset="0"/>
              </a:rPr>
              <a:t>x</a:t>
            </a:r>
            <a:r>
              <a:rPr kumimoji="1" lang="en-US" altLang="zh-CN" sz="2400" b="1" baseline="-25000">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x</a:t>
            </a:r>
            <a:r>
              <a:rPr kumimoji="1" lang="en-US" altLang="zh-CN" sz="2400" b="1" baseline="-25000">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x</a:t>
            </a:r>
            <a:r>
              <a:rPr kumimoji="1" lang="en-US" altLang="zh-CN" sz="2400" b="1" baseline="-25000">
                <a:solidFill>
                  <a:schemeClr val="tx2"/>
                </a:solidFill>
                <a:effectLst/>
                <a:latin typeface="Times New Roman" pitchFamily="18" charset="0"/>
              </a:rPr>
              <a:t>3</a:t>
            </a:r>
            <a:r>
              <a:rPr kumimoji="1" lang="zh-CN" altLang="en-US" sz="2400" b="1">
                <a:solidFill>
                  <a:schemeClr val="tx2"/>
                </a:solidFill>
                <a:effectLst/>
                <a:latin typeface="Times New Roman" pitchFamily="18" charset="0"/>
              </a:rPr>
              <a:t>。如果按线性规划建模思路，最优解实质是求下列一组不等式的解</a:t>
            </a:r>
          </a:p>
        </p:txBody>
      </p:sp>
      <p:sp>
        <p:nvSpPr>
          <p:cNvPr id="72708" name="Rectangle 4"/>
          <p:cNvSpPr/>
          <p:nvPr/>
        </p:nvSpPr>
        <p:spPr>
          <a:xfrm>
            <a:off x="0" y="2341062"/>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72709" name="Rectangle 5"/>
          <p:cNvSpPr/>
          <p:nvPr/>
        </p:nvSpPr>
        <p:spPr>
          <a:xfrm>
            <a:off x="0" y="4150812"/>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72706">
                                            <p:txEl>
                                              <p:charRg st="0" end="46"/>
                                            </p:txEl>
                                          </p:spTgt>
                                        </p:tgtEl>
                                        <p:attrNameLst>
                                          <p:attrName>style.visibility</p:attrName>
                                        </p:attrNameLst>
                                      </p:cBhvr>
                                      <p:to>
                                        <p:strVal val="visible"/>
                                      </p:to>
                                    </p:set>
                                    <p:animEffect transition="in" filter="wipe(left)">
                                      <p:cBhvr additive="base">
                                        <p:cTn id="7" dur="2000"/>
                                        <p:tgtEl>
                                          <p:spTgt spid="72706">
                                            <p:txEl>
                                              <p:charRg st="0" end="46"/>
                                            </p:txEl>
                                          </p:spTgt>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72706">
                                            <p:txEl>
                                              <p:charRg st="46" end="61"/>
                                            </p:txEl>
                                          </p:spTgt>
                                        </p:tgtEl>
                                        <p:attrNameLst>
                                          <p:attrName>style.visibility</p:attrName>
                                        </p:attrNameLst>
                                      </p:cBhvr>
                                      <p:to>
                                        <p:strVal val="visible"/>
                                      </p:to>
                                    </p:set>
                                    <p:animEffect transition="in" filter="wipe(left)">
                                      <p:cBhvr additive="base">
                                        <p:cTn id="13" dur="2000"/>
                                        <p:tgtEl>
                                          <p:spTgt spid="72706">
                                            <p:txEl>
                                              <p:charRg st="46" end="61"/>
                                            </p:txEl>
                                          </p:spTgt>
                                        </p:tgtEl>
                                      </p:cBhvr>
                                    </p:animEffect>
                                  </p:childTnLst>
                                </p:cTn>
                              </p:par>
                            </p:childTnLst>
                          </p:cTn>
                        </p:par>
                        <p:par>
                          <p:cTn id="14" fill="hold">
                            <p:stCondLst>
                              <p:cond delay="2000"/>
                            </p:stCondLst>
                            <p:childTnLst>
                              <p:par>
                                <p:cTn id="15" presetID="22" presetClass="entr" presetSubtype="8" fill="hold" nodeType="afterEffect">
                                  <p:stCondLst>
                                    <p:cond delay="-9223372036854775808"/>
                                  </p:stCondLst>
                                  <p:childTnLst>
                                    <p:set>
                                      <p:cBhvr additive="base">
                                        <p:cTn id="16" dur="1" fill="hold">
                                          <p:stCondLst>
                                            <p:cond delay="0"/>
                                          </p:stCondLst>
                                        </p:cTn>
                                        <p:tgtEl>
                                          <p:spTgt spid="72706">
                                            <p:txEl>
                                              <p:charRg st="61" end="86"/>
                                            </p:txEl>
                                          </p:spTgt>
                                        </p:tgtEl>
                                        <p:attrNameLst>
                                          <p:attrName>style.visibility</p:attrName>
                                        </p:attrNameLst>
                                      </p:cBhvr>
                                      <p:to>
                                        <p:strVal val="visible"/>
                                      </p:to>
                                    </p:set>
                                    <p:animEffect transition="in" filter="wipe(left)">
                                      <p:cBhvr additive="base">
                                        <p:cTn id="17" dur="2000"/>
                                        <p:tgtEl>
                                          <p:spTgt spid="72706">
                                            <p:txEl>
                                              <p:charRg st="61" end="86"/>
                                            </p:txEl>
                                          </p:spTgt>
                                        </p:tgtEl>
                                      </p:cBhvr>
                                    </p:animEffect>
                                  </p:childTnLst>
                                </p:cTn>
                              </p:par>
                            </p:childTnLst>
                          </p:cTn>
                        </p:par>
                        <p:par>
                          <p:cTn id="18" fill="hold">
                            <p:stCondLst>
                              <p:cond delay="4000"/>
                            </p:stCondLst>
                            <p:childTnLst>
                              <p:par>
                                <p:cTn id="19" presetID="22" presetClass="entr" presetSubtype="8" fill="hold" nodeType="afterEffect">
                                  <p:stCondLst>
                                    <p:cond delay="-9223372036854775808"/>
                                  </p:stCondLst>
                                  <p:childTnLst>
                                    <p:set>
                                      <p:cBhvr additive="base">
                                        <p:cTn id="20" dur="1" fill="hold">
                                          <p:stCondLst>
                                            <p:cond delay="0"/>
                                          </p:stCondLst>
                                        </p:cTn>
                                        <p:tgtEl>
                                          <p:spTgt spid="72706">
                                            <p:txEl>
                                              <p:charRg st="86" end="106"/>
                                            </p:txEl>
                                          </p:spTgt>
                                        </p:tgtEl>
                                        <p:attrNameLst>
                                          <p:attrName>style.visibility</p:attrName>
                                        </p:attrNameLst>
                                      </p:cBhvr>
                                      <p:to>
                                        <p:strVal val="visible"/>
                                      </p:to>
                                    </p:set>
                                    <p:animEffect transition="in" filter="wipe(left)">
                                      <p:cBhvr additive="base">
                                        <p:cTn id="21" dur="2000"/>
                                        <p:tgtEl>
                                          <p:spTgt spid="72706">
                                            <p:txEl>
                                              <p:charRg st="86" end="106"/>
                                            </p:txEl>
                                          </p:spTgt>
                                        </p:tgtEl>
                                      </p:cBhvr>
                                    </p:animEffect>
                                  </p:childTnLst>
                                </p:cTn>
                              </p:par>
                            </p:childTnLst>
                          </p:cTn>
                        </p:par>
                        <p:par>
                          <p:cTn id="22" fill="hold">
                            <p:stCondLst>
                              <p:cond delay="6000"/>
                            </p:stCondLst>
                            <p:childTnLst>
                              <p:par>
                                <p:cTn id="23" presetID="22" presetClass="entr" presetSubtype="8" fill="hold" nodeType="afterEffect">
                                  <p:stCondLst>
                                    <p:cond delay="-9223372036854775808"/>
                                  </p:stCondLst>
                                  <p:childTnLst>
                                    <p:set>
                                      <p:cBhvr additive="base">
                                        <p:cTn id="24" dur="1" fill="hold">
                                          <p:stCondLst>
                                            <p:cond delay="0"/>
                                          </p:stCondLst>
                                        </p:cTn>
                                        <p:tgtEl>
                                          <p:spTgt spid="72706">
                                            <p:txEl>
                                              <p:charRg st="106" end="135"/>
                                            </p:txEl>
                                          </p:spTgt>
                                        </p:tgtEl>
                                        <p:attrNameLst>
                                          <p:attrName>style.visibility</p:attrName>
                                        </p:attrNameLst>
                                      </p:cBhvr>
                                      <p:to>
                                        <p:strVal val="visible"/>
                                      </p:to>
                                    </p:set>
                                    <p:animEffect transition="in" filter="wipe(left)">
                                      <p:cBhvr additive="base">
                                        <p:cTn id="25" dur="2000"/>
                                        <p:tgtEl>
                                          <p:spTgt spid="72706">
                                            <p:txEl>
                                              <p:charRg st="106" end="135"/>
                                            </p:txEl>
                                          </p:spTgt>
                                        </p:tgtEl>
                                      </p:cBhvr>
                                    </p:animEffect>
                                  </p:childTnLst>
                                </p:cTn>
                              </p:par>
                            </p:childTnLst>
                          </p:cTn>
                        </p:par>
                        <p:par>
                          <p:cTn id="26" fill="hold">
                            <p:stCondLst>
                              <p:cond delay="8000"/>
                            </p:stCondLst>
                            <p:childTnLst>
                              <p:par>
                                <p:cTn id="27" presetID="22" presetClass="entr" presetSubtype="8" fill="hold" nodeType="afterEffect">
                                  <p:stCondLst>
                                    <p:cond delay="-9223372036854775808"/>
                                  </p:stCondLst>
                                  <p:childTnLst>
                                    <p:set>
                                      <p:cBhvr additive="base">
                                        <p:cTn id="28" dur="1" fill="hold">
                                          <p:stCondLst>
                                            <p:cond delay="0"/>
                                          </p:stCondLst>
                                        </p:cTn>
                                        <p:tgtEl>
                                          <p:spTgt spid="72706">
                                            <p:txEl>
                                              <p:charRg st="135" end="161"/>
                                            </p:txEl>
                                          </p:spTgt>
                                        </p:tgtEl>
                                        <p:attrNameLst>
                                          <p:attrName>style.visibility</p:attrName>
                                        </p:attrNameLst>
                                      </p:cBhvr>
                                      <p:to>
                                        <p:strVal val="visible"/>
                                      </p:to>
                                    </p:set>
                                    <p:animEffect transition="in" filter="wipe(left)">
                                      <p:cBhvr additive="base">
                                        <p:cTn id="29" dur="2000"/>
                                        <p:tgtEl>
                                          <p:spTgt spid="72706">
                                            <p:txEl>
                                              <p:charRg st="135" end="161"/>
                                            </p:txEl>
                                          </p:spTgt>
                                        </p:tgtEl>
                                      </p:cBhvr>
                                    </p:animEffect>
                                  </p:childTnLst>
                                </p:cTn>
                              </p:par>
                            </p:childTnLst>
                          </p:cTn>
                        </p:par>
                      </p:childTnLst>
                    </p:cTn>
                  </p:par>
                  <p:par>
                    <p:cTn id="30" fill="hold">
                      <p:stCondLst>
                        <p:cond delay="indefinite"/>
                        <p:cond evt="onBegin" delay="0">
                          <p:tn val="29"/>
                        </p:cond>
                      </p:stCondLst>
                      <p:childTnLst>
                        <p:par>
                          <p:cTn id="31" fill="hold">
                            <p:stCondLst>
                              <p:cond delay="indefinite"/>
                            </p:stCondLst>
                          </p:cTn>
                        </p:par>
                        <p:par>
                          <p:cTn id="32" fill="hold">
                            <p:stCondLst>
                              <p:cond delay="0"/>
                            </p:stCondLst>
                            <p:childTnLst>
                              <p:par>
                                <p:cTn id="33" presetID="22" presetClass="entr" presetSubtype="8" fill="hold" grpId="0" nodeType="clickEffect">
                                  <p:stCondLst>
                                    <p:cond delay="-9223372036854775808"/>
                                  </p:stCondLst>
                                  <p:childTnLst>
                                    <p:set>
                                      <p:cBhvr additive="base">
                                        <p:cTn id="34" dur="1" fill="hold">
                                          <p:stCondLst>
                                            <p:cond delay="0"/>
                                          </p:stCondLst>
                                        </p:cTn>
                                        <p:tgtEl>
                                          <p:spTgt spid="72707"/>
                                        </p:tgtEl>
                                        <p:attrNameLst>
                                          <p:attrName>style.visibility</p:attrName>
                                        </p:attrNameLst>
                                      </p:cBhvr>
                                      <p:to>
                                        <p:strVal val="visible"/>
                                      </p:to>
                                    </p:set>
                                    <p:animEffect transition="in" filter="wipe(left)">
                                      <p:cBhvr additive="base">
                                        <p:cTn id="35" dur="2000"/>
                                        <p:tgtEl>
                                          <p:spTgt spid="72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p:bldLst>
  </p:timing>
</p:sld>
</file>

<file path=ppt/slides/slide7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3730" name="Rectangle 2"/>
          <p:cNvSpPr/>
          <p:nvPr/>
        </p:nvSpPr>
        <p:spPr>
          <a:xfrm>
            <a:off x="0" y="2341062"/>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3731" name="Object 3"/>
          <p:cNvGraphicFramePr>
            <a:graphicFrameLocks noChangeAspect="1"/>
          </p:cNvGraphicFramePr>
          <p:nvPr/>
        </p:nvGraphicFramePr>
        <p:xfrm>
          <a:off x="2195512" y="836612"/>
          <a:ext cx="2859088" cy="2952750"/>
        </p:xfrm>
        <a:graphic>
          <a:graphicData uri="http://schemas.openxmlformats.org/presentationml/2006/ole">
            <mc:AlternateContent xmlns:mc="http://schemas.openxmlformats.org/markup-compatibility/2006">
              <mc:Choice xmlns:v="urn:schemas-microsoft-com:vml" Requires="v">
                <p:oleObj spid="_x0000_s1109" name="Equation" r:id="rId2" progId="Equation.DSMT4">
                  <p:embed/>
                </p:oleObj>
              </mc:Choice>
              <mc:Fallback>
                <p:oleObj spid="_x0000_s1109" name="Equation" r:id="rId2" progId="Equation.DSMT4">
                  <p:embed/>
                  <p:pic>
                    <p:nvPicPr>
                      <p:cNvPr id="0" name="OLE substitute image"/>
                      <p:cNvPicPr/>
                      <p:nvPr/>
                    </p:nvPicPr>
                    <p:blipFill>
                      <a:blip r:embed="rId3"/>
                      <a:stretch/>
                    </p:blipFill>
                    <p:spPr>
                      <a:xfrm>
                        <a:off x="2195512" y="836612"/>
                        <a:ext cx="2859088" cy="2952750"/>
                      </a:xfrm>
                      <a:prstGeom prst="rect">
                        <a:avLst/>
                      </a:prstGeom>
                      <a:noFill/>
                      <a:effectLst/>
                    </p:spPr>
                  </p:pic>
                </p:oleObj>
              </mc:Fallback>
            </mc:AlternateContent>
          </a:graphicData>
        </a:graphic>
      </p:graphicFrame>
      <p:sp>
        <p:nvSpPr>
          <p:cNvPr id="73732" name="Rectangle 4"/>
          <p:cNvSpPr/>
          <p:nvPr/>
        </p:nvSpPr>
        <p:spPr>
          <a:xfrm>
            <a:off x="0" y="4150812"/>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73733" name="Rectangle 5"/>
          <p:cNvSpPr/>
          <p:nvPr/>
        </p:nvSpPr>
        <p:spPr>
          <a:xfrm>
            <a:off x="323850" y="3932595"/>
            <a:ext cx="8396739" cy="1189909"/>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通过计算不等式无解，即使设备加班</a:t>
            </a:r>
            <a:r>
              <a:rPr kumimoji="1" lang="en-US" altLang="zh-CN" sz="2400" b="1">
                <a:solidFill>
                  <a:schemeClr val="tx2"/>
                </a:solidFill>
                <a:effectLst/>
                <a:latin typeface="Times New Roman" pitchFamily="18" charset="0"/>
              </a:rPr>
              <a:t>10</a:t>
            </a:r>
            <a:r>
              <a:rPr kumimoji="1" lang="zh-CN" altLang="en-US" sz="2400" b="1">
                <a:solidFill>
                  <a:schemeClr val="tx2"/>
                </a:solidFill>
                <a:effectLst/>
                <a:latin typeface="Times New Roman" pitchFamily="18" charset="0"/>
              </a:rPr>
              <a:t>小时仍然无解．在实际生产过程中生产方案总是存在的，无解只能说明在现有资源条件下，不可能完全满足所有经营目标．</a:t>
            </a:r>
          </a:p>
        </p:txBody>
      </p:sp>
      <p:sp>
        <p:nvSpPr>
          <p:cNvPr id="73734" name="Rectangle 6"/>
          <p:cNvSpPr/>
          <p:nvPr/>
        </p:nvSpPr>
        <p:spPr>
          <a:xfrm>
            <a:off x="323850" y="5194158"/>
            <a:ext cx="8433287" cy="1556035"/>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这种情形是按事先制定的目标顺序逐项检查，尽可能使得结果达到预定目标，即使不能达到目标也使得离目标的差距最小，这就是目标规划的求解思路，对应的解称为满意解．下面建立例</a:t>
            </a:r>
            <a:r>
              <a:rPr kumimoji="1" lang="en-US" altLang="zh-CN" sz="2400" b="1">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的目标规划数学模型． </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9223372036854775808"/>
                                  </p:stCondLst>
                                  <p:childTnLst>
                                    <p:set>
                                      <p:cBhvr additive="base">
                                        <p:cTn id="6" dur="1" fill="hold">
                                          <p:stCondLst>
                                            <p:cond delay="0"/>
                                          </p:stCondLst>
                                        </p:cTn>
                                        <p:tgtEl>
                                          <p:spTgt spid="73731"/>
                                        </p:tgtEl>
                                        <p:attrNameLst>
                                          <p:attrName>style.visibility</p:attrName>
                                        </p:attrNameLst>
                                      </p:cBhvr>
                                      <p:to>
                                        <p:strVal val="visible"/>
                                      </p:to>
                                    </p:set>
                                    <p:animEffect transition="in" filter="wipe(up)">
                                      <p:cBhvr additive="base">
                                        <p:cTn id="7" dur="2000"/>
                                        <p:tgtEl>
                                          <p:spTgt spid="73731"/>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1" fill="hold" nodeType="clickEffect">
                                  <p:stCondLst>
                                    <p:cond delay="-9223372036854775808"/>
                                  </p:stCondLst>
                                  <p:childTnLst>
                                    <p:set>
                                      <p:cBhvr additive="base">
                                        <p:cTn id="12" dur="1" fill="hold">
                                          <p:stCondLst>
                                            <p:cond delay="0"/>
                                          </p:stCondLst>
                                        </p:cTn>
                                        <p:tgtEl>
                                          <p:spTgt spid="73733">
                                            <p:txEl>
                                              <p:charRg st="0" end="73"/>
                                            </p:txEl>
                                          </p:spTgt>
                                        </p:tgtEl>
                                        <p:attrNameLst>
                                          <p:attrName>style.visibility</p:attrName>
                                        </p:attrNameLst>
                                      </p:cBhvr>
                                      <p:to>
                                        <p:strVal val="visible"/>
                                      </p:to>
                                    </p:set>
                                    <p:animEffect transition="in" filter="wipe(up)">
                                      <p:cBhvr additive="base">
                                        <p:cTn id="13" dur="2000"/>
                                        <p:tgtEl>
                                          <p:spTgt spid="73733">
                                            <p:txEl>
                                              <p:charRg st="0" end="73"/>
                                            </p:txEl>
                                          </p:spTgt>
                                        </p:tgtEl>
                                      </p:cBhvr>
                                    </p:animEffect>
                                  </p:childTnLst>
                                </p:cTn>
                              </p:par>
                            </p:childTnLst>
                          </p:cTn>
                        </p:par>
                      </p:childTnLst>
                    </p:cTn>
                  </p:par>
                  <p:par>
                    <p:cTn id="14" fill="hold">
                      <p:stCondLst>
                        <p:cond delay="indefinite"/>
                        <p:cond evt="onBegin" delay="0">
                          <p:tn val="13"/>
                        </p:cond>
                      </p:stCondLst>
                      <p:childTnLst>
                        <p:par>
                          <p:cTn id="15" fill="hold">
                            <p:stCondLst>
                              <p:cond delay="indefinite"/>
                            </p:stCondLst>
                          </p:cTn>
                        </p:par>
                        <p:par>
                          <p:cTn id="16" fill="hold">
                            <p:stCondLst>
                              <p:cond delay="0"/>
                            </p:stCondLst>
                            <p:childTnLst>
                              <p:par>
                                <p:cTn id="17" presetID="22" presetClass="entr" presetSubtype="1" fill="hold" grpId="0" nodeType="clickEffect">
                                  <p:stCondLst>
                                    <p:cond delay="-9223372036854775808"/>
                                  </p:stCondLst>
                                  <p:childTnLst>
                                    <p:set>
                                      <p:cBhvr additive="base">
                                        <p:cTn id="18" dur="1" fill="hold">
                                          <p:stCondLst>
                                            <p:cond delay="0"/>
                                          </p:stCondLst>
                                        </p:cTn>
                                        <p:tgtEl>
                                          <p:spTgt spid="73734"/>
                                        </p:tgtEl>
                                        <p:attrNameLst>
                                          <p:attrName>style.visibility</p:attrName>
                                        </p:attrNameLst>
                                      </p:cBhvr>
                                      <p:to>
                                        <p:strVal val="visible"/>
                                      </p:to>
                                    </p:set>
                                    <p:animEffect transition="in" filter="wipe(up)">
                                      <p:cBhvr additive="base">
                                        <p:cTn id="19" dur="2000"/>
                                        <p:tgtEl>
                                          <p:spTgt spid="73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4" grpId="0"/>
    </p:bldLst>
  </p:timing>
</p:sld>
</file>

<file path=ppt/slides/slide7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4754" name="Rectangle 2"/>
          <p:cNvSpPr/>
          <p:nvPr/>
        </p:nvSpPr>
        <p:spPr>
          <a:xfrm>
            <a:off x="323850" y="1018445"/>
            <a:ext cx="8649403"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设</a:t>
            </a:r>
            <a:r>
              <a:rPr kumimoji="1" lang="en-US" altLang="zh-CN" sz="2400" b="1" i="1">
                <a:solidFill>
                  <a:schemeClr val="tx2"/>
                </a:solidFill>
                <a:effectLst/>
                <a:latin typeface="Times New Roman" pitchFamily="18" charset="0"/>
              </a:rPr>
              <a:t>d</a:t>
            </a:r>
            <a:r>
              <a:rPr kumimoji="1" lang="zh-CN" altLang="en-US"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为未达到目标值的差值，称为负偏差变量，</a:t>
            </a:r>
            <a:r>
              <a:rPr kumimoji="1" lang="en-US" altLang="zh-CN" sz="2400" b="1" i="1">
                <a:solidFill>
                  <a:schemeClr val="tx2"/>
                </a:solidFill>
                <a:effectLst/>
                <a:latin typeface="Times New Roman" pitchFamily="18" charset="0"/>
              </a:rPr>
              <a:t>d </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为超过目标值的差值，称为正偏差变量，</a:t>
            </a:r>
            <a:r>
              <a:rPr kumimoji="1" lang="zh-CN" altLang="en-US" sz="2400" b="1" i="1">
                <a:solidFill>
                  <a:schemeClr val="tx2"/>
                </a:solidFill>
                <a:effectLst/>
                <a:latin typeface="Times New Roman" pitchFamily="18" charset="0"/>
              </a:rPr>
              <a:t> </a:t>
            </a:r>
            <a:r>
              <a:rPr kumimoji="1" lang="en-US" altLang="zh-CN" sz="2400" b="1" i="1">
                <a:solidFill>
                  <a:schemeClr val="tx2"/>
                </a:solidFill>
                <a:effectLst/>
                <a:latin typeface="Times New Roman" pitchFamily="18" charset="0"/>
              </a:rPr>
              <a:t>d</a:t>
            </a:r>
            <a:r>
              <a:rPr kumimoji="1" lang="zh-CN" altLang="en-US"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0</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d</a:t>
            </a:r>
            <a:r>
              <a:rPr kumimoji="1" lang="zh-CN" altLang="en-US"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0</a:t>
            </a:r>
            <a:r>
              <a:rPr kumimoji="1" lang="zh-CN" altLang="en-US" sz="2400" b="1">
                <a:solidFill>
                  <a:schemeClr val="tx2"/>
                </a:solidFill>
                <a:effectLst/>
                <a:latin typeface="Times New Roman" pitchFamily="18" charset="0"/>
              </a:rPr>
              <a:t>．</a:t>
            </a:r>
          </a:p>
        </p:txBody>
      </p:sp>
      <p:sp>
        <p:nvSpPr>
          <p:cNvPr id="74755" name="Text Box 3"/>
          <p:cNvSpPr/>
          <p:nvPr/>
        </p:nvSpPr>
        <p:spPr>
          <a:xfrm>
            <a:off x="0" y="1989138"/>
            <a:ext cx="6127522" cy="640720"/>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endParaRPr kumimoji="1" lang="zh-CN" altLang="zh-CN" sz="3600" b="1">
              <a:effectLst/>
              <a:latin typeface="Times New Roman" pitchFamily="18" charset="0"/>
            </a:endParaRPr>
          </a:p>
        </p:txBody>
      </p:sp>
      <p:sp>
        <p:nvSpPr>
          <p:cNvPr id="74756" name="Text Box 4"/>
          <p:cNvSpPr/>
          <p:nvPr/>
        </p:nvSpPr>
        <p:spPr>
          <a:xfrm>
            <a:off x="179388" y="2133600"/>
            <a:ext cx="8001054" cy="457657"/>
          </a:xfrm>
          <a:prstGeom prst="rect">
            <a:avLst/>
          </a:prstGeom>
          <a:solidFill>
            <a:schemeClr val="bg1"/>
          </a:solid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en-US" altLang="zh-CN" sz="2400" b="1">
                <a:effectLst/>
                <a:latin typeface="Times New Roman" pitchFamily="18" charset="0"/>
              </a:rPr>
              <a:t>(1)</a:t>
            </a:r>
            <a:r>
              <a:rPr kumimoji="1" lang="zh-CN" altLang="en-US" sz="2400" b="1">
                <a:effectLst/>
                <a:latin typeface="Times New Roman" pitchFamily="18" charset="0"/>
              </a:rPr>
              <a:t>设</a:t>
            </a:r>
            <a:r>
              <a:rPr kumimoji="1" lang="en-US" altLang="zh-CN" sz="2400" i="1">
                <a:effectLst/>
                <a:latin typeface="Times New Roman" pitchFamily="18" charset="0"/>
              </a:rPr>
              <a:t>d</a:t>
            </a:r>
            <a:r>
              <a:rPr kumimoji="1" lang="en-US" altLang="zh-CN" sz="2400" b="1" baseline="-25000">
                <a:effectLst/>
                <a:latin typeface="Times New Roman" pitchFamily="18" charset="0"/>
              </a:rPr>
              <a:t>1</a:t>
            </a:r>
            <a:r>
              <a:rPr kumimoji="1" lang="zh-CN" altLang="en-US" sz="2400" b="1" baseline="42000">
                <a:effectLst/>
                <a:latin typeface="Times New Roman" pitchFamily="18" charset="0"/>
              </a:rPr>
              <a:t>－</a:t>
            </a:r>
            <a:r>
              <a:rPr kumimoji="1" lang="zh-CN" altLang="en-US" sz="2400" b="1">
                <a:effectLst/>
                <a:latin typeface="Times New Roman" pitchFamily="18" charset="0"/>
              </a:rPr>
              <a:t>未达到利润目标的差值</a:t>
            </a:r>
            <a:r>
              <a:rPr kumimoji="1" lang="en-US" altLang="zh-CN" sz="2400" b="1">
                <a:effectLst/>
                <a:latin typeface="Times New Roman" pitchFamily="18" charset="0"/>
              </a:rPr>
              <a:t>, </a:t>
            </a:r>
            <a:r>
              <a:rPr kumimoji="1" lang="en-US" altLang="zh-CN" sz="2400" i="1">
                <a:effectLst/>
                <a:latin typeface="Times New Roman" pitchFamily="18" charset="0"/>
              </a:rPr>
              <a:t>d</a:t>
            </a:r>
            <a:r>
              <a:rPr kumimoji="1" lang="en-US" altLang="zh-CN" sz="2400" b="1" baseline="-25000">
                <a:effectLst/>
                <a:latin typeface="Times New Roman" pitchFamily="18" charset="0"/>
              </a:rPr>
              <a:t>1</a:t>
            </a:r>
            <a:r>
              <a:rPr kumimoji="1" lang="en-US" altLang="zh-CN" sz="2400" b="1" baseline="40000">
                <a:effectLst/>
                <a:latin typeface="Times New Roman" pitchFamily="18" charset="0"/>
              </a:rPr>
              <a:t>+</a:t>
            </a:r>
            <a:r>
              <a:rPr kumimoji="1" lang="en-US" altLang="zh-CN" sz="2400" b="1">
                <a:effectLst/>
                <a:latin typeface="Times New Roman" pitchFamily="18" charset="0"/>
              </a:rPr>
              <a:t> </a:t>
            </a:r>
            <a:r>
              <a:rPr kumimoji="1" lang="zh-CN" altLang="en-US" sz="2400" b="1">
                <a:effectLst/>
                <a:latin typeface="Times New Roman" pitchFamily="18" charset="0"/>
              </a:rPr>
              <a:t>为超过目标的差值</a:t>
            </a:r>
          </a:p>
        </p:txBody>
      </p:sp>
      <p:sp>
        <p:nvSpPr>
          <p:cNvPr id="74757" name="Text Box 5"/>
          <p:cNvSpPr/>
          <p:nvPr/>
        </p:nvSpPr>
        <p:spPr>
          <a:xfrm>
            <a:off x="250825" y="2565400"/>
            <a:ext cx="8504796" cy="3783300"/>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200" b="1">
                <a:effectLst/>
                <a:latin typeface="Times New Roman" pitchFamily="18" charset="0"/>
              </a:rPr>
              <a:t>当利润小于</a:t>
            </a:r>
            <a:r>
              <a:rPr kumimoji="1" lang="en-US" altLang="zh-CN" sz="2200" b="1">
                <a:effectLst/>
                <a:latin typeface="Times New Roman" pitchFamily="18" charset="0"/>
              </a:rPr>
              <a:t>3200</a:t>
            </a:r>
            <a:r>
              <a:rPr kumimoji="1" lang="zh-CN" altLang="en-US" sz="2200" b="1">
                <a:effectLst/>
                <a:latin typeface="Times New Roman" pitchFamily="18" charset="0"/>
              </a:rPr>
              <a:t>时</a:t>
            </a:r>
            <a:r>
              <a:rPr kumimoji="1" lang="en-US" altLang="zh-CN" sz="2200" b="1">
                <a:effectLst/>
                <a:latin typeface="Times New Roman" pitchFamily="18" charset="0"/>
              </a:rPr>
              <a:t>,</a:t>
            </a:r>
            <a:r>
              <a:rPr kumimoji="1" lang="en-US" altLang="zh-CN" sz="2200" i="1">
                <a:effectLst/>
                <a:latin typeface="Times New Roman" pitchFamily="18" charset="0"/>
              </a:rPr>
              <a:t>d</a:t>
            </a:r>
            <a:r>
              <a:rPr kumimoji="1" lang="en-US" altLang="zh-CN" sz="2200" b="1" baseline="-25000">
                <a:effectLst/>
                <a:latin typeface="Times New Roman" pitchFamily="18" charset="0"/>
              </a:rPr>
              <a:t>1</a:t>
            </a:r>
            <a:r>
              <a:rPr kumimoji="1" lang="zh-CN" altLang="en-US" sz="2200" b="1" baseline="30000">
                <a:effectLst/>
                <a:latin typeface="Times New Roman" pitchFamily="18" charset="0"/>
              </a:rPr>
              <a:t>－</a:t>
            </a:r>
            <a:r>
              <a:rPr kumimoji="1" lang="zh-CN" altLang="en-US" sz="2200" b="1">
                <a:effectLst/>
                <a:latin typeface="Times New Roman" pitchFamily="18" charset="0"/>
              </a:rPr>
              <a:t>＞０且</a:t>
            </a:r>
            <a:r>
              <a:rPr kumimoji="1" lang="en-US" altLang="zh-CN" sz="2200" i="1">
                <a:effectLst/>
                <a:latin typeface="Times New Roman" pitchFamily="18" charset="0"/>
              </a:rPr>
              <a:t>d</a:t>
            </a:r>
            <a:r>
              <a:rPr kumimoji="1" lang="en-US" altLang="zh-CN" sz="2200" b="1" baseline="-25000">
                <a:effectLst/>
                <a:latin typeface="Times New Roman" pitchFamily="18" charset="0"/>
              </a:rPr>
              <a:t>1</a:t>
            </a:r>
            <a:r>
              <a:rPr kumimoji="1" lang="zh-CN" altLang="en-US" sz="2200" b="1" baseline="30000">
                <a:effectLst/>
                <a:latin typeface="Times New Roman" pitchFamily="18" charset="0"/>
              </a:rPr>
              <a:t>＋</a:t>
            </a:r>
            <a:r>
              <a:rPr kumimoji="1" lang="zh-CN" altLang="en-US" sz="2200" b="1">
                <a:effectLst/>
                <a:latin typeface="Times New Roman" pitchFamily="18" charset="0"/>
              </a:rPr>
              <a:t>＝</a:t>
            </a:r>
            <a:r>
              <a:rPr kumimoji="1" lang="en-US" altLang="zh-CN" sz="2200" b="1">
                <a:effectLst/>
                <a:latin typeface="Times New Roman" pitchFamily="18" charset="0"/>
              </a:rPr>
              <a:t>0,</a:t>
            </a:r>
            <a:r>
              <a:rPr kumimoji="1" lang="zh-CN" altLang="en-US" sz="2200" b="1">
                <a:effectLst/>
                <a:latin typeface="Times New Roman" pitchFamily="18" charset="0"/>
              </a:rPr>
              <a:t>有</a:t>
            </a:r>
          </a:p>
          <a:p>
            <a:pPr marL="0" lvl="0" indent="0" algn="ctr" eaLnBrk="1" hangingPunct="1">
              <a:spcBef>
                <a:spcPct val="50000"/>
              </a:spcBef>
            </a:pPr>
            <a:r>
              <a:rPr kumimoji="1" lang="en-US" altLang="zh-CN" sz="2200" b="1">
                <a:effectLst/>
                <a:latin typeface="Times New Roman" pitchFamily="18" charset="0"/>
              </a:rPr>
              <a:t>40</a:t>
            </a:r>
            <a:r>
              <a:rPr kumimoji="1" lang="en-US" altLang="zh-CN" sz="2200" b="1" i="1">
                <a:effectLst/>
                <a:latin typeface="Times New Roman" pitchFamily="18" charset="0"/>
              </a:rPr>
              <a:t>x</a:t>
            </a:r>
            <a:r>
              <a:rPr kumimoji="1" lang="en-US" altLang="zh-CN" sz="2200" b="1" baseline="-25000">
                <a:effectLst/>
                <a:latin typeface="Times New Roman" pitchFamily="18" charset="0"/>
              </a:rPr>
              <a:t>1</a:t>
            </a:r>
            <a:r>
              <a:rPr kumimoji="1" lang="en-US" altLang="zh-CN" sz="2200" b="1">
                <a:effectLst/>
                <a:latin typeface="Times New Roman" pitchFamily="18" charset="0"/>
              </a:rPr>
              <a:t>+30</a:t>
            </a:r>
            <a:r>
              <a:rPr kumimoji="1" lang="en-US" altLang="zh-CN" sz="2200" b="1" i="1">
                <a:effectLst/>
                <a:latin typeface="Times New Roman" pitchFamily="18" charset="0"/>
              </a:rPr>
              <a:t>x</a:t>
            </a:r>
            <a:r>
              <a:rPr kumimoji="1" lang="en-US" altLang="zh-CN" sz="2200" b="1" baseline="-25000">
                <a:effectLst/>
                <a:latin typeface="Times New Roman" pitchFamily="18" charset="0"/>
              </a:rPr>
              <a:t>2</a:t>
            </a:r>
            <a:r>
              <a:rPr kumimoji="1" lang="en-US" altLang="zh-CN" sz="2200" b="1">
                <a:effectLst/>
                <a:latin typeface="Times New Roman" pitchFamily="18" charset="0"/>
              </a:rPr>
              <a:t>+50</a:t>
            </a:r>
            <a:r>
              <a:rPr kumimoji="1" lang="en-US" altLang="zh-CN" sz="2200" b="1" i="1">
                <a:effectLst/>
                <a:latin typeface="Times New Roman" pitchFamily="18" charset="0"/>
              </a:rPr>
              <a:t>x</a:t>
            </a:r>
            <a:r>
              <a:rPr kumimoji="1" lang="en-US" altLang="zh-CN" sz="2200" b="1" baseline="-25000">
                <a:effectLst/>
                <a:latin typeface="Times New Roman" pitchFamily="18" charset="0"/>
              </a:rPr>
              <a:t>3</a:t>
            </a:r>
            <a:r>
              <a:rPr kumimoji="1" lang="en-US" altLang="zh-CN" sz="2200" b="1">
                <a:effectLst/>
                <a:latin typeface="Times New Roman" pitchFamily="18" charset="0"/>
              </a:rPr>
              <a:t>+d</a:t>
            </a:r>
            <a:r>
              <a:rPr kumimoji="1" lang="en-US" altLang="zh-CN" sz="2200" b="1" baseline="-25000">
                <a:effectLst/>
                <a:latin typeface="Times New Roman" pitchFamily="18" charset="0"/>
              </a:rPr>
              <a:t>1</a:t>
            </a:r>
            <a:r>
              <a:rPr kumimoji="1" lang="zh-CN" altLang="en-US" sz="2200" b="1" baseline="30000">
                <a:effectLst/>
                <a:latin typeface="Times New Roman" pitchFamily="18" charset="0"/>
              </a:rPr>
              <a:t>－</a:t>
            </a:r>
            <a:r>
              <a:rPr kumimoji="1" lang="en-US" altLang="zh-CN" sz="2200" b="1">
                <a:effectLst/>
                <a:latin typeface="Times New Roman" pitchFamily="18" charset="0"/>
              </a:rPr>
              <a:t>=3200</a:t>
            </a:r>
            <a:r>
              <a:rPr kumimoji="1" lang="zh-CN" altLang="en-US" sz="2200" b="1">
                <a:effectLst/>
                <a:latin typeface="Times New Roman" pitchFamily="18" charset="0"/>
              </a:rPr>
              <a:t>成立</a:t>
            </a:r>
          </a:p>
          <a:p>
            <a:pPr marL="0" lvl="0" indent="0" eaLnBrk="1" hangingPunct="1">
              <a:spcBef>
                <a:spcPct val="50000"/>
              </a:spcBef>
            </a:pPr>
            <a:r>
              <a:rPr kumimoji="1" lang="zh-CN" altLang="en-US" sz="2200" b="1">
                <a:effectLst/>
                <a:latin typeface="Times New Roman" pitchFamily="18" charset="0"/>
              </a:rPr>
              <a:t>当利润大于</a:t>
            </a:r>
            <a:r>
              <a:rPr kumimoji="1" lang="en-US" altLang="zh-CN" sz="2200" b="1">
                <a:effectLst/>
                <a:latin typeface="Times New Roman" pitchFamily="18" charset="0"/>
              </a:rPr>
              <a:t>3200</a:t>
            </a:r>
            <a:r>
              <a:rPr kumimoji="1" lang="zh-CN" altLang="en-US" sz="2200" b="1">
                <a:effectLst/>
                <a:latin typeface="Times New Roman" pitchFamily="18" charset="0"/>
              </a:rPr>
              <a:t>时，</a:t>
            </a:r>
            <a:r>
              <a:rPr kumimoji="1" lang="en-US" altLang="zh-CN" sz="2200" i="1">
                <a:effectLst/>
                <a:latin typeface="Times New Roman" pitchFamily="18" charset="0"/>
              </a:rPr>
              <a:t>d</a:t>
            </a:r>
            <a:r>
              <a:rPr kumimoji="1" lang="en-US" altLang="zh-CN" sz="2200" b="1" baseline="-25000">
                <a:effectLst/>
                <a:latin typeface="Times New Roman" pitchFamily="18" charset="0"/>
              </a:rPr>
              <a:t>1</a:t>
            </a:r>
            <a:r>
              <a:rPr kumimoji="1" lang="zh-CN" altLang="en-US" sz="2200" b="1" baseline="30000">
                <a:effectLst/>
                <a:latin typeface="Times New Roman" pitchFamily="18" charset="0"/>
              </a:rPr>
              <a:t>＋</a:t>
            </a:r>
            <a:r>
              <a:rPr kumimoji="1" lang="zh-CN" altLang="en-US" sz="2200" b="1">
                <a:effectLst/>
                <a:latin typeface="Times New Roman" pitchFamily="18" charset="0"/>
              </a:rPr>
              <a:t>＞０且</a:t>
            </a:r>
            <a:r>
              <a:rPr kumimoji="1" lang="en-US" altLang="zh-CN" sz="2200" i="1">
                <a:effectLst/>
                <a:latin typeface="Times New Roman" pitchFamily="18" charset="0"/>
              </a:rPr>
              <a:t>d</a:t>
            </a:r>
            <a:r>
              <a:rPr kumimoji="1" lang="en-US" altLang="zh-CN" sz="2200" b="1" baseline="-25000">
                <a:effectLst/>
                <a:latin typeface="Times New Roman" pitchFamily="18" charset="0"/>
              </a:rPr>
              <a:t>1</a:t>
            </a:r>
            <a:r>
              <a:rPr kumimoji="1" lang="zh-CN" altLang="en-US" sz="2200" b="1" baseline="30000">
                <a:effectLst/>
                <a:latin typeface="Times New Roman" pitchFamily="18" charset="0"/>
              </a:rPr>
              <a:t>－</a:t>
            </a:r>
            <a:r>
              <a:rPr kumimoji="1" lang="zh-CN" altLang="en-US" sz="2200" b="1">
                <a:effectLst/>
                <a:latin typeface="Times New Roman" pitchFamily="18" charset="0"/>
              </a:rPr>
              <a:t>＝０，有</a:t>
            </a:r>
          </a:p>
          <a:p>
            <a:pPr marL="0" lvl="0" indent="0" algn="ctr" eaLnBrk="1" hangingPunct="1">
              <a:spcBef>
                <a:spcPct val="50000"/>
              </a:spcBef>
            </a:pPr>
            <a:r>
              <a:rPr kumimoji="1" lang="en-US" altLang="zh-CN" sz="2200" b="1">
                <a:effectLst/>
                <a:latin typeface="Times New Roman" pitchFamily="18" charset="0"/>
              </a:rPr>
              <a:t>40</a:t>
            </a:r>
            <a:r>
              <a:rPr kumimoji="1" lang="en-US" altLang="zh-CN" sz="2200" b="1" i="1">
                <a:effectLst/>
                <a:latin typeface="Times New Roman" pitchFamily="18" charset="0"/>
              </a:rPr>
              <a:t>x</a:t>
            </a:r>
            <a:r>
              <a:rPr kumimoji="1" lang="en-US" altLang="zh-CN" sz="2200" b="1" baseline="-25000">
                <a:effectLst/>
                <a:latin typeface="Times New Roman" pitchFamily="18" charset="0"/>
              </a:rPr>
              <a:t>1</a:t>
            </a:r>
            <a:r>
              <a:rPr kumimoji="1" lang="en-US" altLang="zh-CN" sz="2200" b="1">
                <a:effectLst/>
                <a:latin typeface="Times New Roman" pitchFamily="18" charset="0"/>
              </a:rPr>
              <a:t>+30</a:t>
            </a:r>
            <a:r>
              <a:rPr kumimoji="1" lang="en-US" altLang="zh-CN" sz="2200" b="1" i="1">
                <a:effectLst/>
                <a:latin typeface="Times New Roman" pitchFamily="18" charset="0"/>
              </a:rPr>
              <a:t>x</a:t>
            </a:r>
            <a:r>
              <a:rPr kumimoji="1" lang="en-US" altLang="zh-CN" sz="2200" b="1" baseline="-25000">
                <a:effectLst/>
                <a:latin typeface="Times New Roman" pitchFamily="18" charset="0"/>
              </a:rPr>
              <a:t>2</a:t>
            </a:r>
            <a:r>
              <a:rPr kumimoji="1" lang="en-US" altLang="zh-CN" sz="2200" b="1">
                <a:effectLst/>
                <a:latin typeface="Times New Roman" pitchFamily="18" charset="0"/>
              </a:rPr>
              <a:t>+50</a:t>
            </a:r>
            <a:r>
              <a:rPr kumimoji="1" lang="en-US" altLang="zh-CN" sz="2200" b="1" i="1">
                <a:effectLst/>
                <a:latin typeface="Times New Roman" pitchFamily="18" charset="0"/>
              </a:rPr>
              <a:t>x</a:t>
            </a:r>
            <a:r>
              <a:rPr kumimoji="1" lang="en-US" altLang="zh-CN" sz="2200" b="1" baseline="-25000">
                <a:effectLst/>
                <a:latin typeface="Times New Roman" pitchFamily="18" charset="0"/>
              </a:rPr>
              <a:t>3</a:t>
            </a:r>
            <a:r>
              <a:rPr kumimoji="1" lang="en-US" altLang="zh-CN" sz="2200" b="1">
                <a:effectLst/>
                <a:latin typeface="Times New Roman" pitchFamily="18" charset="0"/>
              </a:rPr>
              <a:t>-d</a:t>
            </a:r>
            <a:r>
              <a:rPr kumimoji="1" lang="en-US" altLang="zh-CN" sz="2200" b="1" baseline="-25000">
                <a:effectLst/>
                <a:latin typeface="Times New Roman" pitchFamily="18" charset="0"/>
              </a:rPr>
              <a:t>1</a:t>
            </a:r>
            <a:r>
              <a:rPr kumimoji="1" lang="en-US" altLang="zh-CN" sz="2200" b="1" baseline="30000">
                <a:effectLst/>
                <a:latin typeface="Times New Roman" pitchFamily="18" charset="0"/>
              </a:rPr>
              <a:t>+</a:t>
            </a:r>
            <a:r>
              <a:rPr kumimoji="1" lang="en-US" altLang="zh-CN" sz="2200" b="1">
                <a:effectLst/>
                <a:latin typeface="Times New Roman" pitchFamily="18" charset="0"/>
              </a:rPr>
              <a:t>=3200</a:t>
            </a:r>
            <a:r>
              <a:rPr kumimoji="1" lang="zh-CN" altLang="en-US" sz="2200" b="1">
                <a:effectLst/>
                <a:latin typeface="Times New Roman" pitchFamily="18" charset="0"/>
              </a:rPr>
              <a:t>成立</a:t>
            </a:r>
          </a:p>
          <a:p>
            <a:pPr marL="0" lvl="0" indent="0" eaLnBrk="1" hangingPunct="1">
              <a:spcBef>
                <a:spcPct val="50000"/>
              </a:spcBef>
            </a:pPr>
            <a:r>
              <a:rPr kumimoji="1" lang="zh-CN" altLang="en-US" sz="2200" b="1">
                <a:effectLst/>
                <a:latin typeface="Times New Roman" pitchFamily="18" charset="0"/>
              </a:rPr>
              <a:t>当利润恰好等于</a:t>
            </a:r>
            <a:r>
              <a:rPr kumimoji="1" lang="en-US" altLang="zh-CN" sz="2200" b="1">
                <a:effectLst/>
                <a:latin typeface="Times New Roman" pitchFamily="18" charset="0"/>
              </a:rPr>
              <a:t>3200</a:t>
            </a:r>
            <a:r>
              <a:rPr kumimoji="1" lang="zh-CN" altLang="en-US" sz="2200" b="1">
                <a:effectLst/>
                <a:latin typeface="Times New Roman" pitchFamily="18" charset="0"/>
              </a:rPr>
              <a:t>时，</a:t>
            </a:r>
            <a:r>
              <a:rPr kumimoji="1" lang="en-US" altLang="zh-CN" sz="2200" i="1">
                <a:effectLst/>
                <a:latin typeface="Times New Roman" pitchFamily="18" charset="0"/>
              </a:rPr>
              <a:t>d</a:t>
            </a:r>
            <a:r>
              <a:rPr kumimoji="1" lang="en-US" altLang="zh-CN" sz="2200" b="1" baseline="-25000">
                <a:effectLst/>
                <a:latin typeface="Times New Roman" pitchFamily="18" charset="0"/>
              </a:rPr>
              <a:t>1</a:t>
            </a:r>
            <a:r>
              <a:rPr kumimoji="1" lang="zh-CN" altLang="en-US" sz="2200" b="1" baseline="30000">
                <a:effectLst/>
                <a:latin typeface="Times New Roman" pitchFamily="18" charset="0"/>
              </a:rPr>
              <a:t>－</a:t>
            </a:r>
            <a:r>
              <a:rPr kumimoji="1" lang="en-US" altLang="zh-CN" sz="2200" b="1">
                <a:effectLst/>
                <a:latin typeface="Times New Roman" pitchFamily="18" charset="0"/>
              </a:rPr>
              <a:t>=</a:t>
            </a:r>
            <a:r>
              <a:rPr kumimoji="1" lang="zh-CN" altLang="en-US" sz="2200" b="1">
                <a:effectLst/>
                <a:latin typeface="Times New Roman" pitchFamily="18" charset="0"/>
              </a:rPr>
              <a:t>０且</a:t>
            </a:r>
            <a:r>
              <a:rPr kumimoji="1" lang="en-US" altLang="zh-CN" sz="2200" i="1">
                <a:effectLst/>
                <a:latin typeface="Times New Roman" pitchFamily="18" charset="0"/>
              </a:rPr>
              <a:t>d</a:t>
            </a:r>
            <a:r>
              <a:rPr kumimoji="1" lang="en-US" altLang="zh-CN" sz="2200" b="1" baseline="-25000">
                <a:effectLst/>
                <a:latin typeface="Times New Roman" pitchFamily="18" charset="0"/>
              </a:rPr>
              <a:t>1</a:t>
            </a:r>
            <a:r>
              <a:rPr kumimoji="1" lang="en-US" altLang="zh-CN" sz="2200" b="1" baseline="30000">
                <a:effectLst/>
                <a:latin typeface="Times New Roman" pitchFamily="18" charset="0"/>
              </a:rPr>
              <a:t>+</a:t>
            </a:r>
            <a:r>
              <a:rPr kumimoji="1" lang="en-US" altLang="zh-CN" sz="2200" b="1">
                <a:effectLst/>
                <a:latin typeface="Times New Roman" pitchFamily="18" charset="0"/>
              </a:rPr>
              <a:t>=0,</a:t>
            </a:r>
            <a:r>
              <a:rPr kumimoji="1" lang="zh-CN" altLang="en-US" sz="2200" b="1">
                <a:effectLst/>
                <a:latin typeface="Times New Roman" pitchFamily="18" charset="0"/>
              </a:rPr>
              <a:t>有</a:t>
            </a:r>
          </a:p>
          <a:p>
            <a:pPr marL="0" lvl="0" indent="0" algn="ctr" eaLnBrk="1" hangingPunct="1">
              <a:spcBef>
                <a:spcPct val="50000"/>
              </a:spcBef>
            </a:pPr>
            <a:r>
              <a:rPr kumimoji="1" lang="en-US" altLang="zh-CN" sz="2200" b="1">
                <a:effectLst/>
                <a:latin typeface="Times New Roman" pitchFamily="18" charset="0"/>
              </a:rPr>
              <a:t>40</a:t>
            </a:r>
            <a:r>
              <a:rPr kumimoji="1" lang="en-US" altLang="zh-CN" sz="2200" b="1" i="1">
                <a:effectLst/>
                <a:latin typeface="Times New Roman" pitchFamily="18" charset="0"/>
              </a:rPr>
              <a:t>x</a:t>
            </a:r>
            <a:r>
              <a:rPr kumimoji="1" lang="en-US" altLang="zh-CN" sz="2200" b="1" baseline="-25000">
                <a:effectLst/>
                <a:latin typeface="Times New Roman" pitchFamily="18" charset="0"/>
              </a:rPr>
              <a:t>1</a:t>
            </a:r>
            <a:r>
              <a:rPr kumimoji="1" lang="en-US" altLang="zh-CN" sz="2200" b="1">
                <a:effectLst/>
                <a:latin typeface="Times New Roman" pitchFamily="18" charset="0"/>
              </a:rPr>
              <a:t>+30</a:t>
            </a:r>
            <a:r>
              <a:rPr kumimoji="1" lang="en-US" altLang="zh-CN" sz="2200" b="1" i="1">
                <a:effectLst/>
                <a:latin typeface="Times New Roman" pitchFamily="18" charset="0"/>
              </a:rPr>
              <a:t>x</a:t>
            </a:r>
            <a:r>
              <a:rPr kumimoji="1" lang="en-US" altLang="zh-CN" sz="2200" b="1" baseline="-25000">
                <a:effectLst/>
                <a:latin typeface="Times New Roman" pitchFamily="18" charset="0"/>
              </a:rPr>
              <a:t>2</a:t>
            </a:r>
            <a:r>
              <a:rPr kumimoji="1" lang="en-US" altLang="zh-CN" sz="2200" b="1">
                <a:effectLst/>
                <a:latin typeface="Times New Roman" pitchFamily="18" charset="0"/>
              </a:rPr>
              <a:t>+50</a:t>
            </a:r>
            <a:r>
              <a:rPr kumimoji="1" lang="en-US" altLang="zh-CN" sz="2200" b="1" i="1">
                <a:effectLst/>
                <a:latin typeface="Times New Roman" pitchFamily="18" charset="0"/>
              </a:rPr>
              <a:t>x</a:t>
            </a:r>
            <a:r>
              <a:rPr kumimoji="1" lang="en-US" altLang="zh-CN" sz="2200" b="1" baseline="-25000">
                <a:effectLst/>
                <a:latin typeface="Times New Roman" pitchFamily="18" charset="0"/>
              </a:rPr>
              <a:t>3</a:t>
            </a:r>
            <a:r>
              <a:rPr kumimoji="1" lang="en-US" altLang="zh-CN" sz="2200" b="1">
                <a:effectLst/>
                <a:latin typeface="Times New Roman" pitchFamily="18" charset="0"/>
              </a:rPr>
              <a:t>=3200</a:t>
            </a:r>
            <a:r>
              <a:rPr kumimoji="1" lang="zh-CN" altLang="en-US" sz="2200" b="1">
                <a:effectLst/>
                <a:latin typeface="Times New Roman" pitchFamily="18" charset="0"/>
              </a:rPr>
              <a:t>成立</a:t>
            </a:r>
          </a:p>
          <a:p>
            <a:pPr marL="0" lvl="0" indent="0" eaLnBrk="1" hangingPunct="1">
              <a:spcBef>
                <a:spcPct val="50000"/>
              </a:spcBef>
            </a:pPr>
            <a:r>
              <a:rPr kumimoji="1" lang="zh-CN" altLang="en-US" sz="2200" b="1">
                <a:effectLst/>
                <a:latin typeface="Times New Roman" pitchFamily="18" charset="0"/>
              </a:rPr>
              <a:t>实际利润只有上述三种情形之一发生，因而可以将三个等式写成一个等式　　　</a:t>
            </a:r>
          </a:p>
        </p:txBody>
      </p:sp>
      <p:sp>
        <p:nvSpPr>
          <p:cNvPr id="74758" name="Text Box 6"/>
          <p:cNvSpPr/>
          <p:nvPr/>
        </p:nvSpPr>
        <p:spPr>
          <a:xfrm>
            <a:off x="2195512" y="6211888"/>
            <a:ext cx="4321047" cy="457657"/>
          </a:xfrm>
          <a:prstGeom prst="rect">
            <a:avLst/>
          </a:prstGeom>
          <a:solidFill>
            <a:schemeClr val="bg1"/>
          </a:solid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en-US" altLang="zh-CN" sz="2400" b="1">
                <a:effectLst/>
                <a:latin typeface="Times New Roman" pitchFamily="18" charset="0"/>
              </a:rPr>
              <a:t>40</a:t>
            </a:r>
            <a:r>
              <a:rPr kumimoji="1" lang="en-US" altLang="zh-CN" sz="2400" b="1" i="1">
                <a:effectLst/>
                <a:latin typeface="Times New Roman" pitchFamily="18" charset="0"/>
              </a:rPr>
              <a:t>x</a:t>
            </a:r>
            <a:r>
              <a:rPr kumimoji="1" lang="en-US" altLang="zh-CN" sz="2400" b="1" baseline="-25000">
                <a:effectLst/>
                <a:latin typeface="Times New Roman" pitchFamily="18" charset="0"/>
              </a:rPr>
              <a:t>1</a:t>
            </a:r>
            <a:r>
              <a:rPr kumimoji="1" lang="en-US" altLang="zh-CN" sz="2400" b="1">
                <a:effectLst/>
                <a:latin typeface="Times New Roman" pitchFamily="18" charset="0"/>
              </a:rPr>
              <a:t>+30</a:t>
            </a:r>
            <a:r>
              <a:rPr kumimoji="1" lang="en-US" altLang="zh-CN" sz="2400" b="1" i="1">
                <a:effectLst/>
                <a:latin typeface="Times New Roman" pitchFamily="18" charset="0"/>
              </a:rPr>
              <a:t>x</a:t>
            </a:r>
            <a:r>
              <a:rPr kumimoji="1" lang="en-US" altLang="zh-CN" sz="2400" b="1" baseline="-25000">
                <a:effectLst/>
                <a:latin typeface="Times New Roman" pitchFamily="18" charset="0"/>
              </a:rPr>
              <a:t>2</a:t>
            </a:r>
            <a:r>
              <a:rPr kumimoji="1" lang="en-US" altLang="zh-CN" sz="2400" b="1">
                <a:effectLst/>
                <a:latin typeface="Times New Roman" pitchFamily="18" charset="0"/>
              </a:rPr>
              <a:t>+50</a:t>
            </a:r>
            <a:r>
              <a:rPr kumimoji="1" lang="en-US" altLang="zh-CN" sz="2400" b="1" i="1">
                <a:effectLst/>
                <a:latin typeface="Times New Roman" pitchFamily="18" charset="0"/>
              </a:rPr>
              <a:t>x</a:t>
            </a:r>
            <a:r>
              <a:rPr kumimoji="1" lang="en-US" altLang="zh-CN" sz="2400" b="1" baseline="-25000">
                <a:effectLst/>
                <a:latin typeface="Times New Roman" pitchFamily="18" charset="0"/>
              </a:rPr>
              <a:t>3</a:t>
            </a:r>
            <a:r>
              <a:rPr kumimoji="1" lang="en-US" altLang="zh-CN" sz="2400" b="1">
                <a:effectLst/>
                <a:latin typeface="Times New Roman" pitchFamily="18" charset="0"/>
              </a:rPr>
              <a:t>+d</a:t>
            </a:r>
            <a:r>
              <a:rPr kumimoji="1" lang="en-US" altLang="zh-CN" sz="2400" b="1" baseline="-25000">
                <a:effectLst/>
                <a:latin typeface="Times New Roman" pitchFamily="18" charset="0"/>
              </a:rPr>
              <a:t>1</a:t>
            </a:r>
            <a:r>
              <a:rPr kumimoji="1" lang="zh-CN" altLang="en-US" sz="2400" b="1" baseline="40000">
                <a:effectLst/>
                <a:latin typeface="Times New Roman" pitchFamily="18" charset="0"/>
              </a:rPr>
              <a:t>－</a:t>
            </a:r>
            <a:r>
              <a:rPr kumimoji="1" lang="zh-CN" altLang="en-US" sz="2400" b="1">
                <a:effectLst/>
                <a:latin typeface="Times New Roman" pitchFamily="18" charset="0"/>
              </a:rPr>
              <a:t>－</a:t>
            </a:r>
            <a:r>
              <a:rPr kumimoji="1" lang="en-US" altLang="zh-CN" sz="2400" b="1">
                <a:effectLst/>
                <a:latin typeface="Times New Roman" pitchFamily="18" charset="0"/>
              </a:rPr>
              <a:t>d</a:t>
            </a:r>
            <a:r>
              <a:rPr kumimoji="1" lang="en-US" altLang="zh-CN" sz="2400" b="1" baseline="-25000">
                <a:effectLst/>
                <a:latin typeface="Times New Roman" pitchFamily="18" charset="0"/>
              </a:rPr>
              <a:t>1</a:t>
            </a:r>
            <a:r>
              <a:rPr kumimoji="1" lang="en-US" altLang="zh-CN" sz="2400" b="1" baseline="30000">
                <a:effectLst/>
                <a:latin typeface="Times New Roman" pitchFamily="18" charset="0"/>
              </a:rPr>
              <a:t>+</a:t>
            </a:r>
            <a:r>
              <a:rPr kumimoji="1" lang="en-US" altLang="zh-CN" sz="2400" b="1">
                <a:effectLst/>
                <a:latin typeface="Times New Roman" pitchFamily="18" charset="0"/>
              </a:rPr>
              <a:t>=3200</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9223372036854775808"/>
                                  </p:stCondLst>
                                  <p:childTnLst>
                                    <p:set>
                                      <p:cBhvr additive="base">
                                        <p:cTn id="6" dur="1" fill="hold">
                                          <p:stCondLst>
                                            <p:cond delay="0"/>
                                          </p:stCondLst>
                                        </p:cTn>
                                        <p:tgtEl>
                                          <p:spTgt spid="74754">
                                            <p:txEl>
                                              <p:charRg st="0" end="55"/>
                                            </p:txEl>
                                          </p:spTgt>
                                        </p:tgtEl>
                                        <p:attrNameLst>
                                          <p:attrName>style.visibility</p:attrName>
                                        </p:attrNameLst>
                                      </p:cBhvr>
                                      <p:to>
                                        <p:strVal val="visible"/>
                                      </p:to>
                                    </p:set>
                                    <p:animEffect transition="in" filter="wipe(up)">
                                      <p:cBhvr additive="base">
                                        <p:cTn id="7" dur="2000"/>
                                        <p:tgtEl>
                                          <p:spTgt spid="74754">
                                            <p:txEl>
                                              <p:charRg st="0" end="55"/>
                                            </p:txEl>
                                          </p:spTgt>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8" fill="hold" grpId="0" nodeType="clickEffect">
                                  <p:stCondLst>
                                    <p:cond delay="-9223372036854775808"/>
                                  </p:stCondLst>
                                  <p:childTnLst>
                                    <p:set>
                                      <p:cBhvr additive="base">
                                        <p:cTn id="12" dur="1" fill="hold">
                                          <p:stCondLst>
                                            <p:cond delay="0"/>
                                          </p:stCondLst>
                                        </p:cTn>
                                        <p:tgtEl>
                                          <p:spTgt spid="74756"/>
                                        </p:tgtEl>
                                        <p:attrNameLst>
                                          <p:attrName>style.visibility</p:attrName>
                                        </p:attrNameLst>
                                      </p:cBhvr>
                                      <p:to>
                                        <p:strVal val="visible"/>
                                      </p:to>
                                    </p:set>
                                    <p:animEffect transition="in" filter="wipe(left)">
                                      <p:cBhvr additive="base">
                                        <p:cTn id="13" dur="2000"/>
                                        <p:tgtEl>
                                          <p:spTgt spid="74756"/>
                                        </p:tgtEl>
                                      </p:cBhvr>
                                    </p:animEffect>
                                  </p:childTnLst>
                                </p:cTn>
                              </p:par>
                            </p:childTnLst>
                          </p:cTn>
                        </p:par>
                      </p:childTnLst>
                    </p:cTn>
                  </p:par>
                  <p:par>
                    <p:cTn id="14" fill="hold">
                      <p:stCondLst>
                        <p:cond delay="indefinite"/>
                        <p:cond evt="onBegin" delay="0">
                          <p:tn val="13"/>
                        </p:cond>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74757">
                                            <p:txEl>
                                              <p:charRg st="0" end="25"/>
                                            </p:txEl>
                                          </p:spTgt>
                                        </p:tgtEl>
                                        <p:attrNameLst>
                                          <p:attrName>style.visibility</p:attrName>
                                        </p:attrNameLst>
                                      </p:cBhvr>
                                      <p:to>
                                        <p:strVal val="visible"/>
                                      </p:to>
                                    </p:set>
                                    <p:animEffect transition="in" filter="wipe(left)">
                                      <p:cBhvr additive="base">
                                        <p:cTn id="19" dur="2000"/>
                                        <p:tgtEl>
                                          <p:spTgt spid="74757">
                                            <p:txEl>
                                              <p:charRg st="0" end="25"/>
                                            </p:txEl>
                                          </p:spTgt>
                                        </p:tgtEl>
                                      </p:cBhvr>
                                    </p:animEffect>
                                  </p:childTnLst>
                                </p:cTn>
                              </p:par>
                            </p:childTnLst>
                          </p:cTn>
                        </p:par>
                        <p:par>
                          <p:cTn id="20" fill="hold">
                            <p:stCondLst>
                              <p:cond delay="2000"/>
                            </p:stCondLst>
                            <p:childTnLst>
                              <p:par>
                                <p:cTn id="21" presetID="22" presetClass="entr" presetSubtype="8" fill="hold" nodeType="afterEffect">
                                  <p:stCondLst>
                                    <p:cond delay="-9223372036854775808"/>
                                  </p:stCondLst>
                                  <p:childTnLst>
                                    <p:set>
                                      <p:cBhvr additive="base">
                                        <p:cTn id="22" dur="1" fill="hold">
                                          <p:stCondLst>
                                            <p:cond delay="0"/>
                                          </p:stCondLst>
                                        </p:cTn>
                                        <p:tgtEl>
                                          <p:spTgt spid="74757">
                                            <p:txEl>
                                              <p:charRg st="25" end="51"/>
                                            </p:txEl>
                                          </p:spTgt>
                                        </p:tgtEl>
                                        <p:attrNameLst>
                                          <p:attrName>style.visibility</p:attrName>
                                        </p:attrNameLst>
                                      </p:cBhvr>
                                      <p:to>
                                        <p:strVal val="visible"/>
                                      </p:to>
                                    </p:set>
                                    <p:animEffect transition="in" filter="wipe(left)">
                                      <p:cBhvr additive="base">
                                        <p:cTn id="23" dur="2000"/>
                                        <p:tgtEl>
                                          <p:spTgt spid="74757">
                                            <p:txEl>
                                              <p:charRg st="25" end="51"/>
                                            </p:txEl>
                                          </p:spTgt>
                                        </p:tgtEl>
                                      </p:cBhvr>
                                    </p:animEffect>
                                  </p:childTnLst>
                                </p:cTn>
                              </p:par>
                            </p:childTnLst>
                          </p:cTn>
                        </p:par>
                      </p:childTnLst>
                    </p:cTn>
                  </p:par>
                  <p:par>
                    <p:cTn id="24" fill="hold">
                      <p:stCondLst>
                        <p:cond delay="indefinite"/>
                        <p:cond evt="onBegin" delay="0">
                          <p:tn val="23"/>
                        </p:cond>
                      </p:stCondLst>
                      <p:childTnLst>
                        <p:par>
                          <p:cTn id="25" fill="hold">
                            <p:stCondLst>
                              <p:cond delay="indefinite"/>
                            </p:stCondLst>
                          </p:cTn>
                        </p:par>
                        <p:par>
                          <p:cTn id="26" fill="hold">
                            <p:stCondLst>
                              <p:cond delay="0"/>
                            </p:stCondLst>
                            <p:childTnLst>
                              <p:par>
                                <p:cTn id="27" presetID="22" presetClass="entr" presetSubtype="8" fill="hold" nodeType="clickEffect">
                                  <p:stCondLst>
                                    <p:cond delay="-9223372036854775808"/>
                                  </p:stCondLst>
                                  <p:childTnLst>
                                    <p:set>
                                      <p:cBhvr additive="base">
                                        <p:cTn id="28" dur="1" fill="hold">
                                          <p:stCondLst>
                                            <p:cond delay="0"/>
                                          </p:stCondLst>
                                        </p:cTn>
                                        <p:tgtEl>
                                          <p:spTgt spid="74757">
                                            <p:txEl>
                                              <p:charRg st="51" end="76"/>
                                            </p:txEl>
                                          </p:spTgt>
                                        </p:tgtEl>
                                        <p:attrNameLst>
                                          <p:attrName>style.visibility</p:attrName>
                                        </p:attrNameLst>
                                      </p:cBhvr>
                                      <p:to>
                                        <p:strVal val="visible"/>
                                      </p:to>
                                    </p:set>
                                    <p:animEffect transition="in" filter="wipe(left)">
                                      <p:cBhvr additive="base">
                                        <p:cTn id="29" dur="2000"/>
                                        <p:tgtEl>
                                          <p:spTgt spid="74757">
                                            <p:txEl>
                                              <p:charRg st="51" end="76"/>
                                            </p:txEl>
                                          </p:spTgt>
                                        </p:tgtEl>
                                      </p:cBhvr>
                                    </p:animEffect>
                                  </p:childTnLst>
                                </p:cTn>
                              </p:par>
                            </p:childTnLst>
                          </p:cTn>
                        </p:par>
                        <p:par>
                          <p:cTn id="30" fill="hold">
                            <p:stCondLst>
                              <p:cond delay="2000"/>
                            </p:stCondLst>
                            <p:childTnLst>
                              <p:par>
                                <p:cTn id="31" presetID="22" presetClass="entr" presetSubtype="8" fill="hold" nodeType="afterEffect">
                                  <p:stCondLst>
                                    <p:cond delay="-9223372036854775808"/>
                                  </p:stCondLst>
                                  <p:childTnLst>
                                    <p:set>
                                      <p:cBhvr additive="base">
                                        <p:cTn id="32" dur="1" fill="hold">
                                          <p:stCondLst>
                                            <p:cond delay="0"/>
                                          </p:stCondLst>
                                        </p:cTn>
                                        <p:tgtEl>
                                          <p:spTgt spid="74757">
                                            <p:txEl>
                                              <p:charRg st="76" end="102"/>
                                            </p:txEl>
                                          </p:spTgt>
                                        </p:tgtEl>
                                        <p:attrNameLst>
                                          <p:attrName>style.visibility</p:attrName>
                                        </p:attrNameLst>
                                      </p:cBhvr>
                                      <p:to>
                                        <p:strVal val="visible"/>
                                      </p:to>
                                    </p:set>
                                    <p:animEffect transition="in" filter="wipe(left)">
                                      <p:cBhvr additive="base">
                                        <p:cTn id="33" dur="2000"/>
                                        <p:tgtEl>
                                          <p:spTgt spid="74757">
                                            <p:txEl>
                                              <p:charRg st="76" end="102"/>
                                            </p:txEl>
                                          </p:spTgt>
                                        </p:tgtEl>
                                      </p:cBhvr>
                                    </p:animEffect>
                                  </p:childTnLst>
                                </p:cTn>
                              </p:par>
                            </p:childTnLst>
                          </p:cTn>
                        </p:par>
                      </p:childTnLst>
                    </p:cTn>
                  </p:par>
                  <p:par>
                    <p:cTn id="34" fill="hold">
                      <p:stCondLst>
                        <p:cond delay="indefinite"/>
                        <p:cond evt="onBegin" delay="0">
                          <p:tn val="33"/>
                        </p:cond>
                      </p:stCondLst>
                      <p:childTnLst>
                        <p:par>
                          <p:cTn id="35" fill="hold">
                            <p:stCondLst>
                              <p:cond delay="indefinite"/>
                            </p:stCondLst>
                          </p:cTn>
                        </p:par>
                        <p:par>
                          <p:cTn id="36" fill="hold">
                            <p:stCondLst>
                              <p:cond delay="0"/>
                            </p:stCondLst>
                            <p:childTnLst>
                              <p:par>
                                <p:cTn id="37" presetID="22" presetClass="entr" presetSubtype="8" fill="hold" nodeType="clickEffect">
                                  <p:stCondLst>
                                    <p:cond delay="-9223372036854775808"/>
                                  </p:stCondLst>
                                  <p:childTnLst>
                                    <p:set>
                                      <p:cBhvr additive="base">
                                        <p:cTn id="38" dur="1" fill="hold">
                                          <p:stCondLst>
                                            <p:cond delay="0"/>
                                          </p:stCondLst>
                                        </p:cTn>
                                        <p:tgtEl>
                                          <p:spTgt spid="74757">
                                            <p:txEl>
                                              <p:charRg st="102" end="129"/>
                                            </p:txEl>
                                          </p:spTgt>
                                        </p:tgtEl>
                                        <p:attrNameLst>
                                          <p:attrName>style.visibility</p:attrName>
                                        </p:attrNameLst>
                                      </p:cBhvr>
                                      <p:to>
                                        <p:strVal val="visible"/>
                                      </p:to>
                                    </p:set>
                                    <p:animEffect transition="in" filter="wipe(left)">
                                      <p:cBhvr additive="base">
                                        <p:cTn id="39" dur="2000"/>
                                        <p:tgtEl>
                                          <p:spTgt spid="74757">
                                            <p:txEl>
                                              <p:charRg st="102" end="129"/>
                                            </p:txEl>
                                          </p:spTgt>
                                        </p:tgtEl>
                                      </p:cBhvr>
                                    </p:animEffect>
                                  </p:childTnLst>
                                </p:cTn>
                              </p:par>
                            </p:childTnLst>
                          </p:cTn>
                        </p:par>
                      </p:childTnLst>
                    </p:cTn>
                  </p:par>
                  <p:par>
                    <p:cTn id="40" fill="hold">
                      <p:stCondLst>
                        <p:cond delay="indefinite"/>
                        <p:cond evt="onBegin" delay="0">
                          <p:tn val="39"/>
                        </p:cond>
                      </p:stCondLst>
                      <p:childTnLst>
                        <p:par>
                          <p:cTn id="41" fill="hold">
                            <p:stCondLst>
                              <p:cond delay="indefinite"/>
                            </p:stCondLst>
                          </p:cTn>
                        </p:par>
                        <p:par>
                          <p:cTn id="42" fill="hold">
                            <p:stCondLst>
                              <p:cond delay="0"/>
                            </p:stCondLst>
                            <p:childTnLst>
                              <p:par>
                                <p:cTn id="43" presetID="22" presetClass="entr" presetSubtype="8" fill="hold" nodeType="clickEffect">
                                  <p:stCondLst>
                                    <p:cond delay="-9223372036854775808"/>
                                  </p:stCondLst>
                                  <p:childTnLst>
                                    <p:set>
                                      <p:cBhvr additive="base">
                                        <p:cTn id="44" dur="1" fill="hold">
                                          <p:stCondLst>
                                            <p:cond delay="0"/>
                                          </p:stCondLst>
                                        </p:cTn>
                                        <p:tgtEl>
                                          <p:spTgt spid="74757">
                                            <p:txEl>
                                              <p:charRg st="129" end="151"/>
                                            </p:txEl>
                                          </p:spTgt>
                                        </p:tgtEl>
                                        <p:attrNameLst>
                                          <p:attrName>style.visibility</p:attrName>
                                        </p:attrNameLst>
                                      </p:cBhvr>
                                      <p:to>
                                        <p:strVal val="visible"/>
                                      </p:to>
                                    </p:set>
                                    <p:animEffect transition="in" filter="wipe(left)">
                                      <p:cBhvr additive="base">
                                        <p:cTn id="45" dur="2000"/>
                                        <p:tgtEl>
                                          <p:spTgt spid="74757">
                                            <p:txEl>
                                              <p:charRg st="129" end="151"/>
                                            </p:txEl>
                                          </p:spTgt>
                                        </p:tgtEl>
                                      </p:cBhvr>
                                    </p:animEffect>
                                  </p:childTnLst>
                                </p:cTn>
                              </p:par>
                              <p:par>
                                <p:cTn id="46" presetID="22" presetClass="entr" presetSubtype="8" fill="hold" nodeType="withEffect">
                                  <p:stCondLst>
                                    <p:cond delay="-9223372036854775808"/>
                                  </p:stCondLst>
                                  <p:childTnLst>
                                    <p:set>
                                      <p:cBhvr additive="base">
                                        <p:cTn id="47" dur="1" fill="hold">
                                          <p:stCondLst>
                                            <p:cond delay="0"/>
                                          </p:stCondLst>
                                        </p:cTn>
                                        <p:tgtEl>
                                          <p:spTgt spid="74757">
                                            <p:txEl>
                                              <p:charRg st="151" end="187"/>
                                            </p:txEl>
                                          </p:spTgt>
                                        </p:tgtEl>
                                        <p:attrNameLst>
                                          <p:attrName>style.visibility</p:attrName>
                                        </p:attrNameLst>
                                      </p:cBhvr>
                                      <p:to>
                                        <p:strVal val="visible"/>
                                      </p:to>
                                    </p:set>
                                    <p:animEffect transition="in" filter="wipe(left)">
                                      <p:cBhvr additive="base">
                                        <p:cTn id="48" dur="2000"/>
                                        <p:tgtEl>
                                          <p:spTgt spid="74757">
                                            <p:txEl>
                                              <p:charRg st="151" end="187"/>
                                            </p:txEl>
                                          </p:spTgt>
                                        </p:tgtEl>
                                      </p:cBhvr>
                                    </p:animEffect>
                                  </p:childTnLst>
                                </p:cTn>
                              </p:par>
                            </p:childTnLst>
                          </p:cTn>
                        </p:par>
                        <p:par>
                          <p:cTn id="49" fill="hold">
                            <p:stCondLst>
                              <p:cond delay="2000"/>
                            </p:stCondLst>
                            <p:childTnLst>
                              <p:par>
                                <p:cTn id="50" presetID="22" presetClass="entr" presetSubtype="8" fill="hold" grpId="1" nodeType="afterEffect">
                                  <p:stCondLst>
                                    <p:cond delay="-9223372036854775808"/>
                                  </p:stCondLst>
                                  <p:childTnLst>
                                    <p:set>
                                      <p:cBhvr additive="base">
                                        <p:cTn id="51" dur="1" fill="hold">
                                          <p:stCondLst>
                                            <p:cond delay="0"/>
                                          </p:stCondLst>
                                        </p:cTn>
                                        <p:tgtEl>
                                          <p:spTgt spid="74758"/>
                                        </p:tgtEl>
                                        <p:attrNameLst>
                                          <p:attrName>style.visibility</p:attrName>
                                        </p:attrNameLst>
                                      </p:cBhvr>
                                      <p:to>
                                        <p:strVal val="visible"/>
                                      </p:to>
                                    </p:set>
                                    <p:animEffect transition="in" filter="wipe(left)">
                                      <p:cBhvr additive="base">
                                        <p:cTn id="52" dur="20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p:bldP spid="74758" grpId="1"/>
    </p:bldLst>
  </p:timing>
</p:sld>
</file>

<file path=ppt/slides/slide7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5778" name="Rectangle 2"/>
          <p:cNvSpPr/>
          <p:nvPr/>
        </p:nvSpPr>
        <p:spPr>
          <a:xfrm>
            <a:off x="0" y="299352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5779" name="Object 3"/>
          <p:cNvGraphicFramePr>
            <a:graphicFrameLocks noChangeAspect="1"/>
          </p:cNvGraphicFramePr>
          <p:nvPr/>
        </p:nvGraphicFramePr>
        <p:xfrm>
          <a:off x="2627312" y="1773238"/>
          <a:ext cx="4033838" cy="969962"/>
        </p:xfrm>
        <a:graphic>
          <a:graphicData uri="http://schemas.openxmlformats.org/presentationml/2006/ole">
            <mc:AlternateContent xmlns:mc="http://schemas.openxmlformats.org/markup-compatibility/2006">
              <mc:Choice xmlns:v="urn:schemas-microsoft-com:vml" Requires="v">
                <p:oleObj spid="_x0000_s1110" name="公式" r:id="rId2" progId="Equation.3">
                  <p:embed/>
                </p:oleObj>
              </mc:Choice>
              <mc:Fallback>
                <p:oleObj spid="_x0000_s1110" name="公式" r:id="rId2" progId="Equation.3">
                  <p:embed/>
                  <p:pic>
                    <p:nvPicPr>
                      <p:cNvPr id="0" name="OLE substitute image"/>
                      <p:cNvPicPr/>
                      <p:nvPr/>
                    </p:nvPicPr>
                    <p:blipFill>
                      <a:blip r:embed="rId3"/>
                      <a:stretch/>
                    </p:blipFill>
                    <p:spPr>
                      <a:xfrm>
                        <a:off x="2627312" y="1773238"/>
                        <a:ext cx="4033838" cy="969962"/>
                      </a:xfrm>
                      <a:prstGeom prst="rect">
                        <a:avLst/>
                      </a:prstGeom>
                      <a:noFill/>
                      <a:effectLst/>
                    </p:spPr>
                  </p:pic>
                </p:oleObj>
              </mc:Fallback>
            </mc:AlternateContent>
          </a:graphicData>
        </a:graphic>
      </p:graphicFrame>
      <p:sp>
        <p:nvSpPr>
          <p:cNvPr id="75780" name="Rectangle 4"/>
          <p:cNvSpPr/>
          <p:nvPr/>
        </p:nvSpPr>
        <p:spPr>
          <a:xfrm>
            <a:off x="0" y="3461837"/>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pSp>
        <p:nvGrpSpPr>
          <p:cNvPr id="75781" name="Group 5"/>
          <p:cNvGrpSpPr/>
          <p:nvPr/>
        </p:nvGrpSpPr>
        <p:grpSpPr>
          <a:xfrm>
            <a:off x="323850" y="2844800"/>
            <a:ext cx="8496300" cy="830262"/>
            <a:chOff x="204" y="1792"/>
            <a:chExt cx="5352" cy="523"/>
          </a:xfrm>
          <a:effectLst/>
        </p:grpSpPr>
        <p:sp>
          <p:nvSpPr>
            <p:cNvPr id="75787" name="Rectangle 6"/>
            <p:cNvSpPr/>
            <p:nvPr/>
          </p:nvSpPr>
          <p:spPr>
            <a:xfrm>
              <a:off x="204" y="1794"/>
              <a:ext cx="5357" cy="519"/>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）设               分别为未达到和超过产品比例要求的偏差变量</a:t>
              </a:r>
              <a:r>
                <a:rPr kumimoji="1" lang="en-US" altLang="zh-CN" sz="2400" b="1">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则产量比例尽 量不超过</a:t>
              </a:r>
              <a:r>
                <a:rPr kumimoji="1" lang="en-US" altLang="zh-CN" sz="2400" b="1">
                  <a:solidFill>
                    <a:schemeClr val="tx2"/>
                  </a:solidFill>
                  <a:effectLst/>
                  <a:latin typeface="Times New Roman" pitchFamily="18" charset="0"/>
                </a:rPr>
                <a:t>1.5</a:t>
              </a:r>
              <a:r>
                <a:rPr kumimoji="1" lang="zh-CN" altLang="en-US" sz="2400" b="1">
                  <a:solidFill>
                    <a:schemeClr val="tx2"/>
                  </a:solidFill>
                  <a:effectLst/>
                  <a:latin typeface="Times New Roman" pitchFamily="18" charset="0"/>
                </a:rPr>
                <a:t>的数学表达式为</a:t>
              </a:r>
              <a:r>
                <a:rPr kumimoji="1" lang="zh-CN" altLang="en-US" sz="2400">
                  <a:effectLst/>
                  <a:latin typeface="Times New Roman" pitchFamily="18" charset="0"/>
                </a:rPr>
                <a:t>：</a:t>
              </a:r>
              <a:endParaRPr kumimoji="1" lang="zh-CN" altLang="en-US" sz="2400">
                <a:solidFill>
                  <a:schemeClr val="tx2"/>
                </a:solidFill>
                <a:effectLst/>
                <a:latin typeface="Times New Roman" pitchFamily="18" charset="0"/>
              </a:endParaRPr>
            </a:p>
          </p:txBody>
        </p:sp>
        <p:graphicFrame>
          <p:nvGraphicFramePr>
            <p:cNvPr id="75788" name="Object 7"/>
            <p:cNvGraphicFramePr>
              <a:graphicFrameLocks noChangeAspect="1"/>
            </p:cNvGraphicFramePr>
            <p:nvPr/>
          </p:nvGraphicFramePr>
          <p:xfrm>
            <a:off x="1020" y="1816"/>
            <a:ext cx="590" cy="253"/>
          </p:xfrm>
          <a:graphic>
            <a:graphicData uri="http://schemas.openxmlformats.org/presentationml/2006/ole">
              <mc:AlternateContent xmlns:mc="http://schemas.openxmlformats.org/markup-compatibility/2006">
                <mc:Choice xmlns:v="urn:schemas-microsoft-com:vml" Requires="v">
                  <p:oleObj spid="_x0000_s1111" name="公式" r:id="rId4" progId="Equation.3">
                    <p:embed/>
                  </p:oleObj>
                </mc:Choice>
                <mc:Fallback>
                  <p:oleObj spid="_x0000_s1111" name="公式" r:id="rId4" progId="Equation.3">
                    <p:embed/>
                    <p:pic>
                      <p:nvPicPr>
                        <p:cNvPr id="0" name="OLE substitute image"/>
                        <p:cNvPicPr/>
                        <p:nvPr/>
                      </p:nvPicPr>
                      <p:blipFill>
                        <a:blip r:embed="rId5"/>
                        <a:stretch/>
                      </p:blipFill>
                      <p:spPr>
                        <a:xfrm>
                          <a:off x="1020" y="1816"/>
                          <a:ext cx="590" cy="253"/>
                        </a:xfrm>
                        <a:prstGeom prst="rect">
                          <a:avLst/>
                        </a:prstGeom>
                        <a:noFill/>
                        <a:effectLst/>
                      </p:spPr>
                    </p:pic>
                  </p:oleObj>
                </mc:Fallback>
              </mc:AlternateContent>
            </a:graphicData>
          </a:graphic>
        </p:graphicFrame>
      </p:grpSp>
      <p:sp>
        <p:nvSpPr>
          <p:cNvPr id="75782" name="Rectangle 8"/>
          <p:cNvSpPr/>
          <p:nvPr/>
        </p:nvSpPr>
        <p:spPr>
          <a:xfrm>
            <a:off x="0" y="299352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5783" name="Object 9"/>
          <p:cNvGraphicFramePr>
            <a:graphicFrameLocks noChangeAspect="1"/>
          </p:cNvGraphicFramePr>
          <p:nvPr/>
        </p:nvGraphicFramePr>
        <p:xfrm>
          <a:off x="2843212" y="3716338"/>
          <a:ext cx="2808288" cy="890588"/>
        </p:xfrm>
        <a:graphic>
          <a:graphicData uri="http://schemas.openxmlformats.org/presentationml/2006/ole">
            <mc:AlternateContent xmlns:mc="http://schemas.openxmlformats.org/markup-compatibility/2006">
              <mc:Choice xmlns:v="urn:schemas-microsoft-com:vml" Requires="v">
                <p:oleObj spid="_x0000_s1112" name="公式" r:id="rId6" progId="Equation.3">
                  <p:embed/>
                </p:oleObj>
              </mc:Choice>
              <mc:Fallback>
                <p:oleObj spid="_x0000_s1112" name="公式" r:id="rId6" progId="Equation.3">
                  <p:embed/>
                  <p:pic>
                    <p:nvPicPr>
                      <p:cNvPr id="0" name="OLE substitute image"/>
                      <p:cNvPicPr/>
                      <p:nvPr/>
                    </p:nvPicPr>
                    <p:blipFill>
                      <a:blip r:embed="rId7"/>
                      <a:stretch/>
                    </p:blipFill>
                    <p:spPr>
                      <a:xfrm>
                        <a:off x="2843212" y="3716338"/>
                        <a:ext cx="2808288" cy="890588"/>
                      </a:xfrm>
                      <a:prstGeom prst="rect">
                        <a:avLst/>
                      </a:prstGeom>
                      <a:noFill/>
                      <a:effectLst/>
                    </p:spPr>
                  </p:pic>
                </p:oleObj>
              </mc:Fallback>
            </mc:AlternateContent>
          </a:graphicData>
        </a:graphic>
      </p:graphicFrame>
      <p:sp>
        <p:nvSpPr>
          <p:cNvPr id="75784" name="Text Box 10"/>
          <p:cNvSpPr/>
          <p:nvPr/>
        </p:nvSpPr>
        <p:spPr>
          <a:xfrm>
            <a:off x="323850" y="4724400"/>
            <a:ext cx="8504796" cy="897008"/>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10000"/>
              </a:lnSpc>
              <a:spcBef>
                <a:spcPct val="50000"/>
              </a:spcBef>
            </a:pPr>
            <a:r>
              <a:rPr kumimoji="1" lang="en-US" altLang="zh-CN" sz="2400" b="1">
                <a:effectLst/>
                <a:latin typeface="Times New Roman" pitchFamily="18" charset="0"/>
              </a:rPr>
              <a:t>  </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a:t>
            </a:r>
            <a:r>
              <a:rPr kumimoji="1" lang="zh-CN" altLang="en-US" sz="2400" b="1">
                <a:solidFill>
                  <a:schemeClr val="tx2"/>
                </a:solidFill>
                <a:effectLst/>
                <a:latin typeface="Times New Roman" pitchFamily="18" charset="0"/>
              </a:rPr>
              <a:t>）设</a:t>
            </a:r>
            <a:r>
              <a:rPr kumimoji="1" lang="en-US" altLang="zh-CN" sz="2400" i="1">
                <a:solidFill>
                  <a:schemeClr val="tx2"/>
                </a:solidFill>
                <a:effectLst/>
                <a:latin typeface="Times New Roman" pitchFamily="18" charset="0"/>
                <a:ea typeface="Times New Roman" pitchFamily="18" charset="0"/>
              </a:rPr>
              <a:t>d</a:t>
            </a:r>
            <a:r>
              <a:rPr kumimoji="1" lang="en-US" altLang="zh-CN" sz="2400" baseline="-25000">
                <a:solidFill>
                  <a:schemeClr val="tx2"/>
                </a:solidFill>
                <a:effectLst/>
                <a:latin typeface="Times New Roman" pitchFamily="18" charset="0"/>
                <a:ea typeface="Times New Roman" pitchFamily="18" charset="0"/>
              </a:rPr>
              <a:t>3</a:t>
            </a:r>
            <a:r>
              <a:rPr kumimoji="1" lang="en-US" altLang="zh-CN" sz="2400" i="1">
                <a:solidFill>
                  <a:schemeClr val="tx2"/>
                </a:solidFill>
                <a:effectLst/>
                <a:latin typeface="Times New Roman" pitchFamily="18" charset="0"/>
                <a:ea typeface="Times New Roman" pitchFamily="18" charset="0"/>
              </a:rPr>
              <a:t>ˉ</a:t>
            </a:r>
            <a:r>
              <a:rPr kumimoji="1" lang="zh-CN" altLang="en-US" sz="2400" i="1">
                <a:solidFill>
                  <a:schemeClr val="tx2"/>
                </a:solidFill>
                <a:effectLst/>
                <a:latin typeface="Times New Roman" pitchFamily="18" charset="0"/>
                <a:ea typeface="Times New Roman" pitchFamily="18" charset="0"/>
              </a:rPr>
              <a:t>、</a:t>
            </a:r>
            <a:r>
              <a:rPr kumimoji="1" lang="en-US" altLang="zh-CN" sz="2400" i="1">
                <a:solidFill>
                  <a:schemeClr val="tx2"/>
                </a:solidFill>
                <a:effectLst/>
                <a:latin typeface="Times New Roman" pitchFamily="18" charset="0"/>
                <a:ea typeface="Times New Roman" pitchFamily="18" charset="0"/>
              </a:rPr>
              <a:t>d</a:t>
            </a:r>
            <a:r>
              <a:rPr kumimoji="1" lang="en-US" altLang="zh-CN" sz="1600">
                <a:solidFill>
                  <a:schemeClr val="tx2"/>
                </a:solidFill>
                <a:effectLst/>
                <a:latin typeface="Times New Roman" pitchFamily="18" charset="0"/>
                <a:ea typeface="Times New Roman" pitchFamily="18" charset="0"/>
              </a:rPr>
              <a:t>3</a:t>
            </a:r>
            <a:r>
              <a:rPr kumimoji="1" lang="zh-CN" altLang="en-US" sz="2400" baseline="30000">
                <a:solidFill>
                  <a:schemeClr val="tx2"/>
                </a:solidFill>
                <a:effectLst/>
                <a:latin typeface="Times New Roman" pitchFamily="18" charset="0"/>
                <a:ea typeface="Times New Roman" pitchFamily="18" charset="0"/>
              </a:rPr>
              <a:t>＋</a:t>
            </a:r>
            <a:r>
              <a:rPr kumimoji="1" lang="zh-CN" altLang="en-US" sz="2400" b="1">
                <a:solidFill>
                  <a:schemeClr val="tx2"/>
                </a:solidFill>
                <a:effectLst/>
                <a:latin typeface="Times New Roman" pitchFamily="18" charset="0"/>
              </a:rPr>
              <a:t>分别为产品丙的产量未达到和超过</a:t>
            </a:r>
            <a:r>
              <a:rPr kumimoji="1" lang="en-US" altLang="zh-CN" sz="2400" b="1">
                <a:solidFill>
                  <a:schemeClr val="tx2"/>
                </a:solidFill>
                <a:effectLst/>
                <a:latin typeface="Times New Roman" pitchFamily="18" charset="0"/>
              </a:rPr>
              <a:t>30</a:t>
            </a:r>
            <a:r>
              <a:rPr kumimoji="1" lang="zh-CN" altLang="en-US" sz="2400" b="1">
                <a:solidFill>
                  <a:schemeClr val="tx2"/>
                </a:solidFill>
                <a:effectLst/>
                <a:latin typeface="Times New Roman" pitchFamily="18" charset="0"/>
              </a:rPr>
              <a:t>件的偏差变量，则产量丙的产量尽可能达到</a:t>
            </a:r>
            <a:r>
              <a:rPr kumimoji="1" lang="en-US" altLang="zh-CN" sz="2400" b="1">
                <a:solidFill>
                  <a:schemeClr val="tx2"/>
                </a:solidFill>
                <a:effectLst/>
                <a:latin typeface="Times New Roman" pitchFamily="18" charset="0"/>
              </a:rPr>
              <a:t>30</a:t>
            </a:r>
            <a:r>
              <a:rPr kumimoji="1" lang="zh-CN" altLang="en-US" sz="2400" b="1">
                <a:solidFill>
                  <a:schemeClr val="tx2"/>
                </a:solidFill>
                <a:effectLst/>
                <a:latin typeface="Times New Roman" pitchFamily="18" charset="0"/>
              </a:rPr>
              <a:t>件的数学表达式为： </a:t>
            </a:r>
          </a:p>
        </p:txBody>
      </p:sp>
      <p:graphicFrame>
        <p:nvGraphicFramePr>
          <p:cNvPr id="75785" name="Object 11"/>
          <p:cNvGraphicFramePr>
            <a:graphicFrameLocks noChangeAspect="1"/>
          </p:cNvGraphicFramePr>
          <p:nvPr/>
        </p:nvGraphicFramePr>
        <p:xfrm>
          <a:off x="2916238" y="5556250"/>
          <a:ext cx="2519362" cy="1041400"/>
        </p:xfrm>
        <a:graphic>
          <a:graphicData uri="http://schemas.openxmlformats.org/presentationml/2006/ole">
            <mc:AlternateContent xmlns:mc="http://schemas.openxmlformats.org/markup-compatibility/2006">
              <mc:Choice xmlns:v="urn:schemas-microsoft-com:vml" Requires="v">
                <p:oleObj spid="_x0000_s1113" name="公式" r:id="rId8" progId="Equation.3">
                  <p:embed/>
                </p:oleObj>
              </mc:Choice>
              <mc:Fallback>
                <p:oleObj spid="_x0000_s1113" name="公式" r:id="rId8" progId="Equation.3">
                  <p:embed/>
                  <p:pic>
                    <p:nvPicPr>
                      <p:cNvPr id="0" name="OLE substitute image"/>
                      <p:cNvPicPr/>
                      <p:nvPr/>
                    </p:nvPicPr>
                    <p:blipFill>
                      <a:blip r:embed="rId9"/>
                      <a:stretch/>
                    </p:blipFill>
                    <p:spPr>
                      <a:xfrm>
                        <a:off x="2916238" y="5556250"/>
                        <a:ext cx="2519362" cy="1041400"/>
                      </a:xfrm>
                      <a:prstGeom prst="rect">
                        <a:avLst/>
                      </a:prstGeom>
                      <a:noFill/>
                      <a:effectLst/>
                    </p:spPr>
                  </p:pic>
                </p:oleObj>
              </mc:Fallback>
            </mc:AlternateContent>
          </a:graphicData>
        </a:graphic>
      </p:graphicFrame>
      <p:sp>
        <p:nvSpPr>
          <p:cNvPr id="75786" name="Text Box 12"/>
          <p:cNvSpPr/>
          <p:nvPr/>
        </p:nvSpPr>
        <p:spPr>
          <a:xfrm>
            <a:off x="395288" y="836612"/>
            <a:ext cx="8525456" cy="823783"/>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effectLst/>
                <a:latin typeface="Times New Roman" pitchFamily="18" charset="0"/>
              </a:rPr>
              <a:t>利润不少于</a:t>
            </a:r>
            <a:r>
              <a:rPr kumimoji="1" lang="en-US" altLang="zh-CN" sz="2400" b="1">
                <a:effectLst/>
                <a:latin typeface="Times New Roman" pitchFamily="18" charset="0"/>
              </a:rPr>
              <a:t>3200</a:t>
            </a:r>
            <a:r>
              <a:rPr kumimoji="1" lang="zh-CN" altLang="en-US" sz="2400" b="1">
                <a:effectLst/>
                <a:latin typeface="Times New Roman" pitchFamily="18" charset="0"/>
              </a:rPr>
              <a:t>理解为达到或超过</a:t>
            </a:r>
            <a:r>
              <a:rPr kumimoji="1" lang="en-US" altLang="zh-CN" sz="2400" b="1">
                <a:effectLst/>
                <a:latin typeface="Times New Roman" pitchFamily="18" charset="0"/>
              </a:rPr>
              <a:t>3200</a:t>
            </a:r>
            <a:r>
              <a:rPr kumimoji="1" lang="zh-CN" altLang="en-US" sz="2400" b="1">
                <a:effectLst/>
                <a:latin typeface="Times New Roman" pitchFamily="18" charset="0"/>
              </a:rPr>
              <a:t>，即使不能达到也要尽可能接近</a:t>
            </a:r>
            <a:r>
              <a:rPr kumimoji="1" lang="en-US" altLang="zh-CN" sz="2400" b="1">
                <a:effectLst/>
                <a:latin typeface="Times New Roman" pitchFamily="18" charset="0"/>
              </a:rPr>
              <a:t>3200,</a:t>
            </a:r>
            <a:r>
              <a:rPr kumimoji="1" lang="zh-CN" altLang="en-US" sz="2400" b="1">
                <a:effectLst/>
                <a:latin typeface="Times New Roman" pitchFamily="18" charset="0"/>
              </a:rPr>
              <a:t>可以表达成目标函数｛</a:t>
            </a:r>
            <a:r>
              <a:rPr kumimoji="1" lang="en-US" altLang="zh-CN" sz="2400" i="1">
                <a:effectLst/>
                <a:latin typeface="Times New Roman" pitchFamily="18" charset="0"/>
              </a:rPr>
              <a:t>d</a:t>
            </a:r>
            <a:r>
              <a:rPr kumimoji="1" lang="en-US" altLang="zh-CN" sz="2400" b="1" baseline="-25000">
                <a:effectLst/>
                <a:latin typeface="Times New Roman" pitchFamily="18" charset="0"/>
              </a:rPr>
              <a:t>1</a:t>
            </a:r>
            <a:r>
              <a:rPr kumimoji="1" lang="zh-CN" altLang="en-US" sz="2400" b="1" baseline="30000">
                <a:effectLst/>
                <a:latin typeface="Times New Roman" pitchFamily="18" charset="0"/>
              </a:rPr>
              <a:t>－</a:t>
            </a:r>
            <a:r>
              <a:rPr kumimoji="1" lang="zh-CN" altLang="en-US" sz="2400" b="1">
                <a:effectLst/>
                <a:latin typeface="Times New Roman" pitchFamily="18" charset="0"/>
              </a:rPr>
              <a:t>｝取最小值，则有</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1" nodeType="afterEffect">
                                  <p:stCondLst>
                                    <p:cond delay="-9223372036854775808"/>
                                  </p:stCondLst>
                                  <p:childTnLst>
                                    <p:set>
                                      <p:cBhvr additive="base">
                                        <p:cTn id="6" dur="1" fill="hold">
                                          <p:stCondLst>
                                            <p:cond delay="0"/>
                                          </p:stCondLst>
                                        </p:cTn>
                                        <p:tgtEl>
                                          <p:spTgt spid="75786"/>
                                        </p:tgtEl>
                                        <p:attrNameLst>
                                          <p:attrName>style.visibility</p:attrName>
                                        </p:attrNameLst>
                                      </p:cBhvr>
                                      <p:to>
                                        <p:strVal val="visible"/>
                                      </p:to>
                                    </p:set>
                                    <p:animEffect transition="in" filter="wipe(up)">
                                      <p:cBhvr additive="base">
                                        <p:cTn id="7" dur="2000"/>
                                        <p:tgtEl>
                                          <p:spTgt spid="75786"/>
                                        </p:tgtEl>
                                      </p:cBhvr>
                                    </p:animEffect>
                                  </p:childTnLst>
                                </p:cTn>
                              </p:par>
                            </p:childTnLst>
                          </p:cTn>
                        </p:par>
                        <p:par>
                          <p:cTn id="8" fill="hold">
                            <p:stCondLst>
                              <p:cond delay="2000"/>
                            </p:stCondLst>
                            <p:childTnLst>
                              <p:par>
                                <p:cTn id="9" presetID="22" presetClass="entr" presetSubtype="8" fill="hold" nodeType="afterEffect">
                                  <p:stCondLst>
                                    <p:cond delay="-9223372036854775808"/>
                                  </p:stCondLst>
                                  <p:childTnLst>
                                    <p:set>
                                      <p:cBhvr additive="base">
                                        <p:cTn id="10" dur="1" fill="hold">
                                          <p:stCondLst>
                                            <p:cond delay="0"/>
                                          </p:stCondLst>
                                        </p:cTn>
                                        <p:tgtEl>
                                          <p:spTgt spid="75779"/>
                                        </p:tgtEl>
                                        <p:attrNameLst>
                                          <p:attrName>style.visibility</p:attrName>
                                        </p:attrNameLst>
                                      </p:cBhvr>
                                      <p:to>
                                        <p:strVal val="visible"/>
                                      </p:to>
                                    </p:set>
                                    <p:animEffect transition="in" filter="wipe(left)">
                                      <p:cBhvr additive="base">
                                        <p:cTn id="11" dur="2000"/>
                                        <p:tgtEl>
                                          <p:spTgt spid="75779"/>
                                        </p:tgtEl>
                                      </p:cBhvr>
                                    </p:animEffect>
                                  </p:childTnLst>
                                </p:cTn>
                              </p:par>
                            </p:childTnLst>
                          </p:cTn>
                        </p:par>
                      </p:childTnLst>
                    </p:cTn>
                  </p:par>
                  <p:par>
                    <p:cTn id="12" fill="hold">
                      <p:stCondLst>
                        <p:cond delay="indefinite"/>
                        <p:cond evt="onBegin" delay="0">
                          <p:tn val="11"/>
                        </p:cond>
                      </p:stCondLst>
                      <p:childTnLst>
                        <p:par>
                          <p:cTn id="13" fill="hold">
                            <p:stCondLst>
                              <p:cond delay="indefinite"/>
                            </p:stCondLst>
                          </p:cTn>
                        </p:par>
                        <p:par>
                          <p:cTn id="14" fill="hold">
                            <p:stCondLst>
                              <p:cond delay="0"/>
                            </p:stCondLst>
                            <p:childTnLst>
                              <p:par>
                                <p:cTn id="15" presetID="22" presetClass="entr" presetSubtype="8" fill="hold" nodeType="clickEffect">
                                  <p:stCondLst>
                                    <p:cond delay="-9223372036854775808"/>
                                  </p:stCondLst>
                                  <p:childTnLst>
                                    <p:set>
                                      <p:cBhvr additive="base">
                                        <p:cTn id="16" dur="1" fill="hold">
                                          <p:stCondLst>
                                            <p:cond delay="0"/>
                                          </p:stCondLst>
                                        </p:cTn>
                                        <p:tgtEl>
                                          <p:spTgt spid="75781"/>
                                        </p:tgtEl>
                                        <p:attrNameLst>
                                          <p:attrName>style.visibility</p:attrName>
                                        </p:attrNameLst>
                                      </p:cBhvr>
                                      <p:to>
                                        <p:strVal val="visible"/>
                                      </p:to>
                                    </p:set>
                                    <p:animEffect transition="in" filter="wipe(left)">
                                      <p:cBhvr additive="base">
                                        <p:cTn id="17" dur="2000"/>
                                        <p:tgtEl>
                                          <p:spTgt spid="75781"/>
                                        </p:tgtEl>
                                      </p:cBhvr>
                                    </p:animEffect>
                                  </p:childTnLst>
                                </p:cTn>
                              </p:par>
                            </p:childTnLst>
                          </p:cTn>
                        </p:par>
                      </p:childTnLst>
                    </p:cTn>
                  </p:par>
                  <p:par>
                    <p:cTn id="18" fill="hold">
                      <p:stCondLst>
                        <p:cond delay="indefinite"/>
                        <p:cond evt="onBegin" delay="0">
                          <p:tn val="17"/>
                        </p:cond>
                      </p:stCondLst>
                      <p:childTnLst>
                        <p:par>
                          <p:cTn id="19" fill="hold">
                            <p:stCondLst>
                              <p:cond delay="indefinite"/>
                            </p:stCondLst>
                          </p:cTn>
                        </p:par>
                        <p:par>
                          <p:cTn id="20" fill="hold">
                            <p:stCondLst>
                              <p:cond delay="0"/>
                            </p:stCondLst>
                            <p:childTnLst>
                              <p:par>
                                <p:cTn id="21" presetID="22" presetClass="entr" presetSubtype="8" fill="hold" nodeType="clickEffect">
                                  <p:stCondLst>
                                    <p:cond delay="-9223372036854775808"/>
                                  </p:stCondLst>
                                  <p:childTnLst>
                                    <p:set>
                                      <p:cBhvr additive="base">
                                        <p:cTn id="22" dur="1" fill="hold">
                                          <p:stCondLst>
                                            <p:cond delay="0"/>
                                          </p:stCondLst>
                                        </p:cTn>
                                        <p:tgtEl>
                                          <p:spTgt spid="75783"/>
                                        </p:tgtEl>
                                        <p:attrNameLst>
                                          <p:attrName>style.visibility</p:attrName>
                                        </p:attrNameLst>
                                      </p:cBhvr>
                                      <p:to>
                                        <p:strVal val="visible"/>
                                      </p:to>
                                    </p:set>
                                    <p:animEffect transition="in" filter="wipe(left)">
                                      <p:cBhvr additive="base">
                                        <p:cTn id="23" dur="2000"/>
                                        <p:tgtEl>
                                          <p:spTgt spid="75783"/>
                                        </p:tgtEl>
                                      </p:cBhvr>
                                    </p:animEffect>
                                  </p:childTnLst>
                                </p:cTn>
                              </p:par>
                            </p:childTnLst>
                          </p:cTn>
                        </p:par>
                      </p:childTnLst>
                    </p:cTn>
                  </p:par>
                  <p:par>
                    <p:cTn id="24" fill="hold">
                      <p:stCondLst>
                        <p:cond delay="indefinite"/>
                        <p:cond evt="onBegin" delay="0">
                          <p:tn val="23"/>
                        </p:cond>
                      </p:stCondLst>
                      <p:childTnLst>
                        <p:par>
                          <p:cTn id="25" fill="hold">
                            <p:stCondLst>
                              <p:cond delay="indefinite"/>
                            </p:stCondLst>
                          </p:cTn>
                        </p:par>
                        <p:par>
                          <p:cTn id="26" fill="hold">
                            <p:stCondLst>
                              <p:cond delay="0"/>
                            </p:stCondLst>
                            <p:childTnLst>
                              <p:par>
                                <p:cTn id="27" presetID="22" presetClass="entr" presetSubtype="8" fill="hold" grpId="0" nodeType="clickEffect">
                                  <p:stCondLst>
                                    <p:cond delay="-9223372036854775808"/>
                                  </p:stCondLst>
                                  <p:childTnLst>
                                    <p:set>
                                      <p:cBhvr additive="base">
                                        <p:cTn id="28" dur="1" fill="hold">
                                          <p:stCondLst>
                                            <p:cond delay="0"/>
                                          </p:stCondLst>
                                        </p:cTn>
                                        <p:tgtEl>
                                          <p:spTgt spid="75784"/>
                                        </p:tgtEl>
                                        <p:attrNameLst>
                                          <p:attrName>style.visibility</p:attrName>
                                        </p:attrNameLst>
                                      </p:cBhvr>
                                      <p:to>
                                        <p:strVal val="visible"/>
                                      </p:to>
                                    </p:set>
                                    <p:animEffect transition="in" filter="wipe(left)">
                                      <p:cBhvr additive="base">
                                        <p:cTn id="29" dur="2000"/>
                                        <p:tgtEl>
                                          <p:spTgt spid="75784"/>
                                        </p:tgtEl>
                                      </p:cBhvr>
                                    </p:animEffect>
                                  </p:childTnLst>
                                </p:cTn>
                              </p:par>
                            </p:childTnLst>
                          </p:cTn>
                        </p:par>
                      </p:childTnLst>
                    </p:cTn>
                  </p:par>
                  <p:par>
                    <p:cTn id="30" fill="hold">
                      <p:stCondLst>
                        <p:cond delay="indefinite"/>
                        <p:cond evt="onBegin" delay="0">
                          <p:tn val="29"/>
                        </p:cond>
                      </p:stCondLst>
                      <p:childTnLst>
                        <p:par>
                          <p:cTn id="31" fill="hold">
                            <p:stCondLst>
                              <p:cond delay="indefinite"/>
                            </p:stCondLst>
                          </p:cTn>
                        </p:par>
                        <p:par>
                          <p:cTn id="32" fill="hold">
                            <p:stCondLst>
                              <p:cond delay="0"/>
                            </p:stCondLst>
                            <p:childTnLst>
                              <p:par>
                                <p:cTn id="33" presetID="22" presetClass="entr" presetSubtype="8" fill="hold" nodeType="clickEffect">
                                  <p:stCondLst>
                                    <p:cond delay="-9223372036854775808"/>
                                  </p:stCondLst>
                                  <p:childTnLst>
                                    <p:set>
                                      <p:cBhvr additive="base">
                                        <p:cTn id="34" dur="1" fill="hold">
                                          <p:stCondLst>
                                            <p:cond delay="0"/>
                                          </p:stCondLst>
                                        </p:cTn>
                                        <p:tgtEl>
                                          <p:spTgt spid="75785"/>
                                        </p:tgtEl>
                                        <p:attrNameLst>
                                          <p:attrName>style.visibility</p:attrName>
                                        </p:attrNameLst>
                                      </p:cBhvr>
                                      <p:to>
                                        <p:strVal val="visible"/>
                                      </p:to>
                                    </p:set>
                                    <p:animEffect transition="in" filter="wipe(left)">
                                      <p:cBhvr additive="base">
                                        <p:cTn id="35" dur="2000"/>
                                        <p:tgtEl>
                                          <p:spTgt spid="75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4" grpId="0"/>
      <p:bldP spid="75786" grpId="1"/>
    </p:bldLst>
  </p:timing>
</p:sld>
</file>

<file path=ppt/slides/slide7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6802" name="Text Box 2"/>
          <p:cNvSpPr/>
          <p:nvPr/>
        </p:nvSpPr>
        <p:spPr>
          <a:xfrm>
            <a:off x="323850" y="836612"/>
            <a:ext cx="8828970" cy="1482809"/>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20000"/>
              </a:lnSpc>
              <a:spcBef>
                <a:spcPct val="50000"/>
              </a:spcBef>
              <a:buFont typeface="Times New Roman" pitchFamily="18" charset="0"/>
            </a:pPr>
            <a:r>
              <a:rPr kumimoji="1" lang="zh-CN" altLang="en-US" sz="2800" b="1">
                <a:solidFill>
                  <a:schemeClr val="tx2"/>
                </a:solidFill>
                <a:effectLst/>
                <a:latin typeface="Times New Roman" pitchFamily="18" charset="0"/>
              </a:rPr>
              <a:t>（</a:t>
            </a:r>
            <a:r>
              <a:rPr kumimoji="1" lang="en-US" altLang="zh-CN" sz="2800" b="1">
                <a:solidFill>
                  <a:schemeClr val="tx2"/>
                </a:solidFill>
                <a:effectLst/>
                <a:latin typeface="Times New Roman" pitchFamily="18" charset="0"/>
              </a:rPr>
              <a:t>4</a:t>
            </a:r>
            <a:r>
              <a:rPr kumimoji="1" lang="zh-CN" altLang="en-US" sz="2800" b="1">
                <a:solidFill>
                  <a:schemeClr val="tx2"/>
                </a:solidFill>
                <a:effectLst/>
                <a:latin typeface="Times New Roman" pitchFamily="18" charset="0"/>
              </a:rPr>
              <a:t>）</a:t>
            </a:r>
            <a:r>
              <a:rPr kumimoji="1" lang="zh-CN" altLang="en-US" sz="1400" b="1">
                <a:solidFill>
                  <a:schemeClr val="tx2"/>
                </a:solidFill>
                <a:effectLst/>
                <a:latin typeface="Times New Roman" pitchFamily="18" charset="0"/>
              </a:rPr>
              <a:t> </a:t>
            </a:r>
            <a:r>
              <a:rPr kumimoji="1" lang="zh-CN" altLang="en-US" sz="2400" b="1">
                <a:solidFill>
                  <a:schemeClr val="tx2"/>
                </a:solidFill>
                <a:effectLst/>
                <a:latin typeface="Times New Roman" pitchFamily="18" charset="0"/>
              </a:rPr>
              <a:t>设</a:t>
            </a:r>
            <a:r>
              <a:rPr kumimoji="1" lang="en-US" altLang="zh-CN" sz="2400" i="1">
                <a:solidFill>
                  <a:schemeClr val="tx2"/>
                </a:solidFill>
                <a:effectLst/>
                <a:latin typeface="Times New Roman" pitchFamily="18" charset="0"/>
                <a:ea typeface="Times New Roman" pitchFamily="18" charset="0"/>
              </a:rPr>
              <a:t>d</a:t>
            </a:r>
            <a:r>
              <a:rPr kumimoji="1" lang="en-US" altLang="zh-CN" sz="2400" b="1" baseline="-25000">
                <a:solidFill>
                  <a:schemeClr val="tx2"/>
                </a:solidFill>
                <a:effectLst/>
                <a:latin typeface="Times New Roman" pitchFamily="18" charset="0"/>
                <a:ea typeface="Times New Roman" pitchFamily="18" charset="0"/>
              </a:rPr>
              <a:t>4</a:t>
            </a:r>
            <a:r>
              <a:rPr kumimoji="1" lang="en-US" altLang="zh-CN" sz="2400" b="1" i="1">
                <a:solidFill>
                  <a:schemeClr val="tx2"/>
                </a:solidFill>
                <a:effectLst/>
                <a:latin typeface="Times New Roman" pitchFamily="18" charset="0"/>
                <a:ea typeface="Times New Roman" pitchFamily="18" charset="0"/>
              </a:rPr>
              <a:t>ˉ</a:t>
            </a:r>
            <a:r>
              <a:rPr kumimoji="1" lang="en-US" altLang="zh-CN" sz="2400" i="1">
                <a:effectLst/>
                <a:latin typeface="Times New Roman" pitchFamily="18" charset="0"/>
                <a:ea typeface="Times New Roman" pitchFamily="18" charset="0"/>
              </a:rPr>
              <a:t> </a:t>
            </a:r>
            <a:r>
              <a:rPr kumimoji="1" lang="zh-CN" altLang="en-US" sz="2400" b="1" i="1">
                <a:solidFill>
                  <a:schemeClr val="tx2"/>
                </a:solidFill>
                <a:effectLst/>
                <a:latin typeface="Times New Roman" pitchFamily="18" charset="0"/>
                <a:ea typeface="Times New Roman" pitchFamily="18" charset="0"/>
              </a:rPr>
              <a:t>、</a:t>
            </a:r>
            <a:r>
              <a:rPr kumimoji="1" lang="en-US" altLang="zh-CN" sz="2400" i="1">
                <a:solidFill>
                  <a:schemeClr val="tx2"/>
                </a:solidFill>
                <a:effectLst/>
                <a:latin typeface="Times New Roman" pitchFamily="18" charset="0"/>
                <a:ea typeface="Times New Roman" pitchFamily="18" charset="0"/>
              </a:rPr>
              <a:t>d</a:t>
            </a:r>
            <a:r>
              <a:rPr kumimoji="1" lang="en-US" altLang="zh-CN" sz="2400" b="1" baseline="-25000">
                <a:solidFill>
                  <a:schemeClr val="tx2"/>
                </a:solidFill>
                <a:effectLst/>
                <a:latin typeface="Times New Roman" pitchFamily="18" charset="0"/>
                <a:ea typeface="Times New Roman" pitchFamily="18" charset="0"/>
              </a:rPr>
              <a:t>4</a:t>
            </a:r>
            <a:r>
              <a:rPr kumimoji="1" lang="en-US" altLang="zh-CN" sz="2400" b="1" i="1" baseline="30000">
                <a:solidFill>
                  <a:schemeClr val="tx2"/>
                </a:solidFill>
                <a:effectLst/>
                <a:latin typeface="Times New Roman" pitchFamily="18" charset="0"/>
                <a:ea typeface="Times New Roman" pitchFamily="18" charset="0"/>
              </a:rPr>
              <a:t>+</a:t>
            </a:r>
            <a:r>
              <a:rPr kumimoji="1" lang="zh-CN" altLang="en-US" sz="2400" b="1">
                <a:solidFill>
                  <a:schemeClr val="tx2"/>
                </a:solidFill>
                <a:effectLst/>
                <a:latin typeface="Times New Roman" pitchFamily="18" charset="0"/>
              </a:rPr>
              <a:t>为设备</a:t>
            </a:r>
            <a:r>
              <a:rPr kumimoji="1" lang="en-US" altLang="zh-CN" sz="2400" b="1">
                <a:solidFill>
                  <a:schemeClr val="tx2"/>
                </a:solidFill>
                <a:effectLst/>
                <a:latin typeface="Times New Roman" pitchFamily="18" charset="0"/>
              </a:rPr>
              <a:t>A</a:t>
            </a:r>
            <a:r>
              <a:rPr kumimoji="1" lang="zh-CN" altLang="en-US" sz="2400" b="1">
                <a:solidFill>
                  <a:schemeClr val="tx2"/>
                </a:solidFill>
                <a:effectLst/>
                <a:latin typeface="Times New Roman" pitchFamily="18" charset="0"/>
              </a:rPr>
              <a:t>的使用时间偏差变量</a:t>
            </a:r>
            <a:r>
              <a:rPr kumimoji="1" lang="en-US" altLang="zh-CN" sz="2400" b="1">
                <a:solidFill>
                  <a:schemeClr val="tx2"/>
                </a:solidFill>
                <a:effectLst/>
                <a:latin typeface="Times New Roman" pitchFamily="18" charset="0"/>
              </a:rPr>
              <a:t>,  </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5</a:t>
            </a:r>
            <a:r>
              <a:rPr kumimoji="1" lang="en-US" altLang="zh-CN" sz="2400" b="1">
                <a:solidFill>
                  <a:schemeClr val="tx2"/>
                </a:solidFill>
                <a:effectLst/>
                <a:latin typeface="Times New Roman" pitchFamily="18" charset="0"/>
              </a:rPr>
              <a:t>ˉ</a:t>
            </a:r>
            <a:r>
              <a:rPr kumimoji="1" lang="zh-CN" altLang="en-US" sz="2400" b="1">
                <a:solidFill>
                  <a:schemeClr val="tx2"/>
                </a:solidFill>
                <a:effectLst/>
                <a:latin typeface="Times New Roman" pitchFamily="18" charset="0"/>
              </a:rPr>
              <a:t>、</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5</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为设备</a:t>
            </a:r>
            <a:r>
              <a:rPr kumimoji="1" lang="en-US" altLang="zh-CN" sz="2400" b="1">
                <a:solidFill>
                  <a:schemeClr val="tx2"/>
                </a:solidFill>
                <a:effectLst/>
                <a:latin typeface="Times New Roman" pitchFamily="18" charset="0"/>
              </a:rPr>
              <a:t>B</a:t>
            </a:r>
            <a:r>
              <a:rPr kumimoji="1" lang="zh-CN" altLang="en-US" sz="2400" b="1">
                <a:solidFill>
                  <a:schemeClr val="tx2"/>
                </a:solidFill>
                <a:effectLst/>
                <a:latin typeface="Times New Roman" pitchFamily="18" charset="0"/>
              </a:rPr>
              <a:t>的使用时间偏差变量，最好不加班的含义是 </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4</a:t>
            </a:r>
            <a:r>
              <a:rPr kumimoji="1" lang="en-US" altLang="zh-CN" sz="2400" b="1" baseline="30000">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 </a:t>
            </a:r>
            <a:r>
              <a:rPr kumimoji="1" lang="zh-CN" altLang="en-US" sz="2400" b="1">
                <a:solidFill>
                  <a:schemeClr val="tx2"/>
                </a:solidFill>
                <a:effectLst/>
                <a:latin typeface="Times New Roman" pitchFamily="18" charset="0"/>
              </a:rPr>
              <a:t>和</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5</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同时取最小值，等价 于</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4</a:t>
            </a:r>
            <a:r>
              <a:rPr kumimoji="1" lang="en-US" altLang="zh-CN" sz="2400" b="1" baseline="30000">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 </a:t>
            </a:r>
            <a:r>
              <a:rPr kumimoji="1" lang="en-US" altLang="zh-CN" sz="2400" i="1">
                <a:solidFill>
                  <a:schemeClr val="tx2"/>
                </a:solidFill>
                <a:effectLst/>
                <a:latin typeface="Times New Roman" pitchFamily="18" charset="0"/>
              </a:rPr>
              <a:t>+ d</a:t>
            </a:r>
            <a:r>
              <a:rPr kumimoji="1" lang="en-US" altLang="zh-CN" sz="2400" b="1" baseline="-25000">
                <a:solidFill>
                  <a:schemeClr val="tx2"/>
                </a:solidFill>
                <a:effectLst/>
                <a:latin typeface="Times New Roman" pitchFamily="18" charset="0"/>
              </a:rPr>
              <a:t>5</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取最小值，则设备的目标函数和约束为：  </a:t>
            </a:r>
          </a:p>
        </p:txBody>
      </p:sp>
      <p:sp>
        <p:nvSpPr>
          <p:cNvPr id="76803" name="Rectangle 3"/>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6804" name="Object 4"/>
          <p:cNvGraphicFramePr>
            <a:graphicFrameLocks noChangeAspect="1"/>
          </p:cNvGraphicFramePr>
          <p:nvPr/>
        </p:nvGraphicFramePr>
        <p:xfrm>
          <a:off x="1871662" y="2636838"/>
          <a:ext cx="4248150" cy="1684338"/>
        </p:xfrm>
        <a:graphic>
          <a:graphicData uri="http://schemas.openxmlformats.org/presentationml/2006/ole">
            <mc:AlternateContent xmlns:mc="http://schemas.openxmlformats.org/markup-compatibility/2006">
              <mc:Choice xmlns:v="urn:schemas-microsoft-com:vml" Requires="v">
                <p:oleObj spid="_x0000_s1114" name="Equation" r:id="rId2" progId="Equation.DSMT4">
                  <p:embed/>
                </p:oleObj>
              </mc:Choice>
              <mc:Fallback>
                <p:oleObj spid="_x0000_s1114" name="Equation" r:id="rId2" progId="Equation.DSMT4">
                  <p:embed/>
                  <p:pic>
                    <p:nvPicPr>
                      <p:cNvPr id="0" name="OLE substitute image"/>
                      <p:cNvPicPr/>
                      <p:nvPr/>
                    </p:nvPicPr>
                    <p:blipFill>
                      <a:blip r:embed="rId3"/>
                      <a:stretch/>
                    </p:blipFill>
                    <p:spPr>
                      <a:xfrm>
                        <a:off x="1871662" y="2636838"/>
                        <a:ext cx="4248150" cy="1684338"/>
                      </a:xfrm>
                      <a:prstGeom prst="rect">
                        <a:avLst/>
                      </a:prstGeom>
                      <a:noFill/>
                      <a:effectLst/>
                    </p:spPr>
                  </p:pic>
                </p:oleObj>
              </mc:Fallback>
            </mc:AlternateContent>
          </a:graphicData>
        </a:graphic>
      </p:graphicFrame>
      <p:sp>
        <p:nvSpPr>
          <p:cNvPr id="76805" name="Rectangle 5"/>
          <p:cNvSpPr/>
          <p:nvPr/>
        </p:nvSpPr>
        <p:spPr>
          <a:xfrm>
            <a:off x="0" y="364122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76806" name="Rectangle 6"/>
          <p:cNvSpPr/>
          <p:nvPr/>
        </p:nvSpPr>
        <p:spPr>
          <a:xfrm>
            <a:off x="323850" y="4507771"/>
            <a:ext cx="8757461"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5</a:t>
            </a:r>
            <a:r>
              <a:rPr kumimoji="1" lang="zh-CN" altLang="en-US" sz="2400" b="1">
                <a:solidFill>
                  <a:schemeClr val="tx2"/>
                </a:solidFill>
                <a:effectLst/>
                <a:latin typeface="Times New Roman" pitchFamily="18" charset="0"/>
              </a:rPr>
              <a:t>）材料不能购进表示不允许有正偏差，约束条件为小于等于约束．</a:t>
            </a:r>
          </a:p>
        </p:txBody>
      </p:sp>
      <p:sp>
        <p:nvSpPr>
          <p:cNvPr id="76807" name="Rectangle 7"/>
          <p:cNvSpPr/>
          <p:nvPr/>
        </p:nvSpPr>
        <p:spPr>
          <a:xfrm>
            <a:off x="323850" y="5444396"/>
            <a:ext cx="8649403"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由于目标是有序的并且四个目标函数非负，因此目标函数可以表达成一个函数：</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9223372036854775808"/>
                                  </p:stCondLst>
                                  <p:childTnLst>
                                    <p:set>
                                      <p:cBhvr additive="base">
                                        <p:cTn id="6" dur="1" fill="hold">
                                          <p:stCondLst>
                                            <p:cond delay="0"/>
                                          </p:stCondLst>
                                        </p:cTn>
                                        <p:tgtEl>
                                          <p:spTgt spid="76802"/>
                                        </p:tgtEl>
                                        <p:attrNameLst>
                                          <p:attrName>style.visibility</p:attrName>
                                        </p:attrNameLst>
                                      </p:cBhvr>
                                      <p:to>
                                        <p:strVal val="visible"/>
                                      </p:to>
                                    </p:set>
                                    <p:animEffect transition="in" filter="wipe(up)">
                                      <p:cBhvr additive="base">
                                        <p:cTn id="7" dur="2000"/>
                                        <p:tgtEl>
                                          <p:spTgt spid="76802"/>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1" fill="hold" nodeType="clickEffect">
                                  <p:stCondLst>
                                    <p:cond delay="-9223372036854775808"/>
                                  </p:stCondLst>
                                  <p:childTnLst>
                                    <p:set>
                                      <p:cBhvr additive="base">
                                        <p:cTn id="12" dur="1" fill="hold">
                                          <p:stCondLst>
                                            <p:cond delay="0"/>
                                          </p:stCondLst>
                                        </p:cTn>
                                        <p:tgtEl>
                                          <p:spTgt spid="76804"/>
                                        </p:tgtEl>
                                        <p:attrNameLst>
                                          <p:attrName>style.visibility</p:attrName>
                                        </p:attrNameLst>
                                      </p:cBhvr>
                                      <p:to>
                                        <p:strVal val="visible"/>
                                      </p:to>
                                    </p:set>
                                    <p:animEffect transition="in" filter="wipe(up)">
                                      <p:cBhvr additive="base">
                                        <p:cTn id="13" dur="2000"/>
                                        <p:tgtEl>
                                          <p:spTgt spid="76804"/>
                                        </p:tgtEl>
                                      </p:cBhvr>
                                    </p:animEffect>
                                  </p:childTnLst>
                                </p:cTn>
                              </p:par>
                            </p:childTnLst>
                          </p:cTn>
                        </p:par>
                      </p:childTnLst>
                    </p:cTn>
                  </p:par>
                  <p:par>
                    <p:cTn id="14" fill="hold">
                      <p:stCondLst>
                        <p:cond delay="indefinite"/>
                        <p:cond evt="onBegin" delay="0">
                          <p:tn val="13"/>
                        </p:cond>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76806">
                                            <p:txEl>
                                              <p:charRg st="0" end="32"/>
                                            </p:txEl>
                                          </p:spTgt>
                                        </p:tgtEl>
                                        <p:attrNameLst>
                                          <p:attrName>style.visibility</p:attrName>
                                        </p:attrNameLst>
                                      </p:cBhvr>
                                      <p:to>
                                        <p:strVal val="visible"/>
                                      </p:to>
                                    </p:set>
                                    <p:animEffect transition="in" filter="wipe(left)">
                                      <p:cBhvr additive="base">
                                        <p:cTn id="19" dur="2000"/>
                                        <p:tgtEl>
                                          <p:spTgt spid="76806">
                                            <p:txEl>
                                              <p:charRg st="0" end="32"/>
                                            </p:txEl>
                                          </p:spTgt>
                                        </p:tgtEl>
                                      </p:cBhvr>
                                    </p:animEffect>
                                  </p:childTnLst>
                                </p:cTn>
                              </p:par>
                            </p:childTnLst>
                          </p:cTn>
                        </p:par>
                      </p:childTnLst>
                    </p:cTn>
                  </p:par>
                  <p:par>
                    <p:cTn id="20" fill="hold">
                      <p:stCondLst>
                        <p:cond delay="indefinite"/>
                        <p:cond evt="onBegin" delay="0">
                          <p:tn val="19"/>
                        </p:cond>
                      </p:stCondLst>
                      <p:childTnLst>
                        <p:par>
                          <p:cTn id="21" fill="hold">
                            <p:stCondLst>
                              <p:cond delay="indefinite"/>
                            </p:stCondLst>
                          </p:cTn>
                        </p:par>
                        <p:par>
                          <p:cTn id="22" fill="hold">
                            <p:stCondLst>
                              <p:cond delay="0"/>
                            </p:stCondLst>
                            <p:childTnLst>
                              <p:par>
                                <p:cTn id="23" presetID="22" presetClass="entr" presetSubtype="8" fill="hold" grpId="1" nodeType="clickEffect">
                                  <p:stCondLst>
                                    <p:cond delay="-9223372036854775808"/>
                                  </p:stCondLst>
                                  <p:childTnLst>
                                    <p:set>
                                      <p:cBhvr additive="base">
                                        <p:cTn id="24" dur="1" fill="hold">
                                          <p:stCondLst>
                                            <p:cond delay="0"/>
                                          </p:stCondLst>
                                        </p:cTn>
                                        <p:tgtEl>
                                          <p:spTgt spid="76807"/>
                                        </p:tgtEl>
                                        <p:attrNameLst>
                                          <p:attrName>style.visibility</p:attrName>
                                        </p:attrNameLst>
                                      </p:cBhvr>
                                      <p:to>
                                        <p:strVal val="visible"/>
                                      </p:to>
                                    </p:set>
                                    <p:animEffect transition="in" filter="wipe(left)">
                                      <p:cBhvr additive="base">
                                        <p:cTn id="25" dur="2000"/>
                                        <p:tgtEl>
                                          <p:spTgt spid="76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76807" grpId="1"/>
    </p:bldLst>
  </p:timing>
</p:sld>
</file>

<file path=ppt/slides/slide7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graphicFrame>
        <p:nvGraphicFramePr>
          <p:cNvPr id="77826" name="Object 2"/>
          <p:cNvGraphicFramePr>
            <a:graphicFrameLocks noChangeAspect="1"/>
          </p:cNvGraphicFramePr>
          <p:nvPr/>
        </p:nvGraphicFramePr>
        <p:xfrm>
          <a:off x="2316162" y="836612"/>
          <a:ext cx="4365625" cy="412750"/>
        </p:xfrm>
        <a:graphic>
          <a:graphicData uri="http://schemas.openxmlformats.org/presentationml/2006/ole">
            <mc:AlternateContent xmlns:mc="http://schemas.openxmlformats.org/markup-compatibility/2006">
              <mc:Choice xmlns:v="urn:schemas-microsoft-com:vml" Requires="v">
                <p:oleObj spid="_x0000_s1115" name="公式" r:id="rId2" progId="Equation.3">
                  <p:embed/>
                </p:oleObj>
              </mc:Choice>
              <mc:Fallback>
                <p:oleObj spid="_x0000_s1115" name="公式" r:id="rId2" progId="Equation.3">
                  <p:embed/>
                  <p:pic>
                    <p:nvPicPr>
                      <p:cNvPr id="0" name="OLE substitute image"/>
                      <p:cNvPicPr/>
                      <p:nvPr/>
                    </p:nvPicPr>
                    <p:blipFill>
                      <a:blip r:embed="rId3"/>
                      <a:stretch/>
                    </p:blipFill>
                    <p:spPr>
                      <a:xfrm>
                        <a:off x="2316162" y="836612"/>
                        <a:ext cx="4365625" cy="412750"/>
                      </a:xfrm>
                      <a:prstGeom prst="rect">
                        <a:avLst/>
                      </a:prstGeom>
                      <a:noFill/>
                      <a:effectLst/>
                    </p:spPr>
                  </p:pic>
                </p:oleObj>
              </mc:Fallback>
            </mc:AlternateContent>
          </a:graphicData>
        </a:graphic>
      </p:graphicFrame>
      <p:sp>
        <p:nvSpPr>
          <p:cNvPr id="77827" name="Rectangle 3"/>
          <p:cNvSpPr/>
          <p:nvPr/>
        </p:nvSpPr>
        <p:spPr>
          <a:xfrm>
            <a:off x="319088" y="1267033"/>
            <a:ext cx="8833739" cy="1299747"/>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10000"/>
              </a:lnSpc>
            </a:pPr>
            <a:r>
              <a:rPr kumimoji="1" lang="zh-CN" altLang="en-US" sz="2400" b="1">
                <a:solidFill>
                  <a:schemeClr val="tx2"/>
                </a:solidFill>
                <a:effectLst/>
                <a:latin typeface="Times New Roman" pitchFamily="18" charset="0"/>
              </a:rPr>
              <a:t>式中：</a:t>
            </a:r>
            <a:r>
              <a:rPr kumimoji="1" lang="en-US" altLang="zh-CN" sz="2400" b="1" i="1">
                <a:solidFill>
                  <a:schemeClr val="tx2"/>
                </a:solidFill>
                <a:effectLst/>
                <a:latin typeface="Times New Roman" pitchFamily="18" charset="0"/>
              </a:rPr>
              <a:t>P</a:t>
            </a:r>
            <a:r>
              <a:rPr kumimoji="1" lang="en-US" altLang="zh-CN" sz="2400" b="1" i="1" baseline="-30000">
                <a:solidFill>
                  <a:schemeClr val="tx2"/>
                </a:solidFill>
                <a:effectLst/>
                <a:latin typeface="Times New Roman" pitchFamily="18" charset="0"/>
              </a:rPr>
              <a:t>j</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j</a:t>
            </a:r>
            <a:r>
              <a:rPr kumimoji="1" lang="en-US" altLang="zh-CN" sz="2400" b="1">
                <a:solidFill>
                  <a:schemeClr val="tx2"/>
                </a:solidFill>
                <a:effectLst/>
                <a:latin typeface="Times New Roman" pitchFamily="18" charset="0"/>
              </a:rPr>
              <a:t>=1,2,3,4</a:t>
            </a:r>
            <a:r>
              <a:rPr kumimoji="1" lang="zh-CN" altLang="en-US" sz="2400" b="1">
                <a:solidFill>
                  <a:schemeClr val="tx2"/>
                </a:solidFill>
                <a:effectLst/>
                <a:latin typeface="Times New Roman" pitchFamily="18" charset="0"/>
              </a:rPr>
              <a:t>）称为目标的优先因子，第一目标优于第二目标，第二目标优于第三目标等等，其含义是按</a:t>
            </a:r>
            <a:r>
              <a:rPr kumimoji="1" lang="en-US" altLang="zh-CN" sz="2400" b="1" i="1">
                <a:solidFill>
                  <a:schemeClr val="tx2"/>
                </a:solidFill>
                <a:effectLst/>
                <a:latin typeface="Times New Roman" pitchFamily="18" charset="0"/>
              </a:rPr>
              <a:t>P</a:t>
            </a:r>
            <a:r>
              <a:rPr kumimoji="1" lang="en-US" altLang="zh-CN" sz="2400" b="1" baseline="-30000">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P</a:t>
            </a:r>
            <a:r>
              <a:rPr kumimoji="1" lang="en-US" altLang="zh-CN" sz="2400" b="1" baseline="-30000">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的次序分别求后面函数的最小值</a:t>
            </a:r>
            <a:r>
              <a:rPr kumimoji="1" lang="en-US" altLang="zh-CN" sz="2400" b="1">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则问题的目标规划数学模型为：</a:t>
            </a:r>
          </a:p>
        </p:txBody>
      </p:sp>
      <p:sp>
        <p:nvSpPr>
          <p:cNvPr id="77828" name="Rectangle 4"/>
          <p:cNvSpPr/>
          <p:nvPr/>
        </p:nvSpPr>
        <p:spPr>
          <a:xfrm>
            <a:off x="0" y="2150562"/>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7829" name="Object 5"/>
          <p:cNvGraphicFramePr>
            <a:graphicFrameLocks noChangeAspect="1"/>
          </p:cNvGraphicFramePr>
          <p:nvPr/>
        </p:nvGraphicFramePr>
        <p:xfrm>
          <a:off x="755650" y="2636838"/>
          <a:ext cx="6769100" cy="3938588"/>
        </p:xfrm>
        <a:graphic>
          <a:graphicData uri="http://schemas.openxmlformats.org/presentationml/2006/ole">
            <mc:AlternateContent xmlns:mc="http://schemas.openxmlformats.org/markup-compatibility/2006">
              <mc:Choice xmlns:v="urn:schemas-microsoft-com:vml" Requires="v">
                <p:oleObj spid="_x0000_s1116" name="公式" r:id="rId4" progId="Equation.3">
                  <p:embed/>
                </p:oleObj>
              </mc:Choice>
              <mc:Fallback>
                <p:oleObj spid="_x0000_s1116" name="公式" r:id="rId4" progId="Equation.3">
                  <p:embed/>
                  <p:pic>
                    <p:nvPicPr>
                      <p:cNvPr id="0" name="OLE substitute image"/>
                      <p:cNvPicPr/>
                      <p:nvPr/>
                    </p:nvPicPr>
                    <p:blipFill>
                      <a:blip r:embed="rId5"/>
                      <a:stretch/>
                    </p:blipFill>
                    <p:spPr>
                      <a:xfrm>
                        <a:off x="755650" y="2636838"/>
                        <a:ext cx="6769100" cy="3938588"/>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77826"/>
                                        </p:tgtEl>
                                        <p:attrNameLst>
                                          <p:attrName>style.visibility</p:attrName>
                                        </p:attrNameLst>
                                      </p:cBhvr>
                                      <p:to>
                                        <p:strVal val="visible"/>
                                      </p:to>
                                    </p:set>
                                    <p:animEffect transition="in" filter="wipe(left)">
                                      <p:cBhvr additive="base">
                                        <p:cTn id="7" dur="2000"/>
                                        <p:tgtEl>
                                          <p:spTgt spid="77826"/>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1" fill="hold" nodeType="clickEffect">
                                  <p:stCondLst>
                                    <p:cond delay="-9223372036854775808"/>
                                  </p:stCondLst>
                                  <p:childTnLst>
                                    <p:set>
                                      <p:cBhvr additive="base">
                                        <p:cTn id="12" dur="1" fill="hold">
                                          <p:stCondLst>
                                            <p:cond delay="0"/>
                                          </p:stCondLst>
                                        </p:cTn>
                                        <p:tgtEl>
                                          <p:spTgt spid="77827">
                                            <p:txEl>
                                              <p:charRg st="0" end="92"/>
                                            </p:txEl>
                                          </p:spTgt>
                                        </p:tgtEl>
                                        <p:attrNameLst>
                                          <p:attrName>style.visibility</p:attrName>
                                        </p:attrNameLst>
                                      </p:cBhvr>
                                      <p:to>
                                        <p:strVal val="visible"/>
                                      </p:to>
                                    </p:set>
                                    <p:animEffect transition="in" filter="wipe(up)">
                                      <p:cBhvr additive="base">
                                        <p:cTn id="13" dur="2000"/>
                                        <p:tgtEl>
                                          <p:spTgt spid="77827">
                                            <p:txEl>
                                              <p:charRg st="0" end="92"/>
                                            </p:txEl>
                                          </p:spTgt>
                                        </p:tgtEl>
                                      </p:cBhvr>
                                    </p:animEffect>
                                  </p:childTnLst>
                                </p:cTn>
                              </p:par>
                            </p:childTnLst>
                          </p:cTn>
                        </p:par>
                      </p:childTnLst>
                    </p:cTn>
                  </p:par>
                  <p:par>
                    <p:cTn id="14" fill="hold">
                      <p:stCondLst>
                        <p:cond delay="indefinite"/>
                        <p:cond evt="onBegin" delay="0">
                          <p:tn val="13"/>
                        </p:cond>
                      </p:stCondLst>
                      <p:childTnLst>
                        <p:par>
                          <p:cTn id="15" fill="hold">
                            <p:stCondLst>
                              <p:cond delay="indefinite"/>
                            </p:stCondLst>
                          </p:cTn>
                        </p:par>
                        <p:par>
                          <p:cTn id="16" fill="hold">
                            <p:stCondLst>
                              <p:cond delay="0"/>
                            </p:stCondLst>
                            <p:childTnLst>
                              <p:par>
                                <p:cTn id="17" presetID="22" presetClass="entr" presetSubtype="1" fill="hold" nodeType="clickEffect">
                                  <p:stCondLst>
                                    <p:cond delay="-9223372036854775808"/>
                                  </p:stCondLst>
                                  <p:childTnLst>
                                    <p:set>
                                      <p:cBhvr additive="base">
                                        <p:cTn id="18" dur="1" fill="hold">
                                          <p:stCondLst>
                                            <p:cond delay="0"/>
                                          </p:stCondLst>
                                        </p:cTn>
                                        <p:tgtEl>
                                          <p:spTgt spid="77829"/>
                                        </p:tgtEl>
                                        <p:attrNameLst>
                                          <p:attrName>style.visibility</p:attrName>
                                        </p:attrNameLst>
                                      </p:cBhvr>
                                      <p:to>
                                        <p:strVal val="visible"/>
                                      </p:to>
                                    </p:set>
                                    <p:animEffect transition="in" filter="wipe(up)">
                                      <p:cBhvr additive="base">
                                        <p:cTn id="19" dur="2000"/>
                                        <p:tgtEl>
                                          <p:spTgt spid="77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graphicFrame>
        <p:nvGraphicFramePr>
          <p:cNvPr id="78850" name="Group 2"/>
          <p:cNvGraphicFramePr>
            <a:graphicFrameLocks noGrp="1"/>
          </p:cNvGraphicFramePr>
          <p:nvPr/>
        </p:nvGraphicFramePr>
        <p:xfrm>
          <a:off x="3059112" y="1700212"/>
          <a:ext cx="5616575" cy="4146550"/>
        </p:xfrm>
        <a:graphic>
          <a:graphicData uri="http://schemas.openxmlformats.org/drawingml/2006/table">
            <a:tbl>
              <a:tblPr>
                <a:effectLst/>
              </a:tblPr>
              <a:tblGrid>
                <a:gridCol w="873125"/>
                <a:gridCol w="847725"/>
                <a:gridCol w="1092200"/>
                <a:gridCol w="1222375"/>
                <a:gridCol w="711200"/>
                <a:gridCol w="869950"/>
              </a:tblGrid>
              <a:tr h="701675">
                <a:tc gridSpan="2">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zh-CN" altLang="en-US" sz="2400" b="1">
                          <a:solidFill>
                            <a:schemeClr val="tx2"/>
                          </a:solidFill>
                          <a:effectLst/>
                          <a:latin typeface="宋体" pitchFamily="2" charset="-122"/>
                        </a:rPr>
                        <a:t>约束</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hMerge="1">
                  <a:txBody>
                    <a:bodyPr/>
                    <a:lstStyle/>
                    <a:p/>
                  </a:txBody>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zh-CN" altLang="en-US" sz="2400" b="1">
                          <a:solidFill>
                            <a:schemeClr val="tx2"/>
                          </a:solidFill>
                          <a:effectLst/>
                          <a:latin typeface="宋体" pitchFamily="2" charset="-122"/>
                        </a:rPr>
                        <a:t>实际</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zh-CN" altLang="en-US" sz="2400" b="1">
                          <a:solidFill>
                            <a:schemeClr val="tx2"/>
                          </a:solidFill>
                          <a:effectLst/>
                          <a:latin typeface="宋体" pitchFamily="2" charset="-122"/>
                        </a:rPr>
                        <a:t>偏差</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endParaRPr lang="zh-CN" altLang="zh-CN" sz="2400" b="1">
                        <a:solidFill>
                          <a:schemeClr val="tx2"/>
                        </a:solidFill>
                        <a:effectLst/>
                        <a:latin typeface="宋体" pitchFamily="2" charset="-122"/>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zh-CN" altLang="en-US" b="1">
                          <a:solidFill>
                            <a:schemeClr val="tx2"/>
                          </a:solidFill>
                          <a:effectLst/>
                          <a:latin typeface="宋体" pitchFamily="2" charset="-122"/>
                        </a:rPr>
                        <a:t>目标</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701675">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1</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C1</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3220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endParaRPr lang="zh-CN" altLang="zh-CN" b="1">
                        <a:solidFill>
                          <a:schemeClr val="tx2"/>
                        </a:solidFill>
                        <a:effectLst/>
                        <a:latin typeface="宋体" pitchFamily="2" charset="-122"/>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3200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423862">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2</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C2</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zh-CN" altLang="en-US" sz="2400" b="1">
                          <a:solidFill>
                            <a:schemeClr val="tx2"/>
                          </a:solidFill>
                          <a:effectLst/>
                          <a:latin typeface="宋体" pitchFamily="2" charset="-122"/>
                        </a:rPr>
                        <a:t>－</a:t>
                      </a:r>
                      <a:r>
                        <a:rPr lang="en-US" altLang="zh-CN" sz="2400" b="1">
                          <a:solidFill>
                            <a:schemeClr val="tx2"/>
                          </a:solidFill>
                          <a:effectLst/>
                          <a:latin typeface="宋体" pitchFamily="2" charset="-122"/>
                        </a:rPr>
                        <a:t>2</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endParaRPr lang="zh-CN" altLang="zh-CN" b="1">
                        <a:solidFill>
                          <a:schemeClr val="tx2"/>
                        </a:solidFill>
                        <a:effectLst/>
                        <a:latin typeface="宋体" pitchFamily="2" charset="-122"/>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422275">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3</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C3</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30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endParaRPr lang="zh-CN" altLang="zh-CN" b="1">
                        <a:solidFill>
                          <a:schemeClr val="tx2"/>
                        </a:solidFill>
                        <a:effectLst/>
                        <a:latin typeface="宋体" pitchFamily="2" charset="-122"/>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423862">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4</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C4</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164</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endParaRPr lang="zh-CN" altLang="zh-CN" sz="2000" b="1">
                        <a:solidFill>
                          <a:schemeClr val="tx2"/>
                        </a:solidFill>
                        <a:effectLst/>
                        <a:latin typeface="宋体" pitchFamily="2" charset="-122"/>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200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422275">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5</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C5</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216</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endParaRPr lang="zh-CN" altLang="zh-CN" sz="2000" b="1">
                        <a:solidFill>
                          <a:schemeClr val="tx2"/>
                        </a:solidFill>
                        <a:effectLst/>
                        <a:latin typeface="宋体" pitchFamily="2" charset="-122"/>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200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423862">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6</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C6</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242</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fontAlgn="ctr" hangingPunct="1"/>
                      <a:r>
                        <a:rPr lang="zh-CN" altLang="en-US" b="1">
                          <a:solidFill>
                            <a:schemeClr val="tx2"/>
                          </a:solidFill>
                          <a:effectLst/>
                          <a:latin typeface="宋体" pitchFamily="2" charset="-122"/>
                        </a:rPr>
                        <a:t>－</a:t>
                      </a:r>
                      <a:r>
                        <a:rPr lang="en-US" altLang="zh-CN" b="1">
                          <a:solidFill>
                            <a:schemeClr val="tx2"/>
                          </a:solidFill>
                          <a:effectLst/>
                          <a:latin typeface="宋体" pitchFamily="2" charset="-122"/>
                        </a:rPr>
                        <a:t>118</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&lt;=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360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422275">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7</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C7</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400" b="1">
                          <a:solidFill>
                            <a:schemeClr val="tx2"/>
                          </a:solidFill>
                          <a:effectLst/>
                          <a:latin typeface="宋体" pitchFamily="2" charset="-122"/>
                        </a:rPr>
                        <a:t>266</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fontAlgn="ctr" hangingPunct="1"/>
                      <a:r>
                        <a:rPr lang="zh-CN" altLang="en-US" b="1">
                          <a:solidFill>
                            <a:schemeClr val="tx2"/>
                          </a:solidFill>
                          <a:effectLst/>
                          <a:latin typeface="宋体" pitchFamily="2" charset="-122"/>
                        </a:rPr>
                        <a:t>－</a:t>
                      </a:r>
                      <a:r>
                        <a:rPr lang="en-US" altLang="zh-CN" b="1">
                          <a:solidFill>
                            <a:schemeClr val="tx2"/>
                          </a:solidFill>
                          <a:effectLst/>
                          <a:latin typeface="宋体" pitchFamily="2" charset="-122"/>
                        </a:rPr>
                        <a:t>34</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400" b="1">
                          <a:solidFill>
                            <a:schemeClr val="tx2"/>
                          </a:solidFill>
                          <a:effectLst/>
                          <a:latin typeface="宋体" pitchFamily="2" charset="-122"/>
                        </a:rPr>
                        <a:t>&lt;=</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300</a:t>
                      </a: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bl>
          </a:graphicData>
        </a:graphic>
      </p:graphicFrame>
      <p:graphicFrame>
        <p:nvGraphicFramePr>
          <p:cNvPr id="78914" name="Group 66"/>
          <p:cNvGraphicFramePr>
            <a:graphicFrameLocks noGrp="1"/>
          </p:cNvGraphicFramePr>
          <p:nvPr/>
        </p:nvGraphicFramePr>
        <p:xfrm>
          <a:off x="179388" y="1268412"/>
          <a:ext cx="2449513" cy="5159375"/>
        </p:xfrm>
        <a:graphic>
          <a:graphicData uri="http://schemas.openxmlformats.org/drawingml/2006/table">
            <a:tbl>
              <a:tblPr>
                <a:effectLst/>
              </a:tblPr>
              <a:tblGrid>
                <a:gridCol w="749300"/>
                <a:gridCol w="884238"/>
                <a:gridCol w="815975"/>
              </a:tblGrid>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1</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X1</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28</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X2</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X3</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4</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d1-</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5</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d1+</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6</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d2-</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2</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7</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d2+</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8</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d3-</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9</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d3+</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10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d4-</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36</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11</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d4+</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12</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d5-</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0</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r h="396875">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13</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fontAlgn="ctr" hangingPunct="1"/>
                      <a:r>
                        <a:rPr lang="en-US" altLang="zh-CN" sz="2000" b="1">
                          <a:solidFill>
                            <a:schemeClr val="tx2"/>
                          </a:solidFill>
                          <a:effectLst/>
                          <a:latin typeface="宋体" pitchFamily="2" charset="-122"/>
                        </a:rPr>
                        <a:t>d5+</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c>
                  <a:txBody>
                    <a:bodyPr tIns="45711" bIns="4571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fontAlgn="ctr" hangingPunct="1"/>
                      <a:r>
                        <a:rPr lang="en-US" altLang="zh-CN" sz="2000" b="1">
                          <a:solidFill>
                            <a:schemeClr val="tx2"/>
                          </a:solidFill>
                          <a:effectLst/>
                          <a:latin typeface="宋体" pitchFamily="2" charset="-122"/>
                        </a:rPr>
                        <a:t>16</a:t>
                      </a:r>
                      <a:endParaRPr lang="en-US" altLang="zh-CN" sz="2000" b="1">
                        <a:solidFill>
                          <a:schemeClr val="tx2"/>
                        </a:solidFill>
                        <a:effectLst/>
                      </a:endParaRPr>
                    </a:p>
                  </a:txBody>
                  <a:tcPr marT="45711" marB="4571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bg1"/>
                    </a:solidFill>
                  </a:tcPr>
                </a:tc>
              </a:tr>
            </a:tbl>
          </a:graphicData>
        </a:graphic>
      </p:graphicFrame>
      <p:sp>
        <p:nvSpPr>
          <p:cNvPr id="78972" name="Text Box 124"/>
          <p:cNvSpPr/>
          <p:nvPr/>
        </p:nvSpPr>
        <p:spPr>
          <a:xfrm>
            <a:off x="395288" y="836612"/>
            <a:ext cx="1403482"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effectLst/>
                <a:latin typeface="Times New Roman" pitchFamily="18" charset="0"/>
              </a:rPr>
              <a:t>满意解：</a:t>
            </a:r>
          </a:p>
        </p:txBody>
      </p:sp>
      <p:sp>
        <p:nvSpPr>
          <p:cNvPr id="78973" name="Text Box 125"/>
          <p:cNvSpPr/>
          <p:nvPr/>
        </p:nvSpPr>
        <p:spPr>
          <a:xfrm>
            <a:off x="3616325" y="1123950"/>
            <a:ext cx="1708587"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effectLst/>
                <a:latin typeface="Times New Roman" pitchFamily="18" charset="0"/>
              </a:rPr>
              <a:t>约束分析：</a:t>
            </a:r>
          </a:p>
        </p:txBody>
      </p:sp>
      <p:graphicFrame>
        <p:nvGraphicFramePr>
          <p:cNvPr id="78974" name="Object 126"/>
          <p:cNvGraphicFramePr>
            <a:graphicFrameLocks noChangeAspect="1"/>
          </p:cNvGraphicFramePr>
          <p:nvPr/>
        </p:nvGraphicFramePr>
        <p:xfrm>
          <a:off x="5867400" y="2565400"/>
          <a:ext cx="1009650" cy="434975"/>
        </p:xfrm>
        <a:graphic>
          <a:graphicData uri="http://schemas.openxmlformats.org/presentationml/2006/ole">
            <mc:AlternateContent xmlns:mc="http://schemas.openxmlformats.org/markup-compatibility/2006">
              <mc:Choice xmlns:v="urn:schemas-microsoft-com:vml" Requires="v">
                <p:oleObj spid="_x0000_s1117" name="Equation" r:id="rId2" progId="Equation.DSMT4">
                  <p:embed/>
                </p:oleObj>
              </mc:Choice>
              <mc:Fallback>
                <p:oleObj spid="_x0000_s1117" name="Equation" r:id="rId2" progId="Equation.DSMT4">
                  <p:embed/>
                  <p:pic>
                    <p:nvPicPr>
                      <p:cNvPr id="0" name="OLE substitute image"/>
                      <p:cNvPicPr/>
                      <p:nvPr/>
                    </p:nvPicPr>
                    <p:blipFill>
                      <a:blip r:embed="rId3"/>
                      <a:stretch/>
                    </p:blipFill>
                    <p:spPr>
                      <a:xfrm>
                        <a:off x="5867400" y="2565400"/>
                        <a:ext cx="1009650" cy="434975"/>
                      </a:xfrm>
                      <a:prstGeom prst="rect">
                        <a:avLst/>
                      </a:prstGeom>
                      <a:noFill/>
                      <a:effectLst/>
                    </p:spPr>
                  </p:pic>
                </p:oleObj>
              </mc:Fallback>
            </mc:AlternateContent>
          </a:graphicData>
        </a:graphic>
      </p:graphicFrame>
      <p:graphicFrame>
        <p:nvGraphicFramePr>
          <p:cNvPr id="78975" name="Object 127"/>
          <p:cNvGraphicFramePr>
            <a:graphicFrameLocks noChangeAspect="1"/>
          </p:cNvGraphicFramePr>
          <p:nvPr/>
        </p:nvGraphicFramePr>
        <p:xfrm>
          <a:off x="5940425" y="3141662"/>
          <a:ext cx="719138" cy="390525"/>
        </p:xfrm>
        <a:graphic>
          <a:graphicData uri="http://schemas.openxmlformats.org/presentationml/2006/ole">
            <mc:AlternateContent xmlns:mc="http://schemas.openxmlformats.org/markup-compatibility/2006">
              <mc:Choice xmlns:v="urn:schemas-microsoft-com:vml" Requires="v">
                <p:oleObj spid="_x0000_s1118" name="Equation" r:id="rId4" progId="Equation.DSMT4">
                  <p:embed/>
                </p:oleObj>
              </mc:Choice>
              <mc:Fallback>
                <p:oleObj spid="_x0000_s1118" name="Equation" r:id="rId4" progId="Equation.DSMT4">
                  <p:embed/>
                  <p:pic>
                    <p:nvPicPr>
                      <p:cNvPr id="0" name="OLE substitute image"/>
                      <p:cNvPicPr/>
                      <p:nvPr/>
                    </p:nvPicPr>
                    <p:blipFill>
                      <a:blip r:embed="rId5"/>
                      <a:stretch/>
                    </p:blipFill>
                    <p:spPr>
                      <a:xfrm>
                        <a:off x="5940425" y="3141662"/>
                        <a:ext cx="719138" cy="390525"/>
                      </a:xfrm>
                      <a:prstGeom prst="rect">
                        <a:avLst/>
                      </a:prstGeom>
                      <a:noFill/>
                      <a:effectLst/>
                    </p:spPr>
                  </p:pic>
                </p:oleObj>
              </mc:Fallback>
            </mc:AlternateContent>
          </a:graphicData>
        </a:graphic>
      </p:graphicFrame>
      <p:graphicFrame>
        <p:nvGraphicFramePr>
          <p:cNvPr id="78976" name="Object 128"/>
          <p:cNvGraphicFramePr>
            <a:graphicFrameLocks noChangeAspect="1"/>
          </p:cNvGraphicFramePr>
          <p:nvPr/>
        </p:nvGraphicFramePr>
        <p:xfrm>
          <a:off x="5940425" y="4076700"/>
          <a:ext cx="863600" cy="409575"/>
        </p:xfrm>
        <a:graphic>
          <a:graphicData uri="http://schemas.openxmlformats.org/presentationml/2006/ole">
            <mc:AlternateContent xmlns:mc="http://schemas.openxmlformats.org/markup-compatibility/2006">
              <mc:Choice xmlns:v="urn:schemas-microsoft-com:vml" Requires="v">
                <p:oleObj spid="_x0000_s1119" name="Equation" r:id="rId6" progId="Equation.DSMT4">
                  <p:embed/>
                </p:oleObj>
              </mc:Choice>
              <mc:Fallback>
                <p:oleObj spid="_x0000_s1119" name="Equation" r:id="rId6" progId="Equation.DSMT4">
                  <p:embed/>
                  <p:pic>
                    <p:nvPicPr>
                      <p:cNvPr id="0" name="OLE substitute image"/>
                      <p:cNvPicPr/>
                      <p:nvPr/>
                    </p:nvPicPr>
                    <p:blipFill>
                      <a:blip r:embed="rId7"/>
                      <a:stretch/>
                    </p:blipFill>
                    <p:spPr>
                      <a:xfrm>
                        <a:off x="5940425" y="4076700"/>
                        <a:ext cx="863600" cy="409575"/>
                      </a:xfrm>
                      <a:prstGeom prst="rect">
                        <a:avLst/>
                      </a:prstGeom>
                      <a:noFill/>
                      <a:effectLst/>
                    </p:spPr>
                  </p:pic>
                </p:oleObj>
              </mc:Fallback>
            </mc:AlternateContent>
          </a:graphicData>
        </a:graphic>
      </p:graphicFrame>
      <p:graphicFrame>
        <p:nvGraphicFramePr>
          <p:cNvPr id="78977" name="Object 129"/>
          <p:cNvGraphicFramePr>
            <a:graphicFrameLocks noChangeAspect="1"/>
          </p:cNvGraphicFramePr>
          <p:nvPr/>
        </p:nvGraphicFramePr>
        <p:xfrm>
          <a:off x="5878512" y="4508500"/>
          <a:ext cx="912812" cy="444500"/>
        </p:xfrm>
        <a:graphic>
          <a:graphicData uri="http://schemas.openxmlformats.org/presentationml/2006/ole">
            <mc:AlternateContent xmlns:mc="http://schemas.openxmlformats.org/markup-compatibility/2006">
              <mc:Choice xmlns:v="urn:schemas-microsoft-com:vml" Requires="v">
                <p:oleObj spid="_x0000_s1120" name="Equation" r:id="rId8" progId="Equation.DSMT4">
                  <p:embed/>
                </p:oleObj>
              </mc:Choice>
              <mc:Fallback>
                <p:oleObj spid="_x0000_s1120" name="Equation" r:id="rId8" progId="Equation.DSMT4">
                  <p:embed/>
                  <p:pic>
                    <p:nvPicPr>
                      <p:cNvPr id="0" name="OLE substitute image"/>
                      <p:cNvPicPr/>
                      <p:nvPr/>
                    </p:nvPicPr>
                    <p:blipFill>
                      <a:blip r:embed="rId9"/>
                      <a:stretch/>
                    </p:blipFill>
                    <p:spPr>
                      <a:xfrm>
                        <a:off x="5878512" y="4508500"/>
                        <a:ext cx="912812" cy="444500"/>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78972"/>
                                        </p:tgtEl>
                                        <p:attrNameLst>
                                          <p:attrName>style.visibility</p:attrName>
                                        </p:attrNameLst>
                                      </p:cBhvr>
                                      <p:to>
                                        <p:strVal val="visible"/>
                                      </p:to>
                                    </p:set>
                                    <p:animEffect transition="in" filter="blinds(horizontal)">
                                      <p:cBhvr additive="base">
                                        <p:cTn id="7" dur="500"/>
                                        <p:tgtEl>
                                          <p:spTgt spid="78972"/>
                                        </p:tgtEl>
                                      </p:cBhvr>
                                    </p:animEffect>
                                  </p:childTnLst>
                                </p:cTn>
                              </p:par>
                              <p:par>
                                <p:cTn id="8" presetID="3" presetClass="entr" presetSubtype="10" fill="hold" nodeType="withEffect">
                                  <p:stCondLst>
                                    <p:cond delay="-9223372036854775808"/>
                                  </p:stCondLst>
                                  <p:childTnLst>
                                    <p:set>
                                      <p:cBhvr additive="base">
                                        <p:cTn id="9" dur="1" fill="hold">
                                          <p:stCondLst>
                                            <p:cond delay="0"/>
                                          </p:stCondLst>
                                        </p:cTn>
                                        <p:tgtEl>
                                          <p:spTgt spid="78914"/>
                                        </p:tgtEl>
                                        <p:attrNameLst>
                                          <p:attrName>style.visibility</p:attrName>
                                        </p:attrNameLst>
                                      </p:cBhvr>
                                      <p:to>
                                        <p:strVal val="visible"/>
                                      </p:to>
                                    </p:set>
                                    <p:animEffect transition="in" filter="blinds(horizontal)">
                                      <p:cBhvr additive="base">
                                        <p:cTn id="10" dur="500"/>
                                        <p:tgtEl>
                                          <p:spTgt spid="78914"/>
                                        </p:tgtEl>
                                      </p:cBhvr>
                                    </p:animEffect>
                                  </p:childTnLst>
                                </p:cTn>
                              </p:par>
                            </p:childTnLst>
                          </p:cTn>
                        </p:par>
                      </p:childTnLst>
                    </p:cTn>
                  </p:par>
                  <p:par>
                    <p:cTn id="11" fill="hold">
                      <p:stCondLst>
                        <p:cond delay="indefinite"/>
                      </p:stCondLst>
                      <p:childTnLst>
                        <p:par>
                          <p:cTn id="12" fill="hold">
                            <p:stCondLst>
                              <p:cond delay="indefinite"/>
                            </p:stCondLst>
                          </p:cTn>
                        </p:par>
                        <p:par>
                          <p:cTn id="13" fill="hold">
                            <p:stCondLst>
                              <p:cond delay="0"/>
                            </p:stCondLst>
                            <p:childTnLst>
                              <p:par>
                                <p:cTn id="14" presetID="3" presetClass="entr" presetSubtype="10" fill="hold" grpId="1" nodeType="clickEffect">
                                  <p:stCondLst>
                                    <p:cond delay="-9223372036854775808"/>
                                  </p:stCondLst>
                                  <p:childTnLst>
                                    <p:set>
                                      <p:cBhvr additive="base">
                                        <p:cTn id="15" dur="1" fill="hold">
                                          <p:stCondLst>
                                            <p:cond delay="0"/>
                                          </p:stCondLst>
                                        </p:cTn>
                                        <p:tgtEl>
                                          <p:spTgt spid="78973"/>
                                        </p:tgtEl>
                                        <p:attrNameLst>
                                          <p:attrName>style.visibility</p:attrName>
                                        </p:attrNameLst>
                                      </p:cBhvr>
                                      <p:to>
                                        <p:strVal val="visible"/>
                                      </p:to>
                                    </p:set>
                                    <p:animEffect transition="in" filter="blinds(horizontal)">
                                      <p:cBhvr additive="base">
                                        <p:cTn id="16" dur="500"/>
                                        <p:tgtEl>
                                          <p:spTgt spid="78973"/>
                                        </p:tgtEl>
                                      </p:cBhvr>
                                    </p:animEffect>
                                  </p:childTnLst>
                                </p:cTn>
                              </p:par>
                              <p:par>
                                <p:cTn id="17" presetID="3" presetClass="entr" presetSubtype="10" fill="hold" nodeType="withEffect">
                                  <p:stCondLst>
                                    <p:cond delay="-9223372036854775808"/>
                                  </p:stCondLst>
                                  <p:childTnLst>
                                    <p:set>
                                      <p:cBhvr additive="base">
                                        <p:cTn id="18" dur="1" fill="hold">
                                          <p:stCondLst>
                                            <p:cond delay="0"/>
                                          </p:stCondLst>
                                        </p:cTn>
                                        <p:tgtEl>
                                          <p:spTgt spid="78850"/>
                                        </p:tgtEl>
                                        <p:attrNameLst>
                                          <p:attrName>style.visibility</p:attrName>
                                        </p:attrNameLst>
                                      </p:cBhvr>
                                      <p:to>
                                        <p:strVal val="visible"/>
                                      </p:to>
                                    </p:set>
                                    <p:animEffect transition="in" filter="blinds(horizontal)">
                                      <p:cBhvr additive="base">
                                        <p:cTn id="19" dur="500"/>
                                        <p:tgtEl>
                                          <p:spTgt spid="78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72" grpId="0"/>
      <p:bldP spid="78973" grpId="1"/>
    </p:bldLst>
  </p:timing>
</p:sld>
</file>

<file path=ppt/slides/slide7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9874" name="Rectangle 2"/>
          <p:cNvSpPr/>
          <p:nvPr/>
        </p:nvSpPr>
        <p:spPr>
          <a:xfrm>
            <a:off x="395288" y="764445"/>
            <a:ext cx="8506386"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例</a:t>
            </a:r>
            <a:r>
              <a:rPr kumimoji="1" lang="en-US" altLang="zh-CN" sz="2400" b="1">
                <a:solidFill>
                  <a:schemeClr val="tx2"/>
                </a:solidFill>
                <a:effectLst/>
                <a:latin typeface="Times New Roman" pitchFamily="18" charset="0"/>
              </a:rPr>
              <a:t>2  </a:t>
            </a:r>
            <a:r>
              <a:rPr kumimoji="1" lang="zh-CN" altLang="en-US" sz="2400" b="1">
                <a:solidFill>
                  <a:schemeClr val="tx2"/>
                </a:solidFill>
                <a:effectLst/>
                <a:latin typeface="Times New Roman" pitchFamily="18" charset="0"/>
              </a:rPr>
              <a:t>车间计划生产</a:t>
            </a:r>
            <a:r>
              <a:rPr kumimoji="1" lang="en-US" altLang="zh-CN" sz="2400" b="1">
                <a:solidFill>
                  <a:schemeClr val="tx2"/>
                </a:solidFill>
                <a:effectLst/>
                <a:latin typeface="Times New Roman" pitchFamily="18" charset="0"/>
              </a:rPr>
              <a:t>I</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II </a:t>
            </a:r>
            <a:r>
              <a:rPr kumimoji="1" lang="zh-CN" altLang="en-US" sz="2400" b="1">
                <a:solidFill>
                  <a:schemeClr val="tx2"/>
                </a:solidFill>
                <a:effectLst/>
                <a:latin typeface="Times New Roman" pitchFamily="18" charset="0"/>
              </a:rPr>
              <a:t>两种产品，每种产品均需经过</a:t>
            </a:r>
            <a:r>
              <a:rPr kumimoji="1" lang="en-US" altLang="zh-CN" sz="2400" b="1">
                <a:solidFill>
                  <a:schemeClr val="tx2"/>
                </a:solidFill>
                <a:effectLst/>
                <a:latin typeface="Times New Roman" pitchFamily="18" charset="0"/>
              </a:rPr>
              <a:t>A</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B</a:t>
            </a:r>
            <a:r>
              <a:rPr kumimoji="1" lang="zh-CN" altLang="en-US" sz="2400" b="1">
                <a:solidFill>
                  <a:schemeClr val="tx2"/>
                </a:solidFill>
                <a:effectLst/>
                <a:latin typeface="Times New Roman" pitchFamily="18" charset="0"/>
              </a:rPr>
              <a:t>、 </a:t>
            </a:r>
            <a:r>
              <a:rPr kumimoji="1" lang="en-US" altLang="zh-CN" sz="2400" b="1">
                <a:solidFill>
                  <a:schemeClr val="tx2"/>
                </a:solidFill>
                <a:effectLst/>
                <a:latin typeface="Times New Roman" pitchFamily="18" charset="0"/>
                <a:ea typeface="Times New Roman" pitchFamily="18" charset="0"/>
              </a:rPr>
              <a:t>C</a:t>
            </a:r>
            <a:r>
              <a:rPr kumimoji="1" lang="zh-CN" altLang="en-US" sz="2400" b="1">
                <a:solidFill>
                  <a:schemeClr val="tx2"/>
                </a:solidFill>
                <a:effectLst/>
              </a:rPr>
              <a:t>三</a:t>
            </a:r>
            <a:r>
              <a:rPr kumimoji="1" lang="zh-CN" altLang="en-US" sz="2400" b="1">
                <a:solidFill>
                  <a:schemeClr val="tx2"/>
                </a:solidFill>
                <a:effectLst/>
                <a:latin typeface="Times New Roman" pitchFamily="18" charset="0"/>
              </a:rPr>
              <a:t>道工序加工．工艺资料如表</a:t>
            </a:r>
            <a:r>
              <a:rPr kumimoji="1" lang="en-US" altLang="zh-CN" sz="2400" b="1">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所示．</a:t>
            </a:r>
          </a:p>
        </p:txBody>
      </p:sp>
      <p:sp>
        <p:nvSpPr>
          <p:cNvPr id="79875" name="Rectangle 3"/>
          <p:cNvSpPr/>
          <p:nvPr/>
        </p:nvSpPr>
        <p:spPr>
          <a:xfrm>
            <a:off x="2306638" y="2170112"/>
            <a:ext cx="183063" cy="366126"/>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79876" name="Group 4"/>
          <p:cNvGraphicFramePr>
            <a:graphicFrameLocks noGrp="1"/>
          </p:cNvGraphicFramePr>
          <p:nvPr/>
        </p:nvGraphicFramePr>
        <p:xfrm>
          <a:off x="323850" y="2060575"/>
          <a:ext cx="8569326" cy="3913464"/>
        </p:xfrm>
        <a:graphic>
          <a:graphicData uri="http://schemas.openxmlformats.org/drawingml/2006/table">
            <a:tbl>
              <a:tblPr>
                <a:effectLst/>
              </a:tblPr>
              <a:tblGrid>
                <a:gridCol w="2235200"/>
                <a:gridCol w="1614488"/>
                <a:gridCol w="1614488"/>
                <a:gridCol w="3105150"/>
              </a:tblGrid>
              <a:tr h="895350">
                <a:tc>
                  <a:txBody>
                    <a:bodyPr tIns="45692" bIns="45692">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spcBef>
                          <a:spcPct val="20000"/>
                        </a:spcBef>
                      </a:pPr>
                      <a:r>
                        <a:rPr lang="en-US" altLang="zh-CN" sz="2400" b="1">
                          <a:solidFill>
                            <a:schemeClr val="tx2"/>
                          </a:solidFill>
                          <a:effectLst/>
                        </a:rPr>
                        <a:t>                </a:t>
                      </a:r>
                      <a:r>
                        <a:rPr lang="zh-CN" altLang="en-US" sz="2400" b="1">
                          <a:solidFill>
                            <a:schemeClr val="tx2"/>
                          </a:solidFill>
                          <a:effectLst/>
                        </a:rPr>
                        <a:t>产品</a:t>
                      </a:r>
                    </a:p>
                    <a:p>
                      <a:pPr marL="0" lvl="0" indent="0" eaLnBrk="1" hangingPunct="1">
                        <a:spcBef>
                          <a:spcPct val="20000"/>
                        </a:spcBef>
                      </a:pPr>
                      <a:r>
                        <a:rPr lang="zh-CN" altLang="en-US" sz="2400" b="1">
                          <a:solidFill>
                            <a:schemeClr val="tx2"/>
                          </a:solidFill>
                          <a:effectLst/>
                        </a:rPr>
                        <a:t>工序</a:t>
                      </a:r>
                    </a:p>
                  </a:txBody>
                  <a:tcPr marT="45692" marB="45692">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400" b="1">
                          <a:solidFill>
                            <a:schemeClr val="tx2"/>
                          </a:solidFill>
                          <a:effectLst/>
                        </a:rPr>
                        <a:t>产品甲</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400" b="1">
                          <a:solidFill>
                            <a:schemeClr val="tx2"/>
                          </a:solidFill>
                          <a:effectLst/>
                        </a:rPr>
                        <a:t>产品乙</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400" b="1">
                          <a:solidFill>
                            <a:schemeClr val="tx2"/>
                          </a:solidFill>
                          <a:effectLst/>
                        </a:rPr>
                        <a:t>每天加工能力</a:t>
                      </a:r>
                      <a:r>
                        <a:rPr lang="en-US" altLang="zh-CN" sz="2400" b="1">
                          <a:solidFill>
                            <a:schemeClr val="tx2"/>
                          </a:solidFill>
                          <a:effectLst/>
                        </a:rPr>
                        <a:t>(</a:t>
                      </a:r>
                      <a:r>
                        <a:rPr lang="zh-CN" altLang="en-US" sz="2400" b="1">
                          <a:solidFill>
                            <a:schemeClr val="tx2"/>
                          </a:solidFill>
                          <a:effectLst/>
                        </a:rPr>
                        <a:t>小时</a:t>
                      </a:r>
                      <a:r>
                        <a:rPr lang="en-US" altLang="zh-CN" sz="2400" b="1">
                          <a:solidFill>
                            <a:schemeClr val="tx2"/>
                          </a:solidFill>
                          <a:effectLst/>
                        </a:rPr>
                        <a:t>)</a:t>
                      </a:r>
                    </a:p>
                  </a:txBody>
                  <a:tcPr marT="45692" marB="45692"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457200">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latin typeface="Times New Roman" pitchFamily="18" charset="0"/>
                          <a:ea typeface="Times New Roman" pitchFamily="18" charset="0"/>
                        </a:rPr>
                        <a:t>A</a:t>
                      </a:r>
                    </a:p>
                  </a:txBody>
                  <a:tcPr marT="45692" marB="45692" anchor="ctr">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2</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2</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120</a:t>
                      </a:r>
                    </a:p>
                  </a:txBody>
                  <a:tcPr marT="45692" marB="45692"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457200">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latin typeface="Times New Roman" pitchFamily="18" charset="0"/>
                          <a:ea typeface="Times New Roman" pitchFamily="18" charset="0"/>
                        </a:rPr>
                        <a:t>B</a:t>
                      </a:r>
                    </a:p>
                  </a:txBody>
                  <a:tcPr marT="45692" marB="45692" anchor="ctr">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1</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2</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100</a:t>
                      </a:r>
                    </a:p>
                  </a:txBody>
                  <a:tcPr marT="45692" marB="45692"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457200">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latin typeface="Times New Roman" pitchFamily="18" charset="0"/>
                          <a:ea typeface="Times New Roman" pitchFamily="18" charset="0"/>
                        </a:rPr>
                        <a:t>C</a:t>
                      </a:r>
                    </a:p>
                  </a:txBody>
                  <a:tcPr marT="45692" marB="45692" anchor="ctr">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2.2</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0.8</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90</a:t>
                      </a:r>
                    </a:p>
                  </a:txBody>
                  <a:tcPr marT="45692" marB="45692"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565150">
                <a:tc>
                  <a:txBody>
                    <a:bodyPr tIns="45692" bIns="45692">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r>
                        <a:rPr lang="zh-CN" altLang="en-US" sz="2400" b="1">
                          <a:solidFill>
                            <a:schemeClr val="tx2"/>
                          </a:solidFill>
                          <a:effectLst/>
                        </a:rPr>
                        <a:t>产品售价</a:t>
                      </a:r>
                      <a:r>
                        <a:rPr lang="en-US" altLang="zh-CN" sz="2400" b="1">
                          <a:solidFill>
                            <a:schemeClr val="tx2"/>
                          </a:solidFill>
                          <a:effectLst/>
                        </a:rPr>
                        <a:t>(</a:t>
                      </a:r>
                      <a:r>
                        <a:rPr lang="zh-CN" altLang="en-US" sz="2400" b="1">
                          <a:solidFill>
                            <a:schemeClr val="tx2"/>
                          </a:solidFill>
                          <a:effectLst/>
                        </a:rPr>
                        <a:t>元</a:t>
                      </a:r>
                      <a:r>
                        <a:rPr lang="en-US" altLang="zh-CN" sz="2400" b="1">
                          <a:solidFill>
                            <a:schemeClr val="tx2"/>
                          </a:solidFill>
                          <a:effectLst/>
                        </a:rPr>
                        <a:t>/</a:t>
                      </a:r>
                      <a:r>
                        <a:rPr lang="zh-CN" altLang="en-US" sz="2400" b="1">
                          <a:solidFill>
                            <a:schemeClr val="tx2"/>
                          </a:solidFill>
                          <a:effectLst/>
                        </a:rPr>
                        <a:t>件</a:t>
                      </a:r>
                      <a:r>
                        <a:rPr lang="en-US" altLang="zh-CN" sz="2400" b="1">
                          <a:solidFill>
                            <a:schemeClr val="tx2"/>
                          </a:solidFill>
                          <a:effectLst/>
                        </a:rPr>
                        <a:t>)</a:t>
                      </a:r>
                    </a:p>
                  </a:txBody>
                  <a:tcPr marT="45692" marB="45692">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50</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70</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spcBef>
                          <a:spcPct val="20000"/>
                        </a:spcBef>
                      </a:pPr>
                      <a:endParaRPr lang="zh-CN" altLang="zh-CN" sz="2400" b="1">
                        <a:solidFill>
                          <a:schemeClr val="tx2"/>
                        </a:solidFill>
                        <a:effectLst/>
                      </a:endParaRPr>
                    </a:p>
                  </a:txBody>
                  <a:tcPr marT="45692" marB="45692"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457200">
                <a:tc>
                  <a:txBody>
                    <a:bodyPr tIns="45692" bIns="45692">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r>
                        <a:rPr lang="zh-CN" altLang="en-US" sz="2400" b="1">
                          <a:solidFill>
                            <a:schemeClr val="tx2"/>
                          </a:solidFill>
                          <a:effectLst/>
                        </a:rPr>
                        <a:t>产品利润</a:t>
                      </a:r>
                      <a:r>
                        <a:rPr lang="en-US" altLang="zh-CN" sz="2400" b="1">
                          <a:solidFill>
                            <a:schemeClr val="tx2"/>
                          </a:solidFill>
                          <a:effectLst/>
                        </a:rPr>
                        <a:t>(</a:t>
                      </a:r>
                      <a:r>
                        <a:rPr lang="zh-CN" altLang="en-US" sz="2400" b="1">
                          <a:solidFill>
                            <a:schemeClr val="tx2"/>
                          </a:solidFill>
                          <a:effectLst/>
                        </a:rPr>
                        <a:t>元</a:t>
                      </a:r>
                      <a:r>
                        <a:rPr lang="en-US" altLang="zh-CN" sz="2400" b="1">
                          <a:solidFill>
                            <a:schemeClr val="tx2"/>
                          </a:solidFill>
                          <a:effectLst/>
                        </a:rPr>
                        <a:t>/</a:t>
                      </a:r>
                      <a:r>
                        <a:rPr lang="zh-CN" altLang="en-US" sz="2400" b="1">
                          <a:solidFill>
                            <a:schemeClr val="tx2"/>
                          </a:solidFill>
                          <a:effectLst/>
                        </a:rPr>
                        <a:t>件</a:t>
                      </a:r>
                      <a:r>
                        <a:rPr lang="en-US" altLang="zh-CN" sz="2400" b="1">
                          <a:solidFill>
                            <a:schemeClr val="tx2"/>
                          </a:solidFill>
                          <a:effectLst/>
                        </a:rPr>
                        <a:t>)</a:t>
                      </a:r>
                    </a:p>
                  </a:txBody>
                  <a:tcPr marT="45692" marB="45692">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10</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400" b="1">
                          <a:solidFill>
                            <a:schemeClr val="tx2"/>
                          </a:solidFill>
                          <a:effectLst/>
                        </a:rPr>
                        <a:t>8</a:t>
                      </a:r>
                    </a:p>
                  </a:txBody>
                  <a:tcPr marT="45692" marB="45692"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692" bIns="45692"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spcBef>
                          <a:spcPct val="20000"/>
                        </a:spcBef>
                      </a:pPr>
                      <a:endParaRPr lang="zh-CN" altLang="zh-CN" sz="2400" b="1">
                        <a:solidFill>
                          <a:schemeClr val="tx2"/>
                        </a:solidFill>
                        <a:effectLst/>
                      </a:endParaRPr>
                    </a:p>
                  </a:txBody>
                  <a:tcPr marT="45692" marB="45692"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
        <p:nvSpPr>
          <p:cNvPr id="79912" name="Rectangle 50"/>
          <p:cNvSpPr/>
          <p:nvPr/>
        </p:nvSpPr>
        <p:spPr>
          <a:xfrm>
            <a:off x="395288" y="5406296"/>
            <a:ext cx="8722502"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）车间如何安排生产计划，使产值和利润都尽可能高</a:t>
            </a:r>
            <a:r>
              <a:rPr kumimoji="1" lang="en-US" altLang="zh-CN" sz="2400" b="1">
                <a:solidFill>
                  <a:schemeClr val="tx2"/>
                </a:solidFill>
                <a:effectLst/>
                <a:latin typeface="Times New Roman" pitchFamily="18" charset="0"/>
              </a:rPr>
              <a:t>;</a:t>
            </a:r>
            <a:endParaRPr kumimoji="1" lang="zh-CN" altLang="en-US" sz="2400" b="1">
              <a:solidFill>
                <a:schemeClr val="tx2"/>
              </a:solidFill>
              <a:effectLst/>
              <a:latin typeface="Times New Roman" pitchFamily="18" charset="0"/>
            </a:endParaRPr>
          </a:p>
          <a:p>
            <a:pPr marL="0" lvl="0" indent="0" eaLnBrk="1" hangingPunct="1"/>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）如果认为利润比产值重要，怎样决策。</a:t>
            </a:r>
          </a:p>
        </p:txBody>
      </p:sp>
      <p:sp>
        <p:nvSpPr>
          <p:cNvPr id="79913" name="Rectangle 51"/>
          <p:cNvSpPr/>
          <p:nvPr/>
        </p:nvSpPr>
        <p:spPr>
          <a:xfrm>
            <a:off x="4139529" y="1628546"/>
            <a:ext cx="1342779" cy="457657"/>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lgn="ctr" eaLnBrk="1" hangingPunct="1"/>
            <a:r>
              <a:rPr kumimoji="1" lang="zh-CN" altLang="en-US" sz="2400" b="1">
                <a:solidFill>
                  <a:schemeClr val="tx2"/>
                </a:solidFill>
                <a:effectLst/>
                <a:latin typeface="Times New Roman" pitchFamily="18" charset="0"/>
              </a:rPr>
              <a:t>表</a:t>
            </a:r>
            <a:r>
              <a:rPr kumimoji="1" lang="en-US" altLang="zh-CN" sz="2400" b="1">
                <a:solidFill>
                  <a:schemeClr val="tx2"/>
                </a:solidFill>
                <a:effectLst/>
                <a:latin typeface="Times New Roman" pitchFamily="18" charset="0"/>
              </a:rPr>
              <a:t>2</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79874"/>
                                        </p:tgtEl>
                                        <p:attrNameLst>
                                          <p:attrName>style.visibility</p:attrName>
                                        </p:attrNameLst>
                                      </p:cBhvr>
                                      <p:to>
                                        <p:strVal val="visible"/>
                                      </p:to>
                                    </p:set>
                                    <p:animEffect transition="in" filter="blinds(horizontal)">
                                      <p:cBhvr additive="base">
                                        <p:cTn id="7" dur="500"/>
                                        <p:tgtEl>
                                          <p:spTgt spid="79874"/>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79876"/>
                                        </p:tgtEl>
                                        <p:attrNameLst>
                                          <p:attrName>style.visibility</p:attrName>
                                        </p:attrNameLst>
                                      </p:cBhvr>
                                      <p:to>
                                        <p:strVal val="visible"/>
                                      </p:to>
                                    </p:set>
                                    <p:animEffect transition="in" filter="blinds(horizontal)">
                                      <p:cBhvr additive="base">
                                        <p:cTn id="13" dur="500"/>
                                        <p:tgtEl>
                                          <p:spTgt spid="79876"/>
                                        </p:tgtEl>
                                      </p:cBhvr>
                                    </p:animEffect>
                                  </p:childTnLst>
                                </p:cTn>
                              </p:par>
                              <p:par>
                                <p:cTn id="14" presetID="3" presetClass="entr" presetSubtype="10" fill="hold" grpId="1" nodeType="withEffect">
                                  <p:stCondLst>
                                    <p:cond delay="-9223372036854775808"/>
                                  </p:stCondLst>
                                  <p:childTnLst>
                                    <p:set>
                                      <p:cBhvr additive="base">
                                        <p:cTn id="15" dur="1" fill="hold">
                                          <p:stCondLst>
                                            <p:cond delay="0"/>
                                          </p:stCondLst>
                                        </p:cTn>
                                        <p:tgtEl>
                                          <p:spTgt spid="79913"/>
                                        </p:tgtEl>
                                        <p:attrNameLst>
                                          <p:attrName>style.visibility</p:attrName>
                                        </p:attrNameLst>
                                      </p:cBhvr>
                                      <p:to>
                                        <p:strVal val="visible"/>
                                      </p:to>
                                    </p:set>
                                    <p:animEffect transition="in" filter="blinds(horizontal)">
                                      <p:cBhvr additive="base">
                                        <p:cTn id="16" dur="500"/>
                                        <p:tgtEl>
                                          <p:spTgt spid="79913"/>
                                        </p:tgtEl>
                                      </p:cBhvr>
                                    </p:animEffect>
                                  </p:childTnLst>
                                </p:cTn>
                              </p:par>
                            </p:childTnLst>
                          </p:cTn>
                        </p:par>
                      </p:childTnLst>
                    </p:cTn>
                  </p:par>
                  <p:par>
                    <p:cTn id="17" fill="hold">
                      <p:stCondLst>
                        <p:cond delay="indefinite"/>
                      </p:stCondLst>
                      <p:childTnLst>
                        <p:par>
                          <p:cTn id="18" fill="hold">
                            <p:stCondLst>
                              <p:cond delay="indefinite"/>
                            </p:stCondLst>
                          </p:cTn>
                        </p:par>
                        <p:par>
                          <p:cTn id="19" fill="hold">
                            <p:stCondLst>
                              <p:cond delay="0"/>
                            </p:stCondLst>
                            <p:childTnLst>
                              <p:par>
                                <p:cTn id="20" presetID="3" presetClass="entr" presetSubtype="10" fill="hold" nodeType="clickEffect">
                                  <p:stCondLst>
                                    <p:cond delay="-9223372036854775808"/>
                                  </p:stCondLst>
                                  <p:childTnLst>
                                    <p:set>
                                      <p:cBhvr additive="base">
                                        <p:cTn id="21" dur="1" fill="hold">
                                          <p:stCondLst>
                                            <p:cond delay="0"/>
                                          </p:stCondLst>
                                        </p:cTn>
                                        <p:tgtEl>
                                          <p:spTgt spid="79912">
                                            <p:txEl>
                                              <p:charRg st="0" end="27"/>
                                            </p:txEl>
                                          </p:spTgt>
                                        </p:tgtEl>
                                        <p:attrNameLst>
                                          <p:attrName>style.visibility</p:attrName>
                                        </p:attrNameLst>
                                      </p:cBhvr>
                                      <p:to>
                                        <p:strVal val="visible"/>
                                      </p:to>
                                    </p:set>
                                    <p:animEffect transition="in" filter="blinds(horizontal)">
                                      <p:cBhvr additive="base">
                                        <p:cTn id="22" dur="500"/>
                                        <p:tgtEl>
                                          <p:spTgt spid="79912">
                                            <p:txEl>
                                              <p:charRg st="0" end="27"/>
                                            </p:txEl>
                                          </p:spTgt>
                                        </p:tgtEl>
                                      </p:cBhvr>
                                    </p:animEffect>
                                  </p:child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3" presetClass="entr" presetSubtype="10" fill="hold" nodeType="clickEffect">
                                  <p:stCondLst>
                                    <p:cond delay="-9223372036854775808"/>
                                  </p:stCondLst>
                                  <p:childTnLst>
                                    <p:set>
                                      <p:cBhvr additive="base">
                                        <p:cTn id="27" dur="1" fill="hold">
                                          <p:stCondLst>
                                            <p:cond delay="0"/>
                                          </p:stCondLst>
                                        </p:cTn>
                                        <p:tgtEl>
                                          <p:spTgt spid="79912">
                                            <p:txEl>
                                              <p:charRg st="27" end="48"/>
                                            </p:txEl>
                                          </p:spTgt>
                                        </p:tgtEl>
                                        <p:attrNameLst>
                                          <p:attrName>style.visibility</p:attrName>
                                        </p:attrNameLst>
                                      </p:cBhvr>
                                      <p:to>
                                        <p:strVal val="visible"/>
                                      </p:to>
                                    </p:set>
                                    <p:animEffect transition="in" filter="blinds(horizontal)">
                                      <p:cBhvr additive="base">
                                        <p:cTn id="28" dur="500"/>
                                        <p:tgtEl>
                                          <p:spTgt spid="79912">
                                            <p:txEl>
                                              <p:charRg st="27" end="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9913" grpId="1"/>
    </p:bldLst>
  </p:timing>
</p:sld>
</file>

<file path=ppt/slides/slide7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0898" name="Rectangle 2"/>
          <p:cNvSpPr/>
          <p:nvPr/>
        </p:nvSpPr>
        <p:spPr>
          <a:xfrm>
            <a:off x="395288" y="980346"/>
            <a:ext cx="8757462"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266700" eaLnBrk="1" hangingPunct="1"/>
            <a:r>
              <a:rPr kumimoji="1" lang="zh-CN" altLang="en-US" sz="2400" b="1">
                <a:solidFill>
                  <a:schemeClr val="tx2"/>
                </a:solidFill>
                <a:effectLst/>
                <a:latin typeface="Times New Roman" pitchFamily="18" charset="0"/>
              </a:rPr>
              <a:t>解：设</a:t>
            </a:r>
            <a:r>
              <a:rPr kumimoji="1" lang="en-US" altLang="zh-CN" sz="2400" b="1" i="1">
                <a:solidFill>
                  <a:schemeClr val="tx2"/>
                </a:solidFill>
                <a:effectLst/>
                <a:latin typeface="Times New Roman" pitchFamily="18" charset="0"/>
              </a:rPr>
              <a:t>x</a:t>
            </a:r>
            <a:r>
              <a:rPr kumimoji="1" lang="en-US" altLang="zh-CN" sz="2400" b="1" baseline="-25000">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a:t>
            </a:r>
            <a:r>
              <a:rPr kumimoji="1" lang="en-US" altLang="zh-CN" sz="2400" b="1" i="1">
                <a:solidFill>
                  <a:schemeClr val="tx2"/>
                </a:solidFill>
                <a:effectLst/>
                <a:latin typeface="Times New Roman" pitchFamily="18" charset="0"/>
              </a:rPr>
              <a:t>x</a:t>
            </a:r>
            <a:r>
              <a:rPr kumimoji="1" lang="en-US" altLang="zh-CN" sz="2400" b="1" baseline="-25000">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分别为产品甲和产品乙的日产量，得到线性多目标规划模型：</a:t>
            </a:r>
          </a:p>
        </p:txBody>
      </p:sp>
      <p:sp>
        <p:nvSpPr>
          <p:cNvPr id="80899" name="Rectangle 3"/>
          <p:cNvSpPr/>
          <p:nvPr/>
        </p:nvSpPr>
        <p:spPr>
          <a:xfrm>
            <a:off x="0" y="2545849"/>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80900" name="Object 4"/>
          <p:cNvGraphicFramePr>
            <a:graphicFrameLocks noChangeAspect="1"/>
          </p:cNvGraphicFramePr>
          <p:nvPr/>
        </p:nvGraphicFramePr>
        <p:xfrm>
          <a:off x="2124075" y="2276475"/>
          <a:ext cx="2730500" cy="2808288"/>
        </p:xfrm>
        <a:graphic>
          <a:graphicData uri="http://schemas.openxmlformats.org/presentationml/2006/ole">
            <mc:AlternateContent xmlns:mc="http://schemas.openxmlformats.org/markup-compatibility/2006">
              <mc:Choice xmlns:v="urn:schemas-microsoft-com:vml" Requires="v">
                <p:oleObj spid="_x0000_s1121" name="公式" r:id="rId2" progId="Equation.3">
                  <p:embed/>
                </p:oleObj>
              </mc:Choice>
              <mc:Fallback>
                <p:oleObj spid="_x0000_s1121" name="公式" r:id="rId2" progId="Equation.3">
                  <p:embed/>
                  <p:pic>
                    <p:nvPicPr>
                      <p:cNvPr id="0" name="OLE substitute image"/>
                      <p:cNvPicPr/>
                      <p:nvPr/>
                    </p:nvPicPr>
                    <p:blipFill>
                      <a:blip r:embed="rId3"/>
                      <a:stretch/>
                    </p:blipFill>
                    <p:spPr>
                      <a:xfrm>
                        <a:off x="2124075" y="2276475"/>
                        <a:ext cx="2730500" cy="2808288"/>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80898">
                                            <p:txEl>
                                              <p:charRg st="0" end="36"/>
                                            </p:txEl>
                                          </p:spTgt>
                                        </p:tgtEl>
                                        <p:attrNameLst>
                                          <p:attrName>style.visibility</p:attrName>
                                        </p:attrNameLst>
                                      </p:cBhvr>
                                      <p:to>
                                        <p:strVal val="visible"/>
                                      </p:to>
                                    </p:set>
                                    <p:animEffect transition="in" filter="wipe(left)">
                                      <p:cBhvr additive="base">
                                        <p:cTn id="7" dur="2000"/>
                                        <p:tgtEl>
                                          <p:spTgt spid="80898">
                                            <p:txEl>
                                              <p:charRg st="0" end="36"/>
                                            </p:txEl>
                                          </p:spTgt>
                                        </p:tgtEl>
                                      </p:cBhvr>
                                    </p:animEffect>
                                  </p:childTnLst>
                                </p:cTn>
                              </p:par>
                            </p:childTnLst>
                          </p:cTn>
                        </p:par>
                        <p:par>
                          <p:cTn id="8" fill="hold">
                            <p:stCondLst>
                              <p:cond delay="2000"/>
                            </p:stCondLst>
                            <p:childTnLst>
                              <p:par>
                                <p:cTn id="9" presetID="22" presetClass="entr" presetSubtype="1" fill="hold" nodeType="afterEffect">
                                  <p:stCondLst>
                                    <p:cond delay="-9223372036854775808"/>
                                  </p:stCondLst>
                                  <p:childTnLst>
                                    <p:set>
                                      <p:cBhvr additive="base">
                                        <p:cTn id="10" dur="1" fill="hold">
                                          <p:stCondLst>
                                            <p:cond delay="0"/>
                                          </p:stCondLst>
                                        </p:cTn>
                                        <p:tgtEl>
                                          <p:spTgt spid="80900"/>
                                        </p:tgtEl>
                                        <p:attrNameLst>
                                          <p:attrName>style.visibility</p:attrName>
                                        </p:attrNameLst>
                                      </p:cBhvr>
                                      <p:to>
                                        <p:strVal val="visible"/>
                                      </p:to>
                                    </p:set>
                                    <p:animEffect transition="in" filter="wipe(up)">
                                      <p:cBhvr additive="base">
                                        <p:cTn id="11" dur="2000"/>
                                        <p:tgtEl>
                                          <p:spTgt spid="80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1922" name="Rectangle 2"/>
          <p:cNvSpPr/>
          <p:nvPr/>
        </p:nvSpPr>
        <p:spPr>
          <a:xfrm>
            <a:off x="323850" y="833881"/>
            <a:ext cx="8828970" cy="2288286"/>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266700" eaLnBrk="1" hangingPunct="1"/>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）将模型化为目标规划问题．首先，通过分别求产值最大和利润最大的线性规划最优解．</a:t>
            </a:r>
          </a:p>
          <a:p>
            <a:pPr marL="0" lvl="0" indent="266700" eaLnBrk="1" hangingPunct="1"/>
            <a:r>
              <a:rPr kumimoji="1" lang="zh-CN" altLang="en-US" sz="2400" b="1">
                <a:solidFill>
                  <a:schemeClr val="tx2"/>
                </a:solidFill>
                <a:effectLst/>
                <a:latin typeface="Times New Roman" pitchFamily="18" charset="0"/>
              </a:rPr>
              <a:t>产值最大的最优解：</a:t>
            </a:r>
            <a:r>
              <a:rPr kumimoji="1" lang="en-US" altLang="zh-CN" sz="2400" b="1">
                <a:solidFill>
                  <a:schemeClr val="tx2"/>
                </a:solidFill>
                <a:effectLst/>
                <a:latin typeface="Times New Roman" pitchFamily="18" charset="0"/>
              </a:rPr>
              <a:t>X</a:t>
            </a:r>
            <a:r>
              <a:rPr kumimoji="1" lang="en-US" altLang="zh-CN" sz="2400" b="1" baseline="30000">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20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40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Z</a:t>
            </a:r>
            <a:r>
              <a:rPr kumimoji="1" lang="en-US" altLang="zh-CN" sz="2400" b="1" baseline="-25000">
                <a:solidFill>
                  <a:schemeClr val="tx2"/>
                </a:solidFill>
                <a:effectLst/>
                <a:latin typeface="Times New Roman" pitchFamily="18" charset="0"/>
              </a:rPr>
              <a:t>1</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3800</a:t>
            </a:r>
          </a:p>
          <a:p>
            <a:pPr marL="0" lvl="0" indent="266700" eaLnBrk="1" hangingPunct="1"/>
            <a:r>
              <a:rPr kumimoji="1" lang="zh-CN" altLang="en-US" sz="2400" b="1">
                <a:solidFill>
                  <a:schemeClr val="tx2"/>
                </a:solidFill>
                <a:effectLst/>
                <a:latin typeface="Times New Roman" pitchFamily="18" charset="0"/>
              </a:rPr>
              <a:t>利润最大的最优解：</a:t>
            </a:r>
            <a:r>
              <a:rPr kumimoji="1" lang="en-US" altLang="zh-CN" sz="2400" b="1">
                <a:solidFill>
                  <a:schemeClr val="tx2"/>
                </a:solidFill>
                <a:effectLst/>
                <a:latin typeface="Times New Roman" pitchFamily="18" charset="0"/>
              </a:rPr>
              <a:t>X </a:t>
            </a:r>
            <a:r>
              <a:rPr kumimoji="1" lang="en-US" altLang="zh-CN" sz="2400" b="1" baseline="30000">
                <a:solidFill>
                  <a:schemeClr val="tx2"/>
                </a:solidFill>
                <a:effectLst/>
                <a:latin typeface="Times New Roman" pitchFamily="18" charset="0"/>
              </a:rPr>
              <a:t>(2)</a:t>
            </a:r>
            <a:r>
              <a:rPr kumimoji="1" lang="en-US" altLang="zh-CN" sz="2400" b="1">
                <a:solidFill>
                  <a:schemeClr val="tx2"/>
                </a:solidFill>
                <a:effectLst/>
                <a:latin typeface="Times New Roman" pitchFamily="18" charset="0"/>
              </a:rPr>
              <a:t> </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30</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Z</a:t>
            </a:r>
            <a:r>
              <a:rPr kumimoji="1" lang="en-US" altLang="zh-CN" sz="2400" b="1" baseline="-25000">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540</a:t>
            </a:r>
          </a:p>
          <a:p>
            <a:pPr marL="0" lvl="0" indent="266700" eaLnBrk="1" hangingPunct="1"/>
            <a:r>
              <a:rPr kumimoji="1" lang="zh-CN" altLang="en-US" sz="2400" b="1">
                <a:solidFill>
                  <a:schemeClr val="tx2"/>
                </a:solidFill>
                <a:effectLst/>
                <a:latin typeface="Times New Roman" pitchFamily="18" charset="0"/>
              </a:rPr>
              <a:t>目标确定为产值和利润尽可能达到</a:t>
            </a:r>
            <a:r>
              <a:rPr kumimoji="1" lang="en-US" altLang="zh-CN" sz="2400" b="1">
                <a:solidFill>
                  <a:schemeClr val="tx2"/>
                </a:solidFill>
                <a:effectLst/>
                <a:latin typeface="Times New Roman" pitchFamily="18" charset="0"/>
              </a:rPr>
              <a:t>3800</a:t>
            </a:r>
            <a:r>
              <a:rPr kumimoji="1" lang="zh-CN" altLang="en-US" sz="2400" b="1">
                <a:solidFill>
                  <a:schemeClr val="tx2"/>
                </a:solidFill>
                <a:effectLst/>
                <a:latin typeface="Times New Roman" pitchFamily="18" charset="0"/>
              </a:rPr>
              <a:t>和</a:t>
            </a:r>
            <a:r>
              <a:rPr kumimoji="1" lang="en-US" altLang="zh-CN" sz="2400" b="1">
                <a:solidFill>
                  <a:schemeClr val="tx2"/>
                </a:solidFill>
                <a:effectLst/>
                <a:latin typeface="Times New Roman" pitchFamily="18" charset="0"/>
              </a:rPr>
              <a:t>540</a:t>
            </a:r>
            <a:r>
              <a:rPr kumimoji="1" lang="zh-CN" altLang="en-US" sz="2400" b="1">
                <a:solidFill>
                  <a:schemeClr val="tx2"/>
                </a:solidFill>
                <a:effectLst/>
                <a:latin typeface="Times New Roman" pitchFamily="18" charset="0"/>
              </a:rPr>
              <a:t>，得到目标规划数学模型：</a:t>
            </a:r>
          </a:p>
        </p:txBody>
      </p:sp>
      <p:sp>
        <p:nvSpPr>
          <p:cNvPr id="81923" name="Rectangle 3"/>
          <p:cNvSpPr/>
          <p:nvPr/>
        </p:nvSpPr>
        <p:spPr>
          <a:xfrm>
            <a:off x="0" y="238392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81924" name="Object 4"/>
          <p:cNvGraphicFramePr>
            <a:graphicFrameLocks noChangeAspect="1"/>
          </p:cNvGraphicFramePr>
          <p:nvPr/>
        </p:nvGraphicFramePr>
        <p:xfrm>
          <a:off x="2411412" y="3038475"/>
          <a:ext cx="4032250" cy="3559175"/>
        </p:xfrm>
        <a:graphic>
          <a:graphicData uri="http://schemas.openxmlformats.org/presentationml/2006/ole">
            <mc:AlternateContent xmlns:mc="http://schemas.openxmlformats.org/markup-compatibility/2006">
              <mc:Choice xmlns:v="urn:schemas-microsoft-com:vml" Requires="v">
                <p:oleObj spid="_x0000_s1122" name="公式" r:id="rId2" progId="Equation.3">
                  <p:embed/>
                </p:oleObj>
              </mc:Choice>
              <mc:Fallback>
                <p:oleObj spid="_x0000_s1122" name="公式" r:id="rId2" progId="Equation.3">
                  <p:embed/>
                  <p:pic>
                    <p:nvPicPr>
                      <p:cNvPr id="0" name="OLE substitute image"/>
                      <p:cNvPicPr/>
                      <p:nvPr/>
                    </p:nvPicPr>
                    <p:blipFill>
                      <a:blip r:embed="rId3"/>
                      <a:stretch/>
                    </p:blipFill>
                    <p:spPr>
                      <a:xfrm>
                        <a:off x="2411412" y="3038475"/>
                        <a:ext cx="4032250" cy="3559175"/>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81922">
                                            <p:txEl>
                                              <p:charRg st="0" end="42"/>
                                            </p:txEl>
                                          </p:spTgt>
                                        </p:tgtEl>
                                        <p:attrNameLst>
                                          <p:attrName>style.visibility</p:attrName>
                                        </p:attrNameLst>
                                      </p:cBhvr>
                                      <p:to>
                                        <p:strVal val="visible"/>
                                      </p:to>
                                    </p:set>
                                    <p:animEffect transition="in" filter="wipe(left)">
                                      <p:cBhvr additive="base">
                                        <p:cTn id="7" dur="2000"/>
                                        <p:tgtEl>
                                          <p:spTgt spid="81922">
                                            <p:txEl>
                                              <p:charRg st="0" end="42"/>
                                            </p:txEl>
                                          </p:spTgt>
                                        </p:tgtEl>
                                      </p:cBhvr>
                                    </p:animEffect>
                                  </p:childTnLst>
                                </p:cTn>
                              </p:par>
                            </p:childTnLst>
                          </p:cTn>
                        </p:par>
                        <p:par>
                          <p:cTn id="8" fill="hold">
                            <p:stCondLst>
                              <p:cond delay="2000"/>
                            </p:stCondLst>
                            <p:childTnLst>
                              <p:par>
                                <p:cTn id="9" presetID="22" presetClass="entr" presetSubtype="8" fill="hold" nodeType="afterEffect">
                                  <p:stCondLst>
                                    <p:cond delay="-9223372036854775808"/>
                                  </p:stCondLst>
                                  <p:childTnLst>
                                    <p:set>
                                      <p:cBhvr additive="base">
                                        <p:cTn id="10" dur="1" fill="hold">
                                          <p:stCondLst>
                                            <p:cond delay="0"/>
                                          </p:stCondLst>
                                        </p:cTn>
                                        <p:tgtEl>
                                          <p:spTgt spid="81922">
                                            <p:txEl>
                                              <p:charRg st="42" end="72"/>
                                            </p:txEl>
                                          </p:spTgt>
                                        </p:tgtEl>
                                        <p:attrNameLst>
                                          <p:attrName>style.visibility</p:attrName>
                                        </p:attrNameLst>
                                      </p:cBhvr>
                                      <p:to>
                                        <p:strVal val="visible"/>
                                      </p:to>
                                    </p:set>
                                    <p:animEffect transition="in" filter="wipe(left)">
                                      <p:cBhvr additive="base">
                                        <p:cTn id="11" dur="2000"/>
                                        <p:tgtEl>
                                          <p:spTgt spid="81922">
                                            <p:txEl>
                                              <p:charRg st="42" end="72"/>
                                            </p:txEl>
                                          </p:spTgt>
                                        </p:tgtEl>
                                      </p:cBhvr>
                                    </p:animEffect>
                                  </p:childTnLst>
                                </p:cTn>
                              </p:par>
                            </p:childTnLst>
                          </p:cTn>
                        </p:par>
                        <p:par>
                          <p:cTn id="12" fill="hold">
                            <p:stCondLst>
                              <p:cond delay="4000"/>
                            </p:stCondLst>
                            <p:childTnLst>
                              <p:par>
                                <p:cTn id="13" presetID="22" presetClass="entr" presetSubtype="8" fill="hold" nodeType="afterEffect">
                                  <p:stCondLst>
                                    <p:cond delay="-9223372036854775808"/>
                                  </p:stCondLst>
                                  <p:childTnLst>
                                    <p:set>
                                      <p:cBhvr additive="base">
                                        <p:cTn id="14" dur="1" fill="hold">
                                          <p:stCondLst>
                                            <p:cond delay="0"/>
                                          </p:stCondLst>
                                        </p:cTn>
                                        <p:tgtEl>
                                          <p:spTgt spid="81922">
                                            <p:txEl>
                                              <p:charRg st="72" end="103"/>
                                            </p:txEl>
                                          </p:spTgt>
                                        </p:tgtEl>
                                        <p:attrNameLst>
                                          <p:attrName>style.visibility</p:attrName>
                                        </p:attrNameLst>
                                      </p:cBhvr>
                                      <p:to>
                                        <p:strVal val="visible"/>
                                      </p:to>
                                    </p:set>
                                    <p:animEffect transition="in" filter="wipe(left)">
                                      <p:cBhvr additive="base">
                                        <p:cTn id="15" dur="2000"/>
                                        <p:tgtEl>
                                          <p:spTgt spid="81922">
                                            <p:txEl>
                                              <p:charRg st="72" end="103"/>
                                            </p:txEl>
                                          </p:spTgt>
                                        </p:tgtEl>
                                      </p:cBhvr>
                                    </p:animEffect>
                                  </p:childTnLst>
                                </p:cTn>
                              </p:par>
                            </p:childTnLst>
                          </p:cTn>
                        </p:par>
                      </p:childTnLst>
                    </p:cTn>
                  </p:par>
                  <p:par>
                    <p:cTn id="16" fill="hold">
                      <p:stCondLst>
                        <p:cond delay="indefinite"/>
                        <p:cond evt="onBegin" delay="0">
                          <p:tn val="15"/>
                        </p:cond>
                      </p:stCondLst>
                      <p:childTnLst>
                        <p:par>
                          <p:cTn id="17" fill="hold">
                            <p:stCondLst>
                              <p:cond delay="indefinite"/>
                            </p:stCondLst>
                          </p:cTn>
                        </p:par>
                        <p:par>
                          <p:cTn id="18" fill="hold">
                            <p:stCondLst>
                              <p:cond delay="0"/>
                            </p:stCondLst>
                            <p:childTnLst>
                              <p:par>
                                <p:cTn id="19" presetID="22" presetClass="entr" presetSubtype="8" fill="hold" nodeType="clickEffect">
                                  <p:stCondLst>
                                    <p:cond delay="-9223372036854775808"/>
                                  </p:stCondLst>
                                  <p:childTnLst>
                                    <p:set>
                                      <p:cBhvr additive="base">
                                        <p:cTn id="20" dur="1" fill="hold">
                                          <p:stCondLst>
                                            <p:cond delay="0"/>
                                          </p:stCondLst>
                                        </p:cTn>
                                        <p:tgtEl>
                                          <p:spTgt spid="81922">
                                            <p:txEl>
                                              <p:charRg st="103" end="139"/>
                                            </p:txEl>
                                          </p:spTgt>
                                        </p:tgtEl>
                                        <p:attrNameLst>
                                          <p:attrName>style.visibility</p:attrName>
                                        </p:attrNameLst>
                                      </p:cBhvr>
                                      <p:to>
                                        <p:strVal val="visible"/>
                                      </p:to>
                                    </p:set>
                                    <p:animEffect transition="in" filter="wipe(left)">
                                      <p:cBhvr additive="base">
                                        <p:cTn id="21" dur="2000"/>
                                        <p:tgtEl>
                                          <p:spTgt spid="81922">
                                            <p:txEl>
                                              <p:charRg st="103" end="139"/>
                                            </p:txEl>
                                          </p:spTgt>
                                        </p:tgtEl>
                                      </p:cBhvr>
                                    </p:animEffect>
                                  </p:childTnLst>
                                </p:cTn>
                              </p:par>
                            </p:childTnLst>
                          </p:cTn>
                        </p:par>
                      </p:childTnLst>
                    </p:cTn>
                  </p:par>
                  <p:par>
                    <p:cTn id="22" fill="hold">
                      <p:stCondLst>
                        <p:cond delay="indefinite"/>
                        <p:cond evt="onBegin" delay="0">
                          <p:tn val="21"/>
                        </p:cond>
                      </p:stCondLst>
                      <p:childTnLst>
                        <p:par>
                          <p:cTn id="23" fill="hold">
                            <p:stCondLst>
                              <p:cond delay="indefinite"/>
                            </p:stCondLst>
                          </p:cTn>
                        </p:par>
                        <p:par>
                          <p:cTn id="24" fill="hold">
                            <p:stCondLst>
                              <p:cond delay="0"/>
                            </p:stCondLst>
                            <p:childTnLst>
                              <p:par>
                                <p:cTn id="25" presetID="22" presetClass="entr" presetSubtype="1" fill="hold" nodeType="clickEffect">
                                  <p:stCondLst>
                                    <p:cond delay="-9223372036854775808"/>
                                  </p:stCondLst>
                                  <p:childTnLst>
                                    <p:set>
                                      <p:cBhvr additive="base">
                                        <p:cTn id="26" dur="1" fill="hold">
                                          <p:stCondLst>
                                            <p:cond delay="0"/>
                                          </p:stCondLst>
                                        </p:cTn>
                                        <p:tgtEl>
                                          <p:spTgt spid="81924"/>
                                        </p:tgtEl>
                                        <p:attrNameLst>
                                          <p:attrName>style.visibility</p:attrName>
                                        </p:attrNameLst>
                                      </p:cBhvr>
                                      <p:to>
                                        <p:strVal val="visible"/>
                                      </p:to>
                                    </p:set>
                                    <p:animEffect transition="in" filter="wipe(up)">
                                      <p:cBhvr additive="base">
                                        <p:cTn id="27" dur="2000"/>
                                        <p:tgtEl>
                                          <p:spTgt spid="8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2946" name="Rectangle 2"/>
          <p:cNvSpPr/>
          <p:nvPr/>
        </p:nvSpPr>
        <p:spPr>
          <a:xfrm>
            <a:off x="1743075" y="5275458"/>
            <a:ext cx="310190" cy="244084"/>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1000">
                <a:effectLst/>
                <a:latin typeface="Times New Roman" pitchFamily="18" charset="0"/>
              </a:rPr>
              <a:t>．</a:t>
            </a:r>
            <a:endParaRPr kumimoji="1" lang="zh-CN" altLang="en-US" sz="2400">
              <a:effectLst/>
              <a:latin typeface="Times New Roman" pitchFamily="18" charset="0"/>
            </a:endParaRPr>
          </a:p>
        </p:txBody>
      </p:sp>
      <p:sp>
        <p:nvSpPr>
          <p:cNvPr id="82947" name="Rectangle 3"/>
          <p:cNvSpPr/>
          <p:nvPr/>
        </p:nvSpPr>
        <p:spPr>
          <a:xfrm>
            <a:off x="0" y="3131637"/>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82948" name="Rectangle 4"/>
          <p:cNvSpPr/>
          <p:nvPr/>
        </p:nvSpPr>
        <p:spPr>
          <a:xfrm>
            <a:off x="0" y="3131637"/>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pSp>
        <p:nvGrpSpPr>
          <p:cNvPr id="82949" name="Group 5"/>
          <p:cNvGrpSpPr/>
          <p:nvPr/>
        </p:nvGrpSpPr>
        <p:grpSpPr>
          <a:xfrm>
            <a:off x="1116012" y="2924175"/>
            <a:ext cx="5903912" cy="457200"/>
            <a:chOff x="204" y="1842"/>
            <a:chExt cx="3628" cy="304"/>
          </a:xfrm>
          <a:effectLst/>
        </p:grpSpPr>
        <p:sp>
          <p:nvSpPr>
            <p:cNvPr id="82955" name="Text Box 6"/>
            <p:cNvSpPr/>
            <p:nvPr/>
          </p:nvSpPr>
          <p:spPr>
            <a:xfrm>
              <a:off x="1565" y="1842"/>
              <a:ext cx="817" cy="304"/>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en-US" altLang="zh-CN" sz="2400" b="1">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等价于</a:t>
              </a:r>
            </a:p>
          </p:txBody>
        </p:sp>
        <p:graphicFrame>
          <p:nvGraphicFramePr>
            <p:cNvPr id="82956" name="Object 7"/>
            <p:cNvGraphicFramePr>
              <a:graphicFrameLocks noChangeAspect="1"/>
            </p:cNvGraphicFramePr>
            <p:nvPr/>
          </p:nvGraphicFramePr>
          <p:xfrm>
            <a:off x="204" y="1842"/>
            <a:ext cx="1361" cy="279"/>
          </p:xfrm>
          <a:graphic>
            <a:graphicData uri="http://schemas.openxmlformats.org/presentationml/2006/ole">
              <mc:AlternateContent xmlns:mc="http://schemas.openxmlformats.org/markup-compatibility/2006">
                <mc:Choice xmlns:v="urn:schemas-microsoft-com:vml" Requires="v">
                  <p:oleObj spid="_x0000_s1123" name="Equation" r:id="rId2" progId="Equation.DSMT4">
                    <p:embed/>
                  </p:oleObj>
                </mc:Choice>
                <mc:Fallback>
                  <p:oleObj spid="_x0000_s1123" name="Equation" r:id="rId2" progId="Equation.DSMT4">
                    <p:embed/>
                    <p:pic>
                      <p:nvPicPr>
                        <p:cNvPr id="0" name="OLE substitute image"/>
                        <p:cNvPicPr/>
                        <p:nvPr/>
                      </p:nvPicPr>
                      <p:blipFill>
                        <a:blip r:embed="rId3"/>
                        <a:stretch/>
                      </p:blipFill>
                      <p:spPr>
                        <a:xfrm>
                          <a:off x="204" y="1842"/>
                          <a:ext cx="1361" cy="279"/>
                        </a:xfrm>
                        <a:prstGeom prst="rect">
                          <a:avLst/>
                        </a:prstGeom>
                        <a:noFill/>
                        <a:effectLst/>
                      </p:spPr>
                    </p:pic>
                  </p:oleObj>
                </mc:Fallback>
              </mc:AlternateContent>
            </a:graphicData>
          </a:graphic>
        </p:graphicFrame>
        <p:graphicFrame>
          <p:nvGraphicFramePr>
            <p:cNvPr id="82957" name="Object 8"/>
            <p:cNvGraphicFramePr>
              <a:graphicFrameLocks noChangeAspect="1"/>
            </p:cNvGraphicFramePr>
            <p:nvPr/>
          </p:nvGraphicFramePr>
          <p:xfrm>
            <a:off x="2381" y="1842"/>
            <a:ext cx="1451" cy="251"/>
          </p:xfrm>
          <a:graphic>
            <a:graphicData uri="http://schemas.openxmlformats.org/presentationml/2006/ole">
              <mc:AlternateContent xmlns:mc="http://schemas.openxmlformats.org/markup-compatibility/2006">
                <mc:Choice xmlns:v="urn:schemas-microsoft-com:vml" Requires="v">
                  <p:oleObj spid="_x0000_s1124" name="Equation" r:id="rId4" progId="Equation.DSMT4">
                    <p:embed/>
                  </p:oleObj>
                </mc:Choice>
                <mc:Fallback>
                  <p:oleObj spid="_x0000_s1124" name="Equation" r:id="rId4" progId="Equation.DSMT4">
                    <p:embed/>
                    <p:pic>
                      <p:nvPicPr>
                        <p:cNvPr id="0" name="OLE substitute image"/>
                        <p:cNvPicPr/>
                        <p:nvPr/>
                      </p:nvPicPr>
                      <p:blipFill>
                        <a:blip r:embed="rId5"/>
                        <a:stretch/>
                      </p:blipFill>
                      <p:spPr>
                        <a:xfrm>
                          <a:off x="2381" y="1842"/>
                          <a:ext cx="1451" cy="251"/>
                        </a:xfrm>
                        <a:prstGeom prst="rect">
                          <a:avLst/>
                        </a:prstGeom>
                        <a:noFill/>
                        <a:effectLst/>
                      </p:spPr>
                    </p:pic>
                  </p:oleObj>
                </mc:Fallback>
              </mc:AlternateContent>
            </a:graphicData>
          </a:graphic>
        </p:graphicFrame>
      </p:grpSp>
      <p:sp>
        <p:nvSpPr>
          <p:cNvPr id="82950" name="Rectangle 9"/>
          <p:cNvSpPr/>
          <p:nvPr/>
        </p:nvSpPr>
        <p:spPr>
          <a:xfrm>
            <a:off x="0" y="3131637"/>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pSp>
        <p:nvGrpSpPr>
          <p:cNvPr id="82951" name="Group 10"/>
          <p:cNvGrpSpPr/>
          <p:nvPr/>
        </p:nvGrpSpPr>
        <p:grpSpPr>
          <a:xfrm>
            <a:off x="323850" y="647700"/>
            <a:ext cx="8459788" cy="2357438"/>
            <a:chOff x="204" y="408"/>
            <a:chExt cx="5329" cy="1485"/>
          </a:xfrm>
          <a:effectLst/>
        </p:grpSpPr>
        <p:sp>
          <p:nvSpPr>
            <p:cNvPr id="82953" name="Rectangle 11"/>
            <p:cNvSpPr/>
            <p:nvPr/>
          </p:nvSpPr>
          <p:spPr>
            <a:xfrm>
              <a:off x="204" y="407"/>
              <a:ext cx="5334" cy="1488"/>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120000"/>
                </a:lnSpc>
              </a:pPr>
              <a:r>
                <a:rPr kumimoji="1" lang="zh-CN" altLang="en-US" sz="2400" b="1">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2</a:t>
              </a:r>
              <a:r>
                <a:rPr kumimoji="1" lang="zh-CN" altLang="en-US" sz="2400" b="1">
                  <a:solidFill>
                    <a:schemeClr val="tx2"/>
                  </a:solidFill>
                  <a:effectLst/>
                  <a:latin typeface="Times New Roman" pitchFamily="18" charset="0"/>
                </a:rPr>
                <a:t>）给 </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2</a:t>
              </a:r>
              <a:r>
                <a:rPr kumimoji="1" lang="en-US" altLang="zh-CN" sz="2400" b="1" baseline="30000">
                  <a:solidFill>
                    <a:schemeClr val="tx2"/>
                  </a:solidFill>
                  <a:effectLst/>
                  <a:latin typeface="Times New Roman" pitchFamily="18" charset="0"/>
                </a:rPr>
                <a:t>-</a:t>
              </a:r>
              <a:r>
                <a:rPr kumimoji="1" lang="en-US" altLang="zh-CN" sz="2400" b="1">
                  <a:solidFill>
                    <a:schemeClr val="tx2"/>
                  </a:solidFill>
                  <a:effectLst/>
                  <a:latin typeface="Times New Roman" pitchFamily="18" charset="0"/>
                </a:rPr>
                <a:t>  </a:t>
              </a:r>
              <a:r>
                <a:rPr kumimoji="1" lang="zh-CN" altLang="en-US" sz="2400" b="1">
                  <a:solidFill>
                    <a:schemeClr val="tx2"/>
                  </a:solidFill>
                  <a:effectLst/>
                  <a:latin typeface="Times New Roman" pitchFamily="18" charset="0"/>
                </a:rPr>
                <a:t>赋予一个比</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1</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的系数大的权系数</a:t>
              </a:r>
              <a:r>
                <a:rPr kumimoji="1" lang="en-US" altLang="zh-CN" sz="2400" b="1">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如</a:t>
              </a:r>
            </a:p>
            <a:p>
              <a:pPr marL="0" lvl="0" indent="0" eaLnBrk="1" hangingPunct="1">
                <a:lnSpc>
                  <a:spcPct val="120000"/>
                </a:lnSpc>
              </a:pPr>
              <a:r>
                <a:rPr kumimoji="1" lang="zh-CN" altLang="en-US" sz="2400" b="1">
                  <a:solidFill>
                    <a:schemeClr val="tx2"/>
                  </a:solidFill>
                  <a:effectLst/>
                  <a:latin typeface="Times New Roman" pitchFamily="18" charset="0"/>
                </a:rPr>
                <a:t>                                       ，约束条件不变</a:t>
              </a:r>
              <a:r>
                <a:rPr kumimoji="1" lang="en-US" altLang="zh-CN" sz="2400" b="1">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权系数的大小依据重要程度给定，或者根据同一优先级的偏差变量的关系给定，例如，当利润</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2</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减少一个单位时，产值</a:t>
              </a:r>
              <a:r>
                <a:rPr kumimoji="1" lang="en-US" altLang="zh-CN" sz="2400" i="1">
                  <a:solidFill>
                    <a:schemeClr val="tx2"/>
                  </a:solidFill>
                  <a:effectLst/>
                  <a:latin typeface="Times New Roman" pitchFamily="18" charset="0"/>
                </a:rPr>
                <a:t>d</a:t>
              </a:r>
              <a:r>
                <a:rPr kumimoji="1" lang="en-US" altLang="zh-CN" sz="2400" b="1" baseline="-25000">
                  <a:solidFill>
                    <a:schemeClr val="tx2"/>
                  </a:solidFill>
                  <a:effectLst/>
                  <a:latin typeface="Times New Roman" pitchFamily="18" charset="0"/>
                </a:rPr>
                <a:t>1</a:t>
              </a:r>
              <a:r>
                <a:rPr kumimoji="1" lang="en-US" altLang="zh-CN" sz="24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减少</a:t>
              </a:r>
              <a:r>
                <a:rPr kumimoji="1" lang="en-US" altLang="zh-CN" sz="2400" b="1">
                  <a:solidFill>
                    <a:schemeClr val="tx2"/>
                  </a:solidFill>
                  <a:effectLst/>
                  <a:latin typeface="Times New Roman" pitchFamily="18" charset="0"/>
                </a:rPr>
                <a:t>3</a:t>
              </a:r>
              <a:r>
                <a:rPr kumimoji="1" lang="zh-CN" altLang="en-US" sz="2400" b="1">
                  <a:solidFill>
                    <a:schemeClr val="tx2"/>
                  </a:solidFill>
                  <a:effectLst/>
                  <a:latin typeface="Times New Roman" pitchFamily="18" charset="0"/>
                </a:rPr>
                <a:t>个单位，则赋予</a:t>
              </a:r>
              <a:r>
                <a:rPr kumimoji="1" lang="en-US" altLang="zh-CN" sz="2800" i="1">
                  <a:solidFill>
                    <a:schemeClr val="tx2"/>
                  </a:solidFill>
                  <a:effectLst/>
                  <a:latin typeface="Times New Roman" pitchFamily="18" charset="0"/>
                </a:rPr>
                <a:t>d</a:t>
              </a:r>
              <a:r>
                <a:rPr kumimoji="1" lang="en-US" altLang="zh-CN" sz="2800" b="1" baseline="-25000">
                  <a:solidFill>
                    <a:schemeClr val="tx2"/>
                  </a:solidFill>
                  <a:effectLst/>
                  <a:latin typeface="Times New Roman" pitchFamily="18" charset="0"/>
                </a:rPr>
                <a:t>2</a:t>
              </a:r>
              <a:r>
                <a:rPr kumimoji="1" lang="en-US" altLang="zh-CN" sz="2800" b="1" baseline="30000">
                  <a:solidFill>
                    <a:schemeClr val="tx2"/>
                  </a:solidFill>
                  <a:effectLst/>
                  <a:latin typeface="Times New Roman" pitchFamily="18" charset="0"/>
                </a:rPr>
                <a:t>-</a:t>
              </a:r>
              <a:r>
                <a:rPr kumimoji="1" lang="zh-CN" altLang="en-US" sz="2400" b="1">
                  <a:solidFill>
                    <a:schemeClr val="tx2"/>
                  </a:solidFill>
                  <a:effectLst/>
                  <a:latin typeface="Times New Roman" pitchFamily="18" charset="0"/>
                </a:rPr>
                <a:t>权系数</a:t>
              </a:r>
              <a:r>
                <a:rPr kumimoji="1" lang="en-US" altLang="zh-CN" sz="2400" b="1">
                  <a:solidFill>
                    <a:schemeClr val="tx2"/>
                  </a:solidFill>
                  <a:effectLst/>
                  <a:latin typeface="Times New Roman" pitchFamily="18" charset="0"/>
                </a:rPr>
                <a:t>3</a:t>
              </a:r>
              <a:r>
                <a:rPr kumimoji="1" lang="zh-CN" altLang="en-US" sz="2400" b="1">
                  <a:solidFill>
                    <a:schemeClr val="tx2"/>
                  </a:solidFill>
                  <a:effectLst/>
                  <a:latin typeface="Times New Roman" pitchFamily="18" charset="0"/>
                </a:rPr>
                <a:t>，则目标函数为 </a:t>
              </a:r>
            </a:p>
          </p:txBody>
        </p:sp>
        <p:graphicFrame>
          <p:nvGraphicFramePr>
            <p:cNvPr id="82954" name="Object 12"/>
            <p:cNvGraphicFramePr>
              <a:graphicFrameLocks noChangeAspect="1"/>
            </p:cNvGraphicFramePr>
            <p:nvPr/>
          </p:nvGraphicFramePr>
          <p:xfrm>
            <a:off x="468" y="700"/>
            <a:ext cx="1559" cy="348"/>
          </p:xfrm>
          <a:graphic>
            <a:graphicData uri="http://schemas.openxmlformats.org/presentationml/2006/ole">
              <mc:AlternateContent xmlns:mc="http://schemas.openxmlformats.org/markup-compatibility/2006">
                <mc:Choice xmlns:v="urn:schemas-microsoft-com:vml" Requires="v">
                  <p:oleObj spid="_x0000_s1125" name="Equation" r:id="rId6" progId="Equation.DSMT4">
                    <p:embed/>
                  </p:oleObj>
                </mc:Choice>
                <mc:Fallback>
                  <p:oleObj spid="_x0000_s1125" name="Equation" r:id="rId6" progId="Equation.DSMT4">
                    <p:embed/>
                    <p:pic>
                      <p:nvPicPr>
                        <p:cNvPr id="0" name="OLE substitute image"/>
                        <p:cNvPicPr/>
                        <p:nvPr/>
                      </p:nvPicPr>
                      <p:blipFill>
                        <a:blip r:embed="rId7"/>
                        <a:stretch/>
                      </p:blipFill>
                      <p:spPr>
                        <a:xfrm>
                          <a:off x="468" y="700"/>
                          <a:ext cx="1559" cy="348"/>
                        </a:xfrm>
                        <a:prstGeom prst="rect">
                          <a:avLst/>
                        </a:prstGeom>
                        <a:noFill/>
                        <a:effectLst/>
                      </p:spPr>
                    </p:pic>
                  </p:oleObj>
                </mc:Fallback>
              </mc:AlternateContent>
            </a:graphicData>
          </a:graphic>
        </p:graphicFrame>
      </p:grpSp>
      <p:sp>
        <p:nvSpPr>
          <p:cNvPr id="82952" name="Rectangle 13"/>
          <p:cNvSpPr/>
          <p:nvPr/>
        </p:nvSpPr>
        <p:spPr>
          <a:xfrm>
            <a:off x="0" y="3126875"/>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9223372036854775808"/>
                                  </p:stCondLst>
                                  <p:childTnLst>
                                    <p:set>
                                      <p:cBhvr additive="base">
                                        <p:cTn id="6" dur="1" fill="hold">
                                          <p:stCondLst>
                                            <p:cond delay="0"/>
                                          </p:stCondLst>
                                        </p:cTn>
                                        <p:tgtEl>
                                          <p:spTgt spid="82951"/>
                                        </p:tgtEl>
                                        <p:attrNameLst>
                                          <p:attrName>style.visibility</p:attrName>
                                        </p:attrNameLst>
                                      </p:cBhvr>
                                      <p:to>
                                        <p:strVal val="visible"/>
                                      </p:to>
                                    </p:set>
                                    <p:animEffect transition="in" filter="wipe(up)">
                                      <p:cBhvr additive="base">
                                        <p:cTn id="7" dur="2000"/>
                                        <p:tgtEl>
                                          <p:spTgt spid="82951"/>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82949"/>
                                        </p:tgtEl>
                                        <p:attrNameLst>
                                          <p:attrName>style.visibility</p:attrName>
                                        </p:attrNameLst>
                                      </p:cBhvr>
                                      <p:to>
                                        <p:strVal val="visible"/>
                                      </p:to>
                                    </p:set>
                                    <p:animEffect transition="in" filter="wipe(left)">
                                      <p:cBhvr additive="base">
                                        <p:cTn id="13" dur="2000"/>
                                        <p:tgtEl>
                                          <p:spTgt spid="8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3970" name="Rectangle 2"/>
          <p:cNvSpPr/>
          <p:nvPr/>
        </p:nvSpPr>
        <p:spPr>
          <a:xfrm>
            <a:off x="0" y="2438171"/>
            <a:ext cx="183063" cy="457657"/>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sp>
        <p:nvSpPr>
          <p:cNvPr id="83971" name="Text Box 4"/>
          <p:cNvSpPr/>
          <p:nvPr/>
        </p:nvSpPr>
        <p:spPr>
          <a:xfrm>
            <a:off x="539750" y="1557338"/>
            <a:ext cx="8361779" cy="4009077"/>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400" b="1">
                <a:solidFill>
                  <a:schemeClr val="tx2"/>
                </a:solidFill>
                <a:effectLst/>
                <a:latin typeface="宋体" pitchFamily="2" charset="-122"/>
              </a:rPr>
              <a:t>例</a:t>
            </a:r>
            <a:r>
              <a:rPr kumimoji="1" lang="en-US" altLang="zh-CN" sz="2400" b="1">
                <a:solidFill>
                  <a:schemeClr val="tx2"/>
                </a:solidFill>
                <a:effectLst/>
                <a:latin typeface="宋体" pitchFamily="2" charset="-122"/>
              </a:rPr>
              <a:t>3  </a:t>
            </a:r>
            <a:r>
              <a:rPr kumimoji="1" lang="zh-CN" altLang="en-US" sz="2400" b="1">
                <a:effectLst/>
                <a:latin typeface="宋体" pitchFamily="2" charset="-122"/>
              </a:rPr>
              <a:t>某单位领导在考虑本单位职工的升级调资方案时，依次遵守以下规定：</a:t>
            </a:r>
          </a:p>
          <a:p>
            <a:pPr marL="0" lvl="0" indent="0" eaLnBrk="1" hangingPunct="1">
              <a:lnSpc>
                <a:spcPct val="90000"/>
              </a:lnSpc>
              <a:spcBef>
                <a:spcPct val="30000"/>
              </a:spcBef>
            </a:pPr>
            <a:r>
              <a:rPr kumimoji="1" lang="en-US" altLang="zh-CN" sz="2400" b="1">
                <a:effectLst/>
                <a:latin typeface="宋体" pitchFamily="2" charset="-122"/>
              </a:rPr>
              <a:t>(1)</a:t>
            </a:r>
            <a:r>
              <a:rPr kumimoji="1" lang="zh-CN" altLang="en-US" sz="2400" b="1">
                <a:effectLst/>
                <a:latin typeface="宋体" pitchFamily="2" charset="-122"/>
              </a:rPr>
              <a:t>不超过年工资总额</a:t>
            </a:r>
            <a:r>
              <a:rPr kumimoji="1" lang="en-US" altLang="zh-CN" sz="2400" b="1">
                <a:effectLst/>
                <a:latin typeface="宋体" pitchFamily="2" charset="-122"/>
              </a:rPr>
              <a:t>60000</a:t>
            </a:r>
            <a:r>
              <a:rPr kumimoji="1" lang="zh-CN" altLang="en-US" sz="2400" b="1">
                <a:effectLst/>
                <a:latin typeface="宋体" pitchFamily="2" charset="-122"/>
              </a:rPr>
              <a:t>；</a:t>
            </a:r>
          </a:p>
          <a:p>
            <a:pPr marL="0" lvl="0" indent="0" eaLnBrk="1" hangingPunct="1">
              <a:lnSpc>
                <a:spcPct val="90000"/>
              </a:lnSpc>
            </a:pPr>
            <a:r>
              <a:rPr kumimoji="1" lang="en-US" altLang="zh-CN" sz="2400" b="1">
                <a:effectLst/>
                <a:latin typeface="宋体" pitchFamily="2" charset="-122"/>
              </a:rPr>
              <a:t>(2)</a:t>
            </a:r>
            <a:r>
              <a:rPr kumimoji="1" lang="zh-CN" altLang="en-US" sz="2400" b="1">
                <a:effectLst/>
                <a:latin typeface="宋体" pitchFamily="2" charset="-122"/>
              </a:rPr>
              <a:t>每级的人数不超过定编规定的人数；</a:t>
            </a:r>
          </a:p>
          <a:p>
            <a:pPr marL="0" lvl="0" indent="0" eaLnBrk="1" hangingPunct="1">
              <a:lnSpc>
                <a:spcPct val="90000"/>
              </a:lnSpc>
            </a:pPr>
            <a:r>
              <a:rPr kumimoji="1" lang="en-US" altLang="zh-CN" sz="2400" b="1">
                <a:effectLst/>
                <a:latin typeface="宋体" pitchFamily="2" charset="-122"/>
              </a:rPr>
              <a:t>(3)Ⅱ,Ⅲ</a:t>
            </a:r>
            <a:r>
              <a:rPr kumimoji="1" lang="zh-CN" altLang="en-US" sz="2400" b="1">
                <a:effectLst/>
                <a:latin typeface="宋体" pitchFamily="2" charset="-122"/>
              </a:rPr>
              <a:t>级的升级面尽可能达到现有人数的</a:t>
            </a:r>
            <a:r>
              <a:rPr kumimoji="1" lang="en-US" altLang="zh-CN" sz="2400" b="1">
                <a:effectLst/>
                <a:latin typeface="宋体" pitchFamily="2" charset="-122"/>
              </a:rPr>
              <a:t>20</a:t>
            </a:r>
            <a:r>
              <a:rPr kumimoji="1" lang="zh-CN" altLang="en-US" sz="2400" b="1">
                <a:effectLst/>
                <a:latin typeface="宋体" pitchFamily="2" charset="-122"/>
              </a:rPr>
              <a:t>％，且无越级提升；</a:t>
            </a:r>
          </a:p>
          <a:p>
            <a:pPr marL="0" lvl="0" indent="0" eaLnBrk="1" hangingPunct="1">
              <a:lnSpc>
                <a:spcPct val="90000"/>
              </a:lnSpc>
            </a:pPr>
            <a:r>
              <a:rPr kumimoji="1" lang="en-US" altLang="zh-CN" sz="2400" b="1">
                <a:effectLst/>
                <a:latin typeface="宋体" pitchFamily="2" charset="-122"/>
              </a:rPr>
              <a:t>(4)Ⅲ</a:t>
            </a:r>
            <a:r>
              <a:rPr kumimoji="1" lang="zh-CN" altLang="en-US" sz="2400" b="1">
                <a:effectLst/>
                <a:latin typeface="宋体" pitchFamily="2" charset="-122"/>
              </a:rPr>
              <a:t>级不足编制的人数可录用新职工，又</a:t>
            </a:r>
            <a:r>
              <a:rPr kumimoji="1" lang="en-US" altLang="zh-CN" sz="2400" b="1">
                <a:effectLst/>
                <a:latin typeface="宋体" pitchFamily="2" charset="-122"/>
              </a:rPr>
              <a:t>Ⅰ</a:t>
            </a:r>
            <a:r>
              <a:rPr kumimoji="1" lang="zh-CN" altLang="en-US" sz="2400" b="1">
                <a:effectLst/>
                <a:latin typeface="宋体" pitchFamily="2" charset="-122"/>
              </a:rPr>
              <a:t>级的职工有</a:t>
            </a:r>
            <a:r>
              <a:rPr kumimoji="1" lang="en-US" altLang="zh-CN" sz="2400" b="1">
                <a:effectLst/>
                <a:latin typeface="宋体" pitchFamily="2" charset="-122"/>
              </a:rPr>
              <a:t>10</a:t>
            </a:r>
            <a:r>
              <a:rPr kumimoji="1" lang="zh-CN" altLang="en-US" sz="2400" b="1">
                <a:effectLst/>
                <a:latin typeface="宋体" pitchFamily="2" charset="-122"/>
              </a:rPr>
              <a:t>％要退休。</a:t>
            </a:r>
          </a:p>
          <a:p>
            <a:pPr marL="0" lvl="0" indent="0" eaLnBrk="1" hangingPunct="1">
              <a:spcBef>
                <a:spcPct val="50000"/>
              </a:spcBef>
            </a:pPr>
            <a:r>
              <a:rPr kumimoji="1" lang="zh-CN" altLang="en-US" sz="2400" b="1">
                <a:effectLst/>
                <a:latin typeface="宋体" pitchFamily="2" charset="-122"/>
              </a:rPr>
              <a:t>有关资料汇总下表</a:t>
            </a:r>
            <a:r>
              <a:rPr kumimoji="1" lang="en-US" altLang="zh-CN" sz="2400" b="1">
                <a:effectLst/>
                <a:latin typeface="宋体" pitchFamily="2" charset="-122"/>
              </a:rPr>
              <a:t>3</a:t>
            </a:r>
            <a:r>
              <a:rPr kumimoji="1" lang="zh-CN" altLang="en-US" sz="2400" b="1">
                <a:effectLst/>
                <a:latin typeface="宋体" pitchFamily="2" charset="-122"/>
              </a:rPr>
              <a:t>，问如何拟定满意的方案？</a:t>
            </a:r>
          </a:p>
          <a:p>
            <a:pPr marL="0" lvl="0" indent="0" eaLnBrk="1" hangingPunct="1">
              <a:spcBef>
                <a:spcPct val="50000"/>
              </a:spcBef>
            </a:pPr>
            <a:endParaRPr kumimoji="1" lang="en-US" altLang="zh-CN" sz="2400" b="1">
              <a:effectLst/>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83971">
                                            <p:txEl>
                                              <p:charRg st="0" end="36"/>
                                            </p:txEl>
                                          </p:spTgt>
                                        </p:tgtEl>
                                        <p:attrNameLst>
                                          <p:attrName>style.visibility</p:attrName>
                                        </p:attrNameLst>
                                      </p:cBhvr>
                                      <p:to>
                                        <p:strVal val="visible"/>
                                      </p:to>
                                    </p:set>
                                    <p:animEffect transition="in" filter="blinds(horizontal)">
                                      <p:cBhvr additive="base">
                                        <p:cTn id="7" dur="500"/>
                                        <p:tgtEl>
                                          <p:spTgt spid="83971">
                                            <p:txEl>
                                              <p:charRg st="0" end="36"/>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83971">
                                            <p:txEl>
                                              <p:charRg st="36" end="54"/>
                                            </p:txEl>
                                          </p:spTgt>
                                        </p:tgtEl>
                                        <p:attrNameLst>
                                          <p:attrName>style.visibility</p:attrName>
                                        </p:attrNameLst>
                                      </p:cBhvr>
                                      <p:to>
                                        <p:strVal val="visible"/>
                                      </p:to>
                                    </p:set>
                                    <p:animEffect transition="in" filter="blinds(horizontal)">
                                      <p:cBhvr additive="base">
                                        <p:cTn id="13" dur="500"/>
                                        <p:tgtEl>
                                          <p:spTgt spid="83971">
                                            <p:txEl>
                                              <p:charRg st="36" end="54"/>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83971">
                                            <p:txEl>
                                              <p:charRg st="54" end="74"/>
                                            </p:txEl>
                                          </p:spTgt>
                                        </p:tgtEl>
                                        <p:attrNameLst>
                                          <p:attrName>style.visibility</p:attrName>
                                        </p:attrNameLst>
                                      </p:cBhvr>
                                      <p:to>
                                        <p:strVal val="visible"/>
                                      </p:to>
                                    </p:set>
                                    <p:animEffect transition="in" filter="blinds(horizontal)">
                                      <p:cBhvr additive="base">
                                        <p:cTn id="19" dur="500"/>
                                        <p:tgtEl>
                                          <p:spTgt spid="83971">
                                            <p:txEl>
                                              <p:charRg st="54" end="74"/>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83971">
                                            <p:txEl>
                                              <p:charRg st="74" end="107"/>
                                            </p:txEl>
                                          </p:spTgt>
                                        </p:tgtEl>
                                        <p:attrNameLst>
                                          <p:attrName>style.visibility</p:attrName>
                                        </p:attrNameLst>
                                      </p:cBhvr>
                                      <p:to>
                                        <p:strVal val="visible"/>
                                      </p:to>
                                    </p:set>
                                    <p:animEffect transition="in" filter="blinds(horizontal)">
                                      <p:cBhvr additive="base">
                                        <p:cTn id="25" dur="500"/>
                                        <p:tgtEl>
                                          <p:spTgt spid="83971">
                                            <p:txEl>
                                              <p:charRg st="74" end="107"/>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83971">
                                            <p:txEl>
                                              <p:charRg st="107" end="141"/>
                                            </p:txEl>
                                          </p:spTgt>
                                        </p:tgtEl>
                                        <p:attrNameLst>
                                          <p:attrName>style.visibility</p:attrName>
                                        </p:attrNameLst>
                                      </p:cBhvr>
                                      <p:to>
                                        <p:strVal val="visible"/>
                                      </p:to>
                                    </p:set>
                                    <p:animEffect transition="in" filter="blinds(horizontal)">
                                      <p:cBhvr additive="base">
                                        <p:cTn id="31" dur="500"/>
                                        <p:tgtEl>
                                          <p:spTgt spid="83971">
                                            <p:txEl>
                                              <p:charRg st="107" end="141"/>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83971">
                                            <p:txEl>
                                              <p:charRg st="141" end="163"/>
                                            </p:txEl>
                                          </p:spTgt>
                                        </p:tgtEl>
                                        <p:attrNameLst>
                                          <p:attrName>style.visibility</p:attrName>
                                        </p:attrNameLst>
                                      </p:cBhvr>
                                      <p:to>
                                        <p:strVal val="visible"/>
                                      </p:to>
                                    </p:set>
                                    <p:animEffect transition="in" filter="blinds(horizontal)">
                                      <p:cBhvr additive="base">
                                        <p:cTn id="37" dur="500"/>
                                        <p:tgtEl>
                                          <p:spTgt spid="83971">
                                            <p:txEl>
                                              <p:charRg st="141"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4994" name="Rectangle 2"/>
          <p:cNvSpPr/>
          <p:nvPr/>
        </p:nvSpPr>
        <p:spPr>
          <a:xfrm>
            <a:off x="34925" y="1503133"/>
            <a:ext cx="183063" cy="457657"/>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graphicFrame>
        <p:nvGraphicFramePr>
          <p:cNvPr id="84995" name="Group 40"/>
          <p:cNvGraphicFramePr>
            <a:graphicFrameLocks noGrp="1"/>
          </p:cNvGraphicFramePr>
          <p:nvPr/>
        </p:nvGraphicFramePr>
        <p:xfrm>
          <a:off x="503238" y="1557338"/>
          <a:ext cx="8243886" cy="3095625"/>
        </p:xfrm>
        <a:graphic>
          <a:graphicData uri="http://schemas.openxmlformats.org/drawingml/2006/table">
            <a:tbl>
              <a:tblPr>
                <a:effectLst/>
              </a:tblPr>
              <a:tblGrid>
                <a:gridCol w="1401762"/>
                <a:gridCol w="2736850"/>
                <a:gridCol w="1801812"/>
                <a:gridCol w="2303462"/>
              </a:tblGrid>
              <a:tr h="619125">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zh-CN" altLang="en-US" sz="2600">
                          <a:effectLst/>
                        </a:rPr>
                        <a:t>等级</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zh-CN" altLang="en-US" sz="2600">
                          <a:effectLst/>
                        </a:rPr>
                        <a:t>工资额（元</a:t>
                      </a:r>
                      <a:r>
                        <a:rPr lang="en-US" altLang="zh-CN" sz="2600">
                          <a:effectLst/>
                        </a:rPr>
                        <a:t>/</a:t>
                      </a:r>
                      <a:r>
                        <a:rPr lang="zh-CN" altLang="en-US" sz="2600">
                          <a:effectLst/>
                        </a:rPr>
                        <a:t>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zh-CN" altLang="en-US" sz="2600">
                          <a:effectLst/>
                        </a:rPr>
                        <a:t>现有人数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zh-CN" altLang="en-US" sz="2600">
                          <a:effectLst/>
                        </a:rPr>
                        <a:t>编制人数</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19125">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Ⅰ</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2000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12</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19125">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Ⅱ</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15</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19125">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Ⅲ</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15</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619125">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zh-CN" altLang="en-US" sz="2600">
                          <a:effectLst/>
                        </a:rPr>
                        <a:t>合计</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endParaRPr lang="zh-CN" altLang="zh-CN" sz="260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spcBef>
                          <a:spcPct val="20000"/>
                        </a:spcBef>
                      </a:pPr>
                      <a:r>
                        <a:rPr lang="en-US" altLang="zh-CN" sz="2600">
                          <a:effectLst/>
                        </a:rPr>
                        <a:t>42</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
        <p:nvSpPr>
          <p:cNvPr id="85027" name="Text Box 6"/>
          <p:cNvSpPr/>
          <p:nvPr/>
        </p:nvSpPr>
        <p:spPr>
          <a:xfrm>
            <a:off x="3892550" y="1052512"/>
            <a:ext cx="1328477" cy="457657"/>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400" b="1">
                <a:solidFill>
                  <a:schemeClr val="tx2"/>
                </a:solidFill>
                <a:effectLst/>
                <a:latin typeface="Times New Roman" pitchFamily="18" charset="0"/>
              </a:rPr>
              <a:t>表</a:t>
            </a:r>
            <a:r>
              <a:rPr kumimoji="1" lang="en-US" altLang="zh-CN" sz="2400" b="1">
                <a:solidFill>
                  <a:schemeClr val="tx2"/>
                </a:solidFill>
                <a:effectLst/>
                <a:latin typeface="Times New Roman" pitchFamily="18" charset="0"/>
              </a:rPr>
              <a:t>3</a:t>
            </a:r>
            <a:endParaRPr kumimoji="1" lang="zh-CN" altLang="en-US" sz="2400" b="1">
              <a:solidFill>
                <a:schemeClr val="tx2"/>
              </a:solidFill>
              <a:effectLst/>
              <a:latin typeface="Times New Roman" pitchFamily="18" charset="0"/>
            </a:endParaRPr>
          </a:p>
        </p:txBody>
      </p:sp>
    </p:spTree>
  </p:cSld>
  <p:clrMapOvr>
    <a:masterClrMapping/>
  </p:clrMapOvr>
  <p:transition/>
  <p:timing/>
</p:sld>
</file>

<file path=ppt/slides/slide8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6018" name="Text Box 4"/>
          <p:cNvSpPr/>
          <p:nvPr/>
        </p:nvSpPr>
        <p:spPr>
          <a:xfrm>
            <a:off x="250825" y="765175"/>
            <a:ext cx="8757461" cy="4256212"/>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600" b="1">
                <a:effectLst/>
                <a:latin typeface="楷体_GB2312" pitchFamily="49" charset="-122"/>
                <a:ea typeface="楷体_GB2312" pitchFamily="49" charset="-122"/>
              </a:rPr>
              <a:t>解： </a:t>
            </a:r>
            <a:r>
              <a:rPr kumimoji="1" lang="en-US" altLang="zh-CN" sz="2600" b="1">
                <a:effectLst/>
                <a:latin typeface="楷体_GB2312" pitchFamily="49" charset="-122"/>
                <a:ea typeface="楷体_GB2312" pitchFamily="49" charset="-122"/>
              </a:rPr>
              <a:t>1</a:t>
            </a:r>
            <a:r>
              <a:rPr kumimoji="1" lang="zh-CN" altLang="en-US" sz="2600" b="1">
                <a:effectLst/>
                <a:latin typeface="楷体_GB2312" pitchFamily="49" charset="-122"/>
                <a:ea typeface="楷体_GB2312" pitchFamily="49" charset="-122"/>
              </a:rPr>
              <a:t>）设定决策变量。假设</a:t>
            </a:r>
            <a:r>
              <a:rPr kumimoji="1" lang="en-US" altLang="zh-CN" sz="2600" i="1">
                <a:effectLst/>
                <a:latin typeface="Times New Roman" pitchFamily="18" charset="0"/>
                <a:ea typeface="楷体_GB2312" pitchFamily="49" charset="-122"/>
              </a:rPr>
              <a:t>x</a:t>
            </a:r>
            <a:r>
              <a:rPr kumimoji="1" lang="en-US" altLang="zh-CN" sz="2600" b="1" baseline="-25000">
                <a:effectLst/>
                <a:latin typeface="Times New Roman" pitchFamily="18" charset="0"/>
                <a:ea typeface="楷体_GB2312" pitchFamily="49" charset="-122"/>
              </a:rPr>
              <a:t>1</a:t>
            </a:r>
            <a:r>
              <a:rPr kumimoji="1" lang="zh-CN" altLang="en-US" sz="2600" b="1" baseline="-25000">
                <a:effectLst/>
                <a:latin typeface="Times New Roman" pitchFamily="18" charset="0"/>
                <a:ea typeface="楷体_GB2312" pitchFamily="49" charset="-122"/>
              </a:rPr>
              <a:t>，</a:t>
            </a:r>
            <a:r>
              <a:rPr kumimoji="1" lang="en-US" altLang="zh-CN" sz="2600" i="1">
                <a:effectLst/>
                <a:latin typeface="Times New Roman" pitchFamily="18" charset="0"/>
                <a:ea typeface="楷体_GB2312" pitchFamily="49" charset="-122"/>
              </a:rPr>
              <a:t>x</a:t>
            </a:r>
            <a:r>
              <a:rPr kumimoji="1" lang="en-US" altLang="zh-CN" sz="2600" b="1" baseline="-25000">
                <a:effectLst/>
                <a:latin typeface="Times New Roman" pitchFamily="18" charset="0"/>
                <a:ea typeface="楷体_GB2312" pitchFamily="49" charset="-122"/>
              </a:rPr>
              <a:t>2</a:t>
            </a:r>
            <a:r>
              <a:rPr kumimoji="1" lang="zh-CN" altLang="en-US" sz="2600" b="1" baseline="-25000">
                <a:effectLst/>
                <a:latin typeface="Times New Roman" pitchFamily="18" charset="0"/>
                <a:ea typeface="楷体_GB2312" pitchFamily="49" charset="-122"/>
              </a:rPr>
              <a:t> ， </a:t>
            </a:r>
            <a:r>
              <a:rPr kumimoji="1" lang="en-US" altLang="zh-CN" sz="2600" i="1">
                <a:effectLst/>
                <a:latin typeface="Times New Roman" pitchFamily="18" charset="0"/>
                <a:ea typeface="楷体_GB2312" pitchFamily="49" charset="-122"/>
              </a:rPr>
              <a:t>x</a:t>
            </a:r>
            <a:r>
              <a:rPr kumimoji="1" lang="en-US" altLang="zh-CN" sz="2600" b="1" baseline="-25000">
                <a:effectLst/>
                <a:latin typeface="Times New Roman" pitchFamily="18" charset="0"/>
                <a:ea typeface="楷体_GB2312" pitchFamily="49" charset="-122"/>
              </a:rPr>
              <a:t>3</a:t>
            </a:r>
            <a:r>
              <a:rPr kumimoji="1" lang="zh-CN" altLang="en-US" sz="2600" b="1">
                <a:effectLst/>
                <a:latin typeface="楷体_GB2312" pitchFamily="49" charset="-122"/>
                <a:ea typeface="楷体_GB2312" pitchFamily="49" charset="-122"/>
              </a:rPr>
              <a:t>分别表示提升到</a:t>
            </a:r>
            <a:r>
              <a:rPr kumimoji="1" lang="en-US" altLang="zh-CN" sz="2600" b="1">
                <a:effectLst/>
                <a:latin typeface="楷体_GB2312" pitchFamily="49" charset="-122"/>
                <a:ea typeface="楷体_GB2312" pitchFamily="49" charset="-122"/>
              </a:rPr>
              <a:t>Ⅰ</a:t>
            </a:r>
            <a:r>
              <a:rPr kumimoji="1" lang="zh-CN" altLang="en-US" sz="2600" b="1">
                <a:effectLst/>
                <a:latin typeface="楷体_GB2312" pitchFamily="49" charset="-122"/>
                <a:ea typeface="楷体_GB2312" pitchFamily="49" charset="-122"/>
              </a:rPr>
              <a:t>、</a:t>
            </a:r>
            <a:r>
              <a:rPr kumimoji="1" lang="en-US" altLang="zh-CN" sz="2600" b="1">
                <a:effectLst/>
                <a:latin typeface="楷体_GB2312" pitchFamily="49" charset="-122"/>
                <a:ea typeface="楷体_GB2312" pitchFamily="49" charset="-122"/>
              </a:rPr>
              <a:t>Ⅱ</a:t>
            </a:r>
            <a:r>
              <a:rPr kumimoji="1" lang="zh-CN" altLang="en-US" sz="2600" b="1">
                <a:effectLst/>
                <a:latin typeface="楷体_GB2312" pitchFamily="49" charset="-122"/>
                <a:ea typeface="楷体_GB2312" pitchFamily="49" charset="-122"/>
              </a:rPr>
              <a:t>级和录用到</a:t>
            </a:r>
            <a:r>
              <a:rPr kumimoji="1" lang="en-US" altLang="zh-CN" sz="2600" b="1">
                <a:effectLst/>
                <a:latin typeface="楷体_GB2312" pitchFamily="49" charset="-122"/>
                <a:ea typeface="楷体_GB2312" pitchFamily="49" charset="-122"/>
              </a:rPr>
              <a:t>Ⅲ</a:t>
            </a:r>
            <a:r>
              <a:rPr kumimoji="1" lang="zh-CN" altLang="en-US" sz="2600" b="1">
                <a:effectLst/>
                <a:latin typeface="楷体_GB2312" pitchFamily="49" charset="-122"/>
                <a:ea typeface="楷体_GB2312" pitchFamily="49" charset="-122"/>
              </a:rPr>
              <a:t>级的新职工人数。 </a:t>
            </a:r>
          </a:p>
          <a:p>
            <a:pPr marL="0" lvl="0" indent="0" eaLnBrk="1" hangingPunct="1">
              <a:spcBef>
                <a:spcPct val="50000"/>
              </a:spcBef>
            </a:pPr>
            <a:r>
              <a:rPr kumimoji="1" lang="en-US" altLang="zh-CN" sz="2600" b="1">
                <a:effectLst/>
                <a:latin typeface="楷体_GB2312" pitchFamily="49" charset="-122"/>
                <a:ea typeface="楷体_GB2312" pitchFamily="49" charset="-122"/>
                <a:sym typeface="Wingdings" pitchFamily="2" charset="2"/>
              </a:rPr>
              <a:t>2</a:t>
            </a:r>
            <a:r>
              <a:rPr kumimoji="1" lang="zh-CN" altLang="en-US" sz="2600" b="1">
                <a:effectLst/>
                <a:latin typeface="楷体_GB2312" pitchFamily="49" charset="-122"/>
                <a:ea typeface="楷体_GB2312" pitchFamily="49" charset="-122"/>
                <a:sym typeface="Wingdings" pitchFamily="2" charset="2"/>
              </a:rPr>
              <a:t>）确定所需考虑的各个目标的优先级及权系数。</a:t>
            </a:r>
          </a:p>
          <a:p>
            <a:pPr marL="0" lvl="0" indent="0" eaLnBrk="1" hangingPunct="1">
              <a:spcBef>
                <a:spcPct val="50000"/>
              </a:spcBef>
            </a:pPr>
            <a:r>
              <a:rPr kumimoji="1" lang="zh-CN" altLang="en-US" sz="2600" b="1">
                <a:effectLst/>
                <a:latin typeface="楷体_GB2312" pitchFamily="49" charset="-122"/>
                <a:ea typeface="楷体_GB2312" pitchFamily="49" charset="-122"/>
              </a:rPr>
              <a:t>对各目标的优先因子确定为：</a:t>
            </a:r>
          </a:p>
          <a:p>
            <a:pPr marL="0" lvl="0" indent="0" eaLnBrk="1" hangingPunct="1">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Times New Roman" pitchFamily="18" charset="0"/>
                <a:ea typeface="楷体_GB2312" pitchFamily="49" charset="-122"/>
              </a:rPr>
              <a:t>P</a:t>
            </a:r>
            <a:r>
              <a:rPr kumimoji="1" lang="en-US" altLang="zh-CN" sz="2600" b="1">
                <a:effectLst/>
                <a:latin typeface="楷体_GB2312" pitchFamily="49" charset="-122"/>
                <a:ea typeface="楷体_GB2312" pitchFamily="49" charset="-122"/>
              </a:rPr>
              <a:t>1</a:t>
            </a:r>
            <a:r>
              <a:rPr kumimoji="1" lang="zh-CN" altLang="en-US" sz="2600" b="1">
                <a:effectLst/>
                <a:latin typeface="楷体_GB2312" pitchFamily="49" charset="-122"/>
                <a:ea typeface="楷体_GB2312" pitchFamily="49" charset="-122"/>
              </a:rPr>
              <a:t>：不超过年工资总额</a:t>
            </a:r>
            <a:r>
              <a:rPr kumimoji="1" lang="en-US" altLang="zh-CN" sz="2600" b="1">
                <a:effectLst/>
                <a:latin typeface="楷体_GB2312" pitchFamily="49" charset="-122"/>
                <a:ea typeface="楷体_GB2312" pitchFamily="49" charset="-122"/>
              </a:rPr>
              <a:t>60000</a:t>
            </a:r>
            <a:r>
              <a:rPr kumimoji="1" lang="zh-CN" altLang="en-US" sz="2600" b="1">
                <a:effectLst/>
                <a:latin typeface="楷体_GB2312" pitchFamily="49" charset="-122"/>
                <a:ea typeface="楷体_GB2312" pitchFamily="49" charset="-122"/>
              </a:rPr>
              <a:t>元；</a:t>
            </a:r>
          </a:p>
          <a:p>
            <a:pPr marL="0" lvl="0" indent="0" eaLnBrk="1" hangingPunct="1">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Times New Roman" pitchFamily="18" charset="0"/>
                <a:ea typeface="楷体_GB2312" pitchFamily="49" charset="-122"/>
              </a:rPr>
              <a:t>P</a:t>
            </a:r>
            <a:r>
              <a:rPr kumimoji="1" lang="en-US" altLang="zh-CN" sz="2600" b="1">
                <a:effectLst/>
                <a:latin typeface="楷体_GB2312" pitchFamily="49" charset="-122"/>
                <a:ea typeface="楷体_GB2312" pitchFamily="49" charset="-122"/>
              </a:rPr>
              <a:t>2: </a:t>
            </a:r>
            <a:r>
              <a:rPr kumimoji="1" lang="zh-CN" altLang="en-US" sz="2600" b="1">
                <a:effectLst/>
                <a:latin typeface="楷体_GB2312" pitchFamily="49" charset="-122"/>
                <a:ea typeface="楷体_GB2312" pitchFamily="49" charset="-122"/>
              </a:rPr>
              <a:t>每级的人数不超过定编规定的人数；</a:t>
            </a:r>
          </a:p>
          <a:p>
            <a:pPr marL="0" lvl="0" indent="0" eaLnBrk="1" hangingPunct="1">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Times New Roman" pitchFamily="18" charset="0"/>
                <a:ea typeface="楷体_GB2312" pitchFamily="49" charset="-122"/>
              </a:rPr>
              <a:t>P</a:t>
            </a:r>
            <a:r>
              <a:rPr kumimoji="1" lang="en-US" altLang="zh-CN" sz="2600" b="1">
                <a:effectLst/>
                <a:latin typeface="楷体_GB2312" pitchFamily="49" charset="-122"/>
                <a:ea typeface="楷体_GB2312" pitchFamily="49" charset="-122"/>
              </a:rPr>
              <a:t>3</a:t>
            </a:r>
            <a:r>
              <a:rPr kumimoji="1" lang="zh-CN" altLang="en-US" sz="2600" b="1">
                <a:effectLst/>
                <a:latin typeface="楷体_GB2312" pitchFamily="49" charset="-122"/>
                <a:ea typeface="楷体_GB2312" pitchFamily="49" charset="-122"/>
              </a:rPr>
              <a:t>：</a:t>
            </a:r>
            <a:r>
              <a:rPr kumimoji="1" lang="en-US" altLang="zh-CN" sz="2600" b="1">
                <a:effectLst/>
                <a:latin typeface="楷体_GB2312" pitchFamily="49" charset="-122"/>
                <a:ea typeface="楷体_GB2312" pitchFamily="49" charset="-122"/>
              </a:rPr>
              <a:t>Ⅱ</a:t>
            </a:r>
            <a:r>
              <a:rPr kumimoji="1" lang="zh-CN" altLang="en-US" sz="2600" b="1">
                <a:effectLst/>
                <a:latin typeface="楷体_GB2312" pitchFamily="49" charset="-122"/>
                <a:ea typeface="楷体_GB2312" pitchFamily="49" charset="-122"/>
              </a:rPr>
              <a:t>、</a:t>
            </a:r>
            <a:r>
              <a:rPr kumimoji="1" lang="en-US" altLang="zh-CN" sz="2600" b="1">
                <a:effectLst/>
              </a:rPr>
              <a:t>Ⅲ</a:t>
            </a:r>
            <a:r>
              <a:rPr kumimoji="1" lang="zh-CN" altLang="en-US" sz="2600" b="1">
                <a:effectLst/>
                <a:latin typeface="楷体_GB2312" pitchFamily="49" charset="-122"/>
                <a:ea typeface="楷体_GB2312" pitchFamily="49" charset="-122"/>
              </a:rPr>
              <a:t>级升级面尽可能达到现有人数的</a:t>
            </a:r>
            <a:r>
              <a:rPr kumimoji="1" lang="en-US" altLang="zh-CN" sz="2600" b="1">
                <a:effectLst/>
                <a:latin typeface="楷体_GB2312" pitchFamily="49" charset="-122"/>
                <a:ea typeface="楷体_GB2312" pitchFamily="49" charset="-122"/>
              </a:rPr>
              <a:t>20</a:t>
            </a:r>
            <a:r>
              <a:rPr kumimoji="1" lang="zh-CN" altLang="en-US" sz="2600" b="1">
                <a:effectLst/>
                <a:latin typeface="楷体_GB2312" pitchFamily="49" charset="-122"/>
                <a:ea typeface="楷体_GB2312" pitchFamily="49" charset="-122"/>
              </a:rPr>
              <a:t>％；</a:t>
            </a:r>
          </a:p>
          <a:p>
            <a:pPr marL="0" lvl="0" indent="0" eaLnBrk="1" hangingPunct="1"/>
            <a:r>
              <a:rPr kumimoji="1" lang="en-US" altLang="zh-CN" sz="2600" b="1">
                <a:effectLst/>
                <a:latin typeface="楷体_GB2312" pitchFamily="49" charset="-122"/>
                <a:ea typeface="楷体_GB2312" pitchFamily="49" charset="-122"/>
                <a:sym typeface="Wingdings" pitchFamily="2" charset="2"/>
              </a:rPr>
              <a:t>3</a:t>
            </a:r>
            <a:r>
              <a:rPr kumimoji="1" lang="zh-CN" altLang="en-US" sz="2600" b="1">
                <a:effectLst/>
                <a:latin typeface="楷体_GB2312" pitchFamily="49" charset="-122"/>
                <a:ea typeface="楷体_GB2312" pitchFamily="49" charset="-122"/>
                <a:sym typeface="Wingdings" pitchFamily="2" charset="2"/>
              </a:rPr>
              <a:t>）将各个目标写入目标规划的约束条件。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86018">
                                            <p:txEl>
                                              <p:charRg st="0" end="50"/>
                                            </p:txEl>
                                          </p:spTgt>
                                        </p:tgtEl>
                                        <p:attrNameLst>
                                          <p:attrName>style.visibility</p:attrName>
                                        </p:attrNameLst>
                                      </p:cBhvr>
                                      <p:to>
                                        <p:strVal val="visible"/>
                                      </p:to>
                                    </p:set>
                                    <p:animEffect transition="in" filter="blinds(horizontal)">
                                      <p:cBhvr additive="base">
                                        <p:cTn id="7" dur="500"/>
                                        <p:tgtEl>
                                          <p:spTgt spid="86018">
                                            <p:txEl>
                                              <p:charRg st="0" end="50"/>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86018">
                                            <p:txEl>
                                              <p:charRg st="50" end="73"/>
                                            </p:txEl>
                                          </p:spTgt>
                                        </p:tgtEl>
                                        <p:attrNameLst>
                                          <p:attrName>style.visibility</p:attrName>
                                        </p:attrNameLst>
                                      </p:cBhvr>
                                      <p:to>
                                        <p:strVal val="visible"/>
                                      </p:to>
                                    </p:set>
                                    <p:animEffect transition="in" filter="blinds(horizontal)">
                                      <p:cBhvr additive="base">
                                        <p:cTn id="13" dur="500"/>
                                        <p:tgtEl>
                                          <p:spTgt spid="86018">
                                            <p:txEl>
                                              <p:charRg st="50" end="73"/>
                                            </p:txEl>
                                          </p:spTgt>
                                        </p:tgtEl>
                                      </p:cBhvr>
                                    </p:animEffect>
                                  </p:childTnLst>
                                </p:cTn>
                              </p:par>
                              <p:par>
                                <p:cTn id="14" presetID="3" presetClass="entr" presetSubtype="10" fill="hold" nodeType="withEffect">
                                  <p:stCondLst>
                                    <p:cond delay="-9223372036854775808"/>
                                  </p:stCondLst>
                                  <p:childTnLst>
                                    <p:set>
                                      <p:cBhvr additive="base">
                                        <p:cTn id="15" dur="1" fill="hold">
                                          <p:stCondLst>
                                            <p:cond delay="0"/>
                                          </p:stCondLst>
                                        </p:cTn>
                                        <p:tgtEl>
                                          <p:spTgt spid="86018">
                                            <p:txEl>
                                              <p:charRg st="73" end="87"/>
                                            </p:txEl>
                                          </p:spTgt>
                                        </p:tgtEl>
                                        <p:attrNameLst>
                                          <p:attrName>style.visibility</p:attrName>
                                        </p:attrNameLst>
                                      </p:cBhvr>
                                      <p:to>
                                        <p:strVal val="visible"/>
                                      </p:to>
                                    </p:set>
                                    <p:animEffect transition="in" filter="blinds(horizontal)">
                                      <p:cBhvr additive="base">
                                        <p:cTn id="16" dur="500"/>
                                        <p:tgtEl>
                                          <p:spTgt spid="86018">
                                            <p:txEl>
                                              <p:charRg st="73" end="87"/>
                                            </p:txEl>
                                          </p:spTgt>
                                        </p:tgtEl>
                                      </p:cBhvr>
                                    </p:animEffect>
                                  </p:childTnLst>
                                </p:cTn>
                              </p:par>
                            </p:childTnLst>
                          </p:cTn>
                        </p:par>
                      </p:childTnLst>
                    </p:cTn>
                  </p:par>
                  <p:par>
                    <p:cTn id="17" fill="hold">
                      <p:stCondLst>
                        <p:cond delay="indefinite"/>
                      </p:stCondLst>
                      <p:childTnLst>
                        <p:par>
                          <p:cTn id="18" fill="hold">
                            <p:stCondLst>
                              <p:cond delay="indefinite"/>
                            </p:stCondLst>
                          </p:cTn>
                        </p:par>
                        <p:par>
                          <p:cTn id="19" fill="hold">
                            <p:stCondLst>
                              <p:cond delay="0"/>
                            </p:stCondLst>
                            <p:childTnLst>
                              <p:par>
                                <p:cTn id="20" presetID="3" presetClass="entr" presetSubtype="10" fill="hold" nodeType="clickEffect">
                                  <p:stCondLst>
                                    <p:cond delay="-9223372036854775808"/>
                                  </p:stCondLst>
                                  <p:childTnLst>
                                    <p:set>
                                      <p:cBhvr additive="base">
                                        <p:cTn id="21" dur="1" fill="hold">
                                          <p:stCondLst>
                                            <p:cond delay="0"/>
                                          </p:stCondLst>
                                        </p:cTn>
                                        <p:tgtEl>
                                          <p:spTgt spid="86018">
                                            <p:txEl>
                                              <p:charRg st="87" end="109"/>
                                            </p:txEl>
                                          </p:spTgt>
                                        </p:tgtEl>
                                        <p:attrNameLst>
                                          <p:attrName>style.visibility</p:attrName>
                                        </p:attrNameLst>
                                      </p:cBhvr>
                                      <p:to>
                                        <p:strVal val="visible"/>
                                      </p:to>
                                    </p:set>
                                    <p:animEffect transition="in" filter="blinds(horizontal)">
                                      <p:cBhvr additive="base">
                                        <p:cTn id="22" dur="500"/>
                                        <p:tgtEl>
                                          <p:spTgt spid="86018">
                                            <p:txEl>
                                              <p:charRg st="87" end="109"/>
                                            </p:txEl>
                                          </p:spTgt>
                                        </p:tgtEl>
                                      </p:cBhvr>
                                    </p:animEffect>
                                  </p:child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3" presetClass="entr" presetSubtype="10" fill="hold" nodeType="clickEffect">
                                  <p:stCondLst>
                                    <p:cond delay="-9223372036854775808"/>
                                  </p:stCondLst>
                                  <p:childTnLst>
                                    <p:set>
                                      <p:cBhvr additive="base">
                                        <p:cTn id="27" dur="1" fill="hold">
                                          <p:stCondLst>
                                            <p:cond delay="0"/>
                                          </p:stCondLst>
                                        </p:cTn>
                                        <p:tgtEl>
                                          <p:spTgt spid="86018">
                                            <p:txEl>
                                              <p:charRg st="109" end="133"/>
                                            </p:txEl>
                                          </p:spTgt>
                                        </p:tgtEl>
                                        <p:attrNameLst>
                                          <p:attrName>style.visibility</p:attrName>
                                        </p:attrNameLst>
                                      </p:cBhvr>
                                      <p:to>
                                        <p:strVal val="visible"/>
                                      </p:to>
                                    </p:set>
                                    <p:animEffect transition="in" filter="blinds(horizontal)">
                                      <p:cBhvr additive="base">
                                        <p:cTn id="28" dur="500"/>
                                        <p:tgtEl>
                                          <p:spTgt spid="86018">
                                            <p:txEl>
                                              <p:charRg st="109" end="133"/>
                                            </p:txEl>
                                          </p:spTgt>
                                        </p:tgtEl>
                                      </p:cBhvr>
                                    </p:animEffect>
                                  </p:childTnLst>
                                </p:cTn>
                              </p:par>
                            </p:childTnLst>
                          </p:cTn>
                        </p:par>
                      </p:childTnLst>
                    </p:cTn>
                  </p:par>
                  <p:par>
                    <p:cTn id="29" fill="hold">
                      <p:stCondLst>
                        <p:cond delay="indefinite"/>
                      </p:stCondLst>
                      <p:childTnLst>
                        <p:par>
                          <p:cTn id="30" fill="hold">
                            <p:stCondLst>
                              <p:cond delay="indefinite"/>
                            </p:stCondLst>
                          </p:cTn>
                        </p:par>
                        <p:par>
                          <p:cTn id="31" fill="hold">
                            <p:stCondLst>
                              <p:cond delay="0"/>
                            </p:stCondLst>
                            <p:childTnLst>
                              <p:par>
                                <p:cTn id="32" presetID="3" presetClass="entr" presetSubtype="10" fill="hold" nodeType="clickEffect">
                                  <p:stCondLst>
                                    <p:cond delay="-9223372036854775808"/>
                                  </p:stCondLst>
                                  <p:childTnLst>
                                    <p:set>
                                      <p:cBhvr additive="base">
                                        <p:cTn id="33" dur="1" fill="hold">
                                          <p:stCondLst>
                                            <p:cond delay="0"/>
                                          </p:stCondLst>
                                        </p:cTn>
                                        <p:tgtEl>
                                          <p:spTgt spid="86018">
                                            <p:txEl>
                                              <p:charRg st="133" end="161"/>
                                            </p:txEl>
                                          </p:spTgt>
                                        </p:tgtEl>
                                        <p:attrNameLst>
                                          <p:attrName>style.visibility</p:attrName>
                                        </p:attrNameLst>
                                      </p:cBhvr>
                                      <p:to>
                                        <p:strVal val="visible"/>
                                      </p:to>
                                    </p:set>
                                    <p:animEffect transition="in" filter="blinds(horizontal)">
                                      <p:cBhvr additive="base">
                                        <p:cTn id="34" dur="500"/>
                                        <p:tgtEl>
                                          <p:spTgt spid="86018">
                                            <p:txEl>
                                              <p:charRg st="133" end="161"/>
                                            </p:txEl>
                                          </p:spTgt>
                                        </p:tgtEl>
                                      </p:cBhvr>
                                    </p:animEffect>
                                  </p:childTnLst>
                                </p:cTn>
                              </p:par>
                            </p:childTnLst>
                          </p:cTn>
                        </p:par>
                      </p:childTnLst>
                    </p:cTn>
                  </p:par>
                  <p:par>
                    <p:cTn id="35" fill="hold">
                      <p:stCondLst>
                        <p:cond delay="indefinite"/>
                      </p:stCondLst>
                      <p:childTnLst>
                        <p:par>
                          <p:cTn id="36" fill="hold">
                            <p:stCondLst>
                              <p:cond delay="indefinite"/>
                            </p:stCondLst>
                          </p:cTn>
                        </p:par>
                        <p:par>
                          <p:cTn id="37" fill="hold">
                            <p:stCondLst>
                              <p:cond delay="0"/>
                            </p:stCondLst>
                            <p:childTnLst>
                              <p:par>
                                <p:cTn id="38" presetID="3" presetClass="entr" presetSubtype="10" fill="hold" nodeType="clickEffect">
                                  <p:stCondLst>
                                    <p:cond delay="-9223372036854775808"/>
                                  </p:stCondLst>
                                  <p:childTnLst>
                                    <p:set>
                                      <p:cBhvr additive="base">
                                        <p:cTn id="39" dur="1" fill="hold">
                                          <p:stCondLst>
                                            <p:cond delay="0"/>
                                          </p:stCondLst>
                                        </p:cTn>
                                        <p:tgtEl>
                                          <p:spTgt spid="86018">
                                            <p:txEl>
                                              <p:charRg st="161" end="181"/>
                                            </p:txEl>
                                          </p:spTgt>
                                        </p:tgtEl>
                                        <p:attrNameLst>
                                          <p:attrName>style.visibility</p:attrName>
                                        </p:attrNameLst>
                                      </p:cBhvr>
                                      <p:to>
                                        <p:strVal val="visible"/>
                                      </p:to>
                                    </p:set>
                                    <p:animEffect transition="in" filter="blinds(horizontal)">
                                      <p:cBhvr additive="base">
                                        <p:cTn id="40" dur="500"/>
                                        <p:tgtEl>
                                          <p:spTgt spid="86018">
                                            <p:txEl>
                                              <p:charRg st="161"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7042" name="Text Box 4"/>
          <p:cNvSpPr/>
          <p:nvPr/>
        </p:nvSpPr>
        <p:spPr>
          <a:xfrm>
            <a:off x="431800" y="908050"/>
            <a:ext cx="8757461" cy="488168"/>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600" b="1">
                <a:effectLst/>
                <a:latin typeface="Times New Roman" pitchFamily="18" charset="0"/>
              </a:rPr>
              <a:t>年工资总额不超过</a:t>
            </a:r>
            <a:r>
              <a:rPr kumimoji="1" lang="en-US" altLang="zh-CN" sz="2600" b="1">
                <a:effectLst/>
                <a:latin typeface="Times New Roman" pitchFamily="18" charset="0"/>
              </a:rPr>
              <a:t>60000</a:t>
            </a:r>
            <a:r>
              <a:rPr kumimoji="1" lang="zh-CN" altLang="en-US" sz="2600" b="1">
                <a:effectLst/>
                <a:latin typeface="Times New Roman" pitchFamily="18" charset="0"/>
              </a:rPr>
              <a:t>元；</a:t>
            </a:r>
          </a:p>
        </p:txBody>
      </p:sp>
      <p:sp>
        <p:nvSpPr>
          <p:cNvPr id="87043" name="Rectangle 5"/>
          <p:cNvSpPr/>
          <p:nvPr/>
        </p:nvSpPr>
        <p:spPr>
          <a:xfrm>
            <a:off x="252412" y="2438171"/>
            <a:ext cx="183063" cy="457657"/>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sp>
        <p:nvSpPr>
          <p:cNvPr id="87044" name="Rectangle 6"/>
          <p:cNvSpPr/>
          <p:nvPr/>
        </p:nvSpPr>
        <p:spPr>
          <a:xfrm>
            <a:off x="252412" y="2947760"/>
            <a:ext cx="183063" cy="457657"/>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graphicFrame>
        <p:nvGraphicFramePr>
          <p:cNvPr id="87045" name="Object 7"/>
          <p:cNvGraphicFramePr>
            <a:graphicFrameLocks noChangeAspect="1"/>
          </p:cNvGraphicFramePr>
          <p:nvPr/>
        </p:nvGraphicFramePr>
        <p:xfrm>
          <a:off x="1728788" y="1557338"/>
          <a:ext cx="5400675" cy="993775"/>
        </p:xfrm>
        <a:graphic>
          <a:graphicData uri="http://schemas.openxmlformats.org/presentationml/2006/ole">
            <mc:AlternateContent xmlns:mc="http://schemas.openxmlformats.org/markup-compatibility/2006">
              <mc:Choice xmlns:v="urn:schemas-microsoft-com:vml" Requires="v">
                <p:oleObj spid="_x0000_s1126" name="Equation" r:id="rId2" progId="Equation.DSMT4">
                  <p:embed/>
                </p:oleObj>
              </mc:Choice>
              <mc:Fallback>
                <p:oleObj spid="_x0000_s1126" name="Equation" r:id="rId2" progId="Equation.DSMT4">
                  <p:embed/>
                  <p:pic>
                    <p:nvPicPr>
                      <p:cNvPr id="0" name="OLE substitute image"/>
                      <p:cNvPicPr/>
                      <p:nvPr/>
                    </p:nvPicPr>
                    <p:blipFill>
                      <a:blip r:embed="rId3"/>
                      <a:stretch/>
                    </p:blipFill>
                    <p:spPr>
                      <a:xfrm>
                        <a:off x="1728788" y="1557338"/>
                        <a:ext cx="5400675" cy="993775"/>
                      </a:xfrm>
                      <a:prstGeom prst="rect">
                        <a:avLst/>
                      </a:prstGeom>
                      <a:noFill/>
                      <a:effectLst/>
                    </p:spPr>
                  </p:pic>
                </p:oleObj>
              </mc:Fallback>
            </mc:AlternateContent>
          </a:graphicData>
        </a:graphic>
      </p:graphicFrame>
      <p:sp>
        <p:nvSpPr>
          <p:cNvPr id="87046" name="Text Box 8"/>
          <p:cNvSpPr/>
          <p:nvPr/>
        </p:nvSpPr>
        <p:spPr>
          <a:xfrm>
            <a:off x="431800" y="2565400"/>
            <a:ext cx="8757461" cy="488168"/>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600" b="1">
                <a:effectLst/>
                <a:latin typeface="Times New Roman" pitchFamily="18" charset="0"/>
              </a:rPr>
              <a:t>每级的人数不超过定编规定的人数</a:t>
            </a:r>
          </a:p>
        </p:txBody>
      </p:sp>
      <p:sp>
        <p:nvSpPr>
          <p:cNvPr id="87047" name="Rectangle 9"/>
          <p:cNvSpPr/>
          <p:nvPr/>
        </p:nvSpPr>
        <p:spPr>
          <a:xfrm>
            <a:off x="252412" y="3992334"/>
            <a:ext cx="183063" cy="457657"/>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graphicFrame>
        <p:nvGraphicFramePr>
          <p:cNvPr id="87048" name="Object 10"/>
          <p:cNvGraphicFramePr>
            <a:graphicFrameLocks noChangeAspect="1"/>
          </p:cNvGraphicFramePr>
          <p:nvPr/>
        </p:nvGraphicFramePr>
        <p:xfrm>
          <a:off x="1944688" y="3133725"/>
          <a:ext cx="3600450" cy="1508125"/>
        </p:xfrm>
        <a:graphic>
          <a:graphicData uri="http://schemas.openxmlformats.org/presentationml/2006/ole">
            <mc:AlternateContent xmlns:mc="http://schemas.openxmlformats.org/markup-compatibility/2006">
              <mc:Choice xmlns:v="urn:schemas-microsoft-com:vml" Requires="v">
                <p:oleObj spid="_x0000_s1127" name="Equation" r:id="rId4" progId="Equation.DSMT4">
                  <p:embed/>
                </p:oleObj>
              </mc:Choice>
              <mc:Fallback>
                <p:oleObj spid="_x0000_s1127" name="Equation" r:id="rId4" progId="Equation.DSMT4">
                  <p:embed/>
                  <p:pic>
                    <p:nvPicPr>
                      <p:cNvPr id="0" name="OLE substitute image"/>
                      <p:cNvPicPr/>
                      <p:nvPr/>
                    </p:nvPicPr>
                    <p:blipFill>
                      <a:blip r:embed="rId5"/>
                      <a:stretch/>
                    </p:blipFill>
                    <p:spPr>
                      <a:xfrm>
                        <a:off x="1944688" y="3133725"/>
                        <a:ext cx="3600450" cy="1508125"/>
                      </a:xfrm>
                      <a:prstGeom prst="rect">
                        <a:avLst/>
                      </a:prstGeom>
                      <a:noFill/>
                      <a:effectLst/>
                    </p:spPr>
                  </p:pic>
                </p:oleObj>
              </mc:Fallback>
            </mc:AlternateContent>
          </a:graphicData>
        </a:graphic>
      </p:graphicFrame>
      <p:sp>
        <p:nvSpPr>
          <p:cNvPr id="87049" name="Rectangle 11"/>
          <p:cNvSpPr/>
          <p:nvPr/>
        </p:nvSpPr>
        <p:spPr>
          <a:xfrm>
            <a:off x="431800" y="4652962"/>
            <a:ext cx="8828970" cy="884804"/>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en-US" altLang="zh-CN" sz="2600" b="1">
                <a:effectLst/>
                <a:latin typeface="Times New Roman" pitchFamily="18" charset="0"/>
              </a:rPr>
              <a:t>Ⅱ</a:t>
            </a:r>
            <a:r>
              <a:rPr kumimoji="1" lang="zh-CN" altLang="en-US" sz="2600" b="1">
                <a:effectLst/>
                <a:latin typeface="Times New Roman" pitchFamily="18" charset="0"/>
              </a:rPr>
              <a:t>、</a:t>
            </a:r>
            <a:r>
              <a:rPr kumimoji="1" lang="en-US" altLang="zh-CN" sz="2600" b="1">
                <a:effectLst/>
                <a:latin typeface="Times New Roman" pitchFamily="18" charset="0"/>
              </a:rPr>
              <a:t>Ⅲ</a:t>
            </a:r>
            <a:r>
              <a:rPr kumimoji="1" lang="zh-CN" altLang="en-US" sz="2600" b="1">
                <a:effectLst/>
                <a:latin typeface="Times New Roman" pitchFamily="18" charset="0"/>
              </a:rPr>
              <a:t>级的升级面尽可能达到现有人数的</a:t>
            </a:r>
            <a:r>
              <a:rPr kumimoji="1" lang="en-US" altLang="zh-CN" sz="2600" b="1">
                <a:effectLst/>
                <a:latin typeface="Times New Roman" pitchFamily="18" charset="0"/>
              </a:rPr>
              <a:t>20</a:t>
            </a:r>
            <a:r>
              <a:rPr kumimoji="1" lang="zh-CN" altLang="en-US" sz="2600" b="1">
                <a:effectLst/>
                <a:latin typeface="Times New Roman" pitchFamily="18" charset="0"/>
              </a:rPr>
              <a:t>％，但尽可能多提；</a:t>
            </a:r>
          </a:p>
        </p:txBody>
      </p:sp>
      <p:sp>
        <p:nvSpPr>
          <p:cNvPr id="87050" name="Rectangle 12"/>
          <p:cNvSpPr/>
          <p:nvPr/>
        </p:nvSpPr>
        <p:spPr>
          <a:xfrm>
            <a:off x="252412" y="2957283"/>
            <a:ext cx="183063" cy="457657"/>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graphicFrame>
        <p:nvGraphicFramePr>
          <p:cNvPr id="87051" name="Object 13"/>
          <p:cNvGraphicFramePr>
            <a:graphicFrameLocks noChangeAspect="1"/>
          </p:cNvGraphicFramePr>
          <p:nvPr/>
        </p:nvGraphicFramePr>
        <p:xfrm>
          <a:off x="2051050" y="5373688"/>
          <a:ext cx="3097212" cy="1096962"/>
        </p:xfrm>
        <a:graphic>
          <a:graphicData uri="http://schemas.openxmlformats.org/presentationml/2006/ole">
            <mc:AlternateContent xmlns:mc="http://schemas.openxmlformats.org/markup-compatibility/2006">
              <mc:Choice xmlns:v="urn:schemas-microsoft-com:vml" Requires="v">
                <p:oleObj spid="_x0000_s1128" name="Equation" r:id="rId6" progId="Equation.DSMT4">
                  <p:embed/>
                </p:oleObj>
              </mc:Choice>
              <mc:Fallback>
                <p:oleObj spid="_x0000_s1128" name="Equation" r:id="rId6" progId="Equation.DSMT4">
                  <p:embed/>
                  <p:pic>
                    <p:nvPicPr>
                      <p:cNvPr id="0" name="OLE substitute image"/>
                      <p:cNvPicPr/>
                      <p:nvPr/>
                    </p:nvPicPr>
                    <p:blipFill>
                      <a:blip r:embed="rId7"/>
                      <a:stretch/>
                    </p:blipFill>
                    <p:spPr>
                      <a:xfrm>
                        <a:off x="2051050" y="5373688"/>
                        <a:ext cx="3097212" cy="1096962"/>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87042"/>
                                        </p:tgtEl>
                                        <p:attrNameLst>
                                          <p:attrName>style.visibility</p:attrName>
                                        </p:attrNameLst>
                                      </p:cBhvr>
                                      <p:to>
                                        <p:strVal val="visible"/>
                                      </p:to>
                                    </p:set>
                                    <p:animEffect transition="in" filter="blinds(horizontal)">
                                      <p:cBhvr additive="base">
                                        <p:cTn id="7" dur="500"/>
                                        <p:tgtEl>
                                          <p:spTgt spid="87042"/>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87045"/>
                                        </p:tgtEl>
                                        <p:attrNameLst>
                                          <p:attrName>style.visibility</p:attrName>
                                        </p:attrNameLst>
                                      </p:cBhvr>
                                      <p:to>
                                        <p:strVal val="visible"/>
                                      </p:to>
                                    </p:set>
                                    <p:animEffect transition="in" filter="blinds(horizontal)">
                                      <p:cBhvr additive="base">
                                        <p:cTn id="13" dur="500"/>
                                        <p:tgtEl>
                                          <p:spTgt spid="87045"/>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87046">
                                            <p:txEl>
                                              <p:charRg st="0" end="16"/>
                                            </p:txEl>
                                          </p:spTgt>
                                        </p:tgtEl>
                                        <p:attrNameLst>
                                          <p:attrName>style.visibility</p:attrName>
                                        </p:attrNameLst>
                                      </p:cBhvr>
                                      <p:to>
                                        <p:strVal val="visible"/>
                                      </p:to>
                                    </p:set>
                                    <p:animEffect transition="in" filter="blinds(horizontal)">
                                      <p:cBhvr additive="base">
                                        <p:cTn id="19" dur="500"/>
                                        <p:tgtEl>
                                          <p:spTgt spid="87046">
                                            <p:txEl>
                                              <p:charRg st="0" end="16"/>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87048"/>
                                        </p:tgtEl>
                                        <p:attrNameLst>
                                          <p:attrName>style.visibility</p:attrName>
                                        </p:attrNameLst>
                                      </p:cBhvr>
                                      <p:to>
                                        <p:strVal val="visible"/>
                                      </p:to>
                                    </p:set>
                                    <p:animEffect transition="in" filter="blinds(horizontal)">
                                      <p:cBhvr additive="base">
                                        <p:cTn id="25" dur="500"/>
                                        <p:tgtEl>
                                          <p:spTgt spid="87048"/>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87049">
                                            <p:txEl>
                                              <p:charRg st="0" end="30"/>
                                            </p:txEl>
                                          </p:spTgt>
                                        </p:tgtEl>
                                        <p:attrNameLst>
                                          <p:attrName>style.visibility</p:attrName>
                                        </p:attrNameLst>
                                      </p:cBhvr>
                                      <p:to>
                                        <p:strVal val="visible"/>
                                      </p:to>
                                    </p:set>
                                    <p:animEffect transition="in" filter="blinds(horizontal)">
                                      <p:cBhvr additive="base">
                                        <p:cTn id="31" dur="500"/>
                                        <p:tgtEl>
                                          <p:spTgt spid="87049">
                                            <p:txEl>
                                              <p:charRg st="0" end="30"/>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87051"/>
                                        </p:tgtEl>
                                        <p:attrNameLst>
                                          <p:attrName>style.visibility</p:attrName>
                                        </p:attrNameLst>
                                      </p:cBhvr>
                                      <p:to>
                                        <p:strVal val="visible"/>
                                      </p:to>
                                    </p:set>
                                    <p:animEffect transition="in" filter="blinds(horizontal)">
                                      <p:cBhvr additive="base">
                                        <p:cTn id="37" dur="500"/>
                                        <p:tgtEl>
                                          <p:spTgt spid="87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Lst>
  </p:timing>
</p:sld>
</file>

<file path=ppt/slides/slide8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8066" name="Rectangle 4"/>
          <p:cNvSpPr/>
          <p:nvPr/>
        </p:nvSpPr>
        <p:spPr>
          <a:xfrm>
            <a:off x="323850" y="765175"/>
            <a:ext cx="8280400" cy="1150938"/>
          </a:xfrm>
          <a:prstGeom prst="rect">
            <a:avLst/>
          </a:prstGeom>
          <a:noFill/>
          <a:ln>
            <a:noFill/>
            <a:miter lim="800000"/>
          </a:ln>
          <a:effectLst/>
        </p:spPr>
        <p:txBody>
          <a:bodyPr>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609600" lvl="0" indent="-609600" algn="just" eaLnBrk="1" hangingPunct="1">
              <a:lnSpc>
                <a:spcPct val="110000"/>
              </a:lnSpc>
              <a:spcBef>
                <a:spcPct val="20000"/>
              </a:spcBef>
              <a:buClr>
                <a:srgbClr val="660066"/>
              </a:buClr>
              <a:buFont typeface="Wingdings" pitchFamily="2" charset="2"/>
            </a:pPr>
            <a:r>
              <a:rPr kumimoji="1" lang="en-US" altLang="zh-CN" sz="2600" b="1">
                <a:solidFill>
                  <a:schemeClr val="tx2"/>
                </a:solidFill>
                <a:effectLst/>
                <a:latin typeface="宋体" pitchFamily="2" charset="-122"/>
                <a:sym typeface="Wingdings" pitchFamily="2" charset="2"/>
              </a:rPr>
              <a:t>4</a:t>
            </a:r>
            <a:r>
              <a:rPr kumimoji="1" lang="zh-CN" altLang="en-US" sz="2600" b="1">
                <a:solidFill>
                  <a:schemeClr val="tx2"/>
                </a:solidFill>
                <a:effectLst/>
                <a:latin typeface="宋体" pitchFamily="2" charset="-122"/>
                <a:sym typeface="Wingdings" pitchFamily="2" charset="2"/>
              </a:rPr>
              <a:t>）确定各个目标约束对于各自正负偏差量的的要求。</a:t>
            </a:r>
          </a:p>
        </p:txBody>
      </p:sp>
      <p:sp>
        <p:nvSpPr>
          <p:cNvPr id="88067" name="Text Box 5"/>
          <p:cNvSpPr/>
          <p:nvPr/>
        </p:nvSpPr>
        <p:spPr>
          <a:xfrm>
            <a:off x="466725" y="1568450"/>
            <a:ext cx="8217171" cy="2669667"/>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lnSpc>
                <a:spcPct val="90000"/>
              </a:lnSpc>
              <a:spcBef>
                <a:spcPct val="50000"/>
              </a:spcBef>
            </a:pPr>
            <a:r>
              <a:rPr kumimoji="1" lang="en-US" altLang="zh-CN" sz="2600" b="1">
                <a:effectLst/>
                <a:latin typeface="楷体_GB2312" pitchFamily="49" charset="-122"/>
                <a:ea typeface="楷体_GB2312" pitchFamily="49" charset="-122"/>
              </a:rPr>
              <a:t> </a:t>
            </a:r>
            <a:r>
              <a:rPr kumimoji="1" lang="en-US" altLang="zh-CN" sz="2600" b="1">
                <a:effectLst/>
                <a:latin typeface="Times New Roman" pitchFamily="18" charset="0"/>
                <a:ea typeface="楷体_GB2312" pitchFamily="49" charset="-122"/>
              </a:rPr>
              <a:t>P</a:t>
            </a:r>
            <a:r>
              <a:rPr kumimoji="1" lang="en-US" altLang="zh-CN" sz="2600" b="1">
                <a:effectLst/>
                <a:latin typeface="楷体_GB2312" pitchFamily="49" charset="-122"/>
                <a:ea typeface="楷体_GB2312" pitchFamily="49" charset="-122"/>
              </a:rPr>
              <a:t>1</a:t>
            </a:r>
            <a:r>
              <a:rPr kumimoji="1" lang="zh-CN" altLang="en-US" sz="2600" b="1">
                <a:effectLst/>
                <a:latin typeface="楷体_GB2312" pitchFamily="49" charset="-122"/>
                <a:ea typeface="楷体_GB2312" pitchFamily="49" charset="-122"/>
              </a:rPr>
              <a:t>：不超过年工资总额</a:t>
            </a:r>
            <a:r>
              <a:rPr kumimoji="1" lang="en-US" altLang="zh-CN" sz="2600" b="1">
                <a:effectLst/>
                <a:latin typeface="楷体_GB2312" pitchFamily="49" charset="-122"/>
                <a:ea typeface="楷体_GB2312" pitchFamily="49" charset="-122"/>
              </a:rPr>
              <a:t>60000</a:t>
            </a:r>
            <a:r>
              <a:rPr kumimoji="1" lang="zh-CN" altLang="en-US" sz="2600" b="1">
                <a:effectLst/>
                <a:latin typeface="楷体_GB2312" pitchFamily="49" charset="-122"/>
                <a:ea typeface="楷体_GB2312" pitchFamily="49" charset="-122"/>
              </a:rPr>
              <a:t>元</a:t>
            </a:r>
            <a:r>
              <a:rPr kumimoji="1" lang="en-US" altLang="zh-CN" sz="2600" b="1">
                <a:effectLst/>
                <a:latin typeface="宋体" pitchFamily="2" charset="-122"/>
                <a:ea typeface="楷体_GB2312" pitchFamily="49" charset="-122"/>
              </a:rPr>
              <a:t>——</a:t>
            </a:r>
            <a:r>
              <a:rPr kumimoji="1" lang="en-US" altLang="zh-CN" sz="2600" b="1">
                <a:effectLst/>
                <a:latin typeface="楷体_GB2312" pitchFamily="49" charset="-122"/>
                <a:ea typeface="楷体_GB2312" pitchFamily="49" charset="-122"/>
              </a:rPr>
              <a:t> </a:t>
            </a:r>
            <a:r>
              <a:rPr kumimoji="1" lang="en-US" altLang="zh-CN" sz="2600" i="1">
                <a:effectLst/>
                <a:latin typeface="Times New Roman" pitchFamily="18" charset="0"/>
                <a:ea typeface="楷体_GB2312" pitchFamily="49" charset="-122"/>
              </a:rPr>
              <a:t>d</a:t>
            </a:r>
            <a:r>
              <a:rPr kumimoji="1" lang="en-US" altLang="zh-CN" sz="2600" b="1" baseline="-25000">
                <a:effectLst/>
                <a:latin typeface="楷体_GB2312" pitchFamily="49" charset="-122"/>
                <a:ea typeface="楷体_GB2312" pitchFamily="49" charset="-122"/>
              </a:rPr>
              <a:t>1</a:t>
            </a:r>
            <a:r>
              <a:rPr kumimoji="1" lang="en-US" altLang="zh-CN" sz="2600" b="1" baseline="30000">
                <a:effectLst/>
                <a:latin typeface="楷体_GB2312" pitchFamily="49" charset="-122"/>
                <a:ea typeface="楷体_GB2312" pitchFamily="49" charset="-122"/>
              </a:rPr>
              <a:t>+</a:t>
            </a:r>
            <a:r>
              <a:rPr kumimoji="1" lang="zh-CN" altLang="en-US" sz="2600" b="1">
                <a:effectLst/>
                <a:latin typeface="楷体_GB2312" pitchFamily="49" charset="-122"/>
                <a:ea typeface="楷体_GB2312" pitchFamily="49" charset="-122"/>
              </a:rPr>
              <a:t>尽量小</a:t>
            </a:r>
          </a:p>
          <a:p>
            <a:pPr marL="0" lvl="0" indent="0" eaLnBrk="1" hangingPunct="1">
              <a:lnSpc>
                <a:spcPct val="90000"/>
              </a:lnSpc>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Times New Roman" pitchFamily="18" charset="0"/>
                <a:ea typeface="楷体_GB2312" pitchFamily="49" charset="-122"/>
              </a:rPr>
              <a:t>P</a:t>
            </a:r>
            <a:r>
              <a:rPr kumimoji="1" lang="en-US" altLang="zh-CN" sz="2600" b="1">
                <a:effectLst/>
                <a:latin typeface="楷体_GB2312" pitchFamily="49" charset="-122"/>
                <a:ea typeface="楷体_GB2312" pitchFamily="49" charset="-122"/>
              </a:rPr>
              <a:t>2: </a:t>
            </a:r>
            <a:r>
              <a:rPr kumimoji="1" lang="zh-CN" altLang="en-US" sz="2600" b="1">
                <a:effectLst/>
                <a:latin typeface="楷体_GB2312" pitchFamily="49" charset="-122"/>
                <a:ea typeface="楷体_GB2312" pitchFamily="49" charset="-122"/>
              </a:rPr>
              <a:t>每级的人数不超过定编规定的人数</a:t>
            </a:r>
          </a:p>
          <a:p>
            <a:pPr marL="0" lvl="0" indent="0" eaLnBrk="1" hangingPunct="1">
              <a:lnSpc>
                <a:spcPct val="90000"/>
              </a:lnSpc>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宋体" pitchFamily="2" charset="-122"/>
                <a:ea typeface="楷体_GB2312" pitchFamily="49" charset="-122"/>
              </a:rPr>
              <a:t>——</a:t>
            </a:r>
            <a:r>
              <a:rPr kumimoji="1" lang="en-US" altLang="zh-CN" sz="2600" b="1">
                <a:effectLst/>
                <a:latin typeface="楷体_GB2312" pitchFamily="49" charset="-122"/>
                <a:ea typeface="楷体_GB2312" pitchFamily="49" charset="-122"/>
              </a:rPr>
              <a:t> </a:t>
            </a:r>
            <a:r>
              <a:rPr kumimoji="1" lang="en-US" altLang="zh-CN" sz="2600" i="1">
                <a:effectLst/>
                <a:latin typeface="Times New Roman" pitchFamily="18" charset="0"/>
                <a:ea typeface="楷体_GB2312" pitchFamily="49" charset="-122"/>
              </a:rPr>
              <a:t>d</a:t>
            </a:r>
            <a:r>
              <a:rPr kumimoji="1" lang="en-US" altLang="zh-CN" sz="2600" b="1" baseline="-25000">
                <a:effectLst/>
                <a:latin typeface="楷体_GB2312" pitchFamily="49" charset="-122"/>
                <a:ea typeface="楷体_GB2312" pitchFamily="49" charset="-122"/>
              </a:rPr>
              <a:t>2</a:t>
            </a:r>
            <a:r>
              <a:rPr kumimoji="1" lang="en-US" altLang="zh-CN" sz="2600" b="1" baseline="30000">
                <a:effectLst/>
                <a:latin typeface="楷体_GB2312" pitchFamily="49" charset="-122"/>
                <a:ea typeface="楷体_GB2312" pitchFamily="49" charset="-122"/>
              </a:rPr>
              <a:t>+</a:t>
            </a:r>
            <a:r>
              <a:rPr kumimoji="1" lang="zh-CN" altLang="en-US" sz="2600" b="1">
                <a:effectLst/>
                <a:latin typeface="楷体_GB2312" pitchFamily="49" charset="-122"/>
                <a:ea typeface="楷体_GB2312" pitchFamily="49" charset="-122"/>
              </a:rPr>
              <a:t>，</a:t>
            </a:r>
            <a:r>
              <a:rPr kumimoji="1" lang="en-US" altLang="zh-CN" sz="2600" i="1">
                <a:effectLst/>
                <a:latin typeface="Times New Roman" pitchFamily="18" charset="0"/>
                <a:ea typeface="楷体_GB2312" pitchFamily="49" charset="-122"/>
              </a:rPr>
              <a:t>d</a:t>
            </a:r>
            <a:r>
              <a:rPr kumimoji="1" lang="en-US" altLang="zh-CN" sz="2600" b="1" baseline="-25000">
                <a:effectLst/>
                <a:latin typeface="楷体_GB2312" pitchFamily="49" charset="-122"/>
                <a:ea typeface="楷体_GB2312" pitchFamily="49" charset="-122"/>
              </a:rPr>
              <a:t>3</a:t>
            </a:r>
            <a:r>
              <a:rPr kumimoji="1" lang="en-US" altLang="zh-CN" sz="2600" b="1" baseline="30000">
                <a:effectLst/>
                <a:latin typeface="楷体_GB2312" pitchFamily="49" charset="-122"/>
                <a:ea typeface="楷体_GB2312" pitchFamily="49" charset="-122"/>
              </a:rPr>
              <a:t>+</a:t>
            </a:r>
            <a:r>
              <a:rPr kumimoji="1" lang="zh-CN" altLang="en-US" sz="2600" b="1">
                <a:effectLst/>
                <a:latin typeface="楷体_GB2312" pitchFamily="49" charset="-122"/>
                <a:ea typeface="楷体_GB2312" pitchFamily="49" charset="-122"/>
              </a:rPr>
              <a:t>，</a:t>
            </a:r>
            <a:r>
              <a:rPr kumimoji="1" lang="en-US" altLang="zh-CN" sz="2600" i="1">
                <a:effectLst/>
                <a:latin typeface="Times New Roman" pitchFamily="18" charset="0"/>
                <a:ea typeface="楷体_GB2312" pitchFamily="49" charset="-122"/>
              </a:rPr>
              <a:t>d</a:t>
            </a:r>
            <a:r>
              <a:rPr kumimoji="1" lang="en-US" altLang="zh-CN" sz="2600" b="1" baseline="-25000">
                <a:effectLst/>
                <a:latin typeface="楷体_GB2312" pitchFamily="49" charset="-122"/>
                <a:ea typeface="楷体_GB2312" pitchFamily="49" charset="-122"/>
              </a:rPr>
              <a:t>4</a:t>
            </a:r>
            <a:r>
              <a:rPr kumimoji="1" lang="en-US" altLang="zh-CN" sz="2600" b="1" baseline="30000">
                <a:effectLst/>
                <a:latin typeface="楷体_GB2312" pitchFamily="49" charset="-122"/>
                <a:ea typeface="楷体_GB2312" pitchFamily="49" charset="-122"/>
              </a:rPr>
              <a:t>+ </a:t>
            </a:r>
            <a:r>
              <a:rPr kumimoji="1" lang="zh-CN" altLang="en-US" sz="2600" b="1">
                <a:effectLst/>
                <a:latin typeface="楷体_GB2312" pitchFamily="49" charset="-122"/>
                <a:ea typeface="楷体_GB2312" pitchFamily="49" charset="-122"/>
              </a:rPr>
              <a:t>尽量小</a:t>
            </a:r>
          </a:p>
          <a:p>
            <a:pPr marL="0" lvl="0" indent="0" eaLnBrk="1" hangingPunct="1">
              <a:lnSpc>
                <a:spcPct val="90000"/>
              </a:lnSpc>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Times New Roman" pitchFamily="18" charset="0"/>
                <a:ea typeface="楷体_GB2312" pitchFamily="49" charset="-122"/>
              </a:rPr>
              <a:t>P</a:t>
            </a:r>
            <a:r>
              <a:rPr kumimoji="1" lang="en-US" altLang="zh-CN" sz="2600" b="1">
                <a:effectLst/>
                <a:latin typeface="楷体_GB2312" pitchFamily="49" charset="-122"/>
                <a:ea typeface="楷体_GB2312" pitchFamily="49" charset="-122"/>
              </a:rPr>
              <a:t>3</a:t>
            </a:r>
            <a:r>
              <a:rPr kumimoji="1" lang="zh-CN" altLang="en-US" sz="2600" b="1">
                <a:effectLst/>
                <a:latin typeface="楷体_GB2312" pitchFamily="49" charset="-122"/>
                <a:ea typeface="楷体_GB2312" pitchFamily="49" charset="-122"/>
              </a:rPr>
              <a:t>：</a:t>
            </a:r>
            <a:r>
              <a:rPr kumimoji="1" lang="en-US" altLang="zh-CN" sz="2600" b="1">
                <a:effectLst/>
                <a:latin typeface="楷体_GB2312" pitchFamily="49" charset="-122"/>
                <a:ea typeface="楷体_GB2312" pitchFamily="49" charset="-122"/>
              </a:rPr>
              <a:t>Ⅱ</a:t>
            </a:r>
            <a:r>
              <a:rPr kumimoji="1" lang="zh-CN" altLang="en-US" sz="2600" b="1">
                <a:effectLst/>
                <a:latin typeface="楷体_GB2312" pitchFamily="49" charset="-122"/>
                <a:ea typeface="楷体_GB2312" pitchFamily="49" charset="-122"/>
              </a:rPr>
              <a:t>、</a:t>
            </a:r>
            <a:r>
              <a:rPr kumimoji="1" lang="en-US" altLang="zh-CN" sz="2600" b="1">
                <a:effectLst/>
              </a:rPr>
              <a:t>Ⅲ</a:t>
            </a:r>
            <a:r>
              <a:rPr kumimoji="1" lang="zh-CN" altLang="en-US" sz="2600" b="1">
                <a:effectLst/>
                <a:latin typeface="楷体_GB2312" pitchFamily="49" charset="-122"/>
                <a:ea typeface="楷体_GB2312" pitchFamily="49" charset="-122"/>
              </a:rPr>
              <a:t>级升级面尽可能达到现有人数的</a:t>
            </a:r>
            <a:r>
              <a:rPr kumimoji="1" lang="en-US" altLang="zh-CN" sz="2600" b="1">
                <a:effectLst/>
                <a:latin typeface="楷体_GB2312" pitchFamily="49" charset="-122"/>
                <a:ea typeface="楷体_GB2312" pitchFamily="49" charset="-122"/>
              </a:rPr>
              <a:t>20</a:t>
            </a:r>
            <a:r>
              <a:rPr kumimoji="1" lang="zh-CN" altLang="en-US" sz="2600" b="1">
                <a:effectLst/>
                <a:latin typeface="楷体_GB2312" pitchFamily="49" charset="-122"/>
                <a:ea typeface="楷体_GB2312" pitchFamily="49" charset="-122"/>
              </a:rPr>
              <a:t>％</a:t>
            </a:r>
          </a:p>
          <a:p>
            <a:pPr marL="0" lvl="0" indent="0" eaLnBrk="1" hangingPunct="1">
              <a:lnSpc>
                <a:spcPct val="90000"/>
              </a:lnSpc>
              <a:spcBef>
                <a:spcPct val="50000"/>
              </a:spcBef>
            </a:pPr>
            <a:r>
              <a:rPr kumimoji="1" lang="zh-CN" altLang="en-US" sz="2600" b="1">
                <a:effectLst/>
                <a:latin typeface="楷体_GB2312" pitchFamily="49" charset="-122"/>
                <a:ea typeface="楷体_GB2312" pitchFamily="49" charset="-122"/>
              </a:rPr>
              <a:t>     </a:t>
            </a:r>
            <a:r>
              <a:rPr kumimoji="1" lang="en-US" altLang="zh-CN" sz="2600" b="1">
                <a:effectLst/>
                <a:latin typeface="Times New Roman" pitchFamily="18" charset="0"/>
              </a:rPr>
              <a:t>——</a:t>
            </a:r>
            <a:r>
              <a:rPr kumimoji="1" lang="en-US" altLang="zh-CN" sz="2600" b="1">
                <a:effectLst/>
                <a:latin typeface="楷体_GB2312" pitchFamily="49" charset="-122"/>
                <a:ea typeface="楷体_GB2312" pitchFamily="49" charset="-122"/>
              </a:rPr>
              <a:t> </a:t>
            </a:r>
            <a:r>
              <a:rPr kumimoji="1" lang="en-US" altLang="zh-CN" sz="2600" i="1">
                <a:effectLst/>
                <a:latin typeface="Times New Roman" pitchFamily="18" charset="0"/>
                <a:ea typeface="楷体_GB2312" pitchFamily="49" charset="-122"/>
              </a:rPr>
              <a:t>d</a:t>
            </a:r>
            <a:r>
              <a:rPr kumimoji="1" lang="en-US" altLang="zh-CN" sz="2600" b="1" baseline="-25000">
                <a:effectLst/>
                <a:latin typeface="楷体_GB2312" pitchFamily="49" charset="-122"/>
                <a:ea typeface="楷体_GB2312" pitchFamily="49" charset="-122"/>
              </a:rPr>
              <a:t>5</a:t>
            </a:r>
            <a:r>
              <a:rPr kumimoji="1" lang="en-US" altLang="zh-CN" sz="2600" b="1" baseline="30000">
                <a:effectLst/>
                <a:latin typeface="楷体_GB2312" pitchFamily="49" charset="-122"/>
                <a:ea typeface="楷体_GB2312" pitchFamily="49" charset="-122"/>
              </a:rPr>
              <a:t>-</a:t>
            </a:r>
            <a:r>
              <a:rPr kumimoji="1" lang="en-US" altLang="zh-CN" sz="2600" b="1">
                <a:effectLst/>
                <a:latin typeface="楷体_GB2312" pitchFamily="49" charset="-122"/>
                <a:ea typeface="楷体_GB2312" pitchFamily="49" charset="-122"/>
              </a:rPr>
              <a:t>,</a:t>
            </a:r>
            <a:r>
              <a:rPr kumimoji="1" lang="en-US" altLang="zh-CN" sz="2600" i="1">
                <a:effectLst/>
                <a:latin typeface="Times New Roman" pitchFamily="18" charset="0"/>
                <a:ea typeface="楷体_GB2312" pitchFamily="49" charset="-122"/>
              </a:rPr>
              <a:t> d</a:t>
            </a:r>
            <a:r>
              <a:rPr kumimoji="1" lang="en-US" altLang="zh-CN" sz="2600" b="1" baseline="-25000">
                <a:effectLst/>
                <a:latin typeface="楷体_GB2312" pitchFamily="49" charset="-122"/>
                <a:ea typeface="楷体_GB2312" pitchFamily="49" charset="-122"/>
              </a:rPr>
              <a:t>6</a:t>
            </a:r>
            <a:r>
              <a:rPr kumimoji="1" lang="en-US" altLang="zh-CN" sz="2600" b="1" baseline="30000">
                <a:effectLst/>
                <a:latin typeface="楷体_GB2312" pitchFamily="49" charset="-122"/>
                <a:ea typeface="楷体_GB2312" pitchFamily="49" charset="-122"/>
              </a:rPr>
              <a:t>- </a:t>
            </a:r>
            <a:r>
              <a:rPr kumimoji="1" lang="zh-CN" altLang="en-US" sz="2600" b="1">
                <a:effectLst/>
                <a:latin typeface="楷体_GB2312" pitchFamily="49" charset="-122"/>
                <a:ea typeface="楷体_GB2312" pitchFamily="49" charset="-122"/>
              </a:rPr>
              <a:t>尽量小</a:t>
            </a:r>
          </a:p>
        </p:txBody>
      </p:sp>
      <p:sp>
        <p:nvSpPr>
          <p:cNvPr id="88068" name="Rectangle 6"/>
          <p:cNvSpPr>
            <a:spLocks noChangeArrowheads="1"/>
          </p:cNvSpPr>
          <p:nvPr/>
        </p:nvSpPr>
        <p:spPr>
          <a:xfrm>
            <a:off x="468313" y="4437063"/>
            <a:ext cx="8280400" cy="647700"/>
          </a:xfrm>
          <a:prstGeom prst="rect">
            <a:avLst/>
          </a:prstGeom>
          <a:noFill/>
          <a:ln w="9525">
            <a:noFill/>
            <a:miter lim="800000"/>
          </a:ln>
          <a:effectLst/>
        </p:spPr>
        <p:txBody>
          <a:bodyPr>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609600" marR="0" lvl="0" indent="-609600" algn="just" eaLnBrk="1" hangingPunct="1">
              <a:lnSpc>
                <a:spcPct val="110000"/>
              </a:lnSpc>
              <a:spcBef>
                <a:spcPct val="20000"/>
              </a:spcBef>
              <a:buClr>
                <a:srgbClr val="660066"/>
              </a:buClr>
              <a:buFont typeface="Wingdings" pitchFamily="2" charset="2"/>
            </a:pPr>
            <a:r>
              <a:rPr kumimoji="1" lang="en-US" altLang="zh-CN" sz="2600" b="1">
                <a:solidFill>
                  <a:schemeClr val="tx2"/>
                </a:solidFill>
                <a:effectLst>
                  <a:outerShdw blurRad="38100" dist="38100" dir="2700000" algn="tl">
                    <a:schemeClr val="bg2"/>
                  </a:outerShdw>
                </a:effectLst>
                <a:latin typeface="宋体" pitchFamily="2" charset="-122"/>
                <a:sym typeface="Wingdings" pitchFamily="2" charset="2"/>
              </a:rPr>
              <a:t>5</a:t>
            </a:r>
            <a:r>
              <a:rPr kumimoji="1" lang="zh-CN" altLang="en-US" sz="2600" b="1">
                <a:solidFill>
                  <a:schemeClr val="tx2"/>
                </a:solidFill>
                <a:effectLst>
                  <a:outerShdw blurRad="38100" dist="38100" dir="2700000" algn="tl">
                    <a:schemeClr val="bg2"/>
                  </a:outerShdw>
                </a:effectLst>
                <a:latin typeface="宋体" pitchFamily="2" charset="-122"/>
                <a:sym typeface="Wingdings" pitchFamily="2" charset="2"/>
              </a:rPr>
              <a:t>）构造目标函数</a:t>
            </a:r>
            <a:endParaRPr kumimoji="1" lang="zh-CN" altLang="en-US" sz="2600" b="1">
              <a:solidFill>
                <a:schemeClr val="tx2"/>
              </a:solidFill>
              <a:effectLst>
                <a:outerShdw blurRad="38100" dist="38100" dir="2700000" algn="tl">
                  <a:schemeClr val="bg2"/>
                </a:outerShdw>
              </a:effectLst>
              <a:latin typeface="宋体" pitchFamily="2" charset="-122"/>
              <a:sym typeface="Wingdings" pitchFamily="2" charset="2"/>
            </a:endParaRPr>
          </a:p>
        </p:txBody>
      </p:sp>
      <p:graphicFrame>
        <p:nvGraphicFramePr>
          <p:cNvPr id="88069" name="Object 7"/>
          <p:cNvGraphicFramePr>
            <a:graphicFrameLocks noChangeAspect="1"/>
          </p:cNvGraphicFramePr>
          <p:nvPr>
            <p:ph idx="4294967295"/>
          </p:nvPr>
        </p:nvGraphicFramePr>
        <p:xfrm>
          <a:off x="760412" y="5013325"/>
          <a:ext cx="7585075" cy="774700"/>
        </p:xfrm>
        <a:graphic>
          <a:graphicData uri="http://schemas.openxmlformats.org/presentationml/2006/ole">
            <mc:AlternateContent xmlns:mc="http://schemas.openxmlformats.org/markup-compatibility/2006">
              <mc:Choice xmlns:v="urn:schemas-microsoft-com:vml" Requires="v">
                <p:oleObj spid="_x0000_s1129" name="Equation" r:id="rId2" progId="Equation.DSMT4">
                  <p:embed/>
                </p:oleObj>
              </mc:Choice>
              <mc:Fallback>
                <p:oleObj spid="_x0000_s1129" name="Equation" r:id="rId2" progId="Equation.DSMT4">
                  <p:embed/>
                  <p:pic>
                    <p:nvPicPr>
                      <p:cNvPr id="0" name="OLE substitute image"/>
                      <p:cNvPicPr/>
                      <p:nvPr/>
                    </p:nvPicPr>
                    <p:blipFill>
                      <a:blip r:embed="rId3">
                        <a:alphaModFix/>
                      </a:blip>
                      <a:stretch/>
                    </p:blipFill>
                    <p:spPr>
                      <a:xfrm>
                        <a:off x="760412" y="5013325"/>
                        <a:ext cx="7585075" cy="774700"/>
                      </a:xfrm>
                      <a:prstGeom prst="rect">
                        <a:avLst/>
                      </a:prstGeom>
                      <a:noFill/>
                      <a:effectLst/>
                    </p:spPr>
                  </p:pic>
                </p:oleObj>
              </mc:Fallback>
            </mc:AlternateContent>
          </a:graphicData>
        </a:graphic>
      </p:graphicFrame>
      <p:sp>
        <p:nvSpPr>
          <p:cNvPr id="88070" name="Rectangle 9"/>
          <p:cNvSpPr>
            <a:spLocks noChangeArrowheads="1"/>
          </p:cNvSpPr>
          <p:nvPr/>
        </p:nvSpPr>
        <p:spPr>
          <a:xfrm>
            <a:off x="539750" y="5734050"/>
            <a:ext cx="8280400" cy="647700"/>
          </a:xfrm>
          <a:prstGeom prst="rect">
            <a:avLst/>
          </a:prstGeom>
          <a:noFill/>
          <a:ln w="9525">
            <a:noFill/>
            <a:miter lim="800000"/>
          </a:ln>
          <a:effectLst/>
        </p:spPr>
        <p:txBody>
          <a:bodyPr>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609600" marR="0" lvl="0" indent="-609600" algn="just" eaLnBrk="1" hangingPunct="1">
              <a:lnSpc>
                <a:spcPct val="110000"/>
              </a:lnSpc>
              <a:spcBef>
                <a:spcPct val="20000"/>
              </a:spcBef>
              <a:buClr>
                <a:srgbClr val="660066"/>
              </a:buClr>
              <a:buFont typeface="Wingdings" pitchFamily="2" charset="2"/>
            </a:pPr>
            <a:r>
              <a:rPr kumimoji="1" lang="en-US" altLang="zh-CN" sz="2600" b="1">
                <a:effectLst>
                  <a:outerShdw blurRad="38100" dist="38100" dir="2700000" algn="tl">
                    <a:schemeClr val="bg2"/>
                  </a:outerShdw>
                </a:effectLst>
                <a:latin typeface="宋体" pitchFamily="2" charset="-122"/>
                <a:sym typeface="Wingdings" pitchFamily="2" charset="2"/>
              </a:rPr>
              <a:t>6</a:t>
            </a:r>
            <a:r>
              <a:rPr kumimoji="1" lang="zh-CN" altLang="en-US" sz="2600" b="1">
                <a:effectLst>
                  <a:outerShdw blurRad="38100" dist="38100" dir="2700000" algn="tl">
                    <a:schemeClr val="bg2"/>
                  </a:outerShdw>
                </a:effectLst>
                <a:latin typeface="宋体" pitchFamily="2" charset="-122"/>
                <a:sym typeface="Wingdings" pitchFamily="2" charset="2"/>
              </a:rPr>
              <a:t>）决策变量和偏差变量的非负要求</a:t>
            </a:r>
            <a:endParaRPr kumimoji="1" lang="zh-CN" altLang="en-US" sz="2600" b="1">
              <a:effectLst>
                <a:outerShdw blurRad="38100" dist="38100" dir="2700000" algn="tl">
                  <a:schemeClr val="bg2"/>
                </a:outerShdw>
              </a:effectLst>
              <a:latin typeface="宋体" pitchFamily="2" charset="-122"/>
              <a:sym typeface="Wingding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88066"/>
                                        </p:tgtEl>
                                        <p:attrNameLst>
                                          <p:attrName>style.visibility</p:attrName>
                                        </p:attrNameLst>
                                      </p:cBhvr>
                                      <p:to>
                                        <p:strVal val="visible"/>
                                      </p:to>
                                    </p:set>
                                    <p:animEffect transition="in" filter="blinds(horizontal)">
                                      <p:cBhvr additive="base">
                                        <p:cTn id="7" dur="500"/>
                                        <p:tgtEl>
                                          <p:spTgt spid="88066"/>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88067">
                                            <p:txEl>
                                              <p:charRg st="0" end="28"/>
                                            </p:txEl>
                                          </p:spTgt>
                                        </p:tgtEl>
                                        <p:attrNameLst>
                                          <p:attrName>style.visibility</p:attrName>
                                        </p:attrNameLst>
                                      </p:cBhvr>
                                      <p:to>
                                        <p:strVal val="visible"/>
                                      </p:to>
                                    </p:set>
                                    <p:animEffect transition="in" filter="blinds(horizontal)">
                                      <p:cBhvr additive="base">
                                        <p:cTn id="13" dur="500"/>
                                        <p:tgtEl>
                                          <p:spTgt spid="88067">
                                            <p:txEl>
                                              <p:charRg st="0" end="28"/>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88067">
                                            <p:txEl>
                                              <p:charRg st="28" end="49"/>
                                            </p:txEl>
                                          </p:spTgt>
                                        </p:tgtEl>
                                        <p:attrNameLst>
                                          <p:attrName>style.visibility</p:attrName>
                                        </p:attrNameLst>
                                      </p:cBhvr>
                                      <p:to>
                                        <p:strVal val="visible"/>
                                      </p:to>
                                    </p:set>
                                    <p:animEffect transition="in" filter="blinds(horizontal)">
                                      <p:cBhvr additive="base">
                                        <p:cTn id="19" dur="500"/>
                                        <p:tgtEl>
                                          <p:spTgt spid="88067">
                                            <p:txEl>
                                              <p:charRg st="28" end="49"/>
                                            </p:txEl>
                                          </p:spTgt>
                                        </p:tgtEl>
                                      </p:cBhvr>
                                    </p:animEffect>
                                  </p:childTnLst>
                                </p:cTn>
                              </p:par>
                              <p:par>
                                <p:cTn id="20" presetID="3" presetClass="entr" presetSubtype="10" fill="hold" nodeType="withEffect">
                                  <p:stCondLst>
                                    <p:cond delay="-9223372036854775808"/>
                                  </p:stCondLst>
                                  <p:childTnLst>
                                    <p:set>
                                      <p:cBhvr additive="base">
                                        <p:cTn id="21" dur="1" fill="hold">
                                          <p:stCondLst>
                                            <p:cond delay="0"/>
                                          </p:stCondLst>
                                        </p:cTn>
                                        <p:tgtEl>
                                          <p:spTgt spid="88067">
                                            <p:txEl>
                                              <p:charRg st="49" end="73"/>
                                            </p:txEl>
                                          </p:spTgt>
                                        </p:tgtEl>
                                        <p:attrNameLst>
                                          <p:attrName>style.visibility</p:attrName>
                                        </p:attrNameLst>
                                      </p:cBhvr>
                                      <p:to>
                                        <p:strVal val="visible"/>
                                      </p:to>
                                    </p:set>
                                    <p:animEffect transition="in" filter="blinds(horizontal)">
                                      <p:cBhvr additive="base">
                                        <p:cTn id="22" dur="500"/>
                                        <p:tgtEl>
                                          <p:spTgt spid="88067">
                                            <p:txEl>
                                              <p:charRg st="49" end="73"/>
                                            </p:txEl>
                                          </p:spTgt>
                                        </p:tgtEl>
                                      </p:cBhvr>
                                    </p:animEffect>
                                  </p:childTnLst>
                                </p:cTn>
                              </p:par>
                            </p:childTnLst>
                          </p:cTn>
                        </p:par>
                      </p:childTnLst>
                    </p:cTn>
                  </p:par>
                  <p:par>
                    <p:cTn id="23" fill="hold">
                      <p:stCondLst>
                        <p:cond delay="indefinite"/>
                      </p:stCondLst>
                      <p:childTnLst>
                        <p:par>
                          <p:cTn id="24" fill="hold">
                            <p:stCondLst>
                              <p:cond delay="indefinite"/>
                            </p:stCondLst>
                          </p:cTn>
                        </p:par>
                        <p:par>
                          <p:cTn id="25" fill="hold">
                            <p:stCondLst>
                              <p:cond delay="0"/>
                            </p:stCondLst>
                            <p:childTnLst>
                              <p:par>
                                <p:cTn id="26" presetID="3" presetClass="entr" presetSubtype="10" fill="hold" nodeType="clickEffect">
                                  <p:stCondLst>
                                    <p:cond delay="-9223372036854775808"/>
                                  </p:stCondLst>
                                  <p:childTnLst>
                                    <p:set>
                                      <p:cBhvr additive="base">
                                        <p:cTn id="27" dur="1" fill="hold">
                                          <p:stCondLst>
                                            <p:cond delay="0"/>
                                          </p:stCondLst>
                                        </p:cTn>
                                        <p:tgtEl>
                                          <p:spTgt spid="88067">
                                            <p:txEl>
                                              <p:charRg st="73" end="98"/>
                                            </p:txEl>
                                          </p:spTgt>
                                        </p:tgtEl>
                                        <p:attrNameLst>
                                          <p:attrName>style.visibility</p:attrName>
                                        </p:attrNameLst>
                                      </p:cBhvr>
                                      <p:to>
                                        <p:strVal val="visible"/>
                                      </p:to>
                                    </p:set>
                                    <p:animEffect transition="in" filter="blinds(horizontal)">
                                      <p:cBhvr additive="base">
                                        <p:cTn id="28" dur="500"/>
                                        <p:tgtEl>
                                          <p:spTgt spid="88067">
                                            <p:txEl>
                                              <p:charRg st="73" end="98"/>
                                            </p:txEl>
                                          </p:spTgt>
                                        </p:tgtEl>
                                      </p:cBhvr>
                                    </p:animEffect>
                                  </p:childTnLst>
                                </p:cTn>
                              </p:par>
                              <p:par>
                                <p:cTn id="29" presetID="3" presetClass="entr" presetSubtype="10" fill="hold" nodeType="withEffect">
                                  <p:stCondLst>
                                    <p:cond delay="-9223372036854775808"/>
                                  </p:stCondLst>
                                  <p:childTnLst>
                                    <p:set>
                                      <p:cBhvr additive="base">
                                        <p:cTn id="30" dur="1" fill="hold">
                                          <p:stCondLst>
                                            <p:cond delay="0"/>
                                          </p:stCondLst>
                                        </p:cTn>
                                        <p:tgtEl>
                                          <p:spTgt spid="88067">
                                            <p:txEl>
                                              <p:charRg st="98" end="119"/>
                                            </p:txEl>
                                          </p:spTgt>
                                        </p:tgtEl>
                                        <p:attrNameLst>
                                          <p:attrName>style.visibility</p:attrName>
                                        </p:attrNameLst>
                                      </p:cBhvr>
                                      <p:to>
                                        <p:strVal val="visible"/>
                                      </p:to>
                                    </p:set>
                                    <p:animEffect transition="in" filter="blinds(horizontal)">
                                      <p:cBhvr additive="base">
                                        <p:cTn id="31" dur="500"/>
                                        <p:tgtEl>
                                          <p:spTgt spid="88067">
                                            <p:txEl>
                                              <p:charRg st="98" end="119"/>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88068">
                                            <p:txEl>
                                              <p:charRg st="0" end="9"/>
                                            </p:txEl>
                                          </p:spTgt>
                                        </p:tgtEl>
                                        <p:attrNameLst>
                                          <p:attrName>style.visibility</p:attrName>
                                        </p:attrNameLst>
                                      </p:cBhvr>
                                      <p:to>
                                        <p:strVal val="visible"/>
                                      </p:to>
                                    </p:set>
                                    <p:animEffect transition="in" filter="blinds(horizontal)">
                                      <p:cBhvr additive="base">
                                        <p:cTn id="37" dur="500"/>
                                        <p:tgtEl>
                                          <p:spTgt spid="88068">
                                            <p:txEl>
                                              <p:charRg st="0" end="9"/>
                                            </p:txEl>
                                          </p:spTgt>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3" presetClass="entr" presetSubtype="10" fill="hold" nodeType="clickEffect">
                                  <p:stCondLst>
                                    <p:cond delay="-9223372036854775808"/>
                                  </p:stCondLst>
                                  <p:childTnLst>
                                    <p:set>
                                      <p:cBhvr additive="base">
                                        <p:cTn id="42" dur="1" fill="hold">
                                          <p:stCondLst>
                                            <p:cond delay="0"/>
                                          </p:stCondLst>
                                        </p:cTn>
                                        <p:tgtEl>
                                          <p:spTgt spid="88069"/>
                                        </p:tgtEl>
                                        <p:attrNameLst>
                                          <p:attrName>style.visibility</p:attrName>
                                        </p:attrNameLst>
                                      </p:cBhvr>
                                      <p:to>
                                        <p:strVal val="visible"/>
                                      </p:to>
                                    </p:set>
                                    <p:animEffect transition="in" filter="blinds(horizontal)">
                                      <p:cBhvr additive="base">
                                        <p:cTn id="43" dur="500"/>
                                        <p:tgtEl>
                                          <p:spTgt spid="88069"/>
                                        </p:tgtEl>
                                      </p:cBhvr>
                                    </p:animEffect>
                                  </p:child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3" presetClass="entr" presetSubtype="10" fill="hold" nodeType="clickEffect">
                                  <p:stCondLst>
                                    <p:cond delay="-9223372036854775808"/>
                                  </p:stCondLst>
                                  <p:childTnLst>
                                    <p:set>
                                      <p:cBhvr additive="base">
                                        <p:cTn id="48" dur="1" fill="hold">
                                          <p:stCondLst>
                                            <p:cond delay="0"/>
                                          </p:stCondLst>
                                        </p:cTn>
                                        <p:tgtEl>
                                          <p:spTgt spid="88070">
                                            <p:txEl>
                                              <p:charRg st="0" end="17"/>
                                            </p:txEl>
                                          </p:spTgt>
                                        </p:tgtEl>
                                        <p:attrNameLst>
                                          <p:attrName>style.visibility</p:attrName>
                                        </p:attrNameLst>
                                      </p:cBhvr>
                                      <p:to>
                                        <p:strVal val="visible"/>
                                      </p:to>
                                    </p:set>
                                    <p:animEffect transition="in" filter="blinds(horizontal)">
                                      <p:cBhvr additive="base">
                                        <p:cTn id="49" dur="500"/>
                                        <p:tgtEl>
                                          <p:spTgt spid="88070">
                                            <p:txEl>
                                              <p:charRg st="0"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Lst>
  </p:timing>
</p:sld>
</file>

<file path=ppt/slides/slide8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9090" name="Rectangle 12"/>
          <p:cNvSpPr/>
          <p:nvPr/>
        </p:nvSpPr>
        <p:spPr>
          <a:xfrm>
            <a:off x="1476375" y="1844675"/>
            <a:ext cx="6335712" cy="4537075"/>
          </a:xfrm>
          <a:prstGeom prst="rect">
            <a:avLst/>
          </a:prstGeom>
          <a:solidFill>
            <a:schemeClr val="bg1"/>
          </a:solidFill>
          <a:ln>
            <a:solidFill>
              <a:schemeClr val="bg1"/>
            </a:solidFill>
            <a:miter lim="800000"/>
          </a:ln>
          <a:effectLst/>
        </p:spPr>
        <p:txBody>
          <a:bodyPr wrap="none" anchor="ctr" anchorCtr="0">
            <a:no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kumimoji="1" lang="zh-CN" altLang="zh-CN" sz="2400">
              <a:effectLst/>
              <a:latin typeface="Times New Roman" pitchFamily="18" charset="0"/>
            </a:endParaRPr>
          </a:p>
        </p:txBody>
      </p:sp>
      <p:graphicFrame>
        <p:nvGraphicFramePr>
          <p:cNvPr id="89091" name="Object 4"/>
          <p:cNvGraphicFramePr>
            <a:graphicFrameLocks noChangeAspect="1"/>
          </p:cNvGraphicFramePr>
          <p:nvPr>
            <p:ph sz="half" idx="4294967295"/>
          </p:nvPr>
        </p:nvGraphicFramePr>
        <p:xfrm>
          <a:off x="971550" y="908050"/>
          <a:ext cx="7488238" cy="735012"/>
        </p:xfrm>
        <a:graphic>
          <a:graphicData uri="http://schemas.openxmlformats.org/presentationml/2006/ole">
            <mc:AlternateContent xmlns:mc="http://schemas.openxmlformats.org/markup-compatibility/2006">
              <mc:Choice xmlns:v="urn:schemas-microsoft-com:vml" Requires="v">
                <p:oleObj spid="_x0000_s1130" name="Equation" r:id="rId2" progId="Equation.DSMT4">
                  <p:embed/>
                </p:oleObj>
              </mc:Choice>
              <mc:Fallback>
                <p:oleObj spid="_x0000_s1130" name="Equation" r:id="rId2" progId="Equation.DSMT4">
                  <p:embed/>
                  <p:pic>
                    <p:nvPicPr>
                      <p:cNvPr id="0" name="OLE substitute image"/>
                      <p:cNvPicPr/>
                      <p:nvPr/>
                    </p:nvPicPr>
                    <p:blipFill>
                      <a:blip r:embed="rId3">
                        <a:alphaModFix/>
                      </a:blip>
                      <a:stretch/>
                    </p:blipFill>
                    <p:spPr>
                      <a:xfrm>
                        <a:off x="971550" y="908050"/>
                        <a:ext cx="7488238" cy="735012"/>
                      </a:xfrm>
                      <a:prstGeom prst="rect">
                        <a:avLst/>
                      </a:prstGeom>
                      <a:noFill/>
                      <a:effectLst/>
                    </p:spPr>
                  </p:pic>
                </p:oleObj>
              </mc:Fallback>
            </mc:AlternateContent>
          </a:graphicData>
        </a:graphic>
      </p:graphicFrame>
      <p:graphicFrame>
        <p:nvGraphicFramePr>
          <p:cNvPr id="89092" name="Object 6"/>
          <p:cNvGraphicFramePr>
            <a:graphicFrameLocks noChangeAspect="1"/>
          </p:cNvGraphicFramePr>
          <p:nvPr/>
        </p:nvGraphicFramePr>
        <p:xfrm>
          <a:off x="1763712" y="1863725"/>
          <a:ext cx="5688012" cy="1046162"/>
        </p:xfrm>
        <a:graphic>
          <a:graphicData uri="http://schemas.openxmlformats.org/presentationml/2006/ole">
            <mc:AlternateContent xmlns:mc="http://schemas.openxmlformats.org/markup-compatibility/2006">
              <mc:Choice xmlns:v="urn:schemas-microsoft-com:vml" Requires="v">
                <p:oleObj spid="_x0000_s1131" name="Equation" r:id="rId4" progId="Equation.DSMT4">
                  <p:embed/>
                </p:oleObj>
              </mc:Choice>
              <mc:Fallback>
                <p:oleObj spid="_x0000_s1131" name="Equation" r:id="rId4" progId="Equation.DSMT4">
                  <p:embed/>
                  <p:pic>
                    <p:nvPicPr>
                      <p:cNvPr id="0" name="OLE substitute image"/>
                      <p:cNvPicPr/>
                      <p:nvPr/>
                    </p:nvPicPr>
                    <p:blipFill>
                      <a:blip r:embed="rId5"/>
                      <a:stretch/>
                    </p:blipFill>
                    <p:spPr>
                      <a:xfrm>
                        <a:off x="1763712" y="1863725"/>
                        <a:ext cx="5688012" cy="1046162"/>
                      </a:xfrm>
                      <a:prstGeom prst="rect">
                        <a:avLst/>
                      </a:prstGeom>
                      <a:noFill/>
                      <a:effectLst/>
                    </p:spPr>
                  </p:pic>
                </p:oleObj>
              </mc:Fallback>
            </mc:AlternateContent>
          </a:graphicData>
        </a:graphic>
      </p:graphicFrame>
      <p:graphicFrame>
        <p:nvGraphicFramePr>
          <p:cNvPr id="89093" name="Object 7"/>
          <p:cNvGraphicFramePr>
            <a:graphicFrameLocks noChangeAspect="1"/>
          </p:cNvGraphicFramePr>
          <p:nvPr/>
        </p:nvGraphicFramePr>
        <p:xfrm>
          <a:off x="2339975" y="2924175"/>
          <a:ext cx="3887788" cy="1628775"/>
        </p:xfrm>
        <a:graphic>
          <a:graphicData uri="http://schemas.openxmlformats.org/presentationml/2006/ole">
            <mc:AlternateContent xmlns:mc="http://schemas.openxmlformats.org/markup-compatibility/2006">
              <mc:Choice xmlns:v="urn:schemas-microsoft-com:vml" Requires="v">
                <p:oleObj spid="_x0000_s1132" name="Equation" r:id="rId6" progId="Equation.DSMT4">
                  <p:embed/>
                </p:oleObj>
              </mc:Choice>
              <mc:Fallback>
                <p:oleObj spid="_x0000_s1132" name="Equation" r:id="rId6" progId="Equation.DSMT4">
                  <p:embed/>
                  <p:pic>
                    <p:nvPicPr>
                      <p:cNvPr id="0" name="OLE substitute image"/>
                      <p:cNvPicPr/>
                      <p:nvPr/>
                    </p:nvPicPr>
                    <p:blipFill>
                      <a:blip r:embed="rId7"/>
                      <a:stretch/>
                    </p:blipFill>
                    <p:spPr>
                      <a:xfrm>
                        <a:off x="2339975" y="2924175"/>
                        <a:ext cx="3887788" cy="1628775"/>
                      </a:xfrm>
                      <a:prstGeom prst="rect">
                        <a:avLst/>
                      </a:prstGeom>
                      <a:noFill/>
                      <a:effectLst/>
                    </p:spPr>
                  </p:pic>
                </p:oleObj>
              </mc:Fallback>
            </mc:AlternateContent>
          </a:graphicData>
        </a:graphic>
      </p:graphicFrame>
      <p:graphicFrame>
        <p:nvGraphicFramePr>
          <p:cNvPr id="89094" name="Object 8"/>
          <p:cNvGraphicFramePr>
            <a:graphicFrameLocks noChangeAspect="1"/>
          </p:cNvGraphicFramePr>
          <p:nvPr/>
        </p:nvGraphicFramePr>
        <p:xfrm>
          <a:off x="2411412" y="4611688"/>
          <a:ext cx="3168650" cy="1122362"/>
        </p:xfrm>
        <a:graphic>
          <a:graphicData uri="http://schemas.openxmlformats.org/presentationml/2006/ole">
            <mc:AlternateContent xmlns:mc="http://schemas.openxmlformats.org/markup-compatibility/2006">
              <mc:Choice xmlns:v="urn:schemas-microsoft-com:vml" Requires="v">
                <p:oleObj spid="_x0000_s1133" name="Equation" r:id="rId8" progId="Equation.DSMT4">
                  <p:embed/>
                </p:oleObj>
              </mc:Choice>
              <mc:Fallback>
                <p:oleObj spid="_x0000_s1133" name="Equation" r:id="rId8" progId="Equation.DSMT4">
                  <p:embed/>
                  <p:pic>
                    <p:nvPicPr>
                      <p:cNvPr id="0" name="OLE substitute image"/>
                      <p:cNvPicPr/>
                      <p:nvPr/>
                    </p:nvPicPr>
                    <p:blipFill>
                      <a:blip r:embed="rId9"/>
                      <a:stretch/>
                    </p:blipFill>
                    <p:spPr>
                      <a:xfrm>
                        <a:off x="2411412" y="4611688"/>
                        <a:ext cx="3168650" cy="1122362"/>
                      </a:xfrm>
                      <a:prstGeom prst="rect">
                        <a:avLst/>
                      </a:prstGeom>
                      <a:noFill/>
                      <a:effectLst/>
                    </p:spPr>
                  </p:pic>
                </p:oleObj>
              </mc:Fallback>
            </mc:AlternateContent>
          </a:graphicData>
        </a:graphic>
      </p:graphicFrame>
      <p:graphicFrame>
        <p:nvGraphicFramePr>
          <p:cNvPr id="89095" name="Object 9"/>
          <p:cNvGraphicFramePr>
            <a:graphicFrameLocks noChangeAspect="1"/>
          </p:cNvGraphicFramePr>
          <p:nvPr>
            <p:ph sz="half" idx="4294967295"/>
          </p:nvPr>
        </p:nvGraphicFramePr>
        <p:xfrm>
          <a:off x="2306638" y="5788025"/>
          <a:ext cx="3633788" cy="508000"/>
        </p:xfrm>
        <a:graphic>
          <a:graphicData uri="http://schemas.openxmlformats.org/presentationml/2006/ole">
            <mc:AlternateContent xmlns:mc="http://schemas.openxmlformats.org/markup-compatibility/2006">
              <mc:Choice xmlns:v="urn:schemas-microsoft-com:vml" Requires="v">
                <p:oleObj spid="_x0000_s1134" name="公式" r:id="rId10" progId="Equation.3">
                  <p:embed/>
                </p:oleObj>
              </mc:Choice>
              <mc:Fallback>
                <p:oleObj spid="_x0000_s1134" name="公式" r:id="rId10" progId="Equation.3">
                  <p:embed/>
                  <p:pic>
                    <p:nvPicPr>
                      <p:cNvPr id="0" name="OLE substitute image"/>
                      <p:cNvPicPr/>
                      <p:nvPr/>
                    </p:nvPicPr>
                    <p:blipFill>
                      <a:blip r:embed="rId11">
                        <a:alphaModFix/>
                      </a:blip>
                      <a:stretch/>
                    </p:blipFill>
                    <p:spPr>
                      <a:xfrm>
                        <a:off x="2306638" y="5788025"/>
                        <a:ext cx="3633788" cy="508000"/>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89092"/>
                                        </p:tgtEl>
                                        <p:attrNameLst>
                                          <p:attrName>style.visibility</p:attrName>
                                        </p:attrNameLst>
                                      </p:cBhvr>
                                      <p:to>
                                        <p:strVal val="visible"/>
                                      </p:to>
                                    </p:set>
                                    <p:animEffect transition="in" filter="blinds(horizontal)">
                                      <p:cBhvr additive="base">
                                        <p:cTn id="7" dur="500"/>
                                        <p:tgtEl>
                                          <p:spTgt spid="89092"/>
                                        </p:tgtEl>
                                      </p:cBhvr>
                                    </p:animEffect>
                                  </p:childTnLst>
                                </p:cTn>
                              </p:par>
                              <p:par>
                                <p:cTn id="8" presetID="3" presetClass="entr" presetSubtype="10" fill="hold" nodeType="withEffect">
                                  <p:stCondLst>
                                    <p:cond delay="-9223372036854775808"/>
                                  </p:stCondLst>
                                  <p:childTnLst>
                                    <p:set>
                                      <p:cBhvr additive="base">
                                        <p:cTn id="9" dur="1" fill="hold">
                                          <p:stCondLst>
                                            <p:cond delay="0"/>
                                          </p:stCondLst>
                                        </p:cTn>
                                        <p:tgtEl>
                                          <p:spTgt spid="89094"/>
                                        </p:tgtEl>
                                        <p:attrNameLst>
                                          <p:attrName>style.visibility</p:attrName>
                                        </p:attrNameLst>
                                      </p:cBhvr>
                                      <p:to>
                                        <p:strVal val="visible"/>
                                      </p:to>
                                    </p:set>
                                    <p:animEffect transition="in" filter="blinds(horizontal)">
                                      <p:cBhvr additive="base">
                                        <p:cTn id="10" dur="500"/>
                                        <p:tgtEl>
                                          <p:spTgt spid="89094"/>
                                        </p:tgtEl>
                                      </p:cBhvr>
                                    </p:animEffect>
                                  </p:childTnLst>
                                </p:cTn>
                              </p:par>
                              <p:par>
                                <p:cTn id="11" presetID="3" presetClass="entr" presetSubtype="10" fill="hold" nodeType="withEffect">
                                  <p:stCondLst>
                                    <p:cond delay="-9223372036854775808"/>
                                  </p:stCondLst>
                                  <p:childTnLst>
                                    <p:set>
                                      <p:cBhvr additive="base">
                                        <p:cTn id="12" dur="1" fill="hold">
                                          <p:stCondLst>
                                            <p:cond delay="0"/>
                                          </p:stCondLst>
                                        </p:cTn>
                                        <p:tgtEl>
                                          <p:spTgt spid="89095"/>
                                        </p:tgtEl>
                                        <p:attrNameLst>
                                          <p:attrName>style.visibility</p:attrName>
                                        </p:attrNameLst>
                                      </p:cBhvr>
                                      <p:to>
                                        <p:strVal val="visible"/>
                                      </p:to>
                                    </p:set>
                                    <p:animEffect transition="in" filter="blinds(horizontal)">
                                      <p:cBhvr additive="base">
                                        <p:cTn id="13" dur="500"/>
                                        <p:tgtEl>
                                          <p:spTgt spid="89095"/>
                                        </p:tgtEl>
                                      </p:cBhvr>
                                    </p:animEffect>
                                  </p:childTnLst>
                                </p:cTn>
                              </p:par>
                              <p:par>
                                <p:cTn id="14" presetID="3" presetClass="entr" presetSubtype="10" fill="hold" nodeType="withEffect">
                                  <p:stCondLst>
                                    <p:cond delay="-9223372036854775808"/>
                                  </p:stCondLst>
                                  <p:childTnLst>
                                    <p:set>
                                      <p:cBhvr additive="base">
                                        <p:cTn id="15" dur="1" fill="hold">
                                          <p:stCondLst>
                                            <p:cond delay="0"/>
                                          </p:stCondLst>
                                        </p:cTn>
                                        <p:tgtEl>
                                          <p:spTgt spid="89093"/>
                                        </p:tgtEl>
                                        <p:attrNameLst>
                                          <p:attrName>style.visibility</p:attrName>
                                        </p:attrNameLst>
                                      </p:cBhvr>
                                      <p:to>
                                        <p:strVal val="visible"/>
                                      </p:to>
                                    </p:set>
                                    <p:animEffect transition="in" filter="blinds(horizontal)">
                                      <p:cBhvr additive="base">
                                        <p:cTn id="16" dur="500"/>
                                        <p:tgtEl>
                                          <p:spTgt spid="89093"/>
                                        </p:tgtEl>
                                      </p:cBhvr>
                                    </p:animEffect>
                                  </p:childTnLst>
                                </p:cTn>
                              </p:par>
                            </p:childTnLst>
                          </p:cTn>
                        </p:par>
                      </p:childTnLst>
                    </p:cTn>
                  </p:par>
                  <p:par>
                    <p:cTn id="17" fill="hold">
                      <p:stCondLst>
                        <p:cond delay="indefinite"/>
                      </p:stCondLst>
                      <p:childTnLst>
                        <p:par>
                          <p:cTn id="18" fill="hold">
                            <p:stCondLst>
                              <p:cond delay="indefinite"/>
                            </p:stCondLst>
                          </p:cTn>
                        </p:par>
                        <p:par>
                          <p:cTn id="19" fill="hold">
                            <p:stCondLst>
                              <p:cond delay="0"/>
                            </p:stCondLst>
                            <p:childTnLst>
                              <p:par>
                                <p:cTn id="20" presetID="3" presetClass="entr" presetSubtype="10" fill="hold" nodeType="clickEffect">
                                  <p:stCondLst>
                                    <p:cond delay="-9223372036854775808"/>
                                  </p:stCondLst>
                                  <p:childTnLst>
                                    <p:set>
                                      <p:cBhvr additive="base">
                                        <p:cTn id="21" dur="1" fill="hold">
                                          <p:stCondLst>
                                            <p:cond delay="0"/>
                                          </p:stCondLst>
                                        </p:cTn>
                                        <p:tgtEl>
                                          <p:spTgt spid="89091"/>
                                        </p:tgtEl>
                                        <p:attrNameLst>
                                          <p:attrName>style.visibility</p:attrName>
                                        </p:attrNameLst>
                                      </p:cBhvr>
                                      <p:to>
                                        <p:strVal val="visible"/>
                                      </p:to>
                                    </p:set>
                                    <p:animEffect transition="in" filter="blinds(horizontal)">
                                      <p:cBhvr additive="base">
                                        <p:cTn id="22" dur="500"/>
                                        <p:tgtEl>
                                          <p:spTgt spid="8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90114" name="Rectangle 3"/>
          <p:cNvSpPr/>
          <p:nvPr/>
        </p:nvSpPr>
        <p:spPr>
          <a:xfrm>
            <a:off x="395288" y="1268412"/>
            <a:ext cx="8361780" cy="823783"/>
          </a:xfrm>
          <a:prstGeom prst="rect">
            <a:avLst/>
          </a:prstGeom>
          <a:noFill/>
          <a:ln>
            <a:noFill/>
            <a:miter lim="800000"/>
          </a:ln>
          <a:effectLst/>
        </p:spPr>
        <p:txBody>
          <a:bodyPr>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sz="2400" b="1">
                <a:solidFill>
                  <a:schemeClr val="tx2"/>
                </a:solidFill>
                <a:effectLst/>
              </a:rPr>
              <a:t>例</a:t>
            </a:r>
            <a:r>
              <a:rPr lang="en-US" altLang="zh-CN" sz="2400" b="1">
                <a:solidFill>
                  <a:schemeClr val="tx2"/>
                </a:solidFill>
                <a:effectLst/>
              </a:rPr>
              <a:t>4   </a:t>
            </a:r>
            <a:r>
              <a:rPr lang="zh-CN" altLang="en-US" sz="2400" b="1">
                <a:solidFill>
                  <a:schemeClr val="tx2"/>
                </a:solidFill>
                <a:effectLst/>
              </a:rPr>
              <a:t>企业计划生产</a:t>
            </a:r>
            <a:r>
              <a:rPr kumimoji="1" lang="en-US" altLang="zh-CN" sz="2400" b="1">
                <a:solidFill>
                  <a:srgbClr val="000000"/>
                </a:solidFill>
                <a:effectLst/>
                <a:latin typeface="Times New Roman" pitchFamily="18" charset="0"/>
              </a:rPr>
              <a:t>I</a:t>
            </a:r>
            <a:r>
              <a:rPr lang="en-US" altLang="zh-CN" sz="2400">
                <a:effectLst/>
                <a:latin typeface="Times New Roman" pitchFamily="18" charset="0"/>
              </a:rPr>
              <a:t> </a:t>
            </a:r>
            <a:r>
              <a:rPr lang="zh-CN" altLang="en-US" sz="2400" b="1">
                <a:solidFill>
                  <a:schemeClr val="tx2"/>
                </a:solidFill>
                <a:effectLst/>
              </a:rPr>
              <a:t>、 </a:t>
            </a:r>
            <a:r>
              <a:rPr kumimoji="1" lang="en-US" altLang="zh-CN" sz="2400" b="1">
                <a:solidFill>
                  <a:srgbClr val="000000"/>
                </a:solidFill>
                <a:effectLst/>
                <a:latin typeface="Times New Roman" pitchFamily="18" charset="0"/>
              </a:rPr>
              <a:t>II</a:t>
            </a:r>
            <a:r>
              <a:rPr lang="en-US" altLang="zh-CN" sz="2400" b="1">
                <a:solidFill>
                  <a:schemeClr val="tx2"/>
                </a:solidFill>
                <a:effectLst/>
              </a:rPr>
              <a:t> </a:t>
            </a:r>
            <a:r>
              <a:rPr lang="zh-CN" altLang="en-US" sz="2400" b="1">
                <a:solidFill>
                  <a:schemeClr val="tx2"/>
                </a:solidFill>
                <a:effectLst/>
              </a:rPr>
              <a:t>两种产品，这些产品需要使用两种材料，要在两种不同设备上加工．工艺资料如表</a:t>
            </a:r>
            <a:r>
              <a:rPr lang="en-US" altLang="zh-CN" sz="2400" b="1">
                <a:solidFill>
                  <a:schemeClr val="tx2"/>
                </a:solidFill>
                <a:effectLst/>
              </a:rPr>
              <a:t>4</a:t>
            </a:r>
            <a:r>
              <a:rPr lang="zh-CN" altLang="en-US" sz="2400" b="1">
                <a:solidFill>
                  <a:schemeClr val="tx2"/>
                </a:solidFill>
                <a:effectLst/>
              </a:rPr>
              <a:t>所示．</a:t>
            </a:r>
          </a:p>
        </p:txBody>
      </p:sp>
      <p:sp>
        <p:nvSpPr>
          <p:cNvPr id="90115" name="Rectangle 4"/>
          <p:cNvSpPr/>
          <p:nvPr/>
        </p:nvSpPr>
        <p:spPr>
          <a:xfrm>
            <a:off x="1069975" y="2411412"/>
            <a:ext cx="183063" cy="366126"/>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0116" name="Group 5"/>
          <p:cNvGraphicFramePr>
            <a:graphicFrameLocks noGrp="1"/>
          </p:cNvGraphicFramePr>
          <p:nvPr/>
        </p:nvGraphicFramePr>
        <p:xfrm>
          <a:off x="684212" y="2852738"/>
          <a:ext cx="7848600" cy="2714626"/>
        </p:xfrm>
        <a:graphic>
          <a:graphicData uri="http://schemas.openxmlformats.org/drawingml/2006/table">
            <a:tbl>
              <a:tblPr>
                <a:effectLst/>
              </a:tblPr>
              <a:tblGrid>
                <a:gridCol w="2232025"/>
                <a:gridCol w="1546225"/>
                <a:gridCol w="2365375"/>
                <a:gridCol w="1704975"/>
              </a:tblGrid>
              <a:tr h="719138">
                <a:tc>
                  <a:txBody>
                    <a:bodyPr tIns="45701" bIns="45701">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r" eaLnBrk="1" hangingPunct="1"/>
                      <a:r>
                        <a:rPr lang="zh-CN" altLang="en-US" sz="2000" b="1">
                          <a:effectLst/>
                          <a:ea typeface="Times New Roman" pitchFamily="18" charset="0"/>
                        </a:rPr>
                        <a:t>产品    </a:t>
                      </a:r>
                    </a:p>
                    <a:p>
                      <a:pPr marL="0" lvl="0" indent="0"/>
                      <a:r>
                        <a:rPr lang="zh-CN" altLang="en-US" sz="2000" b="1">
                          <a:effectLst/>
                        </a:rPr>
                        <a:t>资源</a:t>
                      </a:r>
                      <a:endParaRPr lang="zh-CN" altLang="en-US" sz="2000" b="1">
                        <a:effectLst/>
                        <a:ea typeface="Times New Roman" pitchFamily="18" charset="0"/>
                      </a:endParaRPr>
                    </a:p>
                  </a:txBody>
                  <a:tcPr marT="45701" marB="45701">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产品甲</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产品乙</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现有资源</a:t>
                      </a:r>
                    </a:p>
                  </a:txBody>
                  <a:tcPr marT="45701" marB="45701"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01" bIns="45701">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材料</a:t>
                      </a:r>
                      <a:r>
                        <a:rPr lang="en-US" altLang="zh-CN" sz="2000" b="1">
                          <a:solidFill>
                            <a:srgbClr val="000000"/>
                          </a:solidFill>
                          <a:effectLst/>
                        </a:rPr>
                        <a:t>I</a:t>
                      </a:r>
                      <a:endParaRPr lang="en-US" altLang="zh-CN" sz="2000" b="1">
                        <a:effectLst/>
                      </a:endParaRPr>
                    </a:p>
                  </a:txBody>
                  <a:tcPr marT="45701" marB="45701">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3</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0</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12</a:t>
                      </a:r>
                      <a:r>
                        <a:rPr lang="en-US" altLang="zh-CN" sz="2000" b="1">
                          <a:solidFill>
                            <a:srgbClr val="000000"/>
                          </a:solidFill>
                          <a:effectLst/>
                        </a:rPr>
                        <a:t>(kg)</a:t>
                      </a:r>
                      <a:endParaRPr lang="en-US" altLang="zh-CN" sz="2000" b="1">
                        <a:effectLst/>
                      </a:endParaRPr>
                    </a:p>
                  </a:txBody>
                  <a:tcPr marT="45701" marB="45701"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01" bIns="45701">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材料</a:t>
                      </a:r>
                      <a:r>
                        <a:rPr lang="en-US" altLang="zh-CN" sz="2000" b="1">
                          <a:solidFill>
                            <a:srgbClr val="000000"/>
                          </a:solidFill>
                          <a:effectLst/>
                        </a:rPr>
                        <a:t>II</a:t>
                      </a:r>
                      <a:endParaRPr lang="en-US" altLang="zh-CN" sz="2000" b="1">
                        <a:effectLst/>
                      </a:endParaRPr>
                    </a:p>
                  </a:txBody>
                  <a:tcPr marT="45701" marB="45701">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0</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4</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14</a:t>
                      </a:r>
                      <a:r>
                        <a:rPr lang="en-US" altLang="zh-CN" sz="2000" b="1">
                          <a:solidFill>
                            <a:srgbClr val="000000"/>
                          </a:solidFill>
                          <a:effectLst/>
                        </a:rPr>
                        <a:t>(kg)</a:t>
                      </a:r>
                      <a:endParaRPr lang="en-US" altLang="zh-CN" sz="2000" b="1">
                        <a:effectLst/>
                      </a:endParaRPr>
                    </a:p>
                  </a:txBody>
                  <a:tcPr marT="45701" marB="45701"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01" bIns="45701">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设备</a:t>
                      </a:r>
                      <a:r>
                        <a:rPr lang="en-US" altLang="zh-CN" sz="2000" b="1">
                          <a:effectLst/>
                        </a:rPr>
                        <a:t>A</a:t>
                      </a:r>
                    </a:p>
                  </a:txBody>
                  <a:tcPr marT="45701" marB="45701">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2</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2</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12(h)</a:t>
                      </a:r>
                    </a:p>
                  </a:txBody>
                  <a:tcPr marT="45701" marB="45701"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396875">
                <a:tc>
                  <a:txBody>
                    <a:bodyPr tIns="45701" bIns="45701">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rPr>
                        <a:t>设备</a:t>
                      </a:r>
                      <a:r>
                        <a:rPr lang="en-US" altLang="zh-CN" sz="2000" b="1">
                          <a:effectLst/>
                        </a:rPr>
                        <a:t>B</a:t>
                      </a:r>
                    </a:p>
                  </a:txBody>
                  <a:tcPr marT="45701" marB="45701">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5</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3</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15(h)</a:t>
                      </a:r>
                    </a:p>
                  </a:txBody>
                  <a:tcPr marT="45701" marB="45701"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407988">
                <a:tc>
                  <a:txBody>
                    <a:bodyPr tIns="45701" bIns="45701">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r>
                        <a:rPr lang="zh-CN" altLang="en-US" sz="2000" b="1">
                          <a:effectLst/>
                        </a:rPr>
                        <a:t>产品利润</a:t>
                      </a:r>
                      <a:r>
                        <a:rPr lang="en-US" altLang="zh-CN" sz="2000" b="1">
                          <a:effectLst/>
                        </a:rPr>
                        <a:t>(</a:t>
                      </a:r>
                      <a:r>
                        <a:rPr lang="zh-CN" altLang="en-US" sz="2000" b="1">
                          <a:effectLst/>
                        </a:rPr>
                        <a:t>元</a:t>
                      </a:r>
                      <a:r>
                        <a:rPr lang="en-US" altLang="zh-CN" sz="2000" b="1">
                          <a:effectLst/>
                        </a:rPr>
                        <a:t>/</a:t>
                      </a:r>
                      <a:r>
                        <a:rPr lang="zh-CN" altLang="en-US" sz="2000" b="1">
                          <a:effectLst/>
                        </a:rPr>
                        <a:t>件</a:t>
                      </a:r>
                      <a:r>
                        <a:rPr lang="en-US" altLang="zh-CN" sz="2000" b="1">
                          <a:effectLst/>
                        </a:rPr>
                        <a:t>)</a:t>
                      </a:r>
                    </a:p>
                  </a:txBody>
                  <a:tcPr marT="45701" marB="45701">
                    <a:lnL cap="flat" cmpd="sng" algn="ctr">
                      <a:no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20</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rPr>
                        <a:t>40</a:t>
                      </a:r>
                    </a:p>
                  </a:txBody>
                  <a:tcPr marT="45701" marB="45701"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tIns="45701" bIns="45701"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spcBef>
                          <a:spcPct val="20000"/>
                        </a:spcBef>
                      </a:pPr>
                      <a:endParaRPr lang="zh-CN" altLang="zh-CN" sz="2000" b="1">
                        <a:effectLst/>
                      </a:endParaRPr>
                    </a:p>
                  </a:txBody>
                  <a:tcPr marT="45701" marB="45701" anchor="ctr">
                    <a:lnL w="12700" cap="flat" cmpd="sng" algn="ctr">
                      <a:solidFill>
                        <a:prstClr val="black"/>
                      </a:solidFill>
                      <a:prstDash val="solid"/>
                      <a:round/>
                      <a:headEnd type="none" w="med" len="med"/>
                      <a:tailEnd type="none" w="med" len="med"/>
                    </a:lnL>
                    <a:lnR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
        <p:nvSpPr>
          <p:cNvPr id="90152" name="Rectangle 51"/>
          <p:cNvSpPr/>
          <p:nvPr/>
        </p:nvSpPr>
        <p:spPr>
          <a:xfrm>
            <a:off x="4284662" y="2205038"/>
            <a:ext cx="640720"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sz="2400" b="1">
                <a:solidFill>
                  <a:schemeClr val="tx2"/>
                </a:solidFill>
                <a:effectLst/>
                <a:latin typeface="Times New Roman" pitchFamily="18" charset="0"/>
              </a:rPr>
              <a:t>表</a:t>
            </a:r>
            <a:r>
              <a:rPr lang="en-US" altLang="zh-CN" sz="2400" b="1">
                <a:solidFill>
                  <a:schemeClr val="tx2"/>
                </a:solidFill>
                <a:effectLst/>
                <a:latin typeface="Times New Roman" pitchFamily="18" charset="0"/>
              </a:rPr>
              <a:t>4</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9223372036854775808"/>
                                  </p:stCondLst>
                                  <p:childTnLst>
                                    <p:set>
                                      <p:cBhvr additive="base">
                                        <p:cTn id="6" dur="1" fill="hold">
                                          <p:stCondLst>
                                            <p:cond delay="0"/>
                                          </p:stCondLst>
                                        </p:cTn>
                                        <p:tgtEl>
                                          <p:spTgt spid="90114"/>
                                        </p:tgtEl>
                                        <p:attrNameLst>
                                          <p:attrName>style.visibility</p:attrName>
                                        </p:attrNameLst>
                                      </p:cBhvr>
                                      <p:to>
                                        <p:strVal val="visible"/>
                                      </p:to>
                                    </p:set>
                                    <p:animEffect transition="in" filter="wipe(left)">
                                      <p:cBhvr additive="base">
                                        <p:cTn id="7" dur="500"/>
                                        <p:tgtEl>
                                          <p:spTgt spid="90114"/>
                                        </p:tgtEl>
                                      </p:cBhvr>
                                    </p:animEffect>
                                  </p:childTnLst>
                                </p:cTn>
                              </p:par>
                            </p:childTnLst>
                          </p:cTn>
                        </p:par>
                        <p:par>
                          <p:cTn id="8" fill="hold">
                            <p:stCondLst>
                              <p:cond delay="500"/>
                            </p:stCondLst>
                            <p:childTnLst>
                              <p:par>
                                <p:cTn id="9" presetID="22" presetClass="entr" presetSubtype="8" fill="hold" grpId="1" nodeType="afterEffect">
                                  <p:stCondLst>
                                    <p:cond delay="-9223372036854775808"/>
                                  </p:stCondLst>
                                  <p:childTnLst>
                                    <p:set>
                                      <p:cBhvr additive="base">
                                        <p:cTn id="10" dur="1" fill="hold">
                                          <p:stCondLst>
                                            <p:cond delay="0"/>
                                          </p:stCondLst>
                                        </p:cTn>
                                        <p:tgtEl>
                                          <p:spTgt spid="90152"/>
                                        </p:tgtEl>
                                        <p:attrNameLst>
                                          <p:attrName>style.visibility</p:attrName>
                                        </p:attrNameLst>
                                      </p:cBhvr>
                                      <p:to>
                                        <p:strVal val="visible"/>
                                      </p:to>
                                    </p:set>
                                    <p:animEffect transition="in" filter="wipe(left)">
                                      <p:cBhvr additive="base">
                                        <p:cTn id="11" dur="500"/>
                                        <p:tgtEl>
                                          <p:spTgt spid="90152"/>
                                        </p:tgtEl>
                                      </p:cBhvr>
                                    </p:animEffect>
                                  </p:childTnLst>
                                </p:cTn>
                              </p:par>
                            </p:childTnLst>
                          </p:cTn>
                        </p:par>
                        <p:par>
                          <p:cTn id="12" fill="hold">
                            <p:stCondLst>
                              <p:cond delay="1000"/>
                            </p:stCondLst>
                            <p:childTnLst>
                              <p:par>
                                <p:cTn id="13" presetID="22" presetClass="entr" presetSubtype="1" fill="hold" nodeType="afterEffect">
                                  <p:stCondLst>
                                    <p:cond delay="-9223372036854775808"/>
                                  </p:stCondLst>
                                  <p:childTnLst>
                                    <p:set>
                                      <p:cBhvr additive="base">
                                        <p:cTn id="14" dur="1" fill="hold">
                                          <p:stCondLst>
                                            <p:cond delay="0"/>
                                          </p:stCondLst>
                                        </p:cTn>
                                        <p:tgtEl>
                                          <p:spTgt spid="90116"/>
                                        </p:tgtEl>
                                        <p:attrNameLst>
                                          <p:attrName>style.visibility</p:attrName>
                                        </p:attrNameLst>
                                      </p:cBhvr>
                                      <p:to>
                                        <p:strVal val="visible"/>
                                      </p:to>
                                    </p:set>
                                    <p:animEffect transition="in" filter="wipe(up)">
                                      <p:cBhvr additive="base">
                                        <p:cTn id="15"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52" grpId="1"/>
    </p:bldLst>
  </p:timing>
</p:sld>
</file>

<file path=ppt/slides/slide8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91138" name="Rectangle 2"/>
          <p:cNvSpPr/>
          <p:nvPr/>
        </p:nvSpPr>
        <p:spPr>
          <a:xfrm>
            <a:off x="323850" y="2923445"/>
            <a:ext cx="8577895" cy="82378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kumimoji="1" lang="zh-CN" altLang="en-US" sz="2400" b="1">
                <a:effectLst/>
                <a:latin typeface="Times New Roman" pitchFamily="18" charset="0"/>
              </a:rPr>
              <a:t>解：设</a:t>
            </a:r>
            <a:r>
              <a:rPr kumimoji="1" lang="en-US" altLang="zh-CN" sz="2400" b="1" i="1">
                <a:effectLst/>
                <a:latin typeface="Times New Roman" pitchFamily="18" charset="0"/>
              </a:rPr>
              <a:t>x</a:t>
            </a:r>
            <a:r>
              <a:rPr kumimoji="1" lang="en-US" altLang="zh-CN" sz="2400" b="1" baseline="-25000">
                <a:effectLst/>
                <a:latin typeface="Times New Roman" pitchFamily="18" charset="0"/>
              </a:rPr>
              <a:t>1</a:t>
            </a:r>
            <a:r>
              <a:rPr kumimoji="1" lang="zh-CN" altLang="en-US" sz="2400" b="1">
                <a:effectLst/>
                <a:latin typeface="Times New Roman" pitchFamily="18" charset="0"/>
              </a:rPr>
              <a:t>、</a:t>
            </a:r>
            <a:r>
              <a:rPr kumimoji="1" lang="en-US" altLang="zh-CN" sz="2400" b="1" i="1">
                <a:effectLst/>
                <a:latin typeface="Times New Roman" pitchFamily="18" charset="0"/>
              </a:rPr>
              <a:t>x</a:t>
            </a:r>
            <a:r>
              <a:rPr kumimoji="1" lang="en-US" altLang="zh-CN" sz="2400" b="1" baseline="-25000">
                <a:effectLst/>
                <a:latin typeface="Times New Roman" pitchFamily="18" charset="0"/>
              </a:rPr>
              <a:t>2</a:t>
            </a:r>
            <a:r>
              <a:rPr kumimoji="1" lang="zh-CN" altLang="en-US" sz="2400" b="1">
                <a:effectLst/>
                <a:latin typeface="Times New Roman" pitchFamily="18" charset="0"/>
              </a:rPr>
              <a:t>分别为产品甲和产品乙的产量，目标规划数学模型为：</a:t>
            </a:r>
          </a:p>
        </p:txBody>
      </p:sp>
      <p:sp>
        <p:nvSpPr>
          <p:cNvPr id="91139" name="Rectangle 3"/>
          <p:cNvSpPr/>
          <p:nvPr/>
        </p:nvSpPr>
        <p:spPr>
          <a:xfrm>
            <a:off x="395288" y="506356"/>
            <a:ext cx="8757462" cy="2654413"/>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200025" eaLnBrk="1" hangingPunct="1">
              <a:tabLst>
                <a:tab pos="666750"/>
              </a:tabLst>
            </a:pPr>
            <a:r>
              <a:rPr kumimoji="1" lang="zh-CN" altLang="en-US" sz="2400" b="1">
                <a:effectLst/>
                <a:latin typeface="Times New Roman" pitchFamily="18" charset="0"/>
              </a:rPr>
              <a:t>企业怎样安排生产计划，尽可能满足下列目标：</a:t>
            </a:r>
          </a:p>
          <a:p>
            <a:pPr marL="0" lvl="0" indent="200025" eaLnBrk="1" hangingPunct="1">
              <a:tabLst>
                <a:tab pos="666750"/>
              </a:tabLst>
            </a:pPr>
            <a:r>
              <a:rPr kumimoji="1" lang="en-US" altLang="zh-CN" sz="2400" b="1">
                <a:effectLst/>
                <a:latin typeface="Times New Roman" pitchFamily="18" charset="0"/>
              </a:rPr>
              <a:t>(1)</a:t>
            </a:r>
            <a:r>
              <a:rPr kumimoji="1" lang="zh-CN" altLang="en-US" sz="2400" b="1">
                <a:effectLst/>
                <a:latin typeface="Times New Roman" pitchFamily="18" charset="0"/>
              </a:rPr>
              <a:t>力求使利润指标不低于</a:t>
            </a:r>
            <a:r>
              <a:rPr kumimoji="1" lang="en-US" altLang="zh-CN" sz="2400" b="1">
                <a:effectLst/>
                <a:latin typeface="Times New Roman" pitchFamily="18" charset="0"/>
              </a:rPr>
              <a:t>80</a:t>
            </a:r>
            <a:r>
              <a:rPr kumimoji="1" lang="zh-CN" altLang="en-US" sz="2400" b="1">
                <a:effectLst/>
                <a:latin typeface="Times New Roman" pitchFamily="18" charset="0"/>
              </a:rPr>
              <a:t>元；</a:t>
            </a:r>
          </a:p>
          <a:p>
            <a:pPr marL="0" lvl="0" indent="200025" eaLnBrk="1" hangingPunct="1">
              <a:tabLst>
                <a:tab pos="666750"/>
              </a:tabLst>
            </a:pPr>
            <a:r>
              <a:rPr kumimoji="1" lang="en-US" altLang="zh-CN" sz="2400" b="1">
                <a:effectLst/>
                <a:latin typeface="Times New Roman" pitchFamily="18" charset="0"/>
              </a:rPr>
              <a:t>(2)</a:t>
            </a:r>
            <a:r>
              <a:rPr kumimoji="1" lang="zh-CN" altLang="en-US" sz="2400" b="1">
                <a:effectLst/>
                <a:latin typeface="Times New Roman" pitchFamily="18" charset="0"/>
              </a:rPr>
              <a:t>考虑到市场需求</a:t>
            </a:r>
            <a:r>
              <a:rPr kumimoji="1" lang="en-US" altLang="zh-CN" sz="2400" b="1">
                <a:effectLst/>
                <a:latin typeface="Times New Roman" pitchFamily="18" charset="0"/>
              </a:rPr>
              <a:t>,</a:t>
            </a:r>
            <a:r>
              <a:rPr kumimoji="1" lang="zh-CN" altLang="en-US" sz="2400" b="1">
                <a:effectLst/>
                <a:latin typeface="Times New Roman" pitchFamily="18" charset="0"/>
              </a:rPr>
              <a:t>Ｉ、</a:t>
            </a:r>
            <a:r>
              <a:rPr kumimoji="1" lang="en-US" altLang="zh-CN" sz="2400" b="1">
                <a:effectLst/>
                <a:latin typeface="Times New Roman" pitchFamily="18" charset="0"/>
              </a:rPr>
              <a:t>II</a:t>
            </a:r>
            <a:r>
              <a:rPr kumimoji="1" lang="zh-CN" altLang="en-US" sz="2400" b="1">
                <a:effectLst/>
                <a:latin typeface="Times New Roman" pitchFamily="18" charset="0"/>
              </a:rPr>
              <a:t>两种产品的生产量需保持</a:t>
            </a:r>
            <a:r>
              <a:rPr kumimoji="1" lang="en-US" altLang="zh-CN" sz="2400" b="1">
                <a:effectLst/>
                <a:latin typeface="Times New Roman" pitchFamily="18" charset="0"/>
              </a:rPr>
              <a:t>1:1</a:t>
            </a:r>
            <a:r>
              <a:rPr kumimoji="1" lang="zh-CN" altLang="en-US" sz="2400" b="1">
                <a:effectLst/>
                <a:latin typeface="Times New Roman" pitchFamily="18" charset="0"/>
              </a:rPr>
              <a:t>的比例；</a:t>
            </a:r>
          </a:p>
          <a:p>
            <a:pPr marL="0" lvl="0" indent="200025" eaLnBrk="1" hangingPunct="1">
              <a:tabLst>
                <a:tab pos="666750"/>
              </a:tabLst>
            </a:pPr>
            <a:r>
              <a:rPr kumimoji="1" lang="en-US" altLang="zh-CN" sz="2400" b="1">
                <a:effectLst/>
                <a:latin typeface="Times New Roman" pitchFamily="18" charset="0"/>
              </a:rPr>
              <a:t>(3)</a:t>
            </a:r>
            <a:r>
              <a:rPr kumimoji="1" lang="zh-CN" altLang="en-US" sz="2400" b="1">
                <a:effectLst/>
                <a:latin typeface="Times New Roman" pitchFamily="18" charset="0"/>
              </a:rPr>
              <a:t>设备</a:t>
            </a:r>
            <a:r>
              <a:rPr kumimoji="1" lang="en-US" altLang="zh-CN" sz="2400" b="1">
                <a:effectLst/>
                <a:latin typeface="Times New Roman" pitchFamily="18" charset="0"/>
              </a:rPr>
              <a:t>A</a:t>
            </a:r>
            <a:r>
              <a:rPr kumimoji="1" lang="zh-CN" altLang="en-US" sz="2400" b="1">
                <a:effectLst/>
                <a:latin typeface="Times New Roman" pitchFamily="18" charset="0"/>
              </a:rPr>
              <a:t>既要求充分利用，又尽可能不加班；</a:t>
            </a:r>
          </a:p>
          <a:p>
            <a:pPr marL="0" lvl="0" indent="200025" eaLnBrk="1" hangingPunct="1">
              <a:tabLst>
                <a:tab pos="666750"/>
              </a:tabLst>
            </a:pPr>
            <a:r>
              <a:rPr kumimoji="1" lang="en-US" altLang="zh-CN" sz="2400" b="1">
                <a:effectLst/>
                <a:latin typeface="Times New Roman" pitchFamily="18" charset="0"/>
              </a:rPr>
              <a:t>(4) </a:t>
            </a:r>
            <a:r>
              <a:rPr kumimoji="1" lang="zh-CN" altLang="en-US" sz="2400" b="1">
                <a:effectLst/>
                <a:latin typeface="Times New Roman" pitchFamily="18" charset="0"/>
              </a:rPr>
              <a:t>设备</a:t>
            </a:r>
            <a:r>
              <a:rPr kumimoji="1" lang="en-US" altLang="zh-CN" sz="2400" b="1">
                <a:effectLst/>
                <a:latin typeface="Times New Roman" pitchFamily="18" charset="0"/>
              </a:rPr>
              <a:t>B</a:t>
            </a:r>
            <a:r>
              <a:rPr kumimoji="1" lang="zh-CN" altLang="en-US" sz="2400" b="1">
                <a:effectLst/>
                <a:latin typeface="Times New Roman" pitchFamily="18" charset="0"/>
              </a:rPr>
              <a:t>必要时可以加班，但加班时间尽可能少；</a:t>
            </a:r>
          </a:p>
          <a:p>
            <a:pPr marL="0" lvl="0" indent="200025" eaLnBrk="1" hangingPunct="1">
              <a:tabLst>
                <a:tab pos="666750"/>
              </a:tabLst>
            </a:pPr>
            <a:r>
              <a:rPr kumimoji="1" lang="en-US" altLang="zh-CN" sz="2400" b="1">
                <a:effectLst/>
                <a:latin typeface="Times New Roman" pitchFamily="18" charset="0"/>
              </a:rPr>
              <a:t>(5)</a:t>
            </a:r>
            <a:r>
              <a:rPr kumimoji="1" lang="zh-CN" altLang="en-US" sz="2400" b="1">
                <a:effectLst/>
                <a:latin typeface="Times New Roman" pitchFamily="18" charset="0"/>
              </a:rPr>
              <a:t>材料不能超用。</a:t>
            </a:r>
          </a:p>
        </p:txBody>
      </p:sp>
      <p:sp>
        <p:nvSpPr>
          <p:cNvPr id="91140" name="Rectangle 4"/>
          <p:cNvSpPr/>
          <p:nvPr/>
        </p:nvSpPr>
        <p:spPr>
          <a:xfrm>
            <a:off x="0" y="3117350"/>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1141" name="Object 5"/>
          <p:cNvGraphicFramePr>
            <a:graphicFrameLocks noChangeAspect="1"/>
          </p:cNvGraphicFramePr>
          <p:nvPr/>
        </p:nvGraphicFramePr>
        <p:xfrm>
          <a:off x="1979612" y="3500438"/>
          <a:ext cx="5903912" cy="484188"/>
        </p:xfrm>
        <a:graphic>
          <a:graphicData uri="http://schemas.openxmlformats.org/presentationml/2006/ole">
            <mc:AlternateContent xmlns:mc="http://schemas.openxmlformats.org/markup-compatibility/2006">
              <mc:Choice xmlns:v="urn:schemas-microsoft-com:vml" Requires="v">
                <p:oleObj spid="_x0000_s1135" name="Equation" r:id="rId2" progId="Equation.DSMT4">
                  <p:embed/>
                </p:oleObj>
              </mc:Choice>
              <mc:Fallback>
                <p:oleObj spid="_x0000_s1135" name="Equation" r:id="rId2" progId="Equation.DSMT4">
                  <p:embed/>
                  <p:pic>
                    <p:nvPicPr>
                      <p:cNvPr id="0" name="OLE substitute image"/>
                      <p:cNvPicPr/>
                      <p:nvPr/>
                    </p:nvPicPr>
                    <p:blipFill>
                      <a:blip r:embed="rId3"/>
                      <a:stretch/>
                    </p:blipFill>
                    <p:spPr>
                      <a:xfrm>
                        <a:off x="1979612" y="3500438"/>
                        <a:ext cx="5903912" cy="484188"/>
                      </a:xfrm>
                      <a:prstGeom prst="rect">
                        <a:avLst/>
                      </a:prstGeom>
                      <a:noFill/>
                      <a:effectLst/>
                    </p:spPr>
                  </p:pic>
                </p:oleObj>
              </mc:Fallback>
            </mc:AlternateContent>
          </a:graphicData>
        </a:graphic>
      </p:graphicFrame>
      <p:sp>
        <p:nvSpPr>
          <p:cNvPr id="91142" name="Rectangle 6"/>
          <p:cNvSpPr/>
          <p:nvPr/>
        </p:nvSpPr>
        <p:spPr>
          <a:xfrm>
            <a:off x="0" y="2431549"/>
            <a:ext cx="183063" cy="366126"/>
          </a:xfrm>
          <a:prstGeom prst="rect">
            <a:avLst/>
          </a:prstGeom>
          <a:noFill/>
          <a:ln>
            <a:noFill/>
            <a:miter lim="800000"/>
          </a:ln>
          <a:effectLst/>
        </p:spPr>
        <p:txBody>
          <a:bodyPr wrap="none"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graphicFrame>
        <p:nvGraphicFramePr>
          <p:cNvPr id="91143" name="Object 7"/>
          <p:cNvGraphicFramePr>
            <a:graphicFrameLocks noChangeAspect="1"/>
          </p:cNvGraphicFramePr>
          <p:nvPr/>
        </p:nvGraphicFramePr>
        <p:xfrm>
          <a:off x="2195512" y="4005262"/>
          <a:ext cx="4248150" cy="2681288"/>
        </p:xfrm>
        <a:graphic>
          <a:graphicData uri="http://schemas.openxmlformats.org/presentationml/2006/ole">
            <mc:AlternateContent xmlns:mc="http://schemas.openxmlformats.org/markup-compatibility/2006">
              <mc:Choice xmlns:v="urn:schemas-microsoft-com:vml" Requires="v">
                <p:oleObj spid="_x0000_s1136" name="Equation" r:id="rId4" progId="Equation.DSMT4">
                  <p:embed/>
                </p:oleObj>
              </mc:Choice>
              <mc:Fallback>
                <p:oleObj spid="_x0000_s1136" name="Equation" r:id="rId4" progId="Equation.DSMT4">
                  <p:embed/>
                  <p:pic>
                    <p:nvPicPr>
                      <p:cNvPr id="0" name="OLE substitute image"/>
                      <p:cNvPicPr/>
                      <p:nvPr/>
                    </p:nvPicPr>
                    <p:blipFill>
                      <a:blip r:embed="rId5"/>
                      <a:stretch/>
                    </p:blipFill>
                    <p:spPr>
                      <a:xfrm>
                        <a:off x="2195512" y="4005262"/>
                        <a:ext cx="4248150" cy="2681288"/>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91139">
                                            <p:txEl>
                                              <p:charRg st="0" end="22"/>
                                            </p:txEl>
                                          </p:spTgt>
                                        </p:tgtEl>
                                        <p:attrNameLst>
                                          <p:attrName>style.visibility</p:attrName>
                                        </p:attrNameLst>
                                      </p:cBhvr>
                                      <p:to>
                                        <p:strVal val="visible"/>
                                      </p:to>
                                    </p:set>
                                    <p:animEffect transition="in" filter="blinds(horizontal)">
                                      <p:cBhvr additive="base">
                                        <p:cTn id="7" dur="500"/>
                                        <p:tgtEl>
                                          <p:spTgt spid="91139">
                                            <p:txEl>
                                              <p:charRg st="0" end="22"/>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91139">
                                            <p:txEl>
                                              <p:charRg st="22" end="40"/>
                                            </p:txEl>
                                          </p:spTgt>
                                        </p:tgtEl>
                                        <p:attrNameLst>
                                          <p:attrName>style.visibility</p:attrName>
                                        </p:attrNameLst>
                                      </p:cBhvr>
                                      <p:to>
                                        <p:strVal val="visible"/>
                                      </p:to>
                                    </p:set>
                                    <p:animEffect transition="in" filter="blinds(horizontal)">
                                      <p:cBhvr additive="base">
                                        <p:cTn id="13" dur="500"/>
                                        <p:tgtEl>
                                          <p:spTgt spid="91139">
                                            <p:txEl>
                                              <p:charRg st="22" end="40"/>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3" presetClass="entr" presetSubtype="10" fill="hold" nodeType="clickEffect">
                                  <p:stCondLst>
                                    <p:cond delay="-9223372036854775808"/>
                                  </p:stCondLst>
                                  <p:childTnLst>
                                    <p:set>
                                      <p:cBhvr additive="base">
                                        <p:cTn id="18" dur="1" fill="hold">
                                          <p:stCondLst>
                                            <p:cond delay="0"/>
                                          </p:stCondLst>
                                        </p:cTn>
                                        <p:tgtEl>
                                          <p:spTgt spid="91139">
                                            <p:txEl>
                                              <p:charRg st="40" end="74"/>
                                            </p:txEl>
                                          </p:spTgt>
                                        </p:tgtEl>
                                        <p:attrNameLst>
                                          <p:attrName>style.visibility</p:attrName>
                                        </p:attrNameLst>
                                      </p:cBhvr>
                                      <p:to>
                                        <p:strVal val="visible"/>
                                      </p:to>
                                    </p:set>
                                    <p:animEffect transition="in" filter="blinds(horizontal)">
                                      <p:cBhvr additive="base">
                                        <p:cTn id="19" dur="500"/>
                                        <p:tgtEl>
                                          <p:spTgt spid="91139">
                                            <p:txEl>
                                              <p:charRg st="40" end="74"/>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3" presetClass="entr" presetSubtype="10" fill="hold" nodeType="clickEffect">
                                  <p:stCondLst>
                                    <p:cond delay="-9223372036854775808"/>
                                  </p:stCondLst>
                                  <p:childTnLst>
                                    <p:set>
                                      <p:cBhvr additive="base">
                                        <p:cTn id="24" dur="1" fill="hold">
                                          <p:stCondLst>
                                            <p:cond delay="0"/>
                                          </p:stCondLst>
                                        </p:cTn>
                                        <p:tgtEl>
                                          <p:spTgt spid="91139">
                                            <p:txEl>
                                              <p:charRg st="74" end="97"/>
                                            </p:txEl>
                                          </p:spTgt>
                                        </p:tgtEl>
                                        <p:attrNameLst>
                                          <p:attrName>style.visibility</p:attrName>
                                        </p:attrNameLst>
                                      </p:cBhvr>
                                      <p:to>
                                        <p:strVal val="visible"/>
                                      </p:to>
                                    </p:set>
                                    <p:animEffect transition="in" filter="blinds(horizontal)">
                                      <p:cBhvr additive="base">
                                        <p:cTn id="25" dur="500"/>
                                        <p:tgtEl>
                                          <p:spTgt spid="91139">
                                            <p:txEl>
                                              <p:charRg st="74" end="97"/>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3" presetClass="entr" presetSubtype="10" fill="hold" nodeType="clickEffect">
                                  <p:stCondLst>
                                    <p:cond delay="-9223372036854775808"/>
                                  </p:stCondLst>
                                  <p:childTnLst>
                                    <p:set>
                                      <p:cBhvr additive="base">
                                        <p:cTn id="30" dur="1" fill="hold">
                                          <p:stCondLst>
                                            <p:cond delay="0"/>
                                          </p:stCondLst>
                                        </p:cTn>
                                        <p:tgtEl>
                                          <p:spTgt spid="91139">
                                            <p:txEl>
                                              <p:charRg st="97" end="123"/>
                                            </p:txEl>
                                          </p:spTgt>
                                        </p:tgtEl>
                                        <p:attrNameLst>
                                          <p:attrName>style.visibility</p:attrName>
                                        </p:attrNameLst>
                                      </p:cBhvr>
                                      <p:to>
                                        <p:strVal val="visible"/>
                                      </p:to>
                                    </p:set>
                                    <p:animEffect transition="in" filter="blinds(horizontal)">
                                      <p:cBhvr additive="base">
                                        <p:cTn id="31" dur="500"/>
                                        <p:tgtEl>
                                          <p:spTgt spid="91139">
                                            <p:txEl>
                                              <p:charRg st="97" end="123"/>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3" presetClass="entr" presetSubtype="10" fill="hold" nodeType="clickEffect">
                                  <p:stCondLst>
                                    <p:cond delay="-9223372036854775808"/>
                                  </p:stCondLst>
                                  <p:childTnLst>
                                    <p:set>
                                      <p:cBhvr additive="base">
                                        <p:cTn id="36" dur="1" fill="hold">
                                          <p:stCondLst>
                                            <p:cond delay="0"/>
                                          </p:stCondLst>
                                        </p:cTn>
                                        <p:tgtEl>
                                          <p:spTgt spid="91139">
                                            <p:txEl>
                                              <p:charRg st="123" end="134"/>
                                            </p:txEl>
                                          </p:spTgt>
                                        </p:tgtEl>
                                        <p:attrNameLst>
                                          <p:attrName>style.visibility</p:attrName>
                                        </p:attrNameLst>
                                      </p:cBhvr>
                                      <p:to>
                                        <p:strVal val="visible"/>
                                      </p:to>
                                    </p:set>
                                    <p:animEffect transition="in" filter="blinds(horizontal)">
                                      <p:cBhvr additive="base">
                                        <p:cTn id="37" dur="500"/>
                                        <p:tgtEl>
                                          <p:spTgt spid="91139">
                                            <p:txEl>
                                              <p:charRg st="123" end="134"/>
                                            </p:txEl>
                                          </p:spTgt>
                                        </p:tgtEl>
                                      </p:cBhvr>
                                    </p:animEffect>
                                  </p:childTnLst>
                                </p:cTn>
                              </p:par>
                            </p:childTnLst>
                          </p:cTn>
                        </p:par>
                      </p:childTnLst>
                    </p:cTn>
                  </p:par>
                  <p:par>
                    <p:cTn id="38" fill="hold">
                      <p:stCondLst>
                        <p:cond delay="indefinite"/>
                      </p:stCondLst>
                      <p:childTnLst>
                        <p:par>
                          <p:cTn id="39" fill="hold">
                            <p:stCondLst>
                              <p:cond delay="indefinite"/>
                            </p:stCondLst>
                          </p:cTn>
                        </p:par>
                        <p:par>
                          <p:cTn id="40" fill="hold">
                            <p:stCondLst>
                              <p:cond delay="0"/>
                            </p:stCondLst>
                            <p:childTnLst>
                              <p:par>
                                <p:cTn id="41" presetID="3" presetClass="entr" presetSubtype="10" fill="hold" nodeType="clickEffect">
                                  <p:stCondLst>
                                    <p:cond delay="-9223372036854775808"/>
                                  </p:stCondLst>
                                  <p:childTnLst>
                                    <p:set>
                                      <p:cBhvr additive="base">
                                        <p:cTn id="42" dur="1" fill="hold">
                                          <p:stCondLst>
                                            <p:cond delay="0"/>
                                          </p:stCondLst>
                                        </p:cTn>
                                        <p:tgtEl>
                                          <p:spTgt spid="91138">
                                            <p:txEl>
                                              <p:charRg st="0" end="33"/>
                                            </p:txEl>
                                          </p:spTgt>
                                        </p:tgtEl>
                                        <p:attrNameLst>
                                          <p:attrName>style.visibility</p:attrName>
                                        </p:attrNameLst>
                                      </p:cBhvr>
                                      <p:to>
                                        <p:strVal val="visible"/>
                                      </p:to>
                                    </p:set>
                                    <p:animEffect transition="in" filter="blinds(horizontal)">
                                      <p:cBhvr additive="base">
                                        <p:cTn id="43" dur="500"/>
                                        <p:tgtEl>
                                          <p:spTgt spid="91138">
                                            <p:txEl>
                                              <p:charRg st="0" end="33"/>
                                            </p:txEl>
                                          </p:spTgt>
                                        </p:tgtEl>
                                      </p:cBhvr>
                                    </p:animEffect>
                                  </p:childTnLst>
                                </p:cTn>
                              </p:par>
                            </p:childTnLst>
                          </p:cTn>
                        </p:par>
                      </p:childTnLst>
                    </p:cTn>
                  </p:par>
                  <p:par>
                    <p:cTn id="44" fill="hold">
                      <p:stCondLst>
                        <p:cond delay="indefinite"/>
                      </p:stCondLst>
                      <p:childTnLst>
                        <p:par>
                          <p:cTn id="45" fill="hold">
                            <p:stCondLst>
                              <p:cond delay="indefinite"/>
                            </p:stCondLst>
                          </p:cTn>
                        </p:par>
                        <p:par>
                          <p:cTn id="46" fill="hold">
                            <p:stCondLst>
                              <p:cond delay="0"/>
                            </p:stCondLst>
                            <p:childTnLst>
                              <p:par>
                                <p:cTn id="47" presetID="3" presetClass="entr" presetSubtype="10" fill="hold" nodeType="clickEffect">
                                  <p:stCondLst>
                                    <p:cond delay="-9223372036854775808"/>
                                  </p:stCondLst>
                                  <p:childTnLst>
                                    <p:set>
                                      <p:cBhvr additive="base">
                                        <p:cTn id="48" dur="1" fill="hold">
                                          <p:stCondLst>
                                            <p:cond delay="0"/>
                                          </p:stCondLst>
                                        </p:cTn>
                                        <p:tgtEl>
                                          <p:spTgt spid="91143"/>
                                        </p:tgtEl>
                                        <p:attrNameLst>
                                          <p:attrName>style.visibility</p:attrName>
                                        </p:attrNameLst>
                                      </p:cBhvr>
                                      <p:to>
                                        <p:strVal val="visible"/>
                                      </p:to>
                                    </p:set>
                                    <p:animEffect transition="in" filter="blinds(horizontal)">
                                      <p:cBhvr additive="base">
                                        <p:cTn id="49" dur="500"/>
                                        <p:tgtEl>
                                          <p:spTgt spid="91143"/>
                                        </p:tgtEl>
                                      </p:cBhvr>
                                    </p:animEffect>
                                  </p:childTnLst>
                                </p:cTn>
                              </p:par>
                            </p:childTnLst>
                          </p:cTn>
                        </p:par>
                      </p:childTnLst>
                    </p:cTn>
                  </p:par>
                  <p:par>
                    <p:cTn id="50" fill="hold">
                      <p:stCondLst>
                        <p:cond delay="indefinite"/>
                      </p:stCondLst>
                      <p:childTnLst>
                        <p:par>
                          <p:cTn id="51" fill="hold">
                            <p:stCondLst>
                              <p:cond delay="indefinite"/>
                            </p:stCondLst>
                          </p:cTn>
                        </p:par>
                        <p:par>
                          <p:cTn id="52" fill="hold">
                            <p:stCondLst>
                              <p:cond delay="0"/>
                            </p:stCondLst>
                            <p:childTnLst>
                              <p:par>
                                <p:cTn id="53" presetID="3" presetClass="entr" presetSubtype="10" fill="hold" nodeType="clickEffect">
                                  <p:stCondLst>
                                    <p:cond delay="-9223372036854775808"/>
                                  </p:stCondLst>
                                  <p:childTnLst>
                                    <p:set>
                                      <p:cBhvr additive="base">
                                        <p:cTn id="54" dur="1" fill="hold">
                                          <p:stCondLst>
                                            <p:cond delay="0"/>
                                          </p:stCondLst>
                                        </p:cTn>
                                        <p:tgtEl>
                                          <p:spTgt spid="91141"/>
                                        </p:tgtEl>
                                        <p:attrNameLst>
                                          <p:attrName>style.visibility</p:attrName>
                                        </p:attrNameLst>
                                      </p:cBhvr>
                                      <p:to>
                                        <p:strVal val="visible"/>
                                      </p:to>
                                    </p:set>
                                    <p:animEffect transition="in" filter="blinds(horizontal)">
                                      <p:cBhvr additive="base">
                                        <p:cTn id="55" dur="500"/>
                                        <p:tgtEl>
                                          <p:spTgt spid="91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92162" name="Rectangle 2"/>
          <p:cNvSpPr/>
          <p:nvPr/>
        </p:nvSpPr>
        <p:spPr>
          <a:xfrm>
            <a:off x="179388" y="476021"/>
            <a:ext cx="4179300" cy="457657"/>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a:r>
              <a:rPr lang="zh-CN" altLang="en-US" sz="2400" b="1">
                <a:solidFill>
                  <a:schemeClr val="tx2"/>
                </a:solidFill>
                <a:effectLst/>
              </a:rPr>
              <a:t>例</a:t>
            </a:r>
            <a:r>
              <a:rPr lang="en-US" altLang="zh-CN" sz="2400" b="1">
                <a:solidFill>
                  <a:schemeClr val="tx2"/>
                </a:solidFill>
                <a:effectLst/>
              </a:rPr>
              <a:t>5  </a:t>
            </a:r>
            <a:r>
              <a:rPr kumimoji="1" lang="zh-CN" altLang="en-US" sz="2400" b="1">
                <a:effectLst/>
                <a:latin typeface="Times New Roman" pitchFamily="18" charset="0"/>
                <a:ea typeface="楷体_GB2312" pitchFamily="49" charset="-122"/>
              </a:rPr>
              <a:t>已知条件如表</a:t>
            </a:r>
            <a:r>
              <a:rPr kumimoji="1" lang="en-US" altLang="zh-CN" sz="2400" b="1">
                <a:effectLst/>
                <a:latin typeface="Times New Roman" pitchFamily="18" charset="0"/>
                <a:ea typeface="楷体_GB2312" pitchFamily="49" charset="-122"/>
              </a:rPr>
              <a:t>5</a:t>
            </a:r>
            <a:r>
              <a:rPr kumimoji="1" lang="zh-CN" altLang="en-US" sz="2400" b="1">
                <a:effectLst/>
                <a:latin typeface="Times New Roman" pitchFamily="18" charset="0"/>
                <a:ea typeface="楷体_GB2312" pitchFamily="49" charset="-122"/>
              </a:rPr>
              <a:t>所示</a:t>
            </a:r>
          </a:p>
        </p:txBody>
      </p:sp>
      <p:graphicFrame>
        <p:nvGraphicFramePr>
          <p:cNvPr id="92163" name="Group 28"/>
          <p:cNvGraphicFramePr>
            <a:graphicFrameLocks noGrp="1"/>
          </p:cNvGraphicFramePr>
          <p:nvPr/>
        </p:nvGraphicFramePr>
        <p:xfrm>
          <a:off x="360362" y="1462088"/>
          <a:ext cx="8388352" cy="2759076"/>
        </p:xfrm>
        <a:graphic>
          <a:graphicData uri="http://schemas.openxmlformats.org/drawingml/2006/table">
            <a:tbl>
              <a:tblPr>
                <a:effectLst/>
              </a:tblPr>
              <a:tblGrid>
                <a:gridCol w="2097088"/>
                <a:gridCol w="2097088"/>
                <a:gridCol w="2097088"/>
                <a:gridCol w="2097088"/>
              </a:tblGrid>
              <a:tr h="503238">
                <a:tc rowSpan="2">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endParaRPr lang="en-US" altLang="zh-CN" sz="2000" b="1">
                        <a:effectLst/>
                        <a:ea typeface="楷体_GB2312" pitchFamily="49" charset="-122"/>
                      </a:endParaRPr>
                    </a:p>
                    <a:p>
                      <a:pPr marL="0" lvl="0" indent="0" algn="ctr"/>
                      <a:r>
                        <a:rPr lang="zh-CN" altLang="en-US" sz="2000" b="1">
                          <a:effectLst/>
                          <a:ea typeface="楷体_GB2312" pitchFamily="49" charset="-122"/>
                        </a:rPr>
                        <a:t>工序</a:t>
                      </a:r>
                      <a:endParaRPr lang="zh-CN" altLang="en-US"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gridSpan="2">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ea typeface="楷体_GB2312" pitchFamily="49" charset="-122"/>
                        </a:rPr>
                        <a:t>型号</a:t>
                      </a:r>
                      <a:endParaRPr lang="zh-CN" altLang="en-US"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hMerge="1">
                  <a:txBody>
                    <a:bodyPr/>
                    <a:lstStyle/>
                    <a:p/>
                  </a:txBody>
                  <a:tcPr/>
                </a:tc>
                <a:tc rowSpan="2">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ea typeface="楷体_GB2312" pitchFamily="49" charset="-122"/>
                        </a:rPr>
                        <a:t>每周最大</a:t>
                      </a:r>
                    </a:p>
                    <a:p>
                      <a:pPr marL="0" lvl="0" indent="0" algn="ctr" eaLnBrk="1" hangingPunct="1"/>
                      <a:r>
                        <a:rPr lang="zh-CN" altLang="en-US" sz="2000" b="1">
                          <a:effectLst/>
                          <a:ea typeface="楷体_GB2312" pitchFamily="49" charset="-122"/>
                        </a:rPr>
                        <a:t>加工能力</a:t>
                      </a:r>
                      <a:endParaRPr lang="zh-CN" altLang="en-US"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493712">
                <a:tc vMerge="1">
                  <a:txBody>
                    <a:bodyPr/>
                    <a:lstStyle/>
                    <a:p/>
                  </a:txBody>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A</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B</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vMerge="1">
                  <a:txBody>
                    <a:bodyPr/>
                    <a:lstStyle/>
                    <a:p/>
                  </a:txBody>
                  <a:tcPr/>
                </a:tc>
              </a:tr>
              <a:tr h="941388">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Ⅰ</a:t>
                      </a:r>
                      <a:r>
                        <a:rPr lang="zh-CN" altLang="en-US" sz="2000" b="1">
                          <a:effectLst/>
                          <a:ea typeface="楷体_GB2312" pitchFamily="49" charset="-122"/>
                        </a:rPr>
                        <a:t>（小时</a:t>
                      </a:r>
                      <a:r>
                        <a:rPr lang="en-US" altLang="zh-CN" sz="2000" b="1">
                          <a:effectLst/>
                          <a:ea typeface="楷体_GB2312" pitchFamily="49" charset="-122"/>
                        </a:rPr>
                        <a:t>/</a:t>
                      </a:r>
                      <a:r>
                        <a:rPr lang="zh-CN" altLang="en-US" sz="2000" b="1">
                          <a:effectLst/>
                          <a:ea typeface="楷体_GB2312" pitchFamily="49" charset="-122"/>
                        </a:rPr>
                        <a:t>台）</a:t>
                      </a:r>
                      <a:endParaRPr lang="zh-CN" altLang="en-US" sz="2000">
                        <a:effectLst/>
                        <a:ea typeface="Times New Roman" pitchFamily="18" charset="0"/>
                      </a:endParaRPr>
                    </a:p>
                    <a:p>
                      <a:pPr marL="0" lvl="0" indent="0" algn="ctr"/>
                      <a:r>
                        <a:rPr lang="en-US" altLang="zh-CN" sz="2000" b="1">
                          <a:effectLst/>
                          <a:ea typeface="楷体_GB2312" pitchFamily="49" charset="-122"/>
                        </a:rPr>
                        <a:t>Ⅱ</a:t>
                      </a:r>
                      <a:r>
                        <a:rPr lang="zh-CN" altLang="en-US" sz="2000" b="1">
                          <a:effectLst/>
                          <a:ea typeface="楷体_GB2312" pitchFamily="49" charset="-122"/>
                        </a:rPr>
                        <a:t>（小时</a:t>
                      </a:r>
                      <a:r>
                        <a:rPr lang="en-US" altLang="zh-CN" sz="2000" b="1">
                          <a:effectLst/>
                          <a:ea typeface="楷体_GB2312" pitchFamily="49" charset="-122"/>
                        </a:rPr>
                        <a:t>/</a:t>
                      </a:r>
                      <a:r>
                        <a:rPr lang="zh-CN" altLang="en-US" sz="2000" b="1">
                          <a:effectLst/>
                          <a:ea typeface="楷体_GB2312" pitchFamily="49" charset="-122"/>
                        </a:rPr>
                        <a:t>台）</a:t>
                      </a:r>
                      <a:endParaRPr lang="zh-CN" altLang="en-US"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4</a:t>
                      </a:r>
                      <a:endParaRPr lang="en-US" altLang="zh-CN" sz="2000">
                        <a:effectLst/>
                        <a:ea typeface="Times New Roman" pitchFamily="18" charset="0"/>
                      </a:endParaRPr>
                    </a:p>
                    <a:p>
                      <a:pPr marL="0" lvl="0" indent="0" algn="ctr"/>
                      <a:r>
                        <a:rPr lang="en-US" altLang="zh-CN" sz="2000" b="1">
                          <a:effectLst/>
                          <a:ea typeface="楷体_GB2312" pitchFamily="49" charset="-122"/>
                        </a:rPr>
                        <a:t>3</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6</a:t>
                      </a:r>
                      <a:endParaRPr lang="en-US" altLang="zh-CN" sz="2000">
                        <a:effectLst/>
                        <a:ea typeface="Times New Roman" pitchFamily="18" charset="0"/>
                      </a:endParaRPr>
                    </a:p>
                    <a:p>
                      <a:pPr marL="0" lvl="0" indent="0" algn="ctr"/>
                      <a:r>
                        <a:rPr lang="en-US" altLang="zh-CN" sz="2000" b="1">
                          <a:effectLst/>
                          <a:ea typeface="楷体_GB2312" pitchFamily="49" charset="-122"/>
                        </a:rPr>
                        <a:t>2</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150</a:t>
                      </a:r>
                      <a:endParaRPr lang="en-US" altLang="zh-CN" sz="2000">
                        <a:effectLst/>
                        <a:ea typeface="Times New Roman" pitchFamily="18" charset="0"/>
                      </a:endParaRPr>
                    </a:p>
                    <a:p>
                      <a:pPr marL="0" lvl="0" indent="0" algn="ctr"/>
                      <a:r>
                        <a:rPr lang="en-US" altLang="zh-CN" sz="2000" b="1">
                          <a:effectLst/>
                          <a:ea typeface="楷体_GB2312" pitchFamily="49" charset="-122"/>
                        </a:rPr>
                        <a:t>70</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820738">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zh-CN" altLang="en-US" sz="2000" b="1">
                          <a:effectLst/>
                          <a:ea typeface="楷体_GB2312" pitchFamily="49" charset="-122"/>
                        </a:rPr>
                        <a:t>利润（元</a:t>
                      </a:r>
                      <a:r>
                        <a:rPr lang="en-US" altLang="zh-CN" sz="2000" b="1">
                          <a:effectLst/>
                          <a:ea typeface="楷体_GB2312" pitchFamily="49" charset="-122"/>
                        </a:rPr>
                        <a:t>/</a:t>
                      </a:r>
                      <a:r>
                        <a:rPr lang="zh-CN" altLang="en-US" sz="2000" b="1">
                          <a:effectLst/>
                          <a:ea typeface="楷体_GB2312" pitchFamily="49" charset="-122"/>
                        </a:rPr>
                        <a:t>台）</a:t>
                      </a:r>
                      <a:endParaRPr lang="zh-CN" altLang="en-US"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300</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algn="ctr" eaLnBrk="1" hangingPunct="1"/>
                      <a:r>
                        <a:rPr lang="en-US" altLang="zh-CN" sz="2000" b="1">
                          <a:effectLst/>
                          <a:ea typeface="楷体_GB2312" pitchFamily="49" charset="-122"/>
                        </a:rPr>
                        <a:t>450</a:t>
                      </a:r>
                      <a:endParaRPr lang="en-US"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effectLst/>
                          <a:latin typeface="Arial"/>
                          <a:ea typeface="宋体" panose="02010600030101010101" pitchFamily="2" charset="-122"/>
                        </a:defRPr>
                      </a:lvl5pPr>
                    </a:lstStyle>
                    <a:p>
                      <a:pPr marL="0" lvl="0" indent="0" eaLnBrk="1" hangingPunct="1">
                        <a:spcBef>
                          <a:spcPct val="20000"/>
                        </a:spcBef>
                      </a:pPr>
                      <a:endParaRPr lang="zh-CN" altLang="zh-CN" sz="2000">
                        <a:effectLst/>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sp>
        <p:nvSpPr>
          <p:cNvPr id="92187" name="Rectangle 27"/>
          <p:cNvSpPr/>
          <p:nvPr/>
        </p:nvSpPr>
        <p:spPr>
          <a:xfrm>
            <a:off x="250825" y="4219519"/>
            <a:ext cx="8495262" cy="2654412"/>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306388" eaLnBrk="1" hangingPunct="1"/>
            <a:r>
              <a:rPr kumimoji="1" lang="zh-CN" altLang="en-US" sz="2400" b="1">
                <a:effectLst/>
                <a:latin typeface="楷体_GB2312" pitchFamily="49" charset="-122"/>
                <a:ea typeface="楷体_GB2312" pitchFamily="49" charset="-122"/>
              </a:rPr>
              <a:t>如果工厂经营目标的期望值和优先等级如下：</a:t>
            </a:r>
            <a:endParaRPr kumimoji="1" lang="zh-CN" altLang="en-US" sz="1100">
              <a:effectLst/>
              <a:latin typeface="楷体_GB2312" pitchFamily="49" charset="-122"/>
              <a:ea typeface="楷体_GB2312" pitchFamily="49" charset="-122"/>
            </a:endParaRPr>
          </a:p>
          <a:p>
            <a:pPr marL="0" lvl="0" indent="306388"/>
            <a:r>
              <a:rPr kumimoji="1" lang="en-US" altLang="zh-CN" sz="2400" b="1">
                <a:effectLst/>
                <a:latin typeface="Times New Roman" pitchFamily="18" charset="0"/>
                <a:ea typeface="楷体_GB2312" pitchFamily="49" charset="-122"/>
              </a:rPr>
              <a:t>p</a:t>
            </a:r>
            <a:r>
              <a:rPr kumimoji="1" lang="en-US" altLang="zh-CN" sz="2400" b="1" baseline="-30000">
                <a:effectLst/>
                <a:latin typeface="楷体_GB2312" pitchFamily="49" charset="-122"/>
                <a:ea typeface="楷体_GB2312" pitchFamily="49" charset="-122"/>
              </a:rPr>
              <a:t>1</a:t>
            </a:r>
            <a:r>
              <a:rPr kumimoji="1" lang="en-US" altLang="zh-CN" sz="2400" b="1">
                <a:effectLst/>
                <a:latin typeface="楷体_GB2312" pitchFamily="49" charset="-122"/>
                <a:ea typeface="楷体_GB2312" pitchFamily="49" charset="-122"/>
              </a:rPr>
              <a:t>: </a:t>
            </a:r>
            <a:r>
              <a:rPr kumimoji="1" lang="zh-CN" altLang="en-US" sz="2400" b="1">
                <a:effectLst/>
                <a:latin typeface="楷体_GB2312" pitchFamily="49" charset="-122"/>
                <a:ea typeface="楷体_GB2312" pitchFamily="49" charset="-122"/>
              </a:rPr>
              <a:t>每周总利润不得低于</a:t>
            </a:r>
            <a:r>
              <a:rPr kumimoji="1" lang="en-US" altLang="zh-CN" sz="2400" b="1">
                <a:effectLst/>
                <a:latin typeface="楷体_GB2312" pitchFamily="49" charset="-122"/>
                <a:ea typeface="楷体_GB2312" pitchFamily="49" charset="-122"/>
              </a:rPr>
              <a:t>10000</a:t>
            </a:r>
            <a:r>
              <a:rPr kumimoji="1" lang="zh-CN" altLang="en-US" sz="2400" b="1">
                <a:effectLst/>
                <a:latin typeface="楷体_GB2312" pitchFamily="49" charset="-122"/>
                <a:ea typeface="楷体_GB2312" pitchFamily="49" charset="-122"/>
              </a:rPr>
              <a:t>元；</a:t>
            </a:r>
            <a:endParaRPr kumimoji="1" lang="zh-CN" altLang="en-US" sz="1100">
              <a:effectLst/>
              <a:latin typeface="楷体_GB2312" pitchFamily="49" charset="-122"/>
              <a:ea typeface="楷体_GB2312" pitchFamily="49" charset="-122"/>
            </a:endParaRPr>
          </a:p>
          <a:p>
            <a:pPr marL="0" lvl="0" indent="306388"/>
            <a:r>
              <a:rPr kumimoji="1" lang="en-US" altLang="zh-CN" sz="2400" b="1">
                <a:effectLst/>
                <a:latin typeface="Times New Roman" pitchFamily="18" charset="0"/>
                <a:ea typeface="楷体_GB2312" pitchFamily="49" charset="-122"/>
              </a:rPr>
              <a:t>p</a:t>
            </a:r>
            <a:r>
              <a:rPr kumimoji="1" lang="en-US" altLang="zh-CN" sz="2400" b="1" baseline="-30000">
                <a:effectLst/>
                <a:latin typeface="楷体_GB2312" pitchFamily="49" charset="-122"/>
                <a:ea typeface="楷体_GB2312" pitchFamily="49" charset="-122"/>
              </a:rPr>
              <a:t>2</a:t>
            </a:r>
            <a:r>
              <a:rPr kumimoji="1" lang="en-US" altLang="zh-CN" sz="2400" b="1">
                <a:effectLst/>
                <a:latin typeface="楷体_GB2312" pitchFamily="49" charset="-122"/>
                <a:ea typeface="楷体_GB2312" pitchFamily="49" charset="-122"/>
              </a:rPr>
              <a:t>: </a:t>
            </a:r>
            <a:r>
              <a:rPr kumimoji="1" lang="zh-CN" altLang="en-US" sz="2400" b="1">
                <a:effectLst/>
                <a:latin typeface="楷体_GB2312" pitchFamily="49" charset="-122"/>
                <a:ea typeface="楷体_GB2312" pitchFamily="49" charset="-122"/>
              </a:rPr>
              <a:t>因合同要求，</a:t>
            </a:r>
            <a:r>
              <a:rPr kumimoji="1" lang="en-US" altLang="zh-CN" sz="2400" b="1">
                <a:effectLst/>
                <a:latin typeface="楷体_GB2312" pitchFamily="49" charset="-122"/>
                <a:ea typeface="楷体_GB2312" pitchFamily="49" charset="-122"/>
              </a:rPr>
              <a:t>A</a:t>
            </a:r>
            <a:r>
              <a:rPr kumimoji="1" lang="zh-CN" altLang="en-US" sz="2400" b="1">
                <a:effectLst/>
                <a:latin typeface="楷体_GB2312" pitchFamily="49" charset="-122"/>
                <a:ea typeface="楷体_GB2312" pitchFamily="49" charset="-122"/>
              </a:rPr>
              <a:t>型机每周至少生产</a:t>
            </a:r>
            <a:r>
              <a:rPr kumimoji="1" lang="en-US" altLang="zh-CN" sz="2400" b="1">
                <a:effectLst/>
                <a:latin typeface="楷体_GB2312" pitchFamily="49" charset="-122"/>
                <a:ea typeface="楷体_GB2312" pitchFamily="49" charset="-122"/>
              </a:rPr>
              <a:t>10</a:t>
            </a:r>
            <a:r>
              <a:rPr kumimoji="1" lang="zh-CN" altLang="en-US" sz="2400" b="1">
                <a:effectLst/>
                <a:latin typeface="楷体_GB2312" pitchFamily="49" charset="-122"/>
                <a:ea typeface="楷体_GB2312" pitchFamily="49" charset="-122"/>
              </a:rPr>
              <a:t>台，</a:t>
            </a:r>
            <a:r>
              <a:rPr kumimoji="1" lang="en-US" altLang="zh-CN" sz="2400" b="1">
                <a:effectLst/>
                <a:latin typeface="楷体_GB2312" pitchFamily="49" charset="-122"/>
                <a:ea typeface="楷体_GB2312" pitchFamily="49" charset="-122"/>
              </a:rPr>
              <a:t>B</a:t>
            </a:r>
            <a:r>
              <a:rPr kumimoji="1" lang="zh-CN" altLang="en-US" sz="2400" b="1">
                <a:effectLst/>
                <a:latin typeface="楷体_GB2312" pitchFamily="49" charset="-122"/>
                <a:ea typeface="楷体_GB2312" pitchFamily="49" charset="-122"/>
              </a:rPr>
              <a:t>型机每周至少   生产</a:t>
            </a:r>
            <a:r>
              <a:rPr kumimoji="1" lang="en-US" altLang="zh-CN" sz="2400" b="1">
                <a:effectLst/>
                <a:latin typeface="楷体_GB2312" pitchFamily="49" charset="-122"/>
                <a:ea typeface="楷体_GB2312" pitchFamily="49" charset="-122"/>
              </a:rPr>
              <a:t>15</a:t>
            </a:r>
            <a:r>
              <a:rPr kumimoji="1" lang="zh-CN" altLang="en-US" sz="2400" b="1">
                <a:effectLst/>
                <a:latin typeface="楷体_GB2312" pitchFamily="49" charset="-122"/>
                <a:ea typeface="楷体_GB2312" pitchFamily="49" charset="-122"/>
              </a:rPr>
              <a:t>台；</a:t>
            </a:r>
            <a:endParaRPr kumimoji="1" lang="zh-CN" altLang="en-US" sz="1100">
              <a:effectLst/>
              <a:latin typeface="楷体_GB2312" pitchFamily="49" charset="-122"/>
              <a:ea typeface="楷体_GB2312" pitchFamily="49" charset="-122"/>
            </a:endParaRPr>
          </a:p>
          <a:p>
            <a:pPr marL="0" lvl="0" indent="306388"/>
            <a:r>
              <a:rPr kumimoji="1" lang="en-US" altLang="zh-CN" sz="2400" b="1">
                <a:effectLst/>
                <a:latin typeface="Times New Roman" pitchFamily="18" charset="0"/>
                <a:ea typeface="楷体_GB2312" pitchFamily="49" charset="-122"/>
              </a:rPr>
              <a:t>p</a:t>
            </a:r>
            <a:r>
              <a:rPr kumimoji="1" lang="en-US" altLang="zh-CN" sz="2400" b="1" baseline="-30000">
                <a:effectLst/>
                <a:latin typeface="楷体_GB2312" pitchFamily="49" charset="-122"/>
                <a:ea typeface="楷体_GB2312" pitchFamily="49" charset="-122"/>
              </a:rPr>
              <a:t>3</a:t>
            </a:r>
            <a:r>
              <a:rPr kumimoji="1" lang="en-US" altLang="zh-CN" sz="2400" b="1">
                <a:effectLst/>
                <a:latin typeface="楷体_GB2312" pitchFamily="49" charset="-122"/>
                <a:ea typeface="楷体_GB2312" pitchFamily="49" charset="-122"/>
              </a:rPr>
              <a:t>: </a:t>
            </a:r>
            <a:r>
              <a:rPr kumimoji="1" lang="zh-CN" altLang="en-US" sz="2400" b="1">
                <a:effectLst/>
                <a:latin typeface="楷体_GB2312" pitchFamily="49" charset="-122"/>
                <a:ea typeface="楷体_GB2312" pitchFamily="49" charset="-122"/>
              </a:rPr>
              <a:t>希望工序</a:t>
            </a:r>
            <a:r>
              <a:rPr kumimoji="1" lang="en-US" altLang="zh-CN" sz="2400" b="1">
                <a:effectLst/>
                <a:latin typeface="楷体_GB2312" pitchFamily="49" charset="-122"/>
                <a:ea typeface="楷体_GB2312" pitchFamily="49" charset="-122"/>
              </a:rPr>
              <a:t>Ⅰ</a:t>
            </a:r>
            <a:r>
              <a:rPr kumimoji="1" lang="zh-CN" altLang="en-US" sz="2400" b="1">
                <a:effectLst/>
                <a:latin typeface="楷体_GB2312" pitchFamily="49" charset="-122"/>
                <a:ea typeface="楷体_GB2312" pitchFamily="49" charset="-122"/>
              </a:rPr>
              <a:t>的每周生产时间正好为</a:t>
            </a:r>
            <a:r>
              <a:rPr kumimoji="1" lang="en-US" altLang="zh-CN" sz="2400" b="1">
                <a:effectLst/>
                <a:latin typeface="楷体_GB2312" pitchFamily="49" charset="-122"/>
                <a:ea typeface="楷体_GB2312" pitchFamily="49" charset="-122"/>
              </a:rPr>
              <a:t>150</a:t>
            </a:r>
            <a:r>
              <a:rPr kumimoji="1" lang="zh-CN" altLang="en-US" sz="2400" b="1">
                <a:effectLst/>
                <a:latin typeface="楷体_GB2312" pitchFamily="49" charset="-122"/>
                <a:ea typeface="楷体_GB2312" pitchFamily="49" charset="-122"/>
              </a:rPr>
              <a:t>小时，工序</a:t>
            </a:r>
            <a:r>
              <a:rPr kumimoji="1" lang="en-US" altLang="zh-CN" sz="2400" b="1">
                <a:effectLst/>
                <a:latin typeface="楷体_GB2312" pitchFamily="49" charset="-122"/>
                <a:ea typeface="楷体_GB2312" pitchFamily="49" charset="-122"/>
              </a:rPr>
              <a:t>Ⅱ</a:t>
            </a:r>
            <a:r>
              <a:rPr kumimoji="1" lang="zh-CN" altLang="en-US" sz="2400" b="1">
                <a:effectLst/>
                <a:latin typeface="楷体_GB2312" pitchFamily="49" charset="-122"/>
                <a:ea typeface="楷体_GB2312" pitchFamily="49" charset="-122"/>
              </a:rPr>
              <a:t>的生产时间最好用足，甚至可适当加班。</a:t>
            </a:r>
          </a:p>
          <a:p>
            <a:pPr marL="0" lvl="0" indent="306388"/>
            <a:r>
              <a:rPr kumimoji="1" lang="zh-CN" altLang="en-US" sz="2400" b="1">
                <a:effectLst/>
                <a:latin typeface="楷体_GB2312" pitchFamily="49" charset="-122"/>
                <a:ea typeface="楷体_GB2312" pitchFamily="49" charset="-122"/>
              </a:rPr>
              <a:t>试建立这个问题的目标规划模型。</a:t>
            </a:r>
            <a:r>
              <a:rPr kumimoji="1" lang="zh-CN" altLang="en-US" sz="1100">
                <a:effectLst/>
                <a:latin typeface="楷体_GB2312" pitchFamily="49" charset="-122"/>
                <a:ea typeface="楷体_GB2312" pitchFamily="49" charset="-122"/>
              </a:rPr>
              <a:t> </a:t>
            </a:r>
            <a:endParaRPr kumimoji="1" lang="zh-CN" altLang="en-US" sz="2400">
              <a:effectLst/>
              <a:latin typeface="楷体_GB2312" pitchFamily="49" charset="-122"/>
              <a:ea typeface="楷体_GB2312" pitchFamily="49" charset="-122"/>
            </a:endParaRPr>
          </a:p>
        </p:txBody>
      </p:sp>
      <p:sp>
        <p:nvSpPr>
          <p:cNvPr id="92188" name="Rectangle 51"/>
          <p:cNvSpPr/>
          <p:nvPr/>
        </p:nvSpPr>
        <p:spPr>
          <a:xfrm>
            <a:off x="4284662" y="908050"/>
            <a:ext cx="640720" cy="457657"/>
          </a:xfrm>
          <a:prstGeom prst="rect">
            <a:avLst/>
          </a:prstGeom>
          <a:noFill/>
          <a:ln>
            <a:noFill/>
            <a:miter lim="800000"/>
          </a:ln>
          <a:effectLst/>
        </p:spPr>
        <p:txBody>
          <a:bodyPr wrap="none">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sz="2400" b="1">
                <a:solidFill>
                  <a:schemeClr val="tx2"/>
                </a:solidFill>
                <a:effectLst/>
                <a:latin typeface="Times New Roman" pitchFamily="18" charset="0"/>
              </a:rPr>
              <a:t>表</a:t>
            </a:r>
            <a:r>
              <a:rPr lang="en-US" altLang="zh-CN" sz="2400" b="1">
                <a:solidFill>
                  <a:schemeClr val="tx2"/>
                </a:solidFill>
                <a:effectLst/>
                <a:latin typeface="Times New Roman" pitchFamily="18" charset="0"/>
              </a:rPr>
              <a:t>5</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9223372036854775808"/>
                                  </p:stCondLst>
                                  <p:childTnLst>
                                    <p:set>
                                      <p:cBhvr additive="base">
                                        <p:cTn id="6" dur="1" fill="hold">
                                          <p:stCondLst>
                                            <p:cond delay="0"/>
                                          </p:stCondLst>
                                        </p:cTn>
                                        <p:tgtEl>
                                          <p:spTgt spid="92162"/>
                                        </p:tgtEl>
                                        <p:attrNameLst>
                                          <p:attrName>style.visibility</p:attrName>
                                        </p:attrNameLst>
                                      </p:cBhvr>
                                      <p:to>
                                        <p:strVal val="visible"/>
                                      </p:to>
                                    </p:set>
                                    <p:animEffect transition="in" filter="blinds(horizontal)">
                                      <p:cBhvr additive="base">
                                        <p:cTn id="7" dur="500"/>
                                        <p:tgtEl>
                                          <p:spTgt spid="92162"/>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92163"/>
                                        </p:tgtEl>
                                        <p:attrNameLst>
                                          <p:attrName>style.visibility</p:attrName>
                                        </p:attrNameLst>
                                      </p:cBhvr>
                                      <p:to>
                                        <p:strVal val="visible"/>
                                      </p:to>
                                    </p:set>
                                    <p:animEffect transition="in" filter="blinds(horizontal)">
                                      <p:cBhvr additive="base">
                                        <p:cTn id="13" dur="500"/>
                                        <p:tgtEl>
                                          <p:spTgt spid="92163"/>
                                        </p:tgtEl>
                                      </p:cBhvr>
                                    </p:animEffect>
                                  </p:childTnLst>
                                </p:cTn>
                              </p:par>
                            </p:childTnLst>
                          </p:cTn>
                        </p:par>
                        <p:par>
                          <p:cTn id="14" fill="hold">
                            <p:stCondLst>
                              <p:cond delay="500"/>
                            </p:stCondLst>
                            <p:childTnLst>
                              <p:par>
                                <p:cTn id="15" presetID="22" presetClass="entr" presetSubtype="8" fill="hold" grpId="1" nodeType="afterEffect">
                                  <p:stCondLst>
                                    <p:cond delay="-9223372036854775808"/>
                                  </p:stCondLst>
                                  <p:childTnLst>
                                    <p:set>
                                      <p:cBhvr additive="base">
                                        <p:cTn id="16" dur="1" fill="hold">
                                          <p:stCondLst>
                                            <p:cond delay="0"/>
                                          </p:stCondLst>
                                        </p:cTn>
                                        <p:tgtEl>
                                          <p:spTgt spid="92188"/>
                                        </p:tgtEl>
                                        <p:attrNameLst>
                                          <p:attrName>style.visibility</p:attrName>
                                        </p:attrNameLst>
                                      </p:cBhvr>
                                      <p:to>
                                        <p:strVal val="visible"/>
                                      </p:to>
                                    </p:set>
                                    <p:animEffect transition="in" filter="wipe(left)">
                                      <p:cBhvr additive="base">
                                        <p:cTn id="17" dur="500"/>
                                        <p:tgtEl>
                                          <p:spTgt spid="92188"/>
                                        </p:tgtEl>
                                      </p:cBhvr>
                                    </p:animEffect>
                                  </p:childTnLst>
                                </p:cTn>
                              </p:par>
                            </p:childTnLst>
                          </p:cTn>
                        </p:par>
                      </p:childTnLst>
                    </p:cTn>
                  </p:par>
                  <p:par>
                    <p:cTn id="18" fill="hold">
                      <p:stCondLst>
                        <p:cond delay="indefinite"/>
                      </p:stCondLst>
                      <p:childTnLst>
                        <p:par>
                          <p:cTn id="19" fill="hold">
                            <p:stCondLst>
                              <p:cond delay="indefinite"/>
                            </p:stCondLst>
                          </p:cTn>
                        </p:par>
                        <p:par>
                          <p:cTn id="20" fill="hold">
                            <p:stCondLst>
                              <p:cond delay="0"/>
                            </p:stCondLst>
                            <p:childTnLst>
                              <p:par>
                                <p:cTn id="21" presetID="3" presetClass="entr" presetSubtype="10" fill="hold" nodeType="clickEffect">
                                  <p:stCondLst>
                                    <p:cond delay="-9223372036854775808"/>
                                  </p:stCondLst>
                                  <p:childTnLst>
                                    <p:set>
                                      <p:cBhvr additive="base">
                                        <p:cTn id="22" dur="1" fill="hold">
                                          <p:stCondLst>
                                            <p:cond delay="0"/>
                                          </p:stCondLst>
                                        </p:cTn>
                                        <p:tgtEl>
                                          <p:spTgt spid="92187">
                                            <p:txEl>
                                              <p:charRg st="0" end="21"/>
                                            </p:txEl>
                                          </p:spTgt>
                                        </p:tgtEl>
                                        <p:attrNameLst>
                                          <p:attrName>style.visibility</p:attrName>
                                        </p:attrNameLst>
                                      </p:cBhvr>
                                      <p:to>
                                        <p:strVal val="visible"/>
                                      </p:to>
                                    </p:set>
                                    <p:animEffect transition="in" filter="blinds(horizontal)">
                                      <p:cBhvr additive="base">
                                        <p:cTn id="23" dur="500"/>
                                        <p:tgtEl>
                                          <p:spTgt spid="92187">
                                            <p:txEl>
                                              <p:charRg st="0" end="21"/>
                                            </p:txEl>
                                          </p:spTgt>
                                        </p:tgtEl>
                                      </p:cBhvr>
                                    </p:animEffect>
                                  </p:childTnLst>
                                </p:cTn>
                              </p:par>
                            </p:childTnLst>
                          </p:cTn>
                        </p:par>
                      </p:childTnLst>
                    </p:cTn>
                  </p:par>
                  <p:par>
                    <p:cTn id="24" fill="hold">
                      <p:stCondLst>
                        <p:cond delay="indefinite"/>
                      </p:stCondLst>
                      <p:childTnLst>
                        <p:par>
                          <p:cTn id="25" fill="hold">
                            <p:stCondLst>
                              <p:cond delay="indefinite"/>
                            </p:stCondLst>
                          </p:cTn>
                        </p:par>
                        <p:par>
                          <p:cTn id="26" fill="hold">
                            <p:stCondLst>
                              <p:cond delay="0"/>
                            </p:stCondLst>
                            <p:childTnLst>
                              <p:par>
                                <p:cTn id="27" presetID="3" presetClass="entr" presetSubtype="10" fill="hold" nodeType="clickEffect">
                                  <p:stCondLst>
                                    <p:cond delay="-9223372036854775808"/>
                                  </p:stCondLst>
                                  <p:childTnLst>
                                    <p:set>
                                      <p:cBhvr additive="base">
                                        <p:cTn id="28" dur="1" fill="hold">
                                          <p:stCondLst>
                                            <p:cond delay="0"/>
                                          </p:stCondLst>
                                        </p:cTn>
                                        <p:tgtEl>
                                          <p:spTgt spid="92187">
                                            <p:txEl>
                                              <p:charRg st="21" end="42"/>
                                            </p:txEl>
                                          </p:spTgt>
                                        </p:tgtEl>
                                        <p:attrNameLst>
                                          <p:attrName>style.visibility</p:attrName>
                                        </p:attrNameLst>
                                      </p:cBhvr>
                                      <p:to>
                                        <p:strVal val="visible"/>
                                      </p:to>
                                    </p:set>
                                    <p:animEffect transition="in" filter="blinds(horizontal)">
                                      <p:cBhvr additive="base">
                                        <p:cTn id="29" dur="500"/>
                                        <p:tgtEl>
                                          <p:spTgt spid="92187">
                                            <p:txEl>
                                              <p:charRg st="21" end="42"/>
                                            </p:txEl>
                                          </p:spTgt>
                                        </p:tgtEl>
                                      </p:cBhvr>
                                    </p:animEffect>
                                  </p:childTnLst>
                                </p:cTn>
                              </p:par>
                            </p:childTnLst>
                          </p:cTn>
                        </p:par>
                      </p:childTnLst>
                    </p:cTn>
                  </p:par>
                  <p:par>
                    <p:cTn id="30" fill="hold">
                      <p:stCondLst>
                        <p:cond delay="indefinite"/>
                      </p:stCondLst>
                      <p:childTnLst>
                        <p:par>
                          <p:cTn id="31" fill="hold">
                            <p:stCondLst>
                              <p:cond delay="indefinite"/>
                            </p:stCondLst>
                          </p:cTn>
                        </p:par>
                        <p:par>
                          <p:cTn id="32" fill="hold">
                            <p:stCondLst>
                              <p:cond delay="0"/>
                            </p:stCondLst>
                            <p:childTnLst>
                              <p:par>
                                <p:cTn id="33" presetID="3" presetClass="entr" presetSubtype="10" fill="hold" nodeType="clickEffect">
                                  <p:stCondLst>
                                    <p:cond delay="-9223372036854775808"/>
                                  </p:stCondLst>
                                  <p:childTnLst>
                                    <p:set>
                                      <p:cBhvr additive="base">
                                        <p:cTn id="34" dur="1" fill="hold">
                                          <p:stCondLst>
                                            <p:cond delay="0"/>
                                          </p:stCondLst>
                                        </p:cTn>
                                        <p:tgtEl>
                                          <p:spTgt spid="92187">
                                            <p:txEl>
                                              <p:charRg st="42" end="82"/>
                                            </p:txEl>
                                          </p:spTgt>
                                        </p:tgtEl>
                                        <p:attrNameLst>
                                          <p:attrName>style.visibility</p:attrName>
                                        </p:attrNameLst>
                                      </p:cBhvr>
                                      <p:to>
                                        <p:strVal val="visible"/>
                                      </p:to>
                                    </p:set>
                                    <p:animEffect transition="in" filter="blinds(horizontal)">
                                      <p:cBhvr additive="base">
                                        <p:cTn id="35" dur="500"/>
                                        <p:tgtEl>
                                          <p:spTgt spid="92187">
                                            <p:txEl>
                                              <p:charRg st="42" end="82"/>
                                            </p:txEl>
                                          </p:spTgt>
                                        </p:tgtEl>
                                      </p:cBhvr>
                                    </p:animEffect>
                                  </p:childTnLst>
                                </p:cTn>
                              </p:par>
                            </p:childTnLst>
                          </p:cTn>
                        </p:par>
                      </p:childTnLst>
                    </p:cTn>
                  </p:par>
                  <p:par>
                    <p:cTn id="36" fill="hold">
                      <p:stCondLst>
                        <p:cond delay="indefinite"/>
                      </p:stCondLst>
                      <p:childTnLst>
                        <p:par>
                          <p:cTn id="37" fill="hold">
                            <p:stCondLst>
                              <p:cond delay="indefinite"/>
                            </p:stCondLst>
                          </p:cTn>
                        </p:par>
                        <p:par>
                          <p:cTn id="38" fill="hold">
                            <p:stCondLst>
                              <p:cond delay="0"/>
                            </p:stCondLst>
                            <p:childTnLst>
                              <p:par>
                                <p:cTn id="39" presetID="3" presetClass="entr" presetSubtype="10" fill="hold" nodeType="clickEffect">
                                  <p:stCondLst>
                                    <p:cond delay="-9223372036854775808"/>
                                  </p:stCondLst>
                                  <p:childTnLst>
                                    <p:set>
                                      <p:cBhvr additive="base">
                                        <p:cTn id="40" dur="1" fill="hold">
                                          <p:stCondLst>
                                            <p:cond delay="0"/>
                                          </p:stCondLst>
                                        </p:cTn>
                                        <p:tgtEl>
                                          <p:spTgt spid="92187">
                                            <p:txEl>
                                              <p:charRg st="82" end="129"/>
                                            </p:txEl>
                                          </p:spTgt>
                                        </p:tgtEl>
                                        <p:attrNameLst>
                                          <p:attrName>style.visibility</p:attrName>
                                        </p:attrNameLst>
                                      </p:cBhvr>
                                      <p:to>
                                        <p:strVal val="visible"/>
                                      </p:to>
                                    </p:set>
                                    <p:animEffect transition="in" filter="blinds(horizontal)">
                                      <p:cBhvr additive="base">
                                        <p:cTn id="41" dur="500"/>
                                        <p:tgtEl>
                                          <p:spTgt spid="92187">
                                            <p:txEl>
                                              <p:charRg st="82" end="129"/>
                                            </p:txEl>
                                          </p:spTgt>
                                        </p:tgtEl>
                                      </p:cBhvr>
                                    </p:animEffect>
                                  </p:childTnLst>
                                </p:cTn>
                              </p:par>
                            </p:childTnLst>
                          </p:cTn>
                        </p:par>
                      </p:childTnLst>
                    </p:cTn>
                  </p:par>
                  <p:par>
                    <p:cTn id="42" fill="hold">
                      <p:stCondLst>
                        <p:cond delay="indefinite"/>
                      </p:stCondLst>
                      <p:childTnLst>
                        <p:par>
                          <p:cTn id="43" fill="hold">
                            <p:stCondLst>
                              <p:cond delay="indefinite"/>
                            </p:stCondLst>
                          </p:cTn>
                        </p:par>
                        <p:par>
                          <p:cTn id="44" fill="hold">
                            <p:stCondLst>
                              <p:cond delay="0"/>
                            </p:stCondLst>
                            <p:childTnLst>
                              <p:par>
                                <p:cTn id="45" presetID="3" presetClass="entr" presetSubtype="10" fill="hold" nodeType="clickEffect">
                                  <p:stCondLst>
                                    <p:cond delay="-9223372036854775808"/>
                                  </p:stCondLst>
                                  <p:childTnLst>
                                    <p:set>
                                      <p:cBhvr additive="base">
                                        <p:cTn id="46" dur="1" fill="hold">
                                          <p:stCondLst>
                                            <p:cond delay="0"/>
                                          </p:stCondLst>
                                        </p:cTn>
                                        <p:tgtEl>
                                          <p:spTgt spid="92187">
                                            <p:txEl>
                                              <p:charRg st="129" end="146"/>
                                            </p:txEl>
                                          </p:spTgt>
                                        </p:tgtEl>
                                        <p:attrNameLst>
                                          <p:attrName>style.visibility</p:attrName>
                                        </p:attrNameLst>
                                      </p:cBhvr>
                                      <p:to>
                                        <p:strVal val="visible"/>
                                      </p:to>
                                    </p:set>
                                    <p:animEffect transition="in" filter="blinds(horizontal)">
                                      <p:cBhvr additive="base">
                                        <p:cTn id="47" dur="500"/>
                                        <p:tgtEl>
                                          <p:spTgt spid="92187">
                                            <p:txEl>
                                              <p:charRg st="129" end="1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88" grpId="1"/>
    </p:bldLst>
  </p:timing>
</p:sld>
</file>

<file path=ppt/slides/slide9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graphicFrame>
        <p:nvGraphicFramePr>
          <p:cNvPr id="93186" name="Object 2"/>
          <p:cNvGraphicFramePr>
            <a:graphicFrameLocks noChangeAspect="1"/>
          </p:cNvGraphicFramePr>
          <p:nvPr/>
        </p:nvGraphicFramePr>
        <p:xfrm>
          <a:off x="971550" y="1196975"/>
          <a:ext cx="6051550" cy="4149725"/>
        </p:xfrm>
        <a:graphic>
          <a:graphicData uri="http://schemas.openxmlformats.org/presentationml/2006/ole">
            <mc:AlternateContent xmlns:mc="http://schemas.openxmlformats.org/markup-compatibility/2006">
              <mc:Choice xmlns:v="urn:schemas-microsoft-com:vml" Requires="v">
                <p:oleObj spid="_x0000_s1137" name="Equation" r:id="rId2" progId="Equation.DSMT4">
                  <p:embed/>
                </p:oleObj>
              </mc:Choice>
              <mc:Fallback>
                <p:oleObj spid="_x0000_s1137" name="Equation" r:id="rId2" progId="Equation.DSMT4">
                  <p:embed/>
                  <p:pic>
                    <p:nvPicPr>
                      <p:cNvPr id="0" name="OLE substitute image"/>
                      <p:cNvPicPr/>
                      <p:nvPr/>
                    </p:nvPicPr>
                    <p:blipFill>
                      <a:blip r:embed="rId3"/>
                      <a:stretch/>
                    </p:blipFill>
                    <p:spPr>
                      <a:xfrm>
                        <a:off x="971550" y="1196975"/>
                        <a:ext cx="6051550" cy="4149725"/>
                      </a:xfrm>
                      <a:prstGeom prst="rect">
                        <a:avLst/>
                      </a:prstGeom>
                      <a:noFill/>
                      <a:effectLst/>
                    </p:spPr>
                  </p:pic>
                </p:oleObj>
              </mc:Fallback>
            </mc:AlternateContent>
          </a:graphicData>
        </a:graphic>
      </p:graphicFrame>
      <p:graphicFrame>
        <p:nvGraphicFramePr>
          <p:cNvPr id="93187" name="Object 3"/>
          <p:cNvGraphicFramePr>
            <a:graphicFrameLocks noChangeAspect="1"/>
          </p:cNvGraphicFramePr>
          <p:nvPr/>
        </p:nvGraphicFramePr>
        <p:xfrm>
          <a:off x="1619250" y="1052512"/>
          <a:ext cx="6791325" cy="539750"/>
        </p:xfrm>
        <a:graphic>
          <a:graphicData uri="http://schemas.openxmlformats.org/presentationml/2006/ole">
            <mc:AlternateContent xmlns:mc="http://schemas.openxmlformats.org/markup-compatibility/2006">
              <mc:Choice xmlns:v="urn:schemas-microsoft-com:vml" Requires="v">
                <p:oleObj spid="_x0000_s1138" name="Equation" r:id="rId4" progId="Equation.DSMT4">
                  <p:embed/>
                </p:oleObj>
              </mc:Choice>
              <mc:Fallback>
                <p:oleObj spid="_x0000_s1138" name="Equation" r:id="rId4" progId="Equation.DSMT4">
                  <p:embed/>
                  <p:pic>
                    <p:nvPicPr>
                      <p:cNvPr id="0" name="OLE substitute image"/>
                      <p:cNvPicPr/>
                      <p:nvPr/>
                    </p:nvPicPr>
                    <p:blipFill>
                      <a:blip r:embed="rId5"/>
                      <a:stretch/>
                    </p:blipFill>
                    <p:spPr>
                      <a:xfrm>
                        <a:off x="1619250" y="1052512"/>
                        <a:ext cx="6791325" cy="539750"/>
                      </a:xfrm>
                      <a:prstGeom prst="rect">
                        <a:avLst/>
                      </a:prstGeom>
                      <a:noFill/>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9223372036854775808"/>
                                  </p:stCondLst>
                                  <p:childTnLst>
                                    <p:set>
                                      <p:cBhvr additive="base">
                                        <p:cTn id="6" dur="1" fill="hold">
                                          <p:stCondLst>
                                            <p:cond delay="0"/>
                                          </p:stCondLst>
                                        </p:cTn>
                                        <p:tgtEl>
                                          <p:spTgt spid="93186"/>
                                        </p:tgtEl>
                                        <p:attrNameLst>
                                          <p:attrName>style.visibility</p:attrName>
                                        </p:attrNameLst>
                                      </p:cBhvr>
                                      <p:to>
                                        <p:strVal val="visible"/>
                                      </p:to>
                                    </p:set>
                                    <p:animEffect transition="in" filter="blinds(horizontal)">
                                      <p:cBhvr additive="base">
                                        <p:cTn id="7" dur="500"/>
                                        <p:tgtEl>
                                          <p:spTgt spid="93186"/>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 presetClass="entr" presetSubtype="10" fill="hold" nodeType="clickEffect">
                                  <p:stCondLst>
                                    <p:cond delay="-9223372036854775808"/>
                                  </p:stCondLst>
                                  <p:childTnLst>
                                    <p:set>
                                      <p:cBhvr additive="base">
                                        <p:cTn id="12" dur="1" fill="hold">
                                          <p:stCondLst>
                                            <p:cond delay="0"/>
                                          </p:stCondLst>
                                        </p:cTn>
                                        <p:tgtEl>
                                          <p:spTgt spid="93187"/>
                                        </p:tgtEl>
                                        <p:attrNameLst>
                                          <p:attrName>style.visibility</p:attrName>
                                        </p:attrNameLst>
                                      </p:cBhvr>
                                      <p:to>
                                        <p:strVal val="visible"/>
                                      </p:to>
                                    </p:set>
                                    <p:animEffect transition="in" filter="blinds(horizontal)">
                                      <p:cBhvr additive="base">
                                        <p:cTn id="13" dur="500"/>
                                        <p:tgtEl>
                                          <p:spTgt spid="93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94210" name="Rectangle 2"/>
          <p:cNvSpPr/>
          <p:nvPr/>
        </p:nvSpPr>
        <p:spPr>
          <a:xfrm>
            <a:off x="323850" y="1366684"/>
            <a:ext cx="8360190" cy="2532370"/>
          </a:xfrm>
          <a:prstGeom prst="rect">
            <a:avLst/>
          </a:prstGeom>
          <a:noFill/>
          <a:ln>
            <a:noFill/>
            <a:miter lim="800000"/>
          </a:ln>
          <a:effectLst/>
        </p:spPr>
        <p:txBody>
          <a:bodyPr anchor="ctr" anchorCtr="0">
            <a:spAutoFit/>
          </a:bodyPr>
          <a:lstStyle>
            <a:defPPr algn="l"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1800" b="0" i="0" u="none" kern="1200" baseline="0">
                <a:solidFill>
                  <a:schemeClr val="tx1"/>
                </a:solidFill>
                <a:effectLst/>
                <a:latin typeface="Arial"/>
                <a:ea typeface="宋体" panose="02010600030101010101" pitchFamily="2" charset="-122"/>
                <a:cs typeface="Arial"/>
              </a:defRPr>
            </a:lvl5pPr>
            <a:lvl6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14400"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zh-CN" altLang="en-US" sz="3200" b="1">
                <a:solidFill>
                  <a:schemeClr val="tx2"/>
                </a:solidFill>
                <a:effectLst/>
              </a:rPr>
              <a:t>例</a:t>
            </a:r>
            <a:r>
              <a:rPr lang="en-US" altLang="zh-CN" sz="3200" b="1">
                <a:solidFill>
                  <a:schemeClr val="tx2"/>
                </a:solidFill>
                <a:effectLst/>
              </a:rPr>
              <a:t>6  </a:t>
            </a:r>
            <a:r>
              <a:rPr kumimoji="1" lang="zh-CN" altLang="en-US" sz="3200" b="1">
                <a:effectLst/>
                <a:latin typeface="Times New Roman" pitchFamily="18" charset="0"/>
                <a:ea typeface="楷体_GB2312" pitchFamily="49" charset="-122"/>
              </a:rPr>
              <a:t>在上题中，如果工序</a:t>
            </a:r>
            <a:r>
              <a:rPr kumimoji="1" lang="en-US" altLang="zh-CN" sz="3200" b="1">
                <a:effectLst/>
                <a:latin typeface="Times New Roman" pitchFamily="18" charset="0"/>
                <a:ea typeface="楷体_GB2312" pitchFamily="49" charset="-122"/>
              </a:rPr>
              <a:t>Ⅱ</a:t>
            </a:r>
            <a:r>
              <a:rPr kumimoji="1" lang="zh-CN" altLang="en-US" sz="3200" b="1">
                <a:effectLst/>
                <a:latin typeface="Times New Roman" pitchFamily="18" charset="0"/>
                <a:ea typeface="楷体_GB2312" pitchFamily="49" charset="-122"/>
              </a:rPr>
              <a:t>在加班时间内生产出来的产品，每台</a:t>
            </a:r>
            <a:r>
              <a:rPr kumimoji="1" lang="en-US" altLang="zh-CN" sz="3200" b="1">
                <a:effectLst/>
                <a:latin typeface="Times New Roman" pitchFamily="18" charset="0"/>
                <a:ea typeface="楷体_GB2312" pitchFamily="49" charset="-122"/>
              </a:rPr>
              <a:t>A</a:t>
            </a:r>
            <a:r>
              <a:rPr kumimoji="1" lang="zh-CN" altLang="en-US" sz="3200" b="1">
                <a:effectLst/>
                <a:latin typeface="Times New Roman" pitchFamily="18" charset="0"/>
                <a:ea typeface="楷体_GB2312" pitchFamily="49" charset="-122"/>
              </a:rPr>
              <a:t>型机减少利润</a:t>
            </a:r>
            <a:r>
              <a:rPr kumimoji="1" lang="en-US" altLang="zh-CN" sz="3200" b="1">
                <a:effectLst/>
                <a:latin typeface="Times New Roman" pitchFamily="18" charset="0"/>
                <a:ea typeface="楷体_GB2312" pitchFamily="49" charset="-122"/>
              </a:rPr>
              <a:t>20</a:t>
            </a:r>
            <a:r>
              <a:rPr kumimoji="1" lang="zh-CN" altLang="en-US" sz="3200" b="1">
                <a:effectLst/>
                <a:latin typeface="Times New Roman" pitchFamily="18" charset="0"/>
                <a:ea typeface="楷体_GB2312" pitchFamily="49" charset="-122"/>
              </a:rPr>
              <a:t>元，每台</a:t>
            </a:r>
            <a:r>
              <a:rPr kumimoji="1" lang="en-US" altLang="zh-CN" sz="3200" b="1">
                <a:effectLst/>
                <a:latin typeface="Times New Roman" pitchFamily="18" charset="0"/>
                <a:ea typeface="楷体_GB2312" pitchFamily="49" charset="-122"/>
              </a:rPr>
              <a:t>B</a:t>
            </a:r>
            <a:r>
              <a:rPr kumimoji="1" lang="zh-CN" altLang="en-US" sz="3200" b="1">
                <a:effectLst/>
                <a:latin typeface="Times New Roman" pitchFamily="18" charset="0"/>
                <a:ea typeface="楷体_GB2312" pitchFamily="49" charset="-122"/>
              </a:rPr>
              <a:t>型机减少利润</a:t>
            </a:r>
            <a:r>
              <a:rPr kumimoji="1" lang="en-US" altLang="zh-CN" sz="3200" b="1">
                <a:effectLst/>
                <a:latin typeface="Times New Roman" pitchFamily="18" charset="0"/>
                <a:ea typeface="楷体_GB2312" pitchFamily="49" charset="-122"/>
              </a:rPr>
              <a:t>25</a:t>
            </a:r>
            <a:r>
              <a:rPr kumimoji="1" lang="zh-CN" altLang="en-US" sz="3200" b="1">
                <a:effectLst/>
                <a:latin typeface="Times New Roman" pitchFamily="18" charset="0"/>
                <a:ea typeface="楷体_GB2312" pitchFamily="49" charset="-122"/>
              </a:rPr>
              <a:t>元，并且工序</a:t>
            </a:r>
            <a:r>
              <a:rPr kumimoji="1" lang="en-US" altLang="zh-CN" sz="3200" b="1">
                <a:effectLst/>
                <a:latin typeface="Times New Roman" pitchFamily="18" charset="0"/>
                <a:ea typeface="楷体_GB2312" pitchFamily="49" charset="-122"/>
              </a:rPr>
              <a:t>Ⅱ</a:t>
            </a:r>
            <a:r>
              <a:rPr kumimoji="1" lang="zh-CN" altLang="en-US" sz="3200" b="1">
                <a:effectLst/>
                <a:latin typeface="Times New Roman" pitchFamily="18" charset="0"/>
                <a:ea typeface="楷体_GB2312" pitchFamily="49" charset="-122"/>
              </a:rPr>
              <a:t>的加班时间每周最多不超过</a:t>
            </a:r>
            <a:r>
              <a:rPr kumimoji="1" lang="en-US" altLang="zh-CN" sz="3200" b="1">
                <a:effectLst/>
                <a:latin typeface="Times New Roman" pitchFamily="18" charset="0"/>
                <a:ea typeface="楷体_GB2312" pitchFamily="49" charset="-122"/>
              </a:rPr>
              <a:t>30</a:t>
            </a:r>
            <a:r>
              <a:rPr kumimoji="1" lang="zh-CN" altLang="en-US" sz="3200" b="1">
                <a:effectLst/>
                <a:latin typeface="Times New Roman" pitchFamily="18" charset="0"/>
                <a:ea typeface="楷体_GB2312" pitchFamily="49" charset="-122"/>
              </a:rPr>
              <a:t>小时，这是</a:t>
            </a:r>
            <a:r>
              <a:rPr kumimoji="1" lang="en-US" altLang="zh-CN" sz="3200" b="1">
                <a:effectLst/>
                <a:latin typeface="Times New Roman" pitchFamily="18" charset="0"/>
                <a:ea typeface="楷体_GB2312" pitchFamily="49" charset="-122"/>
              </a:rPr>
              <a:t>p4</a:t>
            </a:r>
            <a:r>
              <a:rPr kumimoji="1" lang="zh-CN" altLang="en-US" sz="3200" b="1">
                <a:effectLst/>
                <a:latin typeface="Times New Roman" pitchFamily="18" charset="0"/>
                <a:ea typeface="楷体_GB2312" pitchFamily="49" charset="-122"/>
              </a:rPr>
              <a:t>级目标，试建立这个问题的目标规划模型。</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sld>
</file>

<file path=ppt/tags/tag1.xml><?xml version="1.0" encoding="utf-8"?>
<p:tagLst xmlns:p="http://schemas.openxmlformats.org/presentationml/2006/main">
  <p:tag name="AS_NET" val="4.0.30319.42000"/>
  <p:tag name="AS_OS" val="Microsoft Windows NT 6.1.7601 Service Pack 1"/>
  <p:tag name="AS_RELEASE_DATE" val="2015.01.30"/>
  <p:tag name="AS_TITLE" val="Aspose.Slides for .NET 4.0"/>
  <p:tag name="AS_VERSION" val="15.1.0.0"/>
</p:tagLst>
</file>

<file path=ppt/theme/theme1.xml><?xml version="1.0" encoding="utf-8"?>
<a:theme xmlns:r="http://schemas.openxmlformats.org/officeDocument/2006/relationships"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charset="-122"/>
        <a:cs typeface="Arial"/>
      </a:majorFont>
      <a:minorFont>
        <a:latin typeface="Calibri" charset="0"/>
        <a:ea typeface="宋体" charset="-122"/>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spAutoFit/>
      </a:bodyPr>
      <a:lstStyle>
        <a:defPPr>
          <a:defRPr lang="zh-CN" altLang="en-US">
            <a:ln w="10160">
              <a:solidFill>
                <a:schemeClr val="accent5"/>
              </a:solidFill>
              <a:prstDash val="solid"/>
            </a:ln>
            <a:solidFill>
              <a:schemeClr val="bg2"/>
            </a:solidFill>
            <a:effectLst>
              <a:outerShdw blurRad="38100" dist="22860" dir="5400000" algn="tl" rotWithShape="0">
                <a:srgbClr val="000000">
                  <a:alpha val="30000"/>
                </a:srgbClr>
              </a:outerShdw>
            </a:effectLs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charset="0"/>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charset="0"/>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charset="0"/>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charset="0"/>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Template/>
  <Manager/>
  <Company/>
  <PresentationFormat>全屏显示(4:3)</PresentationFormat>
  <SharedDoc>0</SharedDoc>
  <Application>WPS 演示</Application>
  <AppVersion>14.0000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演示文稿</dc:title>
  <dc:creator>向阳花儿PPT</dc:creator>
  <cp:lastModifiedBy>Administrator</cp:lastModifiedBy>
  <cp:revision>355</cp:revision>
  <dcterms:created xsi:type="dcterms:W3CDTF">2014-08-08T03:06:00Z</dcterms:created>
  <dcterms:modified xsi:type="dcterms:W3CDTF">2021-06-25T05:39:50Z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ICV">
    <vt:lpwstr>9E73394387F242829E624BF7DFC028F6</vt:lpwstr>
  </property>
  <property fmtid="{D5CDD505-2E9C-101B-9397-08002B2CF9AE}" pid="3" name="KSOProductBuildVer">
    <vt:lpwstr>2052-11.1.0.10578</vt:lpwstr>
  </property>
</Properties>
</file>