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99" r:id="rId3"/>
    <p:sldId id="482" r:id="rId4"/>
    <p:sldId id="483" r:id="rId5"/>
    <p:sldId id="484" r:id="rId6"/>
    <p:sldId id="547" r:id="rId7"/>
    <p:sldId id="548" r:id="rId8"/>
    <p:sldId id="549" r:id="rId9"/>
    <p:sldId id="550" r:id="rId10"/>
    <p:sldId id="551" r:id="rId11"/>
    <p:sldId id="485" r:id="rId12"/>
    <p:sldId id="486" r:id="rId13"/>
    <p:sldId id="552" r:id="rId14"/>
    <p:sldId id="553" r:id="rId15"/>
    <p:sldId id="554" r:id="rId16"/>
    <p:sldId id="555" r:id="rId17"/>
    <p:sldId id="556" r:id="rId18"/>
    <p:sldId id="557" r:id="rId19"/>
    <p:sldId id="558" r:id="rId20"/>
    <p:sldId id="559" r:id="rId21"/>
    <p:sldId id="560" r:id="rId22"/>
    <p:sldId id="561" r:id="rId23"/>
    <p:sldId id="562" r:id="rId24"/>
    <p:sldId id="563" r:id="rId25"/>
    <p:sldId id="564" r:id="rId26"/>
    <p:sldId id="565" r:id="rId27"/>
    <p:sldId id="481" r:id="rId28"/>
    <p:sldId id="581" r:id="rId29"/>
    <p:sldId id="582" r:id="rId30"/>
    <p:sldId id="583" r:id="rId31"/>
    <p:sldId id="584" r:id="rId32"/>
    <p:sldId id="585" r:id="rId33"/>
    <p:sldId id="567" r:id="rId34"/>
    <p:sldId id="568" r:id="rId35"/>
    <p:sldId id="569" r:id="rId36"/>
    <p:sldId id="570" r:id="rId37"/>
    <p:sldId id="571" r:id="rId38"/>
    <p:sldId id="572" r:id="rId39"/>
    <p:sldId id="573" r:id="rId40"/>
    <p:sldId id="574" r:id="rId41"/>
    <p:sldId id="575" r:id="rId42"/>
    <p:sldId id="576" r:id="rId43"/>
    <p:sldId id="586" r:id="rId44"/>
    <p:sldId id="587" r:id="rId45"/>
    <p:sldId id="588" r:id="rId46"/>
    <p:sldId id="589" r:id="rId47"/>
    <p:sldId id="590" r:id="rId48"/>
    <p:sldId id="591" r:id="rId49"/>
    <p:sldId id="415" r:id="rId50"/>
    <p:sldId id="416" r:id="rId51"/>
  </p:sldIdLst>
  <p:sldSz cx="9144000" cy="6858000" type="screen4x3"/>
  <p:notesSz cx="6858000" cy="9144000"/>
  <p:custDataLst>
    <p:tags r:id="rId56"/>
  </p:custDataLst>
  <p:defaultTextStyle>
    <a:defPPr>
      <a:defRPr lang="en-US"/>
    </a:defPPr>
    <a:lvl1pPr marL="0" lvl="0"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Times New Roman" panose="02020603050405020304" pitchFamily="18"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HUAWEI" initials="H" lastIdx="1" clrIdx="1"/>
  <p:cmAuthor id="3" name="科研交流" initials="科" lastIdx="2"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00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3" d="100"/>
          <a:sy n="83" d="100"/>
        </p:scale>
        <p:origin x="1450" y="62"/>
      </p:cViewPr>
      <p:guideLst>
        <p:guide orient="horz" pos="2069"/>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gs" Target="tags/tag6.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685800" y="609600"/>
            <a:ext cx="7772400" cy="1143000"/>
          </a:xfrm>
          <a:prstGeom prst="rect">
            <a:avLst/>
          </a:prstGeom>
          <a:noFill/>
          <a:ln w="9525">
            <a:noFill/>
          </a:ln>
        </p:spPr>
        <p:txBody>
          <a:bodyPr anchor="ctr"/>
          <a:p>
            <a:pPr lvl="0"/>
            <a:r>
              <a:rPr lang="zh-CN" altLang="en-US" dirty="0"/>
              <a:t>单击此处编辑母版标题样式</a:t>
            </a:r>
            <a:endParaRPr lang="zh-CN" altLang="en-US" dirty="0"/>
          </a:p>
        </p:txBody>
      </p:sp>
      <p:sp>
        <p:nvSpPr>
          <p:cNvPr id="1027" name="Rectangle 3"/>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lvl1pPr>
          </a:lstStyle>
          <a:p>
            <a:pPr marL="0" marR="0" lvl="0" indent="0" algn="r" defTabSz="914400" rtl="0" eaLnBrk="1" fontAlgn="base" latinLnBrk="0" hangingPunct="1">
              <a:lnSpc>
                <a:spcPct val="100000"/>
              </a:lnSpc>
              <a:spcBef>
                <a:spcPct val="0"/>
              </a:spcBef>
              <a:spcAft>
                <a:spcPct val="0"/>
              </a:spcAft>
              <a:buClrTx/>
              <a:buSzTx/>
              <a:buFontTx/>
              <a:buNone/>
              <a:defRPr/>
            </a:pPr>
            <a:fld id="{76C39072-1DBA-4B63-B713-B90C67C9F560}"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png"/><Relationship Id="rId1" Type="http://schemas.openxmlformats.org/officeDocument/2006/relationships/image" Target="../media/image33.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8.png"/><Relationship Id="rId1"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4.xml"/><Relationship Id="rId2" Type="http://schemas.openxmlformats.org/officeDocument/2006/relationships/image" Target="../media/image1.png"/><Relationship Id="rId1" Type="http://schemas.openxmlformats.org/officeDocument/2006/relationships/image" Target="../media/image46.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5" name="TextBox 8"/>
          <p:cNvSpPr txBox="1"/>
          <p:nvPr/>
        </p:nvSpPr>
        <p:spPr>
          <a:xfrm>
            <a:off x="3419475" y="692150"/>
            <a:ext cx="5435600" cy="769938"/>
          </a:xfrm>
          <a:prstGeom prst="rect">
            <a:avLst/>
          </a:prstGeom>
          <a:noFill/>
          <a:ln w="9525">
            <a:noFill/>
          </a:ln>
        </p:spPr>
        <p:txBody>
          <a:bodyPr>
            <a:spAutoFit/>
          </a:bodyPr>
          <a:p>
            <a:r>
              <a:rPr lang="zh-CN" altLang="en-US" sz="4400" b="1" dirty="0">
                <a:solidFill>
                  <a:schemeClr val="bg1"/>
                </a:solidFill>
                <a:latin typeface="黑体" panose="02010600030101010101" pitchFamily="2" charset="-122"/>
                <a:ea typeface="黑体" panose="02010600030101010101" pitchFamily="2" charset="-122"/>
              </a:rPr>
              <a:t>数学建模算法与应用</a:t>
            </a:r>
            <a:endParaRPr lang="zh-CN" altLang="en-US" sz="4400" b="1" dirty="0">
              <a:solidFill>
                <a:schemeClr val="bg1"/>
              </a:solidFill>
              <a:latin typeface="黑体" panose="02010600030101010101" pitchFamily="2" charset="-122"/>
              <a:ea typeface="黑体" panose="02010600030101010101" pitchFamily="2" charset="-122"/>
            </a:endParaRPr>
          </a:p>
        </p:txBody>
      </p:sp>
      <p:sp>
        <p:nvSpPr>
          <p:cNvPr id="10" name="圆角矩形 9"/>
          <p:cNvSpPr/>
          <p:nvPr userDrawn="1"/>
        </p:nvSpPr>
        <p:spPr>
          <a:xfrm>
            <a:off x="855345" y="1804670"/>
            <a:ext cx="7568565" cy="882650"/>
          </a:xfrm>
          <a:prstGeom prst="roundRect">
            <a:avLst/>
          </a:prstGeom>
          <a:solidFill>
            <a:srgbClr val="FF3D3D"/>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4000" dirty="0">
                <a:latin typeface="黑体" panose="02010600030101010101" pitchFamily="2" charset="-122"/>
                <a:ea typeface="黑体" panose="02010600030101010101" pitchFamily="2" charset="-122"/>
                <a:cs typeface="黑体" panose="02010600030101010101" pitchFamily="2" charset="-122"/>
                <a:sym typeface="+mn-ea"/>
              </a:rPr>
              <a:t>2022</a:t>
            </a:r>
            <a:r>
              <a:rPr lang="zh-CN" altLang="en-US" sz="4000" dirty="0">
                <a:latin typeface="黑体" panose="02010600030101010101" pitchFamily="2" charset="-122"/>
                <a:ea typeface="黑体" panose="02010600030101010101" pitchFamily="2" charset="-122"/>
                <a:cs typeface="黑体" panose="02010600030101010101" pitchFamily="2" charset="-122"/>
                <a:sym typeface="+mn-ea"/>
              </a:rPr>
              <a:t>数学建模国赛保奖培训班</a:t>
            </a:r>
            <a:endParaRPr lang="zh-CN" altLang="en-US" sz="4000" dirty="0">
              <a:latin typeface="黑体" panose="02010600030101010101" pitchFamily="2" charset="-122"/>
              <a:ea typeface="黑体" panose="02010600030101010101" pitchFamily="2" charset="-122"/>
              <a:cs typeface="黑体" panose="02010600030101010101" pitchFamily="2" charset="-122"/>
              <a:sym typeface="+mn-ea"/>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2" name="文本框 1"/>
          <p:cNvSpPr txBox="1"/>
          <p:nvPr/>
        </p:nvSpPr>
        <p:spPr>
          <a:xfrm>
            <a:off x="-249555" y="3284855"/>
            <a:ext cx="9779000" cy="860425"/>
          </a:xfrm>
          <a:prstGeom prst="rect">
            <a:avLst/>
          </a:prstGeom>
          <a:noFill/>
        </p:spPr>
        <p:txBody>
          <a:bodyPr wrap="square" rtlCol="0">
            <a:spAutoFit/>
          </a:bodyPr>
          <a:p>
            <a:pPr algn="ctr"/>
            <a:r>
              <a:rPr lang="zh-CN" altLang="en-US" sz="5000" dirty="0">
                <a:latin typeface="黑体" panose="02010600030101010101" pitchFamily="2" charset="-122"/>
                <a:ea typeface="黑体" panose="02010600030101010101" pitchFamily="2" charset="-122"/>
                <a:sym typeface="+mn-ea"/>
              </a:rPr>
              <a:t>非线性规划与多目标</a:t>
            </a:r>
            <a:r>
              <a:rPr lang="zh-CN" altLang="en-US" sz="5000" dirty="0">
                <a:latin typeface="黑体" panose="02010600030101010101" pitchFamily="2" charset="-122"/>
                <a:ea typeface="黑体" panose="02010600030101010101" pitchFamily="2" charset="-122"/>
                <a:sym typeface="+mn-ea"/>
              </a:rPr>
              <a:t>规划</a:t>
            </a:r>
            <a:endParaRPr lang="zh-CN" altLang="en-US" sz="5000" dirty="0">
              <a:latin typeface="黑体" panose="02010600030101010101" pitchFamily="2" charset="-122"/>
              <a:ea typeface="黑体" panose="02010600030101010101" pitchFamily="2" charset="-122"/>
              <a:sym typeface="+mn-ea"/>
            </a:endParaRPr>
          </a:p>
        </p:txBody>
      </p:sp>
      <p:sp>
        <p:nvSpPr>
          <p:cNvPr id="11" name="文本框 10"/>
          <p:cNvSpPr txBox="1"/>
          <p:nvPr userDrawn="1"/>
        </p:nvSpPr>
        <p:spPr>
          <a:xfrm>
            <a:off x="880745" y="4559300"/>
            <a:ext cx="7382510" cy="398780"/>
          </a:xfrm>
          <a:prstGeom prst="rect">
            <a:avLst/>
          </a:prstGeom>
          <a:noFill/>
        </p:spPr>
        <p:txBody>
          <a:bodyPr wrap="square" rtlCol="0">
            <a:spAutoFit/>
          </a:bodyPr>
          <a:p>
            <a:pPr algn="ctr"/>
            <a:r>
              <a:rPr lang="zh-CN" altLang="en-US" sz="2000">
                <a:solidFill>
                  <a:srgbClr val="FF0000"/>
                </a:solidFill>
                <a:latin typeface="黑体" panose="02010600030101010101" pitchFamily="2" charset="-122"/>
                <a:ea typeface="黑体" panose="02010600030101010101" pitchFamily="2" charset="-122"/>
              </a:rPr>
              <a:t>微信公众号：老哥带你学数模  </a:t>
            </a:r>
            <a:r>
              <a:rPr lang="en-US" altLang="zh-CN" sz="2000">
                <a:solidFill>
                  <a:srgbClr val="FF0000"/>
                </a:solidFill>
                <a:latin typeface="黑体" panose="02010600030101010101" pitchFamily="2" charset="-122"/>
                <a:ea typeface="黑体" panose="02010600030101010101" pitchFamily="2" charset="-122"/>
              </a:rPr>
              <a:t>/  </a:t>
            </a:r>
            <a:r>
              <a:rPr lang="zh-CN" altLang="en-US" sz="2000">
                <a:solidFill>
                  <a:srgbClr val="FF0000"/>
                </a:solidFill>
                <a:latin typeface="黑体" panose="02010600030101010101" pitchFamily="2" charset="-122"/>
                <a:ea typeface="黑体" panose="02010600030101010101" pitchFamily="2" charset="-122"/>
              </a:rPr>
              <a:t>视频号：数学建模老哥</a:t>
            </a:r>
            <a:endParaRPr lang="zh-CN" altLang="en-US" sz="2000">
              <a:solidFill>
                <a:srgbClr val="FF0000"/>
              </a:solidFill>
              <a:latin typeface="黑体" panose="02010600030101010101" pitchFamily="2" charset="-122"/>
              <a:ea typeface="黑体" panose="02010600030101010101" pitchFamily="2" charset="-122"/>
            </a:endParaRPr>
          </a:p>
        </p:txBody>
      </p:sp>
      <p:pic>
        <p:nvPicPr>
          <p:cNvPr id="5" name="图片 4" descr="微信图片_20220511160630"/>
          <p:cNvPicPr>
            <a:picLocks noChangeAspect="1"/>
          </p:cNvPicPr>
          <p:nvPr/>
        </p:nvPicPr>
        <p:blipFill>
          <a:blip r:embed="rId1"/>
          <a:srcRect l="19931" t="6829" r="26268" b="35046"/>
          <a:stretch>
            <a:fillRect/>
          </a:stretch>
        </p:blipFill>
        <p:spPr>
          <a:xfrm>
            <a:off x="-67310" y="5801995"/>
            <a:ext cx="867410" cy="937260"/>
          </a:xfrm>
          <a:prstGeom prst="rect">
            <a:avLst/>
          </a:prstGeom>
        </p:spPr>
      </p:pic>
      <p:sp>
        <p:nvSpPr>
          <p:cNvPr id="4" name="文本框 3"/>
          <p:cNvSpPr txBox="1"/>
          <p:nvPr/>
        </p:nvSpPr>
        <p:spPr>
          <a:xfrm>
            <a:off x="772160" y="6121400"/>
            <a:ext cx="2019300" cy="460375"/>
          </a:xfrm>
          <a:prstGeom prst="rect">
            <a:avLst/>
          </a:prstGeom>
          <a:noFill/>
        </p:spPr>
        <p:txBody>
          <a:bodyPr wrap="none" rtlCol="0">
            <a:spAutoFit/>
          </a:bodyPr>
          <a:p>
            <a:r>
              <a:rPr lang="zh-CN" altLang="en-US" sz="2400" b="1">
                <a:solidFill>
                  <a:srgbClr val="FF0000"/>
                </a:solidFill>
                <a:latin typeface="黑体" panose="02010600030101010101" pitchFamily="2" charset="-122"/>
                <a:ea typeface="黑体" panose="02010600030101010101" pitchFamily="2" charset="-122"/>
              </a:rPr>
              <a:t>数学建模老哥</a:t>
            </a:r>
            <a:endParaRPr lang="zh-CN" altLang="en-US" sz="2400" b="1">
              <a:solidFill>
                <a:srgbClr val="FF0000"/>
              </a:solidFill>
              <a:latin typeface="黑体" panose="02010600030101010101" pitchFamily="2" charset="-122"/>
              <a:ea typeface="黑体" panose="02010600030101010101"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22530" name="Rectangle 2"/>
          <p:cNvSpPr>
            <a:spLocks noGrp="1" noChangeArrowheads="1"/>
          </p:cNvSpPr>
          <p:nvPr>
            <p:ph type="title"/>
          </p:nvPr>
        </p:nvSpPr>
        <p:spPr>
          <a:xfrm>
            <a:off x="467360" y="755650"/>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组合投资</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8195" name="TextBox 4"/>
          <p:cNvSpPr txBox="1"/>
          <p:nvPr/>
        </p:nvSpPr>
        <p:spPr>
          <a:xfrm>
            <a:off x="798195" y="1917065"/>
            <a:ext cx="7441565" cy="3322955"/>
          </a:xfrm>
          <a:prstGeom prst="rect">
            <a:avLst/>
          </a:prstGeom>
          <a:noFill/>
          <a:ln w="9525">
            <a:noFill/>
          </a:ln>
        </p:spPr>
        <p:txBody>
          <a:bodyPr wrap="square">
            <a:spAutoFit/>
          </a:bodyPr>
          <a:p>
            <a:pPr algn="just" eaLnBrk="1" hangingPunct="1">
              <a:lnSpc>
                <a:spcPct val="150000"/>
              </a:lnSpc>
              <a:spcBef>
                <a:spcPct val="0"/>
              </a:spcBef>
              <a:spcAft>
                <a:spcPts val="1000"/>
              </a:spcAft>
              <a:buFont typeface="Wingdings" panose="05000000000000000000" pitchFamily="2" charset="2"/>
            </a:pPr>
            <a:r>
              <a:rPr lang="zh-CN" dirty="0">
                <a:latin typeface="Times New Roman" panose="02020603050405020304" pitchFamily="18" charset="0"/>
                <a:ea typeface="宋体" panose="02010600030101010101" pitchFamily="2" charset="-122"/>
              </a:rPr>
              <a:t>设有</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种投资选择：</a:t>
            </a:r>
            <a:r>
              <a:rPr lang="en-US" altLang="zh-CN" dirty="0">
                <a:latin typeface="Times New Roman" panose="02020603050405020304" pitchFamily="18" charset="0"/>
                <a:ea typeface="宋体" panose="02010600030101010101" pitchFamily="2" charset="-122"/>
              </a:rPr>
              <a:t>5</a:t>
            </a:r>
            <a:r>
              <a:rPr lang="zh-CN" altLang="en-US" dirty="0">
                <a:latin typeface="Times New Roman" panose="02020603050405020304" pitchFamily="18" charset="0"/>
                <a:ea typeface="宋体" panose="02010600030101010101" pitchFamily="2" charset="-122"/>
              </a:rPr>
              <a:t>支股票、</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种债卷、黄金。投资者收集到这些投资项目的年收益率的历史数据（见下页表）。投资者应如何分配他的投资资金？即需要确定这</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种投资的最佳投资</a:t>
            </a:r>
            <a:r>
              <a:rPr lang="zh-CN" altLang="en-US" dirty="0">
                <a:latin typeface="Times New Roman" panose="02020603050405020304" pitchFamily="18" charset="0"/>
                <a:ea typeface="宋体" panose="02010600030101010101" pitchFamily="2" charset="-122"/>
              </a:rPr>
              <a:t>分配比例。</a:t>
            </a:r>
            <a:endParaRPr lang="zh-CN" altLang="en-US" dirty="0">
              <a:latin typeface="Times New Roman" panose="02020603050405020304" pitchFamily="18" charset="0"/>
              <a:ea typeface="宋体" panose="02010600030101010101" pitchFamily="2" charset="-122"/>
            </a:endParaRPr>
          </a:p>
        </p:txBody>
      </p:sp>
    </p:spTree>
  </p:cSld>
  <p:clrMapOvr>
    <a:masterClrMapping/>
  </p:clrMapOvr>
  <p:transition spd="med">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1043305" y="620395"/>
            <a:ext cx="7232015" cy="5970905"/>
          </a:xfrm>
          <a:prstGeom prst="rect">
            <a:avLst/>
          </a:prstGeom>
        </p:spPr>
      </p:pic>
    </p:spTree>
  </p:cSld>
  <p:clrMapOvr>
    <a:masterClrMapping/>
  </p:clrMapOvr>
  <p:transition spd="med">
    <p:blinds dir="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917065"/>
            <a:ext cx="7441565" cy="2030095"/>
          </a:xfrm>
          <a:prstGeom prst="rect">
            <a:avLst/>
          </a:prstGeom>
          <a:noFill/>
          <a:ln w="9525">
            <a:noFill/>
          </a:ln>
        </p:spPr>
        <p:txBody>
          <a:bodyPr wrap="square">
            <a:spAutoFit/>
          </a:bodyPr>
          <a:p>
            <a:pPr algn="just" eaLnBrk="1" hangingPunct="1">
              <a:lnSpc>
                <a:spcPct val="150000"/>
              </a:lnSpc>
              <a:spcBef>
                <a:spcPct val="0"/>
              </a:spcBef>
              <a:spcAft>
                <a:spcPts val="1000"/>
              </a:spcAft>
              <a:buFont typeface="Wingdings" panose="05000000000000000000" pitchFamily="2" charset="2"/>
            </a:pPr>
            <a:r>
              <a:rPr lang="zh-CN" dirty="0">
                <a:ea typeface="宋体" panose="02010600030101010101" pitchFamily="2" charset="-122"/>
                <a:cs typeface="Times New Roman" panose="02020603050405020304" pitchFamily="18" charset="0"/>
              </a:rPr>
              <a:t>设投资的期限是一年，投资总数为</a:t>
            </a:r>
            <a:r>
              <a:rPr lang="en-US" altLang="zh-CN" dirty="0">
                <a:ea typeface="宋体" panose="02010600030101010101" pitchFamily="2" charset="-122"/>
                <a:cs typeface="Times New Roman" panose="02020603050405020304" pitchFamily="18" charset="0"/>
              </a:rPr>
              <a:t>1</a:t>
            </a:r>
            <a:r>
              <a:rPr lang="zh-CN" altLang="en-US" dirty="0">
                <a:ea typeface="宋体" panose="02010600030101010101" pitchFamily="2" charset="-122"/>
                <a:cs typeface="Times New Roman" panose="02020603050405020304" pitchFamily="18" charset="0"/>
              </a:rPr>
              <a:t>个单位，用于第</a:t>
            </a:r>
            <a:r>
              <a:rPr lang="en-US" altLang="zh-CN" dirty="0">
                <a:ea typeface="宋体" panose="02010600030101010101" pitchFamily="2" charset="-122"/>
                <a:cs typeface="Times New Roman" panose="02020603050405020304" pitchFamily="18" charset="0"/>
              </a:rPr>
              <a:t>i</a:t>
            </a:r>
            <a:r>
              <a:rPr lang="zh-CN" altLang="en-US" dirty="0">
                <a:ea typeface="宋体" panose="02010600030101010101" pitchFamily="2" charset="-122"/>
                <a:cs typeface="Times New Roman" panose="02020603050405020304" pitchFamily="18" charset="0"/>
              </a:rPr>
              <a:t>项投资的资金比例为</a:t>
            </a:r>
            <a:r>
              <a:rPr lang="en-US" altLang="zh-CN" dirty="0">
                <a:ea typeface="宋体" panose="02010600030101010101" pitchFamily="2" charset="-122"/>
                <a:cs typeface="Times New Roman" panose="02020603050405020304" pitchFamily="18" charset="0"/>
              </a:rPr>
              <a:t>x</a:t>
            </a:r>
            <a:r>
              <a:rPr lang="en-US" altLang="zh-CN" baseline="-25000" dirty="0">
                <a:ea typeface="宋体" panose="02010600030101010101" pitchFamily="2" charset="-122"/>
                <a:cs typeface="Times New Roman" panose="02020603050405020304" pitchFamily="18" charset="0"/>
              </a:rPr>
              <a:t>i</a:t>
            </a:r>
            <a:r>
              <a:rPr lang="zh-CN" altLang="en-US" dirty="0">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X</a:t>
            </a:r>
            <a:r>
              <a:rPr lang="en-US" altLang="zh-CN" dirty="0">
                <a:ea typeface="宋体" panose="02010600030101010101" pitchFamily="2" charset="-122"/>
                <a:cs typeface="Times New Roman" panose="02020603050405020304" pitchFamily="18" charset="0"/>
              </a:rPr>
              <a:t>=(x</a:t>
            </a:r>
            <a:r>
              <a:rPr lang="en-US" altLang="zh-CN" baseline="-25000" dirty="0">
                <a:ea typeface="宋体" panose="02010600030101010101" pitchFamily="2" charset="-122"/>
                <a:cs typeface="Times New Roman" panose="02020603050405020304" pitchFamily="18" charset="0"/>
              </a:rPr>
              <a:t>1</a:t>
            </a:r>
            <a:r>
              <a:rPr lang="en-US" altLang="zh-CN" dirty="0">
                <a:ea typeface="宋体" panose="02010600030101010101" pitchFamily="2" charset="-122"/>
                <a:cs typeface="Times New Roman" panose="02020603050405020304" pitchFamily="18" charset="0"/>
              </a:rPr>
              <a:t>,x</a:t>
            </a:r>
            <a:r>
              <a:rPr lang="en-US" altLang="zh-CN" baseline="-25000" dirty="0">
                <a:ea typeface="宋体" panose="02010600030101010101" pitchFamily="2" charset="-122"/>
                <a:cs typeface="Times New Roman" panose="02020603050405020304" pitchFamily="18" charset="0"/>
              </a:rPr>
              <a:t>2</a:t>
            </a:r>
            <a:r>
              <a:rPr lang="en-US" altLang="zh-CN" dirty="0">
                <a:ea typeface="宋体" panose="02010600030101010101" pitchFamily="2" charset="-122"/>
                <a:cs typeface="Times New Roman" panose="02020603050405020304" pitchFamily="18" charset="0"/>
              </a:rPr>
              <a:t>,...,x</a:t>
            </a:r>
            <a:r>
              <a:rPr lang="en-US" altLang="zh-CN" baseline="-25000" dirty="0">
                <a:ea typeface="宋体" panose="02010600030101010101" pitchFamily="2" charset="-122"/>
                <a:cs typeface="Times New Roman" panose="02020603050405020304" pitchFamily="18" charset="0"/>
              </a:rPr>
              <a:t>n</a:t>
            </a:r>
            <a:r>
              <a:rPr lang="en-US" altLang="zh-CN" dirty="0">
                <a:ea typeface="宋体" panose="02010600030101010101" pitchFamily="2" charset="-122"/>
                <a:cs typeface="Times New Roman" panose="02020603050405020304" pitchFamily="18" charset="0"/>
              </a:rPr>
              <a:t>)</a:t>
            </a:r>
            <a:r>
              <a:rPr lang="zh-CN" altLang="en-US" dirty="0">
                <a:ea typeface="宋体" panose="02010600030101010101" pitchFamily="2" charset="-122"/>
                <a:cs typeface="Times New Roman" panose="02020603050405020304" pitchFamily="18" charset="0"/>
              </a:rPr>
              <a:t>称为投资组合向量，有</a:t>
            </a:r>
            <a:endParaRPr lang="zh-CN" altLang="en-US" dirty="0">
              <a:ea typeface="宋体" panose="02010600030101010101" pitchFamily="2" charset="-122"/>
              <a:cs typeface="Times New Roman" panose="02020603050405020304" pitchFamily="18" charset="0"/>
            </a:endParaRPr>
          </a:p>
        </p:txBody>
      </p:sp>
      <p:sp>
        <p:nvSpPr>
          <p:cNvPr id="22530" name="Rectangle 2"/>
          <p:cNvSpPr>
            <a:spLocks noGrp="1" noChangeArrowheads="1"/>
          </p:cNvSpPr>
          <p:nvPr>
            <p:ph type="title"/>
          </p:nvPr>
        </p:nvSpPr>
        <p:spPr>
          <a:xfrm>
            <a:off x="467360" y="755650"/>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1979930" y="4149090"/>
            <a:ext cx="5450205" cy="524510"/>
          </a:xfrm>
          <a:prstGeom prst="rect">
            <a:avLst/>
          </a:prstGeom>
        </p:spPr>
      </p:pic>
    </p:spTree>
  </p:cSld>
  <p:clrMapOvr>
    <a:masterClrMapping/>
  </p:clrMapOvr>
  <p:transition spd="med">
    <p:blinds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343025"/>
            <a:ext cx="7441565" cy="15297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sz="2400" dirty="0">
                <a:ea typeface="宋体" panose="02010600030101010101" pitchFamily="2" charset="-122"/>
                <a:cs typeface="Times New Roman" panose="02020603050405020304" pitchFamily="18" charset="0"/>
              </a:rPr>
              <a:t>每个投资项目的收益率可以看成一个随机变量，其均值可以用样本均值（历史均值）来近似，因此，预计第</a:t>
            </a:r>
            <a:r>
              <a:rPr lang="en-US" altLang="zh-CN" sz="2400" dirty="0">
                <a:ea typeface="宋体" panose="02010600030101010101" pitchFamily="2" charset="-122"/>
                <a:cs typeface="Times New Roman" panose="02020603050405020304" pitchFamily="18" charset="0"/>
              </a:rPr>
              <a:t>j</a:t>
            </a:r>
            <a:r>
              <a:rPr lang="zh-CN" altLang="en-US" sz="2400" dirty="0">
                <a:ea typeface="宋体" panose="02010600030101010101" pitchFamily="2" charset="-122"/>
                <a:cs typeface="Times New Roman" panose="02020603050405020304" pitchFamily="18" charset="0"/>
              </a:rPr>
              <a:t>种投资的平均收益率为</a:t>
            </a:r>
            <a:endParaRPr lang="zh-CN" altLang="en-US" sz="2400" dirty="0">
              <a:ea typeface="宋体" panose="02010600030101010101" pitchFamily="2" charset="-122"/>
              <a:cs typeface="Times New Roman" panose="02020603050405020304" pitchFamily="18" charset="0"/>
            </a:endParaRPr>
          </a:p>
        </p:txBody>
      </p:sp>
      <p:sp>
        <p:nvSpPr>
          <p:cNvPr id="22530" name="Rectangle 2"/>
          <p:cNvSpPr>
            <a:spLocks noGrp="1" noChangeArrowheads="1"/>
          </p:cNvSpPr>
          <p:nvPr>
            <p:ph type="title"/>
          </p:nvPr>
        </p:nvSpPr>
        <p:spPr>
          <a:xfrm>
            <a:off x="467360" y="48704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3369945" y="2853055"/>
            <a:ext cx="2404745" cy="1022985"/>
          </a:xfrm>
          <a:prstGeom prst="rect">
            <a:avLst/>
          </a:prstGeom>
        </p:spPr>
      </p:pic>
      <p:sp>
        <p:nvSpPr>
          <p:cNvPr id="5" name="TextBox 4"/>
          <p:cNvSpPr txBox="1"/>
          <p:nvPr/>
        </p:nvSpPr>
        <p:spPr>
          <a:xfrm>
            <a:off x="899795" y="3876040"/>
            <a:ext cx="7441565" cy="645160"/>
          </a:xfrm>
          <a:prstGeom prst="rect">
            <a:avLst/>
          </a:prstGeom>
          <a:noFill/>
          <a:ln w="9525">
            <a:noFill/>
          </a:ln>
        </p:spPr>
        <p:txBody>
          <a:bodyPr wrap="square">
            <a:spAutoFit/>
          </a:bodyPr>
          <a:p>
            <a:pPr algn="just" eaLnBrk="1" hangingPunct="1">
              <a:lnSpc>
                <a:spcPct val="150000"/>
              </a:lnSpc>
              <a:spcBef>
                <a:spcPct val="0"/>
              </a:spcBef>
              <a:spcAft>
                <a:spcPts val="1000"/>
              </a:spcAft>
              <a:buFont typeface="Wingdings" panose="05000000000000000000" pitchFamily="2" charset="2"/>
            </a:pPr>
            <a:r>
              <a:rPr lang="zh-CN" sz="2400" dirty="0">
                <a:ea typeface="宋体" panose="02010600030101010101" pitchFamily="2" charset="-122"/>
                <a:cs typeface="Times New Roman" panose="02020603050405020304" pitchFamily="18" charset="0"/>
              </a:rPr>
              <a:t>其中</a:t>
            </a:r>
            <a:r>
              <a:rPr lang="en-US" altLang="zh-CN" sz="2400" dirty="0">
                <a:ea typeface="宋体" panose="02010600030101010101" pitchFamily="2" charset="-122"/>
                <a:cs typeface="Times New Roman" panose="02020603050405020304" pitchFamily="18" charset="0"/>
              </a:rPr>
              <a:t>r</a:t>
            </a:r>
            <a:r>
              <a:rPr lang="en-US" altLang="zh-CN" sz="2400" baseline="-25000" dirty="0">
                <a:ea typeface="宋体" panose="02010600030101010101" pitchFamily="2" charset="-122"/>
                <a:cs typeface="Times New Roman" panose="02020603050405020304" pitchFamily="18" charset="0"/>
              </a:rPr>
              <a:t>jk</a:t>
            </a:r>
            <a:r>
              <a:rPr lang="zh-CN" altLang="en-US" sz="2400" dirty="0">
                <a:ea typeface="宋体" panose="02010600030101010101" pitchFamily="2" charset="-122"/>
                <a:cs typeface="Times New Roman" panose="02020603050405020304" pitchFamily="18" charset="0"/>
              </a:rPr>
              <a:t>代表第</a:t>
            </a:r>
            <a:r>
              <a:rPr lang="en-US" altLang="zh-CN" sz="2400" dirty="0">
                <a:ea typeface="宋体" panose="02010600030101010101" pitchFamily="2" charset="-122"/>
                <a:cs typeface="Times New Roman" panose="02020603050405020304" pitchFamily="18" charset="0"/>
              </a:rPr>
              <a:t>j</a:t>
            </a:r>
            <a:r>
              <a:rPr lang="zh-CN" altLang="en-US" sz="2400" dirty="0">
                <a:ea typeface="宋体" panose="02010600030101010101" pitchFamily="2" charset="-122"/>
                <a:cs typeface="Times New Roman" panose="02020603050405020304" pitchFamily="18" charset="0"/>
              </a:rPr>
              <a:t>种投资在第</a:t>
            </a:r>
            <a:r>
              <a:rPr lang="en-US" altLang="zh-CN" sz="2400" dirty="0">
                <a:ea typeface="宋体" panose="02010600030101010101" pitchFamily="2" charset="-122"/>
                <a:cs typeface="Times New Roman" panose="02020603050405020304" pitchFamily="18" charset="0"/>
              </a:rPr>
              <a:t>k</a:t>
            </a:r>
            <a:r>
              <a:rPr lang="zh-CN" altLang="en-US" sz="2400" dirty="0">
                <a:ea typeface="宋体" panose="02010600030101010101" pitchFamily="2" charset="-122"/>
                <a:cs typeface="Times New Roman" panose="02020603050405020304" pitchFamily="18" charset="0"/>
              </a:rPr>
              <a:t>年的</a:t>
            </a:r>
            <a:r>
              <a:rPr lang="zh-CN" altLang="en-US" sz="2400" dirty="0">
                <a:ea typeface="宋体" panose="02010600030101010101" pitchFamily="2" charset="-122"/>
                <a:cs typeface="Times New Roman" panose="02020603050405020304" pitchFamily="18" charset="0"/>
              </a:rPr>
              <a:t>收益率</a:t>
            </a:r>
            <a:endParaRPr lang="zh-CN" altLang="en-US" sz="2400" dirty="0">
              <a:ea typeface="宋体" panose="02010600030101010101" pitchFamily="2" charset="-122"/>
              <a:cs typeface="Times New Roman" panose="02020603050405020304" pitchFamily="18" charset="0"/>
            </a:endParaRPr>
          </a:p>
        </p:txBody>
      </p:sp>
      <p:sp>
        <p:nvSpPr>
          <p:cNvPr id="6" name="TextBox 4"/>
          <p:cNvSpPr txBox="1"/>
          <p:nvPr/>
        </p:nvSpPr>
        <p:spPr>
          <a:xfrm>
            <a:off x="899795" y="4521200"/>
            <a:ext cx="7441565" cy="105029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en-US" altLang="zh-CN" sz="2400" dirty="0">
                <a:ea typeface="宋体" panose="02010600030101010101" pitchFamily="2" charset="-122"/>
                <a:cs typeface="Times New Roman" panose="02020603050405020304" pitchFamily="18" charset="0"/>
              </a:rPr>
              <a:t>Markowitz</a:t>
            </a:r>
            <a:r>
              <a:rPr lang="zh-CN" altLang="en-US" sz="2400" dirty="0">
                <a:ea typeface="宋体" panose="02010600030101010101" pitchFamily="2" charset="-122"/>
                <a:cs typeface="Times New Roman" panose="02020603050405020304" pitchFamily="18" charset="0"/>
              </a:rPr>
              <a:t>风险的定义：收益的波动程度，可用样本方差（历史方差）来度量，</a:t>
            </a:r>
            <a:r>
              <a:rPr lang="zh-CN" altLang="en-US" sz="2400" dirty="0">
                <a:ea typeface="宋体" panose="02010600030101010101" pitchFamily="2" charset="-122"/>
                <a:cs typeface="Times New Roman" panose="02020603050405020304" pitchFamily="18" charset="0"/>
              </a:rPr>
              <a:t>为</a:t>
            </a:r>
            <a:endParaRPr lang="zh-CN" altLang="en-US" sz="2400" dirty="0">
              <a:ea typeface="宋体" panose="02010600030101010101" pitchFamily="2" charset="-122"/>
              <a:cs typeface="Times New Roman" panose="02020603050405020304" pitchFamily="18" charset="0"/>
            </a:endParaRPr>
          </a:p>
        </p:txBody>
      </p:sp>
      <p:pic>
        <p:nvPicPr>
          <p:cNvPr id="7" name="图片 6"/>
          <p:cNvPicPr>
            <a:picLocks noChangeAspect="1"/>
          </p:cNvPicPr>
          <p:nvPr/>
        </p:nvPicPr>
        <p:blipFill>
          <a:blip r:embed="rId2"/>
          <a:stretch>
            <a:fillRect/>
          </a:stretch>
        </p:blipFill>
        <p:spPr>
          <a:xfrm>
            <a:off x="3203575" y="5554345"/>
            <a:ext cx="3439160" cy="923925"/>
          </a:xfrm>
          <a:prstGeom prst="rect">
            <a:avLst/>
          </a:prstGeom>
        </p:spPr>
      </p:pic>
    </p:spTree>
  </p:cSld>
  <p:clrMapOvr>
    <a:masterClrMapping/>
  </p:clrMapOvr>
  <p:transition spd="med">
    <p:blinds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343025"/>
            <a:ext cx="7441565" cy="300228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sz="2400" dirty="0">
                <a:ea typeface="宋体" panose="02010600030101010101" pitchFamily="2" charset="-122"/>
                <a:cs typeface="Times New Roman" panose="02020603050405020304" pitchFamily="18" charset="0"/>
              </a:rPr>
              <a:t>投资组合</a:t>
            </a:r>
            <a:r>
              <a:rPr lang="en-US" altLang="zh-CN" sz="2400" dirty="0">
                <a:cs typeface="Times New Roman" panose="02020603050405020304" pitchFamily="18" charset="0"/>
                <a:sym typeface="+mn-ea"/>
              </a:rPr>
              <a:t>X=(x</a:t>
            </a:r>
            <a:r>
              <a:rPr lang="en-US" altLang="zh-CN" sz="2400" baseline="-25000" dirty="0">
                <a:cs typeface="Times New Roman" panose="02020603050405020304" pitchFamily="18" charset="0"/>
                <a:sym typeface="+mn-ea"/>
              </a:rPr>
              <a:t>1</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2</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n</a:t>
            </a:r>
            <a:r>
              <a:rPr lang="en-US" altLang="zh-CN" sz="2400" dirty="0">
                <a:cs typeface="Times New Roman" panose="02020603050405020304" pitchFamily="18" charset="0"/>
                <a:sym typeface="+mn-ea"/>
              </a:rPr>
              <a:t>)</a:t>
            </a:r>
            <a:r>
              <a:rPr lang="zh-CN" altLang="en-US" sz="2400" dirty="0">
                <a:cs typeface="Times New Roman" panose="02020603050405020304" pitchFamily="18" charset="0"/>
                <a:sym typeface="+mn-ea"/>
              </a:rPr>
              <a:t>在第</a:t>
            </a:r>
            <a:r>
              <a:rPr lang="en-US" altLang="zh-CN" sz="2400" dirty="0">
                <a:cs typeface="Times New Roman" panose="02020603050405020304" pitchFamily="18" charset="0"/>
                <a:sym typeface="+mn-ea"/>
              </a:rPr>
              <a:t>k</a:t>
            </a:r>
            <a:r>
              <a:rPr lang="zh-CN" altLang="en-US" sz="2400" dirty="0">
                <a:cs typeface="Times New Roman" panose="02020603050405020304" pitchFamily="18" charset="0"/>
                <a:sym typeface="+mn-ea"/>
              </a:rPr>
              <a:t>年的收益率</a:t>
            </a:r>
            <a:r>
              <a:rPr lang="zh-CN" altLang="en-US" sz="2400" dirty="0">
                <a:cs typeface="Times New Roman" panose="02020603050405020304" pitchFamily="18" charset="0"/>
                <a:sym typeface="+mn-ea"/>
              </a:rPr>
              <a:t>为：</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投资组合</a:t>
            </a:r>
            <a:r>
              <a:rPr lang="en-US" altLang="zh-CN" sz="2400" dirty="0">
                <a:cs typeface="Times New Roman" panose="02020603050405020304" pitchFamily="18" charset="0"/>
                <a:sym typeface="+mn-ea"/>
              </a:rPr>
              <a:t>X=(x</a:t>
            </a:r>
            <a:r>
              <a:rPr lang="en-US" altLang="zh-CN" sz="2400" baseline="-25000" dirty="0">
                <a:cs typeface="Times New Roman" panose="02020603050405020304" pitchFamily="18" charset="0"/>
                <a:sym typeface="+mn-ea"/>
              </a:rPr>
              <a:t>1</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2</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n</a:t>
            </a:r>
            <a:r>
              <a:rPr lang="en-US" altLang="zh-CN" sz="2400" dirty="0">
                <a:cs typeface="Times New Roman" panose="02020603050405020304" pitchFamily="18" charset="0"/>
                <a:sym typeface="+mn-ea"/>
              </a:rPr>
              <a:t>)</a:t>
            </a:r>
            <a:r>
              <a:rPr lang="zh-CN" altLang="en-US" sz="2400" dirty="0">
                <a:cs typeface="Times New Roman" panose="02020603050405020304" pitchFamily="18" charset="0"/>
                <a:sym typeface="+mn-ea"/>
              </a:rPr>
              <a:t>的平均收益率</a:t>
            </a:r>
            <a:r>
              <a:rPr lang="zh-CN" altLang="en-US" sz="2400" dirty="0">
                <a:cs typeface="Times New Roman" panose="02020603050405020304" pitchFamily="18" charset="0"/>
                <a:sym typeface="+mn-ea"/>
              </a:rPr>
              <a:t>为：</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投资组合</a:t>
            </a:r>
            <a:r>
              <a:rPr lang="en-US" altLang="zh-CN" sz="2400" dirty="0">
                <a:cs typeface="Times New Roman" panose="02020603050405020304" pitchFamily="18" charset="0"/>
                <a:sym typeface="+mn-ea"/>
              </a:rPr>
              <a:t>X=(x</a:t>
            </a:r>
            <a:r>
              <a:rPr lang="en-US" altLang="zh-CN" sz="2400" baseline="-25000" dirty="0">
                <a:cs typeface="Times New Roman" panose="02020603050405020304" pitchFamily="18" charset="0"/>
                <a:sym typeface="+mn-ea"/>
              </a:rPr>
              <a:t>1</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2</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n</a:t>
            </a:r>
            <a:r>
              <a:rPr lang="en-US" altLang="zh-CN" sz="2400" dirty="0">
                <a:cs typeface="Times New Roman" panose="02020603050405020304" pitchFamily="18" charset="0"/>
                <a:sym typeface="+mn-ea"/>
              </a:rPr>
              <a:t>)</a:t>
            </a:r>
            <a:r>
              <a:rPr lang="zh-CN" altLang="en-US" sz="2400" dirty="0">
                <a:cs typeface="Times New Roman" panose="02020603050405020304" pitchFamily="18" charset="0"/>
                <a:sym typeface="+mn-ea"/>
              </a:rPr>
              <a:t>的</a:t>
            </a:r>
            <a:r>
              <a:rPr lang="zh-CN" altLang="en-US" sz="2400" dirty="0">
                <a:cs typeface="Times New Roman" panose="02020603050405020304" pitchFamily="18" charset="0"/>
                <a:sym typeface="+mn-ea"/>
              </a:rPr>
              <a:t>风险为：</a:t>
            </a:r>
            <a:endParaRPr lang="zh-CN" altLang="en-US" sz="2400" dirty="0">
              <a:cs typeface="Times New Roman" panose="02020603050405020304" pitchFamily="18" charset="0"/>
              <a:sym typeface="+mn-ea"/>
            </a:endParaRPr>
          </a:p>
        </p:txBody>
      </p:sp>
      <p:sp>
        <p:nvSpPr>
          <p:cNvPr id="22530" name="Rectangle 2"/>
          <p:cNvSpPr>
            <a:spLocks noGrp="1" noChangeArrowheads="1"/>
          </p:cNvSpPr>
          <p:nvPr>
            <p:ph type="title"/>
          </p:nvPr>
        </p:nvSpPr>
        <p:spPr>
          <a:xfrm>
            <a:off x="467360" y="48704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3491865" y="1844675"/>
            <a:ext cx="2346960" cy="807720"/>
          </a:xfrm>
          <a:prstGeom prst="rect">
            <a:avLst/>
          </a:prstGeom>
        </p:spPr>
      </p:pic>
      <p:pic>
        <p:nvPicPr>
          <p:cNvPr id="3" name="图片 2"/>
          <p:cNvPicPr>
            <a:picLocks noChangeAspect="1"/>
          </p:cNvPicPr>
          <p:nvPr/>
        </p:nvPicPr>
        <p:blipFill>
          <a:blip r:embed="rId2"/>
          <a:stretch>
            <a:fillRect/>
          </a:stretch>
        </p:blipFill>
        <p:spPr>
          <a:xfrm>
            <a:off x="2276475" y="3017520"/>
            <a:ext cx="4777740" cy="822960"/>
          </a:xfrm>
          <a:prstGeom prst="rect">
            <a:avLst/>
          </a:prstGeom>
        </p:spPr>
      </p:pic>
      <p:pic>
        <p:nvPicPr>
          <p:cNvPr id="8" name="图片 7"/>
          <p:cNvPicPr>
            <a:picLocks noChangeAspect="1"/>
          </p:cNvPicPr>
          <p:nvPr/>
        </p:nvPicPr>
        <p:blipFill>
          <a:blip r:embed="rId3"/>
          <a:stretch>
            <a:fillRect/>
          </a:stretch>
        </p:blipFill>
        <p:spPr>
          <a:xfrm>
            <a:off x="2552700" y="4345305"/>
            <a:ext cx="4038600" cy="1638300"/>
          </a:xfrm>
          <a:prstGeom prst="rect">
            <a:avLst/>
          </a:prstGeom>
        </p:spPr>
      </p:pic>
    </p:spTree>
  </p:cSld>
  <p:clrMapOvr>
    <a:masterClrMapping/>
  </p:clrMapOvr>
  <p:transition spd="med">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343025"/>
            <a:ext cx="7441565" cy="117856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双目标规划：最大化利润，最小化</a:t>
            </a:r>
            <a:r>
              <a:rPr lang="zh-CN" altLang="en-US" sz="2400" dirty="0">
                <a:cs typeface="Times New Roman" panose="02020603050405020304" pitchFamily="18" charset="0"/>
                <a:sym typeface="+mn-ea"/>
              </a:rPr>
              <a:t>风险</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sp>
        <p:nvSpPr>
          <p:cNvPr id="22530" name="Rectangle 2"/>
          <p:cNvSpPr>
            <a:spLocks noGrp="1" noChangeArrowheads="1"/>
          </p:cNvSpPr>
          <p:nvPr>
            <p:ph type="title"/>
          </p:nvPr>
        </p:nvSpPr>
        <p:spPr>
          <a:xfrm>
            <a:off x="467360" y="48704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2110105" y="2493010"/>
            <a:ext cx="4923155" cy="1993900"/>
          </a:xfrm>
          <a:prstGeom prst="rect">
            <a:avLst/>
          </a:prstGeom>
        </p:spPr>
      </p:pic>
      <p:pic>
        <p:nvPicPr>
          <p:cNvPr id="5" name="图片 4"/>
          <p:cNvPicPr>
            <a:picLocks noChangeAspect="1"/>
          </p:cNvPicPr>
          <p:nvPr/>
        </p:nvPicPr>
        <p:blipFill>
          <a:blip r:embed="rId2"/>
          <a:stretch>
            <a:fillRect/>
          </a:stretch>
        </p:blipFill>
        <p:spPr>
          <a:xfrm>
            <a:off x="2339975" y="2853055"/>
            <a:ext cx="365760" cy="396240"/>
          </a:xfrm>
          <a:prstGeom prst="rect">
            <a:avLst/>
          </a:prstGeom>
        </p:spPr>
      </p:pic>
      <p:pic>
        <p:nvPicPr>
          <p:cNvPr id="6" name="图片 5"/>
          <p:cNvPicPr>
            <a:picLocks noChangeAspect="1"/>
          </p:cNvPicPr>
          <p:nvPr/>
        </p:nvPicPr>
        <p:blipFill>
          <a:blip r:embed="rId2"/>
          <a:stretch>
            <a:fillRect/>
          </a:stretch>
        </p:blipFill>
        <p:spPr>
          <a:xfrm>
            <a:off x="2411730" y="4077335"/>
            <a:ext cx="365760" cy="396240"/>
          </a:xfrm>
          <a:prstGeom prst="rect">
            <a:avLst/>
          </a:prstGeom>
        </p:spPr>
      </p:pic>
    </p:spTree>
  </p:cSld>
  <p:clrMapOvr>
    <a:masterClrMapping/>
  </p:clrMapOvr>
  <p:transition spd="med">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343025"/>
            <a:ext cx="7441565" cy="178625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化为</a:t>
            </a:r>
            <a:r>
              <a:rPr lang="zh-CN" altLang="en-US" sz="2400" dirty="0">
                <a:cs typeface="Times New Roman" panose="02020603050405020304" pitchFamily="18" charset="0"/>
                <a:sym typeface="+mn-ea"/>
              </a:rPr>
              <a:t>单目标：</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模型</a:t>
            </a:r>
            <a:r>
              <a:rPr lang="en-US" altLang="zh-CN" sz="2400" dirty="0">
                <a:cs typeface="Times New Roman" panose="02020603050405020304" pitchFamily="18" charset="0"/>
                <a:sym typeface="+mn-ea"/>
              </a:rPr>
              <a:t>1</a:t>
            </a:r>
            <a:r>
              <a:rPr lang="zh-CN" altLang="en-US" sz="2400" dirty="0">
                <a:cs typeface="Times New Roman" panose="02020603050405020304" pitchFamily="18" charset="0"/>
                <a:sym typeface="+mn-ea"/>
              </a:rPr>
              <a:t>：控制风险，最大化</a:t>
            </a:r>
            <a:r>
              <a:rPr lang="zh-CN" altLang="en-US" sz="2400" dirty="0">
                <a:cs typeface="Times New Roman" panose="02020603050405020304" pitchFamily="18" charset="0"/>
                <a:sym typeface="+mn-ea"/>
              </a:rPr>
              <a:t>收益</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sp>
        <p:nvSpPr>
          <p:cNvPr id="22530" name="Rectangle 2"/>
          <p:cNvSpPr>
            <a:spLocks noGrp="1" noChangeArrowheads="1"/>
          </p:cNvSpPr>
          <p:nvPr>
            <p:ph type="title"/>
          </p:nvPr>
        </p:nvSpPr>
        <p:spPr>
          <a:xfrm>
            <a:off x="467360" y="48704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2915920" y="2564765"/>
            <a:ext cx="3901440" cy="1455420"/>
          </a:xfrm>
          <a:prstGeom prst="rect">
            <a:avLst/>
          </a:prstGeom>
        </p:spPr>
      </p:pic>
      <p:sp>
        <p:nvSpPr>
          <p:cNvPr id="7" name="TextBox 4"/>
          <p:cNvSpPr txBox="1"/>
          <p:nvPr/>
        </p:nvSpPr>
        <p:spPr>
          <a:xfrm>
            <a:off x="798195" y="4005580"/>
            <a:ext cx="7441565" cy="57086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模型</a:t>
            </a:r>
            <a:r>
              <a:rPr lang="en-US" altLang="zh-CN" sz="2400" dirty="0">
                <a:cs typeface="Times New Roman" panose="02020603050405020304" pitchFamily="18" charset="0"/>
                <a:sym typeface="+mn-ea"/>
              </a:rPr>
              <a:t>2</a:t>
            </a:r>
            <a:r>
              <a:rPr lang="zh-CN" altLang="en-US" sz="2400" dirty="0">
                <a:cs typeface="Times New Roman" panose="02020603050405020304" pitchFamily="18" charset="0"/>
                <a:sym typeface="+mn-ea"/>
              </a:rPr>
              <a:t>：固定盈利，最小化</a:t>
            </a:r>
            <a:r>
              <a:rPr lang="zh-CN" altLang="en-US" sz="2400" dirty="0">
                <a:cs typeface="Times New Roman" panose="02020603050405020304" pitchFamily="18" charset="0"/>
                <a:sym typeface="+mn-ea"/>
              </a:rPr>
              <a:t>风险</a:t>
            </a:r>
            <a:endParaRPr lang="zh-CN" altLang="en-US" sz="2400" dirty="0">
              <a:cs typeface="Times New Roman" panose="02020603050405020304" pitchFamily="18" charset="0"/>
              <a:sym typeface="+mn-ea"/>
            </a:endParaRPr>
          </a:p>
        </p:txBody>
      </p:sp>
      <p:pic>
        <p:nvPicPr>
          <p:cNvPr id="8" name="图片 7"/>
          <p:cNvPicPr>
            <a:picLocks noChangeAspect="1"/>
          </p:cNvPicPr>
          <p:nvPr/>
        </p:nvPicPr>
        <p:blipFill>
          <a:blip r:embed="rId2"/>
          <a:stretch>
            <a:fillRect/>
          </a:stretch>
        </p:blipFill>
        <p:spPr>
          <a:xfrm flipV="1">
            <a:off x="3131820" y="3284855"/>
            <a:ext cx="365760" cy="745490"/>
          </a:xfrm>
          <a:prstGeom prst="rect">
            <a:avLst/>
          </a:prstGeom>
        </p:spPr>
      </p:pic>
      <p:pic>
        <p:nvPicPr>
          <p:cNvPr id="9" name="图片 8"/>
          <p:cNvPicPr>
            <a:picLocks noChangeAspect="1"/>
          </p:cNvPicPr>
          <p:nvPr/>
        </p:nvPicPr>
        <p:blipFill>
          <a:blip r:embed="rId3"/>
          <a:stretch>
            <a:fillRect/>
          </a:stretch>
        </p:blipFill>
        <p:spPr>
          <a:xfrm>
            <a:off x="3154680" y="4581525"/>
            <a:ext cx="2834640" cy="1379220"/>
          </a:xfrm>
          <a:prstGeom prst="rect">
            <a:avLst/>
          </a:prstGeom>
        </p:spPr>
      </p:pic>
    </p:spTree>
  </p:cSld>
  <p:clrMapOvr>
    <a:masterClrMapping/>
  </p:clrMapOvr>
  <p:transition spd="med">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8195" name="TextBox 4"/>
          <p:cNvSpPr txBox="1"/>
          <p:nvPr/>
        </p:nvSpPr>
        <p:spPr>
          <a:xfrm>
            <a:off x="798195" y="1343025"/>
            <a:ext cx="7441565" cy="178625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化为</a:t>
            </a:r>
            <a:r>
              <a:rPr lang="zh-CN" altLang="en-US" sz="2400" dirty="0">
                <a:cs typeface="Times New Roman" panose="02020603050405020304" pitchFamily="18" charset="0"/>
                <a:sym typeface="+mn-ea"/>
              </a:rPr>
              <a:t>单目标：</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模型</a:t>
            </a:r>
            <a:r>
              <a:rPr lang="en-US" altLang="zh-CN" sz="2400" dirty="0">
                <a:cs typeface="Times New Roman" panose="02020603050405020304" pitchFamily="18" charset="0"/>
                <a:sym typeface="+mn-ea"/>
              </a:rPr>
              <a:t>3</a:t>
            </a:r>
            <a:r>
              <a:rPr lang="zh-CN" altLang="en-US" sz="2400" dirty="0">
                <a:cs typeface="Times New Roman" panose="02020603050405020304" pitchFamily="18" charset="0"/>
                <a:sym typeface="+mn-ea"/>
              </a:rPr>
              <a:t>：对收益和风险加权平均（</a:t>
            </a:r>
            <a:r>
              <a:rPr lang="en-US" altLang="zh-CN" sz="2400" dirty="0">
                <a:cs typeface="Times New Roman" panose="02020603050405020304" pitchFamily="18" charset="0"/>
                <a:sym typeface="+mn-ea"/>
              </a:rPr>
              <a:t>0&lt;</a:t>
            </a:r>
            <a:r>
              <a:rPr lang="en-US" altLang="zh-CN" sz="2400" dirty="0">
                <a:cs typeface="Times New Roman" panose="02020603050405020304" pitchFamily="18" charset="0"/>
                <a:sym typeface="+mn-ea"/>
              </a:rPr>
              <a:t>ρ&lt;1</a:t>
            </a:r>
            <a:r>
              <a:rPr lang="zh-CN" altLang="en-US" sz="2400" dirty="0">
                <a:cs typeface="Times New Roman" panose="02020603050405020304" pitchFamily="18" charset="0"/>
                <a:sym typeface="+mn-ea"/>
              </a:rPr>
              <a:t>）</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sp>
        <p:nvSpPr>
          <p:cNvPr id="22530" name="Rectangle 2"/>
          <p:cNvSpPr>
            <a:spLocks noGrp="1" noChangeArrowheads="1"/>
          </p:cNvSpPr>
          <p:nvPr>
            <p:ph type="title"/>
          </p:nvPr>
        </p:nvSpPr>
        <p:spPr>
          <a:xfrm>
            <a:off x="467360" y="48704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问题分析</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7" name="TextBox 4"/>
          <p:cNvSpPr txBox="1"/>
          <p:nvPr/>
        </p:nvSpPr>
        <p:spPr>
          <a:xfrm>
            <a:off x="798195" y="4437380"/>
            <a:ext cx="7441565" cy="105029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三个模型均为非线性规划模型；该问题为多目标非线性规划</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p:txBody>
      </p:sp>
      <p:pic>
        <p:nvPicPr>
          <p:cNvPr id="8" name="图片 7"/>
          <p:cNvPicPr>
            <a:picLocks noChangeAspect="1"/>
          </p:cNvPicPr>
          <p:nvPr/>
        </p:nvPicPr>
        <p:blipFill>
          <a:blip r:embed="rId1"/>
          <a:stretch>
            <a:fillRect/>
          </a:stretch>
        </p:blipFill>
        <p:spPr>
          <a:xfrm flipV="1">
            <a:off x="3131820" y="3284855"/>
            <a:ext cx="365760" cy="745490"/>
          </a:xfrm>
          <a:prstGeom prst="rect">
            <a:avLst/>
          </a:prstGeom>
        </p:spPr>
      </p:pic>
      <p:pic>
        <p:nvPicPr>
          <p:cNvPr id="3" name="图片 2"/>
          <p:cNvPicPr>
            <a:picLocks noChangeAspect="1"/>
          </p:cNvPicPr>
          <p:nvPr/>
        </p:nvPicPr>
        <p:blipFill>
          <a:blip r:embed="rId2"/>
          <a:stretch>
            <a:fillRect/>
          </a:stretch>
        </p:blipFill>
        <p:spPr>
          <a:xfrm>
            <a:off x="2152650" y="2780665"/>
            <a:ext cx="4838700" cy="1515110"/>
          </a:xfrm>
          <a:prstGeom prst="rect">
            <a:avLst/>
          </a:prstGeom>
        </p:spPr>
      </p:pic>
    </p:spTree>
  </p:cSld>
  <p:clrMapOvr>
    <a:masterClrMapping/>
  </p:clrMapOvr>
  <p:transition spd="med">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非线性规划问题</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标准形式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pic>
        <p:nvPicPr>
          <p:cNvPr id="2" name="图片 1"/>
          <p:cNvPicPr>
            <a:picLocks noChangeAspect="1"/>
          </p:cNvPicPr>
          <p:nvPr/>
        </p:nvPicPr>
        <p:blipFill>
          <a:blip r:embed="rId1"/>
          <a:stretch>
            <a:fillRect/>
          </a:stretch>
        </p:blipFill>
        <p:spPr>
          <a:xfrm>
            <a:off x="2195830" y="1844675"/>
            <a:ext cx="5048885" cy="1689735"/>
          </a:xfrm>
          <a:prstGeom prst="rect">
            <a:avLst/>
          </a:prstGeom>
        </p:spPr>
      </p:pic>
      <p:sp>
        <p:nvSpPr>
          <p:cNvPr id="7" name="TextBox 4"/>
          <p:cNvSpPr txBox="1"/>
          <p:nvPr/>
        </p:nvSpPr>
        <p:spPr>
          <a:xfrm>
            <a:off x="999490" y="3933190"/>
            <a:ext cx="7441565" cy="15297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其中，</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为</a:t>
            </a:r>
            <a:r>
              <a:rPr lang="en-US" altLang="zh-CN" sz="2400" dirty="0">
                <a:cs typeface="Times New Roman" panose="02020603050405020304" pitchFamily="18" charset="0"/>
                <a:sym typeface="+mn-ea"/>
              </a:rPr>
              <a:t>n</a:t>
            </a:r>
            <a:r>
              <a:rPr lang="zh-CN" altLang="en-US" sz="2400" dirty="0">
                <a:cs typeface="Times New Roman" panose="02020603050405020304" pitchFamily="18" charset="0"/>
                <a:sym typeface="+mn-ea"/>
              </a:rPr>
              <a:t>维欧式空间</a:t>
            </a:r>
            <a:r>
              <a:rPr lang="en-US" altLang="zh-CN" sz="2400" dirty="0">
                <a:cs typeface="Times New Roman" panose="02020603050405020304" pitchFamily="18" charset="0"/>
                <a:sym typeface="+mn-ea"/>
              </a:rPr>
              <a:t>R</a:t>
            </a:r>
            <a:r>
              <a:rPr lang="en-US" altLang="zh-CN" sz="2400" baseline="-25000" dirty="0">
                <a:cs typeface="Times New Roman" panose="02020603050405020304" pitchFamily="18" charset="0"/>
                <a:sym typeface="+mn-ea"/>
              </a:rPr>
              <a:t>n</a:t>
            </a:r>
            <a:r>
              <a:rPr lang="zh-CN" altLang="en-US" sz="2400" dirty="0">
                <a:cs typeface="Times New Roman" panose="02020603050405020304" pitchFamily="18" charset="0"/>
                <a:sym typeface="+mn-ea"/>
              </a:rPr>
              <a:t>中的向量，</a:t>
            </a:r>
            <a:r>
              <a:rPr lang="en-US" altLang="zh-CN" sz="2400" dirty="0">
                <a:cs typeface="Times New Roman" panose="02020603050405020304" pitchFamily="18" charset="0"/>
                <a:sym typeface="+mn-ea"/>
              </a:rPr>
              <a:t>f(x)</a:t>
            </a:r>
            <a:r>
              <a:rPr lang="zh-CN" altLang="en-US" sz="2400" dirty="0">
                <a:cs typeface="Times New Roman" panose="02020603050405020304" pitchFamily="18" charset="0"/>
                <a:sym typeface="+mn-ea"/>
              </a:rPr>
              <a:t>为目标函数，</a:t>
            </a:r>
            <a:r>
              <a:rPr lang="en-US" altLang="zh-CN" sz="2400" dirty="0">
                <a:cs typeface="Times New Roman" panose="02020603050405020304" pitchFamily="18" charset="0"/>
                <a:sym typeface="+mn-ea"/>
              </a:rPr>
              <a:t>g</a:t>
            </a:r>
            <a:r>
              <a:rPr lang="en-US" altLang="zh-CN" sz="2400" baseline="-25000" dirty="0">
                <a:cs typeface="Times New Roman" panose="02020603050405020304" pitchFamily="18" charset="0"/>
                <a:sym typeface="+mn-ea"/>
              </a:rPr>
              <a:t>i</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h</a:t>
            </a:r>
            <a:r>
              <a:rPr lang="en-US" altLang="zh-CN" sz="2400" baseline="-25000" dirty="0">
                <a:cs typeface="Times New Roman" panose="02020603050405020304" pitchFamily="18" charset="0"/>
                <a:sym typeface="+mn-ea"/>
              </a:rPr>
              <a:t>j</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为约束条件。且</a:t>
            </a:r>
            <a:r>
              <a:rPr lang="en-US" altLang="zh-CN" sz="2400" dirty="0">
                <a:cs typeface="Times New Roman" panose="02020603050405020304" pitchFamily="18" charset="0"/>
                <a:sym typeface="+mn-ea"/>
              </a:rPr>
              <a:t>h</a:t>
            </a:r>
            <a:r>
              <a:rPr lang="en-US" altLang="zh-CN" sz="2400" baseline="-25000" dirty="0">
                <a:cs typeface="Times New Roman" panose="02020603050405020304" pitchFamily="18" charset="0"/>
                <a:sym typeface="+mn-ea"/>
              </a:rPr>
              <a:t>j</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g</a:t>
            </a:r>
            <a:r>
              <a:rPr lang="en-US" altLang="zh-CN" sz="2400" baseline="-25000" dirty="0">
                <a:cs typeface="Times New Roman" panose="02020603050405020304" pitchFamily="18" charset="0"/>
                <a:sym typeface="+mn-ea"/>
              </a:rPr>
              <a:t>i</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f(x)</a:t>
            </a:r>
            <a:r>
              <a:rPr lang="zh-CN" altLang="en-US" sz="2400" dirty="0">
                <a:cs typeface="Times New Roman" panose="02020603050405020304" pitchFamily="18" charset="0"/>
                <a:sym typeface="+mn-ea"/>
              </a:rPr>
              <a:t>中至少有一个是非线性</a:t>
            </a:r>
            <a:r>
              <a:rPr lang="zh-CN" altLang="en-US" sz="2400" dirty="0">
                <a:cs typeface="Times New Roman" panose="02020603050405020304" pitchFamily="18" charset="0"/>
                <a:sym typeface="+mn-ea"/>
              </a:rPr>
              <a:t>函数。</a:t>
            </a: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700530"/>
            <a:ext cx="7441565" cy="65087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优化工具箱主要命令</a:t>
            </a:r>
            <a:endParaRPr lang="zh-CN" altLang="en-US" dirty="0">
              <a:cs typeface="Times New Roman" panose="02020603050405020304" pitchFamily="18" charset="0"/>
              <a:sym typeface="+mn-ea"/>
            </a:endParaRPr>
          </a:p>
        </p:txBody>
      </p:sp>
      <p:sp>
        <p:nvSpPr>
          <p:cNvPr id="3" name="TextBox 4"/>
          <p:cNvSpPr txBox="1"/>
          <p:nvPr/>
        </p:nvSpPr>
        <p:spPr>
          <a:xfrm>
            <a:off x="1403350" y="2423160"/>
            <a:ext cx="6057265" cy="3943350"/>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fgoalattain </a:t>
            </a:r>
            <a:r>
              <a:rPr lang="zh-CN" altLang="en-US" sz="2400" dirty="0">
                <a:cs typeface="Times New Roman" panose="02020603050405020304" pitchFamily="18" charset="0"/>
                <a:sym typeface="+mn-ea"/>
              </a:rPr>
              <a:t>多目标</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fminbnd </a:t>
            </a:r>
            <a:r>
              <a:rPr lang="zh-CN" altLang="en-US" sz="2400" dirty="0">
                <a:cs typeface="Times New Roman" panose="02020603050405020304" pitchFamily="18" charset="0"/>
                <a:sym typeface="+mn-ea"/>
              </a:rPr>
              <a:t>有界标量非线性优化</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fmincon </a:t>
            </a:r>
            <a:r>
              <a:rPr lang="zh-CN" altLang="en-US" sz="2400" dirty="0">
                <a:cs typeface="Times New Roman" panose="02020603050405020304" pitchFamily="18" charset="0"/>
                <a:sym typeface="+mn-ea"/>
              </a:rPr>
              <a:t>约束非线性</a:t>
            </a:r>
            <a:r>
              <a:rPr lang="zh-CN" altLang="en-US" sz="2400" dirty="0">
                <a:cs typeface="Times New Roman" panose="02020603050405020304" pitchFamily="18" charset="0"/>
                <a:sym typeface="+mn-ea"/>
              </a:rPr>
              <a:t>极小化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fminimax </a:t>
            </a:r>
            <a:r>
              <a:rPr lang="zh-CN" altLang="en-US" sz="2400" dirty="0">
                <a:cs typeface="Times New Roman" panose="02020603050405020304" pitchFamily="18" charset="0"/>
                <a:sym typeface="+mn-ea"/>
              </a:rPr>
              <a:t>极小极大</a:t>
            </a:r>
            <a:r>
              <a:rPr lang="zh-CN" altLang="en-US" sz="2400" dirty="0">
                <a:cs typeface="Times New Roman" panose="02020603050405020304" pitchFamily="18" charset="0"/>
                <a:sym typeface="+mn-ea"/>
              </a:rPr>
              <a:t>最优化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fminsearch</a:t>
            </a:r>
            <a:r>
              <a:rPr lang="zh-CN" altLang="en-US" sz="2400" dirty="0">
                <a:cs typeface="Times New Roman" panose="02020603050405020304" pitchFamily="18" charset="0"/>
                <a:sym typeface="+mn-ea"/>
              </a:rPr>
              <a:t>和</a:t>
            </a:r>
            <a:r>
              <a:rPr lang="en-US" altLang="zh-CN" sz="2400" dirty="0">
                <a:cs typeface="Times New Roman" panose="02020603050405020304" pitchFamily="18" charset="0"/>
                <a:sym typeface="+mn-ea"/>
              </a:rPr>
              <a:t>fminunc </a:t>
            </a:r>
            <a:r>
              <a:rPr lang="zh-CN" altLang="en-US" sz="2400" dirty="0">
                <a:cs typeface="Times New Roman" panose="02020603050405020304" pitchFamily="18" charset="0"/>
                <a:sym typeface="+mn-ea"/>
              </a:rPr>
              <a:t>无约束非线性</a:t>
            </a:r>
            <a:r>
              <a:rPr lang="zh-CN" altLang="en-US" sz="2400" dirty="0">
                <a:cs typeface="Times New Roman" panose="02020603050405020304" pitchFamily="18" charset="0"/>
                <a:sym typeface="+mn-ea"/>
              </a:rPr>
              <a:t>最优化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fseminf </a:t>
            </a:r>
            <a:r>
              <a:rPr lang="zh-CN" altLang="en-US" sz="2400" dirty="0">
                <a:cs typeface="Times New Roman" panose="02020603050405020304" pitchFamily="18" charset="0"/>
                <a:sym typeface="+mn-ea"/>
              </a:rPr>
              <a:t>半无限</a:t>
            </a:r>
            <a:r>
              <a:rPr lang="zh-CN" altLang="en-US" sz="2400" dirty="0">
                <a:cs typeface="Times New Roman" panose="02020603050405020304" pitchFamily="18" charset="0"/>
                <a:sym typeface="+mn-ea"/>
              </a:rPr>
              <a:t>极小化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linprog </a:t>
            </a:r>
            <a:r>
              <a:rPr lang="zh-CN" altLang="en-US" sz="2400" dirty="0">
                <a:cs typeface="Times New Roman" panose="02020603050405020304" pitchFamily="18" charset="0"/>
                <a:sym typeface="+mn-ea"/>
              </a:rPr>
              <a:t>线性</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quadprog </a:t>
            </a:r>
            <a:r>
              <a:rPr lang="zh-CN" altLang="en-US" sz="2400" dirty="0">
                <a:cs typeface="Times New Roman" panose="02020603050405020304" pitchFamily="18" charset="0"/>
                <a:sym typeface="+mn-ea"/>
              </a:rPr>
              <a:t>二次</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700530"/>
            <a:ext cx="7441565" cy="65087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优化工具箱主要命令</a:t>
            </a:r>
            <a:endParaRPr lang="zh-CN" altLang="en-US" dirty="0">
              <a:cs typeface="Times New Roman" panose="02020603050405020304" pitchFamily="18" charset="0"/>
              <a:sym typeface="+mn-ea"/>
            </a:endParaRPr>
          </a:p>
        </p:txBody>
      </p:sp>
      <p:sp>
        <p:nvSpPr>
          <p:cNvPr id="3" name="TextBox 4"/>
          <p:cNvSpPr txBox="1"/>
          <p:nvPr/>
        </p:nvSpPr>
        <p:spPr>
          <a:xfrm>
            <a:off x="1403350" y="2423160"/>
            <a:ext cx="6057265" cy="3943350"/>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fgoalattain </a:t>
            </a:r>
            <a:r>
              <a:rPr lang="zh-CN" altLang="en-US" sz="2400" dirty="0">
                <a:cs typeface="Times New Roman" panose="02020603050405020304" pitchFamily="18" charset="0"/>
                <a:sym typeface="+mn-ea"/>
              </a:rPr>
              <a:t>多目标</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fminbnd </a:t>
            </a:r>
            <a:r>
              <a:rPr lang="zh-CN" altLang="en-US" sz="2400" dirty="0">
                <a:cs typeface="Times New Roman" panose="02020603050405020304" pitchFamily="18" charset="0"/>
                <a:sym typeface="+mn-ea"/>
              </a:rPr>
              <a:t>有界标量非线性优化</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fmincon </a:t>
            </a:r>
            <a:r>
              <a:rPr lang="zh-CN" altLang="en-US" sz="2400" dirty="0">
                <a:cs typeface="Times New Roman" panose="02020603050405020304" pitchFamily="18" charset="0"/>
                <a:sym typeface="+mn-ea"/>
              </a:rPr>
              <a:t>约束非线性</a:t>
            </a:r>
            <a:r>
              <a:rPr lang="zh-CN" altLang="en-US" sz="2400" dirty="0">
                <a:cs typeface="Times New Roman" panose="02020603050405020304" pitchFamily="18" charset="0"/>
                <a:sym typeface="+mn-ea"/>
              </a:rPr>
              <a:t>极小化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fminimax </a:t>
            </a:r>
            <a:r>
              <a:rPr lang="zh-CN" altLang="en-US" sz="2400" dirty="0">
                <a:cs typeface="Times New Roman" panose="02020603050405020304" pitchFamily="18" charset="0"/>
                <a:sym typeface="+mn-ea"/>
              </a:rPr>
              <a:t>极小极大</a:t>
            </a:r>
            <a:r>
              <a:rPr lang="zh-CN" altLang="en-US" sz="2400" dirty="0">
                <a:cs typeface="Times New Roman" panose="02020603050405020304" pitchFamily="18" charset="0"/>
                <a:sym typeface="+mn-ea"/>
              </a:rPr>
              <a:t>最优化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fminsearch</a:t>
            </a:r>
            <a:r>
              <a:rPr lang="zh-CN" altLang="en-US" sz="2400" dirty="0">
                <a:cs typeface="Times New Roman" panose="02020603050405020304" pitchFamily="18" charset="0"/>
                <a:sym typeface="+mn-ea"/>
              </a:rPr>
              <a:t>和</a:t>
            </a:r>
            <a:r>
              <a:rPr lang="en-US" altLang="zh-CN" sz="2400" dirty="0">
                <a:cs typeface="Times New Roman" panose="02020603050405020304" pitchFamily="18" charset="0"/>
                <a:sym typeface="+mn-ea"/>
              </a:rPr>
              <a:t>fminunc </a:t>
            </a:r>
            <a:r>
              <a:rPr lang="zh-CN" altLang="en-US" sz="2400" dirty="0">
                <a:cs typeface="Times New Roman" panose="02020603050405020304" pitchFamily="18" charset="0"/>
                <a:sym typeface="+mn-ea"/>
              </a:rPr>
              <a:t>无约束非线性</a:t>
            </a:r>
            <a:r>
              <a:rPr lang="zh-CN" altLang="en-US" sz="2400" dirty="0">
                <a:cs typeface="Times New Roman" panose="02020603050405020304" pitchFamily="18" charset="0"/>
                <a:sym typeface="+mn-ea"/>
              </a:rPr>
              <a:t>最优化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fseminf </a:t>
            </a:r>
            <a:r>
              <a:rPr lang="zh-CN" altLang="en-US" sz="2400" dirty="0">
                <a:cs typeface="Times New Roman" panose="02020603050405020304" pitchFamily="18" charset="0"/>
                <a:sym typeface="+mn-ea"/>
              </a:rPr>
              <a:t>半无限</a:t>
            </a:r>
            <a:r>
              <a:rPr lang="zh-CN" altLang="en-US" sz="2400" dirty="0">
                <a:cs typeface="Times New Roman" panose="02020603050405020304" pitchFamily="18" charset="0"/>
                <a:sym typeface="+mn-ea"/>
              </a:rPr>
              <a:t>极小化</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linprog </a:t>
            </a:r>
            <a:r>
              <a:rPr lang="zh-CN" altLang="en-US" sz="2400" dirty="0">
                <a:cs typeface="Times New Roman" panose="02020603050405020304" pitchFamily="18" charset="0"/>
                <a:sym typeface="+mn-ea"/>
              </a:rPr>
              <a:t>线性</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quadprog </a:t>
            </a:r>
            <a:r>
              <a:rPr lang="zh-CN" altLang="en-US" sz="2400" dirty="0">
                <a:cs typeface="Times New Roman" panose="02020603050405020304" pitchFamily="18" charset="0"/>
                <a:sym typeface="+mn-ea"/>
              </a:rPr>
              <a:t>二次</a:t>
            </a:r>
            <a:r>
              <a:rPr lang="zh-CN" altLang="en-US" sz="2400" dirty="0">
                <a:cs typeface="Times New Roman" panose="02020603050405020304" pitchFamily="18" charset="0"/>
                <a:sym typeface="+mn-ea"/>
              </a:rPr>
              <a:t>规划</a:t>
            </a: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844040"/>
            <a:ext cx="7441565" cy="13392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函数</a:t>
            </a:r>
            <a:r>
              <a:rPr lang="en-US" altLang="zh-CN" dirty="0">
                <a:cs typeface="Times New Roman" panose="02020603050405020304" pitchFamily="18" charset="0"/>
                <a:sym typeface="+mn-ea"/>
              </a:rPr>
              <a:t>fminunc</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fminsearch</a:t>
            </a:r>
            <a:r>
              <a:rPr lang="zh-CN" altLang="en-US" dirty="0">
                <a:cs typeface="Times New Roman" panose="02020603050405020304" pitchFamily="18" charset="0"/>
                <a:sym typeface="+mn-ea"/>
              </a:rPr>
              <a:t>具体</a:t>
            </a:r>
            <a:r>
              <a:rPr lang="zh-CN" altLang="en-US" dirty="0">
                <a:cs typeface="Times New Roman" panose="02020603050405020304" pitchFamily="18" charset="0"/>
                <a:sym typeface="+mn-ea"/>
              </a:rPr>
              <a:t>用法</a:t>
            </a:r>
            <a:endParaRPr lang="zh-CN" altLang="en-US"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无约束非线性规划情形</a:t>
            </a:r>
            <a:r>
              <a:rPr lang="en-US" altLang="zh-CN" dirty="0">
                <a:cs typeface="Times New Roman" panose="02020603050405020304" pitchFamily="18" charset="0"/>
                <a:sym typeface="+mn-ea"/>
              </a:rPr>
              <a:t>)</a:t>
            </a:r>
            <a:endParaRPr lang="en-US" altLang="zh-CN" dirty="0">
              <a:cs typeface="Times New Roman" panose="02020603050405020304" pitchFamily="18" charset="0"/>
              <a:sym typeface="+mn-ea"/>
            </a:endParaRPr>
          </a:p>
        </p:txBody>
      </p:sp>
      <p:sp>
        <p:nvSpPr>
          <p:cNvPr id="3" name="TextBox 4"/>
          <p:cNvSpPr txBox="1"/>
          <p:nvPr/>
        </p:nvSpPr>
        <p:spPr>
          <a:xfrm>
            <a:off x="772160" y="3284220"/>
            <a:ext cx="6688455" cy="1953260"/>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标准形式：</a:t>
            </a:r>
            <a:r>
              <a:rPr lang="en-US" altLang="zh-CN" sz="2400" dirty="0">
                <a:cs typeface="Times New Roman" panose="02020603050405020304" pitchFamily="18" charset="0"/>
                <a:sym typeface="+mn-ea"/>
              </a:rPr>
              <a:t>min f(x)</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调用格式：</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[X,fval]=fminunc(‘fun’,x0,options)</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[X,fval]=fminsearch(‘fun’,x0,options)</a:t>
            </a:r>
            <a:endParaRPr lang="en-US" altLang="zh-CN" sz="2400" dirty="0">
              <a:cs typeface="Times New Roman" panose="02020603050405020304" pitchFamily="18" charset="0"/>
              <a:sym typeface="+mn-ea"/>
            </a:endParaRPr>
          </a:p>
        </p:txBody>
      </p:sp>
    </p:spTree>
  </p:cSld>
  <p:clrMapOvr>
    <a:masterClrMapping/>
  </p:clrMapOvr>
  <p:transition spd="med">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557020"/>
            <a:ext cx="7441565" cy="13392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函数</a:t>
            </a:r>
            <a:r>
              <a:rPr lang="en-US" altLang="zh-CN" dirty="0">
                <a:cs typeface="Times New Roman" panose="02020603050405020304" pitchFamily="18" charset="0"/>
                <a:sym typeface="+mn-ea"/>
              </a:rPr>
              <a:t>fmin</a:t>
            </a:r>
            <a:r>
              <a:rPr lang="en-US" dirty="0">
                <a:cs typeface="Times New Roman" panose="02020603050405020304" pitchFamily="18" charset="0"/>
                <a:sym typeface="+mn-ea"/>
              </a:rPr>
              <a:t>con</a:t>
            </a:r>
            <a:r>
              <a:rPr lang="zh-CN" altLang="en-US" dirty="0">
                <a:cs typeface="Times New Roman" panose="02020603050405020304" pitchFamily="18" charset="0"/>
                <a:sym typeface="+mn-ea"/>
              </a:rPr>
              <a:t>具体</a:t>
            </a:r>
            <a:r>
              <a:rPr lang="zh-CN" altLang="en-US" dirty="0">
                <a:cs typeface="Times New Roman" panose="02020603050405020304" pitchFamily="18" charset="0"/>
                <a:sym typeface="+mn-ea"/>
              </a:rPr>
              <a:t>用法</a:t>
            </a:r>
            <a:endParaRPr lang="zh-CN" altLang="en-US"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约束非线性规划情形</a:t>
            </a:r>
            <a:r>
              <a:rPr lang="en-US" altLang="zh-CN" dirty="0">
                <a:cs typeface="Times New Roman" panose="02020603050405020304" pitchFamily="18" charset="0"/>
                <a:sym typeface="+mn-ea"/>
              </a:rPr>
              <a:t>)</a:t>
            </a:r>
            <a:endParaRPr lang="en-US" altLang="zh-CN" dirty="0">
              <a:cs typeface="Times New Roman" panose="02020603050405020304" pitchFamily="18" charset="0"/>
              <a:sym typeface="+mn-ea"/>
            </a:endParaRPr>
          </a:p>
        </p:txBody>
      </p:sp>
      <p:sp>
        <p:nvSpPr>
          <p:cNvPr id="3" name="TextBox 4"/>
          <p:cNvSpPr txBox="1"/>
          <p:nvPr/>
        </p:nvSpPr>
        <p:spPr>
          <a:xfrm>
            <a:off x="755650" y="3068955"/>
            <a:ext cx="8046085" cy="2948305"/>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标准形式：</a:t>
            </a:r>
            <a:r>
              <a:rPr lang="en-US" altLang="zh-CN" sz="2400" dirty="0">
                <a:cs typeface="Times New Roman" panose="02020603050405020304" pitchFamily="18" charset="0"/>
                <a:sym typeface="+mn-ea"/>
              </a:rPr>
              <a:t>min f(x)</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调用格式：</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[X,fval]=fmincon(@fun,x0,A,b,Aeq,beq,lb,ub,@con)</a:t>
            </a:r>
            <a:endParaRPr lang="en-US" altLang="zh-CN" sz="2400"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2051685" y="3500755"/>
            <a:ext cx="4930140" cy="1744980"/>
          </a:xfrm>
          <a:prstGeom prst="rect">
            <a:avLst/>
          </a:prstGeom>
        </p:spPr>
      </p:pic>
    </p:spTree>
  </p:cSld>
  <p:clrMapOvr>
    <a:masterClrMapping/>
  </p:clrMapOvr>
  <p:transition spd="med">
    <p:blinds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557020"/>
            <a:ext cx="7441565" cy="13392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函数</a:t>
            </a:r>
            <a:r>
              <a:rPr lang="en-US" altLang="zh-CN" dirty="0">
                <a:cs typeface="Times New Roman" panose="02020603050405020304" pitchFamily="18" charset="0"/>
                <a:sym typeface="+mn-ea"/>
              </a:rPr>
              <a:t>quadprog</a:t>
            </a:r>
            <a:r>
              <a:rPr lang="zh-CN" altLang="en-US" dirty="0">
                <a:cs typeface="Times New Roman" panose="02020603050405020304" pitchFamily="18" charset="0"/>
                <a:sym typeface="+mn-ea"/>
              </a:rPr>
              <a:t>具体</a:t>
            </a:r>
            <a:r>
              <a:rPr lang="zh-CN" altLang="en-US" dirty="0">
                <a:cs typeface="Times New Roman" panose="02020603050405020304" pitchFamily="18" charset="0"/>
                <a:sym typeface="+mn-ea"/>
              </a:rPr>
              <a:t>用法</a:t>
            </a:r>
            <a:endParaRPr lang="zh-CN" altLang="en-US"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求解二次规划问题</a:t>
            </a:r>
            <a:r>
              <a:rPr lang="en-US" altLang="zh-CN" dirty="0">
                <a:cs typeface="Times New Roman" panose="02020603050405020304" pitchFamily="18" charset="0"/>
                <a:sym typeface="+mn-ea"/>
              </a:rPr>
              <a:t>)</a:t>
            </a:r>
            <a:endParaRPr lang="en-US" altLang="zh-CN" dirty="0">
              <a:cs typeface="Times New Roman" panose="02020603050405020304" pitchFamily="18" charset="0"/>
              <a:sym typeface="+mn-ea"/>
            </a:endParaRPr>
          </a:p>
        </p:txBody>
      </p:sp>
      <p:sp>
        <p:nvSpPr>
          <p:cNvPr id="3" name="TextBox 4"/>
          <p:cNvSpPr txBox="1"/>
          <p:nvPr/>
        </p:nvSpPr>
        <p:spPr>
          <a:xfrm>
            <a:off x="755650" y="3068955"/>
            <a:ext cx="8046085" cy="2948305"/>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标准形式：</a:t>
            </a:r>
            <a:r>
              <a:rPr lang="en-US" altLang="zh-CN" sz="2400" dirty="0">
                <a:cs typeface="Times New Roman" panose="02020603050405020304" pitchFamily="18" charset="0"/>
                <a:sym typeface="+mn-ea"/>
              </a:rPr>
              <a:t>min f(x)</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调用格式：</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[X,fval]=quadprog(H,c,A,b,Aeq,beq,L,U,x0)</a:t>
            </a:r>
            <a:endParaRPr lang="en-US" altLang="zh-CN" sz="2400" dirty="0">
              <a:cs typeface="Times New Roman" panose="02020603050405020304" pitchFamily="18" charset="0"/>
              <a:sym typeface="+mn-ea"/>
            </a:endParaRPr>
          </a:p>
        </p:txBody>
      </p:sp>
      <p:pic>
        <p:nvPicPr>
          <p:cNvPr id="4" name="图片 3"/>
          <p:cNvPicPr>
            <a:picLocks noChangeAspect="1"/>
          </p:cNvPicPr>
          <p:nvPr/>
        </p:nvPicPr>
        <p:blipFill>
          <a:blip r:embed="rId1"/>
          <a:stretch>
            <a:fillRect/>
          </a:stretch>
        </p:blipFill>
        <p:spPr>
          <a:xfrm>
            <a:off x="3112770" y="3500755"/>
            <a:ext cx="2727960" cy="1958340"/>
          </a:xfrm>
          <a:prstGeom prst="rect">
            <a:avLst/>
          </a:prstGeom>
        </p:spPr>
      </p:pic>
    </p:spTree>
  </p:cSld>
  <p:clrMapOvr>
    <a:masterClrMapping/>
  </p:clrMapOvr>
  <p:transition spd="med">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557020"/>
            <a:ext cx="7441565" cy="1943100"/>
          </a:xfrm>
          <a:prstGeom prst="rect">
            <a:avLst/>
          </a:prstGeom>
          <a:noFill/>
          <a:ln w="9525">
            <a:noFill/>
          </a:ln>
        </p:spPr>
        <p:txBody>
          <a:bodyPr wrap="square">
            <a:spAutoFit/>
          </a:bodyPr>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选址（非线性转化为线性求解）</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6</a:t>
            </a:r>
            <a:r>
              <a:rPr lang="zh-CN" altLang="en-US" dirty="0">
                <a:cs typeface="Times New Roman" panose="02020603050405020304" pitchFamily="18" charset="0"/>
                <a:sym typeface="+mn-ea"/>
              </a:rPr>
              <a:t>个建筑工地水泥的日用量分别为</a:t>
            </a:r>
            <a:r>
              <a:rPr lang="en-US" altLang="zh-CN" dirty="0">
                <a:cs typeface="Times New Roman" panose="02020603050405020304" pitchFamily="18" charset="0"/>
                <a:sym typeface="+mn-ea"/>
              </a:rPr>
              <a:t>3</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5</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4</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7</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6</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11</a:t>
            </a:r>
            <a:r>
              <a:rPr lang="zh-CN" altLang="en-US" dirty="0">
                <a:cs typeface="Times New Roman" panose="02020603050405020304" pitchFamily="18" charset="0"/>
                <a:sym typeface="+mn-ea"/>
              </a:rPr>
              <a:t>吨，两个临时料场</a:t>
            </a:r>
            <a:r>
              <a:rPr lang="en-US" altLang="zh-CN" dirty="0">
                <a:cs typeface="Times New Roman" panose="02020603050405020304" pitchFamily="18" charset="0"/>
                <a:sym typeface="+mn-ea"/>
              </a:rPr>
              <a:t>A</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B</a:t>
            </a:r>
            <a:r>
              <a:rPr lang="zh-CN" altLang="en-US" dirty="0">
                <a:cs typeface="Times New Roman" panose="02020603050405020304" pitchFamily="18" charset="0"/>
                <a:sym typeface="+mn-ea"/>
              </a:rPr>
              <a:t>，日储量各有</a:t>
            </a:r>
            <a:r>
              <a:rPr lang="en-US" altLang="zh-CN" dirty="0">
                <a:cs typeface="Times New Roman" panose="02020603050405020304" pitchFamily="18" charset="0"/>
                <a:sym typeface="+mn-ea"/>
              </a:rPr>
              <a:t>20</a:t>
            </a:r>
            <a:r>
              <a:rPr lang="zh-CN" altLang="en-US" dirty="0">
                <a:cs typeface="Times New Roman" panose="02020603050405020304" pitchFamily="18" charset="0"/>
                <a:sym typeface="+mn-ea"/>
              </a:rPr>
              <a:t>吨，假设从料场到工地均有直线相</a:t>
            </a:r>
            <a:r>
              <a:rPr lang="zh-CN" altLang="en-US" dirty="0">
                <a:cs typeface="Times New Roman" panose="02020603050405020304" pitchFamily="18" charset="0"/>
                <a:sym typeface="+mn-ea"/>
              </a:rPr>
              <a:t>连。</a:t>
            </a:r>
            <a:endParaRPr lang="zh-CN" altLang="en-US"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2339975" y="3500120"/>
            <a:ext cx="4589780" cy="3078480"/>
          </a:xfrm>
          <a:prstGeom prst="rect">
            <a:avLst/>
          </a:prstGeom>
        </p:spPr>
      </p:pic>
    </p:spTree>
  </p:cSld>
  <p:clrMapOvr>
    <a:masterClrMapping/>
  </p:clrMapOvr>
  <p:transition spd="med">
    <p:blinds dir="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55650" y="1557020"/>
            <a:ext cx="7441565" cy="370649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问题</a:t>
            </a:r>
            <a:r>
              <a:rPr lang="en-US" altLang="zh-CN" dirty="0">
                <a:cs typeface="Times New Roman" panose="02020603050405020304" pitchFamily="18" charset="0"/>
                <a:sym typeface="+mn-ea"/>
              </a:rPr>
              <a:t>1</a:t>
            </a:r>
            <a:r>
              <a:rPr lang="zh-CN" altLang="en-US" dirty="0">
                <a:cs typeface="Times New Roman" panose="02020603050405020304" pitchFamily="18" charset="0"/>
                <a:sym typeface="+mn-ea"/>
              </a:rPr>
              <a:t>：试制定每天</a:t>
            </a:r>
            <a:r>
              <a:rPr lang="en-US" altLang="zh-CN" dirty="0">
                <a:cs typeface="Times New Roman" panose="02020603050405020304" pitchFamily="18" charset="0"/>
                <a:sym typeface="+mn-ea"/>
              </a:rPr>
              <a:t>A</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B</a:t>
            </a:r>
            <a:r>
              <a:rPr lang="zh-CN" altLang="en-US" dirty="0">
                <a:cs typeface="Times New Roman" panose="02020603050405020304" pitchFamily="18" charset="0"/>
                <a:sym typeface="+mn-ea"/>
              </a:rPr>
              <a:t>两料场向各工地供应水泥的供应计划，使总的吨千米数</a:t>
            </a:r>
            <a:r>
              <a:rPr lang="zh-CN" altLang="en-US" dirty="0">
                <a:cs typeface="Times New Roman" panose="02020603050405020304" pitchFamily="18" charset="0"/>
                <a:sym typeface="+mn-ea"/>
              </a:rPr>
              <a:t>最小。</a:t>
            </a:r>
            <a:endParaRPr lang="zh-CN" altLang="en-US"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问题</a:t>
            </a:r>
            <a:r>
              <a:rPr lang="en-US" altLang="zh-CN" dirty="0">
                <a:cs typeface="Times New Roman" panose="02020603050405020304" pitchFamily="18" charset="0"/>
                <a:sym typeface="+mn-ea"/>
              </a:rPr>
              <a:t>2</a:t>
            </a:r>
            <a:r>
              <a:rPr lang="zh-CN" altLang="en-US" dirty="0">
                <a:cs typeface="Times New Roman" panose="02020603050405020304" pitchFamily="18" charset="0"/>
                <a:sym typeface="+mn-ea"/>
              </a:rPr>
              <a:t>：为进一步减少吨千米数，打算舍弃两个临时料场，改建两个新的，日储量仍各为</a:t>
            </a:r>
            <a:r>
              <a:rPr lang="en-US" altLang="zh-CN" dirty="0">
                <a:cs typeface="Times New Roman" panose="02020603050405020304" pitchFamily="18" charset="0"/>
                <a:sym typeface="+mn-ea"/>
              </a:rPr>
              <a:t>20</a:t>
            </a:r>
            <a:r>
              <a:rPr lang="zh-CN" altLang="en-US" dirty="0">
                <a:cs typeface="Times New Roman" panose="02020603050405020304" pitchFamily="18" charset="0"/>
                <a:sym typeface="+mn-ea"/>
              </a:rPr>
              <a:t>吨，问应该建在何处，节省的吨千米数有</a:t>
            </a:r>
            <a:r>
              <a:rPr lang="zh-CN" altLang="en-US" dirty="0">
                <a:cs typeface="Times New Roman" panose="02020603050405020304" pitchFamily="18" charset="0"/>
                <a:sym typeface="+mn-ea"/>
              </a:rPr>
              <a:t>多大？</a:t>
            </a:r>
            <a:endParaRPr lang="zh-CN" altLang="en-US" dirty="0">
              <a:cs typeface="Times New Roman" panose="02020603050405020304" pitchFamily="18" charset="0"/>
              <a:sym typeface="+mn-ea"/>
            </a:endParaRPr>
          </a:p>
        </p:txBody>
      </p:sp>
    </p:spTree>
  </p:cSld>
  <p:clrMapOvr>
    <a:masterClrMapping/>
  </p:clrMapOvr>
  <p:transition spd="med">
    <p:blinds dir="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798830" y="1446530"/>
            <a:ext cx="7441565" cy="263080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建立</a:t>
            </a:r>
            <a:r>
              <a:rPr lang="zh-CN" altLang="en-US" dirty="0">
                <a:cs typeface="Times New Roman" panose="02020603050405020304" pitchFamily="18" charset="0"/>
                <a:sym typeface="+mn-ea"/>
              </a:rPr>
              <a:t>规划模型</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记工地位置为</a:t>
            </a:r>
            <a:r>
              <a:rPr lang="en-US" altLang="zh-CN" dirty="0">
                <a:cs typeface="Times New Roman" panose="02020603050405020304" pitchFamily="18" charset="0"/>
                <a:sym typeface="+mn-ea"/>
              </a:rPr>
              <a:t>(a</a:t>
            </a:r>
            <a:r>
              <a:rPr lang="en-US" altLang="zh-CN" baseline="-25000" dirty="0">
                <a:cs typeface="Times New Roman" panose="02020603050405020304" pitchFamily="18" charset="0"/>
                <a:sym typeface="+mn-ea"/>
              </a:rPr>
              <a:t>i</a:t>
            </a:r>
            <a:r>
              <a:rPr lang="en-US" altLang="zh-CN" dirty="0">
                <a:cs typeface="Times New Roman" panose="02020603050405020304" pitchFamily="18" charset="0"/>
                <a:sym typeface="+mn-ea"/>
              </a:rPr>
              <a:t>,b</a:t>
            </a:r>
            <a:r>
              <a:rPr lang="en-US" altLang="zh-CN" baseline="-25000" dirty="0">
                <a:cs typeface="Times New Roman" panose="02020603050405020304" pitchFamily="18" charset="0"/>
                <a:sym typeface="+mn-ea"/>
              </a:rPr>
              <a:t>i</a:t>
            </a: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，水泥日用量为</a:t>
            </a:r>
            <a:r>
              <a:rPr lang="en-US" altLang="zh-CN" dirty="0">
                <a:cs typeface="Times New Roman" panose="02020603050405020304" pitchFamily="18" charset="0"/>
                <a:sym typeface="+mn-ea"/>
              </a:rPr>
              <a:t>d</a:t>
            </a:r>
            <a:r>
              <a:rPr lang="en-US" altLang="zh-CN" baseline="-25000" dirty="0">
                <a:cs typeface="Times New Roman" panose="02020603050405020304" pitchFamily="18" charset="0"/>
                <a:sym typeface="+mn-ea"/>
              </a:rPr>
              <a:t>i</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i=1,...,6</a:t>
            </a:r>
            <a:r>
              <a:rPr lang="zh-CN" altLang="en-US" dirty="0">
                <a:cs typeface="Times New Roman" panose="02020603050405020304" pitchFamily="18" charset="0"/>
                <a:sym typeface="+mn-ea"/>
              </a:rPr>
              <a:t>，料场位置为</a:t>
            </a:r>
            <a:r>
              <a:rPr lang="en-US" altLang="zh-CN" dirty="0">
                <a:cs typeface="Times New Roman" panose="02020603050405020304" pitchFamily="18" charset="0"/>
                <a:sym typeface="+mn-ea"/>
              </a:rPr>
              <a:t>(x</a:t>
            </a:r>
            <a:r>
              <a:rPr lang="en-US" altLang="zh-CN" baseline="-25000" dirty="0">
                <a:cs typeface="Times New Roman" panose="02020603050405020304" pitchFamily="18" charset="0"/>
                <a:sym typeface="+mn-ea"/>
              </a:rPr>
              <a:t>j</a:t>
            </a:r>
            <a:r>
              <a:rPr lang="en-US" altLang="zh-CN" dirty="0">
                <a:cs typeface="Times New Roman" panose="02020603050405020304" pitchFamily="18" charset="0"/>
                <a:sym typeface="+mn-ea"/>
              </a:rPr>
              <a:t>,y</a:t>
            </a:r>
            <a:r>
              <a:rPr lang="en-US" altLang="zh-CN" baseline="-25000" dirty="0">
                <a:cs typeface="Times New Roman" panose="02020603050405020304" pitchFamily="18" charset="0"/>
                <a:sym typeface="+mn-ea"/>
              </a:rPr>
              <a:t>j</a:t>
            </a: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，日储量为</a:t>
            </a:r>
            <a:r>
              <a:rPr lang="en-US" altLang="zh-CN" dirty="0">
                <a:cs typeface="Times New Roman" panose="02020603050405020304" pitchFamily="18" charset="0"/>
                <a:sym typeface="+mn-ea"/>
              </a:rPr>
              <a:t>r</a:t>
            </a:r>
            <a:r>
              <a:rPr lang="en-US" altLang="zh-CN" baseline="-25000" dirty="0">
                <a:cs typeface="Times New Roman" panose="02020603050405020304" pitchFamily="18" charset="0"/>
                <a:sym typeface="+mn-ea"/>
              </a:rPr>
              <a:t>j</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j=1,2</a:t>
            </a:r>
            <a:r>
              <a:rPr lang="zh-CN" altLang="en-US" dirty="0">
                <a:cs typeface="Times New Roman" panose="02020603050405020304" pitchFamily="18" charset="0"/>
                <a:sym typeface="+mn-ea"/>
              </a:rPr>
              <a:t>；从料场</a:t>
            </a:r>
            <a:r>
              <a:rPr lang="en-US" altLang="zh-CN" dirty="0">
                <a:cs typeface="Times New Roman" panose="02020603050405020304" pitchFamily="18" charset="0"/>
                <a:sym typeface="+mn-ea"/>
              </a:rPr>
              <a:t>j</a:t>
            </a:r>
            <a:r>
              <a:rPr lang="zh-CN" altLang="en-US" dirty="0">
                <a:cs typeface="Times New Roman" panose="02020603050405020304" pitchFamily="18" charset="0"/>
                <a:sym typeface="+mn-ea"/>
              </a:rPr>
              <a:t>向工地</a:t>
            </a:r>
            <a:r>
              <a:rPr lang="en-US" altLang="zh-CN" dirty="0">
                <a:cs typeface="Times New Roman" panose="02020603050405020304" pitchFamily="18" charset="0"/>
                <a:sym typeface="+mn-ea"/>
              </a:rPr>
              <a:t>i</a:t>
            </a:r>
            <a:r>
              <a:rPr lang="zh-CN" altLang="en-US" dirty="0">
                <a:cs typeface="Times New Roman" panose="02020603050405020304" pitchFamily="18" charset="0"/>
                <a:sym typeface="+mn-ea"/>
              </a:rPr>
              <a:t>的运输量为</a:t>
            </a:r>
            <a:r>
              <a:rPr lang="en-US" altLang="zh-CN" dirty="0">
                <a:cs typeface="Times New Roman" panose="02020603050405020304" pitchFamily="18" charset="0"/>
                <a:sym typeface="+mn-ea"/>
              </a:rPr>
              <a:t>z</a:t>
            </a:r>
            <a:r>
              <a:rPr lang="en-US" altLang="zh-CN" baseline="-25000" dirty="0">
                <a:cs typeface="Times New Roman" panose="02020603050405020304" pitchFamily="18" charset="0"/>
                <a:sym typeface="+mn-ea"/>
              </a:rPr>
              <a:t>ij</a:t>
            </a:r>
            <a:r>
              <a:rPr lang="zh-CN" altLang="en-US" dirty="0">
                <a:cs typeface="Times New Roman" panose="02020603050405020304" pitchFamily="18" charset="0"/>
                <a:sym typeface="+mn-ea"/>
              </a:rPr>
              <a:t>，</a:t>
            </a:r>
            <a:r>
              <a:rPr lang="zh-CN" altLang="en-US" dirty="0">
                <a:cs typeface="Times New Roman" panose="02020603050405020304" pitchFamily="18" charset="0"/>
                <a:sym typeface="+mn-ea"/>
              </a:rPr>
              <a:t>则有</a:t>
            </a:r>
            <a:endParaRPr lang="zh-CN" altLang="en-US"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2700020" y="4077335"/>
            <a:ext cx="4432935" cy="2470785"/>
          </a:xfrm>
          <a:prstGeom prst="rect">
            <a:avLst/>
          </a:prstGeom>
        </p:spPr>
      </p:pic>
    </p:spTree>
  </p:cSld>
  <p:clrMapOvr>
    <a:masterClrMapping/>
  </p:clrMapOvr>
  <p:transition spd="med">
    <p:blinds dir="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7926070" cy="574992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MATLAB</a:t>
            </a:r>
            <a:r>
              <a:rPr lang="zh-CN" altLang="en-US" dirty="0">
                <a:cs typeface="Times New Roman" panose="02020603050405020304" pitchFamily="18" charset="0"/>
                <a:sym typeface="+mn-ea"/>
              </a:rPr>
              <a:t>求解</a:t>
            </a:r>
            <a:r>
              <a:rPr lang="zh-CN" altLang="en-US" dirty="0">
                <a:cs typeface="Times New Roman" panose="02020603050405020304" pitchFamily="18" charset="0"/>
                <a:sym typeface="+mn-ea"/>
              </a:rPr>
              <a:t>代码</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a0=[1.25,8.75,0.5,5.75,3,7.25];</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b0=[1.25,0.75,4.75,5,6.5,7.75];</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c1=sqrt((5-a0).^2+(1-b0).^2);</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c2=sqrt((2-a0).^2+(7-b0).^2); c=[c1,c2];</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A=[ones(1,6),zeros(1,6);zeros(1,6),ones(1,6)];</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b=[20;20]; Aeq=[eye(6),eye(6)]; </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beq=[3,5,4,7,6,11]’; L=zeros(1,12);</a:t>
            </a:r>
            <a:endParaRPr lang="en-US" altLang="zh-CN"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	[Z,val]=linprog(c,A,b,Aeq,beq,L);</a:t>
            </a:r>
            <a:endParaRPr lang="zh-CN" altLang="en-US" sz="2400"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endParaRPr lang="zh-CN" altLang="en-US" dirty="0">
              <a:cs typeface="Times New Roman" panose="02020603050405020304" pitchFamily="18" charset="0"/>
              <a:sym typeface="+mn-ea"/>
            </a:endParaRPr>
          </a:p>
        </p:txBody>
      </p:sp>
    </p:spTree>
  </p:cSld>
  <p:clrMapOvr>
    <a:masterClrMapping/>
  </p:clrMapOvr>
  <p:transition spd="med">
    <p:blinds dir="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7926070" cy="288734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问题</a:t>
            </a:r>
            <a:r>
              <a:rPr lang="en-US" altLang="zh-CN" dirty="0">
                <a:cs typeface="Times New Roman" panose="02020603050405020304" pitchFamily="18" charset="0"/>
                <a:sym typeface="+mn-ea"/>
              </a:rPr>
              <a:t>1</a:t>
            </a:r>
            <a:r>
              <a:rPr lang="zh-CN" altLang="en-US" dirty="0">
                <a:cs typeface="Times New Roman" panose="02020603050405020304" pitchFamily="18" charset="0"/>
                <a:sym typeface="+mn-ea"/>
              </a:rPr>
              <a:t>求解结果</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最优目标值</a:t>
            </a:r>
            <a:r>
              <a:rPr lang="en-US" altLang="zh-CN" dirty="0">
                <a:cs typeface="Times New Roman" panose="02020603050405020304" pitchFamily="18" charset="0"/>
                <a:sym typeface="+mn-ea"/>
              </a:rPr>
              <a:t>f=136.2275</a:t>
            </a:r>
            <a:r>
              <a:rPr lang="zh-CN" altLang="en-US" dirty="0">
                <a:cs typeface="Times New Roman" panose="02020603050405020304" pitchFamily="18" charset="0"/>
                <a:sym typeface="+mn-ea"/>
              </a:rPr>
              <a:t>（吨</a:t>
            </a:r>
            <a:r>
              <a:rPr lang="zh-CN" altLang="en-US" dirty="0">
                <a:cs typeface="Times New Roman" panose="02020603050405020304" pitchFamily="18" charset="0"/>
                <a:sym typeface="+mn-ea"/>
              </a:rPr>
              <a:t>千米）</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料场</a:t>
            </a:r>
            <a:r>
              <a:rPr lang="en-US" altLang="zh-CN" dirty="0">
                <a:cs typeface="Times New Roman" panose="02020603050405020304" pitchFamily="18" charset="0"/>
                <a:sym typeface="+mn-ea"/>
              </a:rPr>
              <a:t>A</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B</a:t>
            </a:r>
            <a:r>
              <a:rPr lang="zh-CN" altLang="en-US" dirty="0">
                <a:cs typeface="Times New Roman" panose="02020603050405020304" pitchFamily="18" charset="0"/>
                <a:sym typeface="+mn-ea"/>
              </a:rPr>
              <a:t>运往各工地的水泥的日运量为</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endParaRPr lang="zh-CN" altLang="en-US" dirty="0">
              <a:cs typeface="Times New Roman" panose="02020603050405020304" pitchFamily="18" charset="0"/>
              <a:sym typeface="+mn-ea"/>
            </a:endParaRPr>
          </a:p>
        </p:txBody>
      </p:sp>
      <p:graphicFrame>
        <p:nvGraphicFramePr>
          <p:cNvPr id="2" name="表格 1"/>
          <p:cNvGraphicFramePr/>
          <p:nvPr>
            <p:custDataLst>
              <p:tags r:id="rId1"/>
            </p:custDataLst>
          </p:nvPr>
        </p:nvGraphicFramePr>
        <p:xfrm>
          <a:off x="1187450" y="4149090"/>
          <a:ext cx="6794500" cy="1188720"/>
        </p:xfrm>
        <a:graphic>
          <a:graphicData uri="http://schemas.openxmlformats.org/drawingml/2006/table">
            <a:tbl>
              <a:tblPr firstRow="1" bandRow="1">
                <a:tableStyleId>{5940675A-B579-460E-94D1-54222C63F5DA}</a:tableStyleId>
              </a:tblPr>
              <a:tblGrid>
                <a:gridCol w="1625600"/>
                <a:gridCol w="901700"/>
                <a:gridCol w="876935"/>
                <a:gridCol w="878205"/>
                <a:gridCol w="877570"/>
                <a:gridCol w="877570"/>
                <a:gridCol w="756920"/>
              </a:tblGrid>
              <a:tr h="396240">
                <a:tc>
                  <a:txBody>
                    <a:bodyPr/>
                    <a:p>
                      <a:pPr algn="ctr">
                        <a:buNone/>
                      </a:pPr>
                      <a:r>
                        <a:rPr lang="en-US" altLang="zh-CN" sz="2000"/>
                        <a:t>i</a:t>
                      </a:r>
                      <a:endParaRPr lang="en-US" altLang="zh-CN" sz="2000"/>
                    </a:p>
                  </a:txBody>
                  <a:tcPr/>
                </a:tc>
                <a:tc>
                  <a:txBody>
                    <a:bodyPr/>
                    <a:p>
                      <a:pPr algn="ctr">
                        <a:buNone/>
                      </a:pPr>
                      <a:r>
                        <a:rPr lang="en-US" altLang="zh-CN" sz="2000"/>
                        <a:t>1</a:t>
                      </a:r>
                      <a:endParaRPr lang="en-US" altLang="zh-CN" sz="2000"/>
                    </a:p>
                  </a:txBody>
                  <a:tcPr/>
                </a:tc>
                <a:tc>
                  <a:txBody>
                    <a:bodyPr/>
                    <a:p>
                      <a:pPr algn="ctr">
                        <a:buNone/>
                      </a:pPr>
                      <a:r>
                        <a:rPr lang="en-US" altLang="zh-CN" sz="2000"/>
                        <a:t>2</a:t>
                      </a:r>
                      <a:endParaRPr lang="en-US" altLang="zh-CN" sz="2000"/>
                    </a:p>
                  </a:txBody>
                  <a:tcPr/>
                </a:tc>
                <a:tc>
                  <a:txBody>
                    <a:bodyPr/>
                    <a:p>
                      <a:pPr algn="ctr">
                        <a:buNone/>
                      </a:pPr>
                      <a:r>
                        <a:rPr lang="en-US" altLang="zh-CN" sz="2000"/>
                        <a:t>3</a:t>
                      </a:r>
                      <a:endParaRPr lang="en-US" altLang="zh-CN" sz="2000"/>
                    </a:p>
                  </a:txBody>
                  <a:tcPr/>
                </a:tc>
                <a:tc>
                  <a:txBody>
                    <a:bodyPr/>
                    <a:p>
                      <a:pPr algn="ctr">
                        <a:buNone/>
                      </a:pPr>
                      <a:r>
                        <a:rPr lang="en-US" altLang="zh-CN" sz="2000"/>
                        <a:t>4</a:t>
                      </a:r>
                      <a:endParaRPr lang="en-US" altLang="zh-CN" sz="2000"/>
                    </a:p>
                  </a:txBody>
                  <a:tcPr/>
                </a:tc>
                <a:tc>
                  <a:txBody>
                    <a:bodyPr/>
                    <a:p>
                      <a:pPr algn="ctr">
                        <a:buNone/>
                      </a:pPr>
                      <a:r>
                        <a:rPr lang="en-US" altLang="zh-CN" sz="2000"/>
                        <a:t>5</a:t>
                      </a:r>
                      <a:endParaRPr lang="en-US" altLang="zh-CN" sz="2000"/>
                    </a:p>
                  </a:txBody>
                  <a:tcPr/>
                </a:tc>
                <a:tc>
                  <a:txBody>
                    <a:bodyPr/>
                    <a:p>
                      <a:pPr algn="ctr">
                        <a:buNone/>
                      </a:pPr>
                      <a:r>
                        <a:rPr lang="en-US" altLang="zh-CN" sz="2000"/>
                        <a:t>6</a:t>
                      </a:r>
                      <a:endParaRPr lang="en-US" altLang="zh-CN" sz="2000"/>
                    </a:p>
                  </a:txBody>
                  <a:tcPr/>
                </a:tc>
              </a:tr>
              <a:tr h="381000">
                <a:tc>
                  <a:txBody>
                    <a:bodyPr/>
                    <a:p>
                      <a:pPr algn="ctr">
                        <a:buNone/>
                      </a:pPr>
                      <a:r>
                        <a:rPr lang="en-US" altLang="zh-CN" sz="2000"/>
                        <a:t>z</a:t>
                      </a:r>
                      <a:r>
                        <a:rPr lang="en-US" altLang="zh-CN" sz="2000" baseline="-25000"/>
                        <a:t>i1</a:t>
                      </a:r>
                      <a:r>
                        <a:rPr lang="en-US" altLang="zh-CN" sz="2000"/>
                        <a:t>(</a:t>
                      </a:r>
                      <a:r>
                        <a:rPr lang="zh-CN" altLang="en-US" sz="2000"/>
                        <a:t>料场</a:t>
                      </a:r>
                      <a:r>
                        <a:rPr lang="en-US" altLang="zh-CN" sz="2000"/>
                        <a:t>A)</a:t>
                      </a:r>
                      <a:endParaRPr lang="en-US" altLang="zh-CN" sz="2000"/>
                    </a:p>
                  </a:txBody>
                  <a:tcPr/>
                </a:tc>
                <a:tc>
                  <a:txBody>
                    <a:bodyPr/>
                    <a:p>
                      <a:pPr algn="ctr">
                        <a:buNone/>
                      </a:pPr>
                      <a:r>
                        <a:rPr lang="en-US" altLang="zh-CN" sz="2000"/>
                        <a:t>3</a:t>
                      </a:r>
                      <a:endParaRPr lang="en-US" altLang="zh-CN" sz="2000"/>
                    </a:p>
                  </a:txBody>
                  <a:tcPr/>
                </a:tc>
                <a:tc>
                  <a:txBody>
                    <a:bodyPr/>
                    <a:p>
                      <a:pPr algn="ctr">
                        <a:buNone/>
                      </a:pPr>
                      <a:r>
                        <a:rPr lang="en-US" altLang="zh-CN" sz="2000"/>
                        <a:t>5</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7</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1</a:t>
                      </a:r>
                      <a:endParaRPr lang="en-US" altLang="zh-CN" sz="2000"/>
                    </a:p>
                  </a:txBody>
                  <a:tcPr/>
                </a:tc>
              </a:tr>
              <a:tr h="381000">
                <a:tc>
                  <a:txBody>
                    <a:bodyPr/>
                    <a:p>
                      <a:pPr algn="ctr">
                        <a:buNone/>
                      </a:pPr>
                      <a:r>
                        <a:rPr lang="en-US" altLang="zh-CN" sz="2000"/>
                        <a:t>z</a:t>
                      </a:r>
                      <a:r>
                        <a:rPr lang="en-US" altLang="zh-CN" sz="2000" baseline="-25000"/>
                        <a:t>i2</a:t>
                      </a:r>
                      <a:r>
                        <a:rPr lang="en-US" altLang="zh-CN" sz="2000"/>
                        <a:t>(</a:t>
                      </a:r>
                      <a:r>
                        <a:rPr lang="zh-CN" altLang="en-US" sz="2000"/>
                        <a:t>料场</a:t>
                      </a:r>
                      <a:r>
                        <a:rPr lang="en-US" altLang="zh-CN" sz="2000"/>
                        <a:t>B)</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4</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6</a:t>
                      </a:r>
                      <a:endParaRPr lang="en-US" altLang="zh-CN" sz="2000"/>
                    </a:p>
                  </a:txBody>
                  <a:tcPr/>
                </a:tc>
                <a:tc>
                  <a:txBody>
                    <a:bodyPr/>
                    <a:p>
                      <a:pPr algn="ctr">
                        <a:buNone/>
                      </a:pPr>
                      <a:r>
                        <a:rPr lang="en-US" altLang="zh-CN" sz="2000"/>
                        <a:t>10</a:t>
                      </a:r>
                      <a:endParaRPr lang="en-US" altLang="zh-CN" sz="2000"/>
                    </a:p>
                  </a:txBody>
                  <a:tcPr/>
                </a:tc>
              </a:tr>
            </a:tbl>
          </a:graphicData>
        </a:graphic>
      </p:graphicFrame>
    </p:spTree>
  </p:cSld>
  <p:clrMapOvr>
    <a:masterClrMapping/>
  </p:clrMapOvr>
  <p:transition spd="med">
    <p:blinds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8072755" cy="263080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问题</a:t>
            </a:r>
            <a:r>
              <a:rPr lang="en-US" altLang="zh-CN" dirty="0">
                <a:cs typeface="Times New Roman" panose="02020603050405020304" pitchFamily="18" charset="0"/>
                <a:sym typeface="+mn-ea"/>
              </a:rPr>
              <a:t>2</a:t>
            </a:r>
            <a:r>
              <a:rPr lang="zh-CN" altLang="en-US" dirty="0">
                <a:cs typeface="Times New Roman" panose="02020603050405020304" pitchFamily="18" charset="0"/>
                <a:sym typeface="+mn-ea"/>
              </a:rPr>
              <a:t>的求解</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要为新建料场选址，料场位置</a:t>
            </a:r>
            <a:r>
              <a:rPr lang="en-US" altLang="zh-CN" dirty="0">
                <a:cs typeface="Times New Roman" panose="02020603050405020304" pitchFamily="18" charset="0"/>
                <a:sym typeface="+mn-ea"/>
              </a:rPr>
              <a:t>(x</a:t>
            </a:r>
            <a:r>
              <a:rPr lang="en-US" altLang="zh-CN" baseline="-25000" dirty="0">
                <a:cs typeface="Times New Roman" panose="02020603050405020304" pitchFamily="18" charset="0"/>
                <a:sym typeface="+mn-ea"/>
              </a:rPr>
              <a:t>j</a:t>
            </a:r>
            <a:r>
              <a:rPr lang="en-US" altLang="zh-CN" dirty="0">
                <a:cs typeface="Times New Roman" panose="02020603050405020304" pitchFamily="18" charset="0"/>
                <a:sym typeface="+mn-ea"/>
              </a:rPr>
              <a:t>,y</a:t>
            </a:r>
            <a:r>
              <a:rPr lang="en-US" altLang="zh-CN" baseline="-25000" dirty="0">
                <a:cs typeface="Times New Roman" panose="02020603050405020304" pitchFamily="18" charset="0"/>
                <a:sym typeface="+mn-ea"/>
              </a:rPr>
              <a:t>j</a:t>
            </a:r>
            <a:r>
              <a:rPr lang="en-US" altLang="zh-CN" dirty="0">
                <a:cs typeface="Times New Roman" panose="02020603050405020304" pitchFamily="18" charset="0"/>
                <a:sym typeface="+mn-ea"/>
              </a:rPr>
              <a:t>)</a:t>
            </a:r>
            <a:r>
              <a:rPr lang="zh-CN" altLang="en-US" dirty="0">
                <a:cs typeface="Times New Roman" panose="02020603050405020304" pitchFamily="18" charset="0"/>
                <a:sym typeface="+mn-ea"/>
              </a:rPr>
              <a:t>位置时，决策变量为</a:t>
            </a:r>
            <a:r>
              <a:rPr lang="en-US" altLang="zh-CN" dirty="0">
                <a:cs typeface="Times New Roman" panose="02020603050405020304" pitchFamily="18" charset="0"/>
                <a:sym typeface="+mn-ea"/>
              </a:rPr>
              <a:t>z</a:t>
            </a:r>
            <a:r>
              <a:rPr lang="en-US" altLang="zh-CN" baseline="-25000" dirty="0">
                <a:cs typeface="Times New Roman" panose="02020603050405020304" pitchFamily="18" charset="0"/>
                <a:sym typeface="+mn-ea"/>
              </a:rPr>
              <a:t>ij</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x</a:t>
            </a:r>
            <a:r>
              <a:rPr lang="en-US" altLang="zh-CN" baseline="-25000" dirty="0">
                <a:cs typeface="Times New Roman" panose="02020603050405020304" pitchFamily="18" charset="0"/>
                <a:sym typeface="+mn-ea"/>
              </a:rPr>
              <a:t>j</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y</a:t>
            </a:r>
            <a:r>
              <a:rPr lang="en-US" altLang="zh-CN" baseline="-25000" dirty="0">
                <a:cs typeface="Times New Roman" panose="02020603050405020304" pitchFamily="18" charset="0"/>
                <a:sym typeface="+mn-ea"/>
              </a:rPr>
              <a:t>j</a:t>
            </a:r>
            <a:r>
              <a:rPr lang="zh-CN" altLang="en-US" dirty="0">
                <a:cs typeface="Times New Roman" panose="02020603050405020304" pitchFamily="18" charset="0"/>
                <a:sym typeface="+mn-ea"/>
              </a:rPr>
              <a:t>，模型为非线性规划模型。</a:t>
            </a:r>
            <a:r>
              <a:rPr lang="en-US" altLang="zh-CN" dirty="0">
                <a:cs typeface="Times New Roman" panose="02020603050405020304" pitchFamily="18" charset="0"/>
                <a:sym typeface="+mn-ea"/>
              </a:rPr>
              <a:t>	</a:t>
            </a:r>
            <a:endParaRPr lang="zh-CN" altLang="en-US" dirty="0">
              <a:cs typeface="Times New Roman" panose="02020603050405020304" pitchFamily="18" charset="0"/>
              <a:sym typeface="+mn-ea"/>
            </a:endParaRPr>
          </a:p>
        </p:txBody>
      </p:sp>
      <p:pic>
        <p:nvPicPr>
          <p:cNvPr id="3" name="图片 2"/>
          <p:cNvPicPr>
            <a:picLocks noChangeAspect="1"/>
          </p:cNvPicPr>
          <p:nvPr/>
        </p:nvPicPr>
        <p:blipFill>
          <a:blip r:embed="rId1"/>
          <a:stretch>
            <a:fillRect/>
          </a:stretch>
        </p:blipFill>
        <p:spPr>
          <a:xfrm>
            <a:off x="2452370" y="3789045"/>
            <a:ext cx="4239895" cy="2583815"/>
          </a:xfrm>
          <a:prstGeom prst="rect">
            <a:avLst/>
          </a:prstGeom>
        </p:spPr>
      </p:pic>
    </p:spTree>
  </p:cSld>
  <p:clrMapOvr>
    <a:masterClrMapping/>
  </p:clrMapOvr>
  <p:transition spd="med">
    <p:blinds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8072755" cy="51238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目标函数的函数</a:t>
            </a:r>
            <a:r>
              <a:rPr lang="en-US" altLang="zh-CN" dirty="0">
                <a:cs typeface="Times New Roman" panose="02020603050405020304" pitchFamily="18" charset="0"/>
                <a:sym typeface="+mn-ea"/>
              </a:rPr>
              <a:t>M</a:t>
            </a:r>
            <a:r>
              <a:rPr lang="zh-CN" altLang="en-US" dirty="0">
                <a:cs typeface="Times New Roman" panose="02020603050405020304" pitchFamily="18" charset="0"/>
                <a:sym typeface="+mn-ea"/>
              </a:rPr>
              <a:t>文件</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function f=liaocmb(x)</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a0=[1.25,8.75,0.5,5.75,3,7.25];</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b0=[1.25,0.75,4.75,5,6.5,7.75];</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c1=sqrt((x(13)-a0).^2+(x(14)-b0).^2;</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c2=</a:t>
            </a:r>
            <a:r>
              <a:rPr lang="en-US" altLang="zh-CN" dirty="0">
                <a:cs typeface="Times New Roman" panose="02020603050405020304" pitchFamily="18" charset="0"/>
                <a:sym typeface="+mn-ea"/>
              </a:rPr>
              <a:t>sqrt((x(15)-a0).^2+(x(16)-b0).^2;</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c=[c1,c2];</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f=c*x(1:12,1);</a:t>
            </a:r>
            <a:endParaRPr lang="en-US" altLang="zh-CN" dirty="0">
              <a:cs typeface="Times New Roman" panose="02020603050405020304" pitchFamily="18" charset="0"/>
              <a:sym typeface="+mn-ea"/>
            </a:endParaRPr>
          </a:p>
        </p:txBody>
      </p:sp>
    </p:spTree>
  </p:cSld>
  <p:clrMapOvr>
    <a:masterClrMapping/>
  </p:clrMapOvr>
  <p:transition spd="med">
    <p:blinds dir="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8072755" cy="344678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约束条件的函数</a:t>
            </a:r>
            <a:r>
              <a:rPr lang="en-US" altLang="zh-CN" dirty="0">
                <a:cs typeface="Times New Roman" panose="02020603050405020304" pitchFamily="18" charset="0"/>
                <a:sym typeface="+mn-ea"/>
              </a:rPr>
              <a:t>M</a:t>
            </a:r>
            <a:r>
              <a:rPr lang="zh-CN" altLang="en-US" dirty="0">
                <a:cs typeface="Times New Roman" panose="02020603050405020304" pitchFamily="18" charset="0"/>
                <a:sym typeface="+mn-ea"/>
              </a:rPr>
              <a:t>文件</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function [c,ceq]=liaocys(x)</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A=[ones(1,6),zeros(1,6);zeros(1,6),ones(1,6)];</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b=[20;20]; Aeq=[eye(6),eye(6)]; beq=[3,5,4,7,6,11]’;</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c=A*x(1:12,1)-b; ceq=Aeq*x(1:12,1)-beq;</a:t>
            </a:r>
            <a:endParaRPr lang="en-US" altLang="zh-CN" dirty="0">
              <a:cs typeface="Times New Roman" panose="02020603050405020304" pitchFamily="18" charset="0"/>
              <a:sym typeface="+mn-ea"/>
            </a:endParaRPr>
          </a:p>
        </p:txBody>
      </p:sp>
    </p:spTree>
  </p:cSld>
  <p:clrMapOvr>
    <a:masterClrMapping/>
  </p:clrMapOvr>
  <p:transition spd="med">
    <p:blinds dir="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8072755" cy="486791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zh-CN" altLang="en-US" dirty="0">
                <a:cs typeface="Times New Roman" panose="02020603050405020304" pitchFamily="18" charset="0"/>
                <a:sym typeface="+mn-ea"/>
              </a:rPr>
              <a:t>解非线性规划的主</a:t>
            </a:r>
            <a:r>
              <a:rPr lang="zh-CN" altLang="en-US" dirty="0">
                <a:cs typeface="Times New Roman" panose="02020603050405020304" pitchFamily="18" charset="0"/>
                <a:sym typeface="+mn-ea"/>
              </a:rPr>
              <a:t>程序</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clear</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L=zeros(16,1);</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x0=[zeros(1,12),5,1,2,7]’;</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options=optimset(‘largescale’,‘off’,‘display’,‘iter’,‘MaxFunEval’,2000);</a:t>
            </a:r>
            <a:endParaRPr lang="en-US" altLang="zh-CN"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[x,val]=fmincon(‘liaocmb’,x0,[],[],[],[],L,[],‘liaocys’,options)</a:t>
            </a:r>
            <a:endParaRPr lang="en-US" altLang="zh-CN" dirty="0">
              <a:cs typeface="Times New Roman" panose="02020603050405020304" pitchFamily="18" charset="0"/>
              <a:sym typeface="+mn-ea"/>
            </a:endParaRPr>
          </a:p>
        </p:txBody>
      </p:sp>
    </p:spTree>
  </p:cSld>
  <p:clrMapOvr>
    <a:masterClrMapping/>
  </p:clrMapOvr>
  <p:transition spd="med">
    <p:blinds dir="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1.2 MATLAB</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软件求解</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非线性规划</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611505" y="1484630"/>
            <a:ext cx="7926070" cy="3969385"/>
          </a:xfrm>
          <a:prstGeom prst="rect">
            <a:avLst/>
          </a:prstGeom>
          <a:noFill/>
          <a:ln w="9525">
            <a:noFill/>
          </a:ln>
        </p:spPr>
        <p:txBody>
          <a:bodyPr wrap="square">
            <a:spAutoFit/>
          </a:bodyPr>
          <a:p>
            <a:pPr algn="just" eaLnBrk="1" hangingPunct="1">
              <a:lnSpc>
                <a:spcPct val="150000"/>
              </a:lnSpc>
              <a:spcBef>
                <a:spcPct val="0"/>
              </a:spcBef>
              <a:spcAft>
                <a:spcPts val="0"/>
              </a:spcAft>
              <a:buFont typeface="Wingdings" panose="05000000000000000000" pitchFamily="2" charset="2"/>
            </a:pPr>
            <a:r>
              <a:rPr lang="zh-CN" altLang="en-US" dirty="0">
                <a:cs typeface="Times New Roman" panose="02020603050405020304" pitchFamily="18" charset="0"/>
                <a:sym typeface="+mn-ea"/>
              </a:rPr>
              <a:t>供应与</a:t>
            </a:r>
            <a:r>
              <a:rPr lang="zh-CN" altLang="en-US" dirty="0">
                <a:cs typeface="Times New Roman" panose="02020603050405020304" pitchFamily="18" charset="0"/>
                <a:sym typeface="+mn-ea"/>
              </a:rPr>
              <a:t>选址</a:t>
            </a:r>
            <a:endParaRPr lang="zh-CN" altLang="en-US" dirty="0">
              <a:cs typeface="Times New Roman" panose="02020603050405020304" pitchFamily="18" charset="0"/>
              <a:sym typeface="+mn-ea"/>
            </a:endParaRPr>
          </a:p>
          <a:p>
            <a:pPr algn="just" eaLnBrk="1" hangingPunct="1">
              <a:lnSpc>
                <a:spcPct val="150000"/>
              </a:lnSpc>
              <a:spcBef>
                <a:spcPct val="0"/>
              </a:spcBef>
              <a:spcAft>
                <a:spcPts val="0"/>
              </a:spcAft>
              <a:buFont typeface="Wingdings" panose="05000000000000000000" pitchFamily="2" charset="2"/>
            </a:pPr>
            <a:r>
              <a:rPr lang="zh-CN" altLang="en-US" dirty="0">
                <a:cs typeface="Times New Roman" panose="02020603050405020304" pitchFamily="18" charset="0"/>
                <a:sym typeface="+mn-ea"/>
              </a:rPr>
              <a:t>问题</a:t>
            </a:r>
            <a:r>
              <a:rPr lang="en-US" altLang="zh-CN" dirty="0">
                <a:cs typeface="Times New Roman" panose="02020603050405020304" pitchFamily="18" charset="0"/>
                <a:sym typeface="+mn-ea"/>
              </a:rPr>
              <a:t>2</a:t>
            </a:r>
            <a:r>
              <a:rPr lang="zh-CN" altLang="en-US" dirty="0">
                <a:cs typeface="Times New Roman" panose="02020603050405020304" pitchFamily="18" charset="0"/>
                <a:sym typeface="+mn-ea"/>
              </a:rPr>
              <a:t>求解结果</a:t>
            </a:r>
            <a:endParaRPr lang="zh-CN" altLang="en-US" dirty="0">
              <a:cs typeface="Times New Roman" panose="02020603050405020304" pitchFamily="18" charset="0"/>
              <a:sym typeface="+mn-ea"/>
            </a:endParaRPr>
          </a:p>
          <a:p>
            <a:pPr algn="just" eaLnBrk="1" hangingPunct="1">
              <a:lnSpc>
                <a:spcPct val="100000"/>
              </a:lnSpc>
              <a:spcBef>
                <a:spcPct val="0"/>
              </a:spcBef>
              <a:spcAft>
                <a:spcPts val="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最优目标值</a:t>
            </a:r>
            <a:r>
              <a:rPr lang="en-US" altLang="zh-CN" dirty="0">
                <a:cs typeface="Times New Roman" panose="02020603050405020304" pitchFamily="18" charset="0"/>
                <a:sym typeface="+mn-ea"/>
              </a:rPr>
              <a:t>f=85.2660</a:t>
            </a:r>
            <a:r>
              <a:rPr lang="zh-CN" altLang="en-US" dirty="0">
                <a:cs typeface="Times New Roman" panose="02020603050405020304" pitchFamily="18" charset="0"/>
                <a:sym typeface="+mn-ea"/>
              </a:rPr>
              <a:t>（吨千米），目标值减少</a:t>
            </a:r>
            <a:r>
              <a:rPr lang="en-US" altLang="zh-CN" dirty="0">
                <a:cs typeface="Times New Roman" panose="02020603050405020304" pitchFamily="18" charset="0"/>
                <a:sym typeface="+mn-ea"/>
              </a:rPr>
              <a:t>50.9615</a:t>
            </a:r>
            <a:r>
              <a:rPr lang="zh-CN" altLang="en-US" dirty="0">
                <a:cs typeface="Times New Roman" panose="02020603050405020304" pitchFamily="18" charset="0"/>
                <a:sym typeface="+mn-ea"/>
              </a:rPr>
              <a:t>吨</a:t>
            </a:r>
            <a:r>
              <a:rPr lang="zh-CN" altLang="en-US" dirty="0">
                <a:cs typeface="Times New Roman" panose="02020603050405020304" pitchFamily="18" charset="0"/>
                <a:sym typeface="+mn-ea"/>
              </a:rPr>
              <a:t>千米。</a:t>
            </a:r>
            <a:endParaRPr lang="zh-CN" altLang="en-US" dirty="0">
              <a:cs typeface="Times New Roman" panose="02020603050405020304" pitchFamily="18" charset="0"/>
              <a:sym typeface="+mn-ea"/>
            </a:endParaRPr>
          </a:p>
          <a:p>
            <a:pPr algn="just" eaLnBrk="1" hangingPunct="1">
              <a:lnSpc>
                <a:spcPct val="100000"/>
              </a:lnSpc>
              <a:spcBef>
                <a:spcPct val="0"/>
              </a:spcBef>
              <a:spcAft>
                <a:spcPts val="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新料场</a:t>
            </a:r>
            <a:r>
              <a:rPr lang="en-US" altLang="zh-CN" dirty="0">
                <a:cs typeface="Times New Roman" panose="02020603050405020304" pitchFamily="18" charset="0"/>
                <a:sym typeface="+mn-ea"/>
              </a:rPr>
              <a:t>A</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B</a:t>
            </a:r>
            <a:r>
              <a:rPr lang="zh-CN" altLang="en-US" dirty="0">
                <a:cs typeface="Times New Roman" panose="02020603050405020304" pitchFamily="18" charset="0"/>
                <a:sym typeface="+mn-ea"/>
              </a:rPr>
              <a:t>的坐标为</a:t>
            </a:r>
            <a:r>
              <a:rPr lang="en-US" altLang="zh-CN" dirty="0">
                <a:cs typeface="Times New Roman" panose="02020603050405020304" pitchFamily="18" charset="0"/>
                <a:sym typeface="+mn-ea"/>
              </a:rPr>
              <a:t>(3.2550,5.6522)</a:t>
            </a:r>
            <a:r>
              <a:rPr lang="zh-CN" altLang="en-US" dirty="0">
                <a:cs typeface="Times New Roman" panose="02020603050405020304" pitchFamily="18" charset="0"/>
                <a:sym typeface="+mn-ea"/>
              </a:rPr>
              <a:t>和</a:t>
            </a:r>
            <a:r>
              <a:rPr lang="en-US" altLang="zh-CN" dirty="0">
                <a:cs typeface="Times New Roman" panose="02020603050405020304" pitchFamily="18" charset="0"/>
                <a:sym typeface="+mn-ea"/>
              </a:rPr>
              <a:t>(7.2500,7.7500)</a:t>
            </a:r>
            <a:endParaRPr lang="zh-CN" altLang="en-US" dirty="0">
              <a:cs typeface="Times New Roman" panose="02020603050405020304" pitchFamily="18" charset="0"/>
              <a:sym typeface="+mn-ea"/>
            </a:endParaRPr>
          </a:p>
          <a:p>
            <a:pPr algn="just" eaLnBrk="1" hangingPunct="1">
              <a:lnSpc>
                <a:spcPct val="100000"/>
              </a:lnSpc>
              <a:spcBef>
                <a:spcPct val="0"/>
              </a:spcBef>
              <a:spcAft>
                <a:spcPts val="0"/>
              </a:spcAft>
              <a:buFont typeface="Wingdings" panose="05000000000000000000" pitchFamily="2" charset="2"/>
            </a:pPr>
            <a:r>
              <a:rPr lang="en-US" altLang="zh-CN" dirty="0">
                <a:cs typeface="Times New Roman" panose="02020603050405020304" pitchFamily="18" charset="0"/>
                <a:sym typeface="+mn-ea"/>
              </a:rPr>
              <a:t>	</a:t>
            </a:r>
            <a:r>
              <a:rPr lang="zh-CN" altLang="en-US" dirty="0">
                <a:cs typeface="Times New Roman" panose="02020603050405020304" pitchFamily="18" charset="0"/>
                <a:sym typeface="+mn-ea"/>
              </a:rPr>
              <a:t>新料场</a:t>
            </a:r>
            <a:r>
              <a:rPr lang="en-US" altLang="zh-CN" dirty="0">
                <a:cs typeface="Times New Roman" panose="02020603050405020304" pitchFamily="18" charset="0"/>
                <a:sym typeface="+mn-ea"/>
              </a:rPr>
              <a:t>A</a:t>
            </a:r>
            <a:r>
              <a:rPr lang="zh-CN" altLang="en-US" dirty="0">
                <a:cs typeface="Times New Roman" panose="02020603050405020304" pitchFamily="18" charset="0"/>
                <a:sym typeface="+mn-ea"/>
              </a:rPr>
              <a:t>、</a:t>
            </a:r>
            <a:r>
              <a:rPr lang="en-US" altLang="zh-CN" dirty="0">
                <a:cs typeface="Times New Roman" panose="02020603050405020304" pitchFamily="18" charset="0"/>
                <a:sym typeface="+mn-ea"/>
              </a:rPr>
              <a:t>B</a:t>
            </a:r>
            <a:r>
              <a:rPr lang="zh-CN" altLang="en-US" dirty="0">
                <a:cs typeface="Times New Roman" panose="02020603050405020304" pitchFamily="18" charset="0"/>
                <a:sym typeface="+mn-ea"/>
              </a:rPr>
              <a:t>运往各工地的水泥的日运量为</a:t>
            </a:r>
            <a:endParaRPr lang="zh-CN" altLang="en-US" dirty="0">
              <a:cs typeface="Times New Roman" panose="02020603050405020304" pitchFamily="18" charset="0"/>
              <a:sym typeface="+mn-ea"/>
            </a:endParaRPr>
          </a:p>
          <a:p>
            <a:pPr algn="just" eaLnBrk="1" hangingPunct="1">
              <a:lnSpc>
                <a:spcPct val="100000"/>
              </a:lnSpc>
              <a:spcBef>
                <a:spcPct val="0"/>
              </a:spcBef>
              <a:spcAft>
                <a:spcPts val="1000"/>
              </a:spcAft>
              <a:buFont typeface="Wingdings" panose="05000000000000000000" pitchFamily="2" charset="2"/>
            </a:pPr>
            <a:r>
              <a:rPr lang="en-US" altLang="zh-CN" dirty="0">
                <a:cs typeface="Times New Roman" panose="02020603050405020304" pitchFamily="18" charset="0"/>
                <a:sym typeface="+mn-ea"/>
              </a:rPr>
              <a:t>	</a:t>
            </a:r>
            <a:endParaRPr lang="zh-CN" altLang="en-US" dirty="0">
              <a:cs typeface="Times New Roman" panose="02020603050405020304" pitchFamily="18" charset="0"/>
              <a:sym typeface="+mn-ea"/>
            </a:endParaRPr>
          </a:p>
        </p:txBody>
      </p:sp>
      <p:graphicFrame>
        <p:nvGraphicFramePr>
          <p:cNvPr id="2" name="表格 1"/>
          <p:cNvGraphicFramePr/>
          <p:nvPr>
            <p:custDataLst>
              <p:tags r:id="rId1"/>
            </p:custDataLst>
          </p:nvPr>
        </p:nvGraphicFramePr>
        <p:xfrm>
          <a:off x="1187450" y="5013325"/>
          <a:ext cx="6794500" cy="1188720"/>
        </p:xfrm>
        <a:graphic>
          <a:graphicData uri="http://schemas.openxmlformats.org/drawingml/2006/table">
            <a:tbl>
              <a:tblPr firstRow="1" bandRow="1">
                <a:tableStyleId>{5940675A-B579-460E-94D1-54222C63F5DA}</a:tableStyleId>
              </a:tblPr>
              <a:tblGrid>
                <a:gridCol w="1625600"/>
                <a:gridCol w="901700"/>
                <a:gridCol w="876935"/>
                <a:gridCol w="878205"/>
                <a:gridCol w="877570"/>
                <a:gridCol w="877570"/>
                <a:gridCol w="756920"/>
              </a:tblGrid>
              <a:tr h="396240">
                <a:tc>
                  <a:txBody>
                    <a:bodyPr/>
                    <a:p>
                      <a:pPr algn="ctr">
                        <a:buNone/>
                      </a:pPr>
                      <a:r>
                        <a:rPr lang="en-US" altLang="zh-CN" sz="2000"/>
                        <a:t>i</a:t>
                      </a:r>
                      <a:endParaRPr lang="en-US" altLang="zh-CN" sz="2000"/>
                    </a:p>
                  </a:txBody>
                  <a:tcPr/>
                </a:tc>
                <a:tc>
                  <a:txBody>
                    <a:bodyPr/>
                    <a:p>
                      <a:pPr algn="ctr">
                        <a:buNone/>
                      </a:pPr>
                      <a:r>
                        <a:rPr lang="en-US" altLang="zh-CN" sz="2000"/>
                        <a:t>1</a:t>
                      </a:r>
                      <a:endParaRPr lang="en-US" altLang="zh-CN" sz="2000"/>
                    </a:p>
                  </a:txBody>
                  <a:tcPr/>
                </a:tc>
                <a:tc>
                  <a:txBody>
                    <a:bodyPr/>
                    <a:p>
                      <a:pPr algn="ctr">
                        <a:buNone/>
                      </a:pPr>
                      <a:r>
                        <a:rPr lang="en-US" altLang="zh-CN" sz="2000"/>
                        <a:t>2</a:t>
                      </a:r>
                      <a:endParaRPr lang="en-US" altLang="zh-CN" sz="2000"/>
                    </a:p>
                  </a:txBody>
                  <a:tcPr/>
                </a:tc>
                <a:tc>
                  <a:txBody>
                    <a:bodyPr/>
                    <a:p>
                      <a:pPr algn="ctr">
                        <a:buNone/>
                      </a:pPr>
                      <a:r>
                        <a:rPr lang="en-US" altLang="zh-CN" sz="2000"/>
                        <a:t>3</a:t>
                      </a:r>
                      <a:endParaRPr lang="en-US" altLang="zh-CN" sz="2000"/>
                    </a:p>
                  </a:txBody>
                  <a:tcPr/>
                </a:tc>
                <a:tc>
                  <a:txBody>
                    <a:bodyPr/>
                    <a:p>
                      <a:pPr algn="ctr">
                        <a:buNone/>
                      </a:pPr>
                      <a:r>
                        <a:rPr lang="en-US" altLang="zh-CN" sz="2000"/>
                        <a:t>4</a:t>
                      </a:r>
                      <a:endParaRPr lang="en-US" altLang="zh-CN" sz="2000"/>
                    </a:p>
                  </a:txBody>
                  <a:tcPr/>
                </a:tc>
                <a:tc>
                  <a:txBody>
                    <a:bodyPr/>
                    <a:p>
                      <a:pPr algn="ctr">
                        <a:buNone/>
                      </a:pPr>
                      <a:r>
                        <a:rPr lang="en-US" altLang="zh-CN" sz="2000"/>
                        <a:t>5</a:t>
                      </a:r>
                      <a:endParaRPr lang="en-US" altLang="zh-CN" sz="2000"/>
                    </a:p>
                  </a:txBody>
                  <a:tcPr/>
                </a:tc>
                <a:tc>
                  <a:txBody>
                    <a:bodyPr/>
                    <a:p>
                      <a:pPr algn="ctr">
                        <a:buNone/>
                      </a:pPr>
                      <a:r>
                        <a:rPr lang="en-US" altLang="zh-CN" sz="2000"/>
                        <a:t>6</a:t>
                      </a:r>
                      <a:endParaRPr lang="en-US" altLang="zh-CN" sz="2000"/>
                    </a:p>
                  </a:txBody>
                  <a:tcPr/>
                </a:tc>
              </a:tr>
              <a:tr h="381000">
                <a:tc>
                  <a:txBody>
                    <a:bodyPr/>
                    <a:p>
                      <a:pPr algn="ctr">
                        <a:buNone/>
                      </a:pPr>
                      <a:r>
                        <a:rPr lang="en-US" altLang="zh-CN" sz="2000"/>
                        <a:t>z</a:t>
                      </a:r>
                      <a:r>
                        <a:rPr lang="en-US" altLang="zh-CN" sz="2000" baseline="-25000"/>
                        <a:t>i1</a:t>
                      </a:r>
                      <a:r>
                        <a:rPr lang="en-US" altLang="zh-CN" sz="2000"/>
                        <a:t>(</a:t>
                      </a:r>
                      <a:r>
                        <a:rPr lang="zh-CN" altLang="en-US" sz="2000"/>
                        <a:t>料场</a:t>
                      </a:r>
                      <a:r>
                        <a:rPr lang="en-US" altLang="zh-CN" sz="2000"/>
                        <a:t>A)</a:t>
                      </a:r>
                      <a:endParaRPr lang="en-US" altLang="zh-CN" sz="2000"/>
                    </a:p>
                  </a:txBody>
                  <a:tcPr/>
                </a:tc>
                <a:tc>
                  <a:txBody>
                    <a:bodyPr/>
                    <a:p>
                      <a:pPr algn="ctr">
                        <a:buNone/>
                      </a:pPr>
                      <a:r>
                        <a:rPr lang="en-US" altLang="zh-CN" sz="2000"/>
                        <a:t>3</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4</a:t>
                      </a:r>
                      <a:endParaRPr lang="en-US" altLang="zh-CN" sz="2000"/>
                    </a:p>
                  </a:txBody>
                  <a:tcPr/>
                </a:tc>
                <a:tc>
                  <a:txBody>
                    <a:bodyPr/>
                    <a:p>
                      <a:pPr algn="ctr">
                        <a:buNone/>
                      </a:pPr>
                      <a:r>
                        <a:rPr lang="en-US" altLang="zh-CN" sz="2000"/>
                        <a:t>7</a:t>
                      </a:r>
                      <a:endParaRPr lang="en-US" altLang="zh-CN" sz="2000"/>
                    </a:p>
                  </a:txBody>
                  <a:tcPr/>
                </a:tc>
                <a:tc>
                  <a:txBody>
                    <a:bodyPr/>
                    <a:p>
                      <a:pPr algn="ctr">
                        <a:buNone/>
                      </a:pPr>
                      <a:r>
                        <a:rPr lang="en-US" altLang="zh-CN" sz="2000"/>
                        <a:t>6</a:t>
                      </a:r>
                      <a:endParaRPr lang="en-US" altLang="zh-CN" sz="2000"/>
                    </a:p>
                  </a:txBody>
                  <a:tcPr/>
                </a:tc>
                <a:tc>
                  <a:txBody>
                    <a:bodyPr/>
                    <a:p>
                      <a:pPr algn="ctr">
                        <a:buNone/>
                      </a:pPr>
                      <a:r>
                        <a:rPr lang="en-US" altLang="zh-CN" sz="2000"/>
                        <a:t>0</a:t>
                      </a:r>
                      <a:endParaRPr lang="en-US" altLang="zh-CN" sz="2000"/>
                    </a:p>
                  </a:txBody>
                  <a:tcPr/>
                </a:tc>
              </a:tr>
              <a:tr h="381000">
                <a:tc>
                  <a:txBody>
                    <a:bodyPr/>
                    <a:p>
                      <a:pPr algn="ctr">
                        <a:buNone/>
                      </a:pPr>
                      <a:r>
                        <a:rPr lang="en-US" altLang="zh-CN" sz="2000"/>
                        <a:t>z</a:t>
                      </a:r>
                      <a:r>
                        <a:rPr lang="en-US" altLang="zh-CN" sz="2000" baseline="-25000"/>
                        <a:t>i2</a:t>
                      </a:r>
                      <a:r>
                        <a:rPr lang="en-US" altLang="zh-CN" sz="2000"/>
                        <a:t>(</a:t>
                      </a:r>
                      <a:r>
                        <a:rPr lang="zh-CN" altLang="en-US" sz="2000"/>
                        <a:t>料场</a:t>
                      </a:r>
                      <a:r>
                        <a:rPr lang="en-US" altLang="zh-CN" sz="2000"/>
                        <a:t>B)</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5</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0</a:t>
                      </a:r>
                      <a:endParaRPr lang="en-US" altLang="zh-CN" sz="2000"/>
                    </a:p>
                  </a:txBody>
                  <a:tcPr/>
                </a:tc>
                <a:tc>
                  <a:txBody>
                    <a:bodyPr/>
                    <a:p>
                      <a:pPr algn="ctr">
                        <a:buNone/>
                      </a:pPr>
                      <a:r>
                        <a:rPr lang="en-US" altLang="zh-CN" sz="2000"/>
                        <a:t>11</a:t>
                      </a:r>
                      <a:endParaRPr lang="en-US" altLang="zh-CN" sz="2000"/>
                    </a:p>
                  </a:txBody>
                  <a:tcPr/>
                </a:tc>
              </a:tr>
            </a:tbl>
          </a:graphicData>
        </a:graphic>
      </p:graphicFrame>
    </p:spTree>
  </p:cSld>
  <p:clrMapOvr>
    <a:masterClrMapping/>
  </p:clrMapOvr>
  <p:transition spd="med">
    <p:blinds dir="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2123440" y="1898650"/>
            <a:ext cx="4970145" cy="2020570"/>
          </a:xfrm>
          <a:prstGeom prst="rect">
            <a:avLst/>
          </a:prstGeom>
        </p:spPr>
      </p:pic>
      <p:sp>
        <p:nvSpPr>
          <p:cNvPr id="7" name="TextBox 4"/>
          <p:cNvSpPr txBox="1"/>
          <p:nvPr/>
        </p:nvSpPr>
        <p:spPr>
          <a:xfrm>
            <a:off x="971550" y="4220845"/>
            <a:ext cx="7441565" cy="105029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其中，</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为</a:t>
            </a:r>
            <a:r>
              <a:rPr lang="en-US" altLang="zh-CN" sz="2400" dirty="0">
                <a:cs typeface="Times New Roman" panose="02020603050405020304" pitchFamily="18" charset="0"/>
                <a:sym typeface="+mn-ea"/>
              </a:rPr>
              <a:t>n</a:t>
            </a:r>
            <a:r>
              <a:rPr lang="zh-CN" altLang="en-US" sz="2400" dirty="0">
                <a:cs typeface="Times New Roman" panose="02020603050405020304" pitchFamily="18" charset="0"/>
                <a:sym typeface="+mn-ea"/>
              </a:rPr>
              <a:t>维欧式空间</a:t>
            </a:r>
            <a:r>
              <a:rPr lang="en-US" altLang="zh-CN" sz="2400" dirty="0">
                <a:cs typeface="Times New Roman" panose="02020603050405020304" pitchFamily="18" charset="0"/>
                <a:sym typeface="+mn-ea"/>
              </a:rPr>
              <a:t>R</a:t>
            </a:r>
            <a:r>
              <a:rPr lang="en-US" altLang="zh-CN" sz="2400" baseline="-25000" dirty="0">
                <a:cs typeface="Times New Roman" panose="02020603050405020304" pitchFamily="18" charset="0"/>
                <a:sym typeface="+mn-ea"/>
              </a:rPr>
              <a:t>n</a:t>
            </a:r>
            <a:r>
              <a:rPr lang="zh-CN" altLang="en-US" sz="2400" dirty="0">
                <a:cs typeface="Times New Roman" panose="02020603050405020304" pitchFamily="18" charset="0"/>
                <a:sym typeface="+mn-ea"/>
              </a:rPr>
              <a:t>中的向量，</a:t>
            </a:r>
            <a:r>
              <a:rPr lang="en-US" altLang="zh-CN" sz="2400" dirty="0">
                <a:cs typeface="Times New Roman" panose="02020603050405020304" pitchFamily="18" charset="0"/>
                <a:sym typeface="+mn-ea"/>
              </a:rPr>
              <a:t>f</a:t>
            </a:r>
            <a:r>
              <a:rPr lang="en-US" altLang="zh-CN" sz="2400" baseline="-25000" dirty="0">
                <a:cs typeface="Times New Roman" panose="02020603050405020304" pitchFamily="18" charset="0"/>
                <a:sym typeface="+mn-ea"/>
              </a:rPr>
              <a:t>1</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f</a:t>
            </a:r>
            <a:r>
              <a:rPr lang="en-US" altLang="zh-CN" sz="2400" baseline="-25000" dirty="0">
                <a:cs typeface="Times New Roman" panose="02020603050405020304" pitchFamily="18" charset="0"/>
                <a:sym typeface="+mn-ea"/>
              </a:rPr>
              <a:t>2</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f</a:t>
            </a:r>
            <a:r>
              <a:rPr lang="en-US" altLang="zh-CN" sz="2400" baseline="-25000" dirty="0">
                <a:cs typeface="Times New Roman" panose="02020603050405020304" pitchFamily="18" charset="0"/>
                <a:sym typeface="+mn-ea"/>
              </a:rPr>
              <a:t>p</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为目标函数，</a:t>
            </a:r>
            <a:r>
              <a:rPr lang="en-US" altLang="zh-CN" sz="2400" dirty="0">
                <a:cs typeface="Times New Roman" panose="02020603050405020304" pitchFamily="18" charset="0"/>
                <a:sym typeface="+mn-ea"/>
              </a:rPr>
              <a:t>g</a:t>
            </a:r>
            <a:r>
              <a:rPr lang="en-US" altLang="zh-CN" sz="2400" baseline="-25000" dirty="0">
                <a:cs typeface="Times New Roman" panose="02020603050405020304" pitchFamily="18" charset="0"/>
                <a:sym typeface="+mn-ea"/>
              </a:rPr>
              <a:t>i</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h</a:t>
            </a:r>
            <a:r>
              <a:rPr lang="en-US" altLang="zh-CN" sz="2400" baseline="-25000" dirty="0">
                <a:cs typeface="Times New Roman" panose="02020603050405020304" pitchFamily="18" charset="0"/>
                <a:sym typeface="+mn-ea"/>
              </a:rPr>
              <a:t>j</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为约束条件。</a:t>
            </a: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3" name="图片 2"/>
          <p:cNvPicPr>
            <a:picLocks noChangeAspect="1"/>
          </p:cNvPicPr>
          <p:nvPr>
            <p:custDataLst>
              <p:tags r:id="rId1"/>
            </p:custDataLst>
          </p:nvPr>
        </p:nvPicPr>
        <p:blipFill>
          <a:blip r:embed="rId2"/>
          <a:srcRect t="11389"/>
          <a:stretch>
            <a:fillRect/>
          </a:stretch>
        </p:blipFill>
        <p:spPr>
          <a:xfrm>
            <a:off x="323215" y="1744980"/>
            <a:ext cx="8229600" cy="4253865"/>
          </a:xfrm>
          <a:prstGeom prst="rect">
            <a:avLst/>
          </a:prstGeom>
        </p:spPr>
      </p:pic>
    </p:spTree>
  </p:cSld>
  <p:clrMapOvr>
    <a:masterClrMapping/>
  </p:clrMapOvr>
  <p:transition spd="med">
    <p:blinds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rcRect l="35332" r="38225" b="57982"/>
          <a:stretch>
            <a:fillRect/>
          </a:stretch>
        </p:blipFill>
        <p:spPr>
          <a:xfrm>
            <a:off x="1858010" y="1581150"/>
            <a:ext cx="4881245" cy="5106035"/>
          </a:xfrm>
          <a:prstGeom prst="rect">
            <a:avLst/>
          </a:prstGeom>
        </p:spPr>
      </p:pic>
    </p:spTree>
  </p:cSld>
  <p:clrMapOvr>
    <a:masterClrMapping/>
  </p:clrMapOvr>
  <p:transition spd="med">
    <p:blinds dir="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rcRect l="8972" t="40213" r="21319"/>
          <a:stretch>
            <a:fillRect/>
          </a:stretch>
        </p:blipFill>
        <p:spPr>
          <a:xfrm>
            <a:off x="664210" y="1809115"/>
            <a:ext cx="7672070" cy="4331970"/>
          </a:xfrm>
          <a:prstGeom prst="rect">
            <a:avLst/>
          </a:prstGeom>
        </p:spPr>
      </p:pic>
    </p:spTree>
  </p:cSld>
  <p:clrMapOvr>
    <a:masterClrMapping/>
  </p:clrMapOvr>
  <p:transition spd="med">
    <p:blinds dir="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043305" y="1700530"/>
            <a:ext cx="1211580" cy="899160"/>
          </a:xfrm>
          <a:prstGeom prst="rect">
            <a:avLst/>
          </a:prstGeom>
        </p:spPr>
      </p:pic>
      <p:pic>
        <p:nvPicPr>
          <p:cNvPr id="4" name="图片 3"/>
          <p:cNvPicPr>
            <a:picLocks noChangeAspect="1"/>
          </p:cNvPicPr>
          <p:nvPr/>
        </p:nvPicPr>
        <p:blipFill>
          <a:blip r:embed="rId2"/>
          <a:srcRect t="5315"/>
          <a:stretch>
            <a:fillRect/>
          </a:stretch>
        </p:blipFill>
        <p:spPr>
          <a:xfrm>
            <a:off x="971550" y="2526665"/>
            <a:ext cx="5554980" cy="3167380"/>
          </a:xfrm>
          <a:prstGeom prst="rect">
            <a:avLst/>
          </a:prstGeom>
        </p:spPr>
      </p:pic>
    </p:spTree>
  </p:cSld>
  <p:clrMapOvr>
    <a:masterClrMapping/>
  </p:clrMapOvr>
  <p:transition spd="med">
    <p:blinds dir="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2.1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多目标规划模型一般</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形式</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126365" y="2275205"/>
            <a:ext cx="8747760" cy="3421380"/>
          </a:xfrm>
          <a:prstGeom prst="rect">
            <a:avLst/>
          </a:prstGeom>
        </p:spPr>
      </p:pic>
      <p:pic>
        <p:nvPicPr>
          <p:cNvPr id="5" name="图片 4"/>
          <p:cNvPicPr>
            <a:picLocks noChangeAspect="1"/>
          </p:cNvPicPr>
          <p:nvPr/>
        </p:nvPicPr>
        <p:blipFill>
          <a:blip r:embed="rId2"/>
          <a:stretch>
            <a:fillRect/>
          </a:stretch>
        </p:blipFill>
        <p:spPr>
          <a:xfrm>
            <a:off x="7092315" y="620395"/>
            <a:ext cx="1463040" cy="3459480"/>
          </a:xfrm>
          <a:prstGeom prst="rect">
            <a:avLst/>
          </a:prstGeom>
        </p:spPr>
      </p:pic>
    </p:spTree>
  </p:cSld>
  <p:clrMapOvr>
    <a:masterClrMapping/>
  </p:clrMapOvr>
  <p:transition spd="med">
    <p:blinds dir="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700530"/>
            <a:ext cx="7441565" cy="360997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多目标规划问题中多个目标可能存在以下</a:t>
            </a:r>
            <a:r>
              <a:rPr lang="zh-CN" altLang="en-US" sz="2400" dirty="0">
                <a:cs typeface="Times New Roman" panose="02020603050405020304" pitchFamily="18" charset="0"/>
                <a:sym typeface="+mn-ea"/>
              </a:rPr>
              <a:t>特点：</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1</a:t>
            </a:r>
            <a:r>
              <a:rPr lang="zh-CN" altLang="en-US" sz="2400" dirty="0">
                <a:cs typeface="Times New Roman" panose="02020603050405020304" pitchFamily="18" charset="0"/>
                <a:sym typeface="+mn-ea"/>
              </a:rPr>
              <a:t>）存在</a:t>
            </a:r>
            <a:r>
              <a:rPr lang="zh-CN" altLang="en-US" sz="2400" dirty="0">
                <a:cs typeface="Times New Roman" panose="02020603050405020304" pitchFamily="18" charset="0"/>
                <a:sym typeface="+mn-ea"/>
              </a:rPr>
              <a:t>优先级；</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2</a:t>
            </a:r>
            <a:r>
              <a:rPr lang="zh-CN" altLang="en-US" sz="2400" dirty="0">
                <a:cs typeface="Times New Roman" panose="02020603050405020304" pitchFamily="18" charset="0"/>
                <a:sym typeface="+mn-ea"/>
              </a:rPr>
              <a:t>）存在冲突和</a:t>
            </a:r>
            <a:r>
              <a:rPr lang="zh-CN" altLang="en-US" sz="2400" dirty="0">
                <a:cs typeface="Times New Roman" panose="02020603050405020304" pitchFamily="18" charset="0"/>
                <a:sym typeface="+mn-ea"/>
              </a:rPr>
              <a:t>矛盾；</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3</a:t>
            </a:r>
            <a:r>
              <a:rPr lang="zh-CN" altLang="en-US" sz="2400" dirty="0">
                <a:cs typeface="Times New Roman" panose="02020603050405020304" pitchFamily="18" charset="0"/>
                <a:sym typeface="+mn-ea"/>
              </a:rPr>
              <a:t>）量纲</a:t>
            </a:r>
            <a:r>
              <a:rPr lang="zh-CN" altLang="en-US" sz="2400" dirty="0">
                <a:cs typeface="Times New Roman" panose="02020603050405020304" pitchFamily="18" charset="0"/>
                <a:sym typeface="+mn-ea"/>
              </a:rPr>
              <a:t>不一样；</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4</a:t>
            </a:r>
            <a:r>
              <a:rPr lang="zh-CN" altLang="en-US" sz="2400" dirty="0">
                <a:cs typeface="Times New Roman" panose="02020603050405020304" pitchFamily="18" charset="0"/>
                <a:sym typeface="+mn-ea"/>
              </a:rPr>
              <a:t>）数量级</a:t>
            </a:r>
            <a:r>
              <a:rPr lang="zh-CN" altLang="en-US" sz="2400" dirty="0">
                <a:cs typeface="Times New Roman" panose="02020603050405020304" pitchFamily="18" charset="0"/>
                <a:sym typeface="+mn-ea"/>
              </a:rPr>
              <a:t>不一样。</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求解多目标规划问题的主要思路是转化为单目标</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700530"/>
            <a:ext cx="7441565" cy="421830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多目标规划转化为单目标规划</a:t>
            </a:r>
            <a:r>
              <a:rPr lang="zh-CN" altLang="en-US" sz="2400" dirty="0">
                <a:cs typeface="Times New Roman" panose="02020603050405020304" pitchFamily="18" charset="0"/>
                <a:sym typeface="+mn-ea"/>
              </a:rPr>
              <a:t>方法：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1</a:t>
            </a:r>
            <a:r>
              <a:rPr lang="zh-CN" altLang="en-US" sz="2400" dirty="0">
                <a:cs typeface="Times New Roman" panose="02020603050405020304" pitchFamily="18" charset="0"/>
                <a:sym typeface="+mn-ea"/>
              </a:rPr>
              <a:t>）评价函数</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2</a:t>
            </a:r>
            <a:r>
              <a:rPr lang="zh-CN" altLang="en-US" sz="2400" dirty="0">
                <a:cs typeface="Times New Roman" panose="02020603050405020304" pitchFamily="18" charset="0"/>
                <a:sym typeface="+mn-ea"/>
              </a:rPr>
              <a:t>）功效系数</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3</a:t>
            </a:r>
            <a:r>
              <a:rPr lang="zh-CN" altLang="en-US" sz="2400" dirty="0">
                <a:cs typeface="Times New Roman" panose="02020603050405020304" pitchFamily="18" charset="0"/>
                <a:sym typeface="+mn-ea"/>
              </a:rPr>
              <a:t>）约束</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4</a:t>
            </a:r>
            <a:r>
              <a:rPr lang="zh-CN" altLang="en-US" sz="2400" dirty="0">
                <a:cs typeface="Times New Roman" panose="02020603050405020304" pitchFamily="18" charset="0"/>
                <a:sym typeface="+mn-ea"/>
              </a:rPr>
              <a:t>）分层序列</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5</a:t>
            </a:r>
            <a:r>
              <a:rPr lang="zh-CN" altLang="en-US" sz="2400" dirty="0">
                <a:cs typeface="Times New Roman" panose="02020603050405020304" pitchFamily="18" charset="0"/>
                <a:sym typeface="+mn-ea"/>
              </a:rPr>
              <a:t>）极小极大</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700530"/>
            <a:ext cx="7441565" cy="409003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评价函数</a:t>
            </a:r>
            <a:r>
              <a:rPr lang="zh-CN" altLang="en-US" sz="2400" dirty="0">
                <a:cs typeface="Times New Roman" panose="02020603050405020304" pitchFamily="18" charset="0"/>
                <a:sym typeface="+mn-ea"/>
              </a:rPr>
              <a:t>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基本思想：构造一个关于所有目标</a:t>
            </a:r>
            <a:r>
              <a:rPr lang="en-US" altLang="zh-CN" sz="2400" dirty="0">
                <a:cs typeface="Times New Roman" panose="02020603050405020304" pitchFamily="18" charset="0"/>
                <a:sym typeface="+mn-ea"/>
              </a:rPr>
              <a:t>F(x)</a:t>
            </a:r>
            <a:r>
              <a:rPr lang="zh-CN" altLang="en-US" sz="2400" dirty="0">
                <a:cs typeface="Times New Roman" panose="02020603050405020304" pitchFamily="18" charset="0"/>
                <a:sym typeface="+mn-ea"/>
              </a:rPr>
              <a:t>的评价函数，以此作为目标函数构造单目标规划</a:t>
            </a:r>
            <a:r>
              <a:rPr lang="zh-CN" altLang="en-US" sz="2400" dirty="0">
                <a:cs typeface="Times New Roman" panose="02020603050405020304" pitchFamily="18" charset="0"/>
                <a:sym typeface="+mn-ea"/>
              </a:rPr>
              <a:t>模型。</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1</a:t>
            </a:r>
            <a:r>
              <a:rPr lang="zh-CN" altLang="en-US" sz="2400" dirty="0">
                <a:cs typeface="Times New Roman" panose="02020603050405020304" pitchFamily="18" charset="0"/>
                <a:sym typeface="+mn-ea"/>
              </a:rPr>
              <a:t>）线性</a:t>
            </a:r>
            <a:r>
              <a:rPr lang="zh-CN" altLang="en-US" sz="2400" dirty="0">
                <a:cs typeface="Times New Roman" panose="02020603050405020304" pitchFamily="18" charset="0"/>
                <a:sym typeface="+mn-ea"/>
              </a:rPr>
              <a:t>加权法：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2</a:t>
            </a:r>
            <a:r>
              <a:rPr lang="zh-CN" altLang="en-US" sz="2400" dirty="0">
                <a:cs typeface="Times New Roman" panose="02020603050405020304" pitchFamily="18" charset="0"/>
                <a:sym typeface="+mn-ea"/>
              </a:rPr>
              <a:t>）均方</a:t>
            </a:r>
            <a:r>
              <a:rPr lang="zh-CN" altLang="en-US" sz="2400" dirty="0">
                <a:cs typeface="Times New Roman" panose="02020603050405020304" pitchFamily="18" charset="0"/>
                <a:sym typeface="+mn-ea"/>
              </a:rPr>
              <a:t>加权法：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其中，</a:t>
            </a:r>
            <a:r>
              <a:rPr lang="en-US" altLang="zh-CN" sz="2400" dirty="0">
                <a:cs typeface="Times New Roman" panose="02020603050405020304" pitchFamily="18" charset="0"/>
                <a:sym typeface="+mn-ea"/>
              </a:rPr>
              <a:t>f</a:t>
            </a:r>
            <a:r>
              <a:rPr lang="en-US" altLang="zh-CN" sz="2400" baseline="-25000" dirty="0">
                <a:cs typeface="Times New Roman" panose="02020603050405020304" pitchFamily="18" charset="0"/>
                <a:sym typeface="+mn-ea"/>
              </a:rPr>
              <a:t>i</a:t>
            </a:r>
            <a:r>
              <a:rPr lang="en-US" altLang="zh-CN" sz="2400" baseline="30000" dirty="0">
                <a:cs typeface="Times New Roman" panose="02020603050405020304" pitchFamily="18" charset="0"/>
                <a:sym typeface="+mn-ea"/>
              </a:rPr>
              <a:t>0</a:t>
            </a:r>
            <a:r>
              <a:rPr lang="zh-CN" altLang="en-US" sz="2400" dirty="0">
                <a:cs typeface="Times New Roman" panose="02020603050405020304" pitchFamily="18" charset="0"/>
                <a:sym typeface="+mn-ea"/>
              </a:rPr>
              <a:t>为</a:t>
            </a:r>
            <a:r>
              <a:rPr lang="en-US" altLang="zh-CN" sz="2400" dirty="0">
                <a:cs typeface="Times New Roman" panose="02020603050405020304" pitchFamily="18" charset="0"/>
                <a:sym typeface="+mn-ea"/>
              </a:rPr>
              <a:t>minf</a:t>
            </a:r>
            <a:r>
              <a:rPr lang="en-US" altLang="zh-CN" sz="2400" baseline="-25000" dirty="0">
                <a:cs typeface="Times New Roman" panose="02020603050405020304" pitchFamily="18" charset="0"/>
                <a:sym typeface="+mn-ea"/>
              </a:rPr>
              <a:t>i</a:t>
            </a:r>
            <a:r>
              <a:rPr lang="en-US" altLang="zh-CN" sz="2400" dirty="0">
                <a:cs typeface="Times New Roman" panose="02020603050405020304" pitchFamily="18" charset="0"/>
                <a:sym typeface="+mn-ea"/>
              </a:rPr>
              <a:t>(X)</a:t>
            </a:r>
            <a:r>
              <a:rPr lang="zh-CN" altLang="en-US" sz="2400" dirty="0">
                <a:cs typeface="Times New Roman" panose="02020603050405020304" pitchFamily="18" charset="0"/>
                <a:sym typeface="+mn-ea"/>
              </a:rPr>
              <a:t>的下</a:t>
            </a:r>
            <a:r>
              <a:rPr lang="zh-CN" altLang="en-US" sz="2400" dirty="0">
                <a:cs typeface="Times New Roman" panose="02020603050405020304" pitchFamily="18" charset="0"/>
                <a:sym typeface="+mn-ea"/>
              </a:rPr>
              <a:t>界。</a:t>
            </a:r>
            <a:endParaRPr lang="zh-CN" altLang="en-US" sz="2400"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3420110" y="3284855"/>
            <a:ext cx="3512820" cy="792480"/>
          </a:xfrm>
          <a:prstGeom prst="rect">
            <a:avLst/>
          </a:prstGeom>
        </p:spPr>
      </p:pic>
      <p:pic>
        <p:nvPicPr>
          <p:cNvPr id="3" name="图片 2"/>
          <p:cNvPicPr>
            <a:picLocks noChangeAspect="1"/>
          </p:cNvPicPr>
          <p:nvPr/>
        </p:nvPicPr>
        <p:blipFill>
          <a:blip r:embed="rId2"/>
          <a:stretch>
            <a:fillRect/>
          </a:stretch>
        </p:blipFill>
        <p:spPr>
          <a:xfrm>
            <a:off x="2483485" y="4437380"/>
            <a:ext cx="4953000" cy="853440"/>
          </a:xfrm>
          <a:prstGeom prst="rect">
            <a:avLst/>
          </a:prstGeom>
        </p:spPr>
      </p:pic>
    </p:spTree>
  </p:cSld>
  <p:clrMapOvr>
    <a:masterClrMapping/>
  </p:clrMapOvr>
  <p:transition spd="med">
    <p:blinds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557020"/>
            <a:ext cx="7441565" cy="469773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功效</a:t>
            </a:r>
            <a:r>
              <a:rPr lang="zh-CN" altLang="en-US" sz="2400" dirty="0">
                <a:cs typeface="Times New Roman" panose="02020603050405020304" pitchFamily="18" charset="0"/>
                <a:sym typeface="+mn-ea"/>
              </a:rPr>
              <a:t>系数法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基本思想：对每个目标构造一个功效函数反应逼近其最优目标的程度以此构造</a:t>
            </a:r>
            <a:r>
              <a:rPr lang="zh-CN" altLang="en-US" sz="2400" dirty="0">
                <a:cs typeface="Times New Roman" panose="02020603050405020304" pitchFamily="18" charset="0"/>
                <a:sym typeface="+mn-ea"/>
              </a:rPr>
              <a:t>单目标。</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设</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构造</a:t>
            </a:r>
            <a:r>
              <a:rPr lang="zh-CN" altLang="en-US" sz="2400" dirty="0">
                <a:cs typeface="Times New Roman" panose="02020603050405020304" pitchFamily="18" charset="0"/>
                <a:sym typeface="+mn-ea"/>
              </a:rPr>
              <a:t>功效函数</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定义</a:t>
            </a:r>
            <a:r>
              <a:rPr lang="zh-CN" altLang="en-US" sz="2400" dirty="0">
                <a:cs typeface="Times New Roman" panose="02020603050405020304" pitchFamily="18" charset="0"/>
                <a:sym typeface="+mn-ea"/>
              </a:rPr>
              <a:t>单目标</a:t>
            </a:r>
            <a:endParaRPr lang="zh-CN" altLang="en-US" sz="2400" dirty="0">
              <a:cs typeface="Times New Roman" panose="02020603050405020304" pitchFamily="18" charset="0"/>
              <a:sym typeface="+mn-ea"/>
            </a:endParaRPr>
          </a:p>
        </p:txBody>
      </p:sp>
      <p:pic>
        <p:nvPicPr>
          <p:cNvPr id="4" name="图片 3"/>
          <p:cNvPicPr>
            <a:picLocks noChangeAspect="1"/>
          </p:cNvPicPr>
          <p:nvPr/>
        </p:nvPicPr>
        <p:blipFill>
          <a:blip r:embed="rId1"/>
          <a:stretch>
            <a:fillRect/>
          </a:stretch>
        </p:blipFill>
        <p:spPr>
          <a:xfrm>
            <a:off x="2353945" y="3284855"/>
            <a:ext cx="4000500" cy="579120"/>
          </a:xfrm>
          <a:prstGeom prst="rect">
            <a:avLst/>
          </a:prstGeom>
        </p:spPr>
      </p:pic>
      <p:pic>
        <p:nvPicPr>
          <p:cNvPr id="5" name="图片 4"/>
          <p:cNvPicPr>
            <a:picLocks noChangeAspect="1"/>
          </p:cNvPicPr>
          <p:nvPr/>
        </p:nvPicPr>
        <p:blipFill>
          <a:blip r:embed="rId2"/>
          <a:stretch>
            <a:fillRect/>
          </a:stretch>
        </p:blipFill>
        <p:spPr>
          <a:xfrm>
            <a:off x="1907540" y="4364990"/>
            <a:ext cx="6012815" cy="1328420"/>
          </a:xfrm>
          <a:prstGeom prst="rect">
            <a:avLst/>
          </a:prstGeom>
        </p:spPr>
      </p:pic>
      <p:pic>
        <p:nvPicPr>
          <p:cNvPr id="6" name="图片 5"/>
          <p:cNvPicPr>
            <a:picLocks noChangeAspect="1"/>
          </p:cNvPicPr>
          <p:nvPr/>
        </p:nvPicPr>
        <p:blipFill>
          <a:blip r:embed="rId3"/>
          <a:stretch>
            <a:fillRect/>
          </a:stretch>
        </p:blipFill>
        <p:spPr>
          <a:xfrm>
            <a:off x="2915920" y="5733415"/>
            <a:ext cx="2179320" cy="723900"/>
          </a:xfrm>
          <a:prstGeom prst="rect">
            <a:avLst/>
          </a:prstGeom>
        </p:spPr>
      </p:pic>
    </p:spTree>
  </p:cSld>
  <p:clrMapOvr>
    <a:masterClrMapping/>
  </p:clrMapOvr>
  <p:transition spd="med">
    <p:blinds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557020"/>
            <a:ext cx="7441565" cy="274574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约束法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基本思想：对多个目标选定一个主要目标，而对其他目标设定期望值，在要求结果不比期望值小的情况下，求主要目标的最优</a:t>
            </a:r>
            <a:r>
              <a:rPr lang="zh-CN" altLang="en-US" sz="2400" dirty="0">
                <a:cs typeface="Times New Roman" panose="02020603050405020304" pitchFamily="18" charset="0"/>
                <a:sym typeface="+mn-ea"/>
              </a:rPr>
              <a:t>值。</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1010285" y="3789045"/>
            <a:ext cx="7124700" cy="1036320"/>
          </a:xfrm>
          <a:prstGeom prst="rect">
            <a:avLst/>
          </a:prstGeom>
        </p:spPr>
      </p:pic>
    </p:spTree>
  </p:cSld>
  <p:clrMapOvr>
    <a:masterClrMapping/>
  </p:clrMapOvr>
  <p:transition spd="med">
    <p:blinds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557020"/>
            <a:ext cx="7441565" cy="213804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分层</a:t>
            </a:r>
            <a:r>
              <a:rPr lang="zh-CN" altLang="en-US" sz="2400" dirty="0">
                <a:cs typeface="Times New Roman" panose="02020603050405020304" pitchFamily="18" charset="0"/>
                <a:sym typeface="+mn-ea"/>
              </a:rPr>
              <a:t>序列法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基本思想：将多个目标按重要度排序，逐级构造每个目标在上级目标达到最优条件下的单目标规划问题序列，以此直到获得最后一个目标的</a:t>
            </a:r>
            <a:r>
              <a:rPr lang="zh-CN" altLang="en-US" sz="2400" dirty="0">
                <a:cs typeface="Times New Roman" panose="02020603050405020304" pitchFamily="18" charset="0"/>
                <a:sym typeface="+mn-ea"/>
              </a:rPr>
              <a:t>最优值。</a:t>
            </a:r>
            <a:endParaRPr lang="zh-CN" altLang="en-US" sz="2400" dirty="0">
              <a:cs typeface="Times New Roman" panose="02020603050405020304" pitchFamily="18" charset="0"/>
              <a:sym typeface="+mn-ea"/>
            </a:endParaRPr>
          </a:p>
        </p:txBody>
      </p:sp>
      <p:pic>
        <p:nvPicPr>
          <p:cNvPr id="4" name="图片 3"/>
          <p:cNvPicPr>
            <a:picLocks noChangeAspect="1"/>
          </p:cNvPicPr>
          <p:nvPr/>
        </p:nvPicPr>
        <p:blipFill>
          <a:blip r:embed="rId1"/>
          <a:stretch>
            <a:fillRect/>
          </a:stretch>
        </p:blipFill>
        <p:spPr>
          <a:xfrm>
            <a:off x="4356100" y="3917315"/>
            <a:ext cx="3977640" cy="1897380"/>
          </a:xfrm>
          <a:prstGeom prst="rect">
            <a:avLst/>
          </a:prstGeom>
        </p:spPr>
      </p:pic>
      <p:pic>
        <p:nvPicPr>
          <p:cNvPr id="3" name="图片 2"/>
          <p:cNvPicPr>
            <a:picLocks noChangeAspect="1"/>
          </p:cNvPicPr>
          <p:nvPr/>
        </p:nvPicPr>
        <p:blipFill>
          <a:blip r:embed="rId2"/>
          <a:stretch>
            <a:fillRect/>
          </a:stretch>
        </p:blipFill>
        <p:spPr>
          <a:xfrm>
            <a:off x="899795" y="4868545"/>
            <a:ext cx="3810000" cy="426720"/>
          </a:xfrm>
          <a:prstGeom prst="rect">
            <a:avLst/>
          </a:prstGeom>
        </p:spPr>
      </p:pic>
    </p:spTree>
  </p:cSld>
  <p:clrMapOvr>
    <a:masterClrMapping/>
  </p:clrMapOvr>
  <p:transition spd="med">
    <p:blinds dir="ver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7" name="TextBox 4"/>
          <p:cNvSpPr txBox="1"/>
          <p:nvPr/>
        </p:nvSpPr>
        <p:spPr>
          <a:xfrm>
            <a:off x="851535" y="1557020"/>
            <a:ext cx="7441565" cy="226631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极小</a:t>
            </a:r>
            <a:r>
              <a:rPr lang="zh-CN" altLang="en-US" sz="2400" dirty="0">
                <a:cs typeface="Times New Roman" panose="02020603050405020304" pitchFamily="18" charset="0"/>
                <a:sym typeface="+mn-ea"/>
              </a:rPr>
              <a:t>极大法</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基本思想：采用悲观主义决策，在最不利的情况下，找出最有利的</a:t>
            </a:r>
            <a:r>
              <a:rPr lang="zh-CN" altLang="en-US" sz="2400" dirty="0">
                <a:cs typeface="Times New Roman" panose="02020603050405020304" pitchFamily="18" charset="0"/>
                <a:sym typeface="+mn-ea"/>
              </a:rPr>
              <a:t>策略。</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定义</a:t>
            </a:r>
            <a:r>
              <a:rPr lang="zh-CN" altLang="en-US" sz="2400" dirty="0">
                <a:cs typeface="Times New Roman" panose="02020603050405020304" pitchFamily="18" charset="0"/>
                <a:sym typeface="+mn-ea"/>
              </a:rPr>
              <a:t>目标函数：</a:t>
            </a:r>
            <a:endParaRPr lang="zh-CN" altLang="en-US" sz="2400" dirty="0">
              <a:cs typeface="Times New Roman" panose="02020603050405020304" pitchFamily="18" charset="0"/>
              <a:sym typeface="+mn-ea"/>
            </a:endParaRPr>
          </a:p>
        </p:txBody>
      </p:sp>
      <p:pic>
        <p:nvPicPr>
          <p:cNvPr id="2" name="图片 1"/>
          <p:cNvPicPr>
            <a:picLocks noChangeAspect="1"/>
          </p:cNvPicPr>
          <p:nvPr/>
        </p:nvPicPr>
        <p:blipFill>
          <a:blip r:embed="rId1"/>
          <a:stretch>
            <a:fillRect/>
          </a:stretch>
        </p:blipFill>
        <p:spPr>
          <a:xfrm>
            <a:off x="2339340" y="3933190"/>
            <a:ext cx="5063490" cy="975360"/>
          </a:xfrm>
          <a:prstGeom prst="rect">
            <a:avLst/>
          </a:prstGeom>
        </p:spPr>
      </p:pic>
    </p:spTree>
  </p:cSld>
  <p:clrMapOvr>
    <a:masterClrMapping/>
  </p:clrMapOvr>
  <p:transition spd="med">
    <p:blinds dir="ver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3" name="TextBox 4"/>
          <p:cNvSpPr txBox="1"/>
          <p:nvPr/>
        </p:nvSpPr>
        <p:spPr>
          <a:xfrm>
            <a:off x="851535" y="1413510"/>
            <a:ext cx="7441565" cy="5880100"/>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投资</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某企业拟用</a:t>
            </a:r>
            <a:r>
              <a:rPr lang="en-US" altLang="zh-CN" sz="2400" dirty="0">
                <a:cs typeface="Times New Roman" panose="02020603050405020304" pitchFamily="18" charset="0"/>
                <a:sym typeface="+mn-ea"/>
              </a:rPr>
              <a:t>1000</a:t>
            </a:r>
            <a:r>
              <a:rPr lang="zh-CN" altLang="en-US" sz="2400" dirty="0">
                <a:cs typeface="Times New Roman" panose="02020603050405020304" pitchFamily="18" charset="0"/>
                <a:sym typeface="+mn-ea"/>
              </a:rPr>
              <a:t>万元投资</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两个项目的技术改造，设</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1</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x</a:t>
            </a:r>
            <a:r>
              <a:rPr lang="en-US" altLang="zh-CN" sz="2400" baseline="-25000" dirty="0">
                <a:cs typeface="Times New Roman" panose="02020603050405020304" pitchFamily="18" charset="0"/>
                <a:sym typeface="+mn-ea"/>
              </a:rPr>
              <a:t>2</a:t>
            </a:r>
            <a:r>
              <a:rPr lang="zh-CN" altLang="en-US" sz="2400" dirty="0">
                <a:cs typeface="Times New Roman" panose="02020603050405020304" pitchFamily="18" charset="0"/>
                <a:sym typeface="+mn-ea"/>
              </a:rPr>
              <a:t>分别表示分配给</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项目的投资（万元）。据估计，投资</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的年收益分别为投资的</a:t>
            </a:r>
            <a:r>
              <a:rPr lang="en-US" altLang="zh-CN" sz="2400" dirty="0">
                <a:cs typeface="Times New Roman" panose="02020603050405020304" pitchFamily="18" charset="0"/>
                <a:sym typeface="+mn-ea"/>
              </a:rPr>
              <a:t>60%</a:t>
            </a:r>
            <a:r>
              <a:rPr lang="zh-CN" altLang="en-US" sz="2400" dirty="0">
                <a:cs typeface="Times New Roman" panose="02020603050405020304" pitchFamily="18" charset="0"/>
                <a:sym typeface="+mn-ea"/>
              </a:rPr>
              <a:t>和</a:t>
            </a:r>
            <a:r>
              <a:rPr lang="en-US" altLang="zh-CN" sz="2400" dirty="0">
                <a:cs typeface="Times New Roman" panose="02020603050405020304" pitchFamily="18" charset="0"/>
                <a:sym typeface="+mn-ea"/>
              </a:rPr>
              <a:t>70%</a:t>
            </a:r>
            <a:r>
              <a:rPr lang="zh-CN" altLang="en-US" sz="2400" dirty="0">
                <a:cs typeface="Times New Roman" panose="02020603050405020304" pitchFamily="18" charset="0"/>
                <a:sym typeface="+mn-ea"/>
              </a:rPr>
              <a:t>；但投资风险损失与总投资和单项投资均有</a:t>
            </a:r>
            <a:r>
              <a:rPr lang="zh-CN" altLang="en-US" sz="2400" dirty="0">
                <a:cs typeface="Times New Roman" panose="02020603050405020304" pitchFamily="18" charset="0"/>
                <a:sym typeface="+mn-ea"/>
              </a:rPr>
              <a:t>关系：</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据市场调查显示，</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项目的投资前景好于</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项目，因此希望</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项目的投资额不小于</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项目。试问应该如何在</a:t>
            </a:r>
            <a:r>
              <a:rPr lang="en-US" altLang="zh-CN" sz="2400" dirty="0">
                <a:cs typeface="Times New Roman" panose="02020603050405020304" pitchFamily="18" charset="0"/>
                <a:sym typeface="+mn-ea"/>
              </a:rPr>
              <a:t>A</a:t>
            </a:r>
            <a:r>
              <a:rPr lang="zh-CN" altLang="en-US" sz="2400" dirty="0">
                <a:cs typeface="Times New Roman" panose="02020603050405020304" pitchFamily="18" charset="0"/>
                <a:sym typeface="+mn-ea"/>
              </a:rPr>
              <a:t>、</a:t>
            </a:r>
            <a:r>
              <a:rPr lang="en-US" altLang="zh-CN" sz="2400" dirty="0">
                <a:cs typeface="Times New Roman" panose="02020603050405020304" pitchFamily="18" charset="0"/>
                <a:sym typeface="+mn-ea"/>
              </a:rPr>
              <a:t>B</a:t>
            </a:r>
            <a:r>
              <a:rPr lang="zh-CN" altLang="en-US" sz="2400" dirty="0">
                <a:cs typeface="Times New Roman" panose="02020603050405020304" pitchFamily="18" charset="0"/>
                <a:sym typeface="+mn-ea"/>
              </a:rPr>
              <a:t>两个项目之间分配投资，才能使年利润最大、风险损失</a:t>
            </a:r>
            <a:r>
              <a:rPr lang="zh-CN" altLang="en-US" sz="2400" dirty="0">
                <a:cs typeface="Times New Roman" panose="02020603050405020304" pitchFamily="18" charset="0"/>
                <a:sym typeface="+mn-ea"/>
              </a:rPr>
              <a:t>最小？</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pic>
        <p:nvPicPr>
          <p:cNvPr id="4" name="图片 3"/>
          <p:cNvPicPr>
            <a:picLocks noChangeAspect="1"/>
          </p:cNvPicPr>
          <p:nvPr/>
        </p:nvPicPr>
        <p:blipFill>
          <a:blip r:embed="rId1"/>
          <a:stretch>
            <a:fillRect/>
          </a:stretch>
        </p:blipFill>
        <p:spPr>
          <a:xfrm>
            <a:off x="1907540" y="4077335"/>
            <a:ext cx="5756910" cy="506095"/>
          </a:xfrm>
          <a:prstGeom prst="rect">
            <a:avLst/>
          </a:prstGeom>
        </p:spPr>
      </p:pic>
    </p:spTree>
  </p:cSld>
  <p:clrMapOvr>
    <a:masterClrMapping/>
  </p:clrMapOvr>
  <p:transition spd="med">
    <p:blinds dir="ver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3" name="TextBox 4"/>
          <p:cNvSpPr txBox="1"/>
          <p:nvPr/>
        </p:nvSpPr>
        <p:spPr>
          <a:xfrm>
            <a:off x="851535" y="1413510"/>
            <a:ext cx="7441565" cy="517715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投资</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该问题数学模型</a:t>
            </a:r>
            <a:r>
              <a:rPr lang="zh-CN" altLang="en-US" sz="2400" dirty="0">
                <a:cs typeface="Times New Roman" panose="02020603050405020304" pitchFamily="18" charset="0"/>
                <a:sym typeface="+mn-ea"/>
              </a:rPr>
              <a:t>为</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对于上述问题，假定决策者提出的期望目标</a:t>
            </a:r>
            <a:r>
              <a:rPr lang="zh-CN" altLang="en-US" sz="2400" dirty="0">
                <a:cs typeface="Times New Roman" panose="02020603050405020304" pitchFamily="18" charset="0"/>
                <a:sym typeface="+mn-ea"/>
              </a:rPr>
              <a:t>为：（</a:t>
            </a:r>
            <a:r>
              <a:rPr lang="en-US" altLang="zh-CN" sz="2400" dirty="0">
                <a:cs typeface="Times New Roman" panose="02020603050405020304" pitchFamily="18" charset="0"/>
                <a:sym typeface="+mn-ea"/>
              </a:rPr>
              <a:t>1</a:t>
            </a:r>
            <a:r>
              <a:rPr lang="zh-CN" altLang="en-US" sz="2400" dirty="0">
                <a:cs typeface="Times New Roman" panose="02020603050405020304" pitchFamily="18" charset="0"/>
                <a:sym typeface="+mn-ea"/>
              </a:rPr>
              <a:t>）每一年的总收益不小于</a:t>
            </a:r>
            <a:r>
              <a:rPr lang="en-US" altLang="zh-CN" sz="2400" dirty="0">
                <a:cs typeface="Times New Roman" panose="02020603050405020304" pitchFamily="18" charset="0"/>
                <a:sym typeface="+mn-ea"/>
              </a:rPr>
              <a:t>600</a:t>
            </a:r>
            <a:r>
              <a:rPr lang="zh-CN" altLang="en-US" sz="2400" dirty="0">
                <a:cs typeface="Times New Roman" panose="02020603050405020304" pitchFamily="18" charset="0"/>
                <a:sym typeface="+mn-ea"/>
              </a:rPr>
              <a:t>万元；（</a:t>
            </a:r>
            <a:r>
              <a:rPr lang="en-US" altLang="zh-CN" sz="2400" dirty="0">
                <a:cs typeface="Times New Roman" panose="02020603050405020304" pitchFamily="18" charset="0"/>
                <a:sym typeface="+mn-ea"/>
              </a:rPr>
              <a:t>2</a:t>
            </a:r>
            <a:r>
              <a:rPr lang="zh-CN" altLang="en-US" sz="2400" dirty="0">
                <a:cs typeface="Times New Roman" panose="02020603050405020304" pitchFamily="18" charset="0"/>
                <a:sym typeface="+mn-ea"/>
              </a:rPr>
              <a:t>）希望投资风险损失不超过</a:t>
            </a:r>
            <a:r>
              <a:rPr lang="en-US" altLang="zh-CN" sz="2400" dirty="0">
                <a:cs typeface="Times New Roman" panose="02020603050405020304" pitchFamily="18" charset="0"/>
                <a:sym typeface="+mn-ea"/>
              </a:rPr>
              <a:t>800</a:t>
            </a:r>
            <a:r>
              <a:rPr lang="zh-CN" altLang="en-US" sz="2400" dirty="0">
                <a:cs typeface="Times New Roman" panose="02020603050405020304" pitchFamily="18" charset="0"/>
                <a:sym typeface="+mn-ea"/>
              </a:rPr>
              <a:t>万元；（</a:t>
            </a:r>
            <a:r>
              <a:rPr lang="en-US" altLang="zh-CN" sz="2400" dirty="0">
                <a:cs typeface="Times New Roman" panose="02020603050405020304" pitchFamily="18" charset="0"/>
                <a:sym typeface="+mn-ea"/>
              </a:rPr>
              <a:t>3</a:t>
            </a:r>
            <a:r>
              <a:rPr lang="zh-CN" altLang="en-US" sz="2400" dirty="0">
                <a:cs typeface="Times New Roman" panose="02020603050405020304" pitchFamily="18" charset="0"/>
                <a:sym typeface="+mn-ea"/>
              </a:rPr>
              <a:t>）两个目标同等</a:t>
            </a:r>
            <a:r>
              <a:rPr lang="zh-CN" altLang="en-US" sz="2400" dirty="0">
                <a:cs typeface="Times New Roman" panose="02020603050405020304" pitchFamily="18" charset="0"/>
                <a:sym typeface="+mn-ea"/>
              </a:rPr>
              <a:t>重要</a:t>
            </a:r>
            <a:endParaRPr lang="zh-CN" altLang="en-US" sz="2400" dirty="0">
              <a:cs typeface="Times New Roman" panose="02020603050405020304" pitchFamily="18" charset="0"/>
              <a:sym typeface="+mn-ea"/>
            </a:endParaRPr>
          </a:p>
        </p:txBody>
      </p:sp>
      <p:pic>
        <p:nvPicPr>
          <p:cNvPr id="6" name="图片 5"/>
          <p:cNvPicPr>
            <a:picLocks noChangeAspect="1"/>
          </p:cNvPicPr>
          <p:nvPr/>
        </p:nvPicPr>
        <p:blipFill>
          <a:blip r:embed="rId1"/>
          <a:stretch>
            <a:fillRect/>
          </a:stretch>
        </p:blipFill>
        <p:spPr>
          <a:xfrm>
            <a:off x="2051685" y="2637155"/>
            <a:ext cx="5615940" cy="754380"/>
          </a:xfrm>
          <a:prstGeom prst="rect">
            <a:avLst/>
          </a:prstGeom>
        </p:spPr>
      </p:pic>
      <p:pic>
        <p:nvPicPr>
          <p:cNvPr id="8" name="图片 7"/>
          <p:cNvPicPr>
            <a:picLocks noChangeAspect="1"/>
          </p:cNvPicPr>
          <p:nvPr/>
        </p:nvPicPr>
        <p:blipFill>
          <a:blip r:embed="rId2"/>
          <a:stretch>
            <a:fillRect/>
          </a:stretch>
        </p:blipFill>
        <p:spPr>
          <a:xfrm>
            <a:off x="2843530" y="3520440"/>
            <a:ext cx="3379470" cy="1639570"/>
          </a:xfrm>
          <a:prstGeom prst="rect">
            <a:avLst/>
          </a:prstGeom>
        </p:spPr>
      </p:pic>
    </p:spTree>
  </p:cSld>
  <p:clrMapOvr>
    <a:masterClrMapping/>
  </p:clrMapOvr>
  <p:transition spd="med">
    <p:blinds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3" name="TextBox 4"/>
          <p:cNvSpPr txBox="1"/>
          <p:nvPr/>
        </p:nvSpPr>
        <p:spPr>
          <a:xfrm>
            <a:off x="851535" y="1413510"/>
            <a:ext cx="7441565" cy="5305425"/>
          </a:xfrm>
          <a:prstGeom prst="rect">
            <a:avLst/>
          </a:prstGeom>
          <a:noFill/>
          <a:ln w="9525">
            <a:noFill/>
          </a:ln>
        </p:spPr>
        <p:txBody>
          <a:bodyPr wrap="square">
            <a:spAutoFit/>
          </a:bodyPr>
          <a:p>
            <a:pPr algn="just" eaLnBrk="1" hangingPunct="1">
              <a:lnSpc>
                <a:spcPct val="130000"/>
              </a:lnSpc>
              <a:spcBef>
                <a:spcPct val="0"/>
              </a:spcBef>
              <a:spcAft>
                <a:spcPts val="1000"/>
              </a:spcAft>
              <a:buFont typeface="Wingdings" panose="05000000000000000000" pitchFamily="2" charset="2"/>
            </a:pPr>
            <a:r>
              <a:rPr lang="zh-CN" altLang="en-US" sz="2400" dirty="0">
                <a:cs typeface="Times New Roman" panose="02020603050405020304" pitchFamily="18" charset="0"/>
                <a:sym typeface="+mn-ea"/>
              </a:rPr>
              <a:t>投资</a:t>
            </a:r>
            <a:r>
              <a:rPr lang="zh-CN" altLang="en-US" sz="2400" dirty="0">
                <a:cs typeface="Times New Roman" panose="02020603050405020304" pitchFamily="18" charset="0"/>
                <a:sym typeface="+mn-ea"/>
              </a:rPr>
              <a:t>问题</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altLang="zh-CN" sz="2400" dirty="0">
                <a:cs typeface="Times New Roman" panose="02020603050405020304" pitchFamily="18" charset="0"/>
                <a:sym typeface="+mn-ea"/>
              </a:rPr>
              <a:t>MATLAB</a:t>
            </a:r>
            <a:r>
              <a:rPr lang="zh-CN" altLang="en-US" sz="2400" dirty="0">
                <a:cs typeface="Times New Roman" panose="02020603050405020304" pitchFamily="18" charset="0"/>
                <a:sym typeface="+mn-ea"/>
              </a:rPr>
              <a:t>求解</a:t>
            </a:r>
            <a:endParaRPr lang="zh-CN" alt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sz="2400" dirty="0">
                <a:cs typeface="Times New Roman" panose="02020603050405020304" pitchFamily="18" charset="0"/>
                <a:sym typeface="+mn-ea"/>
              </a:rPr>
              <a:t>fun=[-0.6*x(1)-0.7*x(2),0.001*x(1)^2+0.002*x(2)^2</a:t>
            </a:r>
            <a:endParaRPr 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sz="2400" dirty="0">
                <a:cs typeface="Times New Roman" panose="02020603050405020304" pitchFamily="18" charset="0"/>
                <a:sym typeface="+mn-ea"/>
              </a:rPr>
              <a:t>+0.001*x(1)*x(2)];</a:t>
            </a:r>
            <a:endParaRPr 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sz="2400" dirty="0">
                <a:cs typeface="Times New Roman" panose="02020603050405020304" pitchFamily="18" charset="0"/>
                <a:sym typeface="+mn-ea"/>
              </a:rPr>
              <a:t>a=[-1,1]; b=[0]; Aeq=[1,1]; beq=[1000]; goal=[-600,800];</a:t>
            </a:r>
            <a:endParaRPr 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sz="2400" dirty="0">
                <a:cs typeface="Times New Roman" panose="02020603050405020304" pitchFamily="18" charset="0"/>
                <a:sym typeface="+mn-ea"/>
              </a:rPr>
              <a:t>weight=goal; x0=[600,600]; lb=[0,0];</a:t>
            </a:r>
            <a:endParaRPr 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r>
              <a:rPr lang="en-US" sz="2400" dirty="0">
                <a:cs typeface="Times New Roman" panose="02020603050405020304" pitchFamily="18" charset="0"/>
                <a:sym typeface="+mn-ea"/>
              </a:rPr>
              <a:t>[x,fval,attainfactor,exitflag]=fgoalattain(fun,x0,goal,weight,a,b,Aeq,beq,lb,[])</a:t>
            </a:r>
            <a:endParaRPr lang="en-US" sz="2400" dirty="0">
              <a:cs typeface="Times New Roman" panose="02020603050405020304" pitchFamily="18" charset="0"/>
              <a:sym typeface="+mn-ea"/>
            </a:endParaRPr>
          </a:p>
          <a:p>
            <a:pPr algn="just" eaLnBrk="1" hangingPunct="1">
              <a:lnSpc>
                <a:spcPct val="130000"/>
              </a:lnSpc>
              <a:spcBef>
                <a:spcPct val="0"/>
              </a:spcBef>
              <a:spcAft>
                <a:spcPts val="1000"/>
              </a:spcAft>
              <a:buFont typeface="Wingdings" panose="05000000000000000000" pitchFamily="2" charset="2"/>
            </a:pPr>
            <a:endParaRPr lang="zh-CN" altLang="en-US" sz="2400" dirty="0">
              <a:cs typeface="Times New Roman" panose="02020603050405020304" pitchFamily="18" charset="0"/>
              <a:sym typeface="+mn-ea"/>
            </a:endParaRPr>
          </a:p>
        </p:txBody>
      </p:sp>
    </p:spTree>
  </p:cSld>
  <p:clrMapOvr>
    <a:masterClrMapping/>
  </p:clrMapOvr>
  <p:transition spd="med">
    <p:blinds dir="ver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sp>
        <p:nvSpPr>
          <p:cNvPr id="2" name="文本框 1"/>
          <p:cNvSpPr txBox="1"/>
          <p:nvPr/>
        </p:nvSpPr>
        <p:spPr>
          <a:xfrm>
            <a:off x="395605" y="2060575"/>
            <a:ext cx="8225790" cy="3969385"/>
          </a:xfrm>
          <a:prstGeom prst="rect">
            <a:avLst/>
          </a:prstGeom>
          <a:noFill/>
        </p:spPr>
        <p:txBody>
          <a:bodyPr wrap="square" rtlCol="0" anchor="t">
            <a:spAutoFit/>
          </a:bodyPr>
          <a:p>
            <a:r>
              <a:rPr lang="en-US" altLang="zh-CN"/>
              <a:t>        </a:t>
            </a:r>
            <a:r>
              <a:rPr lang="zh-CN" altLang="en-US"/>
              <a:t>无线电广播电视台考虑如何最好地安排音乐、新闻和商业节目的时间。</a:t>
            </a:r>
            <a:endParaRPr lang="zh-CN" altLang="en-US"/>
          </a:p>
          <a:p>
            <a:r>
              <a:rPr lang="en-US" altLang="zh-CN">
                <a:sym typeface="+mn-ea"/>
              </a:rPr>
              <a:t>        </a:t>
            </a:r>
            <a:r>
              <a:rPr lang="zh-CN" altLang="en-US"/>
              <a:t>依据法律，该台每天允许广播 12h，其中商业节目用以赢利，每分钟可以收入 300 美元，新闻节目每分钟需要支出 50 美元，音乐节目的费用为每分钟 22.5美元。</a:t>
            </a:r>
            <a:endParaRPr lang="zh-CN" altLang="en-US"/>
          </a:p>
          <a:p>
            <a:r>
              <a:rPr lang="en-US" altLang="zh-CN">
                <a:sym typeface="+mn-ea"/>
              </a:rPr>
              <a:t>        </a:t>
            </a:r>
            <a:r>
              <a:rPr lang="zh-CN" altLang="en-US"/>
              <a:t>法律规定，正常情况下商业节目只能占广播时间总长的 20%，每小时至少安排 5min 新闻节目。</a:t>
            </a:r>
            <a:endParaRPr lang="zh-CN" altLang="en-US"/>
          </a:p>
          <a:p>
            <a:r>
              <a:rPr lang="en-US" altLang="zh-CN">
                <a:sym typeface="+mn-ea"/>
              </a:rPr>
              <a:t>        </a:t>
            </a:r>
            <a:r>
              <a:rPr lang="zh-CN" altLang="en-US"/>
              <a:t>问如何让安排每天的广播节目？优先级如何？</a:t>
            </a:r>
            <a:endParaRPr lang="zh-CN" altLang="en-US"/>
          </a:p>
        </p:txBody>
      </p:sp>
    </p:spTree>
  </p:cSld>
  <p:clrMapOvr>
    <a:masterClrMapping/>
  </p:clrMapOvr>
  <p:transition spd="med">
    <p:blinds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3" name="图片 2"/>
          <p:cNvPicPr>
            <a:picLocks noChangeAspect="1"/>
          </p:cNvPicPr>
          <p:nvPr/>
        </p:nvPicPr>
        <p:blipFill>
          <a:blip r:embed="rId1"/>
          <a:stretch>
            <a:fillRect/>
          </a:stretch>
        </p:blipFill>
        <p:spPr>
          <a:xfrm>
            <a:off x="1907540" y="2204720"/>
            <a:ext cx="4274820" cy="3710940"/>
          </a:xfrm>
          <a:prstGeom prst="rect">
            <a:avLst/>
          </a:prstGeom>
        </p:spPr>
      </p:pic>
      <p:pic>
        <p:nvPicPr>
          <p:cNvPr id="4" name="图片 3"/>
          <p:cNvPicPr>
            <a:picLocks noChangeAspect="1"/>
          </p:cNvPicPr>
          <p:nvPr/>
        </p:nvPicPr>
        <p:blipFill>
          <a:blip r:embed="rId2"/>
          <a:stretch>
            <a:fillRect/>
          </a:stretch>
        </p:blipFill>
        <p:spPr>
          <a:xfrm>
            <a:off x="1115695" y="2060575"/>
            <a:ext cx="6593840" cy="2270125"/>
          </a:xfrm>
          <a:prstGeom prst="rect">
            <a:avLst/>
          </a:prstGeom>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539115" y="2060575"/>
            <a:ext cx="5905500" cy="1783080"/>
          </a:xfrm>
          <a:prstGeom prst="rect">
            <a:avLst/>
          </a:prstGeom>
        </p:spPr>
      </p:pic>
      <p:pic>
        <p:nvPicPr>
          <p:cNvPr id="3" name="图片 2"/>
          <p:cNvPicPr>
            <a:picLocks noChangeAspect="1"/>
          </p:cNvPicPr>
          <p:nvPr/>
        </p:nvPicPr>
        <p:blipFill>
          <a:blip r:embed="rId2"/>
          <a:stretch>
            <a:fillRect/>
          </a:stretch>
        </p:blipFill>
        <p:spPr>
          <a:xfrm>
            <a:off x="3035935" y="3644900"/>
            <a:ext cx="2636520" cy="1584960"/>
          </a:xfrm>
          <a:prstGeom prst="rect">
            <a:avLst/>
          </a:prstGeom>
        </p:spPr>
      </p:pic>
    </p:spTree>
  </p:cSld>
  <p:clrMapOvr>
    <a:masterClrMapping/>
  </p:clrMapOvr>
  <p:transition spd="med">
    <p:blinds dir="ver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1475740" y="2348865"/>
            <a:ext cx="4808220" cy="3086100"/>
          </a:xfrm>
          <a:prstGeom prst="rect">
            <a:avLst/>
          </a:prstGeom>
        </p:spPr>
      </p:pic>
    </p:spTree>
  </p:cSld>
  <p:clrMapOvr>
    <a:masterClrMapping/>
  </p:clrMapOvr>
  <p:transition spd="med">
    <p:blinds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2" name="图片 1"/>
          <p:cNvPicPr>
            <a:picLocks noChangeAspect="1"/>
          </p:cNvPicPr>
          <p:nvPr/>
        </p:nvPicPr>
        <p:blipFill>
          <a:blip r:embed="rId1"/>
          <a:stretch>
            <a:fillRect/>
          </a:stretch>
        </p:blipFill>
        <p:spPr>
          <a:xfrm>
            <a:off x="1619250" y="1557020"/>
            <a:ext cx="5252085" cy="5048885"/>
          </a:xfrm>
          <a:prstGeom prst="rect">
            <a:avLst/>
          </a:prstGeom>
        </p:spPr>
      </p:pic>
    </p:spTree>
  </p:cSld>
  <p:clrMapOvr>
    <a:masterClrMapping/>
  </p:clrMapOvr>
  <p:transition spd="med">
    <p:blinds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467995" y="620395"/>
            <a:ext cx="7772400" cy="1143000"/>
          </a:xfrm>
        </p:spPr>
        <p:txBody>
          <a:bodyPr vert="horz" wrap="square" lIns="91440" tIns="45720" rIns="91440" bIns="4572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tabLst>
                <a:tab pos="6379845" algn="l"/>
              </a:tabLst>
              <a:defRPr/>
            </a:pPr>
            <a:r>
              <a:rPr kumimoji="1" lang="en-US" altLang="zh-CN"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2.2 </a:t>
            </a:r>
            <a:r>
              <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rPr>
              <a:t>求解多目标规划模型</a:t>
            </a:r>
            <a:endParaRPr kumimoji="1" lang="zh-CN" altLang="en-US" sz="3600" b="1" i="0" u="none" strike="noStrike" kern="0" cap="none" spc="0" normalizeH="0" baseline="0" noProof="0" dirty="0" smtClean="0">
              <a:ln>
                <a:noFill/>
              </a:ln>
              <a:solidFill>
                <a:schemeClr val="tx1"/>
              </a:solidFill>
              <a:effectLst/>
              <a:uLnTx/>
              <a:uFillTx/>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4" name="图片 3"/>
          <p:cNvPicPr>
            <a:picLocks noChangeAspect="1"/>
          </p:cNvPicPr>
          <p:nvPr/>
        </p:nvPicPr>
        <p:blipFill>
          <a:blip r:embed="rId1"/>
          <a:stretch>
            <a:fillRect/>
          </a:stretch>
        </p:blipFill>
        <p:spPr>
          <a:xfrm>
            <a:off x="539115" y="2420620"/>
            <a:ext cx="7879080" cy="2286000"/>
          </a:xfrm>
          <a:prstGeom prst="rect">
            <a:avLst/>
          </a:prstGeom>
        </p:spPr>
      </p:pic>
    </p:spTree>
  </p:cSld>
  <p:clrMapOvr>
    <a:masterClrMapping/>
  </p:clrMapOvr>
  <p:transition spd="med">
    <p:blinds dir="ver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圆角矩形 1"/>
          <p:cNvSpPr/>
          <p:nvPr/>
        </p:nvSpPr>
        <p:spPr>
          <a:xfrm>
            <a:off x="1548765" y="943610"/>
            <a:ext cx="2150745" cy="485775"/>
          </a:xfrm>
          <a:prstGeom prst="roundRect">
            <a:avLst/>
          </a:prstGeom>
          <a:gradFill>
            <a:gsLst>
              <a:gs pos="10000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r>
              <a:rPr lang="zh-CN" altLang="en-US" sz="1500" b="1" strike="noStrike" noProof="1">
                <a:latin typeface="黑体" panose="02010600030101010101" pitchFamily="2" charset="-122"/>
                <a:ea typeface="黑体" panose="02010600030101010101" pitchFamily="2" charset="-122"/>
              </a:rPr>
              <a:t>课件代码下载地址</a:t>
            </a:r>
            <a:endParaRPr lang="zh-CN" altLang="en-US" sz="1500" b="1" strike="noStrike" noProof="1">
              <a:latin typeface="黑体" panose="02010600030101010101" pitchFamily="2" charset="-122"/>
              <a:ea typeface="黑体" panose="02010600030101010101" pitchFamily="2" charset="-122"/>
            </a:endParaRPr>
          </a:p>
        </p:txBody>
      </p:sp>
      <p:sp>
        <p:nvSpPr>
          <p:cNvPr id="6" name="圆角矩形 5"/>
          <p:cNvSpPr/>
          <p:nvPr/>
        </p:nvSpPr>
        <p:spPr>
          <a:xfrm>
            <a:off x="2152650" y="4368641"/>
            <a:ext cx="5449729" cy="539591"/>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base"/>
            <a:endParaRPr lang="zh-CN" altLang="en-US" sz="100" strike="noStrike" noProof="1"/>
          </a:p>
        </p:txBody>
      </p:sp>
      <p:sp>
        <p:nvSpPr>
          <p:cNvPr id="91141" name="文本框 4"/>
          <p:cNvSpPr txBox="1"/>
          <p:nvPr/>
        </p:nvSpPr>
        <p:spPr>
          <a:xfrm>
            <a:off x="2235994" y="4489133"/>
            <a:ext cx="5460206" cy="321945"/>
          </a:xfrm>
          <a:prstGeom prst="rect">
            <a:avLst/>
          </a:prstGeom>
          <a:noFill/>
          <a:ln w="9525">
            <a:noFill/>
          </a:ln>
        </p:spPr>
        <p:txBody>
          <a:bodyPr wrap="square" anchor="t">
            <a:spAutoFit/>
          </a:bodyPr>
          <a:p>
            <a:r>
              <a:rPr lang="zh-CN" altLang="en-US" sz="1500" b="1">
                <a:latin typeface="黑体" panose="02010600030101010101" pitchFamily="2" charset="-122"/>
                <a:ea typeface="黑体" panose="02010600030101010101" pitchFamily="2" charset="-122"/>
              </a:rPr>
              <a:t>关注公众号：</a:t>
            </a:r>
            <a:r>
              <a:rPr lang="en-US" altLang="zh-CN" sz="1500" b="1">
                <a:latin typeface="黑体" panose="02010600030101010101" pitchFamily="2" charset="-122"/>
                <a:ea typeface="黑体" panose="02010600030101010101" pitchFamily="2" charset="-122"/>
              </a:rPr>
              <a:t>“</a:t>
            </a:r>
            <a:r>
              <a:rPr lang="zh-CN" altLang="en-US" sz="1500" b="1">
                <a:solidFill>
                  <a:srgbClr val="FF0000"/>
                </a:solidFill>
                <a:latin typeface="黑体" panose="02010600030101010101" pitchFamily="2" charset="-122"/>
                <a:ea typeface="黑体" panose="02010600030101010101" pitchFamily="2" charset="-122"/>
              </a:rPr>
              <a:t>老哥带你学数模</a:t>
            </a:r>
            <a:r>
              <a:rPr lang="en-US" altLang="zh-CN" sz="1500" b="1">
                <a:latin typeface="黑体" panose="02010600030101010101" pitchFamily="2" charset="-122"/>
                <a:ea typeface="黑体" panose="02010600030101010101" pitchFamily="2" charset="-122"/>
              </a:rPr>
              <a:t>”</a:t>
            </a:r>
            <a:r>
              <a:rPr lang="zh-CN" altLang="en-US" sz="1500" b="1">
                <a:latin typeface="黑体" panose="02010600030101010101" pitchFamily="2" charset="-122"/>
                <a:ea typeface="黑体" panose="02010600030101010101" pitchFamily="2" charset="-122"/>
              </a:rPr>
              <a:t>回复</a:t>
            </a:r>
            <a:r>
              <a:rPr lang="en-US" altLang="zh-CN" sz="1500" b="1">
                <a:latin typeface="黑体" panose="02010600030101010101" pitchFamily="2" charset="-122"/>
                <a:ea typeface="黑体" panose="02010600030101010101" pitchFamily="2" charset="-122"/>
              </a:rPr>
              <a:t>“</a:t>
            </a:r>
            <a:r>
              <a:rPr lang="zh-CN" altLang="en-US" sz="1500" b="1">
                <a:solidFill>
                  <a:srgbClr val="FF0000"/>
                </a:solidFill>
                <a:latin typeface="黑体" panose="02010600030101010101" pitchFamily="2" charset="-122"/>
                <a:ea typeface="黑体" panose="02010600030101010101" pitchFamily="2" charset="-122"/>
              </a:rPr>
              <a:t>课件</a:t>
            </a:r>
            <a:r>
              <a:rPr lang="en-US" altLang="zh-CN" sz="1500" b="1">
                <a:latin typeface="黑体" panose="02010600030101010101" pitchFamily="2" charset="-122"/>
                <a:ea typeface="黑体" panose="02010600030101010101" pitchFamily="2" charset="-122"/>
              </a:rPr>
              <a:t>”</a:t>
            </a:r>
            <a:r>
              <a:rPr lang="zh-CN" altLang="en-US" sz="1500" b="1">
                <a:latin typeface="黑体" panose="02010600030101010101" pitchFamily="2" charset="-122"/>
                <a:ea typeface="黑体" panose="02010600030101010101" pitchFamily="2" charset="-122"/>
              </a:rPr>
              <a:t>即可免费获取</a:t>
            </a:r>
            <a:endParaRPr lang="zh-CN" altLang="en-US" sz="1500" b="1">
              <a:latin typeface="黑体" panose="02010600030101010101" pitchFamily="2" charset="-122"/>
              <a:ea typeface="黑体" panose="02010600030101010101" pitchFamily="2" charset="-122"/>
            </a:endParaRPr>
          </a:p>
        </p:txBody>
      </p:sp>
      <p:sp>
        <p:nvSpPr>
          <p:cNvPr id="91142" name="文本框 7"/>
          <p:cNvSpPr txBox="1"/>
          <p:nvPr/>
        </p:nvSpPr>
        <p:spPr>
          <a:xfrm>
            <a:off x="1594485" y="5046980"/>
            <a:ext cx="6224905" cy="829945"/>
          </a:xfrm>
          <a:prstGeom prst="rect">
            <a:avLst/>
          </a:prstGeom>
          <a:noFill/>
          <a:ln w="9525">
            <a:noFill/>
          </a:ln>
        </p:spPr>
        <p:txBody>
          <a:bodyPr wrap="square" anchor="t">
            <a:spAutoFit/>
          </a:bodyPr>
          <a:p>
            <a:pPr algn="ctr">
              <a:lnSpc>
                <a:spcPct val="150000"/>
              </a:lnSpc>
            </a:pPr>
            <a:r>
              <a:rPr lang="zh-CN" altLang="en-US" sz="1600" b="1">
                <a:latin typeface="黑体" panose="02010600030101010101" pitchFamily="2" charset="-122"/>
                <a:ea typeface="黑体" panose="02010600030101010101" pitchFamily="2" charset="-122"/>
                <a:sym typeface="微软雅黑" panose="020B0503020204020204" charset="-122"/>
              </a:rPr>
              <a:t>更多模型、代码、优秀论文等请加</a:t>
            </a:r>
            <a:r>
              <a:rPr lang="en-US" altLang="zh-CN" sz="1600" b="1">
                <a:latin typeface="黑体" panose="02010600030101010101" pitchFamily="2" charset="-122"/>
                <a:ea typeface="黑体" panose="02010600030101010101" pitchFamily="2" charset="-122"/>
                <a:sym typeface="微软雅黑" panose="020B0503020204020204" charset="-122"/>
              </a:rPr>
              <a:t>QQ</a:t>
            </a:r>
            <a:r>
              <a:rPr lang="zh-CN" altLang="en-US" sz="1600" b="1">
                <a:latin typeface="黑体" panose="02010600030101010101" pitchFamily="2" charset="-122"/>
                <a:ea typeface="黑体" panose="02010600030101010101" pitchFamily="2" charset="-122"/>
                <a:sym typeface="微软雅黑" panose="020B0503020204020204" charset="-122"/>
              </a:rPr>
              <a:t>群：</a:t>
            </a:r>
            <a:r>
              <a:rPr lang="en-US" altLang="zh-CN" sz="1600" b="1">
                <a:solidFill>
                  <a:srgbClr val="FF0000"/>
                </a:solidFill>
                <a:latin typeface="黑体" panose="02010600030101010101" pitchFamily="2" charset="-122"/>
                <a:ea typeface="黑体" panose="02010600030101010101" pitchFamily="2" charset="-122"/>
                <a:sym typeface="微软雅黑" panose="020B0503020204020204" charset="-122"/>
              </a:rPr>
              <a:t>720736320</a:t>
            </a:r>
            <a:endParaRPr lang="en-US" altLang="zh-CN" sz="1600" b="1">
              <a:solidFill>
                <a:srgbClr val="FF0000"/>
              </a:solidFill>
              <a:latin typeface="黑体" panose="02010600030101010101" pitchFamily="2" charset="-122"/>
              <a:ea typeface="黑体" panose="02010600030101010101" pitchFamily="2" charset="-122"/>
              <a:sym typeface="微软雅黑" panose="020B0503020204020204" charset="-122"/>
            </a:endParaRPr>
          </a:p>
          <a:p>
            <a:pPr algn="ctr">
              <a:lnSpc>
                <a:spcPct val="150000"/>
              </a:lnSpc>
            </a:pPr>
            <a:r>
              <a:rPr lang="zh-CN" altLang="en-US" sz="1600" b="1">
                <a:latin typeface="黑体" panose="02010600030101010101" pitchFamily="2" charset="-122"/>
                <a:ea typeface="黑体" panose="02010600030101010101" pitchFamily="2" charset="-122"/>
                <a:sym typeface="微软雅黑" panose="020B0503020204020204" charset="-122"/>
              </a:rPr>
              <a:t>更多资料请关注微信公众号：老哥带你学数数模</a:t>
            </a:r>
            <a:endParaRPr lang="zh-CN" altLang="en-US" sz="1600" b="1">
              <a:latin typeface="黑体" panose="02010600030101010101" pitchFamily="2" charset="-122"/>
              <a:ea typeface="黑体" panose="02010600030101010101" pitchFamily="2" charset="-122"/>
              <a:sym typeface="微软雅黑" panose="020B0503020204020204" charset="-122"/>
            </a:endParaRPr>
          </a:p>
        </p:txBody>
      </p:sp>
      <p:pic>
        <p:nvPicPr>
          <p:cNvPr id="3" name="图片 2" descr="QQ截图20220507131852"/>
          <p:cNvPicPr>
            <a:picLocks noChangeAspect="1"/>
          </p:cNvPicPr>
          <p:nvPr/>
        </p:nvPicPr>
        <p:blipFill>
          <a:blip r:embed="rId1"/>
          <a:stretch>
            <a:fillRect/>
          </a:stretch>
        </p:blipFill>
        <p:spPr>
          <a:xfrm>
            <a:off x="3493294" y="1758950"/>
            <a:ext cx="2157413" cy="2157413"/>
          </a:xfrm>
          <a:prstGeom prst="rect">
            <a:avLst/>
          </a:prstGeom>
        </p:spPr>
      </p:pic>
      <p:sp>
        <p:nvSpPr>
          <p:cNvPr id="12" name="矩形 11"/>
          <p:cNvSpPr/>
          <p:nvPr userDrawn="1"/>
        </p:nvSpPr>
        <p:spPr>
          <a:xfrm>
            <a:off x="635" y="0"/>
            <a:ext cx="9142730" cy="485140"/>
          </a:xfrm>
          <a:prstGeom prst="rect">
            <a:avLst/>
          </a:prstGeom>
          <a:solidFill>
            <a:srgbClr val="FF3D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500">
                <a:latin typeface="黑体" panose="02010600030101010101" pitchFamily="2" charset="-122"/>
                <a:ea typeface="黑体" panose="02010600030101010101" pitchFamily="2" charset="-122"/>
                <a:sym typeface="+mn-ea"/>
              </a:rPr>
              <a:t>更多资料请关注公众号【老哥带你学数模】课件或代码请公众号回复</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课件</a:t>
            </a:r>
            <a:r>
              <a:rPr lang="en-US" altLang="zh-CN" sz="1500">
                <a:latin typeface="黑体" panose="02010600030101010101" pitchFamily="2" charset="-122"/>
                <a:ea typeface="黑体" panose="02010600030101010101" pitchFamily="2" charset="-122"/>
                <a:sym typeface="+mn-ea"/>
              </a:rPr>
              <a:t>”</a:t>
            </a:r>
            <a:r>
              <a:rPr lang="zh-CN" altLang="en-US" sz="1500">
                <a:latin typeface="黑体" panose="02010600030101010101" pitchFamily="2" charset="-122"/>
                <a:ea typeface="黑体" panose="02010600030101010101" pitchFamily="2" charset="-122"/>
                <a:sym typeface="+mn-ea"/>
              </a:rPr>
              <a:t>，粉丝</a:t>
            </a:r>
            <a:r>
              <a:rPr lang="en-US" altLang="zh-CN" sz="1500">
                <a:latin typeface="黑体" panose="02010600030101010101" pitchFamily="2" charset="-122"/>
                <a:ea typeface="黑体" panose="02010600030101010101" pitchFamily="2" charset="-122"/>
                <a:sym typeface="+mn-ea"/>
              </a:rPr>
              <a:t>QQ</a:t>
            </a:r>
            <a:r>
              <a:rPr lang="zh-CN" altLang="en-US" sz="1500">
                <a:latin typeface="黑体" panose="02010600030101010101" pitchFamily="2" charset="-122"/>
                <a:ea typeface="黑体" panose="02010600030101010101" pitchFamily="2" charset="-122"/>
                <a:sym typeface="+mn-ea"/>
              </a:rPr>
              <a:t>群：</a:t>
            </a:r>
            <a:r>
              <a:rPr lang="en-US" altLang="zh-CN" sz="1500">
                <a:latin typeface="黑体" panose="02010600030101010101" pitchFamily="2" charset="-122"/>
                <a:ea typeface="黑体" panose="02010600030101010101" pitchFamily="2" charset="-122"/>
                <a:sym typeface="+mn-ea"/>
              </a:rPr>
              <a:t>720736320</a:t>
            </a:r>
            <a:endParaRPr lang="zh-CN" altLang="en-US" sz="1500">
              <a:latin typeface="黑体" panose="02010600030101010101" pitchFamily="2" charset="-122"/>
              <a:ea typeface="黑体" panose="02010600030101010101" pitchFamily="2" charset="-122"/>
              <a:sym typeface="+mn-ea"/>
            </a:endParaRPr>
          </a:p>
        </p:txBody>
      </p:sp>
      <p:pic>
        <p:nvPicPr>
          <p:cNvPr id="5" name="图片 4" descr="微信图片_20220511160630"/>
          <p:cNvPicPr>
            <a:picLocks noChangeAspect="1"/>
          </p:cNvPicPr>
          <p:nvPr/>
        </p:nvPicPr>
        <p:blipFill>
          <a:blip r:embed="rId2"/>
          <a:srcRect l="19931" t="6829" r="26268" b="35046"/>
          <a:stretch>
            <a:fillRect/>
          </a:stretch>
        </p:blipFill>
        <p:spPr>
          <a:xfrm>
            <a:off x="-107950" y="5959475"/>
            <a:ext cx="867410" cy="937260"/>
          </a:xfrm>
          <a:prstGeom prst="rect">
            <a:avLst/>
          </a:prstGeom>
        </p:spPr>
      </p:pic>
      <p:sp>
        <p:nvSpPr>
          <p:cNvPr id="4" name="文本框 3"/>
          <p:cNvSpPr txBox="1"/>
          <p:nvPr/>
        </p:nvSpPr>
        <p:spPr>
          <a:xfrm>
            <a:off x="759460" y="6292215"/>
            <a:ext cx="2019300" cy="460375"/>
          </a:xfrm>
          <a:prstGeom prst="rect">
            <a:avLst/>
          </a:prstGeom>
          <a:noFill/>
        </p:spPr>
        <p:txBody>
          <a:bodyPr wrap="none" rtlCol="0">
            <a:spAutoFit/>
          </a:bodyPr>
          <a:p>
            <a:r>
              <a:rPr lang="zh-CN" altLang="en-US" sz="2400" b="1">
                <a:solidFill>
                  <a:srgbClr val="FF0000"/>
                </a:solidFill>
                <a:latin typeface="黑体" panose="02010600030101010101" pitchFamily="2" charset="-122"/>
                <a:ea typeface="黑体" panose="02010600030101010101" pitchFamily="2" charset="-122"/>
              </a:rPr>
              <a:t>数学建模老哥</a:t>
            </a:r>
            <a:endParaRPr lang="zh-CN" altLang="en-US" sz="2400" b="1">
              <a:solidFill>
                <a:srgbClr val="FF0000"/>
              </a:solidFill>
              <a:latin typeface="黑体" panose="02010600030101010101" pitchFamily="2" charset="-122"/>
              <a:ea typeface="黑体" panose="02010600030101010101" pitchFamily="2" charset="-122"/>
            </a:endParaRPr>
          </a:p>
        </p:txBody>
      </p:sp>
    </p:spTree>
    <p:custDataLst>
      <p:tags r:id="rId3"/>
    </p:custData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文本框 277505"/>
          <p:cNvSpPr txBox="1"/>
          <p:nvPr/>
        </p:nvSpPr>
        <p:spPr>
          <a:xfrm>
            <a:off x="2425145" y="2553891"/>
            <a:ext cx="4272280" cy="1198880"/>
          </a:xfrm>
          <a:prstGeom prst="rect">
            <a:avLst/>
          </a:prstGeom>
          <a:noFill/>
          <a:ln w="9525">
            <a:noFill/>
          </a:ln>
        </p:spPr>
        <p:txBody>
          <a:bodyPr wrap="none" anchor="t">
            <a:spAutoFit/>
          </a:bodyPr>
          <a:p>
            <a:pPr algn="ctr"/>
            <a:r>
              <a:rPr lang="en-US" altLang="zh-CN" sz="7200" b="1">
                <a:latin typeface="Times New Roman" panose="02020603050405020304" pitchFamily="18" charset="0"/>
                <a:ea typeface="宋体" panose="02010600030101010101" pitchFamily="2" charset="-122"/>
              </a:rPr>
              <a:t>THE END</a:t>
            </a:r>
            <a:endParaRPr lang="en-US" altLang="zh-CN" sz="7200" b="1">
              <a:latin typeface="Times New Roman" panose="02020603050405020304" pitchFamily="18" charset="0"/>
              <a:ea typeface="宋体" panose="02010600030101010101" pitchFamily="2" charset="-122"/>
            </a:endParaRPr>
          </a:p>
        </p:txBody>
      </p:sp>
    </p:spTree>
    <p:custDataLst>
      <p:tags r:id="rId1"/>
    </p:custDataLst>
  </p:cSld>
  <p:clrMapOvr>
    <a:masterClrMapping/>
  </p:clrMapOvr>
</p:sld>
</file>

<file path=ppt/tags/tag1.xml><?xml version="1.0" encoding="utf-8"?>
<p:tagLst xmlns:p="http://schemas.openxmlformats.org/presentationml/2006/main">
  <p:tag name="KSO_WM_UNIT_TABLE_BEAUTIFY" val="smartTable{77b1394c-d543-4c42-a432-ebf7db7cb742}"/>
</p:tagLst>
</file>

<file path=ppt/tags/tag2.xml><?xml version="1.0" encoding="utf-8"?>
<p:tagLst xmlns:p="http://schemas.openxmlformats.org/presentationml/2006/main">
  <p:tag name="KSO_WM_UNIT_TABLE_BEAUTIFY" val="smartTable{77b1394c-d543-4c42-a432-ebf7db7cb742}"/>
</p:tagLst>
</file>

<file path=ppt/tags/tag3.xml><?xml version="1.0" encoding="utf-8"?>
<p:tagLst xmlns:p="http://schemas.openxmlformats.org/presentationml/2006/main">
  <p:tag name="KSO_WM_UNIT_PLACING_PICTURE_USER_VIEWPORT" val="{&quot;height&quot;:7560,&quot;width&quot;:12960}"/>
</p:tagLst>
</file>

<file path=ppt/tags/tag4.xml><?xml version="1.0" encoding="utf-8"?>
<p:tagLst xmlns:p="http://schemas.openxmlformats.org/presentationml/2006/main">
  <p:tag name="KSO_WM_BEAUTIFY_FLAG" val="#wm#"/>
  <p:tag name="KSO_WM_TEMPLATE_CATEGORY" val="custom"/>
  <p:tag name="KSO_WM_TEMPLATE_INDEX" val="20202601"/>
  <p:tag name="KSO_WM_SPECIAL_SOURCE" val="bdnull"/>
</p:tagLst>
</file>

<file path=ppt/tags/tag5.xml><?xml version="1.0" encoding="utf-8"?>
<p:tagLst xmlns:p="http://schemas.openxmlformats.org/presentationml/2006/main">
  <p:tag name="KSO_WM_TEMPLATE_CATEGORY" val="custom"/>
  <p:tag name="KSO_WM_TEMPLATE_INDEX" val="20202601"/>
  <p:tag name="KSO_WM_SPECIAL_SOURCE" val="bdnull"/>
</p:tagLst>
</file>

<file path=ppt/tags/tag6.xml><?xml version="1.0" encoding="utf-8"?>
<p:tagLst xmlns:p="http://schemas.openxmlformats.org/presentationml/2006/main">
  <p:tag name="COMMONDATA" val="eyJoZGlkIjoiM2U0MDcxMWM1YzNjZTE5NTlkODljNmU3ZmEwYTIxNGE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2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6998</Words>
  <Application>WPS 演示</Application>
  <PresentationFormat>全屏显示(4:3)</PresentationFormat>
  <Paragraphs>510</Paragraphs>
  <Slides>49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49</vt:i4>
      </vt:variant>
    </vt:vector>
  </HeadingPairs>
  <TitlesOfParts>
    <vt:vector size="58" baseType="lpstr">
      <vt:lpstr>Arial</vt:lpstr>
      <vt:lpstr>宋体</vt:lpstr>
      <vt:lpstr>Wingdings</vt:lpstr>
      <vt:lpstr>Times New Roman</vt:lpstr>
      <vt:lpstr>黑体</vt:lpstr>
      <vt:lpstr>微软雅黑</vt:lpstr>
      <vt:lpstr>Arial Unicode MS</vt:lpstr>
      <vt:lpstr>Calibri</vt:lpstr>
      <vt:lpstr>默认设计模板</vt:lpstr>
      <vt:lpstr>PowerPoint 演示文稿</vt:lpstr>
      <vt:lpstr>组合投资</vt:lpstr>
      <vt:lpstr>PowerPoint 演示文稿</vt:lpstr>
      <vt:lpstr>问题分析</vt:lpstr>
      <vt:lpstr>问题分析</vt:lpstr>
      <vt:lpstr>问题分析</vt:lpstr>
      <vt:lpstr>问题分析</vt:lpstr>
      <vt:lpstr>问题分析</vt:lpstr>
      <vt:lpstr>问题分析</vt:lpstr>
      <vt:lpstr>1.1 非线性规划问题标准形式</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1.2 MATLAB软件求解非线性规划</vt:lpstr>
      <vt:lpstr>2.1 多目标规划模型一般形式</vt:lpstr>
      <vt:lpstr>2.1 多目标规划模型一般形式</vt:lpstr>
      <vt:lpstr>2.1 多目标规划模型一般形式</vt:lpstr>
      <vt:lpstr>2.1 多目标规划模型一般形式</vt:lpstr>
      <vt:lpstr>2.1 多目标规划模型一般形式</vt:lpstr>
      <vt:lpstr>2.1 多目标规划模型一般形式</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2.2 求解多目标规划模型</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枫翎</cp:lastModifiedBy>
  <cp:revision>125</cp:revision>
  <dcterms:created xsi:type="dcterms:W3CDTF">2022-06-17T09:16:00Z</dcterms:created>
  <dcterms:modified xsi:type="dcterms:W3CDTF">2022-07-23T12:14:09Z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2052-11.1.0.11830</vt:lpwstr>
  </property>
  <property fmtid="{D5CDD505-2E9C-101B-9397-08002B2CF9AE}" pid="3" name="ICV">
    <vt:lpwstr>14289651CAA14299BA588370C25296D2</vt:lpwstr>
  </property>
</Properties>
</file>