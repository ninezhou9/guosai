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4" r:id="rId36"/>
    <p:sldId id="295" r:id="rId37"/>
  </p:sldIdLst>
  <p:sldSz cx="9144000" cy="6858000" type="screen4x3"/>
  <p:notesSz cx="6858000" cy="9144000"/>
  <p:custDataLst>
    <p:tags r:id="rId4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HUAWEI" initials="H" lastIdx="1" clrIdx="1"/>
  <p:cmAuthor id="3" name="科研交流" initials="科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-72" y="-246"/>
      </p:cViewPr>
      <p:guideLst>
        <p:guide orient="horz" pos="213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gs" Target="tags/tag3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5.emf"/><Relationship Id="rId1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6.emf"/><Relationship Id="rId1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7.emf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8.e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9.emf"/><Relationship Id="rId1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10.emf"/><Relationship Id="rId1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0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1.bin"/><Relationship Id="rId3" Type="http://schemas.openxmlformats.org/officeDocument/2006/relationships/image" Target="../media/image1.png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13.emf"/><Relationship Id="rId1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14.emf"/><Relationship Id="rId1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15.emf"/><Relationship Id="rId1" Type="http://schemas.openxmlformats.org/officeDocument/2006/relationships/oleObject" Target="../embeddings/oleObject14.bin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5.bin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17.emf"/><Relationship Id="rId1" Type="http://schemas.openxmlformats.org/officeDocument/2006/relationships/oleObject" Target="../embeddings/oleObject16.bin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18.emf"/><Relationship Id="rId1" Type="http://schemas.openxmlformats.org/officeDocument/2006/relationships/oleObject" Target="../embeddings/oleObject17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20.emf"/><Relationship Id="rId1" Type="http://schemas.openxmlformats.org/officeDocument/2006/relationships/oleObject" Target="../embeddings/oleObject19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1.png"/><Relationship Id="rId2" Type="http://schemas.openxmlformats.org/officeDocument/2006/relationships/image" Target="../media/image21.emf"/><Relationship Id="rId1" Type="http://schemas.openxmlformats.org/officeDocument/2006/relationships/oleObject" Target="../embeddings/oleObject20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0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23.emf"/><Relationship Id="rId1" Type="http://schemas.openxmlformats.org/officeDocument/2006/relationships/oleObject" Target="../embeddings/oleObject21.bin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24.emf"/><Relationship Id="rId1" Type="http://schemas.openxmlformats.org/officeDocument/2006/relationships/oleObject" Target="../embeddings/oleObject22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25.emf"/><Relationship Id="rId1" Type="http://schemas.openxmlformats.org/officeDocument/2006/relationships/oleObject" Target="../embeddings/oleObject23.bin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26.emf"/><Relationship Id="rId1" Type="http://schemas.openxmlformats.org/officeDocument/2006/relationships/oleObject" Target="../embeddings/oleObject24.bin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27.emf"/><Relationship Id="rId1" Type="http://schemas.openxmlformats.org/officeDocument/2006/relationships/oleObject" Target="../embeddings/oleObject25.bin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28.emf"/><Relationship Id="rId1" Type="http://schemas.openxmlformats.org/officeDocument/2006/relationships/oleObject" Target="../embeddings/oleObject26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29.emf"/><Relationship Id="rId1" Type="http://schemas.openxmlformats.org/officeDocument/2006/relationships/oleObject" Target="../embeddings/oleObject27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30.emf"/><Relationship Id="rId1" Type="http://schemas.openxmlformats.org/officeDocument/2006/relationships/oleObject" Target="../embeddings/oleObject28.bin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31.emf"/><Relationship Id="rId1" Type="http://schemas.openxmlformats.org/officeDocument/2006/relationships/oleObject" Target="../embeddings/oleObject29.bin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9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32.emf"/><Relationship Id="rId1" Type="http://schemas.openxmlformats.org/officeDocument/2006/relationships/oleObject" Target="../embeddings/oleObject30.bin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TextBox 8"/>
          <p:cNvSpPr txBox="1"/>
          <p:nvPr/>
        </p:nvSpPr>
        <p:spPr>
          <a:xfrm>
            <a:off x="3419475" y="692150"/>
            <a:ext cx="54356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44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数学建模算法与应用</a:t>
            </a:r>
            <a:endParaRPr lang="zh-CN" altLang="en-US" sz="44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" name="圆角矩形 9"/>
          <p:cNvSpPr/>
          <p:nvPr userDrawn="1"/>
        </p:nvSpPr>
        <p:spPr>
          <a:xfrm>
            <a:off x="855345" y="1804670"/>
            <a:ext cx="7568565" cy="882650"/>
          </a:xfrm>
          <a:prstGeom prst="roundRect">
            <a:avLst/>
          </a:prstGeom>
          <a:solidFill>
            <a:srgbClr val="FF3D3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2022</a:t>
            </a:r>
            <a:r>
              <a:rPr lang="zh-CN" altLang="en-US" sz="4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数学建模国赛保奖培训班</a:t>
            </a:r>
            <a:endParaRPr lang="zh-CN" altLang="en-US" sz="4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249555" y="3219450"/>
            <a:ext cx="977900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5000" b="1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TOPSIS</a:t>
            </a:r>
            <a:r>
              <a:rPr lang="zh-CN" altLang="en-US" sz="5000" b="1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模型</a:t>
            </a:r>
            <a:r>
              <a:rPr lang="zh-CN" altLang="en-US" sz="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基础入门与实践</a:t>
            </a:r>
            <a:endParaRPr lang="zh-CN" altLang="en-US" sz="5000" b="1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880745" y="4559300"/>
            <a:ext cx="7382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微信公众号：老哥带你学数模  </a:t>
            </a:r>
            <a:r>
              <a:rPr lang="en-US" altLang="zh-CN" sz="20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/  </a:t>
            </a:r>
            <a:r>
              <a:rPr lang="zh-CN" altLang="en-US" sz="20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视频号：数学建模老哥</a:t>
            </a:r>
            <a:endParaRPr lang="zh-CN" altLang="en-US" sz="20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1"/>
          <a:srcRect l="19931" t="6829" r="26268" b="35046"/>
          <a:stretch>
            <a:fillRect/>
          </a:stretch>
        </p:blipFill>
        <p:spPr>
          <a:xfrm>
            <a:off x="-67310" y="580199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72160" y="6121400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098" name="Object 1"/>
          <p:cNvGraphicFramePr/>
          <p:nvPr/>
        </p:nvGraphicFramePr>
        <p:xfrm>
          <a:off x="652145" y="1079659"/>
          <a:ext cx="7840345" cy="3928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8339455" imgH="4175125" progId="Word.Document.8">
                  <p:embed/>
                </p:oleObj>
              </mc:Choice>
              <mc:Fallback>
                <p:oleObj name="" r:id="rId1" imgW="8339455" imgH="4175125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2145" y="1079659"/>
                        <a:ext cx="7840345" cy="39287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67310" y="580199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72160" y="6121400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122" name="Object 2"/>
          <p:cNvGraphicFramePr/>
          <p:nvPr/>
        </p:nvGraphicFramePr>
        <p:xfrm>
          <a:off x="399415" y="1226185"/>
          <a:ext cx="8344535" cy="3973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8374380" imgH="4145915" progId="Word.Document.8">
                  <p:embed/>
                </p:oleObj>
              </mc:Choice>
              <mc:Fallback>
                <p:oleObj name="" r:id="rId1" imgW="8374380" imgH="4145915" progId="Word.Documen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9415" y="1226185"/>
                        <a:ext cx="8344535" cy="3973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67310" y="580199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72160" y="6121400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Object 3"/>
          <p:cNvGraphicFramePr/>
          <p:nvPr/>
        </p:nvGraphicFramePr>
        <p:xfrm>
          <a:off x="233363" y="1368425"/>
          <a:ext cx="8513762" cy="528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8576310" imgH="5318760" progId="Word.Document.8">
                  <p:embed/>
                </p:oleObj>
              </mc:Choice>
              <mc:Fallback>
                <p:oleObj name="" r:id="rId1" imgW="8576310" imgH="5318760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363" y="1368425"/>
                        <a:ext cx="8513762" cy="5281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Rectangle 3"/>
          <p:cNvSpPr/>
          <p:nvPr/>
        </p:nvSpPr>
        <p:spPr>
          <a:xfrm>
            <a:off x="305118" y="715010"/>
            <a:ext cx="2230120" cy="53848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>
            <a:spAutoFit/>
          </a:bodyPr>
          <a:p>
            <a:pPr eaLnBrk="0" hangingPunct="0"/>
            <a:r>
              <a:rPr lang="en-US" altLang="zh-CN" sz="3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zh-CN" altLang="en-US" sz="3500" b="1" dirty="0">
                <a:solidFill>
                  <a:srgbClr val="FF0000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理想解法</a:t>
            </a:r>
            <a:endParaRPr lang="zh-CN" altLang="en-US" sz="3500" dirty="0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Object 3"/>
          <p:cNvGraphicFramePr/>
          <p:nvPr/>
        </p:nvGraphicFramePr>
        <p:xfrm>
          <a:off x="469106" y="1897222"/>
          <a:ext cx="8391525" cy="2617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8474075" imgH="2639695" progId="Word.Document.8">
                  <p:embed/>
                </p:oleObj>
              </mc:Choice>
              <mc:Fallback>
                <p:oleObj name="" r:id="rId1" imgW="8474075" imgH="2639695" progId="Word.Documen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9106" y="1897222"/>
                        <a:ext cx="8391525" cy="26174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Rectangle 3"/>
          <p:cNvSpPr/>
          <p:nvPr/>
        </p:nvSpPr>
        <p:spPr>
          <a:xfrm>
            <a:off x="468948" y="958215"/>
            <a:ext cx="2981325" cy="55372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>
            <a:spAutoFit/>
          </a:bodyPr>
          <a:p>
            <a:pPr eaLnBrk="0" hangingPunct="0"/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 sz="3600" b="1" dirty="0">
                <a:solidFill>
                  <a:srgbClr val="FF0000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方法和原理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194" name="Object 2"/>
          <p:cNvGraphicFramePr/>
          <p:nvPr/>
        </p:nvGraphicFramePr>
        <p:xfrm>
          <a:off x="393700" y="912178"/>
          <a:ext cx="8418513" cy="532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564245" imgH="5447030" progId="Word.Document.8">
                  <p:embed/>
                </p:oleObj>
              </mc:Choice>
              <mc:Fallback>
                <p:oleObj name="" r:id="rId1" imgW="8564245" imgH="5447030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3700" y="912178"/>
                        <a:ext cx="8418513" cy="5329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218" name="Object 2"/>
          <p:cNvGraphicFramePr/>
          <p:nvPr/>
        </p:nvGraphicFramePr>
        <p:xfrm>
          <a:off x="395288" y="692150"/>
          <a:ext cx="8355012" cy="465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8552180" imgH="4766945" progId="Word.Document.8">
                  <p:embed/>
                </p:oleObj>
              </mc:Choice>
              <mc:Fallback>
                <p:oleObj name="" r:id="rId1" imgW="8552180" imgH="4766945" progId="Word.Documen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288" y="692150"/>
                        <a:ext cx="8355012" cy="465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242" name="Object 1"/>
          <p:cNvGraphicFramePr/>
          <p:nvPr/>
        </p:nvGraphicFramePr>
        <p:xfrm>
          <a:off x="510540" y="1628458"/>
          <a:ext cx="8122920" cy="364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8345805" imgH="3745865" progId="Word.Document.8">
                  <p:embed/>
                </p:oleObj>
              </mc:Choice>
              <mc:Fallback>
                <p:oleObj name="" r:id="rId1" imgW="8345805" imgH="3745865" progId="Word.Document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0540" y="1628458"/>
                        <a:ext cx="8122920" cy="364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Rectangle 3"/>
          <p:cNvSpPr/>
          <p:nvPr/>
        </p:nvSpPr>
        <p:spPr>
          <a:xfrm>
            <a:off x="496253" y="727710"/>
            <a:ext cx="5020310" cy="53848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>
            <a:spAutoFit/>
          </a:bodyPr>
          <a:p>
            <a:pPr eaLnBrk="0" hangingPunct="0"/>
            <a:r>
              <a:rPr lang="en-US" altLang="zh-CN" sz="3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 TOPSIS</a:t>
            </a:r>
            <a:r>
              <a:rPr lang="zh-CN" altLang="en-US" sz="3500" b="1" dirty="0">
                <a:solidFill>
                  <a:srgbClr val="FF0000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法的算法步骤</a:t>
            </a:r>
            <a:endParaRPr lang="zh-CN" altLang="en-US" sz="3500" dirty="0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Object 2"/>
          <p:cNvGraphicFramePr/>
          <p:nvPr/>
        </p:nvGraphicFramePr>
        <p:xfrm>
          <a:off x="759619" y="1044417"/>
          <a:ext cx="7999095" cy="231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8217535" imgH="2384425" progId="Word.Document.8">
                  <p:embed/>
                </p:oleObj>
              </mc:Choice>
              <mc:Fallback>
                <p:oleObj name="" r:id="rId1" imgW="8217535" imgH="2384425" progId="Word.Document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9619" y="1044417"/>
                        <a:ext cx="7999095" cy="23196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Object 2"/>
          <p:cNvGraphicFramePr/>
          <p:nvPr/>
        </p:nvGraphicFramePr>
        <p:xfrm>
          <a:off x="618808" y="689769"/>
          <a:ext cx="8169910" cy="533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8404860" imgH="5486400" progId="Word.Document.8">
                  <p:embed/>
                </p:oleObj>
              </mc:Choice>
              <mc:Fallback>
                <p:oleObj name="" r:id="rId1" imgW="8404860" imgH="5486400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8808" y="689769"/>
                        <a:ext cx="8169910" cy="53352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Object 2"/>
          <p:cNvGraphicFramePr/>
          <p:nvPr/>
        </p:nvGraphicFramePr>
        <p:xfrm>
          <a:off x="627380" y="586264"/>
          <a:ext cx="7889240" cy="3839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8101330" imgH="3949065" progId="Word.Document.8">
                  <p:embed/>
                </p:oleObj>
              </mc:Choice>
              <mc:Fallback>
                <p:oleObj name="" r:id="rId1" imgW="8101330" imgH="3949065" progId="Word.Document.8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7380" y="586264"/>
                        <a:ext cx="7889240" cy="38398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14338" name="Object 2"/>
          <p:cNvGraphicFramePr/>
          <p:nvPr/>
        </p:nvGraphicFramePr>
        <p:xfrm>
          <a:off x="467995" y="4346099"/>
          <a:ext cx="853186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4" imgW="8627745" imgH="1783080" progId="Word.Document.8">
                  <p:embed/>
                </p:oleObj>
              </mc:Choice>
              <mc:Fallback>
                <p:oleObj name="" r:id="rId4" imgW="8627745" imgH="1783080" progId="Word.Document.8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7995" y="4346099"/>
                        <a:ext cx="8531860" cy="176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362" name="Object 1"/>
          <p:cNvGraphicFramePr/>
          <p:nvPr/>
        </p:nvGraphicFramePr>
        <p:xfrm>
          <a:off x="759301" y="1753712"/>
          <a:ext cx="8028305" cy="3268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8260080" imgH="3366135" progId="Word.Document.8">
                  <p:embed/>
                </p:oleObj>
              </mc:Choice>
              <mc:Fallback>
                <p:oleObj name="" r:id="rId1" imgW="8260080" imgH="3366135" progId="Word.Document.8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9301" y="1753712"/>
                        <a:ext cx="8028305" cy="32689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4"/>
          <p:cNvSpPr/>
          <p:nvPr/>
        </p:nvSpPr>
        <p:spPr>
          <a:xfrm>
            <a:off x="835343" y="864235"/>
            <a:ext cx="1248410" cy="4305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>
            <a:spAutoFit/>
          </a:bodyPr>
          <a:p>
            <a:pPr eaLnBrk="0" hangingPunct="0"/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示例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6386" name="Object 2"/>
          <p:cNvGraphicFramePr/>
          <p:nvPr/>
        </p:nvGraphicFramePr>
        <p:xfrm>
          <a:off x="285750" y="1337469"/>
          <a:ext cx="8705215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8947150" imgH="4465320" progId="Word.Document.8">
                  <p:embed/>
                </p:oleObj>
              </mc:Choice>
              <mc:Fallback>
                <p:oleObj name="" r:id="rId1" imgW="8947150" imgH="4465320" progId="Word.Documen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750" y="1337469"/>
                        <a:ext cx="8705215" cy="434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410" name="Object 2"/>
          <p:cNvGraphicFramePr/>
          <p:nvPr/>
        </p:nvGraphicFramePr>
        <p:xfrm>
          <a:off x="536575" y="1119188"/>
          <a:ext cx="8166100" cy="539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8369300" imgH="5525770" progId="Word.Document.8">
                  <p:embed/>
                </p:oleObj>
              </mc:Choice>
              <mc:Fallback>
                <p:oleObj name="" r:id="rId1" imgW="8369300" imgH="5525770" progId="Word.Documen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6575" y="1119188"/>
                        <a:ext cx="8166100" cy="539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434" name="Object 2"/>
          <p:cNvGraphicFramePr/>
          <p:nvPr/>
        </p:nvGraphicFramePr>
        <p:xfrm>
          <a:off x="441643" y="1185228"/>
          <a:ext cx="8259762" cy="510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8324215" imgH="5140960" progId="Word.Document.8">
                  <p:embed/>
                </p:oleObj>
              </mc:Choice>
              <mc:Fallback>
                <p:oleObj name="" r:id="rId1" imgW="8324215" imgH="5140960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1643" y="1185228"/>
                        <a:ext cx="8259762" cy="5106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458" name="Object 1"/>
          <p:cNvGraphicFramePr/>
          <p:nvPr/>
        </p:nvGraphicFramePr>
        <p:xfrm>
          <a:off x="612616" y="651352"/>
          <a:ext cx="7918450" cy="530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8901430" imgH="5963920" progId="Word.Document.8">
                  <p:embed/>
                </p:oleObj>
              </mc:Choice>
              <mc:Fallback>
                <p:oleObj name="" r:id="rId1" imgW="8901430" imgH="5963920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2616" y="651352"/>
                        <a:ext cx="7918450" cy="53079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1506" name="Object 1"/>
          <p:cNvGraphicFramePr/>
          <p:nvPr/>
        </p:nvGraphicFramePr>
        <p:xfrm>
          <a:off x="486093" y="1056799"/>
          <a:ext cx="8171180" cy="4031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8263255" imgH="4079240" progId="Word.Document.8">
                  <p:embed/>
                </p:oleObj>
              </mc:Choice>
              <mc:Fallback>
                <p:oleObj name="" r:id="rId1" imgW="8263255" imgH="4079240" progId="Word.Documen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6093" y="1056799"/>
                        <a:ext cx="8171180" cy="40316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2530" name="Object 1"/>
          <p:cNvGraphicFramePr/>
          <p:nvPr/>
        </p:nvGraphicFramePr>
        <p:xfrm>
          <a:off x="571659" y="1265079"/>
          <a:ext cx="8138795" cy="3402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8225155" imgH="3441065" progId="Word.Document.8">
                  <p:embed/>
                </p:oleObj>
              </mc:Choice>
              <mc:Fallback>
                <p:oleObj name="" r:id="rId1" imgW="8225155" imgH="3441065" progId="Word.Document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1659" y="1265079"/>
                        <a:ext cx="8138795" cy="34029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3554" name="Object 1"/>
          <p:cNvGraphicFramePr/>
          <p:nvPr/>
        </p:nvGraphicFramePr>
        <p:xfrm>
          <a:off x="698183" y="758667"/>
          <a:ext cx="8026400" cy="5339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8122920" imgH="5346065" progId="Word.Document.8">
                  <p:embed/>
                </p:oleObj>
              </mc:Choice>
              <mc:Fallback>
                <p:oleObj name="" r:id="rId1" imgW="8122920" imgH="5346065" progId="Word.Document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8183" y="758667"/>
                        <a:ext cx="8026400" cy="53397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4578" name="Object 2"/>
          <p:cNvGraphicFramePr/>
          <p:nvPr/>
        </p:nvGraphicFramePr>
        <p:xfrm>
          <a:off x="684213" y="836613"/>
          <a:ext cx="8118475" cy="471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124825" imgH="4737735" progId="Word.Document.8">
                  <p:embed/>
                </p:oleObj>
              </mc:Choice>
              <mc:Fallback>
                <p:oleObj name="" r:id="rId1" imgW="8124825" imgH="4737735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836613"/>
                        <a:ext cx="8118475" cy="471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55298" name="图片 3" descr="未命名.bm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615" y="2425700"/>
            <a:ext cx="6504305" cy="37865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5602" name="Object 1"/>
          <p:cNvGraphicFramePr/>
          <p:nvPr/>
        </p:nvGraphicFramePr>
        <p:xfrm>
          <a:off x="691198" y="663575"/>
          <a:ext cx="7840980" cy="5738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8006715" imgH="5886450" progId="Word.Document.8">
                  <p:embed/>
                </p:oleObj>
              </mc:Choice>
              <mc:Fallback>
                <p:oleObj name="" r:id="rId1" imgW="8006715" imgH="5886450" progId="Word.Document.8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1198" y="663575"/>
                        <a:ext cx="7840980" cy="57384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626" name="Object 1"/>
          <p:cNvGraphicFramePr/>
          <p:nvPr/>
        </p:nvGraphicFramePr>
        <p:xfrm>
          <a:off x="691039" y="634683"/>
          <a:ext cx="7887335" cy="5904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8101330" imgH="6072505" progId="Word.Document.8">
                  <p:embed/>
                </p:oleObj>
              </mc:Choice>
              <mc:Fallback>
                <p:oleObj name="" r:id="rId1" imgW="8101330" imgH="6072505" progId="Word.Document.8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1039" y="634683"/>
                        <a:ext cx="7887335" cy="5904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文本占位符 27649"/>
          <p:cNvSpPr>
            <a:spLocks noGrp="1"/>
          </p:cNvSpPr>
          <p:nvPr>
            <p:ph type="body" idx="1"/>
          </p:nvPr>
        </p:nvSpPr>
        <p:spPr>
          <a:xfrm>
            <a:off x="323850" y="692150"/>
            <a:ext cx="8362950" cy="5792788"/>
          </a:xfrm>
        </p:spPr>
        <p:txBody>
          <a:bodyPr/>
          <a:p>
            <a:r>
              <a:rPr lang="en-US" altLang="zh-CN" sz="280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clc,clear</a:t>
            </a:r>
            <a:endParaRPr lang="en-US" altLang="zh-CN" sz="2800" err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@是用于定义函数句柄的操作符。函数句柄既是一种变量，可以用于传参和赋值；也是可以当做函数名一样使用</a:t>
            </a:r>
            <a:endParaRPr lang="en-US" altLang="zh-CN" sz="2800" err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x2=@(qujian,lb,ub,x)(1-(qujian(1)-x)./(qujian(1)-lb)).*(x&gt;=</a:t>
            </a:r>
            <a:r>
              <a:rPr lang="en-US" altLang="zh-CN" sz="280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lb&amp;x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&lt;qujian(1))+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(x&gt;=qujian(1)&amp;x&lt;=qujian(2))+(1-(x-qujian(2))./(ub-qujian(2))).*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(x&gt;qujian(2)&amp;x&lt;=</a:t>
            </a:r>
            <a:r>
              <a:rPr lang="en-US" altLang="zh-CN" sz="280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qujian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=[5,6];lb=2;ub=12;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x2data=[5 6 7 10 2]';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y2=x2(qujian,lb,ub,x2data)</a:t>
            </a:r>
            <a:endParaRPr lang="en-US" altLang="zh-CN" sz="2800"/>
          </a:p>
          <a:p>
            <a:endParaRPr lang="en-US" altLang="zh-CN" sz="2800" dirty="0"/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1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8674" name="Object 1"/>
          <p:cNvGraphicFramePr/>
          <p:nvPr/>
        </p:nvGraphicFramePr>
        <p:xfrm>
          <a:off x="554038" y="615633"/>
          <a:ext cx="8312150" cy="5417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8481695" imgH="5597525" progId="Word.Document.8">
                  <p:embed/>
                </p:oleObj>
              </mc:Choice>
              <mc:Fallback>
                <p:oleObj name="" r:id="rId1" imgW="8481695" imgH="5597525" progId="Word.Document.8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4038" y="615633"/>
                        <a:ext cx="8312150" cy="54178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9698" name="Object 1"/>
          <p:cNvGraphicFramePr/>
          <p:nvPr/>
        </p:nvGraphicFramePr>
        <p:xfrm>
          <a:off x="691039" y="831215"/>
          <a:ext cx="8014335" cy="528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8241665" imgH="5429885" progId="Word.Document.8">
                  <p:embed/>
                </p:oleObj>
              </mc:Choice>
              <mc:Fallback>
                <p:oleObj name="" r:id="rId1" imgW="8241665" imgH="5429885" progId="Word.Document.8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1039" y="831215"/>
                        <a:ext cx="8014335" cy="5280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0722" name="Object 1"/>
          <p:cNvGraphicFramePr/>
          <p:nvPr/>
        </p:nvGraphicFramePr>
        <p:xfrm>
          <a:off x="408782" y="888841"/>
          <a:ext cx="8326120" cy="496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8565515" imgH="5109210" progId="Word.Document.8">
                  <p:embed/>
                </p:oleObj>
              </mc:Choice>
              <mc:Fallback>
                <p:oleObj name="" r:id="rId1" imgW="8565515" imgH="5109210" progId="Word.Document.8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8782" y="888841"/>
                        <a:ext cx="8326120" cy="4968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文本框 30722"/>
          <p:cNvSpPr txBox="1"/>
          <p:nvPr/>
        </p:nvSpPr>
        <p:spPr>
          <a:xfrm>
            <a:off x="674688" y="5828348"/>
            <a:ext cx="4699000" cy="3073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r>
              <a:rPr lang="en-US" altLang="zh-CN" sz="2000" err="1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Matlab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中标准化处理的函数是：</a:t>
            </a:r>
            <a:r>
              <a:rPr lang="en-US" altLang="zh-CN" sz="2000" err="1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zscore(x</a:t>
            </a:r>
            <a:r>
              <a:rPr lang="en-US" altLang="zh-CN" sz="200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</a:t>
            </a:r>
            <a:endParaRPr lang="en-US" altLang="zh-CN" sz="200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1746" name="Object 3"/>
          <p:cNvGraphicFramePr/>
          <p:nvPr/>
        </p:nvGraphicFramePr>
        <p:xfrm>
          <a:off x="759460" y="690563"/>
          <a:ext cx="7590155" cy="5332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8594725" imgH="6567170" progId="Word.Document.8">
                  <p:embed/>
                </p:oleObj>
              </mc:Choice>
              <mc:Fallback>
                <p:oleObj name="" r:id="rId1" imgW="8594725" imgH="6567170" progId="Word.Document.8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9460" y="690563"/>
                        <a:ext cx="7590155" cy="53320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文本占位符 32769"/>
          <p:cNvSpPr>
            <a:spLocks noGrp="1"/>
          </p:cNvSpPr>
          <p:nvPr>
            <p:ph type="body" idx="1"/>
          </p:nvPr>
        </p:nvSpPr>
        <p:spPr>
          <a:xfrm>
            <a:off x="457200" y="690563"/>
            <a:ext cx="8229600" cy="5903912"/>
          </a:xfrm>
        </p:spPr>
        <p:txBody>
          <a:bodyPr/>
          <a:p>
            <a:pPr>
              <a:lnSpc>
                <a:spcPct val="80000"/>
              </a:lnSpc>
            </a:pPr>
            <a:r>
              <a:rPr lang="en-US" altLang="zh-CN" sz="240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clc,clear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a=[0.1 5 5000 4.7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0.2 6 6000 5.6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0.4 7 7000 6.7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0.9 10 10000 2.3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1.2 2  400   1.8];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sz="240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size(a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x2=@(qujian,lb,ub,x)(1-(qujian(1)-x)./(qujian(1)-lb)).*(x&gt;=</a:t>
            </a:r>
            <a:r>
              <a:rPr lang="en-US" altLang="zh-CN" sz="240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lb&amp;x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&lt;qujian(1))+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(x&gt;=qujian(1)&amp;x&lt;=qujian(2))+(1-(x-qujian(2))./(ub-qujian(2))).*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(x&gt;qujian(2)&amp;x&lt;=</a:t>
            </a:r>
            <a:r>
              <a:rPr lang="en-US" altLang="zh-CN" sz="240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qujian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=[5,6];lb=2;ub=12;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a(:,2)=x2(qujian,lb,ub,a(:,2));</a:t>
            </a:r>
            <a:r>
              <a:rPr lang="en-US" altLang="zh-CN" sz="2400">
                <a:solidFill>
                  <a:srgbClr val="228B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zh-CN" altLang="en-US" sz="2400" dirty="0">
                <a:solidFill>
                  <a:srgbClr val="228B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对属性</a:t>
            </a:r>
            <a:r>
              <a:rPr lang="en-US" altLang="zh-CN" sz="2400">
                <a:solidFill>
                  <a:srgbClr val="228B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228B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进行变换</a:t>
            </a:r>
            <a:endParaRPr lang="zh-CN" altLang="en-US" sz="2400" dirty="0"/>
          </a:p>
          <a:p>
            <a:pPr>
              <a:lnSpc>
                <a:spcPct val="80000"/>
              </a:lnSpc>
            </a:pPr>
            <a:endParaRPr lang="zh-CN" altLang="en-US" sz="2400" dirty="0"/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1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794" name="Object 1"/>
          <p:cNvGraphicFramePr/>
          <p:nvPr/>
        </p:nvGraphicFramePr>
        <p:xfrm>
          <a:off x="624523" y="484982"/>
          <a:ext cx="8139430" cy="6272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8251190" imgH="5546090" progId="Word.Document.8">
                  <p:embed/>
                </p:oleObj>
              </mc:Choice>
              <mc:Fallback>
                <p:oleObj name="" r:id="rId1" imgW="8251190" imgH="5546090" progId="Word.Document.8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4523" y="484982"/>
                        <a:ext cx="8139430" cy="62725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文本占位符 34817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5649913"/>
          </a:xfrm>
        </p:spPr>
        <p:txBody>
          <a:bodyPr/>
          <a:p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j=1:n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b(:,j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a(:,j)/norm(a(:,j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  <a:r>
              <a:rPr lang="en-US" altLang="zh-CN">
                <a:solidFill>
                  <a:srgbClr val="228B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zh-CN" altLang="en-US" dirty="0">
                <a:solidFill>
                  <a:srgbClr val="228B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向量规范化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w=[0.2 0.3 0.4 0.1];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c=b.*repmat(w,m,1);</a:t>
            </a:r>
            <a:r>
              <a:rPr lang="en-US" altLang="zh-CN">
                <a:solidFill>
                  <a:srgbClr val="228B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zh-CN" altLang="en-US" dirty="0">
                <a:solidFill>
                  <a:srgbClr val="228B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求加权矩阵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err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Repmat(A,m,n</a:t>
            </a:r>
            <a:r>
              <a:rPr lang="en-US" altLang="zh-CN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复制</a:t>
            </a:r>
            <a:r>
              <a:rPr lang="en-US" altLang="zh-CN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m*n</a:t>
            </a: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块</a:t>
            </a:r>
            <a:endParaRPr lang="zh-CN" altLang="en-US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1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5842" name="Object 1"/>
          <p:cNvGraphicFramePr/>
          <p:nvPr/>
        </p:nvGraphicFramePr>
        <p:xfrm>
          <a:off x="488950" y="801370"/>
          <a:ext cx="8592185" cy="181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8400415" imgH="1783080" progId="Word.Document.8">
                  <p:embed/>
                </p:oleObj>
              </mc:Choice>
              <mc:Fallback>
                <p:oleObj name="" r:id="rId1" imgW="8400415" imgH="1783080" progId="Word.Document.8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8950" y="801370"/>
                        <a:ext cx="8592185" cy="181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3" name="文本框 35842"/>
          <p:cNvSpPr txBox="1"/>
          <p:nvPr/>
        </p:nvSpPr>
        <p:spPr>
          <a:xfrm>
            <a:off x="830263" y="2620645"/>
            <a:ext cx="7200900" cy="323151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ct val="150000"/>
              </a:lnSpc>
            </a:pPr>
            <a:r>
              <a:rPr lang="en-US" altLang="zh-CN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cstar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max(c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);%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求正理想解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cstar(4)=min(c(:,4))%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属性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为成本型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c0=min(c);%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求负理想解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c0(4)=max(c(:,4))%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属性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为成本型的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6866" name="Object 1"/>
          <p:cNvGraphicFramePr/>
          <p:nvPr/>
        </p:nvGraphicFramePr>
        <p:xfrm>
          <a:off x="759619" y="889477"/>
          <a:ext cx="7824470" cy="4665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8051165" imgH="4798060" progId="Word.Document.8">
                  <p:embed/>
                </p:oleObj>
              </mc:Choice>
              <mc:Fallback>
                <p:oleObj name="" r:id="rId1" imgW="8051165" imgH="4798060" progId="Word.Document.8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9619" y="889477"/>
                        <a:ext cx="7824470" cy="46659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7890" name="Object 1"/>
          <p:cNvGraphicFramePr/>
          <p:nvPr/>
        </p:nvGraphicFramePr>
        <p:xfrm>
          <a:off x="392906" y="641033"/>
          <a:ext cx="8358505" cy="1763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8452485" imgH="1783080" progId="Word.Document.8">
                  <p:embed/>
                </p:oleObj>
              </mc:Choice>
              <mc:Fallback>
                <p:oleObj name="" r:id="rId1" imgW="8452485" imgH="1783080" progId="Word.Document.8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2906" y="641033"/>
                        <a:ext cx="8358505" cy="17633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文本框 37890"/>
          <p:cNvSpPr txBox="1"/>
          <p:nvPr/>
        </p:nvSpPr>
        <p:spPr>
          <a:xfrm>
            <a:off x="759460" y="2488565"/>
            <a:ext cx="7794625" cy="344678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algn="l"/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for i=1:m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sstar(i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)=norm(c(i,:)-cstar);%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求到正理想解的距离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s0(i)=norm(c(i,:)-c0);%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求到负理想解的距离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f=s0./(sstar+s0);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sf,ind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sort(f,'descend'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 %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求排序结果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"ascend"时,进行升序排序,为"descend "时,进行降序排序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3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>
          <a:xfrm>
            <a:off x="1548765" y="943610"/>
            <a:ext cx="2150745" cy="485775"/>
          </a:xfrm>
          <a:prstGeom prst="roundRect">
            <a:avLst/>
          </a:prstGeom>
          <a:gradFill>
            <a:gsLst>
              <a:gs pos="10000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zh-CN" altLang="en-US" sz="1500" b="1" strike="noStrike" noProof="1">
                <a:latin typeface="黑体" panose="02010609060101010101" pitchFamily="2" charset="-122"/>
                <a:ea typeface="黑体" panose="02010609060101010101" pitchFamily="2" charset="-122"/>
              </a:rPr>
              <a:t>课件代码下载地址</a:t>
            </a:r>
            <a:endParaRPr lang="zh-CN" altLang="en-US" sz="1500" b="1" strike="noStrike" noProof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152650" y="4368641"/>
            <a:ext cx="5449729" cy="5395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00" strike="noStrike" noProof="1"/>
          </a:p>
        </p:txBody>
      </p:sp>
      <p:sp>
        <p:nvSpPr>
          <p:cNvPr id="91141" name="文本框 4"/>
          <p:cNvSpPr txBox="1"/>
          <p:nvPr/>
        </p:nvSpPr>
        <p:spPr>
          <a:xfrm>
            <a:off x="2235994" y="4489133"/>
            <a:ext cx="5460206" cy="321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500" b="1">
                <a:latin typeface="黑体" panose="02010609060101010101" pitchFamily="2" charset="-122"/>
                <a:ea typeface="黑体" panose="02010609060101010101" pitchFamily="2" charset="-122"/>
              </a:rPr>
              <a:t>关注公众号：</a:t>
            </a:r>
            <a:r>
              <a:rPr lang="en-US" altLang="zh-CN" sz="1500" b="1">
                <a:latin typeface="黑体" panose="02010609060101010101" pitchFamily="2" charset="-122"/>
                <a:ea typeface="黑体" panose="02010609060101010101" pitchFamily="2" charset="-122"/>
              </a:rPr>
              <a:t>“</a:t>
            </a:r>
            <a:r>
              <a:rPr lang="zh-CN" altLang="en-US" sz="15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老哥带你学数模</a:t>
            </a:r>
            <a:r>
              <a:rPr lang="en-US" altLang="zh-CN" sz="1500" b="1">
                <a:latin typeface="黑体" panose="02010609060101010101" pitchFamily="2" charset="-122"/>
                <a:ea typeface="黑体" panose="02010609060101010101" pitchFamily="2" charset="-122"/>
              </a:rPr>
              <a:t>”</a:t>
            </a:r>
            <a:r>
              <a:rPr lang="zh-CN" altLang="en-US" sz="1500" b="1">
                <a:latin typeface="黑体" panose="02010609060101010101" pitchFamily="2" charset="-122"/>
                <a:ea typeface="黑体" panose="02010609060101010101" pitchFamily="2" charset="-122"/>
              </a:rPr>
              <a:t>回复</a:t>
            </a:r>
            <a:r>
              <a:rPr lang="en-US" altLang="zh-CN" sz="1500" b="1">
                <a:latin typeface="黑体" panose="02010609060101010101" pitchFamily="2" charset="-122"/>
                <a:ea typeface="黑体" panose="02010609060101010101" pitchFamily="2" charset="-122"/>
              </a:rPr>
              <a:t>“</a:t>
            </a:r>
            <a:r>
              <a:rPr lang="zh-CN" altLang="en-US" sz="15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课件</a:t>
            </a:r>
            <a:r>
              <a:rPr lang="en-US" altLang="zh-CN" sz="1500" b="1">
                <a:latin typeface="黑体" panose="02010609060101010101" pitchFamily="2" charset="-122"/>
                <a:ea typeface="黑体" panose="02010609060101010101" pitchFamily="2" charset="-122"/>
              </a:rPr>
              <a:t>”</a:t>
            </a:r>
            <a:r>
              <a:rPr lang="zh-CN" altLang="en-US" sz="1500" b="1">
                <a:latin typeface="黑体" panose="02010609060101010101" pitchFamily="2" charset="-122"/>
                <a:ea typeface="黑体" panose="02010609060101010101" pitchFamily="2" charset="-122"/>
              </a:rPr>
              <a:t>即可免费获取</a:t>
            </a:r>
            <a:endParaRPr lang="zh-CN" altLang="en-US" sz="1500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1142" name="文本框 7"/>
          <p:cNvSpPr txBox="1"/>
          <p:nvPr/>
        </p:nvSpPr>
        <p:spPr>
          <a:xfrm>
            <a:off x="1594485" y="5046980"/>
            <a:ext cx="622490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1600" b="1">
                <a:latin typeface="黑体" panose="02010609060101010101" pitchFamily="2" charset="-122"/>
                <a:ea typeface="黑体" panose="02010609060101010101" pitchFamily="2" charset="-122"/>
                <a:sym typeface="微软雅黑" panose="020B0503020204020204" charset="-122"/>
              </a:rPr>
              <a:t>更多模型、代码、优秀论文等请加</a:t>
            </a:r>
            <a:r>
              <a:rPr lang="en-US" altLang="zh-CN" sz="1600" b="1">
                <a:latin typeface="黑体" panose="02010609060101010101" pitchFamily="2" charset="-122"/>
                <a:ea typeface="黑体" panose="02010609060101010101" pitchFamily="2" charset="-122"/>
                <a:sym typeface="微软雅黑" panose="020B0503020204020204" charset="-122"/>
              </a:rPr>
              <a:t>QQ</a:t>
            </a:r>
            <a:r>
              <a:rPr lang="zh-CN" altLang="en-US" sz="1600" b="1">
                <a:latin typeface="黑体" panose="02010609060101010101" pitchFamily="2" charset="-122"/>
                <a:ea typeface="黑体" panose="02010609060101010101" pitchFamily="2" charset="-122"/>
                <a:sym typeface="微软雅黑" panose="020B0503020204020204" charset="-122"/>
              </a:rPr>
              <a:t>群：</a:t>
            </a:r>
            <a:r>
              <a:rPr lang="en-US" altLang="zh-CN" sz="16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微软雅黑" panose="020B0503020204020204" charset="-122"/>
              </a:rPr>
              <a:t>720736320</a:t>
            </a:r>
            <a:endParaRPr lang="en-US" altLang="zh-CN" sz="16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sym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b="1">
                <a:latin typeface="黑体" panose="02010609060101010101" pitchFamily="2" charset="-122"/>
                <a:ea typeface="黑体" panose="02010609060101010101" pitchFamily="2" charset="-122"/>
                <a:sym typeface="微软雅黑" panose="020B0503020204020204" charset="-122"/>
              </a:rPr>
              <a:t>更多资料请关注微信公众号：老哥带你学数数模</a:t>
            </a:r>
            <a:endParaRPr lang="zh-CN" altLang="en-US" sz="1600" b="1">
              <a:latin typeface="黑体" panose="02010609060101010101" pitchFamily="2" charset="-122"/>
              <a:ea typeface="黑体" panose="02010609060101010101" pitchFamily="2" charset="-122"/>
              <a:sym typeface="微软雅黑" panose="020B0503020204020204" charset="-122"/>
            </a:endParaRPr>
          </a:p>
        </p:txBody>
      </p:sp>
      <p:pic>
        <p:nvPicPr>
          <p:cNvPr id="3" name="图片 2" descr="QQ截图202205071318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3294" y="1758950"/>
            <a:ext cx="2157413" cy="2157413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35" y="0"/>
            <a:ext cx="9142730" cy="485140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更多资料请关注公众号【老哥带你学数模】课件或代码请公众号回复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课件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，粉丝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QQ</a:t>
            </a:r>
            <a:r>
              <a:rPr lang="zh-CN" altLang="en-US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群：</a:t>
            </a:r>
            <a:r>
              <a:rPr lang="en-US" altLang="zh-CN" sz="15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720736320</a:t>
            </a:r>
            <a:endParaRPr lang="zh-CN" altLang="en-US" sz="15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pic>
        <p:nvPicPr>
          <p:cNvPr id="5" name="图片 4" descr="微信图片_20220511160630"/>
          <p:cNvPicPr>
            <a:picLocks noChangeAspect="1"/>
          </p:cNvPicPr>
          <p:nvPr/>
        </p:nvPicPr>
        <p:blipFill>
          <a:blip r:embed="rId2"/>
          <a:srcRect l="19931" t="6829" r="26268" b="35046"/>
          <a:stretch>
            <a:fillRect/>
          </a:stretch>
        </p:blipFill>
        <p:spPr>
          <a:xfrm>
            <a:off x="-107950" y="5959475"/>
            <a:ext cx="867410" cy="937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460" y="629221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数学建模老哥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1" name="文本框 277505"/>
          <p:cNvSpPr txBox="1"/>
          <p:nvPr/>
        </p:nvSpPr>
        <p:spPr>
          <a:xfrm>
            <a:off x="2425145" y="2553891"/>
            <a:ext cx="4272280" cy="11988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ctr"/>
            <a:r>
              <a:rPr lang="en-US" altLang="zh-CN" sz="7200" b="1">
                <a:latin typeface="Times New Roman" panose="02020603050405020304" pitchFamily="18" charset="0"/>
                <a:ea typeface="宋体" panose="02010600030101010101" pitchFamily="2" charset="-122"/>
              </a:rPr>
              <a:t>THE END</a:t>
            </a:r>
            <a:endParaRPr lang="en-US" altLang="zh-CN" sz="72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TEMPLATE_CATEGORY" val="custom"/>
  <p:tag name="KSO_WM_TEMPLATE_INDEX" val="20202601"/>
  <p:tag name="KSO_WM_SPECIAL_SOURCE" val="bdnull"/>
</p:tagLst>
</file>

<file path=ppt/tags/tag2.xml><?xml version="1.0" encoding="utf-8"?>
<p:tagLst xmlns:p="http://schemas.openxmlformats.org/presentationml/2006/main">
  <p:tag name="KSO_WM_TEMPLATE_CATEGORY" val="custom"/>
  <p:tag name="KSO_WM_TEMPLATE_INDEX" val="20202601"/>
  <p:tag name="KSO_WM_SPECIAL_SOURCE" val="bdnull"/>
</p:tagLst>
</file>

<file path=ppt/tags/tag3.xml><?xml version="1.0" encoding="utf-8"?>
<p:tagLst xmlns:p="http://schemas.openxmlformats.org/presentationml/2006/main">
  <p:tag name="COMMONDATA" val="eyJoZGlkIjoiYzg5NDExNGNiZTI1NTFhNmRjOTkzOWY4ZjdmZDNhMGU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3167</Words>
  <Application>WPS 演示</Application>
  <PresentationFormat>在屏幕上显示</PresentationFormat>
  <Paragraphs>210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30</vt:i4>
      </vt:variant>
      <vt:variant>
        <vt:lpstr>幻灯片标题</vt:lpstr>
      </vt:variant>
      <vt:variant>
        <vt:i4>35</vt:i4>
      </vt:variant>
    </vt:vector>
  </HeadingPairs>
  <TitlesOfParts>
    <vt:vector size="75" baseType="lpstr">
      <vt:lpstr>Arial</vt:lpstr>
      <vt:lpstr>宋体</vt:lpstr>
      <vt:lpstr>Wingdings</vt:lpstr>
      <vt:lpstr>黑体</vt:lpstr>
      <vt:lpstr>Times New Roman</vt:lpstr>
      <vt:lpstr>华文中宋</vt:lpstr>
      <vt:lpstr>微软雅黑</vt:lpstr>
      <vt:lpstr>Arial Unicode MS</vt:lpstr>
      <vt:lpstr>Calibri</vt:lpstr>
      <vt:lpstr>默认设计模板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蚂蚁科研工作室</cp:lastModifiedBy>
  <cp:revision>8</cp:revision>
  <dcterms:created xsi:type="dcterms:W3CDTF">2012-08-07T09:49:00Z</dcterms:created>
  <dcterms:modified xsi:type="dcterms:W3CDTF">2022-06-18T14:21:38Z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BA7323283E604C6BBBE435060096C8E0</vt:lpwstr>
  </property>
  <property fmtid="{D5CDD505-2E9C-101B-9397-08002B2CF9AE}" pid="3" name="KSOProductBuildVer">
    <vt:lpwstr>2052-11.1.0.11744</vt:lpwstr>
  </property>
</Properties>
</file>