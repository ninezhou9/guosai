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31"/>
  </p:notesMasterIdLst>
  <p:sldIdLst>
    <p:sldId id="256" r:id="rId2"/>
    <p:sldId id="274" r:id="rId3"/>
    <p:sldId id="333" r:id="rId4"/>
    <p:sldId id="403" r:id="rId5"/>
    <p:sldId id="381" r:id="rId6"/>
    <p:sldId id="383" r:id="rId7"/>
    <p:sldId id="407" r:id="rId8"/>
    <p:sldId id="404" r:id="rId9"/>
    <p:sldId id="408" r:id="rId10"/>
    <p:sldId id="392" r:id="rId11"/>
    <p:sldId id="393" r:id="rId12"/>
    <p:sldId id="398" r:id="rId13"/>
    <p:sldId id="397" r:id="rId14"/>
    <p:sldId id="372" r:id="rId15"/>
    <p:sldId id="394" r:id="rId16"/>
    <p:sldId id="399" r:id="rId17"/>
    <p:sldId id="400" r:id="rId18"/>
    <p:sldId id="409" r:id="rId19"/>
    <p:sldId id="364" r:id="rId20"/>
    <p:sldId id="380" r:id="rId21"/>
    <p:sldId id="401" r:id="rId22"/>
    <p:sldId id="395" r:id="rId23"/>
    <p:sldId id="402" r:id="rId24"/>
    <p:sldId id="410" r:id="rId25"/>
    <p:sldId id="405" r:id="rId26"/>
    <p:sldId id="406" r:id="rId27"/>
    <p:sldId id="396" r:id="rId28"/>
    <p:sldId id="411" r:id="rId29"/>
    <p:sldId id="412" r:id="rId30"/>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FFFF00"/>
    <a:srgbClr val="FF0066"/>
    <a:srgbClr val="FFFFFF"/>
    <a:srgbClr val="003399"/>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740" autoAdjust="0"/>
    <p:restoredTop sz="94660"/>
  </p:normalViewPr>
  <p:slideViewPr>
    <p:cSldViewPr>
      <p:cViewPr varScale="1">
        <p:scale>
          <a:sx n="87" d="100"/>
          <a:sy n="87" d="100"/>
        </p:scale>
        <p:origin x="-1738" y="-91"/>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_rels/viewProps.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286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28676"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6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86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286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FFC84DF7-1722-4548-A667-A18DAA94948B}" type="slidenum">
              <a:rPr lang="en-US" altLang="zh-CN"/>
              <a:pPr>
                <a:defRPr/>
              </a:pPr>
              <a:t>‹#›</a:t>
            </a:fld>
            <a:endParaRPr lang="en-US" altLang="zh-CN"/>
          </a:p>
        </p:txBody>
      </p:sp>
    </p:spTree>
    <p:extLst>
      <p:ext uri="{BB962C8B-B14F-4D97-AF65-F5344CB8AC3E}">
        <p14:creationId xmlns:p14="http://schemas.microsoft.com/office/powerpoint/2010/main" val="29119866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1266" name="Rectangle 1026"/>
          <p:cNvSpPr>
            <a:spLocks noGrp="1" noChangeArrowheads="1"/>
          </p:cNvSpPr>
          <p:nvPr>
            <p:ph type="ctrTitle"/>
          </p:nvPr>
        </p:nvSpPr>
        <p:spPr>
          <a:xfrm>
            <a:off x="0" y="1773238"/>
            <a:ext cx="9144000" cy="719137"/>
          </a:xfrm>
          <a:effectLst>
            <a:outerShdw dist="35921" dir="2700000" algn="ctr" rotWithShape="0">
              <a:schemeClr val="bg2"/>
            </a:outerShdw>
          </a:effectLst>
        </p:spPr>
        <p:txBody>
          <a:bodyPr/>
          <a:lstStyle>
            <a:lvl1pPr>
              <a:defRPr sz="4400" b="1">
                <a:solidFill>
                  <a:srgbClr val="000066"/>
                </a:solidFill>
              </a:defRPr>
            </a:lvl1pPr>
          </a:lstStyle>
          <a:p>
            <a:pPr lvl="0"/>
            <a:r>
              <a:rPr lang="zh-CN" altLang="en-US" noProof="0" smtClean="0"/>
              <a:t>单击此处编辑母版标题样式</a:t>
            </a:r>
          </a:p>
        </p:txBody>
      </p:sp>
      <p:sp>
        <p:nvSpPr>
          <p:cNvPr id="11267" name="Rectangle 1027"/>
          <p:cNvSpPr>
            <a:spLocks noGrp="1" noChangeArrowheads="1"/>
          </p:cNvSpPr>
          <p:nvPr>
            <p:ph type="subTitle" idx="1"/>
          </p:nvPr>
        </p:nvSpPr>
        <p:spPr>
          <a:xfrm>
            <a:off x="0" y="2924175"/>
            <a:ext cx="9144000" cy="649288"/>
          </a:xfrm>
        </p:spPr>
        <p:txBody>
          <a:bodyPr/>
          <a:lstStyle>
            <a:lvl1pPr marL="0" indent="0" algn="ctr">
              <a:buFont typeface="Wingdings" pitchFamily="2" charset="2"/>
              <a:buNone/>
              <a:defRPr sz="2000" b="1">
                <a:solidFill>
                  <a:srgbClr val="00FFFF"/>
                </a:solidFill>
              </a:defRPr>
            </a:lvl1pPr>
          </a:lstStyle>
          <a:p>
            <a:pPr lvl="0"/>
            <a:r>
              <a:rPr lang="zh-CN" altLang="en-US" noProof="0" smtClean="0"/>
              <a:t>单击此处编辑母版副标题样式</a:t>
            </a:r>
          </a:p>
        </p:txBody>
      </p:sp>
      <p:sp>
        <p:nvSpPr>
          <p:cNvPr id="4" name="Rectangle 1028"/>
          <p:cNvSpPr>
            <a:spLocks noGrp="1" noChangeArrowheads="1"/>
          </p:cNvSpPr>
          <p:nvPr>
            <p:ph type="sldNum" sz="quarter" idx="10"/>
          </p:nvPr>
        </p:nvSpPr>
        <p:spPr>
          <a:xfrm>
            <a:off x="6858000" y="304800"/>
            <a:ext cx="1905000" cy="457200"/>
          </a:xfrm>
        </p:spPr>
        <p:txBody>
          <a:bodyPr/>
          <a:lstStyle>
            <a:lvl1pPr>
              <a:defRPr>
                <a:solidFill>
                  <a:schemeClr val="bg1"/>
                </a:solidFill>
              </a:defRPr>
            </a:lvl1pPr>
          </a:lstStyle>
          <a:p>
            <a:pPr>
              <a:defRPr/>
            </a:pPr>
            <a:fld id="{5B3CDC6D-72F7-4A8B-B699-854781DD712B}" type="slidenum">
              <a:rPr lang="en-US" altLang="zh-CN"/>
              <a:pPr>
                <a:defRPr/>
              </a:pPr>
              <a:t>‹#›</a:t>
            </a:fld>
            <a:endParaRPr lang="en-US" altLang="zh-CN"/>
          </a:p>
        </p:txBody>
      </p:sp>
    </p:spTree>
    <p:extLst>
      <p:ext uri="{BB962C8B-B14F-4D97-AF65-F5344CB8AC3E}">
        <p14:creationId xmlns:p14="http://schemas.microsoft.com/office/powerpoint/2010/main" val="3107029901"/>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sldNum" sz="quarter" idx="10"/>
          </p:nvPr>
        </p:nvSpPr>
        <p:spPr>
          <a:ln/>
        </p:spPr>
        <p:txBody>
          <a:bodyPr/>
          <a:lstStyle>
            <a:lvl1pPr>
              <a:defRPr/>
            </a:lvl1pPr>
          </a:lstStyle>
          <a:p>
            <a:pPr>
              <a:defRPr/>
            </a:pPr>
            <a:fld id="{AAFB989E-4296-45A8-BD0F-FD7B6A730480}" type="slidenum">
              <a:rPr lang="en-US" altLang="zh-CN"/>
              <a:pPr>
                <a:defRPr/>
              </a:pPr>
              <a:t>‹#›</a:t>
            </a:fld>
            <a:endParaRPr lang="en-US" altLang="zh-CN"/>
          </a:p>
        </p:txBody>
      </p:sp>
    </p:spTree>
    <p:extLst>
      <p:ext uri="{BB962C8B-B14F-4D97-AF65-F5344CB8AC3E}">
        <p14:creationId xmlns:p14="http://schemas.microsoft.com/office/powerpoint/2010/main" val="4111373932"/>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sldNum" sz="quarter" idx="10"/>
          </p:nvPr>
        </p:nvSpPr>
        <p:spPr>
          <a:ln/>
        </p:spPr>
        <p:txBody>
          <a:bodyPr/>
          <a:lstStyle>
            <a:lvl1pPr>
              <a:defRPr/>
            </a:lvl1pPr>
          </a:lstStyle>
          <a:p>
            <a:pPr>
              <a:defRPr/>
            </a:pPr>
            <a:fld id="{18D0F7FC-2177-4643-85A0-11F066970120}" type="slidenum">
              <a:rPr lang="en-US" altLang="zh-CN"/>
              <a:pPr>
                <a:defRPr/>
              </a:pPr>
              <a:t>‹#›</a:t>
            </a:fld>
            <a:endParaRPr lang="en-US" altLang="zh-CN"/>
          </a:p>
        </p:txBody>
      </p:sp>
    </p:spTree>
    <p:extLst>
      <p:ext uri="{BB962C8B-B14F-4D97-AF65-F5344CB8AC3E}">
        <p14:creationId xmlns:p14="http://schemas.microsoft.com/office/powerpoint/2010/main" val="2339730365"/>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sldNum" sz="quarter" idx="10"/>
          </p:nvPr>
        </p:nvSpPr>
        <p:spPr>
          <a:ln/>
        </p:spPr>
        <p:txBody>
          <a:bodyPr/>
          <a:lstStyle>
            <a:lvl1pPr>
              <a:defRPr/>
            </a:lvl1pPr>
          </a:lstStyle>
          <a:p>
            <a:pPr>
              <a:defRPr/>
            </a:pPr>
            <a:fld id="{AA10AC26-B3C6-4A44-8840-15597FA2E707}" type="slidenum">
              <a:rPr lang="en-US" altLang="zh-CN"/>
              <a:pPr>
                <a:defRPr/>
              </a:pPr>
              <a:t>‹#›</a:t>
            </a:fld>
            <a:endParaRPr lang="en-US" altLang="zh-CN"/>
          </a:p>
        </p:txBody>
      </p:sp>
    </p:spTree>
    <p:extLst>
      <p:ext uri="{BB962C8B-B14F-4D97-AF65-F5344CB8AC3E}">
        <p14:creationId xmlns:p14="http://schemas.microsoft.com/office/powerpoint/2010/main" val="380918640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sldNum" sz="quarter" idx="10"/>
          </p:nvPr>
        </p:nvSpPr>
        <p:spPr>
          <a:ln/>
        </p:spPr>
        <p:txBody>
          <a:bodyPr/>
          <a:lstStyle>
            <a:lvl1pPr>
              <a:defRPr/>
            </a:lvl1pPr>
          </a:lstStyle>
          <a:p>
            <a:pPr>
              <a:defRPr/>
            </a:pPr>
            <a:fld id="{F40D9527-F18F-46B0-88CD-4B5C988A8E98}" type="slidenum">
              <a:rPr lang="en-US" altLang="zh-CN"/>
              <a:pPr>
                <a:defRPr/>
              </a:pPr>
              <a:t>‹#›</a:t>
            </a:fld>
            <a:endParaRPr lang="en-US" altLang="zh-CN"/>
          </a:p>
        </p:txBody>
      </p:sp>
    </p:spTree>
    <p:extLst>
      <p:ext uri="{BB962C8B-B14F-4D97-AF65-F5344CB8AC3E}">
        <p14:creationId xmlns:p14="http://schemas.microsoft.com/office/powerpoint/2010/main" val="2616751179"/>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sldNum" sz="quarter" idx="10"/>
          </p:nvPr>
        </p:nvSpPr>
        <p:spPr>
          <a:ln/>
        </p:spPr>
        <p:txBody>
          <a:bodyPr/>
          <a:lstStyle>
            <a:lvl1pPr>
              <a:defRPr/>
            </a:lvl1pPr>
          </a:lstStyle>
          <a:p>
            <a:pPr>
              <a:defRPr/>
            </a:pPr>
            <a:fld id="{FA550E4A-3A9A-4197-B4FE-6AD9B973B8D3}" type="slidenum">
              <a:rPr lang="en-US" altLang="zh-CN"/>
              <a:pPr>
                <a:defRPr/>
              </a:pPr>
              <a:t>‹#›</a:t>
            </a:fld>
            <a:endParaRPr lang="en-US" altLang="zh-CN"/>
          </a:p>
        </p:txBody>
      </p:sp>
    </p:spTree>
    <p:extLst>
      <p:ext uri="{BB962C8B-B14F-4D97-AF65-F5344CB8AC3E}">
        <p14:creationId xmlns:p14="http://schemas.microsoft.com/office/powerpoint/2010/main" val="2437007371"/>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pPr>
              <a:defRPr/>
            </a:pPr>
            <a:fld id="{9D90995C-E64C-4297-8301-A941B332DA6F}" type="slidenum">
              <a:rPr lang="en-US" altLang="zh-CN"/>
              <a:pPr>
                <a:defRPr/>
              </a:pPr>
              <a:t>‹#›</a:t>
            </a:fld>
            <a:endParaRPr lang="en-US" altLang="zh-CN"/>
          </a:p>
        </p:txBody>
      </p:sp>
    </p:spTree>
    <p:extLst>
      <p:ext uri="{BB962C8B-B14F-4D97-AF65-F5344CB8AC3E}">
        <p14:creationId xmlns:p14="http://schemas.microsoft.com/office/powerpoint/2010/main" val="2910766260"/>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sldNum" sz="quarter" idx="10"/>
          </p:nvPr>
        </p:nvSpPr>
        <p:spPr>
          <a:ln/>
        </p:spPr>
        <p:txBody>
          <a:bodyPr/>
          <a:lstStyle>
            <a:lvl1pPr>
              <a:defRPr/>
            </a:lvl1pPr>
          </a:lstStyle>
          <a:p>
            <a:pPr>
              <a:defRPr/>
            </a:pPr>
            <a:fld id="{10F7B9C3-6FAF-434C-BA3F-A3F1D8598698}" type="slidenum">
              <a:rPr lang="en-US" altLang="zh-CN"/>
              <a:pPr>
                <a:defRPr/>
              </a:pPr>
              <a:t>‹#›</a:t>
            </a:fld>
            <a:endParaRPr lang="en-US" altLang="zh-CN"/>
          </a:p>
        </p:txBody>
      </p:sp>
    </p:spTree>
    <p:extLst>
      <p:ext uri="{BB962C8B-B14F-4D97-AF65-F5344CB8AC3E}">
        <p14:creationId xmlns:p14="http://schemas.microsoft.com/office/powerpoint/2010/main" val="2094417815"/>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sldNum" sz="quarter" idx="10"/>
          </p:nvPr>
        </p:nvSpPr>
        <p:spPr>
          <a:ln/>
        </p:spPr>
        <p:txBody>
          <a:bodyPr/>
          <a:lstStyle>
            <a:lvl1pPr>
              <a:defRPr/>
            </a:lvl1pPr>
          </a:lstStyle>
          <a:p>
            <a:pPr>
              <a:defRPr/>
            </a:pPr>
            <a:fld id="{B1779E67-8380-46C5-B9D5-C436CB5ACB29}" type="slidenum">
              <a:rPr lang="en-US" altLang="zh-CN"/>
              <a:pPr>
                <a:defRPr/>
              </a:pPr>
              <a:t>‹#›</a:t>
            </a:fld>
            <a:endParaRPr lang="en-US" altLang="zh-CN"/>
          </a:p>
        </p:txBody>
      </p:sp>
    </p:spTree>
    <p:extLst>
      <p:ext uri="{BB962C8B-B14F-4D97-AF65-F5344CB8AC3E}">
        <p14:creationId xmlns:p14="http://schemas.microsoft.com/office/powerpoint/2010/main" val="472475837"/>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sldNum" sz="quarter" idx="10"/>
          </p:nvPr>
        </p:nvSpPr>
        <p:spPr>
          <a:ln/>
        </p:spPr>
        <p:txBody>
          <a:bodyPr/>
          <a:lstStyle>
            <a:lvl1pPr>
              <a:defRPr/>
            </a:lvl1pPr>
          </a:lstStyle>
          <a:p>
            <a:pPr>
              <a:defRPr/>
            </a:pPr>
            <a:fld id="{6596409E-245A-47FE-B77C-189D319B69DD}" type="slidenum">
              <a:rPr lang="en-US" altLang="zh-CN"/>
              <a:pPr>
                <a:defRPr/>
              </a:pPr>
              <a:t>‹#›</a:t>
            </a:fld>
            <a:endParaRPr lang="en-US" altLang="zh-CN"/>
          </a:p>
        </p:txBody>
      </p:sp>
    </p:spTree>
    <p:extLst>
      <p:ext uri="{BB962C8B-B14F-4D97-AF65-F5344CB8AC3E}">
        <p14:creationId xmlns:p14="http://schemas.microsoft.com/office/powerpoint/2010/main" val="3490309946"/>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274638"/>
            <a:ext cx="22860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274638"/>
            <a:ext cx="67056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sldNum" sz="quarter" idx="10"/>
          </p:nvPr>
        </p:nvSpPr>
        <p:spPr>
          <a:ln/>
        </p:spPr>
        <p:txBody>
          <a:bodyPr/>
          <a:lstStyle>
            <a:lvl1pPr>
              <a:defRPr/>
            </a:lvl1pPr>
          </a:lstStyle>
          <a:p>
            <a:pPr>
              <a:defRPr/>
            </a:pPr>
            <a:fld id="{A1A939BE-B47E-478A-809D-10D916A91DE4}" type="slidenum">
              <a:rPr lang="en-US" altLang="zh-CN"/>
              <a:pPr>
                <a:defRPr/>
              </a:pPr>
              <a:t>‹#›</a:t>
            </a:fld>
            <a:endParaRPr lang="en-US" altLang="zh-CN"/>
          </a:p>
        </p:txBody>
      </p:sp>
    </p:spTree>
    <p:extLst>
      <p:ext uri="{BB962C8B-B14F-4D97-AF65-F5344CB8AC3E}">
        <p14:creationId xmlns:p14="http://schemas.microsoft.com/office/powerpoint/2010/main" val="1550352500"/>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274638"/>
            <a:ext cx="9144000" cy="7064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sldNum" sz="quarter" idx="10"/>
          </p:nvPr>
        </p:nvSpPr>
        <p:spPr>
          <a:ln/>
        </p:spPr>
        <p:txBody>
          <a:bodyPr/>
          <a:lstStyle>
            <a:lvl1pPr>
              <a:defRPr/>
            </a:lvl1pPr>
          </a:lstStyle>
          <a:p>
            <a:pPr>
              <a:defRPr/>
            </a:pPr>
            <a:fld id="{947FFCC6-F004-4299-AEDF-EA498B3E2C5D}" type="slidenum">
              <a:rPr lang="en-US" altLang="zh-CN"/>
              <a:pPr>
                <a:defRPr/>
              </a:pPr>
              <a:t>‹#›</a:t>
            </a:fld>
            <a:endParaRPr lang="en-US" altLang="zh-CN"/>
          </a:p>
        </p:txBody>
      </p:sp>
    </p:spTree>
    <p:extLst>
      <p:ext uri="{BB962C8B-B14F-4D97-AF65-F5344CB8AC3E}">
        <p14:creationId xmlns:p14="http://schemas.microsoft.com/office/powerpoint/2010/main" val="2058953686"/>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0" y="274638"/>
            <a:ext cx="9144000"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45" name="Rectangle 5"/>
          <p:cNvSpPr>
            <a:spLocks noGrp="1" noChangeArrowheads="1"/>
          </p:cNvSpPr>
          <p:nvPr>
            <p:ph type="sldNum" sz="quarter" idx="4"/>
          </p:nvPr>
        </p:nvSpPr>
        <p:spPr bwMode="auto">
          <a:xfrm>
            <a:off x="6934200" y="609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600" b="1" i="1">
                <a:solidFill>
                  <a:srgbClr val="FFFFFF"/>
                </a:solidFill>
              </a:defRPr>
            </a:lvl1pPr>
          </a:lstStyle>
          <a:p>
            <a:pPr>
              <a:defRPr/>
            </a:pPr>
            <a:fld id="{BB1F4570-899E-4A95-AFE6-C5DA6A26260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89"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ransition>
    <p:random/>
  </p:transition>
  <p:hf hdr="0" ftr="0" dt="0"/>
  <p:txStyles>
    <p:titleStyle>
      <a:lvl1pPr algn="ctr" rtl="0" eaLnBrk="0" fontAlgn="base" hangingPunct="0">
        <a:spcBef>
          <a:spcPct val="0"/>
        </a:spcBef>
        <a:spcAft>
          <a:spcPct val="0"/>
        </a:spcAft>
        <a:defRPr sz="3200">
          <a:solidFill>
            <a:schemeClr val="bg1"/>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3200">
          <a:solidFill>
            <a:schemeClr val="bg1"/>
          </a:solidFill>
          <a:effectLst>
            <a:outerShdw blurRad="38100" dist="38100" dir="2700000" algn="tl">
              <a:srgbClr val="C0C0C0"/>
            </a:outerShdw>
          </a:effectLst>
          <a:latin typeface="Arial" charset="0"/>
          <a:ea typeface="黑体" pitchFamily="2" charset="-122"/>
        </a:defRPr>
      </a:lvl2pPr>
      <a:lvl3pPr algn="ctr" rtl="0" eaLnBrk="0" fontAlgn="base" hangingPunct="0">
        <a:spcBef>
          <a:spcPct val="0"/>
        </a:spcBef>
        <a:spcAft>
          <a:spcPct val="0"/>
        </a:spcAft>
        <a:defRPr sz="3200">
          <a:solidFill>
            <a:schemeClr val="bg1"/>
          </a:solidFill>
          <a:effectLst>
            <a:outerShdw blurRad="38100" dist="38100" dir="2700000" algn="tl">
              <a:srgbClr val="C0C0C0"/>
            </a:outerShdw>
          </a:effectLst>
          <a:latin typeface="Arial" charset="0"/>
          <a:ea typeface="黑体" pitchFamily="2" charset="-122"/>
        </a:defRPr>
      </a:lvl3pPr>
      <a:lvl4pPr algn="ctr" rtl="0" eaLnBrk="0" fontAlgn="base" hangingPunct="0">
        <a:spcBef>
          <a:spcPct val="0"/>
        </a:spcBef>
        <a:spcAft>
          <a:spcPct val="0"/>
        </a:spcAft>
        <a:defRPr sz="3200">
          <a:solidFill>
            <a:schemeClr val="bg1"/>
          </a:solidFill>
          <a:effectLst>
            <a:outerShdw blurRad="38100" dist="38100" dir="2700000" algn="tl">
              <a:srgbClr val="C0C0C0"/>
            </a:outerShdw>
          </a:effectLst>
          <a:latin typeface="Arial" charset="0"/>
          <a:ea typeface="黑体" pitchFamily="2" charset="-122"/>
        </a:defRPr>
      </a:lvl4pPr>
      <a:lvl5pPr algn="ctr" rtl="0" eaLnBrk="0" fontAlgn="base" hangingPunct="0">
        <a:spcBef>
          <a:spcPct val="0"/>
        </a:spcBef>
        <a:spcAft>
          <a:spcPct val="0"/>
        </a:spcAft>
        <a:defRPr sz="3200">
          <a:solidFill>
            <a:schemeClr val="bg1"/>
          </a:solidFill>
          <a:effectLst>
            <a:outerShdw blurRad="38100" dist="38100" dir="2700000" algn="tl">
              <a:srgbClr val="C0C0C0"/>
            </a:outerShdw>
          </a:effectLst>
          <a:latin typeface="Arial" charset="0"/>
          <a:ea typeface="黑体" pitchFamily="2" charset="-122"/>
        </a:defRPr>
      </a:lvl5pPr>
      <a:lvl6pPr marL="457200" algn="ctr" rtl="0" fontAlgn="base">
        <a:spcBef>
          <a:spcPct val="0"/>
        </a:spcBef>
        <a:spcAft>
          <a:spcPct val="0"/>
        </a:spcAft>
        <a:defRPr sz="3200">
          <a:solidFill>
            <a:schemeClr val="bg1"/>
          </a:solidFill>
          <a:effectLst>
            <a:outerShdw blurRad="38100" dist="38100" dir="2700000" algn="tl">
              <a:srgbClr val="C0C0C0"/>
            </a:outerShdw>
          </a:effectLst>
          <a:latin typeface="Arial" charset="0"/>
          <a:ea typeface="黑体" pitchFamily="2" charset="-122"/>
        </a:defRPr>
      </a:lvl6pPr>
      <a:lvl7pPr marL="914400" algn="ctr" rtl="0" fontAlgn="base">
        <a:spcBef>
          <a:spcPct val="0"/>
        </a:spcBef>
        <a:spcAft>
          <a:spcPct val="0"/>
        </a:spcAft>
        <a:defRPr sz="3200">
          <a:solidFill>
            <a:schemeClr val="bg1"/>
          </a:solidFill>
          <a:effectLst>
            <a:outerShdw blurRad="38100" dist="38100" dir="2700000" algn="tl">
              <a:srgbClr val="C0C0C0"/>
            </a:outerShdw>
          </a:effectLst>
          <a:latin typeface="Arial" charset="0"/>
          <a:ea typeface="黑体" pitchFamily="2" charset="-122"/>
        </a:defRPr>
      </a:lvl7pPr>
      <a:lvl8pPr marL="1371600" algn="ctr" rtl="0" fontAlgn="base">
        <a:spcBef>
          <a:spcPct val="0"/>
        </a:spcBef>
        <a:spcAft>
          <a:spcPct val="0"/>
        </a:spcAft>
        <a:defRPr sz="3200">
          <a:solidFill>
            <a:schemeClr val="bg1"/>
          </a:solidFill>
          <a:effectLst>
            <a:outerShdw blurRad="38100" dist="38100" dir="2700000" algn="tl">
              <a:srgbClr val="C0C0C0"/>
            </a:outerShdw>
          </a:effectLst>
          <a:latin typeface="Arial" charset="0"/>
          <a:ea typeface="黑体" pitchFamily="2" charset="-122"/>
        </a:defRPr>
      </a:lvl8pPr>
      <a:lvl9pPr marL="1828800" algn="ctr" rtl="0" fontAlgn="base">
        <a:spcBef>
          <a:spcPct val="0"/>
        </a:spcBef>
        <a:spcAft>
          <a:spcPct val="0"/>
        </a:spcAft>
        <a:defRPr sz="3200">
          <a:solidFill>
            <a:schemeClr val="bg1"/>
          </a:solidFill>
          <a:effectLst>
            <a:outerShdw blurRad="38100" dist="38100" dir="2700000" algn="tl">
              <a:srgbClr val="C0C0C0"/>
            </a:outerShdw>
          </a:effectLst>
          <a:latin typeface="Arial" charset="0"/>
          <a:ea typeface="黑体" pitchFamily="2" charset="-122"/>
        </a:defRPr>
      </a:lvl9pPr>
    </p:titleStyle>
    <p:bodyStyle>
      <a:lvl1pPr marL="342900" indent="-342900" algn="l" rtl="0" eaLnBrk="0" fontAlgn="base" hangingPunct="0">
        <a:spcBef>
          <a:spcPct val="20000"/>
        </a:spcBef>
        <a:spcAft>
          <a:spcPct val="0"/>
        </a:spcAft>
        <a:buClr>
          <a:srgbClr val="003399"/>
        </a:buClr>
        <a:buSzPct val="90000"/>
        <a:buFont typeface="Wingdings"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003399"/>
        </a:buClr>
        <a:buSzPct val="80000"/>
        <a:buFont typeface="Wingdings" pitchFamily="2" charset="2"/>
        <a:buChar char="q"/>
        <a:defRPr sz="2400">
          <a:solidFill>
            <a:schemeClr val="tx1"/>
          </a:solidFill>
          <a:latin typeface="+mn-lt"/>
          <a:ea typeface="+mn-ea"/>
        </a:defRPr>
      </a:lvl2pPr>
      <a:lvl3pPr marL="1143000" indent="-228600" algn="l" rtl="0" eaLnBrk="0" fontAlgn="base" hangingPunct="0">
        <a:spcBef>
          <a:spcPct val="20000"/>
        </a:spcBef>
        <a:spcAft>
          <a:spcPct val="0"/>
        </a:spcAft>
        <a:buClr>
          <a:srgbClr val="003399"/>
        </a:buClr>
        <a:buSzPct val="70000"/>
        <a:buFont typeface="Wingdings" pitchFamily="2" charset="2"/>
        <a:buChar char="q"/>
        <a:defRPr sz="20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2.emf"/><Relationship Id="rId13" Type="http://schemas.openxmlformats.org/officeDocument/2006/relationships/oleObject" Target="../embeddings/oleObject8.bin"/><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14.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1.e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13.emf"/><Relationship Id="rId4" Type="http://schemas.openxmlformats.org/officeDocument/2006/relationships/image" Target="../media/image10.emf"/><Relationship Id="rId9" Type="http://schemas.openxmlformats.org/officeDocument/2006/relationships/oleObject" Target="../embeddings/oleObject6.bin"/><Relationship Id="rId14" Type="http://schemas.openxmlformats.org/officeDocument/2006/relationships/image" Target="../media/image15.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5.png"/><Relationship Id="rId4" Type="http://schemas.openxmlformats.org/officeDocument/2006/relationships/image" Target="../media/image24.emf"/></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8"/>
          <p:cNvSpPr>
            <a:spLocks noGrp="1" noChangeArrowheads="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86CFD71-91EC-433E-8084-0A6CF14D34B7}" type="slidenum">
              <a:rPr lang="en-US" altLang="zh-CN" smtClean="0">
                <a:solidFill>
                  <a:schemeClr val="bg1"/>
                </a:solidFill>
              </a:rPr>
              <a:pPr eaLnBrk="1" hangingPunct="1"/>
              <a:t>1</a:t>
            </a:fld>
            <a:endParaRPr lang="en-US" altLang="zh-CN" smtClean="0">
              <a:solidFill>
                <a:schemeClr val="bg1"/>
              </a:solidFill>
            </a:endParaRPr>
          </a:p>
        </p:txBody>
      </p:sp>
      <p:sp>
        <p:nvSpPr>
          <p:cNvPr id="2050" name="Rectangle 2"/>
          <p:cNvSpPr>
            <a:spLocks noGrp="1" noChangeArrowheads="1"/>
          </p:cNvSpPr>
          <p:nvPr>
            <p:ph type="ctrTitle"/>
          </p:nvPr>
        </p:nvSpPr>
        <p:spPr/>
        <p:txBody>
          <a:bodyPr/>
          <a:lstStyle/>
          <a:p>
            <a:pPr eaLnBrk="1" hangingPunct="1">
              <a:defRPr/>
            </a:pPr>
            <a:r>
              <a:rPr lang="en-US" altLang="en-US" sz="4800" smtClean="0"/>
              <a:t>相关分析</a:t>
            </a:r>
            <a:r>
              <a:rPr lang="zh-CN" altLang="en-US" sz="4800" smtClean="0"/>
              <a:t>与</a:t>
            </a:r>
            <a:r>
              <a:rPr lang="en-US" altLang="en-US" sz="4800" smtClean="0"/>
              <a:t>回归分析</a:t>
            </a:r>
            <a:endParaRPr lang="zh-CN" altLang="en-US" sz="4800" smtClean="0"/>
          </a:p>
        </p:txBody>
      </p:sp>
    </p:spTree>
  </p:cSld>
  <p:clrMapOvr>
    <a:masterClrMapping/>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AA7AFC3-DB74-4257-88CB-AA9EDA860B75}" type="slidenum">
              <a:rPr lang="en-US" altLang="zh-CN" smtClean="0">
                <a:solidFill>
                  <a:srgbClr val="FFFFFF"/>
                </a:solidFill>
              </a:rPr>
              <a:pPr eaLnBrk="1" hangingPunct="1"/>
              <a:t>2</a:t>
            </a:fld>
            <a:endParaRPr lang="en-US" altLang="zh-CN" smtClean="0">
              <a:solidFill>
                <a:srgbClr val="FFFFFF"/>
              </a:solidFill>
            </a:endParaRPr>
          </a:p>
        </p:txBody>
      </p:sp>
      <p:sp>
        <p:nvSpPr>
          <p:cNvPr id="54274" name="Rectangle 2"/>
          <p:cNvSpPr>
            <a:spLocks noGrp="1" noChangeArrowheads="1"/>
          </p:cNvSpPr>
          <p:nvPr>
            <p:ph type="title"/>
          </p:nvPr>
        </p:nvSpPr>
        <p:spPr/>
        <p:txBody>
          <a:bodyPr/>
          <a:lstStyle/>
          <a:p>
            <a:pPr eaLnBrk="1" hangingPunct="1">
              <a:defRPr/>
            </a:pPr>
            <a:r>
              <a:rPr lang="zh-CN" altLang="en-US" smtClean="0"/>
              <a:t>学习目标</a:t>
            </a:r>
          </a:p>
        </p:txBody>
      </p:sp>
      <p:sp>
        <p:nvSpPr>
          <p:cNvPr id="4100" name="Rectangle 3"/>
          <p:cNvSpPr>
            <a:spLocks noGrp="1" noChangeArrowheads="1"/>
          </p:cNvSpPr>
          <p:nvPr>
            <p:ph type="body" idx="1"/>
          </p:nvPr>
        </p:nvSpPr>
        <p:spPr>
          <a:xfrm>
            <a:off x="381000" y="1295400"/>
            <a:ext cx="8305800" cy="4572000"/>
          </a:xfrm>
        </p:spPr>
        <p:txBody>
          <a:bodyPr/>
          <a:lstStyle/>
          <a:p>
            <a:pPr eaLnBrk="1" hangingPunct="1"/>
            <a:r>
              <a:rPr lang="zh-CN" altLang="en-US" smtClean="0"/>
              <a:t>相关分析、回归分析等数据处理与分析的方法。</a:t>
            </a:r>
          </a:p>
          <a:p>
            <a:pPr lvl="1" eaLnBrk="1" hangingPunct="1"/>
            <a:r>
              <a:rPr lang="zh-CN" altLang="en-US" smtClean="0"/>
              <a:t>掌握相关性分析理论及模型建立的方法</a:t>
            </a:r>
          </a:p>
          <a:p>
            <a:pPr lvl="1" eaLnBrk="1" hangingPunct="1"/>
            <a:r>
              <a:rPr lang="zh-CN" altLang="en-US" smtClean="0"/>
              <a:t>理解相关系数等参数的经济意义</a:t>
            </a:r>
          </a:p>
          <a:p>
            <a:pPr lvl="1" eaLnBrk="1" hangingPunct="1"/>
            <a:r>
              <a:rPr lang="zh-CN" altLang="en-US" smtClean="0"/>
              <a:t>掌握回归分析理论及模型建立的方法</a:t>
            </a:r>
          </a:p>
          <a:p>
            <a:pPr lvl="1" eaLnBrk="1" hangingPunct="1"/>
            <a:r>
              <a:rPr lang="zh-CN" altLang="en-US" smtClean="0"/>
              <a:t>理解拟合度等相关参数的意义</a:t>
            </a:r>
          </a:p>
          <a:p>
            <a:pPr eaLnBrk="1" hangingPunct="1"/>
            <a:r>
              <a:rPr lang="en-US" altLang="zh-CN" smtClean="0"/>
              <a:t>Excel</a:t>
            </a:r>
            <a:r>
              <a:rPr lang="zh-CN" altLang="en-US" smtClean="0"/>
              <a:t>学习重点</a:t>
            </a:r>
          </a:p>
          <a:p>
            <a:pPr lvl="1" eaLnBrk="1" hangingPunct="1"/>
            <a:r>
              <a:rPr lang="en-US" altLang="zh-CN" smtClean="0"/>
              <a:t>Excel</a:t>
            </a:r>
            <a:r>
              <a:rPr lang="zh-CN" altLang="en-US" smtClean="0"/>
              <a:t>中的数据分析工具</a:t>
            </a:r>
          </a:p>
          <a:p>
            <a:pPr lvl="2" eaLnBrk="1" hangingPunct="1"/>
            <a:r>
              <a:rPr lang="zh-CN" altLang="en-US" smtClean="0"/>
              <a:t>回归</a:t>
            </a:r>
          </a:p>
          <a:p>
            <a:pPr lvl="2" eaLnBrk="1" hangingPunct="1"/>
            <a:r>
              <a:rPr lang="zh-CN" altLang="en-US" smtClean="0"/>
              <a:t>相关系数</a:t>
            </a: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F34F98B-E590-4D3A-9607-61ABA0E2A01C}" type="slidenum">
              <a:rPr lang="en-US" altLang="zh-CN" smtClean="0">
                <a:solidFill>
                  <a:srgbClr val="FFFFFF"/>
                </a:solidFill>
              </a:rPr>
              <a:pPr eaLnBrk="1" hangingPunct="1"/>
              <a:t>3</a:t>
            </a:fld>
            <a:endParaRPr lang="en-US" altLang="zh-CN" smtClean="0">
              <a:solidFill>
                <a:srgbClr val="FFFFFF"/>
              </a:solidFill>
            </a:endParaRPr>
          </a:p>
        </p:txBody>
      </p:sp>
      <p:sp>
        <p:nvSpPr>
          <p:cNvPr id="200717" name="Rectangle 13"/>
          <p:cNvSpPr>
            <a:spLocks noGrp="1" noChangeArrowheads="1"/>
          </p:cNvSpPr>
          <p:nvPr>
            <p:ph type="title"/>
          </p:nvPr>
        </p:nvSpPr>
        <p:spPr/>
        <p:txBody>
          <a:bodyPr/>
          <a:lstStyle/>
          <a:p>
            <a:pPr eaLnBrk="1" hangingPunct="1">
              <a:defRPr/>
            </a:pPr>
            <a:r>
              <a:rPr lang="zh-CN" altLang="en-US" smtClean="0"/>
              <a:t>相关分析</a:t>
            </a:r>
          </a:p>
        </p:txBody>
      </p:sp>
      <p:sp>
        <p:nvSpPr>
          <p:cNvPr id="5124" name="Rectangle 14"/>
          <p:cNvSpPr>
            <a:spLocks noGrp="1" noChangeArrowheads="1"/>
          </p:cNvSpPr>
          <p:nvPr>
            <p:ph type="body" idx="1"/>
          </p:nvPr>
        </p:nvSpPr>
        <p:spPr/>
        <p:txBody>
          <a:bodyPr/>
          <a:lstStyle/>
          <a:p>
            <a:pPr eaLnBrk="1" hangingPunct="1"/>
            <a:r>
              <a:rPr lang="zh-CN" altLang="en-US" sz="2400" smtClean="0"/>
              <a:t>相关分析是对两个变量之间线形关系的描述与度量</a:t>
            </a:r>
          </a:p>
          <a:p>
            <a:pPr lvl="1" eaLnBrk="1" hangingPunct="1"/>
            <a:r>
              <a:rPr lang="zh-CN" altLang="en-US" sz="2000" smtClean="0"/>
              <a:t>变量之间是否存在关系？</a:t>
            </a:r>
          </a:p>
          <a:p>
            <a:pPr lvl="1" eaLnBrk="1" hangingPunct="1"/>
            <a:r>
              <a:rPr lang="zh-CN" altLang="en-US" sz="2000" smtClean="0"/>
              <a:t>如果存在关系，他们之间是什么样的关系？</a:t>
            </a:r>
          </a:p>
          <a:p>
            <a:pPr lvl="1" eaLnBrk="1" hangingPunct="1"/>
            <a:r>
              <a:rPr lang="zh-CN" altLang="en-US" sz="2000" smtClean="0"/>
              <a:t>变量之间的关系强度如何？</a:t>
            </a:r>
          </a:p>
          <a:p>
            <a:pPr lvl="1" eaLnBrk="1" hangingPunct="1"/>
            <a:r>
              <a:rPr lang="zh-CN" altLang="en-US" sz="2000" smtClean="0"/>
              <a:t>样本所反映的变量之间的关系能否代表总体变量之间的关系？</a:t>
            </a:r>
          </a:p>
          <a:p>
            <a:pPr eaLnBrk="1" hangingPunct="1"/>
            <a:r>
              <a:rPr lang="zh-CN" altLang="en-US" sz="2400" smtClean="0"/>
              <a:t>相关分析步骤</a:t>
            </a:r>
          </a:p>
          <a:p>
            <a:pPr lvl="1" eaLnBrk="1" hangingPunct="1"/>
            <a:r>
              <a:rPr lang="zh-CN" altLang="en-US" sz="2000" smtClean="0"/>
              <a:t>绘制散点图判断变量之间的关系形态</a:t>
            </a:r>
          </a:p>
          <a:p>
            <a:pPr lvl="1" eaLnBrk="1" hangingPunct="1"/>
            <a:r>
              <a:rPr lang="zh-CN" altLang="en-US" sz="2000" smtClean="0"/>
              <a:t>如果是线形相关，可以用相关系数来度量两个变量之间的关系强度</a:t>
            </a:r>
          </a:p>
          <a:p>
            <a:pPr lvl="1" eaLnBrk="1" hangingPunct="1"/>
            <a:r>
              <a:rPr lang="zh-CN" altLang="en-US" sz="2000" smtClean="0"/>
              <a:t>对相关系数进行显著性检验，以判断样本所反映的关系是否能用来代表两个变量总体上的关系。</a:t>
            </a:r>
          </a:p>
          <a:p>
            <a:pPr lvl="1" eaLnBrk="1" hangingPunct="1"/>
            <a:endParaRPr lang="en-US" altLang="zh-CN" sz="2000" smtClean="0"/>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173F712-D23C-4B45-AB53-1A94602E8F76}" type="slidenum">
              <a:rPr lang="en-US" altLang="zh-CN" smtClean="0">
                <a:solidFill>
                  <a:srgbClr val="FFFFFF"/>
                </a:solidFill>
              </a:rPr>
              <a:pPr eaLnBrk="1" hangingPunct="1"/>
              <a:t>4</a:t>
            </a:fld>
            <a:endParaRPr lang="en-US" altLang="zh-CN" smtClean="0">
              <a:solidFill>
                <a:srgbClr val="FFFFFF"/>
              </a:solidFill>
            </a:endParaRPr>
          </a:p>
        </p:txBody>
      </p:sp>
      <p:sp>
        <p:nvSpPr>
          <p:cNvPr id="357378" name="Rectangle 2"/>
          <p:cNvSpPr>
            <a:spLocks noGrp="1" noChangeArrowheads="1"/>
          </p:cNvSpPr>
          <p:nvPr>
            <p:ph type="title"/>
          </p:nvPr>
        </p:nvSpPr>
        <p:spPr/>
        <p:txBody>
          <a:bodyPr/>
          <a:lstStyle/>
          <a:p>
            <a:pPr eaLnBrk="1" hangingPunct="1">
              <a:defRPr/>
            </a:pPr>
            <a:r>
              <a:rPr lang="zh-CN" altLang="en-US" smtClean="0"/>
              <a:t>散点图</a:t>
            </a:r>
          </a:p>
        </p:txBody>
      </p:sp>
      <p:sp>
        <p:nvSpPr>
          <p:cNvPr id="6148" name="Rectangle 3"/>
          <p:cNvSpPr>
            <a:spLocks noGrp="1" noChangeArrowheads="1"/>
          </p:cNvSpPr>
          <p:nvPr>
            <p:ph type="body" idx="1"/>
          </p:nvPr>
        </p:nvSpPr>
        <p:spPr>
          <a:xfrm>
            <a:off x="250825" y="3573463"/>
            <a:ext cx="8713788" cy="1905000"/>
          </a:xfrm>
        </p:spPr>
        <p:txBody>
          <a:bodyPr/>
          <a:lstStyle/>
          <a:p>
            <a:pPr eaLnBrk="1" hangingPunct="1">
              <a:lnSpc>
                <a:spcPct val="80000"/>
              </a:lnSpc>
            </a:pPr>
            <a:r>
              <a:rPr lang="zh-CN" altLang="en-US" sz="2000" smtClean="0"/>
              <a:t>通过图形方式对变量之间的关系形态进行大致的描述</a:t>
            </a:r>
          </a:p>
          <a:p>
            <a:pPr eaLnBrk="1" hangingPunct="1">
              <a:lnSpc>
                <a:spcPct val="80000"/>
              </a:lnSpc>
            </a:pPr>
            <a:r>
              <a:rPr lang="en-US" altLang="zh-CN" sz="2000" smtClean="0"/>
              <a:t>A-</a:t>
            </a:r>
            <a:r>
              <a:rPr lang="zh-CN" altLang="en-US" sz="2000" smtClean="0"/>
              <a:t>正相关：一个变量增加或减少时，另一个变量也相应增加或减少；</a:t>
            </a:r>
          </a:p>
          <a:p>
            <a:pPr eaLnBrk="1" hangingPunct="1">
              <a:lnSpc>
                <a:spcPct val="80000"/>
              </a:lnSpc>
            </a:pPr>
            <a:r>
              <a:rPr lang="en-US" altLang="zh-CN" sz="2000" smtClean="0"/>
              <a:t>B-</a:t>
            </a:r>
            <a:r>
              <a:rPr lang="zh-CN" altLang="en-US" sz="2000" smtClean="0"/>
              <a:t>负相关：一个变量增加或减少时，另一个变量却减少或增加；</a:t>
            </a:r>
          </a:p>
          <a:p>
            <a:pPr eaLnBrk="1" hangingPunct="1">
              <a:lnSpc>
                <a:spcPct val="80000"/>
              </a:lnSpc>
            </a:pPr>
            <a:r>
              <a:rPr lang="en-US" altLang="zh-CN" sz="2000" smtClean="0"/>
              <a:t>C-</a:t>
            </a:r>
            <a:r>
              <a:rPr lang="zh-CN" altLang="en-US" sz="2000" smtClean="0"/>
              <a:t>非线性相关：变量之间的关系近似地表现为一条曲线；</a:t>
            </a:r>
          </a:p>
          <a:p>
            <a:pPr eaLnBrk="1" hangingPunct="1">
              <a:lnSpc>
                <a:spcPct val="80000"/>
              </a:lnSpc>
            </a:pPr>
            <a:r>
              <a:rPr lang="en-US" altLang="zh-CN" sz="2000" smtClean="0"/>
              <a:t>D-</a:t>
            </a:r>
            <a:r>
              <a:rPr lang="zh-CN" altLang="en-US" sz="2000" smtClean="0"/>
              <a:t>无相关：说明两个变量是独立的，即由一个变量值，无法预测另一个变量值。</a:t>
            </a:r>
          </a:p>
        </p:txBody>
      </p:sp>
      <p:grpSp>
        <p:nvGrpSpPr>
          <p:cNvPr id="6149" name="Group 11"/>
          <p:cNvGrpSpPr>
            <a:grpSpLocks/>
          </p:cNvGrpSpPr>
          <p:nvPr/>
        </p:nvGrpSpPr>
        <p:grpSpPr bwMode="auto">
          <a:xfrm>
            <a:off x="1331913" y="1484313"/>
            <a:ext cx="6911975" cy="1792287"/>
            <a:chOff x="1008" y="1776"/>
            <a:chExt cx="3552" cy="921"/>
          </a:xfrm>
        </p:grpSpPr>
        <p:pic>
          <p:nvPicPr>
            <p:cNvPr id="6150" name="Picture 4"/>
            <p:cNvPicPr>
              <a:picLocks noChangeAspect="1" noChangeArrowheads="1"/>
            </p:cNvPicPr>
            <p:nvPr/>
          </p:nvPicPr>
          <p:blipFill>
            <a:blip r:embed="rId2">
              <a:extLst>
                <a:ext uri="{28A0092B-C50C-407E-A947-70E740481C1C}">
                  <a14:useLocalDpi xmlns:a14="http://schemas.microsoft.com/office/drawing/2010/main" val="0"/>
                </a:ext>
              </a:extLst>
            </a:blip>
            <a:srcRect b="23880"/>
            <a:stretch>
              <a:fillRect/>
            </a:stretch>
          </p:blipFill>
          <p:spPr bwMode="auto">
            <a:xfrm>
              <a:off x="1008" y="1776"/>
              <a:ext cx="3552"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1" name="Text Box 7"/>
            <p:cNvSpPr txBox="1">
              <a:spLocks noChangeArrowheads="1"/>
            </p:cNvSpPr>
            <p:nvPr/>
          </p:nvSpPr>
          <p:spPr bwMode="auto">
            <a:xfrm>
              <a:off x="1296" y="2524"/>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600"/>
                <a:t>(a)</a:t>
              </a:r>
            </a:p>
          </p:txBody>
        </p:sp>
        <p:sp>
          <p:nvSpPr>
            <p:cNvPr id="6152" name="Text Box 8"/>
            <p:cNvSpPr txBox="1">
              <a:spLocks noChangeArrowheads="1"/>
            </p:cNvSpPr>
            <p:nvPr/>
          </p:nvSpPr>
          <p:spPr bwMode="auto">
            <a:xfrm>
              <a:off x="2208" y="2524"/>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600"/>
                <a:t>(b)</a:t>
              </a:r>
            </a:p>
          </p:txBody>
        </p:sp>
        <p:sp>
          <p:nvSpPr>
            <p:cNvPr id="6153" name="Text Box 9"/>
            <p:cNvSpPr txBox="1">
              <a:spLocks noChangeArrowheads="1"/>
            </p:cNvSpPr>
            <p:nvPr/>
          </p:nvSpPr>
          <p:spPr bwMode="auto">
            <a:xfrm>
              <a:off x="3120" y="2524"/>
              <a:ext cx="21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600"/>
                <a:t>(c)</a:t>
              </a:r>
            </a:p>
          </p:txBody>
        </p:sp>
        <p:sp>
          <p:nvSpPr>
            <p:cNvPr id="6154" name="Text Box 10"/>
            <p:cNvSpPr txBox="1">
              <a:spLocks noChangeArrowheads="1"/>
            </p:cNvSpPr>
            <p:nvPr/>
          </p:nvSpPr>
          <p:spPr bwMode="auto">
            <a:xfrm>
              <a:off x="3984" y="2524"/>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600"/>
                <a:t>(d)</a:t>
              </a:r>
            </a:p>
          </p:txBody>
        </p:sp>
      </p:gr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4"/>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45EC9EE-B293-45AB-B1C2-B62CB3E803A5}" type="slidenum">
              <a:rPr lang="en-US" altLang="zh-CN" smtClean="0">
                <a:solidFill>
                  <a:srgbClr val="FFFFFF"/>
                </a:solidFill>
              </a:rPr>
              <a:pPr eaLnBrk="1" hangingPunct="1"/>
              <a:t>5</a:t>
            </a:fld>
            <a:endParaRPr lang="en-US" altLang="zh-CN" smtClean="0">
              <a:solidFill>
                <a:srgbClr val="FFFFFF"/>
              </a:solidFill>
            </a:endParaRPr>
          </a:p>
        </p:txBody>
      </p:sp>
      <p:sp>
        <p:nvSpPr>
          <p:cNvPr id="325634" name="Rectangle 2"/>
          <p:cNvSpPr>
            <a:spLocks noGrp="1" noChangeArrowheads="1"/>
          </p:cNvSpPr>
          <p:nvPr>
            <p:ph type="title"/>
          </p:nvPr>
        </p:nvSpPr>
        <p:spPr/>
        <p:txBody>
          <a:bodyPr/>
          <a:lstStyle/>
          <a:p>
            <a:pPr eaLnBrk="1" hangingPunct="1">
              <a:defRPr/>
            </a:pPr>
            <a:r>
              <a:rPr lang="zh-CN" altLang="en-US" smtClean="0"/>
              <a:t>相关系数</a:t>
            </a:r>
          </a:p>
        </p:txBody>
      </p:sp>
      <p:sp>
        <p:nvSpPr>
          <p:cNvPr id="7172" name="Rectangle 3"/>
          <p:cNvSpPr>
            <a:spLocks noGrp="1" noChangeArrowheads="1"/>
          </p:cNvSpPr>
          <p:nvPr>
            <p:ph type="body" sz="half" idx="1"/>
          </p:nvPr>
        </p:nvSpPr>
        <p:spPr>
          <a:xfrm>
            <a:off x="457200" y="1600200"/>
            <a:ext cx="8507413" cy="749300"/>
          </a:xfrm>
        </p:spPr>
        <p:txBody>
          <a:bodyPr/>
          <a:lstStyle/>
          <a:p>
            <a:pPr eaLnBrk="1" hangingPunct="1">
              <a:lnSpc>
                <a:spcPct val="90000"/>
              </a:lnSpc>
            </a:pPr>
            <a:r>
              <a:rPr lang="zh-CN" altLang="en-US" sz="2400" smtClean="0"/>
              <a:t>相关系数：根据样本数据计算的两个变量之间线形相关程度的统计量，用符号“</a:t>
            </a:r>
            <a:r>
              <a:rPr lang="en-US" altLang="zh-CN" sz="2400" smtClean="0"/>
              <a:t>r"</a:t>
            </a:r>
            <a:r>
              <a:rPr lang="zh-CN" altLang="en-US" sz="2400" smtClean="0"/>
              <a:t>来表示。</a:t>
            </a:r>
          </a:p>
        </p:txBody>
      </p:sp>
      <p:graphicFrame>
        <p:nvGraphicFramePr>
          <p:cNvPr id="7173" name="Object 4"/>
          <p:cNvGraphicFramePr>
            <a:graphicFrameLocks noChangeAspect="1"/>
          </p:cNvGraphicFramePr>
          <p:nvPr>
            <p:ph sz="half" idx="2"/>
          </p:nvPr>
        </p:nvGraphicFramePr>
        <p:xfrm>
          <a:off x="539750" y="2636838"/>
          <a:ext cx="8251825" cy="1330325"/>
        </p:xfrm>
        <a:graphic>
          <a:graphicData uri="http://schemas.openxmlformats.org/presentationml/2006/ole">
            <mc:AlternateContent xmlns:mc="http://schemas.openxmlformats.org/markup-compatibility/2006">
              <mc:Choice xmlns:v="urn:schemas-microsoft-com:vml" Requires="v">
                <p:oleObj spid="_x0000_s7197" name="Equation" r:id="rId3" imgW="5118100" imgH="825500" progId="Equation.3">
                  <p:embed/>
                </p:oleObj>
              </mc:Choice>
              <mc:Fallback>
                <p:oleObj name="Equation" r:id="rId3" imgW="5118100" imgH="825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636838"/>
                        <a:ext cx="8251825" cy="1330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4"/>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7180B64-345C-477F-900B-D719AE325AF7}" type="slidenum">
              <a:rPr lang="en-US" altLang="zh-CN" smtClean="0">
                <a:solidFill>
                  <a:srgbClr val="FFFFFF"/>
                </a:solidFill>
              </a:rPr>
              <a:pPr eaLnBrk="1" hangingPunct="1"/>
              <a:t>6</a:t>
            </a:fld>
            <a:endParaRPr lang="en-US" altLang="zh-CN" smtClean="0">
              <a:solidFill>
                <a:srgbClr val="FFFFFF"/>
              </a:solidFill>
            </a:endParaRPr>
          </a:p>
        </p:txBody>
      </p:sp>
      <p:sp>
        <p:nvSpPr>
          <p:cNvPr id="328706" name="Rectangle 2"/>
          <p:cNvSpPr>
            <a:spLocks noGrp="1" noChangeArrowheads="1"/>
          </p:cNvSpPr>
          <p:nvPr>
            <p:ph type="title"/>
          </p:nvPr>
        </p:nvSpPr>
        <p:spPr/>
        <p:txBody>
          <a:bodyPr/>
          <a:lstStyle/>
          <a:p>
            <a:pPr eaLnBrk="1" hangingPunct="1">
              <a:defRPr/>
            </a:pPr>
            <a:r>
              <a:rPr lang="zh-CN" altLang="en-US" smtClean="0"/>
              <a:t>相关系数表示的意义</a:t>
            </a:r>
          </a:p>
        </p:txBody>
      </p:sp>
      <p:sp>
        <p:nvSpPr>
          <p:cNvPr id="8196" name="Rectangle 3"/>
          <p:cNvSpPr>
            <a:spLocks noGrp="1" noChangeArrowheads="1"/>
          </p:cNvSpPr>
          <p:nvPr>
            <p:ph type="body" sz="half" idx="1"/>
          </p:nvPr>
        </p:nvSpPr>
        <p:spPr>
          <a:xfrm>
            <a:off x="457200" y="1600200"/>
            <a:ext cx="8075613" cy="2692400"/>
          </a:xfrm>
        </p:spPr>
        <p:txBody>
          <a:bodyPr/>
          <a:lstStyle/>
          <a:p>
            <a:pPr eaLnBrk="1" hangingPunct="1"/>
            <a:r>
              <a:rPr lang="zh-CN" altLang="en-US" sz="2400" smtClean="0"/>
              <a:t>相关系数</a:t>
            </a:r>
            <a:r>
              <a:rPr lang="en-US" altLang="zh-CN" sz="2400" smtClean="0"/>
              <a:t>r</a:t>
            </a:r>
            <a:r>
              <a:rPr lang="zh-CN" altLang="en-US" sz="2400" smtClean="0"/>
              <a:t>是对两变量线性相关的测量，数值的范围从</a:t>
            </a:r>
            <a:r>
              <a:rPr lang="en-US" altLang="zh-CN" sz="2400" smtClean="0"/>
              <a:t>-1</a:t>
            </a:r>
            <a:r>
              <a:rPr lang="zh-CN" altLang="en-US" sz="2400" smtClean="0"/>
              <a:t>到</a:t>
            </a:r>
            <a:r>
              <a:rPr lang="en-US" altLang="zh-CN" sz="2400" smtClean="0"/>
              <a:t>0</a:t>
            </a:r>
            <a:r>
              <a:rPr lang="zh-CN" altLang="en-US" sz="2400" smtClean="0"/>
              <a:t>，到</a:t>
            </a:r>
            <a:r>
              <a:rPr lang="en-US" altLang="zh-CN" sz="2400" smtClean="0"/>
              <a:t>+1</a:t>
            </a:r>
            <a:r>
              <a:rPr lang="zh-CN" altLang="en-US" sz="2400" smtClean="0"/>
              <a:t>，表达变量间的相关强度。</a:t>
            </a:r>
          </a:p>
          <a:p>
            <a:pPr lvl="1" eaLnBrk="1" hangingPunct="1"/>
            <a:r>
              <a:rPr lang="en-US" altLang="zh-CN" sz="2000" smtClean="0"/>
              <a:t>r</a:t>
            </a:r>
            <a:r>
              <a:rPr lang="zh-CN" altLang="en-US" sz="2000" smtClean="0"/>
              <a:t>值为</a:t>
            </a:r>
            <a:r>
              <a:rPr lang="en-US" altLang="zh-CN" sz="2000" smtClean="0"/>
              <a:t>+1</a:t>
            </a:r>
            <a:r>
              <a:rPr lang="zh-CN" altLang="en-US" sz="2000" smtClean="0"/>
              <a:t>表示两组数完全正相关</a:t>
            </a:r>
          </a:p>
          <a:p>
            <a:pPr lvl="1" eaLnBrk="1" hangingPunct="1"/>
            <a:r>
              <a:rPr lang="en-US" altLang="zh-CN" sz="2000" smtClean="0"/>
              <a:t>r</a:t>
            </a:r>
            <a:r>
              <a:rPr lang="zh-CN" altLang="en-US" sz="2000" smtClean="0"/>
              <a:t>值为</a:t>
            </a:r>
            <a:r>
              <a:rPr lang="en-US" altLang="zh-CN" sz="2000" smtClean="0"/>
              <a:t>-1</a:t>
            </a:r>
            <a:r>
              <a:rPr lang="zh-CN" altLang="en-US" sz="2000" smtClean="0"/>
              <a:t>表示两组数完全负相关，说明它们间存在反向关系，一个变量变大时另外一个就变小</a:t>
            </a:r>
          </a:p>
          <a:p>
            <a:pPr lvl="1" eaLnBrk="1" hangingPunct="1"/>
            <a:r>
              <a:rPr lang="zh-CN" altLang="en-US" sz="2000" smtClean="0"/>
              <a:t>当</a:t>
            </a:r>
            <a:r>
              <a:rPr lang="en-US" altLang="zh-CN" sz="2000" smtClean="0"/>
              <a:t>r</a:t>
            </a:r>
            <a:r>
              <a:rPr lang="zh-CN" altLang="en-US" sz="2000" smtClean="0"/>
              <a:t>值为</a:t>
            </a:r>
            <a:r>
              <a:rPr lang="en-US" altLang="zh-CN" sz="2000" smtClean="0"/>
              <a:t>0</a:t>
            </a:r>
            <a:r>
              <a:rPr lang="zh-CN" altLang="en-US" sz="2000" smtClean="0"/>
              <a:t>时表示两变量之间不存在线性关系</a:t>
            </a:r>
          </a:p>
          <a:p>
            <a:pPr lvl="1" eaLnBrk="1" hangingPunct="1"/>
            <a:r>
              <a:rPr lang="zh-CN" altLang="en-US" sz="2000" smtClean="0"/>
              <a:t>相关系数取值范围限于：－１≤</a:t>
            </a:r>
            <a:r>
              <a:rPr lang="en-US" altLang="zh-CN" sz="2000" smtClean="0"/>
              <a:t>r≤</a:t>
            </a:r>
            <a:r>
              <a:rPr lang="zh-CN" altLang="en-US" sz="2000" smtClean="0"/>
              <a:t>＋１ </a:t>
            </a:r>
          </a:p>
          <a:p>
            <a:pPr eaLnBrk="1" hangingPunct="1"/>
            <a:r>
              <a:rPr lang="en-US" altLang="zh-CN" sz="2400" smtClean="0"/>
              <a:t>Excel</a:t>
            </a:r>
            <a:r>
              <a:rPr lang="zh-CN" altLang="en-US" sz="2400" smtClean="0"/>
              <a:t>中计算相关系数有两种方法</a:t>
            </a:r>
          </a:p>
          <a:p>
            <a:pPr lvl="1" eaLnBrk="1" hangingPunct="1"/>
            <a:r>
              <a:rPr lang="en-US" altLang="zh-CN" sz="2000" smtClean="0"/>
              <a:t>Excel</a:t>
            </a:r>
            <a:r>
              <a:rPr lang="zh-CN" altLang="en-US" sz="2000" smtClean="0">
                <a:latin typeface="Times New Roman" pitchFamily="18" charset="0"/>
              </a:rPr>
              <a:t>数据分析功能</a:t>
            </a:r>
          </a:p>
          <a:p>
            <a:pPr lvl="1" eaLnBrk="1" hangingPunct="1"/>
            <a:r>
              <a:rPr lang="en-US" altLang="zh-CN" sz="2000" smtClean="0"/>
              <a:t>CORREL()</a:t>
            </a:r>
            <a:r>
              <a:rPr lang="zh-CN" altLang="en-US" sz="2000" smtClean="0">
                <a:latin typeface="Times New Roman" pitchFamily="18" charset="0"/>
              </a:rPr>
              <a:t>函数</a:t>
            </a:r>
            <a:endParaRPr lang="zh-CN" altLang="en-US" sz="2000" smtClean="0"/>
          </a:p>
          <a:p>
            <a:pPr eaLnBrk="1" hangingPunct="1"/>
            <a:endParaRPr lang="en-US" altLang="zh-CN" sz="2400" smtClean="0"/>
          </a:p>
        </p:txBody>
      </p:sp>
      <p:graphicFrame>
        <p:nvGraphicFramePr>
          <p:cNvPr id="8197" name="Object 4"/>
          <p:cNvGraphicFramePr>
            <a:graphicFrameLocks noChangeAspect="1"/>
          </p:cNvGraphicFramePr>
          <p:nvPr>
            <p:ph sz="half" idx="2"/>
          </p:nvPr>
        </p:nvGraphicFramePr>
        <p:xfrm>
          <a:off x="539750" y="5445125"/>
          <a:ext cx="8064500" cy="596900"/>
        </p:xfrm>
        <a:graphic>
          <a:graphicData uri="http://schemas.openxmlformats.org/presentationml/2006/ole">
            <mc:AlternateContent xmlns:mc="http://schemas.openxmlformats.org/markup-compatibility/2006">
              <mc:Choice xmlns:v="urn:schemas-microsoft-com:vml" Requires="v">
                <p:oleObj spid="_x0000_s8221" name="工作表" r:id="rId3" imgW="7772400" imgH="485935" progId="Excel.Sheet.8">
                  <p:embed/>
                </p:oleObj>
              </mc:Choice>
              <mc:Fallback>
                <p:oleObj name="工作表" r:id="rId3" imgW="7772400" imgH="485935" progId="Excel.Shee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5445125"/>
                        <a:ext cx="80645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6FAE603-423A-4380-A12B-DCFD8AA7C6D3}" type="slidenum">
              <a:rPr lang="en-US" altLang="zh-CN" smtClean="0">
                <a:solidFill>
                  <a:srgbClr val="FFFFFF"/>
                </a:solidFill>
              </a:rPr>
              <a:pPr eaLnBrk="1" hangingPunct="1"/>
              <a:t>7</a:t>
            </a:fld>
            <a:endParaRPr lang="en-US" altLang="zh-CN" smtClean="0">
              <a:solidFill>
                <a:srgbClr val="FFFFFF"/>
              </a:solidFill>
            </a:endParaRPr>
          </a:p>
        </p:txBody>
      </p:sp>
      <p:sp>
        <p:nvSpPr>
          <p:cNvPr id="282626" name="Rectangle 2"/>
          <p:cNvSpPr>
            <a:spLocks noGrp="1" noChangeArrowheads="1"/>
          </p:cNvSpPr>
          <p:nvPr>
            <p:ph type="title"/>
          </p:nvPr>
        </p:nvSpPr>
        <p:spPr/>
        <p:txBody>
          <a:bodyPr/>
          <a:lstStyle/>
          <a:p>
            <a:pPr eaLnBrk="1" hangingPunct="1">
              <a:defRPr/>
            </a:pPr>
            <a:r>
              <a:rPr lang="zh-CN" altLang="en-US" dirty="0" smtClean="0"/>
              <a:t>加载“分析工具库”</a:t>
            </a:r>
          </a:p>
        </p:txBody>
      </p:sp>
      <p:sp>
        <p:nvSpPr>
          <p:cNvPr id="9220" name="Rectangle 3"/>
          <p:cNvSpPr>
            <a:spLocks noGrp="1" noChangeArrowheads="1"/>
          </p:cNvSpPr>
          <p:nvPr>
            <p:ph type="body" idx="1"/>
          </p:nvPr>
        </p:nvSpPr>
        <p:spPr>
          <a:xfrm>
            <a:off x="468313" y="1341438"/>
            <a:ext cx="8229600" cy="1582737"/>
          </a:xfrm>
        </p:spPr>
        <p:txBody>
          <a:bodyPr/>
          <a:lstStyle/>
          <a:p>
            <a:pPr eaLnBrk="1" hangingPunct="1"/>
            <a:r>
              <a:rPr lang="zh-CN" altLang="en-US" sz="2000" smtClean="0"/>
              <a:t>文件</a:t>
            </a:r>
            <a:r>
              <a:rPr lang="en-US" altLang="zh-CN" sz="2000" smtClean="0"/>
              <a:t>/</a:t>
            </a:r>
            <a:r>
              <a:rPr lang="zh-CN" altLang="en-US" sz="2000" smtClean="0"/>
              <a:t>选项</a:t>
            </a:r>
            <a:r>
              <a:rPr lang="en-US" altLang="zh-CN" sz="2000" smtClean="0"/>
              <a:t>/Excel</a:t>
            </a:r>
            <a:r>
              <a:rPr lang="zh-CN" altLang="en-US" sz="2000" smtClean="0"/>
              <a:t>选项</a:t>
            </a:r>
            <a:endParaRPr lang="en-US" altLang="zh-CN" sz="2000" smtClean="0"/>
          </a:p>
          <a:p>
            <a:pPr eaLnBrk="1" hangingPunct="1"/>
            <a:r>
              <a:rPr lang="zh-CN" altLang="en-US" sz="2000" smtClean="0"/>
              <a:t>加载项</a:t>
            </a:r>
            <a:r>
              <a:rPr lang="en-US" altLang="zh-CN" sz="2000" smtClean="0"/>
              <a:t>/</a:t>
            </a:r>
            <a:r>
              <a:rPr lang="zh-CN" altLang="en-US" sz="2000" smtClean="0"/>
              <a:t>分析工具库</a:t>
            </a:r>
            <a:r>
              <a:rPr lang="en-US" altLang="zh-CN" sz="2000" smtClean="0"/>
              <a:t>/Excel</a:t>
            </a:r>
            <a:r>
              <a:rPr lang="zh-CN" altLang="en-US" sz="2000" smtClean="0"/>
              <a:t>加载项</a:t>
            </a:r>
            <a:r>
              <a:rPr lang="en-US" altLang="zh-CN" sz="2000" smtClean="0"/>
              <a:t>/</a:t>
            </a:r>
            <a:r>
              <a:rPr lang="zh-CN" altLang="en-US" sz="2000" smtClean="0"/>
              <a:t>单击“跳转”</a:t>
            </a:r>
            <a:endParaRPr lang="en-US" altLang="zh-CN" sz="2000" smtClean="0"/>
          </a:p>
          <a:p>
            <a:pPr eaLnBrk="1" hangingPunct="1"/>
            <a:r>
              <a:rPr lang="zh-CN" altLang="en-US" sz="2000" smtClean="0"/>
              <a:t>在加载宏对话框中勾选“分析工具库”</a:t>
            </a:r>
          </a:p>
        </p:txBody>
      </p:sp>
      <p:pic>
        <p:nvPicPr>
          <p:cNvPr id="922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3187700"/>
            <a:ext cx="4310063" cy="326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7600" y="3489325"/>
            <a:ext cx="2882900" cy="266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直接箭头连接符 2"/>
          <p:cNvCxnSpPr/>
          <p:nvPr/>
        </p:nvCxnSpPr>
        <p:spPr>
          <a:xfrm flipV="1">
            <a:off x="2268538" y="4076700"/>
            <a:ext cx="3959225" cy="2232025"/>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7C349BF-3B14-4E2A-B1B8-ED0271F9E331}" type="slidenum">
              <a:rPr lang="en-US" altLang="zh-CN" smtClean="0">
                <a:solidFill>
                  <a:srgbClr val="FFFFFF"/>
                </a:solidFill>
              </a:rPr>
              <a:pPr eaLnBrk="1" hangingPunct="1"/>
              <a:t>8</a:t>
            </a:fld>
            <a:endParaRPr lang="en-US" altLang="zh-CN" smtClean="0">
              <a:solidFill>
                <a:srgbClr val="FFFFFF"/>
              </a:solidFill>
            </a:endParaRPr>
          </a:p>
        </p:txBody>
      </p:sp>
      <p:sp>
        <p:nvSpPr>
          <p:cNvPr id="359426" name="Rectangle 2"/>
          <p:cNvSpPr>
            <a:spLocks noGrp="1" noChangeArrowheads="1"/>
          </p:cNvSpPr>
          <p:nvPr>
            <p:ph type="title"/>
          </p:nvPr>
        </p:nvSpPr>
        <p:spPr/>
        <p:txBody>
          <a:bodyPr/>
          <a:lstStyle/>
          <a:p>
            <a:pPr eaLnBrk="1" hangingPunct="1">
              <a:defRPr/>
            </a:pPr>
            <a:r>
              <a:rPr lang="zh-CN" altLang="en-US" smtClean="0"/>
              <a:t>示例</a:t>
            </a:r>
            <a:r>
              <a:rPr lang="en-US" altLang="zh-CN" smtClean="0"/>
              <a:t>1-</a:t>
            </a:r>
            <a:r>
              <a:rPr lang="zh-CN" altLang="en-US" smtClean="0"/>
              <a:t>利用</a:t>
            </a:r>
            <a:r>
              <a:rPr lang="en-US" altLang="zh-CN" smtClean="0"/>
              <a:t>Excel</a:t>
            </a:r>
            <a:r>
              <a:rPr lang="zh-CN" altLang="en-US" smtClean="0"/>
              <a:t>数据分析计算相关系数</a:t>
            </a:r>
          </a:p>
        </p:txBody>
      </p:sp>
      <p:sp>
        <p:nvSpPr>
          <p:cNvPr id="10244" name="Rectangle 3"/>
          <p:cNvSpPr>
            <a:spLocks noGrp="1" noChangeArrowheads="1"/>
          </p:cNvSpPr>
          <p:nvPr>
            <p:ph type="body" idx="1"/>
          </p:nvPr>
        </p:nvSpPr>
        <p:spPr>
          <a:xfrm>
            <a:off x="457200" y="1600200"/>
            <a:ext cx="8229600" cy="5068888"/>
          </a:xfrm>
        </p:spPr>
        <p:txBody>
          <a:bodyPr/>
          <a:lstStyle/>
          <a:p>
            <a:pPr eaLnBrk="1" hangingPunct="1"/>
            <a:r>
              <a:rPr lang="zh-CN" altLang="en-US" smtClean="0"/>
              <a:t>根据表中的数据计算不良贷款、贷款余额、累计应收贷款、贷款项目个数、固定资产投资额之间的相关系数</a:t>
            </a:r>
          </a:p>
          <a:p>
            <a:pPr lvl="1" eaLnBrk="1" hangingPunct="1"/>
            <a:r>
              <a:rPr lang="zh-CN" altLang="en-US" smtClean="0"/>
              <a:t>法</a:t>
            </a:r>
            <a:r>
              <a:rPr lang="en-US" altLang="zh-CN" smtClean="0"/>
              <a:t>1</a:t>
            </a:r>
            <a:r>
              <a:rPr lang="zh-CN" altLang="en-US" smtClean="0"/>
              <a:t>：数据</a:t>
            </a:r>
            <a:r>
              <a:rPr lang="en-US" altLang="zh-CN" smtClean="0"/>
              <a:t>/</a:t>
            </a:r>
            <a:r>
              <a:rPr lang="zh-CN" altLang="en-US" smtClean="0"/>
              <a:t>数据分析</a:t>
            </a:r>
            <a:r>
              <a:rPr lang="en-US" altLang="zh-CN" smtClean="0"/>
              <a:t>/</a:t>
            </a:r>
            <a:r>
              <a:rPr lang="zh-CN" altLang="en-US" smtClean="0"/>
              <a:t>相关系数</a:t>
            </a:r>
            <a:r>
              <a:rPr lang="en-US" altLang="zh-CN" smtClean="0"/>
              <a:t>/</a:t>
            </a:r>
            <a:r>
              <a:rPr lang="zh-CN" altLang="en-US" smtClean="0"/>
              <a:t>做如下图所示设置</a:t>
            </a:r>
            <a:endParaRPr lang="en-US" altLang="zh-CN" smtClean="0"/>
          </a:p>
          <a:p>
            <a:pPr lvl="1" eaLnBrk="1" hangingPunct="1"/>
            <a:endParaRPr lang="en-US" altLang="zh-CN" smtClean="0"/>
          </a:p>
          <a:p>
            <a:pPr lvl="1" eaLnBrk="1" hangingPunct="1"/>
            <a:endParaRPr lang="en-US" altLang="zh-CN" smtClean="0"/>
          </a:p>
          <a:p>
            <a:pPr lvl="1" eaLnBrk="1" hangingPunct="1"/>
            <a:endParaRPr lang="en-US" altLang="zh-CN" smtClean="0"/>
          </a:p>
          <a:p>
            <a:pPr lvl="1" eaLnBrk="1" hangingPunct="1"/>
            <a:endParaRPr lang="en-US" altLang="zh-CN" smtClean="0"/>
          </a:p>
          <a:p>
            <a:pPr lvl="1" eaLnBrk="1" hangingPunct="1"/>
            <a:r>
              <a:rPr lang="zh-CN" altLang="en-US" smtClean="0"/>
              <a:t>可见，不良贷款与各项贷款余额的相关性最高</a:t>
            </a:r>
          </a:p>
        </p:txBody>
      </p:sp>
      <p:pic>
        <p:nvPicPr>
          <p:cNvPr id="102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3357563"/>
            <a:ext cx="2808287" cy="160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5589588"/>
            <a:ext cx="7535862"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p:spPr>
        <p:txBody>
          <a:bodyPr/>
          <a:lstStyle/>
          <a:p>
            <a:r>
              <a:rPr lang="zh-CN" altLang="en-US" smtClean="0"/>
              <a:t>示例</a:t>
            </a:r>
            <a:r>
              <a:rPr lang="en-US" altLang="zh-CN" smtClean="0"/>
              <a:t>1-</a:t>
            </a:r>
            <a:r>
              <a:rPr lang="zh-CN" altLang="en-US" smtClean="0"/>
              <a:t>利用</a:t>
            </a:r>
            <a:r>
              <a:rPr lang="en-US" altLang="zh-CN" smtClean="0"/>
              <a:t>Excel</a:t>
            </a:r>
            <a:r>
              <a:rPr lang="zh-CN" altLang="en-US" smtClean="0"/>
              <a:t>数据分析计算相关系数</a:t>
            </a:r>
          </a:p>
        </p:txBody>
      </p:sp>
      <p:sp>
        <p:nvSpPr>
          <p:cNvPr id="41987" name="Rectangle 3"/>
          <p:cNvSpPr>
            <a:spLocks noGrp="1" noChangeArrowheads="1"/>
          </p:cNvSpPr>
          <p:nvPr>
            <p:ph type="body" idx="1"/>
          </p:nvPr>
        </p:nvSpPr>
        <p:spPr/>
        <p:txBody>
          <a:bodyPr/>
          <a:lstStyle/>
          <a:p>
            <a:pPr eaLnBrk="1" hangingPunct="1"/>
            <a:r>
              <a:rPr lang="zh-CN" altLang="en-US" smtClean="0"/>
              <a:t>法</a:t>
            </a:r>
            <a:r>
              <a:rPr lang="en-US" altLang="zh-CN" smtClean="0"/>
              <a:t>2-</a:t>
            </a:r>
            <a:r>
              <a:rPr lang="zh-CN" altLang="en-US" smtClean="0"/>
              <a:t>利用</a:t>
            </a:r>
            <a:r>
              <a:rPr lang="en-US" altLang="zh-CN" smtClean="0"/>
              <a:t>CORREL()</a:t>
            </a:r>
            <a:r>
              <a:rPr lang="zh-CN" altLang="en-US" smtClean="0"/>
              <a:t>函数也可以求出上述任意两个变量之间的相关系数</a:t>
            </a:r>
          </a:p>
          <a:p>
            <a:pPr lvl="1" eaLnBrk="1" hangingPunct="1"/>
            <a:r>
              <a:rPr lang="en-US" altLang="zh-CN" smtClean="0"/>
              <a:t>=CORREL(Array1,Array2)</a:t>
            </a:r>
          </a:p>
          <a:p>
            <a:pPr lvl="1" eaLnBrk="1" hangingPunct="1"/>
            <a:r>
              <a:rPr lang="en-US" altLang="zh-CN" smtClean="0"/>
              <a:t>array1</a:t>
            </a:r>
            <a:r>
              <a:rPr lang="zh-CN" altLang="en-US" smtClean="0"/>
              <a:t>和 </a:t>
            </a:r>
            <a:r>
              <a:rPr lang="en-US" altLang="zh-CN" smtClean="0"/>
              <a:t>array2</a:t>
            </a:r>
            <a:r>
              <a:rPr lang="zh-CN" altLang="en-US" smtClean="0"/>
              <a:t>为需要确定相关性的两组数据</a:t>
            </a:r>
          </a:p>
          <a:p>
            <a:pPr eaLnBrk="1" hangingPunct="1"/>
            <a:r>
              <a:rPr lang="zh-CN" altLang="en-US" smtClean="0"/>
              <a:t>两种方法的区别</a:t>
            </a:r>
          </a:p>
          <a:p>
            <a:pPr lvl="1" eaLnBrk="1" hangingPunct="1"/>
            <a:r>
              <a:rPr lang="zh-CN" altLang="en-US" smtClean="0"/>
              <a:t>方法</a:t>
            </a:r>
            <a:r>
              <a:rPr lang="en-US" altLang="zh-CN" smtClean="0"/>
              <a:t>1</a:t>
            </a:r>
            <a:r>
              <a:rPr lang="zh-CN" altLang="en-US" smtClean="0"/>
              <a:t>可以求出一批变量之间的相关系数</a:t>
            </a:r>
          </a:p>
          <a:p>
            <a:pPr lvl="1" eaLnBrk="1" hangingPunct="1"/>
            <a:r>
              <a:rPr lang="zh-CN" altLang="en-US" smtClean="0"/>
              <a:t>方法</a:t>
            </a:r>
            <a:r>
              <a:rPr lang="en-US" altLang="zh-CN" smtClean="0"/>
              <a:t>2</a:t>
            </a:r>
            <a:r>
              <a:rPr lang="zh-CN" altLang="en-US" smtClean="0"/>
              <a:t>只可以求出</a:t>
            </a:r>
            <a:r>
              <a:rPr lang="en-US" altLang="zh-CN" smtClean="0"/>
              <a:t>2</a:t>
            </a:r>
            <a:r>
              <a:rPr lang="zh-CN" altLang="en-US" smtClean="0"/>
              <a:t>个变量之间的相关系数</a:t>
            </a:r>
          </a:p>
          <a:p>
            <a:endParaRPr lang="zh-CN" altLang="en-US" smtClean="0"/>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E6CB912-4462-4BF4-B046-606D8204FEDE}" type="slidenum">
              <a:rPr lang="en-US" altLang="zh-CN" smtClean="0">
                <a:solidFill>
                  <a:srgbClr val="FFFFFF"/>
                </a:solidFill>
              </a:rPr>
              <a:pPr eaLnBrk="1" hangingPunct="1"/>
              <a:t>10</a:t>
            </a:fld>
            <a:endParaRPr lang="en-US" altLang="zh-CN" smtClean="0">
              <a:solidFill>
                <a:srgbClr val="FFFFFF"/>
              </a:solidFill>
            </a:endParaRPr>
          </a:p>
        </p:txBody>
      </p:sp>
      <p:sp>
        <p:nvSpPr>
          <p:cNvPr id="339970" name="Rectangle 2"/>
          <p:cNvSpPr>
            <a:spLocks noGrp="1" noChangeArrowheads="1"/>
          </p:cNvSpPr>
          <p:nvPr>
            <p:ph type="title"/>
          </p:nvPr>
        </p:nvSpPr>
        <p:spPr/>
        <p:txBody>
          <a:bodyPr/>
          <a:lstStyle/>
          <a:p>
            <a:pPr eaLnBrk="1" hangingPunct="1">
              <a:defRPr/>
            </a:pPr>
            <a:r>
              <a:rPr lang="zh-CN" altLang="en-US" smtClean="0"/>
              <a:t>回归分析</a:t>
            </a:r>
          </a:p>
        </p:txBody>
      </p:sp>
      <p:sp>
        <p:nvSpPr>
          <p:cNvPr id="12292" name="Rectangle 3"/>
          <p:cNvSpPr>
            <a:spLocks noGrp="1" noChangeArrowheads="1"/>
          </p:cNvSpPr>
          <p:nvPr>
            <p:ph type="body" idx="1"/>
          </p:nvPr>
        </p:nvSpPr>
        <p:spPr/>
        <p:txBody>
          <a:bodyPr/>
          <a:lstStyle/>
          <a:p>
            <a:pPr eaLnBrk="1" hangingPunct="1"/>
            <a:r>
              <a:rPr lang="zh-CN" altLang="en-US" sz="2400" smtClean="0"/>
              <a:t>回归分析侧重考察变量之间的数量伴随关系，并通过建立变量之间的数学表达式将这种关系描述出来，进而确定一个或几个自变量的变化对另一个特定变量（因变量）的影响程度，从而由自变量的取值预测因变量的可能值。</a:t>
            </a:r>
          </a:p>
          <a:p>
            <a:pPr lvl="1" eaLnBrk="1" hangingPunct="1"/>
            <a:r>
              <a:rPr lang="zh-CN" altLang="en-US" sz="2000" smtClean="0"/>
              <a:t>从一组样本数据出发，确定变量之间的数学关系式。</a:t>
            </a:r>
          </a:p>
          <a:p>
            <a:pPr lvl="1" eaLnBrk="1" hangingPunct="1"/>
            <a:r>
              <a:rPr lang="zh-CN" altLang="en-US" sz="2000" smtClean="0"/>
              <a:t>对该关系式的可信度进行各种统计检验，并从影响某一特定变量的诸多变量中找出哪些变量的影响是显著的，哪些是不显著的。</a:t>
            </a:r>
          </a:p>
          <a:p>
            <a:pPr lvl="1" eaLnBrk="1" hangingPunct="1"/>
            <a:r>
              <a:rPr lang="zh-CN" altLang="en-US" sz="2000" smtClean="0"/>
              <a:t>利用所求的关系式，根据一个或几个变量的取值来估计或预测另一个特定变量的取值，并给出这种估计或预测的可靠程度。</a:t>
            </a:r>
          </a:p>
          <a:p>
            <a:pPr eaLnBrk="1" hangingPunct="1"/>
            <a:r>
              <a:rPr lang="zh-CN" altLang="en-US" sz="2400" smtClean="0"/>
              <a:t>回归分析按照涉及的自变量的多少，可分为一元回归分析和多元回归分析。按照自变量和因变量之间的关系类型，可分为线性回归分析和非线性回归分析。</a:t>
            </a: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A69A7D0-1E9B-4C27-A9DF-9115CAA9E4D4}" type="slidenum">
              <a:rPr lang="en-US" altLang="zh-CN" smtClean="0">
                <a:solidFill>
                  <a:srgbClr val="FFFFFF"/>
                </a:solidFill>
              </a:rPr>
              <a:pPr eaLnBrk="1" hangingPunct="1"/>
              <a:t>11</a:t>
            </a:fld>
            <a:endParaRPr lang="en-US" altLang="zh-CN" smtClean="0">
              <a:solidFill>
                <a:srgbClr val="FFFFFF"/>
              </a:solidFill>
            </a:endParaRPr>
          </a:p>
        </p:txBody>
      </p:sp>
      <p:sp>
        <p:nvSpPr>
          <p:cNvPr id="340994" name="Rectangle 2"/>
          <p:cNvSpPr>
            <a:spLocks noGrp="1" noChangeArrowheads="1"/>
          </p:cNvSpPr>
          <p:nvPr>
            <p:ph type="title"/>
          </p:nvPr>
        </p:nvSpPr>
        <p:spPr/>
        <p:txBody>
          <a:bodyPr/>
          <a:lstStyle/>
          <a:p>
            <a:pPr eaLnBrk="1" hangingPunct="1">
              <a:defRPr/>
            </a:pPr>
            <a:r>
              <a:rPr lang="zh-CN" altLang="en-US" smtClean="0">
                <a:latin typeface="Times New Roman" pitchFamily="18" charset="0"/>
              </a:rPr>
              <a:t>一元线形回归分析</a:t>
            </a:r>
          </a:p>
        </p:txBody>
      </p:sp>
      <p:sp>
        <p:nvSpPr>
          <p:cNvPr id="13316" name="Rectangle 3"/>
          <p:cNvSpPr>
            <a:spLocks noGrp="1" noChangeArrowheads="1"/>
          </p:cNvSpPr>
          <p:nvPr>
            <p:ph type="body" idx="1"/>
          </p:nvPr>
        </p:nvSpPr>
        <p:spPr>
          <a:xfrm>
            <a:off x="457200" y="1600200"/>
            <a:ext cx="4043363" cy="4525963"/>
          </a:xfrm>
        </p:spPr>
        <p:txBody>
          <a:bodyPr/>
          <a:lstStyle/>
          <a:p>
            <a:pPr eaLnBrk="1" hangingPunct="1"/>
            <a:r>
              <a:rPr lang="zh-CN" altLang="en-US" sz="2400" smtClean="0">
                <a:latin typeface="Times New Roman" pitchFamily="18" charset="0"/>
              </a:rPr>
              <a:t>回归基本上可视为一种拟合过程，即用最恰当的数学方程去拟合一组由一个因变量和一个或多个自变量所组成的原始数据。</a:t>
            </a:r>
          </a:p>
          <a:p>
            <a:pPr eaLnBrk="1" hangingPunct="1"/>
            <a:r>
              <a:rPr lang="zh-CN" altLang="en-US" sz="2400" smtClean="0">
                <a:latin typeface="Times New Roman" pitchFamily="18" charset="0"/>
              </a:rPr>
              <a:t>最简单的形式是线性回归，它有一个因变量和一个自变量，因此就是用一个线性方程</a:t>
            </a:r>
            <a:r>
              <a:rPr lang="en-US" altLang="zh-CN" sz="2400" smtClean="0"/>
              <a:t>y=a+bx+</a:t>
            </a:r>
            <a:r>
              <a:rPr lang="el-GR" altLang="zh-CN" sz="2400" smtClean="0">
                <a:cs typeface="Arial" charset="0"/>
              </a:rPr>
              <a:t>ε</a:t>
            </a:r>
            <a:r>
              <a:rPr lang="zh-CN" altLang="en-US" sz="2400" smtClean="0">
                <a:latin typeface="Times New Roman" pitchFamily="18" charset="0"/>
              </a:rPr>
              <a:t>去拟合一系列对变量</a:t>
            </a:r>
            <a:r>
              <a:rPr lang="en-US" altLang="zh-CN" sz="2400" smtClean="0">
                <a:latin typeface="Times New Roman" pitchFamily="18" charset="0"/>
              </a:rPr>
              <a:t>x</a:t>
            </a:r>
            <a:r>
              <a:rPr lang="zh-CN" altLang="en-US" sz="2400" smtClean="0">
                <a:latin typeface="Times New Roman" pitchFamily="18" charset="0"/>
              </a:rPr>
              <a:t>和</a:t>
            </a:r>
            <a:r>
              <a:rPr lang="en-US" altLang="zh-CN" sz="2400" smtClean="0">
                <a:latin typeface="Times New Roman" pitchFamily="18" charset="0"/>
              </a:rPr>
              <a:t>y</a:t>
            </a:r>
            <a:r>
              <a:rPr lang="zh-CN" altLang="en-US" sz="2400" smtClean="0">
                <a:latin typeface="Times New Roman" pitchFamily="18" charset="0"/>
              </a:rPr>
              <a:t>的数据观察值的过程。 </a:t>
            </a:r>
            <a:r>
              <a:rPr lang="zh-CN" altLang="en-US" sz="2400" smtClean="0"/>
              <a:t> </a:t>
            </a:r>
          </a:p>
          <a:p>
            <a:pPr eaLnBrk="1" hangingPunct="1"/>
            <a:endParaRPr lang="en-US" altLang="zh-CN" sz="2400" smtClean="0"/>
          </a:p>
        </p:txBody>
      </p:sp>
      <p:grpSp>
        <p:nvGrpSpPr>
          <p:cNvPr id="13317" name="Group 4"/>
          <p:cNvGrpSpPr>
            <a:grpSpLocks/>
          </p:cNvGrpSpPr>
          <p:nvPr/>
        </p:nvGrpSpPr>
        <p:grpSpPr bwMode="auto">
          <a:xfrm>
            <a:off x="4932363" y="2636838"/>
            <a:ext cx="3581400" cy="2628900"/>
            <a:chOff x="1344" y="2352"/>
            <a:chExt cx="2976" cy="1656"/>
          </a:xfrm>
        </p:grpSpPr>
        <p:sp>
          <p:nvSpPr>
            <p:cNvPr id="13318" name="Line 5"/>
            <p:cNvSpPr>
              <a:spLocks noChangeShapeType="1"/>
            </p:cNvSpPr>
            <p:nvPr/>
          </p:nvSpPr>
          <p:spPr bwMode="auto">
            <a:xfrm>
              <a:off x="1536" y="3840"/>
              <a:ext cx="216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9" name="Line 6"/>
            <p:cNvSpPr>
              <a:spLocks noChangeShapeType="1"/>
            </p:cNvSpPr>
            <p:nvPr/>
          </p:nvSpPr>
          <p:spPr bwMode="auto">
            <a:xfrm flipV="1">
              <a:off x="1536" y="2352"/>
              <a:ext cx="0" cy="14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0" name="Line 7"/>
            <p:cNvSpPr>
              <a:spLocks noChangeShapeType="1"/>
            </p:cNvSpPr>
            <p:nvPr/>
          </p:nvSpPr>
          <p:spPr bwMode="auto">
            <a:xfrm flipV="1">
              <a:off x="1536" y="2567"/>
              <a:ext cx="2064" cy="5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321" name="Group 8"/>
            <p:cNvGrpSpPr>
              <a:grpSpLocks/>
            </p:cNvGrpSpPr>
            <p:nvPr/>
          </p:nvGrpSpPr>
          <p:grpSpPr bwMode="auto">
            <a:xfrm>
              <a:off x="1632" y="2976"/>
              <a:ext cx="48" cy="48"/>
              <a:chOff x="480" y="3360"/>
              <a:chExt cx="48" cy="48"/>
            </a:xfrm>
          </p:grpSpPr>
          <p:sp>
            <p:nvSpPr>
              <p:cNvPr id="13365" name="Line 9"/>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6" name="Line 10"/>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22" name="Group 11"/>
            <p:cNvGrpSpPr>
              <a:grpSpLocks/>
            </p:cNvGrpSpPr>
            <p:nvPr/>
          </p:nvGrpSpPr>
          <p:grpSpPr bwMode="auto">
            <a:xfrm>
              <a:off x="1776" y="3024"/>
              <a:ext cx="48" cy="48"/>
              <a:chOff x="480" y="3360"/>
              <a:chExt cx="48" cy="48"/>
            </a:xfrm>
          </p:grpSpPr>
          <p:sp>
            <p:nvSpPr>
              <p:cNvPr id="13363" name="Line 12"/>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4" name="Line 13"/>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23" name="Group 14"/>
            <p:cNvGrpSpPr>
              <a:grpSpLocks/>
            </p:cNvGrpSpPr>
            <p:nvPr/>
          </p:nvGrpSpPr>
          <p:grpSpPr bwMode="auto">
            <a:xfrm>
              <a:off x="2064" y="3024"/>
              <a:ext cx="48" cy="48"/>
              <a:chOff x="480" y="3360"/>
              <a:chExt cx="48" cy="48"/>
            </a:xfrm>
          </p:grpSpPr>
          <p:sp>
            <p:nvSpPr>
              <p:cNvPr id="13361" name="Line 15"/>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2" name="Line 16"/>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24" name="Group 17"/>
            <p:cNvGrpSpPr>
              <a:grpSpLocks/>
            </p:cNvGrpSpPr>
            <p:nvPr/>
          </p:nvGrpSpPr>
          <p:grpSpPr bwMode="auto">
            <a:xfrm>
              <a:off x="2256" y="2784"/>
              <a:ext cx="48" cy="48"/>
              <a:chOff x="480" y="3360"/>
              <a:chExt cx="48" cy="48"/>
            </a:xfrm>
          </p:grpSpPr>
          <p:sp>
            <p:nvSpPr>
              <p:cNvPr id="13359" name="Line 18"/>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0" name="Line 19"/>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25" name="Group 20"/>
            <p:cNvGrpSpPr>
              <a:grpSpLocks/>
            </p:cNvGrpSpPr>
            <p:nvPr/>
          </p:nvGrpSpPr>
          <p:grpSpPr bwMode="auto">
            <a:xfrm>
              <a:off x="2448" y="2784"/>
              <a:ext cx="48" cy="48"/>
              <a:chOff x="480" y="3360"/>
              <a:chExt cx="48" cy="48"/>
            </a:xfrm>
          </p:grpSpPr>
          <p:sp>
            <p:nvSpPr>
              <p:cNvPr id="13357" name="Line 21"/>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8" name="Line 22"/>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26" name="Group 23"/>
            <p:cNvGrpSpPr>
              <a:grpSpLocks/>
            </p:cNvGrpSpPr>
            <p:nvPr/>
          </p:nvGrpSpPr>
          <p:grpSpPr bwMode="auto">
            <a:xfrm>
              <a:off x="2592" y="2928"/>
              <a:ext cx="48" cy="48"/>
              <a:chOff x="480" y="3360"/>
              <a:chExt cx="48" cy="48"/>
            </a:xfrm>
          </p:grpSpPr>
          <p:sp>
            <p:nvSpPr>
              <p:cNvPr id="13355" name="Line 24"/>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6" name="Line 25"/>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27" name="Group 26"/>
            <p:cNvGrpSpPr>
              <a:grpSpLocks/>
            </p:cNvGrpSpPr>
            <p:nvPr/>
          </p:nvGrpSpPr>
          <p:grpSpPr bwMode="auto">
            <a:xfrm>
              <a:off x="2784" y="2832"/>
              <a:ext cx="48" cy="48"/>
              <a:chOff x="480" y="3360"/>
              <a:chExt cx="48" cy="48"/>
            </a:xfrm>
          </p:grpSpPr>
          <p:sp>
            <p:nvSpPr>
              <p:cNvPr id="13353" name="Line 27"/>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4" name="Line 28"/>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28" name="Group 29"/>
            <p:cNvGrpSpPr>
              <a:grpSpLocks/>
            </p:cNvGrpSpPr>
            <p:nvPr/>
          </p:nvGrpSpPr>
          <p:grpSpPr bwMode="auto">
            <a:xfrm>
              <a:off x="3120" y="2688"/>
              <a:ext cx="48" cy="48"/>
              <a:chOff x="480" y="3360"/>
              <a:chExt cx="48" cy="48"/>
            </a:xfrm>
          </p:grpSpPr>
          <p:sp>
            <p:nvSpPr>
              <p:cNvPr id="13351" name="Line 30"/>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2" name="Line 31"/>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29" name="Group 32"/>
            <p:cNvGrpSpPr>
              <a:grpSpLocks/>
            </p:cNvGrpSpPr>
            <p:nvPr/>
          </p:nvGrpSpPr>
          <p:grpSpPr bwMode="auto">
            <a:xfrm>
              <a:off x="2928" y="2592"/>
              <a:ext cx="48" cy="48"/>
              <a:chOff x="480" y="3360"/>
              <a:chExt cx="48" cy="48"/>
            </a:xfrm>
          </p:grpSpPr>
          <p:sp>
            <p:nvSpPr>
              <p:cNvPr id="13349" name="Line 33"/>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0" name="Line 34"/>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30" name="Group 35"/>
            <p:cNvGrpSpPr>
              <a:grpSpLocks/>
            </p:cNvGrpSpPr>
            <p:nvPr/>
          </p:nvGrpSpPr>
          <p:grpSpPr bwMode="auto">
            <a:xfrm>
              <a:off x="3312" y="2592"/>
              <a:ext cx="48" cy="48"/>
              <a:chOff x="480" y="3360"/>
              <a:chExt cx="48" cy="48"/>
            </a:xfrm>
          </p:grpSpPr>
          <p:sp>
            <p:nvSpPr>
              <p:cNvPr id="13347" name="Line 36"/>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8" name="Line 37"/>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31" name="Group 38"/>
            <p:cNvGrpSpPr>
              <a:grpSpLocks/>
            </p:cNvGrpSpPr>
            <p:nvPr/>
          </p:nvGrpSpPr>
          <p:grpSpPr bwMode="auto">
            <a:xfrm>
              <a:off x="3408" y="2640"/>
              <a:ext cx="48" cy="48"/>
              <a:chOff x="480" y="3360"/>
              <a:chExt cx="48" cy="48"/>
            </a:xfrm>
          </p:grpSpPr>
          <p:sp>
            <p:nvSpPr>
              <p:cNvPr id="13345" name="Line 39"/>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6" name="Line 40"/>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32" name="Group 41"/>
            <p:cNvGrpSpPr>
              <a:grpSpLocks/>
            </p:cNvGrpSpPr>
            <p:nvPr/>
          </p:nvGrpSpPr>
          <p:grpSpPr bwMode="auto">
            <a:xfrm>
              <a:off x="3504" y="2448"/>
              <a:ext cx="48" cy="48"/>
              <a:chOff x="480" y="3360"/>
              <a:chExt cx="48" cy="48"/>
            </a:xfrm>
          </p:grpSpPr>
          <p:sp>
            <p:nvSpPr>
              <p:cNvPr id="13343" name="Line 42"/>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4" name="Line 43"/>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33" name="Group 44"/>
            <p:cNvGrpSpPr>
              <a:grpSpLocks/>
            </p:cNvGrpSpPr>
            <p:nvPr/>
          </p:nvGrpSpPr>
          <p:grpSpPr bwMode="auto">
            <a:xfrm>
              <a:off x="1872" y="3072"/>
              <a:ext cx="48" cy="48"/>
              <a:chOff x="480" y="3360"/>
              <a:chExt cx="48" cy="48"/>
            </a:xfrm>
          </p:grpSpPr>
          <p:sp>
            <p:nvSpPr>
              <p:cNvPr id="13341" name="Line 45"/>
              <p:cNvSpPr>
                <a:spLocks noChangeShapeType="1"/>
              </p:cNvSpPr>
              <p:nvPr/>
            </p:nvSpPr>
            <p:spPr bwMode="auto">
              <a:xfrm flipH="1"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2" name="Line 46"/>
              <p:cNvSpPr>
                <a:spLocks noChangeShapeType="1"/>
              </p:cNvSpPr>
              <p:nvPr/>
            </p:nvSpPr>
            <p:spPr bwMode="auto">
              <a:xfrm flipV="1">
                <a:off x="480" y="33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34" name="Line 47"/>
            <p:cNvSpPr>
              <a:spLocks noChangeShapeType="1"/>
            </p:cNvSpPr>
            <p:nvPr/>
          </p:nvSpPr>
          <p:spPr bwMode="auto">
            <a:xfrm>
              <a:off x="2640" y="2832"/>
              <a:ext cx="0" cy="10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335" name="Object 48"/>
            <p:cNvGraphicFramePr>
              <a:graphicFrameLocks noChangeAspect="1"/>
            </p:cNvGraphicFramePr>
            <p:nvPr/>
          </p:nvGraphicFramePr>
          <p:xfrm>
            <a:off x="3600" y="3696"/>
            <a:ext cx="112" cy="120"/>
          </p:xfrm>
          <a:graphic>
            <a:graphicData uri="http://schemas.openxmlformats.org/presentationml/2006/ole">
              <mc:AlternateContent xmlns:mc="http://schemas.openxmlformats.org/markup-compatibility/2006">
                <mc:Choice xmlns:v="urn:schemas-microsoft-com:vml" Requires="v">
                  <p:oleObj spid="_x0000_s13494" name="Equation" r:id="rId3" imgW="159919" imgH="175176" progId="Equation.DSMT4">
                    <p:embed/>
                  </p:oleObj>
                </mc:Choice>
                <mc:Fallback>
                  <p:oleObj name="Equation" r:id="rId3" imgW="159919" imgH="175176" progId="Equation.DSMT4">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 y="3696"/>
                          <a:ext cx="112" cy="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6" name="Object 49"/>
            <p:cNvGraphicFramePr>
              <a:graphicFrameLocks noChangeAspect="1"/>
            </p:cNvGraphicFramePr>
            <p:nvPr/>
          </p:nvGraphicFramePr>
          <p:xfrm>
            <a:off x="1344" y="2352"/>
            <a:ext cx="128" cy="152"/>
          </p:xfrm>
          <a:graphic>
            <a:graphicData uri="http://schemas.openxmlformats.org/presentationml/2006/ole">
              <mc:AlternateContent xmlns:mc="http://schemas.openxmlformats.org/markup-compatibility/2006">
                <mc:Choice xmlns:v="urn:schemas-microsoft-com:vml" Requires="v">
                  <p:oleObj spid="_x0000_s13495" name="Equation" r:id="rId5" imgW="190606" imgH="228528" progId="Equation.DSMT4">
                    <p:embed/>
                  </p:oleObj>
                </mc:Choice>
                <mc:Fallback>
                  <p:oleObj name="Equation" r:id="rId5" imgW="190606" imgH="228528" progId="Equation.DSMT4">
                    <p:embed/>
                    <p:pic>
                      <p:nvPicPr>
                        <p:cNvPr id="0" name="Object 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4" y="2352"/>
                          <a:ext cx="128"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7" name="Object 50"/>
            <p:cNvGraphicFramePr>
              <a:graphicFrameLocks noChangeAspect="1"/>
            </p:cNvGraphicFramePr>
            <p:nvPr/>
          </p:nvGraphicFramePr>
          <p:xfrm>
            <a:off x="2592" y="3792"/>
            <a:ext cx="144" cy="216"/>
          </p:xfrm>
          <a:graphic>
            <a:graphicData uri="http://schemas.openxmlformats.org/presentationml/2006/ole">
              <mc:AlternateContent xmlns:mc="http://schemas.openxmlformats.org/markup-compatibility/2006">
                <mc:Choice xmlns:v="urn:schemas-microsoft-com:vml" Requires="v">
                  <p:oleObj spid="_x0000_s13496" name="Equation" r:id="rId7" imgW="213297" imgH="327672" progId="Equation.DSMT4">
                    <p:embed/>
                  </p:oleObj>
                </mc:Choice>
                <mc:Fallback>
                  <p:oleObj name="Equation" r:id="rId7" imgW="213297" imgH="327672" progId="Equation.DSMT4">
                    <p:embed/>
                    <p:pic>
                      <p:nvPicPr>
                        <p:cNvPr id="0" name="Object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2" y="3792"/>
                          <a:ext cx="144"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8" name="Object 51"/>
            <p:cNvGraphicFramePr>
              <a:graphicFrameLocks noChangeAspect="1"/>
            </p:cNvGraphicFramePr>
            <p:nvPr/>
          </p:nvGraphicFramePr>
          <p:xfrm>
            <a:off x="1968" y="2496"/>
            <a:ext cx="488" cy="216"/>
          </p:xfrm>
          <a:graphic>
            <a:graphicData uri="http://schemas.openxmlformats.org/presentationml/2006/ole">
              <mc:AlternateContent xmlns:mc="http://schemas.openxmlformats.org/markup-compatibility/2006">
                <mc:Choice xmlns:v="urn:schemas-microsoft-com:vml" Requires="v">
                  <p:oleObj spid="_x0000_s13497" name="Equation" r:id="rId9" imgW="761991" imgH="327672" progId="Equation.DSMT4">
                    <p:embed/>
                  </p:oleObj>
                </mc:Choice>
                <mc:Fallback>
                  <p:oleObj name="Equation" r:id="rId9" imgW="761991" imgH="327672" progId="Equation.DSMT4">
                    <p:embed/>
                    <p:pic>
                      <p:nvPicPr>
                        <p:cNvPr id="0" name="Object 5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8" y="2496"/>
                          <a:ext cx="488"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9" name="Object 52"/>
            <p:cNvGraphicFramePr>
              <a:graphicFrameLocks noChangeAspect="1"/>
            </p:cNvGraphicFramePr>
            <p:nvPr/>
          </p:nvGraphicFramePr>
          <p:xfrm>
            <a:off x="2688" y="2832"/>
            <a:ext cx="488" cy="320"/>
          </p:xfrm>
          <a:graphic>
            <a:graphicData uri="http://schemas.openxmlformats.org/presentationml/2006/ole">
              <mc:AlternateContent xmlns:mc="http://schemas.openxmlformats.org/markup-compatibility/2006">
                <mc:Choice xmlns:v="urn:schemas-microsoft-com:vml" Requires="v">
                  <p:oleObj spid="_x0000_s13498" name="Equation" r:id="rId11" imgW="761991" imgH="495288" progId="Equation.DSMT4">
                    <p:embed/>
                  </p:oleObj>
                </mc:Choice>
                <mc:Fallback>
                  <p:oleObj name="Equation" r:id="rId11" imgW="761991" imgH="495288" progId="Equation.DSMT4">
                    <p:embed/>
                    <p:pic>
                      <p:nvPicPr>
                        <p:cNvPr id="0" name="Object 5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88" y="2832"/>
                          <a:ext cx="488" cy="32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40" name="Object 53"/>
            <p:cNvGraphicFramePr>
              <a:graphicFrameLocks noChangeAspect="1"/>
            </p:cNvGraphicFramePr>
            <p:nvPr/>
          </p:nvGraphicFramePr>
          <p:xfrm>
            <a:off x="3600" y="2352"/>
            <a:ext cx="720" cy="312"/>
          </p:xfrm>
          <a:graphic>
            <a:graphicData uri="http://schemas.openxmlformats.org/presentationml/2006/ole">
              <mc:AlternateContent xmlns:mc="http://schemas.openxmlformats.org/markup-compatibility/2006">
                <mc:Choice xmlns:v="urn:schemas-microsoft-com:vml" Requires="v">
                  <p:oleObj spid="_x0000_s13499" name="Equation" r:id="rId13" imgW="1127859" imgH="480168" progId="Equation.DSMT4">
                    <p:embed/>
                  </p:oleObj>
                </mc:Choice>
                <mc:Fallback>
                  <p:oleObj name="Equation" r:id="rId13" imgW="1127859" imgH="480168" progId="Equation.DSMT4">
                    <p:embed/>
                    <p:pic>
                      <p:nvPicPr>
                        <p:cNvPr id="0" name="Object 5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00" y="2352"/>
                          <a:ext cx="720"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B1E4E0F-F37D-4D5C-B938-318153AFB7FE}" type="slidenum">
              <a:rPr lang="en-US" altLang="zh-CN" smtClean="0">
                <a:solidFill>
                  <a:srgbClr val="FFFFFF"/>
                </a:solidFill>
              </a:rPr>
              <a:pPr eaLnBrk="1" hangingPunct="1"/>
              <a:t>12</a:t>
            </a:fld>
            <a:endParaRPr lang="en-US" altLang="zh-CN" smtClean="0">
              <a:solidFill>
                <a:srgbClr val="FFFFFF"/>
              </a:solidFill>
            </a:endParaRPr>
          </a:p>
        </p:txBody>
      </p:sp>
      <p:sp>
        <p:nvSpPr>
          <p:cNvPr id="352258" name="Rectangle 2"/>
          <p:cNvSpPr>
            <a:spLocks noGrp="1" noChangeArrowheads="1"/>
          </p:cNvSpPr>
          <p:nvPr>
            <p:ph type="title"/>
          </p:nvPr>
        </p:nvSpPr>
        <p:spPr/>
        <p:txBody>
          <a:bodyPr/>
          <a:lstStyle/>
          <a:p>
            <a:pPr eaLnBrk="1" hangingPunct="1">
              <a:defRPr/>
            </a:pPr>
            <a:r>
              <a:rPr lang="zh-CN" altLang="en-US" smtClean="0"/>
              <a:t>回归模型建立的步骤 </a:t>
            </a:r>
          </a:p>
        </p:txBody>
      </p:sp>
      <p:sp>
        <p:nvSpPr>
          <p:cNvPr id="352259" name="Rectangle 3"/>
          <p:cNvSpPr>
            <a:spLocks noGrp="1" noChangeArrowheads="1"/>
          </p:cNvSpPr>
          <p:nvPr>
            <p:ph type="body" idx="1"/>
          </p:nvPr>
        </p:nvSpPr>
        <p:spPr>
          <a:xfrm>
            <a:off x="457200" y="1600200"/>
            <a:ext cx="8229600" cy="4852988"/>
          </a:xfrm>
        </p:spPr>
        <p:txBody>
          <a:bodyPr/>
          <a:lstStyle/>
          <a:p>
            <a:pPr eaLnBrk="1" hangingPunct="1">
              <a:defRPr/>
            </a:pPr>
            <a:r>
              <a:rPr kumimoji="1" lang="zh-CN" altLang="en-US" b="1" dirty="0" smtClean="0">
                <a:effectLst>
                  <a:outerShdw blurRad="38100" dist="38100" dir="2700000" algn="tl">
                    <a:srgbClr val="C0C0C0"/>
                  </a:outerShdw>
                </a:effectLst>
              </a:rPr>
              <a:t>获取自变量和因变量的观测值； </a:t>
            </a:r>
          </a:p>
          <a:p>
            <a:pPr eaLnBrk="1" hangingPunct="1">
              <a:defRPr/>
            </a:pPr>
            <a:r>
              <a:rPr kumimoji="1" lang="zh-CN" altLang="en-US" b="1" dirty="0" smtClean="0">
                <a:effectLst>
                  <a:outerShdw blurRad="38100" dist="38100" dir="2700000" algn="tl">
                    <a:srgbClr val="C0C0C0"/>
                  </a:outerShdw>
                </a:effectLst>
              </a:rPr>
              <a:t>绘制</a:t>
            </a:r>
            <a:r>
              <a:rPr kumimoji="1" lang="en-US" altLang="zh-CN" b="1" dirty="0" smtClean="0">
                <a:effectLst>
                  <a:outerShdw blurRad="38100" dist="38100" dir="2700000" algn="tl">
                    <a:srgbClr val="C0C0C0"/>
                  </a:outerShdw>
                </a:effectLst>
              </a:rPr>
              <a:t>XY</a:t>
            </a:r>
            <a:r>
              <a:rPr kumimoji="1" lang="zh-CN" altLang="en-US" b="1" dirty="0" smtClean="0">
                <a:effectLst>
                  <a:outerShdw blurRad="38100" dist="38100" dir="2700000" algn="tl">
                    <a:srgbClr val="C0C0C0"/>
                  </a:outerShdw>
                </a:effectLst>
              </a:rPr>
              <a:t>散点图，观察自变量和因变量之间是否存在线性关系； </a:t>
            </a:r>
          </a:p>
          <a:p>
            <a:pPr eaLnBrk="1" hangingPunct="1">
              <a:defRPr/>
            </a:pPr>
            <a:r>
              <a:rPr kumimoji="1" lang="zh-CN" altLang="en-US" b="1" dirty="0" smtClean="0">
                <a:effectLst>
                  <a:outerShdw blurRad="38100" dist="38100" dir="2700000" algn="tl">
                    <a:srgbClr val="C0C0C0"/>
                  </a:outerShdw>
                </a:effectLst>
              </a:rPr>
              <a:t>写出带未知参数的回归方程； </a:t>
            </a:r>
          </a:p>
          <a:p>
            <a:pPr lvl="1" eaLnBrk="1" hangingPunct="1">
              <a:defRPr/>
            </a:pPr>
            <a:r>
              <a:rPr kumimoji="1" lang="zh-CN" altLang="en-US" b="1" dirty="0" smtClean="0">
                <a:effectLst>
                  <a:outerShdw blurRad="38100" dist="38100" dir="2700000" algn="tl">
                    <a:srgbClr val="C0C0C0"/>
                  </a:outerShdw>
                </a:effectLst>
              </a:rPr>
              <a:t>工具</a:t>
            </a:r>
            <a:r>
              <a:rPr kumimoji="1" lang="en-US" altLang="zh-CN" b="1" dirty="0" smtClean="0">
                <a:effectLst>
                  <a:outerShdw blurRad="38100" dist="38100" dir="2700000" algn="tl">
                    <a:srgbClr val="C0C0C0"/>
                  </a:outerShdw>
                </a:effectLst>
              </a:rPr>
              <a:t>-</a:t>
            </a:r>
            <a:r>
              <a:rPr kumimoji="1" lang="zh-CN" altLang="en-US" b="1" dirty="0" smtClean="0">
                <a:effectLst>
                  <a:outerShdw blurRad="38100" dist="38100" dir="2700000" algn="tl">
                    <a:srgbClr val="C0C0C0"/>
                  </a:outerShdw>
                </a:effectLst>
              </a:rPr>
              <a:t>数据分析</a:t>
            </a:r>
            <a:r>
              <a:rPr kumimoji="1" lang="en-US" altLang="zh-CN" b="1" dirty="0" smtClean="0">
                <a:effectLst>
                  <a:outerShdw blurRad="38100" dist="38100" dir="2700000" algn="tl">
                    <a:srgbClr val="C0C0C0"/>
                  </a:outerShdw>
                </a:effectLst>
              </a:rPr>
              <a:t>-</a:t>
            </a:r>
            <a:r>
              <a:rPr kumimoji="1" lang="zh-CN" altLang="en-US" b="1" dirty="0" smtClean="0">
                <a:effectLst>
                  <a:outerShdw blurRad="38100" dist="38100" dir="2700000" algn="tl">
                    <a:srgbClr val="C0C0C0"/>
                  </a:outerShdw>
                </a:effectLst>
              </a:rPr>
              <a:t>回归。</a:t>
            </a:r>
          </a:p>
          <a:p>
            <a:pPr eaLnBrk="1" hangingPunct="1">
              <a:defRPr/>
            </a:pPr>
            <a:r>
              <a:rPr kumimoji="1" lang="zh-CN" altLang="en-US" b="1" dirty="0" smtClean="0">
                <a:effectLst>
                  <a:outerShdw blurRad="38100" dist="38100" dir="2700000" algn="tl">
                    <a:srgbClr val="C0C0C0"/>
                  </a:outerShdw>
                </a:effectLst>
              </a:rPr>
              <a:t>回归方程检验； </a:t>
            </a:r>
          </a:p>
          <a:p>
            <a:pPr lvl="1" eaLnBrk="1" hangingPunct="1">
              <a:defRPr/>
            </a:pPr>
            <a:r>
              <a:rPr kumimoji="1" lang="en-US" altLang="zh-CN" b="1" dirty="0" smtClean="0">
                <a:effectLst>
                  <a:outerShdw blurRad="38100" dist="38100" dir="2700000" algn="tl">
                    <a:srgbClr val="C0C0C0"/>
                  </a:outerShdw>
                </a:effectLst>
              </a:rPr>
              <a:t>R</a:t>
            </a:r>
            <a:r>
              <a:rPr kumimoji="1" lang="en-US" altLang="zh-CN" b="1" baseline="30000" dirty="0" smtClean="0">
                <a:effectLst>
                  <a:outerShdw blurRad="38100" dist="38100" dir="2700000" algn="tl">
                    <a:srgbClr val="C0C0C0"/>
                  </a:outerShdw>
                </a:effectLst>
              </a:rPr>
              <a:t>2</a:t>
            </a:r>
            <a:r>
              <a:rPr kumimoji="1" lang="zh-CN" altLang="en-US" b="1" dirty="0" smtClean="0">
                <a:effectLst>
                  <a:outerShdw blurRad="38100" dist="38100" dir="2700000" algn="tl">
                    <a:srgbClr val="C0C0C0"/>
                  </a:outerShdw>
                </a:effectLst>
              </a:rPr>
              <a:t>判断回归方程的拟合优度；</a:t>
            </a:r>
          </a:p>
          <a:p>
            <a:pPr lvl="1" eaLnBrk="1" hangingPunct="1">
              <a:defRPr/>
            </a:pPr>
            <a:r>
              <a:rPr kumimoji="1" lang="en-US" altLang="zh-CN" b="1" dirty="0" smtClean="0">
                <a:effectLst>
                  <a:outerShdw blurRad="38100" dist="38100" dir="2700000" algn="tl">
                    <a:srgbClr val="C0C0C0"/>
                  </a:outerShdw>
                </a:effectLst>
              </a:rPr>
              <a:t>t </a:t>
            </a:r>
            <a:r>
              <a:rPr kumimoji="1" lang="zh-CN" altLang="en-US" b="1" dirty="0" smtClean="0">
                <a:effectLst>
                  <a:outerShdw blurRad="38100" dist="38100" dir="2700000" algn="tl">
                    <a:srgbClr val="C0C0C0"/>
                  </a:outerShdw>
                </a:effectLst>
              </a:rPr>
              <a:t>统计量及相伴概率值，自变量与因变量之间的关系；</a:t>
            </a:r>
          </a:p>
          <a:p>
            <a:pPr lvl="1" eaLnBrk="1" hangingPunct="1">
              <a:defRPr/>
            </a:pPr>
            <a:r>
              <a:rPr kumimoji="1" lang="en-US" altLang="zh-CN" b="1" dirty="0" smtClean="0">
                <a:effectLst>
                  <a:outerShdw blurRad="38100" dist="38100" dir="2700000" algn="tl">
                    <a:srgbClr val="C0C0C0"/>
                  </a:outerShdw>
                </a:effectLst>
              </a:rPr>
              <a:t>F</a:t>
            </a:r>
            <a:r>
              <a:rPr kumimoji="1" lang="zh-CN" altLang="en-US" b="1" dirty="0" smtClean="0">
                <a:effectLst>
                  <a:outerShdw blurRad="38100" dist="38100" dir="2700000" algn="tl">
                    <a:srgbClr val="C0C0C0"/>
                  </a:outerShdw>
                </a:effectLst>
              </a:rPr>
              <a:t>统计量及相伴概率值，判断方程的回归效果显著性。</a:t>
            </a:r>
          </a:p>
          <a:p>
            <a:pPr eaLnBrk="1" hangingPunct="1">
              <a:defRPr/>
            </a:pPr>
            <a:r>
              <a:rPr kumimoji="1" lang="zh-CN" altLang="en-US" b="1" dirty="0" smtClean="0">
                <a:effectLst>
                  <a:outerShdw blurRad="38100" dist="38100" dir="2700000" algn="tl">
                    <a:srgbClr val="C0C0C0"/>
                  </a:outerShdw>
                </a:effectLst>
              </a:rPr>
              <a:t>进行预测。</a:t>
            </a:r>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994FBFB-9B83-4983-9799-4D5E6C27784F}" type="slidenum">
              <a:rPr lang="en-US" altLang="zh-CN" smtClean="0">
                <a:solidFill>
                  <a:srgbClr val="FFFFFF"/>
                </a:solidFill>
              </a:rPr>
              <a:pPr eaLnBrk="1" hangingPunct="1"/>
              <a:t>13</a:t>
            </a:fld>
            <a:endParaRPr lang="en-US" altLang="zh-CN" smtClean="0">
              <a:solidFill>
                <a:srgbClr val="FFFFFF"/>
              </a:solidFill>
            </a:endParaRPr>
          </a:p>
        </p:txBody>
      </p:sp>
      <p:sp>
        <p:nvSpPr>
          <p:cNvPr id="351234" name="Rectangle 2"/>
          <p:cNvSpPr>
            <a:spLocks noGrp="1" noChangeArrowheads="1"/>
          </p:cNvSpPr>
          <p:nvPr>
            <p:ph type="title"/>
          </p:nvPr>
        </p:nvSpPr>
        <p:spPr/>
        <p:txBody>
          <a:bodyPr/>
          <a:lstStyle/>
          <a:p>
            <a:pPr eaLnBrk="1" hangingPunct="1">
              <a:defRPr/>
            </a:pPr>
            <a:r>
              <a:rPr lang="zh-CN" altLang="en-US" smtClean="0"/>
              <a:t>回归模型的检验 </a:t>
            </a:r>
          </a:p>
        </p:txBody>
      </p:sp>
      <p:sp>
        <p:nvSpPr>
          <p:cNvPr id="351235" name="Rectangle 3"/>
          <p:cNvSpPr>
            <a:spLocks noGrp="1" noChangeArrowheads="1"/>
          </p:cNvSpPr>
          <p:nvPr>
            <p:ph type="body" idx="1"/>
          </p:nvPr>
        </p:nvSpPr>
        <p:spPr/>
        <p:txBody>
          <a:bodyPr/>
          <a:lstStyle/>
          <a:p>
            <a:pPr eaLnBrk="1" hangingPunct="1">
              <a:defRPr/>
            </a:pPr>
            <a:r>
              <a:rPr kumimoji="1" lang="zh-CN" altLang="en-US" sz="2400" b="1" smtClean="0">
                <a:effectLst>
                  <a:outerShdw blurRad="38100" dist="38100" dir="2700000" algn="tl">
                    <a:srgbClr val="C0C0C0"/>
                  </a:outerShdw>
                </a:effectLst>
              </a:rPr>
              <a:t>判定系数 </a:t>
            </a:r>
            <a:r>
              <a:rPr kumimoji="1" lang="en-US" altLang="zh-CN" sz="2400" b="1" smtClean="0">
                <a:effectLst>
                  <a:outerShdw blurRad="38100" dist="38100" dir="2700000" algn="tl">
                    <a:srgbClr val="C0C0C0"/>
                  </a:outerShdw>
                </a:effectLst>
              </a:rPr>
              <a:t>R</a:t>
            </a:r>
            <a:r>
              <a:rPr kumimoji="1" lang="en-US" altLang="zh-CN" sz="2400" b="1" baseline="30000" smtClean="0">
                <a:effectLst>
                  <a:outerShdw blurRad="38100" dist="38100" dir="2700000" algn="tl">
                    <a:srgbClr val="C0C0C0"/>
                  </a:outerShdw>
                </a:effectLst>
              </a:rPr>
              <a:t>2</a:t>
            </a:r>
          </a:p>
          <a:p>
            <a:pPr lvl="1" eaLnBrk="1" hangingPunct="1">
              <a:defRPr/>
            </a:pPr>
            <a:r>
              <a:rPr kumimoji="1" lang="zh-CN" altLang="en-US" sz="2000" b="1" smtClean="0">
                <a:effectLst>
                  <a:outerShdw blurRad="38100" dist="38100" dir="2700000" algn="tl">
                    <a:srgbClr val="C0C0C0"/>
                  </a:outerShdw>
                </a:effectLst>
              </a:rPr>
              <a:t>用来判断回归方程的拟合优度。 通常可以认为当</a:t>
            </a:r>
            <a:r>
              <a:rPr kumimoji="1" lang="en-US" altLang="zh-CN" sz="2000" b="1" smtClean="0">
                <a:effectLst>
                  <a:outerShdw blurRad="38100" dist="38100" dir="2700000" algn="tl">
                    <a:srgbClr val="C0C0C0"/>
                  </a:outerShdw>
                </a:effectLst>
              </a:rPr>
              <a:t>R</a:t>
            </a:r>
            <a:r>
              <a:rPr kumimoji="1" lang="en-US" altLang="zh-CN" sz="2000" b="1" baseline="30000" smtClean="0">
                <a:effectLst>
                  <a:outerShdw blurRad="38100" dist="38100" dir="2700000" algn="tl">
                    <a:srgbClr val="C0C0C0"/>
                  </a:outerShdw>
                </a:effectLst>
              </a:rPr>
              <a:t>2</a:t>
            </a:r>
            <a:r>
              <a:rPr kumimoji="1" lang="zh-CN" altLang="en-US" sz="2000" b="1" smtClean="0">
                <a:effectLst>
                  <a:outerShdw blurRad="38100" dist="38100" dir="2700000" algn="tl">
                    <a:srgbClr val="C0C0C0"/>
                  </a:outerShdw>
                </a:effectLst>
              </a:rPr>
              <a:t>大于</a:t>
            </a:r>
            <a:r>
              <a:rPr kumimoji="1" lang="en-US" altLang="zh-CN" sz="2000" b="1" smtClean="0">
                <a:effectLst>
                  <a:outerShdw blurRad="38100" dist="38100" dir="2700000" algn="tl">
                    <a:srgbClr val="C0C0C0"/>
                  </a:outerShdw>
                </a:effectLst>
              </a:rPr>
              <a:t>0.9</a:t>
            </a:r>
            <a:r>
              <a:rPr kumimoji="1" lang="zh-CN" altLang="en-US" sz="2000" b="1" smtClean="0">
                <a:effectLst>
                  <a:outerShdw blurRad="38100" dist="38100" dir="2700000" algn="tl">
                    <a:srgbClr val="C0C0C0"/>
                  </a:outerShdw>
                </a:effectLst>
              </a:rPr>
              <a:t>时，所得到的回归直线拟合得较好，而当</a:t>
            </a:r>
            <a:r>
              <a:rPr kumimoji="1" lang="en-US" altLang="zh-CN" sz="2000" b="1" smtClean="0">
                <a:effectLst>
                  <a:outerShdw blurRad="38100" dist="38100" dir="2700000" algn="tl">
                    <a:srgbClr val="C0C0C0"/>
                  </a:outerShdw>
                </a:effectLst>
              </a:rPr>
              <a:t>R</a:t>
            </a:r>
            <a:r>
              <a:rPr kumimoji="1" lang="en-US" altLang="zh-CN" sz="2000" b="1" baseline="30000" smtClean="0">
                <a:effectLst>
                  <a:outerShdw blurRad="38100" dist="38100" dir="2700000" algn="tl">
                    <a:srgbClr val="C0C0C0"/>
                  </a:outerShdw>
                </a:effectLst>
              </a:rPr>
              <a:t>2</a:t>
            </a:r>
            <a:r>
              <a:rPr kumimoji="1" lang="zh-CN" altLang="en-US" sz="2000" b="1" smtClean="0">
                <a:effectLst>
                  <a:outerShdw blurRad="38100" dist="38100" dir="2700000" algn="tl">
                    <a:srgbClr val="C0C0C0"/>
                  </a:outerShdw>
                </a:effectLst>
              </a:rPr>
              <a:t>小于</a:t>
            </a:r>
            <a:r>
              <a:rPr kumimoji="1" lang="en-US" altLang="zh-CN" sz="2000" b="1" smtClean="0">
                <a:effectLst>
                  <a:outerShdw blurRad="38100" dist="38100" dir="2700000" algn="tl">
                    <a:srgbClr val="C0C0C0"/>
                  </a:outerShdw>
                </a:effectLst>
              </a:rPr>
              <a:t>0.5</a:t>
            </a:r>
            <a:r>
              <a:rPr kumimoji="1" lang="zh-CN" altLang="en-US" sz="2000" b="1" smtClean="0">
                <a:effectLst>
                  <a:outerShdw blurRad="38100" dist="38100" dir="2700000" algn="tl">
                    <a:srgbClr val="C0C0C0"/>
                  </a:outerShdw>
                </a:effectLst>
              </a:rPr>
              <a:t>时，所得到的回归直线很难说明变量之间的依赖关系。 </a:t>
            </a:r>
            <a:endParaRPr kumimoji="1" lang="zh-CN" altLang="en-US" sz="2000" smtClean="0">
              <a:effectLst>
                <a:outerShdw blurRad="38100" dist="38100" dir="2700000" algn="tl">
                  <a:srgbClr val="C0C0C0"/>
                </a:outerShdw>
              </a:effectLst>
            </a:endParaRPr>
          </a:p>
          <a:p>
            <a:pPr eaLnBrk="1" hangingPunct="1">
              <a:defRPr/>
            </a:pPr>
            <a:r>
              <a:rPr kumimoji="1" lang="en-US" altLang="zh-CN" sz="2400" b="1" smtClean="0">
                <a:effectLst>
                  <a:outerShdw blurRad="38100" dist="38100" dir="2700000" algn="tl">
                    <a:srgbClr val="C0C0C0"/>
                  </a:outerShdw>
                </a:effectLst>
              </a:rPr>
              <a:t>t </a:t>
            </a:r>
            <a:r>
              <a:rPr kumimoji="1" lang="zh-CN" altLang="en-US" sz="2400" b="1" smtClean="0">
                <a:effectLst>
                  <a:outerShdw blurRad="38100" dist="38100" dir="2700000" algn="tl">
                    <a:srgbClr val="C0C0C0"/>
                  </a:outerShdw>
                </a:effectLst>
              </a:rPr>
              <a:t>统计量 </a:t>
            </a:r>
          </a:p>
          <a:p>
            <a:pPr lvl="1" eaLnBrk="1" hangingPunct="1">
              <a:defRPr/>
            </a:pPr>
            <a:r>
              <a:rPr kumimoji="1" lang="zh-CN" altLang="en-US" sz="2000" b="1" smtClean="0">
                <a:effectLst>
                  <a:outerShdw blurRad="38100" dist="38100" dir="2700000" algn="tl">
                    <a:srgbClr val="C0C0C0"/>
                  </a:outerShdw>
                </a:effectLst>
              </a:rPr>
              <a:t>如果对于某个自变量，其</a:t>
            </a:r>
            <a:r>
              <a:rPr kumimoji="1" lang="en-US" altLang="zh-CN" sz="2000" b="1" smtClean="0">
                <a:effectLst>
                  <a:outerShdw blurRad="38100" dist="38100" dir="2700000" algn="tl">
                    <a:srgbClr val="C0C0C0"/>
                  </a:outerShdw>
                </a:effectLst>
              </a:rPr>
              <a:t>t</a:t>
            </a:r>
            <a:r>
              <a:rPr kumimoji="1" lang="zh-CN" altLang="en-US" sz="2000" b="1" smtClean="0">
                <a:effectLst>
                  <a:outerShdw blurRad="38100" dist="38100" dir="2700000" algn="tl">
                    <a:srgbClr val="C0C0C0"/>
                  </a:outerShdw>
                </a:effectLst>
              </a:rPr>
              <a:t>统计量的</a:t>
            </a:r>
            <a:r>
              <a:rPr kumimoji="1" lang="en-US" altLang="zh-CN" sz="2000" b="1" smtClean="0">
                <a:effectLst>
                  <a:outerShdw blurRad="38100" dist="38100" dir="2700000" algn="tl">
                    <a:srgbClr val="C0C0C0"/>
                  </a:outerShdw>
                </a:effectLst>
              </a:rPr>
              <a:t>P</a:t>
            </a:r>
            <a:r>
              <a:rPr kumimoji="1" lang="zh-CN" altLang="en-US" sz="2000" b="1" smtClean="0">
                <a:effectLst>
                  <a:outerShdw blurRad="38100" dist="38100" dir="2700000" algn="tl">
                    <a:srgbClr val="C0C0C0"/>
                  </a:outerShdw>
                </a:effectLst>
              </a:rPr>
              <a:t>值小于显著水平（或称置信度、置信水平），则可认为该自变量与因变量是相关的。 </a:t>
            </a:r>
            <a:endParaRPr kumimoji="1" lang="zh-CN" altLang="en-US" sz="2000" smtClean="0">
              <a:effectLst>
                <a:outerShdw blurRad="38100" dist="38100" dir="2700000" algn="tl">
                  <a:srgbClr val="C0C0C0"/>
                </a:outerShdw>
              </a:effectLst>
            </a:endParaRPr>
          </a:p>
          <a:p>
            <a:pPr eaLnBrk="1" hangingPunct="1">
              <a:defRPr/>
            </a:pPr>
            <a:r>
              <a:rPr kumimoji="1" lang="en-US" altLang="zh-CN" sz="2400" b="1" smtClean="0">
                <a:effectLst>
                  <a:outerShdw blurRad="38100" dist="38100" dir="2700000" algn="tl">
                    <a:srgbClr val="C0C0C0"/>
                  </a:outerShdw>
                </a:effectLst>
              </a:rPr>
              <a:t>F </a:t>
            </a:r>
            <a:r>
              <a:rPr kumimoji="1" lang="zh-CN" altLang="en-US" sz="2400" b="1" smtClean="0">
                <a:effectLst>
                  <a:outerShdw blurRad="38100" dist="38100" dir="2700000" algn="tl">
                    <a:srgbClr val="C0C0C0"/>
                  </a:outerShdw>
                </a:effectLst>
              </a:rPr>
              <a:t>统计量 </a:t>
            </a:r>
          </a:p>
          <a:p>
            <a:pPr lvl="1" eaLnBrk="1" hangingPunct="1">
              <a:defRPr/>
            </a:pPr>
            <a:r>
              <a:rPr kumimoji="1" lang="zh-CN" altLang="en-US" sz="2000" b="1" smtClean="0">
                <a:effectLst>
                  <a:outerShdw blurRad="38100" dist="38100" dir="2700000" algn="tl">
                    <a:srgbClr val="C0C0C0"/>
                  </a:outerShdw>
                </a:effectLst>
              </a:rPr>
              <a:t>如果</a:t>
            </a:r>
            <a:r>
              <a:rPr kumimoji="1" lang="en-US" altLang="zh-CN" sz="2000" b="1" smtClean="0">
                <a:effectLst>
                  <a:outerShdw blurRad="38100" dist="38100" dir="2700000" algn="tl">
                    <a:srgbClr val="C0C0C0"/>
                  </a:outerShdw>
                </a:effectLst>
              </a:rPr>
              <a:t>F</a:t>
            </a:r>
            <a:r>
              <a:rPr kumimoji="1" lang="zh-CN" altLang="en-US" sz="2000" b="1" smtClean="0">
                <a:effectLst>
                  <a:outerShdw blurRad="38100" dist="38100" dir="2700000" algn="tl">
                    <a:srgbClr val="C0C0C0"/>
                  </a:outerShdw>
                </a:effectLst>
              </a:rPr>
              <a:t>统计量的</a:t>
            </a:r>
            <a:r>
              <a:rPr kumimoji="1" lang="en-US" altLang="zh-CN" sz="2000" b="1" smtClean="0">
                <a:effectLst>
                  <a:outerShdw blurRad="38100" dist="38100" dir="2700000" algn="tl">
                    <a:srgbClr val="C0C0C0"/>
                  </a:outerShdw>
                </a:effectLst>
              </a:rPr>
              <a:t>P</a:t>
            </a:r>
            <a:r>
              <a:rPr kumimoji="1" lang="zh-CN" altLang="en-US" sz="2000" b="1" smtClean="0">
                <a:effectLst>
                  <a:outerShdw blurRad="38100" dist="38100" dir="2700000" algn="tl">
                    <a:srgbClr val="C0C0C0"/>
                  </a:outerShdw>
                </a:effectLst>
              </a:rPr>
              <a:t>值小于显著水平（或称置信度、置信水平），则可认为方程的回归效果显著。</a:t>
            </a:r>
            <a:r>
              <a:rPr kumimoji="1" lang="zh-CN" altLang="en-US" smtClean="0"/>
              <a:t> </a:t>
            </a:r>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A441536-FADF-4812-B383-3CF149A90BFF}" type="slidenum">
              <a:rPr lang="en-US" altLang="zh-CN" smtClean="0">
                <a:solidFill>
                  <a:srgbClr val="FFFFFF"/>
                </a:solidFill>
              </a:rPr>
              <a:pPr eaLnBrk="1" hangingPunct="1"/>
              <a:t>14</a:t>
            </a:fld>
            <a:endParaRPr lang="en-US" altLang="zh-CN" smtClean="0">
              <a:solidFill>
                <a:srgbClr val="FFFFFF"/>
              </a:solidFill>
            </a:endParaRPr>
          </a:p>
        </p:txBody>
      </p:sp>
      <p:sp>
        <p:nvSpPr>
          <p:cNvPr id="303116" name="Rectangle 12"/>
          <p:cNvSpPr>
            <a:spLocks noGrp="1" noChangeArrowheads="1"/>
          </p:cNvSpPr>
          <p:nvPr>
            <p:ph type="title"/>
          </p:nvPr>
        </p:nvSpPr>
        <p:spPr/>
        <p:txBody>
          <a:bodyPr/>
          <a:lstStyle/>
          <a:p>
            <a:pPr eaLnBrk="1" hangingPunct="1"/>
            <a:r>
              <a:rPr lang="zh-CN" altLang="en-US" smtClean="0"/>
              <a:t>示例</a:t>
            </a:r>
            <a:r>
              <a:rPr lang="en-US" altLang="zh-CN" smtClean="0"/>
              <a:t>2-</a:t>
            </a:r>
            <a:r>
              <a:rPr lang="zh-CN" altLang="en-US" smtClean="0"/>
              <a:t>一元回归分析示例</a:t>
            </a:r>
          </a:p>
        </p:txBody>
      </p:sp>
      <mc:AlternateContent xmlns:mc="http://schemas.openxmlformats.org/markup-compatibility/2006">
        <mc:Choice xmlns:a14="http://schemas.microsoft.com/office/drawing/2010/main" Requires="a14">
          <p:sp>
            <p:nvSpPr>
              <p:cNvPr id="16388" name="Rectangle 13"/>
              <p:cNvSpPr>
                <a:spLocks noGrp="1" noChangeArrowheads="1"/>
              </p:cNvSpPr>
              <p:nvPr>
                <p:ph type="body" idx="1"/>
              </p:nvPr>
            </p:nvSpPr>
            <p:spPr>
              <a:xfrm>
                <a:off x="457200" y="1600200"/>
                <a:ext cx="8229600" cy="2980928"/>
              </a:xfrm>
            </p:spPr>
            <p:txBody>
              <a:bodyPr/>
              <a:lstStyle/>
              <a:p>
                <a:pPr eaLnBrk="1" hangingPunct="1"/>
                <a:r>
                  <a:rPr lang="zh-CN" altLang="en-US" dirty="0" smtClean="0"/>
                  <a:t>示例</a:t>
                </a:r>
                <a:r>
                  <a:rPr lang="en-US" altLang="zh-CN" dirty="0" smtClean="0"/>
                  <a:t>2</a:t>
                </a:r>
                <a:r>
                  <a:rPr lang="zh-CN" altLang="en-US" dirty="0" smtClean="0"/>
                  <a:t>的</a:t>
                </a:r>
                <a:r>
                  <a:rPr lang="en-US" altLang="zh-CN" dirty="0" smtClean="0"/>
                  <a:t>excel</a:t>
                </a:r>
                <a:r>
                  <a:rPr lang="zh-CN" altLang="en-US" dirty="0" smtClean="0"/>
                  <a:t>表中给出了</a:t>
                </a:r>
                <a:r>
                  <a:rPr lang="en-US" altLang="zh-CN" dirty="0" smtClean="0"/>
                  <a:t>1978-2007</a:t>
                </a:r>
                <a:r>
                  <a:rPr lang="zh-CN" altLang="en-US" dirty="0" smtClean="0"/>
                  <a:t>年间消费价格指数（</a:t>
                </a:r>
                <a:r>
                  <a:rPr lang="en-US" altLang="zh-CN" dirty="0" smtClean="0"/>
                  <a:t>CPI</a:t>
                </a:r>
                <a:r>
                  <a:rPr lang="zh-CN" altLang="en-US" dirty="0" smtClean="0"/>
                  <a:t>）及标准普尔</a:t>
                </a:r>
                <a:r>
                  <a:rPr lang="en-US" altLang="zh-CN" dirty="0" smtClean="0"/>
                  <a:t>500</a:t>
                </a:r>
                <a:r>
                  <a:rPr lang="zh-CN" altLang="en-US" dirty="0" smtClean="0"/>
                  <a:t>指数（</a:t>
                </a:r>
                <a:r>
                  <a:rPr lang="en-US" altLang="zh-CN" dirty="0" smtClean="0"/>
                  <a:t>S&amp;P</a:t>
                </a:r>
                <a:r>
                  <a:rPr lang="zh-CN" altLang="en-US" dirty="0" smtClean="0"/>
                  <a:t>）数据。</a:t>
                </a:r>
                <a:endParaRPr lang="en-US" altLang="zh-CN" dirty="0" smtClean="0"/>
              </a:p>
              <a:p>
                <a:pPr lvl="1" eaLnBrk="1" hangingPunct="1"/>
                <a:r>
                  <a:rPr lang="zh-CN" altLang="en-US" dirty="0" smtClean="0"/>
                  <a:t>以</a:t>
                </a:r>
                <a:r>
                  <a:rPr lang="en-US" altLang="zh-CN" dirty="0" smtClean="0"/>
                  <a:t>CPI</a:t>
                </a:r>
                <a:r>
                  <a:rPr lang="zh-CN" altLang="en-US" dirty="0" smtClean="0"/>
                  <a:t>为横轴，</a:t>
                </a:r>
                <a:r>
                  <a:rPr lang="en-US" altLang="zh-CN" dirty="0" smtClean="0"/>
                  <a:t>S&amp;P500</a:t>
                </a:r>
                <a:r>
                  <a:rPr lang="zh-CN" altLang="en-US" dirty="0" smtClean="0"/>
                  <a:t>为纵轴做散点图</a:t>
                </a:r>
                <a:endParaRPr lang="en-US" altLang="zh-CN" dirty="0" smtClean="0"/>
              </a:p>
              <a:p>
                <a:pPr lvl="1" eaLnBrk="1" hangingPunct="1"/>
                <a:r>
                  <a:rPr lang="zh-CN" altLang="en-US" dirty="0" smtClean="0"/>
                  <a:t>构建回归模型</a:t>
                </a:r>
                <a14:m>
                  <m:oMath xmlns:m="http://schemas.openxmlformats.org/officeDocument/2006/math">
                    <m:sSub>
                      <m:sSubPr>
                        <m:ctrlPr>
                          <a:rPr lang="zh-CN" altLang="zh-CN" i="1"/>
                        </m:ctrlPr>
                      </m:sSubPr>
                      <m:e>
                        <m:d>
                          <m:dPr>
                            <m:begChr m:val="（"/>
                            <m:endChr m:val="）"/>
                            <m:ctrlPr>
                              <a:rPr lang="zh-CN" altLang="zh-CN" i="1"/>
                            </m:ctrlPr>
                          </m:dPr>
                          <m:e>
                            <m:r>
                              <m:rPr>
                                <m:sty m:val="p"/>
                              </m:rPr>
                              <a:rPr lang="en-US" altLang="zh-CN"/>
                              <m:t>C</m:t>
                            </m:r>
                            <m:r>
                              <a:rPr lang="en-US" altLang="zh-CN" i="1"/>
                              <m:t>&amp;</m:t>
                            </m:r>
                            <m:r>
                              <m:rPr>
                                <m:sty m:val="p"/>
                              </m:rPr>
                              <a:rPr lang="en-US" altLang="zh-CN"/>
                              <m:t>P</m:t>
                            </m:r>
                          </m:e>
                        </m:d>
                      </m:e>
                      <m:sub>
                        <m:r>
                          <a:rPr lang="en-US" altLang="zh-CN" i="1"/>
                          <m:t>𝑡</m:t>
                        </m:r>
                      </m:sub>
                    </m:sSub>
                    <m:r>
                      <a:rPr lang="en-US" altLang="zh-CN" i="1"/>
                      <m:t>=</m:t>
                    </m:r>
                    <m:sSub>
                      <m:sSubPr>
                        <m:ctrlPr>
                          <a:rPr lang="zh-CN" altLang="zh-CN" i="1"/>
                        </m:ctrlPr>
                      </m:sSubPr>
                      <m:e>
                        <m:r>
                          <a:rPr lang="en-US" altLang="zh-CN" i="1"/>
                          <m:t>𝐵</m:t>
                        </m:r>
                      </m:e>
                      <m:sub>
                        <m:r>
                          <a:rPr lang="en-US" altLang="zh-CN" i="1"/>
                          <m:t>1</m:t>
                        </m:r>
                      </m:sub>
                    </m:sSub>
                    <m:r>
                      <a:rPr lang="en-US" altLang="zh-CN" i="1"/>
                      <m:t>+</m:t>
                    </m:r>
                    <m:sSub>
                      <m:sSubPr>
                        <m:ctrlPr>
                          <a:rPr lang="zh-CN" altLang="zh-CN" i="1"/>
                        </m:ctrlPr>
                      </m:sSubPr>
                      <m:e>
                        <m:r>
                          <a:rPr lang="en-US" altLang="zh-CN" i="1"/>
                          <m:t>𝐵</m:t>
                        </m:r>
                      </m:e>
                      <m:sub>
                        <m:r>
                          <a:rPr lang="en-US" altLang="zh-CN" i="1"/>
                          <m:t>2</m:t>
                        </m:r>
                      </m:sub>
                    </m:sSub>
                    <m:sSub>
                      <m:sSubPr>
                        <m:ctrlPr>
                          <a:rPr lang="zh-CN" altLang="zh-CN" i="1"/>
                        </m:ctrlPr>
                      </m:sSubPr>
                      <m:e>
                        <m:r>
                          <a:rPr lang="en-US" altLang="zh-CN" i="1"/>
                          <m:t>𝐶𝑃𝐼</m:t>
                        </m:r>
                      </m:e>
                      <m:sub>
                        <m:r>
                          <a:rPr lang="en-US" altLang="zh-CN" i="1"/>
                          <m:t>𝑡</m:t>
                        </m:r>
                      </m:sub>
                    </m:sSub>
                    <m:r>
                      <a:rPr lang="en-US" altLang="zh-CN" i="1"/>
                      <m:t>+</m:t>
                    </m:r>
                    <m:sSub>
                      <m:sSubPr>
                        <m:ctrlPr>
                          <a:rPr lang="zh-CN" altLang="zh-CN" i="1"/>
                        </m:ctrlPr>
                      </m:sSubPr>
                      <m:e>
                        <m:r>
                          <a:rPr lang="en-US" altLang="zh-CN" i="1"/>
                          <m:t>𝑈</m:t>
                        </m:r>
                      </m:e>
                      <m:sub>
                        <m:r>
                          <a:rPr lang="en-US" altLang="zh-CN" i="1"/>
                          <m:t>𝑡</m:t>
                        </m:r>
                      </m:sub>
                    </m:sSub>
                  </m:oMath>
                </a14:m>
                <a:endParaRPr lang="en-US" altLang="zh-CN" i="1" dirty="0" smtClean="0"/>
              </a:p>
              <a:p>
                <a:pPr lvl="1" eaLnBrk="1" hangingPunct="1"/>
                <a14:m>
                  <m:oMath xmlns:m="http://schemas.openxmlformats.org/officeDocument/2006/math">
                    <m:r>
                      <a:rPr lang="zh-CN" altLang="en-US" i="1">
                        <a:latin typeface="Cambria Math"/>
                      </a:rPr>
                      <m:t>利用</m:t>
                    </m:r>
                    <m:r>
                      <m:rPr>
                        <m:sty m:val="p"/>
                      </m:rPr>
                      <a:rPr lang="en-US" altLang="zh-CN" i="1" smtClean="0">
                        <a:latin typeface="Cambria Math"/>
                      </a:rPr>
                      <m:t>Excel</m:t>
                    </m:r>
                    <m:r>
                      <a:rPr lang="zh-CN" altLang="en-US" b="0" i="1" smtClean="0">
                        <a:latin typeface="Cambria Math"/>
                      </a:rPr>
                      <m:t>中</m:t>
                    </m:r>
                    <m:r>
                      <a:rPr lang="en-US" altLang="zh-CN" b="0" i="1" smtClean="0">
                        <a:latin typeface="Cambria Math"/>
                      </a:rPr>
                      <m:t> </m:t>
                    </m:r>
                    <m:r>
                      <a:rPr lang="zh-CN" altLang="en-US" b="0" i="1" smtClean="0">
                        <a:latin typeface="Cambria Math"/>
                      </a:rPr>
                      <m:t>的</m:t>
                    </m:r>
                    <m:r>
                      <a:rPr lang="zh-CN" altLang="en-US" i="1">
                        <a:latin typeface="Cambria Math"/>
                      </a:rPr>
                      <m:t>回归</m:t>
                    </m:r>
                    <m:r>
                      <a:rPr lang="zh-CN" altLang="en-US" i="1" smtClean="0">
                        <a:latin typeface="Cambria Math"/>
                      </a:rPr>
                      <m:t>分析</m:t>
                    </m:r>
                    <m:r>
                      <a:rPr lang="zh-CN" altLang="en-US" i="1">
                        <a:latin typeface="Cambria Math"/>
                      </a:rPr>
                      <m:t>工具</m:t>
                    </m:r>
                    <m:r>
                      <a:rPr lang="zh-CN" altLang="en-US" i="1" smtClean="0">
                        <a:latin typeface="Cambria Math"/>
                      </a:rPr>
                      <m:t>估计</m:t>
                    </m:r>
                    <m:r>
                      <a:rPr lang="zh-CN" altLang="en-US" i="1">
                        <a:latin typeface="Cambria Math"/>
                      </a:rPr>
                      <m:t>上述</m:t>
                    </m:r>
                    <m:r>
                      <a:rPr lang="zh-CN" altLang="en-US" i="1" smtClean="0">
                        <a:latin typeface="Cambria Math"/>
                      </a:rPr>
                      <m:t>方程</m:t>
                    </m:r>
                  </m:oMath>
                </a14:m>
                <a:endParaRPr lang="en-US" altLang="zh-CN" i="1" dirty="0" smtClean="0">
                  <a:latin typeface="Cambria Math"/>
                </a:endParaRPr>
              </a:p>
              <a:p>
                <a:pPr lvl="1" eaLnBrk="1" hangingPunct="1"/>
                <a14:m>
                  <m:oMath xmlns:m="http://schemas.openxmlformats.org/officeDocument/2006/math">
                    <m:r>
                      <a:rPr lang="zh-CN" altLang="en-US" i="1" dirty="0">
                        <a:latin typeface="Cambria Math"/>
                      </a:rPr>
                      <m:t>如果</m:t>
                    </m:r>
                    <m:r>
                      <a:rPr lang="en-US" altLang="zh-CN" b="0" i="1" dirty="0" smtClean="0">
                        <a:latin typeface="Cambria Math"/>
                      </a:rPr>
                      <m:t>2012</m:t>
                    </m:r>
                    <m:r>
                      <a:rPr lang="zh-CN" altLang="en-US" b="0" i="1" dirty="0" smtClean="0">
                        <a:latin typeface="Cambria Math"/>
                      </a:rPr>
                      <m:t>年的</m:t>
                    </m:r>
                    <m:r>
                      <m:rPr>
                        <m:sty m:val="p"/>
                      </m:rPr>
                      <a:rPr lang="en-US" altLang="zh-CN" i="1" dirty="0">
                        <a:latin typeface="Cambria Math"/>
                      </a:rPr>
                      <m:t>CPI</m:t>
                    </m:r>
                    <m:r>
                      <a:rPr lang="zh-CN" altLang="en-US" b="0" i="1" dirty="0" smtClean="0">
                        <a:latin typeface="Cambria Math"/>
                      </a:rPr>
                      <m:t>为</m:t>
                    </m:r>
                    <m:r>
                      <a:rPr lang="en-US" altLang="zh-CN" b="0" i="1" dirty="0" smtClean="0">
                        <a:latin typeface="Cambria Math"/>
                      </a:rPr>
                      <m:t>210</m:t>
                    </m:r>
                    <m:r>
                      <a:rPr lang="zh-CN" altLang="en-US" b="0" i="1" dirty="0" smtClean="0">
                        <a:latin typeface="Cambria Math"/>
                      </a:rPr>
                      <m:t>，</m:t>
                    </m:r>
                    <m:r>
                      <a:rPr lang="zh-CN" altLang="en-US" i="1" dirty="0">
                        <a:latin typeface="Cambria Math"/>
                      </a:rPr>
                      <m:t>请问</m:t>
                    </m:r>
                    <m:r>
                      <m:rPr>
                        <m:sty m:val="p"/>
                      </m:rPr>
                      <a:rPr lang="en-US" altLang="zh-CN" i="1" dirty="0" smtClean="0">
                        <a:latin typeface="Cambria Math"/>
                      </a:rPr>
                      <m:t>S</m:t>
                    </m:r>
                    <m:r>
                      <a:rPr lang="en-US" altLang="zh-CN" i="1" dirty="0" smtClean="0">
                        <a:latin typeface="Cambria Math"/>
                      </a:rPr>
                      <m:t>&amp;</m:t>
                    </m:r>
                    <m:r>
                      <m:rPr>
                        <m:sty m:val="p"/>
                      </m:rPr>
                      <a:rPr lang="en-US" altLang="zh-CN" i="1" dirty="0" smtClean="0">
                        <a:latin typeface="Cambria Math"/>
                      </a:rPr>
                      <m:t>P</m:t>
                    </m:r>
                    <m:r>
                      <a:rPr lang="en-US" altLang="zh-CN" b="0" i="1" dirty="0" smtClean="0">
                        <a:latin typeface="Cambria Math"/>
                      </a:rPr>
                      <m:t>500</m:t>
                    </m:r>
                    <m:r>
                      <a:rPr lang="zh-CN" altLang="en-US" i="1" dirty="0">
                        <a:latin typeface="Cambria Math"/>
                      </a:rPr>
                      <m:t>指数</m:t>
                    </m:r>
                    <m:r>
                      <a:rPr lang="zh-CN" altLang="en-US" i="1" dirty="0" smtClean="0">
                        <a:latin typeface="Cambria Math"/>
                      </a:rPr>
                      <m:t>估计</m:t>
                    </m:r>
                    <m:r>
                      <a:rPr lang="zh-CN" altLang="en-US" b="0" i="1" dirty="0" smtClean="0">
                        <a:latin typeface="Cambria Math"/>
                      </a:rPr>
                      <m:t>为</m:t>
                    </m:r>
                    <m:r>
                      <a:rPr lang="zh-CN" altLang="en-US" i="1" dirty="0">
                        <a:latin typeface="Cambria Math"/>
                      </a:rPr>
                      <m:t>多少</m:t>
                    </m:r>
                  </m:oMath>
                </a14:m>
                <a:endParaRPr lang="zh-CN" altLang="en-US" dirty="0" smtClean="0"/>
              </a:p>
            </p:txBody>
          </p:sp>
        </mc:Choice>
        <mc:Fallback>
          <p:sp>
            <p:nvSpPr>
              <p:cNvPr id="16388" name="Rectangle 13"/>
              <p:cNvSpPr>
                <a:spLocks noGrp="1" noRot="1" noChangeAspect="1" noMove="1" noResize="1" noEditPoints="1" noAdjustHandles="1" noChangeArrowheads="1" noChangeShapeType="1" noTextEdit="1"/>
              </p:cNvSpPr>
              <p:nvPr>
                <p:ph type="body" idx="1"/>
              </p:nvPr>
            </p:nvSpPr>
            <p:spPr>
              <a:xfrm>
                <a:off x="457200" y="1600200"/>
                <a:ext cx="8229600" cy="2980928"/>
              </a:xfrm>
              <a:blipFill rotWithShape="1">
                <a:blip r:embed="rId2"/>
                <a:stretch>
                  <a:fillRect l="-1037" t="-2664" r="-4370"/>
                </a:stretch>
              </a:blipFill>
            </p:spPr>
            <p:txBody>
              <a:bodyPr/>
              <a:lstStyle/>
              <a:p>
                <a:r>
                  <a:rPr lang="zh-CN" altLang="en-US">
                    <a:noFill/>
                  </a:rPr>
                  <a:t> </a:t>
                </a:r>
              </a:p>
            </p:txBody>
          </p:sp>
        </mc:Fallback>
      </mc:AlternateContent>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4"/>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D5D6DFD-607A-43DF-9902-0C8B560384E7}" type="slidenum">
              <a:rPr lang="en-US" altLang="zh-CN" smtClean="0">
                <a:solidFill>
                  <a:srgbClr val="FFFFFF"/>
                </a:solidFill>
              </a:rPr>
              <a:pPr eaLnBrk="1" hangingPunct="1"/>
              <a:t>15</a:t>
            </a:fld>
            <a:endParaRPr lang="en-US" altLang="zh-CN" smtClean="0">
              <a:solidFill>
                <a:srgbClr val="FFFFFF"/>
              </a:solidFill>
            </a:endParaRPr>
          </a:p>
        </p:txBody>
      </p:sp>
      <p:sp>
        <p:nvSpPr>
          <p:cNvPr id="343042" name="Rectangle 2"/>
          <p:cNvSpPr>
            <a:spLocks noGrp="1" noChangeArrowheads="1"/>
          </p:cNvSpPr>
          <p:nvPr>
            <p:ph type="title"/>
          </p:nvPr>
        </p:nvSpPr>
        <p:spPr/>
        <p:txBody>
          <a:bodyPr/>
          <a:lstStyle/>
          <a:p>
            <a:pPr eaLnBrk="1" hangingPunct="1">
              <a:defRPr/>
            </a:pPr>
            <a:r>
              <a:rPr lang="zh-CN" altLang="en-US" dirty="0" smtClean="0"/>
              <a:t>散点图与趋势线</a:t>
            </a:r>
            <a:endParaRPr lang="zh-CN" altLang="en-US" dirty="0" smtClean="0"/>
          </a:p>
        </p:txBody>
      </p:sp>
      <p:sp>
        <p:nvSpPr>
          <p:cNvPr id="19460" name="Rectangle 3"/>
          <p:cNvSpPr>
            <a:spLocks noGrp="1" noChangeArrowheads="1"/>
          </p:cNvSpPr>
          <p:nvPr>
            <p:ph type="body" sz="half" idx="1"/>
          </p:nvPr>
        </p:nvSpPr>
        <p:spPr>
          <a:xfrm>
            <a:off x="107950" y="1268413"/>
            <a:ext cx="5183188" cy="1872555"/>
          </a:xfrm>
        </p:spPr>
        <p:txBody>
          <a:bodyPr/>
          <a:lstStyle/>
          <a:p>
            <a:pPr eaLnBrk="1" hangingPunct="1">
              <a:lnSpc>
                <a:spcPct val="90000"/>
              </a:lnSpc>
            </a:pPr>
            <a:r>
              <a:rPr lang="zh-CN" altLang="en-US" sz="2000" dirty="0" smtClean="0"/>
              <a:t>根据数据建立散点图</a:t>
            </a:r>
          </a:p>
          <a:p>
            <a:pPr lvl="1" eaLnBrk="1" hangingPunct="1">
              <a:lnSpc>
                <a:spcPct val="90000"/>
              </a:lnSpc>
            </a:pPr>
            <a:r>
              <a:rPr lang="zh-CN" altLang="en-US" sz="1800" dirty="0" smtClean="0"/>
              <a:t>自变量放在</a:t>
            </a:r>
            <a:r>
              <a:rPr lang="en-US" altLang="zh-CN" sz="1800" dirty="0" smtClean="0"/>
              <a:t>X</a:t>
            </a:r>
            <a:r>
              <a:rPr lang="zh-CN" altLang="en-US" sz="1800" dirty="0" smtClean="0"/>
              <a:t>轴，因变量放在</a:t>
            </a:r>
            <a:r>
              <a:rPr lang="en-US" altLang="zh-CN" sz="1800" dirty="0" smtClean="0"/>
              <a:t>Y</a:t>
            </a:r>
            <a:r>
              <a:rPr lang="zh-CN" altLang="en-US" sz="1800" dirty="0" smtClean="0"/>
              <a:t>轴</a:t>
            </a:r>
          </a:p>
          <a:p>
            <a:pPr eaLnBrk="1" hangingPunct="1">
              <a:lnSpc>
                <a:spcPct val="90000"/>
              </a:lnSpc>
            </a:pPr>
            <a:r>
              <a:rPr lang="zh-CN" altLang="en-US" sz="2000" dirty="0" smtClean="0"/>
              <a:t>简单线性拟合</a:t>
            </a:r>
          </a:p>
          <a:p>
            <a:pPr lvl="1" eaLnBrk="1" hangingPunct="1">
              <a:lnSpc>
                <a:spcPct val="90000"/>
              </a:lnSpc>
            </a:pPr>
            <a:r>
              <a:rPr lang="zh-CN" altLang="en-US" sz="1800" dirty="0" smtClean="0"/>
              <a:t>添加趋势线</a:t>
            </a:r>
            <a:r>
              <a:rPr lang="en-US" altLang="zh-CN" sz="1800" dirty="0" smtClean="0"/>
              <a:t>(</a:t>
            </a:r>
            <a:r>
              <a:rPr lang="zh-CN" altLang="en-US" sz="1800" dirty="0" smtClean="0"/>
              <a:t>类型为“线性”</a:t>
            </a:r>
            <a:r>
              <a:rPr lang="en-US" altLang="zh-CN" sz="1800" dirty="0" smtClean="0"/>
              <a:t>)</a:t>
            </a:r>
            <a:r>
              <a:rPr lang="zh-CN" altLang="en-US" sz="1800" dirty="0" smtClean="0"/>
              <a:t>，选定“显示公式”和“显示</a:t>
            </a:r>
            <a:r>
              <a:rPr lang="en-US" altLang="zh-CN" sz="1800" dirty="0" smtClean="0"/>
              <a:t>R</a:t>
            </a:r>
            <a:r>
              <a:rPr lang="en-US" altLang="zh-CN" sz="1800" baseline="30000" dirty="0" smtClean="0"/>
              <a:t>2</a:t>
            </a:r>
            <a:r>
              <a:rPr lang="zh-CN" altLang="en-US" sz="1800" dirty="0" smtClean="0"/>
              <a:t>值” </a:t>
            </a:r>
          </a:p>
          <a:p>
            <a:pPr lvl="1" eaLnBrk="1" hangingPunct="1">
              <a:lnSpc>
                <a:spcPct val="90000"/>
              </a:lnSpc>
            </a:pPr>
            <a:r>
              <a:rPr lang="zh-CN" altLang="en-US" sz="1800" dirty="0" smtClean="0"/>
              <a:t>得到趋势线</a:t>
            </a:r>
            <a:r>
              <a:rPr lang="en-US" altLang="zh-CN" sz="1800" dirty="0" smtClean="0"/>
              <a:t>(</a:t>
            </a:r>
            <a:r>
              <a:rPr lang="zh-CN" altLang="en-US" sz="1800" dirty="0" smtClean="0"/>
              <a:t>线性</a:t>
            </a:r>
            <a:r>
              <a:rPr lang="en-US" altLang="zh-CN" sz="1800" dirty="0" smtClean="0"/>
              <a:t>)</a:t>
            </a:r>
            <a:r>
              <a:rPr lang="zh-CN" altLang="en-US" sz="1800" dirty="0" smtClean="0"/>
              <a:t>方程和</a:t>
            </a:r>
            <a:r>
              <a:rPr lang="en-US" altLang="zh-CN" sz="1800" dirty="0" smtClean="0"/>
              <a:t>R</a:t>
            </a:r>
            <a:r>
              <a:rPr lang="en-US" altLang="zh-CN" sz="1800" baseline="30000" dirty="0" smtClean="0"/>
              <a:t>2</a:t>
            </a:r>
            <a:endParaRPr lang="en-US" altLang="zh-CN" sz="1800" baseline="30000" dirty="0" smtClean="0"/>
          </a:p>
        </p:txBody>
      </p:sp>
      <p:pic>
        <p:nvPicPr>
          <p:cNvPr id="1946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5300" y="1247775"/>
            <a:ext cx="3173413"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300" y="3983038"/>
            <a:ext cx="3173413"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75"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53" y="3207614"/>
            <a:ext cx="5331936" cy="3522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9"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0" y="4156997"/>
            <a:ext cx="4640957" cy="2356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0" name="灯片编号占位符 4"/>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10F1146-F3FC-46C3-B91B-BAEDBC93E977}" type="slidenum">
              <a:rPr lang="en-US" altLang="zh-CN" smtClean="0">
                <a:solidFill>
                  <a:srgbClr val="FFFFFF"/>
                </a:solidFill>
              </a:rPr>
              <a:pPr eaLnBrk="1" hangingPunct="1"/>
              <a:t>16</a:t>
            </a:fld>
            <a:endParaRPr lang="en-US" altLang="zh-CN" smtClean="0">
              <a:solidFill>
                <a:srgbClr val="FFFFFF"/>
              </a:solidFill>
            </a:endParaRPr>
          </a:p>
        </p:txBody>
      </p:sp>
      <p:sp>
        <p:nvSpPr>
          <p:cNvPr id="353282" name="Rectangle 2"/>
          <p:cNvSpPr>
            <a:spLocks noGrp="1" noChangeArrowheads="1"/>
          </p:cNvSpPr>
          <p:nvPr>
            <p:ph type="title"/>
          </p:nvPr>
        </p:nvSpPr>
        <p:spPr/>
        <p:txBody>
          <a:bodyPr/>
          <a:lstStyle/>
          <a:p>
            <a:pPr eaLnBrk="1" hangingPunct="1"/>
            <a:r>
              <a:rPr lang="zh-CN" altLang="en-US" dirty="0" smtClean="0">
                <a:solidFill>
                  <a:srgbClr val="FF0066"/>
                </a:solidFill>
              </a:rPr>
              <a:t>利用</a:t>
            </a:r>
            <a:r>
              <a:rPr lang="zh-CN" altLang="en-US" dirty="0" smtClean="0">
                <a:solidFill>
                  <a:srgbClr val="FF0066"/>
                </a:solidFill>
              </a:rPr>
              <a:t>分析工具进行一元线形回归分析</a:t>
            </a:r>
          </a:p>
        </p:txBody>
      </p:sp>
      <p:sp>
        <p:nvSpPr>
          <p:cNvPr id="17412" name="Rectangle 3"/>
          <p:cNvSpPr>
            <a:spLocks noGrp="1" noChangeArrowheads="1"/>
          </p:cNvSpPr>
          <p:nvPr>
            <p:ph type="body" sz="half" idx="1"/>
          </p:nvPr>
        </p:nvSpPr>
        <p:spPr>
          <a:xfrm>
            <a:off x="179388" y="1268413"/>
            <a:ext cx="7643812" cy="2519362"/>
          </a:xfrm>
        </p:spPr>
        <p:txBody>
          <a:bodyPr/>
          <a:lstStyle/>
          <a:p>
            <a:pPr eaLnBrk="1" hangingPunct="1">
              <a:lnSpc>
                <a:spcPct val="90000"/>
              </a:lnSpc>
            </a:pPr>
            <a:r>
              <a:rPr lang="zh-CN" altLang="en-US" sz="2000" dirty="0" smtClean="0"/>
              <a:t>加载宏</a:t>
            </a:r>
            <a:r>
              <a:rPr lang="en-US" altLang="zh-CN" sz="2000" dirty="0" smtClean="0"/>
              <a:t>—</a:t>
            </a:r>
            <a:r>
              <a:rPr lang="zh-CN" altLang="en-US" sz="2000" dirty="0" smtClean="0"/>
              <a:t>分析工具库</a:t>
            </a:r>
          </a:p>
          <a:p>
            <a:pPr eaLnBrk="1" hangingPunct="1">
              <a:lnSpc>
                <a:spcPct val="90000"/>
              </a:lnSpc>
            </a:pPr>
            <a:r>
              <a:rPr lang="zh-CN" altLang="en-US" sz="2000" dirty="0" smtClean="0"/>
              <a:t>数据</a:t>
            </a:r>
            <a:r>
              <a:rPr lang="en-US" altLang="zh-CN" sz="2000" dirty="0" smtClean="0"/>
              <a:t>—</a:t>
            </a:r>
            <a:r>
              <a:rPr lang="zh-CN" altLang="en-US" sz="2000" dirty="0" smtClean="0"/>
              <a:t>数据分析</a:t>
            </a:r>
            <a:r>
              <a:rPr lang="en-US" altLang="zh-CN" sz="2000" dirty="0" smtClean="0"/>
              <a:t>—</a:t>
            </a:r>
            <a:r>
              <a:rPr lang="zh-CN" altLang="en-US" sz="2000" dirty="0" smtClean="0"/>
              <a:t>回归</a:t>
            </a:r>
          </a:p>
          <a:p>
            <a:pPr eaLnBrk="1" hangingPunct="1">
              <a:lnSpc>
                <a:spcPct val="90000"/>
              </a:lnSpc>
            </a:pPr>
            <a:r>
              <a:rPr lang="zh-CN" altLang="en-US" sz="2000" dirty="0" smtClean="0"/>
              <a:t>在“回归”对话框输入</a:t>
            </a:r>
            <a:r>
              <a:rPr lang="en-US" altLang="zh-CN" sz="2000" dirty="0" smtClean="0"/>
              <a:t>X</a:t>
            </a:r>
            <a:r>
              <a:rPr lang="zh-CN" altLang="en-US" sz="2000" dirty="0" smtClean="0"/>
              <a:t>值和</a:t>
            </a:r>
            <a:r>
              <a:rPr lang="en-US" altLang="zh-CN" sz="2000" dirty="0" smtClean="0"/>
              <a:t>Y</a:t>
            </a:r>
            <a:r>
              <a:rPr lang="zh-CN" altLang="en-US" sz="2000" dirty="0" smtClean="0"/>
              <a:t>值的区域</a:t>
            </a:r>
          </a:p>
          <a:p>
            <a:pPr eaLnBrk="1" hangingPunct="1">
              <a:lnSpc>
                <a:spcPct val="90000"/>
              </a:lnSpc>
            </a:pPr>
            <a:r>
              <a:rPr lang="zh-CN" altLang="en-US" sz="2000" dirty="0" smtClean="0"/>
              <a:t>选择“标志”</a:t>
            </a:r>
          </a:p>
          <a:p>
            <a:pPr eaLnBrk="1" hangingPunct="1">
              <a:lnSpc>
                <a:spcPct val="90000"/>
              </a:lnSpc>
            </a:pPr>
            <a:r>
              <a:rPr lang="zh-CN" altLang="en-US" sz="2000" dirty="0" smtClean="0"/>
              <a:t>确定输出区域</a:t>
            </a:r>
          </a:p>
          <a:p>
            <a:pPr eaLnBrk="1" hangingPunct="1">
              <a:lnSpc>
                <a:spcPct val="90000"/>
              </a:lnSpc>
            </a:pPr>
            <a:r>
              <a:rPr lang="zh-CN" altLang="en-US" sz="2000" dirty="0" smtClean="0"/>
              <a:t>将</a:t>
            </a:r>
            <a:r>
              <a:rPr lang="en-US" altLang="zh-CN" sz="2000" dirty="0" smtClean="0"/>
              <a:t>X</a:t>
            </a:r>
            <a:r>
              <a:rPr lang="zh-CN" altLang="en-US" sz="2000" dirty="0" smtClean="0"/>
              <a:t>代入线性方程，进行预测</a:t>
            </a:r>
          </a:p>
          <a:p>
            <a:pPr lvl="1" eaLnBrk="1" hangingPunct="1">
              <a:lnSpc>
                <a:spcPct val="90000"/>
              </a:lnSpc>
            </a:pPr>
            <a:r>
              <a:rPr lang="en-US" altLang="zh-CN" sz="1800" dirty="0" smtClean="0"/>
              <a:t>X=210</a:t>
            </a:r>
            <a:r>
              <a:rPr lang="zh-CN" altLang="en-US" sz="1800" dirty="0" smtClean="0"/>
              <a:t>，</a:t>
            </a:r>
            <a:r>
              <a:rPr lang="en-US" altLang="zh-CN" sz="1800" dirty="0" smtClean="0"/>
              <a:t>Y=1379.372</a:t>
            </a:r>
            <a:endParaRPr lang="en-US" altLang="zh-CN" sz="1800" dirty="0" smtClean="0"/>
          </a:p>
        </p:txBody>
      </p:sp>
      <p:pic>
        <p:nvPicPr>
          <p:cNvPr id="1741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268413"/>
            <a:ext cx="2854325"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5" name="Rectangle 6"/>
          <p:cNvSpPr>
            <a:spLocks noChangeArrowheads="1"/>
          </p:cNvSpPr>
          <p:nvPr/>
        </p:nvSpPr>
        <p:spPr bwMode="auto">
          <a:xfrm>
            <a:off x="5364088" y="4473575"/>
            <a:ext cx="2447925" cy="43180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7" name="Rectangle 8"/>
          <p:cNvSpPr>
            <a:spLocks noChangeArrowheads="1"/>
          </p:cNvSpPr>
          <p:nvPr/>
        </p:nvSpPr>
        <p:spPr bwMode="auto">
          <a:xfrm>
            <a:off x="5374042" y="5318630"/>
            <a:ext cx="2519363" cy="21590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50" name="Picture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3232653"/>
            <a:ext cx="6915150" cy="353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4"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28B9186-63A5-4F20-83BC-7B62FC9B4930}" type="slidenum">
              <a:rPr lang="en-US" altLang="zh-CN" smtClean="0">
                <a:solidFill>
                  <a:srgbClr val="FFFFFF"/>
                </a:solidFill>
              </a:rPr>
              <a:pPr eaLnBrk="1" hangingPunct="1"/>
              <a:t>17</a:t>
            </a:fld>
            <a:endParaRPr lang="en-US" altLang="zh-CN" smtClean="0">
              <a:solidFill>
                <a:srgbClr val="FFFFFF"/>
              </a:solidFill>
            </a:endParaRPr>
          </a:p>
        </p:txBody>
      </p:sp>
      <p:sp>
        <p:nvSpPr>
          <p:cNvPr id="354306" name="Rectangle 2"/>
          <p:cNvSpPr>
            <a:spLocks noGrp="1" noChangeArrowheads="1"/>
          </p:cNvSpPr>
          <p:nvPr>
            <p:ph type="title"/>
          </p:nvPr>
        </p:nvSpPr>
        <p:spPr/>
        <p:txBody>
          <a:bodyPr/>
          <a:lstStyle/>
          <a:p>
            <a:pPr eaLnBrk="1" hangingPunct="1">
              <a:defRPr/>
            </a:pPr>
            <a:r>
              <a:rPr lang="zh-CN" altLang="en-US" smtClean="0"/>
              <a:t>数据分析结果</a:t>
            </a:r>
          </a:p>
        </p:txBody>
      </p:sp>
      <p:sp>
        <p:nvSpPr>
          <p:cNvPr id="18437" name="Rectangle 4"/>
          <p:cNvSpPr>
            <a:spLocks noChangeArrowheads="1"/>
          </p:cNvSpPr>
          <p:nvPr/>
        </p:nvSpPr>
        <p:spPr bwMode="auto">
          <a:xfrm>
            <a:off x="179389" y="5949281"/>
            <a:ext cx="1656308" cy="90872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8438" name="Rectangle 5"/>
          <p:cNvSpPr>
            <a:spLocks noChangeArrowheads="1"/>
          </p:cNvSpPr>
          <p:nvPr/>
        </p:nvSpPr>
        <p:spPr bwMode="auto">
          <a:xfrm>
            <a:off x="179388" y="3717032"/>
            <a:ext cx="1656308" cy="484395"/>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8439" name="Rectangle 7"/>
          <p:cNvSpPr>
            <a:spLocks noChangeArrowheads="1"/>
          </p:cNvSpPr>
          <p:nvPr/>
        </p:nvSpPr>
        <p:spPr bwMode="auto">
          <a:xfrm>
            <a:off x="3275856" y="6034087"/>
            <a:ext cx="792088" cy="720725"/>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8440" name="Rectangle 8"/>
          <p:cNvSpPr>
            <a:spLocks noChangeArrowheads="1"/>
          </p:cNvSpPr>
          <p:nvPr/>
        </p:nvSpPr>
        <p:spPr bwMode="auto">
          <a:xfrm>
            <a:off x="3960018" y="4941887"/>
            <a:ext cx="900014" cy="720725"/>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354313" name="Text Box 9"/>
          <p:cNvSpPr txBox="1">
            <a:spLocks noChangeArrowheads="1"/>
          </p:cNvSpPr>
          <p:nvPr/>
        </p:nvSpPr>
        <p:spPr bwMode="auto">
          <a:xfrm>
            <a:off x="4211960" y="6034087"/>
            <a:ext cx="3116262" cy="4572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kumimoji="1" lang="en-US" altLang="zh-CN" sz="1200" b="1" dirty="0">
                <a:effectLst>
                  <a:outerShdw blurRad="38100" dist="38100" dir="2700000" algn="tl">
                    <a:srgbClr val="FFFFFF"/>
                  </a:outerShdw>
                </a:effectLst>
              </a:rPr>
              <a:t>t</a:t>
            </a:r>
            <a:r>
              <a:rPr kumimoji="1" lang="zh-CN" altLang="en-US" sz="1200" b="1" dirty="0">
                <a:effectLst>
                  <a:outerShdw blurRad="38100" dist="38100" dir="2700000" algn="tl">
                    <a:srgbClr val="FFFFFF"/>
                  </a:outerShdw>
                </a:effectLst>
              </a:rPr>
              <a:t>统计量的</a:t>
            </a:r>
            <a:r>
              <a:rPr kumimoji="1" lang="en-US" altLang="zh-CN" sz="1200" b="1" dirty="0">
                <a:effectLst>
                  <a:outerShdw blurRad="38100" dist="38100" dir="2700000" algn="tl">
                    <a:srgbClr val="FFFFFF"/>
                  </a:outerShdw>
                </a:effectLst>
              </a:rPr>
              <a:t>P</a:t>
            </a:r>
            <a:r>
              <a:rPr kumimoji="1" lang="zh-CN" altLang="en-US" sz="1200" b="1" dirty="0">
                <a:effectLst>
                  <a:outerShdw blurRad="38100" dist="38100" dir="2700000" algn="tl">
                    <a:srgbClr val="FFFFFF"/>
                  </a:outerShdw>
                </a:effectLst>
              </a:rPr>
              <a:t>值小于显著水平（</a:t>
            </a:r>
            <a:r>
              <a:rPr kumimoji="1" lang="en-US" altLang="zh-CN" sz="1200" b="1" dirty="0">
                <a:effectLst>
                  <a:outerShdw blurRad="38100" dist="38100" dir="2700000" algn="tl">
                    <a:srgbClr val="FFFFFF"/>
                  </a:outerShdw>
                </a:effectLst>
              </a:rPr>
              <a:t>0.05</a:t>
            </a:r>
            <a:r>
              <a:rPr kumimoji="1" lang="zh-CN" altLang="en-US" sz="1200" b="1" dirty="0">
                <a:effectLst>
                  <a:outerShdw blurRad="38100" dist="38100" dir="2700000" algn="tl">
                    <a:srgbClr val="FFFFFF"/>
                  </a:outerShdw>
                </a:effectLst>
              </a:rPr>
              <a:t>），可认为该</a:t>
            </a:r>
            <a:r>
              <a:rPr kumimoji="1" lang="zh-CN" altLang="en-US" sz="1200" b="1" dirty="0" smtClean="0">
                <a:effectLst>
                  <a:outerShdw blurRad="38100" dist="38100" dir="2700000" algn="tl">
                    <a:srgbClr val="FFFFFF"/>
                  </a:outerShdw>
                </a:effectLst>
              </a:rPr>
              <a:t>自变量对因变量的影响是显著的。</a:t>
            </a:r>
            <a:endParaRPr kumimoji="1" lang="zh-CN" altLang="en-US" sz="1200" b="1" dirty="0">
              <a:effectLst>
                <a:outerShdw blurRad="38100" dist="38100" dir="2700000" algn="tl">
                  <a:srgbClr val="FFFFFF"/>
                </a:outerShdw>
              </a:effectLst>
            </a:endParaRPr>
          </a:p>
        </p:txBody>
      </p:sp>
      <p:sp>
        <p:nvSpPr>
          <p:cNvPr id="354314" name="Text Box 10"/>
          <p:cNvSpPr txBox="1">
            <a:spLocks noChangeArrowheads="1"/>
          </p:cNvSpPr>
          <p:nvPr/>
        </p:nvSpPr>
        <p:spPr bwMode="auto">
          <a:xfrm>
            <a:off x="5072027" y="4941887"/>
            <a:ext cx="3116263" cy="646331"/>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kumimoji="1" lang="en-US" altLang="zh-CN" sz="1200" b="1" dirty="0">
                <a:effectLst>
                  <a:outerShdw blurRad="38100" dist="38100" dir="2700000" algn="tl">
                    <a:srgbClr val="FFFFFF"/>
                  </a:outerShdw>
                </a:effectLst>
              </a:rPr>
              <a:t>F</a:t>
            </a:r>
            <a:r>
              <a:rPr kumimoji="1" lang="zh-CN" altLang="en-US" sz="1200" b="1" dirty="0">
                <a:effectLst>
                  <a:outerShdw blurRad="38100" dist="38100" dir="2700000" algn="tl">
                    <a:srgbClr val="FFFFFF"/>
                  </a:outerShdw>
                </a:effectLst>
              </a:rPr>
              <a:t>统计量的</a:t>
            </a:r>
            <a:r>
              <a:rPr kumimoji="1" lang="en-US" altLang="zh-CN" sz="1200" b="1" dirty="0">
                <a:effectLst>
                  <a:outerShdw blurRad="38100" dist="38100" dir="2700000" algn="tl">
                    <a:srgbClr val="FFFFFF"/>
                  </a:outerShdw>
                </a:effectLst>
              </a:rPr>
              <a:t>P</a:t>
            </a:r>
            <a:r>
              <a:rPr kumimoji="1" lang="zh-CN" altLang="en-US" sz="1200" b="1" dirty="0">
                <a:effectLst>
                  <a:outerShdw blurRad="38100" dist="38100" dir="2700000" algn="tl">
                    <a:srgbClr val="FFFFFF"/>
                  </a:outerShdw>
                </a:effectLst>
              </a:rPr>
              <a:t>值小于显著水平（</a:t>
            </a:r>
            <a:r>
              <a:rPr kumimoji="1" lang="en-US" altLang="zh-CN" sz="1200" b="1" dirty="0">
                <a:effectLst>
                  <a:outerShdw blurRad="38100" dist="38100" dir="2700000" algn="tl">
                    <a:srgbClr val="FFFFFF"/>
                  </a:outerShdw>
                </a:effectLst>
              </a:rPr>
              <a:t>0.05</a:t>
            </a:r>
            <a:r>
              <a:rPr kumimoji="1" lang="zh-CN" altLang="en-US" sz="1200" b="1" dirty="0">
                <a:effectLst>
                  <a:outerShdw blurRad="38100" dist="38100" dir="2700000" algn="tl">
                    <a:srgbClr val="FFFFFF"/>
                  </a:outerShdw>
                </a:effectLst>
              </a:rPr>
              <a:t>），可</a:t>
            </a:r>
            <a:r>
              <a:rPr kumimoji="1" lang="zh-CN" altLang="en-US" sz="1200" b="1" dirty="0" smtClean="0">
                <a:effectLst>
                  <a:outerShdw blurRad="38100" dist="38100" dir="2700000" algn="tl">
                    <a:srgbClr val="FFFFFF"/>
                  </a:outerShdw>
                </a:effectLst>
              </a:rPr>
              <a:t>认为回归模型的总体效果显著，所有自变量和因变量的线性关系总体显著。</a:t>
            </a:r>
            <a:endParaRPr kumimoji="1" lang="zh-CN" altLang="en-US" sz="1200" b="1" dirty="0">
              <a:effectLst>
                <a:outerShdw blurRad="38100" dist="38100" dir="2700000" algn="tl">
                  <a:srgbClr val="FFFFFF"/>
                </a:outerShdw>
              </a:effectLst>
            </a:endParaRPr>
          </a:p>
        </p:txBody>
      </p:sp>
      <p:sp>
        <p:nvSpPr>
          <p:cNvPr id="18444" name="Text Box 13"/>
          <p:cNvSpPr txBox="1">
            <a:spLocks noChangeArrowheads="1"/>
          </p:cNvSpPr>
          <p:nvPr/>
        </p:nvSpPr>
        <p:spPr bwMode="auto">
          <a:xfrm>
            <a:off x="107950" y="1268413"/>
            <a:ext cx="5040313" cy="91598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a:t>判定系数</a:t>
            </a:r>
            <a:r>
              <a:rPr lang="en-US" altLang="zh-CN"/>
              <a:t>R2 </a:t>
            </a:r>
            <a:r>
              <a:rPr lang="zh-CN" altLang="en-US"/>
              <a:t>是对估计的回归方程拟合优度的度量，取值范围</a:t>
            </a:r>
            <a:r>
              <a:rPr lang="en-US" altLang="zh-CN"/>
              <a:t>[0</a:t>
            </a:r>
            <a:r>
              <a:rPr lang="zh-CN" altLang="en-US"/>
              <a:t>，</a:t>
            </a:r>
            <a:r>
              <a:rPr lang="en-US" altLang="zh-CN"/>
              <a:t>1]</a:t>
            </a:r>
            <a:r>
              <a:rPr lang="zh-CN" altLang="en-US"/>
              <a:t>。 </a:t>
            </a:r>
            <a:r>
              <a:rPr lang="en-US" altLang="zh-CN"/>
              <a:t>R2</a:t>
            </a:r>
            <a:r>
              <a:rPr lang="zh-CN" altLang="en-US"/>
              <a:t>越接近</a:t>
            </a:r>
            <a:r>
              <a:rPr lang="en-US" altLang="zh-CN"/>
              <a:t>1</a:t>
            </a:r>
            <a:r>
              <a:rPr lang="zh-CN" altLang="en-US"/>
              <a:t>，表明回归直线与观测点越接近，回归直线的拟合程度越好。</a:t>
            </a:r>
          </a:p>
        </p:txBody>
      </p:sp>
      <p:sp>
        <p:nvSpPr>
          <p:cNvPr id="15" name="Text Box 10"/>
          <p:cNvSpPr txBox="1">
            <a:spLocks noChangeArrowheads="1"/>
          </p:cNvSpPr>
          <p:nvPr/>
        </p:nvSpPr>
        <p:spPr bwMode="auto">
          <a:xfrm>
            <a:off x="2049372" y="3636063"/>
            <a:ext cx="3888110" cy="646331"/>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lvl="1">
              <a:defRPr/>
            </a:pPr>
            <a:r>
              <a:rPr lang="en-US" altLang="zh-CN" dirty="0"/>
              <a:t>R2 = </a:t>
            </a:r>
            <a:r>
              <a:rPr lang="en-US" altLang="zh-CN" dirty="0" smtClean="0"/>
              <a:t>0.8463=84.63</a:t>
            </a:r>
            <a:r>
              <a:rPr lang="en-US" altLang="zh-CN" dirty="0"/>
              <a:t>%&gt;50%</a:t>
            </a:r>
          </a:p>
          <a:p>
            <a:pPr marL="0" lvl="2">
              <a:defRPr/>
            </a:pPr>
            <a:r>
              <a:rPr lang="zh-CN" altLang="en-US" dirty="0"/>
              <a:t>说明方程拟合</a:t>
            </a:r>
            <a:r>
              <a:rPr lang="zh-CN" altLang="en-US" dirty="0" smtClean="0"/>
              <a:t>程度较好</a:t>
            </a:r>
            <a:endParaRPr kumimoji="1" lang="zh-CN" altLang="en-US" sz="1200" b="1" dirty="0">
              <a:effectLst>
                <a:outerShdw blurRad="38100" dist="38100" dir="2700000" algn="tl">
                  <a:srgbClr val="FFFFFF"/>
                </a:outerShdw>
              </a:effectLst>
            </a:endParaRPr>
          </a:p>
        </p:txBody>
      </p:sp>
      <mc:AlternateContent xmlns:mc="http://schemas.openxmlformats.org/markup-compatibility/2006">
        <mc:Choice xmlns:a14="http://schemas.microsoft.com/office/drawing/2010/main" Requires="a14">
          <p:sp>
            <p:nvSpPr>
              <p:cNvPr id="2" name="矩形 1"/>
              <p:cNvSpPr/>
              <p:nvPr/>
            </p:nvSpPr>
            <p:spPr>
              <a:xfrm>
                <a:off x="164302" y="2322550"/>
                <a:ext cx="5711820" cy="646331"/>
              </a:xfrm>
              <a:prstGeom prst="rect">
                <a:avLst/>
              </a:prstGeom>
            </p:spPr>
            <p:txBody>
              <a:bodyPr wrap="none">
                <a:spAutoFit/>
              </a:bodyPr>
              <a:lstStyle/>
              <a:p>
                <a:r>
                  <a:rPr lang="zh-CN" altLang="en-US" dirty="0" smtClean="0"/>
                  <a:t>回归模型</a:t>
                </a:r>
                <a14:m>
                  <m:oMath xmlns:m="http://schemas.openxmlformats.org/officeDocument/2006/math">
                    <m:sSub>
                      <m:sSubPr>
                        <m:ctrlPr>
                          <a:rPr lang="zh-CN" altLang="zh-CN" i="1">
                            <a:latin typeface="Cambria Math"/>
                          </a:rPr>
                        </m:ctrlPr>
                      </m:sSubPr>
                      <m:e>
                        <m:d>
                          <m:dPr>
                            <m:begChr m:val="（"/>
                            <m:endChr m:val="）"/>
                            <m:ctrlPr>
                              <a:rPr lang="zh-CN" altLang="zh-CN" i="1">
                                <a:latin typeface="Cambria Math"/>
                              </a:rPr>
                            </m:ctrlPr>
                          </m:dPr>
                          <m:e>
                            <m:r>
                              <m:rPr>
                                <m:sty m:val="p"/>
                              </m:rPr>
                              <a:rPr lang="en-US" altLang="zh-CN">
                                <a:latin typeface="Cambria Math"/>
                              </a:rPr>
                              <m:t>C</m:t>
                            </m:r>
                            <m:r>
                              <a:rPr lang="en-US" altLang="zh-CN" i="1">
                                <a:latin typeface="Cambria Math"/>
                              </a:rPr>
                              <m:t>&amp;</m:t>
                            </m:r>
                            <m:r>
                              <m:rPr>
                                <m:sty m:val="p"/>
                              </m:rPr>
                              <a:rPr lang="en-US" altLang="zh-CN">
                                <a:latin typeface="Cambria Math"/>
                              </a:rPr>
                              <m:t>P</m:t>
                            </m:r>
                          </m:e>
                        </m:d>
                      </m:e>
                      <m:sub>
                        <m:r>
                          <a:rPr lang="en-US" altLang="zh-CN" i="1">
                            <a:latin typeface="Cambria Math"/>
                          </a:rPr>
                          <m:t>𝑡</m:t>
                        </m:r>
                      </m:sub>
                    </m:sSub>
                    <m:r>
                      <a:rPr lang="en-US" altLang="zh-CN" i="1">
                        <a:latin typeface="Cambria Math"/>
                      </a:rPr>
                      <m:t>=</m:t>
                    </m:r>
                    <m:r>
                      <a:rPr lang="en-US" altLang="zh-CN" b="0" i="1" smtClean="0">
                        <a:latin typeface="Cambria Math"/>
                      </a:rPr>
                      <m:t>−908.158</m:t>
                    </m:r>
                    <m:r>
                      <a:rPr lang="en-US" altLang="zh-CN" i="1">
                        <a:latin typeface="Cambria Math"/>
                      </a:rPr>
                      <m:t>+</m:t>
                    </m:r>
                    <m:r>
                      <a:rPr lang="en-US" altLang="zh-CN" b="0" i="1" smtClean="0">
                        <a:latin typeface="Cambria Math"/>
                      </a:rPr>
                      <m:t>10.893</m:t>
                    </m:r>
                    <m:sSub>
                      <m:sSubPr>
                        <m:ctrlPr>
                          <a:rPr lang="zh-CN" altLang="zh-CN" i="1">
                            <a:latin typeface="Cambria Math"/>
                          </a:rPr>
                        </m:ctrlPr>
                      </m:sSubPr>
                      <m:e>
                        <m:r>
                          <a:rPr lang="en-US" altLang="zh-CN" i="1">
                            <a:latin typeface="Cambria Math"/>
                          </a:rPr>
                          <m:t>𝐶𝑃𝐼</m:t>
                        </m:r>
                      </m:e>
                      <m:sub>
                        <m:r>
                          <a:rPr lang="en-US" altLang="zh-CN" i="1">
                            <a:latin typeface="Cambria Math"/>
                          </a:rPr>
                          <m:t>𝑡</m:t>
                        </m:r>
                      </m:sub>
                    </m:sSub>
                  </m:oMath>
                </a14:m>
                <a:endParaRPr lang="en-US" altLang="zh-CN" dirty="0" smtClean="0"/>
              </a:p>
              <a:p>
                <a:r>
                  <a:rPr lang="en-US" altLang="zh-CN" dirty="0" smtClean="0"/>
                  <a:t>CPI</a:t>
                </a:r>
                <a:r>
                  <a:rPr lang="zh-CN" altLang="en-US" dirty="0" smtClean="0"/>
                  <a:t>每上升</a:t>
                </a:r>
                <a:r>
                  <a:rPr lang="en-US" altLang="zh-CN" dirty="0" smtClean="0"/>
                  <a:t>1</a:t>
                </a:r>
                <a:r>
                  <a:rPr lang="zh-CN" altLang="en-US" dirty="0" smtClean="0"/>
                  <a:t>个单位，</a:t>
                </a:r>
                <a:r>
                  <a:rPr lang="en-US" altLang="zh-CN" dirty="0" smtClean="0"/>
                  <a:t>S&amp;P500</a:t>
                </a:r>
                <a:r>
                  <a:rPr lang="zh-CN" altLang="en-US" dirty="0" smtClean="0"/>
                  <a:t>指数将上升</a:t>
                </a:r>
                <a:r>
                  <a:rPr lang="en-US" altLang="zh-CN" dirty="0" smtClean="0"/>
                  <a:t>10.893</a:t>
                </a:r>
                <a:r>
                  <a:rPr lang="zh-CN" altLang="en-US" dirty="0" smtClean="0"/>
                  <a:t>个单位</a:t>
                </a:r>
                <a:endParaRPr lang="zh-CN" altLang="en-US" dirty="0"/>
              </a:p>
            </p:txBody>
          </p:sp>
        </mc:Choice>
        <mc:Fallback>
          <p:sp>
            <p:nvSpPr>
              <p:cNvPr id="2" name="矩形 1"/>
              <p:cNvSpPr>
                <a:spLocks noRot="1" noChangeAspect="1" noMove="1" noResize="1" noEditPoints="1" noAdjustHandles="1" noChangeArrowheads="1" noChangeShapeType="1" noTextEdit="1"/>
              </p:cNvSpPr>
              <p:nvPr/>
            </p:nvSpPr>
            <p:spPr>
              <a:xfrm>
                <a:off x="164302" y="2322550"/>
                <a:ext cx="5711820" cy="646331"/>
              </a:xfrm>
              <a:prstGeom prst="rect">
                <a:avLst/>
              </a:prstGeom>
              <a:blipFill rotWithShape="1">
                <a:blip r:embed="rId3"/>
                <a:stretch>
                  <a:fillRect l="-961" t="-6604" r="-213" b="-15094"/>
                </a:stretch>
              </a:blipFill>
            </p:spPr>
            <p:txBody>
              <a:bodyPr/>
              <a:lstStyle/>
              <a:p>
                <a:r>
                  <a:rPr lang="zh-CN" altLang="en-US">
                    <a:noFill/>
                  </a:rPr>
                  <a:t> </a:t>
                </a:r>
              </a:p>
            </p:txBody>
          </p:sp>
        </mc:Fallback>
      </mc:AlternateContent>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0161EC-6319-40C1-ACAA-1C71D4717A89}" type="slidenum">
              <a:rPr lang="en-US" altLang="zh-CN" smtClean="0">
                <a:solidFill>
                  <a:srgbClr val="FFFFFF"/>
                </a:solidFill>
              </a:rPr>
              <a:pPr eaLnBrk="1" hangingPunct="1"/>
              <a:t>18</a:t>
            </a:fld>
            <a:endParaRPr lang="en-US" altLang="zh-CN" smtClean="0">
              <a:solidFill>
                <a:srgbClr val="FFFFFF"/>
              </a:solidFill>
            </a:endParaRPr>
          </a:p>
        </p:txBody>
      </p:sp>
      <p:sp>
        <p:nvSpPr>
          <p:cNvPr id="303116" name="Rectangle 12"/>
          <p:cNvSpPr>
            <a:spLocks noGrp="1" noChangeArrowheads="1"/>
          </p:cNvSpPr>
          <p:nvPr>
            <p:ph type="title"/>
          </p:nvPr>
        </p:nvSpPr>
        <p:spPr/>
        <p:txBody>
          <a:bodyPr/>
          <a:lstStyle/>
          <a:p>
            <a:pPr eaLnBrk="1" hangingPunct="1"/>
            <a:r>
              <a:rPr lang="zh-CN" altLang="en-US" dirty="0" smtClean="0"/>
              <a:t>示例</a:t>
            </a:r>
            <a:r>
              <a:rPr lang="en-US" altLang="zh-CN" dirty="0" smtClean="0"/>
              <a:t>3-</a:t>
            </a:r>
            <a:r>
              <a:rPr lang="zh-CN" altLang="en-US" dirty="0" smtClean="0"/>
              <a:t>二次方程拟合</a:t>
            </a:r>
            <a:r>
              <a:rPr lang="zh-CN" altLang="en-US" dirty="0" smtClean="0"/>
              <a:t>示例</a:t>
            </a:r>
            <a:endParaRPr lang="zh-CN" altLang="en-US" dirty="0" smtClean="0"/>
          </a:p>
        </p:txBody>
      </p:sp>
      <p:sp>
        <p:nvSpPr>
          <p:cNvPr id="16388" name="Rectangle 13"/>
          <p:cNvSpPr>
            <a:spLocks noGrp="1" noChangeArrowheads="1"/>
          </p:cNvSpPr>
          <p:nvPr>
            <p:ph type="body" idx="1"/>
          </p:nvPr>
        </p:nvSpPr>
        <p:spPr>
          <a:xfrm>
            <a:off x="457200" y="1600200"/>
            <a:ext cx="8229600" cy="1468438"/>
          </a:xfrm>
        </p:spPr>
        <p:txBody>
          <a:bodyPr/>
          <a:lstStyle/>
          <a:p>
            <a:pPr eaLnBrk="1" hangingPunct="1"/>
            <a:r>
              <a:rPr lang="zh-CN" altLang="en-US" smtClean="0"/>
              <a:t>已知一种新牌子化肥的不同施用量对庄稼产量的影响如下表。请你确定当化肥施用量为</a:t>
            </a:r>
            <a:r>
              <a:rPr lang="en-US" altLang="zh-CN" smtClean="0"/>
              <a:t>5.5</a:t>
            </a:r>
            <a:r>
              <a:rPr lang="zh-CN" altLang="en-US" smtClean="0"/>
              <a:t>克时估计预期的产量。</a:t>
            </a:r>
          </a:p>
        </p:txBody>
      </p:sp>
      <p:grpSp>
        <p:nvGrpSpPr>
          <p:cNvPr id="16389" name="Group 14"/>
          <p:cNvGrpSpPr>
            <a:grpSpLocks/>
          </p:cNvGrpSpPr>
          <p:nvPr/>
        </p:nvGrpSpPr>
        <p:grpSpPr bwMode="auto">
          <a:xfrm>
            <a:off x="250825" y="3500438"/>
            <a:ext cx="8686800" cy="1295400"/>
            <a:chOff x="-3" y="-3"/>
            <a:chExt cx="2762" cy="926"/>
          </a:xfrm>
        </p:grpSpPr>
        <p:grpSp>
          <p:nvGrpSpPr>
            <p:cNvPr id="16390" name="Group 15"/>
            <p:cNvGrpSpPr>
              <a:grpSpLocks/>
            </p:cNvGrpSpPr>
            <p:nvPr/>
          </p:nvGrpSpPr>
          <p:grpSpPr bwMode="auto">
            <a:xfrm>
              <a:off x="0" y="0"/>
              <a:ext cx="2756" cy="920"/>
              <a:chOff x="0" y="0"/>
              <a:chExt cx="2756" cy="920"/>
            </a:xfrm>
          </p:grpSpPr>
          <p:grpSp>
            <p:nvGrpSpPr>
              <p:cNvPr id="16392" name="Group 16"/>
              <p:cNvGrpSpPr>
                <a:grpSpLocks/>
              </p:cNvGrpSpPr>
              <p:nvPr/>
            </p:nvGrpSpPr>
            <p:grpSpPr bwMode="auto">
              <a:xfrm>
                <a:off x="0" y="0"/>
                <a:ext cx="556" cy="460"/>
                <a:chOff x="0" y="0"/>
                <a:chExt cx="556" cy="460"/>
              </a:xfrm>
            </p:grpSpPr>
            <p:sp>
              <p:nvSpPr>
                <p:cNvPr id="16462" name="Rectangle 17"/>
                <p:cNvSpPr>
                  <a:spLocks noChangeArrowheads="1"/>
                </p:cNvSpPr>
                <p:nvPr/>
              </p:nvSpPr>
              <p:spPr bwMode="auto">
                <a:xfrm>
                  <a:off x="0" y="0"/>
                  <a:ext cx="556"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zh-CN" altLang="en-US">
                      <a:latin typeface="Times New Roman" pitchFamily="18" charset="0"/>
                    </a:rPr>
                    <a:t>化肥施用量</a:t>
                  </a:r>
                  <a:r>
                    <a:rPr kumimoji="1" lang="en-US" altLang="zh-CN">
                      <a:latin typeface="Tahoma" pitchFamily="34" charset="0"/>
                    </a:rPr>
                    <a:t>x (</a:t>
                  </a:r>
                  <a:r>
                    <a:rPr kumimoji="1" lang="zh-CN" altLang="en-US">
                      <a:latin typeface="Times New Roman" pitchFamily="18" charset="0"/>
                    </a:rPr>
                    <a:t>克</a:t>
                  </a:r>
                  <a:r>
                    <a:rPr kumimoji="1" lang="en-US" altLang="zh-CN">
                      <a:latin typeface="Tahoma" pitchFamily="34" charset="0"/>
                    </a:rPr>
                    <a:t>)</a:t>
                  </a:r>
                  <a:endParaRPr kumimoji="1" lang="en-US" altLang="zh-CN">
                    <a:latin typeface="Times New Roman" pitchFamily="18" charset="0"/>
                  </a:endParaRPr>
                </a:p>
              </p:txBody>
            </p:sp>
            <p:sp>
              <p:nvSpPr>
                <p:cNvPr id="16463" name="Rectangle 18"/>
                <p:cNvSpPr>
                  <a:spLocks noChangeArrowheads="1"/>
                </p:cNvSpPr>
                <p:nvPr/>
              </p:nvSpPr>
              <p:spPr bwMode="auto">
                <a:xfrm>
                  <a:off x="0" y="0"/>
                  <a:ext cx="556"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393" name="Group 19"/>
              <p:cNvGrpSpPr>
                <a:grpSpLocks/>
              </p:cNvGrpSpPr>
              <p:nvPr/>
            </p:nvGrpSpPr>
            <p:grpSpPr bwMode="auto">
              <a:xfrm>
                <a:off x="556" y="0"/>
                <a:ext cx="200" cy="460"/>
                <a:chOff x="556" y="0"/>
                <a:chExt cx="200" cy="460"/>
              </a:xfrm>
            </p:grpSpPr>
            <p:sp>
              <p:nvSpPr>
                <p:cNvPr id="16460" name="Rectangle 20"/>
                <p:cNvSpPr>
                  <a:spLocks noChangeArrowheads="1"/>
                </p:cNvSpPr>
                <p:nvPr/>
              </p:nvSpPr>
              <p:spPr bwMode="auto">
                <a:xfrm>
                  <a:off x="556" y="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0</a:t>
                  </a:r>
                </a:p>
                <a:p>
                  <a:pPr algn="ctr" eaLnBrk="0" hangingPunct="0"/>
                  <a:endParaRPr kumimoji="1" lang="en-US" altLang="zh-CN">
                    <a:latin typeface="Times New Roman" pitchFamily="18" charset="0"/>
                  </a:endParaRPr>
                </a:p>
              </p:txBody>
            </p:sp>
            <p:sp>
              <p:nvSpPr>
                <p:cNvPr id="16461" name="Rectangle 21"/>
                <p:cNvSpPr>
                  <a:spLocks noChangeArrowheads="1"/>
                </p:cNvSpPr>
                <p:nvPr/>
              </p:nvSpPr>
              <p:spPr bwMode="auto">
                <a:xfrm>
                  <a:off x="556" y="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394" name="Group 22"/>
              <p:cNvGrpSpPr>
                <a:grpSpLocks/>
              </p:cNvGrpSpPr>
              <p:nvPr/>
            </p:nvGrpSpPr>
            <p:grpSpPr bwMode="auto">
              <a:xfrm>
                <a:off x="756" y="0"/>
                <a:ext cx="200" cy="460"/>
                <a:chOff x="756" y="0"/>
                <a:chExt cx="200" cy="460"/>
              </a:xfrm>
            </p:grpSpPr>
            <p:sp>
              <p:nvSpPr>
                <p:cNvPr id="16458" name="Rectangle 23"/>
                <p:cNvSpPr>
                  <a:spLocks noChangeArrowheads="1"/>
                </p:cNvSpPr>
                <p:nvPr/>
              </p:nvSpPr>
              <p:spPr bwMode="auto">
                <a:xfrm>
                  <a:off x="756" y="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1</a:t>
                  </a:r>
                </a:p>
                <a:p>
                  <a:pPr algn="ctr" eaLnBrk="0" hangingPunct="0"/>
                  <a:endParaRPr kumimoji="1" lang="en-US" altLang="zh-CN">
                    <a:latin typeface="Times New Roman" pitchFamily="18" charset="0"/>
                  </a:endParaRPr>
                </a:p>
              </p:txBody>
            </p:sp>
            <p:sp>
              <p:nvSpPr>
                <p:cNvPr id="16459" name="Rectangle 24"/>
                <p:cNvSpPr>
                  <a:spLocks noChangeArrowheads="1"/>
                </p:cNvSpPr>
                <p:nvPr/>
              </p:nvSpPr>
              <p:spPr bwMode="auto">
                <a:xfrm>
                  <a:off x="756" y="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395" name="Group 25"/>
              <p:cNvGrpSpPr>
                <a:grpSpLocks/>
              </p:cNvGrpSpPr>
              <p:nvPr/>
            </p:nvGrpSpPr>
            <p:grpSpPr bwMode="auto">
              <a:xfrm>
                <a:off x="956" y="0"/>
                <a:ext cx="200" cy="460"/>
                <a:chOff x="956" y="0"/>
                <a:chExt cx="200" cy="460"/>
              </a:xfrm>
            </p:grpSpPr>
            <p:sp>
              <p:nvSpPr>
                <p:cNvPr id="16456" name="Rectangle 26"/>
                <p:cNvSpPr>
                  <a:spLocks noChangeArrowheads="1"/>
                </p:cNvSpPr>
                <p:nvPr/>
              </p:nvSpPr>
              <p:spPr bwMode="auto">
                <a:xfrm>
                  <a:off x="956" y="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2</a:t>
                  </a:r>
                </a:p>
                <a:p>
                  <a:pPr algn="ctr" eaLnBrk="0" hangingPunct="0"/>
                  <a:endParaRPr kumimoji="1" lang="en-US" altLang="zh-CN">
                    <a:latin typeface="Times New Roman" pitchFamily="18" charset="0"/>
                  </a:endParaRPr>
                </a:p>
              </p:txBody>
            </p:sp>
            <p:sp>
              <p:nvSpPr>
                <p:cNvPr id="16457" name="Rectangle 27"/>
                <p:cNvSpPr>
                  <a:spLocks noChangeArrowheads="1"/>
                </p:cNvSpPr>
                <p:nvPr/>
              </p:nvSpPr>
              <p:spPr bwMode="auto">
                <a:xfrm>
                  <a:off x="956" y="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396" name="Group 28"/>
              <p:cNvGrpSpPr>
                <a:grpSpLocks/>
              </p:cNvGrpSpPr>
              <p:nvPr/>
            </p:nvGrpSpPr>
            <p:grpSpPr bwMode="auto">
              <a:xfrm>
                <a:off x="1156" y="0"/>
                <a:ext cx="200" cy="460"/>
                <a:chOff x="1156" y="0"/>
                <a:chExt cx="200" cy="460"/>
              </a:xfrm>
            </p:grpSpPr>
            <p:sp>
              <p:nvSpPr>
                <p:cNvPr id="16454" name="Rectangle 29"/>
                <p:cNvSpPr>
                  <a:spLocks noChangeArrowheads="1"/>
                </p:cNvSpPr>
                <p:nvPr/>
              </p:nvSpPr>
              <p:spPr bwMode="auto">
                <a:xfrm>
                  <a:off x="1156" y="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3</a:t>
                  </a:r>
                </a:p>
                <a:p>
                  <a:pPr algn="ctr" eaLnBrk="0" hangingPunct="0"/>
                  <a:endParaRPr kumimoji="1" lang="en-US" altLang="zh-CN">
                    <a:latin typeface="Times New Roman" pitchFamily="18" charset="0"/>
                  </a:endParaRPr>
                </a:p>
              </p:txBody>
            </p:sp>
            <p:sp>
              <p:nvSpPr>
                <p:cNvPr id="16455" name="Rectangle 30"/>
                <p:cNvSpPr>
                  <a:spLocks noChangeArrowheads="1"/>
                </p:cNvSpPr>
                <p:nvPr/>
              </p:nvSpPr>
              <p:spPr bwMode="auto">
                <a:xfrm>
                  <a:off x="1156" y="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397" name="Group 31"/>
              <p:cNvGrpSpPr>
                <a:grpSpLocks/>
              </p:cNvGrpSpPr>
              <p:nvPr/>
            </p:nvGrpSpPr>
            <p:grpSpPr bwMode="auto">
              <a:xfrm>
                <a:off x="1356" y="0"/>
                <a:ext cx="200" cy="460"/>
                <a:chOff x="1356" y="0"/>
                <a:chExt cx="200" cy="460"/>
              </a:xfrm>
            </p:grpSpPr>
            <p:sp>
              <p:nvSpPr>
                <p:cNvPr id="16452" name="Rectangle 32"/>
                <p:cNvSpPr>
                  <a:spLocks noChangeArrowheads="1"/>
                </p:cNvSpPr>
                <p:nvPr/>
              </p:nvSpPr>
              <p:spPr bwMode="auto">
                <a:xfrm>
                  <a:off x="1356" y="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4</a:t>
                  </a:r>
                </a:p>
                <a:p>
                  <a:pPr algn="ctr" eaLnBrk="0" hangingPunct="0"/>
                  <a:endParaRPr kumimoji="1" lang="en-US" altLang="zh-CN">
                    <a:latin typeface="Times New Roman" pitchFamily="18" charset="0"/>
                  </a:endParaRPr>
                </a:p>
              </p:txBody>
            </p:sp>
            <p:sp>
              <p:nvSpPr>
                <p:cNvPr id="16453" name="Rectangle 33"/>
                <p:cNvSpPr>
                  <a:spLocks noChangeArrowheads="1"/>
                </p:cNvSpPr>
                <p:nvPr/>
              </p:nvSpPr>
              <p:spPr bwMode="auto">
                <a:xfrm>
                  <a:off x="1356" y="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398" name="Group 34"/>
              <p:cNvGrpSpPr>
                <a:grpSpLocks/>
              </p:cNvGrpSpPr>
              <p:nvPr/>
            </p:nvGrpSpPr>
            <p:grpSpPr bwMode="auto">
              <a:xfrm>
                <a:off x="1556" y="0"/>
                <a:ext cx="200" cy="460"/>
                <a:chOff x="1556" y="0"/>
                <a:chExt cx="200" cy="460"/>
              </a:xfrm>
            </p:grpSpPr>
            <p:sp>
              <p:nvSpPr>
                <p:cNvPr id="16450" name="Rectangle 35"/>
                <p:cNvSpPr>
                  <a:spLocks noChangeArrowheads="1"/>
                </p:cNvSpPr>
                <p:nvPr/>
              </p:nvSpPr>
              <p:spPr bwMode="auto">
                <a:xfrm>
                  <a:off x="1556" y="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5</a:t>
                  </a:r>
                </a:p>
                <a:p>
                  <a:pPr algn="ctr" eaLnBrk="0" hangingPunct="0"/>
                  <a:endParaRPr kumimoji="1" lang="en-US" altLang="zh-CN">
                    <a:latin typeface="Times New Roman" pitchFamily="18" charset="0"/>
                  </a:endParaRPr>
                </a:p>
              </p:txBody>
            </p:sp>
            <p:sp>
              <p:nvSpPr>
                <p:cNvPr id="16451" name="Rectangle 36"/>
                <p:cNvSpPr>
                  <a:spLocks noChangeArrowheads="1"/>
                </p:cNvSpPr>
                <p:nvPr/>
              </p:nvSpPr>
              <p:spPr bwMode="auto">
                <a:xfrm>
                  <a:off x="1556" y="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399" name="Group 37"/>
              <p:cNvGrpSpPr>
                <a:grpSpLocks/>
              </p:cNvGrpSpPr>
              <p:nvPr/>
            </p:nvGrpSpPr>
            <p:grpSpPr bwMode="auto">
              <a:xfrm>
                <a:off x="1756" y="0"/>
                <a:ext cx="200" cy="460"/>
                <a:chOff x="1756" y="0"/>
                <a:chExt cx="200" cy="460"/>
              </a:xfrm>
            </p:grpSpPr>
            <p:sp>
              <p:nvSpPr>
                <p:cNvPr id="16448" name="Rectangle 38"/>
                <p:cNvSpPr>
                  <a:spLocks noChangeArrowheads="1"/>
                </p:cNvSpPr>
                <p:nvPr/>
              </p:nvSpPr>
              <p:spPr bwMode="auto">
                <a:xfrm>
                  <a:off x="1756" y="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6</a:t>
                  </a:r>
                </a:p>
                <a:p>
                  <a:pPr algn="ctr" eaLnBrk="0" hangingPunct="0"/>
                  <a:endParaRPr kumimoji="1" lang="en-US" altLang="zh-CN">
                    <a:latin typeface="Times New Roman" pitchFamily="18" charset="0"/>
                  </a:endParaRPr>
                </a:p>
              </p:txBody>
            </p:sp>
            <p:sp>
              <p:nvSpPr>
                <p:cNvPr id="16449" name="Rectangle 39"/>
                <p:cNvSpPr>
                  <a:spLocks noChangeArrowheads="1"/>
                </p:cNvSpPr>
                <p:nvPr/>
              </p:nvSpPr>
              <p:spPr bwMode="auto">
                <a:xfrm>
                  <a:off x="1756" y="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00" name="Group 40"/>
              <p:cNvGrpSpPr>
                <a:grpSpLocks/>
              </p:cNvGrpSpPr>
              <p:nvPr/>
            </p:nvGrpSpPr>
            <p:grpSpPr bwMode="auto">
              <a:xfrm>
                <a:off x="1956" y="0"/>
                <a:ext cx="200" cy="460"/>
                <a:chOff x="1956" y="0"/>
                <a:chExt cx="200" cy="460"/>
              </a:xfrm>
            </p:grpSpPr>
            <p:sp>
              <p:nvSpPr>
                <p:cNvPr id="16446" name="Rectangle 41"/>
                <p:cNvSpPr>
                  <a:spLocks noChangeArrowheads="1"/>
                </p:cNvSpPr>
                <p:nvPr/>
              </p:nvSpPr>
              <p:spPr bwMode="auto">
                <a:xfrm>
                  <a:off x="1956" y="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7</a:t>
                  </a:r>
                </a:p>
                <a:p>
                  <a:pPr algn="ctr" eaLnBrk="0" hangingPunct="0"/>
                  <a:endParaRPr kumimoji="1" lang="en-US" altLang="zh-CN">
                    <a:latin typeface="Times New Roman" pitchFamily="18" charset="0"/>
                  </a:endParaRPr>
                </a:p>
              </p:txBody>
            </p:sp>
            <p:sp>
              <p:nvSpPr>
                <p:cNvPr id="16447" name="Rectangle 42"/>
                <p:cNvSpPr>
                  <a:spLocks noChangeArrowheads="1"/>
                </p:cNvSpPr>
                <p:nvPr/>
              </p:nvSpPr>
              <p:spPr bwMode="auto">
                <a:xfrm>
                  <a:off x="1956" y="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01" name="Group 43"/>
              <p:cNvGrpSpPr>
                <a:grpSpLocks/>
              </p:cNvGrpSpPr>
              <p:nvPr/>
            </p:nvGrpSpPr>
            <p:grpSpPr bwMode="auto">
              <a:xfrm>
                <a:off x="2156" y="0"/>
                <a:ext cx="200" cy="460"/>
                <a:chOff x="2156" y="0"/>
                <a:chExt cx="200" cy="460"/>
              </a:xfrm>
            </p:grpSpPr>
            <p:sp>
              <p:nvSpPr>
                <p:cNvPr id="16444" name="Rectangle 44"/>
                <p:cNvSpPr>
                  <a:spLocks noChangeArrowheads="1"/>
                </p:cNvSpPr>
                <p:nvPr/>
              </p:nvSpPr>
              <p:spPr bwMode="auto">
                <a:xfrm>
                  <a:off x="2156" y="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8</a:t>
                  </a:r>
                </a:p>
                <a:p>
                  <a:pPr algn="ctr" eaLnBrk="0" hangingPunct="0"/>
                  <a:endParaRPr kumimoji="1" lang="en-US" altLang="zh-CN">
                    <a:latin typeface="Times New Roman" pitchFamily="18" charset="0"/>
                  </a:endParaRPr>
                </a:p>
              </p:txBody>
            </p:sp>
            <p:sp>
              <p:nvSpPr>
                <p:cNvPr id="16445" name="Rectangle 45"/>
                <p:cNvSpPr>
                  <a:spLocks noChangeArrowheads="1"/>
                </p:cNvSpPr>
                <p:nvPr/>
              </p:nvSpPr>
              <p:spPr bwMode="auto">
                <a:xfrm>
                  <a:off x="2156" y="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02" name="Group 46"/>
              <p:cNvGrpSpPr>
                <a:grpSpLocks/>
              </p:cNvGrpSpPr>
              <p:nvPr/>
            </p:nvGrpSpPr>
            <p:grpSpPr bwMode="auto">
              <a:xfrm>
                <a:off x="2356" y="0"/>
                <a:ext cx="200" cy="460"/>
                <a:chOff x="2356" y="0"/>
                <a:chExt cx="200" cy="460"/>
              </a:xfrm>
            </p:grpSpPr>
            <p:sp>
              <p:nvSpPr>
                <p:cNvPr id="16442" name="Rectangle 47"/>
                <p:cNvSpPr>
                  <a:spLocks noChangeArrowheads="1"/>
                </p:cNvSpPr>
                <p:nvPr/>
              </p:nvSpPr>
              <p:spPr bwMode="auto">
                <a:xfrm>
                  <a:off x="2356" y="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9</a:t>
                  </a:r>
                </a:p>
                <a:p>
                  <a:pPr algn="ctr" eaLnBrk="0" hangingPunct="0"/>
                  <a:endParaRPr kumimoji="1" lang="en-US" altLang="zh-CN">
                    <a:latin typeface="Times New Roman" pitchFamily="18" charset="0"/>
                  </a:endParaRPr>
                </a:p>
              </p:txBody>
            </p:sp>
            <p:sp>
              <p:nvSpPr>
                <p:cNvPr id="16443" name="Rectangle 48"/>
                <p:cNvSpPr>
                  <a:spLocks noChangeArrowheads="1"/>
                </p:cNvSpPr>
                <p:nvPr/>
              </p:nvSpPr>
              <p:spPr bwMode="auto">
                <a:xfrm>
                  <a:off x="2356" y="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03" name="Group 49"/>
              <p:cNvGrpSpPr>
                <a:grpSpLocks/>
              </p:cNvGrpSpPr>
              <p:nvPr/>
            </p:nvGrpSpPr>
            <p:grpSpPr bwMode="auto">
              <a:xfrm>
                <a:off x="2556" y="0"/>
                <a:ext cx="200" cy="460"/>
                <a:chOff x="2556" y="0"/>
                <a:chExt cx="200" cy="460"/>
              </a:xfrm>
            </p:grpSpPr>
            <p:sp>
              <p:nvSpPr>
                <p:cNvPr id="16440" name="Rectangle 50"/>
                <p:cNvSpPr>
                  <a:spLocks noChangeArrowheads="1"/>
                </p:cNvSpPr>
                <p:nvPr/>
              </p:nvSpPr>
              <p:spPr bwMode="auto">
                <a:xfrm>
                  <a:off x="2556" y="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10</a:t>
                  </a:r>
                </a:p>
                <a:p>
                  <a:pPr algn="ctr" eaLnBrk="0" hangingPunct="0"/>
                  <a:endParaRPr kumimoji="1" lang="en-US" altLang="zh-CN">
                    <a:latin typeface="Times New Roman" pitchFamily="18" charset="0"/>
                  </a:endParaRPr>
                </a:p>
              </p:txBody>
            </p:sp>
            <p:sp>
              <p:nvSpPr>
                <p:cNvPr id="16441" name="Rectangle 51"/>
                <p:cNvSpPr>
                  <a:spLocks noChangeArrowheads="1"/>
                </p:cNvSpPr>
                <p:nvPr/>
              </p:nvSpPr>
              <p:spPr bwMode="auto">
                <a:xfrm>
                  <a:off x="2556" y="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04" name="Group 52"/>
              <p:cNvGrpSpPr>
                <a:grpSpLocks/>
              </p:cNvGrpSpPr>
              <p:nvPr/>
            </p:nvGrpSpPr>
            <p:grpSpPr bwMode="auto">
              <a:xfrm>
                <a:off x="0" y="460"/>
                <a:ext cx="556" cy="460"/>
                <a:chOff x="0" y="460"/>
                <a:chExt cx="556" cy="460"/>
              </a:xfrm>
            </p:grpSpPr>
            <p:sp>
              <p:nvSpPr>
                <p:cNvPr id="16438" name="Rectangle 53"/>
                <p:cNvSpPr>
                  <a:spLocks noChangeArrowheads="1"/>
                </p:cNvSpPr>
                <p:nvPr/>
              </p:nvSpPr>
              <p:spPr bwMode="auto">
                <a:xfrm>
                  <a:off x="0" y="460"/>
                  <a:ext cx="556"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zh-CN" altLang="en-US">
                      <a:latin typeface="Times New Roman" pitchFamily="18" charset="0"/>
                    </a:rPr>
                    <a:t>产量</a:t>
                  </a:r>
                  <a:r>
                    <a:rPr kumimoji="1" lang="zh-CN" altLang="en-US">
                      <a:latin typeface="Tahoma" pitchFamily="34" charset="0"/>
                    </a:rPr>
                    <a:t> </a:t>
                  </a:r>
                  <a:r>
                    <a:rPr kumimoji="1" lang="en-US" altLang="zh-CN">
                      <a:latin typeface="Tahoma" pitchFamily="34" charset="0"/>
                    </a:rPr>
                    <a:t>(</a:t>
                  </a:r>
                  <a:r>
                    <a:rPr kumimoji="1" lang="zh-CN" altLang="en-US">
                      <a:latin typeface="Times New Roman" pitchFamily="18" charset="0"/>
                    </a:rPr>
                    <a:t>公斤</a:t>
                  </a:r>
                  <a:r>
                    <a:rPr kumimoji="1" lang="en-US" altLang="zh-CN">
                      <a:latin typeface="Tahoma" pitchFamily="34" charset="0"/>
                    </a:rPr>
                    <a:t>)</a:t>
                  </a:r>
                  <a:endParaRPr kumimoji="1" lang="en-US" altLang="zh-CN">
                    <a:latin typeface="Times New Roman" pitchFamily="18" charset="0"/>
                  </a:endParaRPr>
                </a:p>
                <a:p>
                  <a:pPr algn="ctr" eaLnBrk="0" hangingPunct="0"/>
                  <a:endParaRPr kumimoji="1" lang="en-US" altLang="zh-CN">
                    <a:latin typeface="Times New Roman" pitchFamily="18" charset="0"/>
                  </a:endParaRPr>
                </a:p>
              </p:txBody>
            </p:sp>
            <p:sp>
              <p:nvSpPr>
                <p:cNvPr id="16439" name="Rectangle 54"/>
                <p:cNvSpPr>
                  <a:spLocks noChangeArrowheads="1"/>
                </p:cNvSpPr>
                <p:nvPr/>
              </p:nvSpPr>
              <p:spPr bwMode="auto">
                <a:xfrm>
                  <a:off x="0" y="460"/>
                  <a:ext cx="556"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05" name="Group 55"/>
              <p:cNvGrpSpPr>
                <a:grpSpLocks/>
              </p:cNvGrpSpPr>
              <p:nvPr/>
            </p:nvGrpSpPr>
            <p:grpSpPr bwMode="auto">
              <a:xfrm>
                <a:off x="556" y="460"/>
                <a:ext cx="200" cy="460"/>
                <a:chOff x="556" y="460"/>
                <a:chExt cx="200" cy="460"/>
              </a:xfrm>
            </p:grpSpPr>
            <p:sp>
              <p:nvSpPr>
                <p:cNvPr id="16436" name="Rectangle 56"/>
                <p:cNvSpPr>
                  <a:spLocks noChangeArrowheads="1"/>
                </p:cNvSpPr>
                <p:nvPr/>
              </p:nvSpPr>
              <p:spPr bwMode="auto">
                <a:xfrm>
                  <a:off x="556" y="46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0.21</a:t>
                  </a:r>
                </a:p>
                <a:p>
                  <a:pPr algn="ctr" eaLnBrk="0" hangingPunct="0"/>
                  <a:endParaRPr kumimoji="1" lang="en-US" altLang="zh-CN">
                    <a:latin typeface="Times New Roman" pitchFamily="18" charset="0"/>
                  </a:endParaRPr>
                </a:p>
              </p:txBody>
            </p:sp>
            <p:sp>
              <p:nvSpPr>
                <p:cNvPr id="16437" name="Rectangle 57"/>
                <p:cNvSpPr>
                  <a:spLocks noChangeArrowheads="1"/>
                </p:cNvSpPr>
                <p:nvPr/>
              </p:nvSpPr>
              <p:spPr bwMode="auto">
                <a:xfrm>
                  <a:off x="556" y="46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06" name="Group 58"/>
              <p:cNvGrpSpPr>
                <a:grpSpLocks/>
              </p:cNvGrpSpPr>
              <p:nvPr/>
            </p:nvGrpSpPr>
            <p:grpSpPr bwMode="auto">
              <a:xfrm>
                <a:off x="756" y="460"/>
                <a:ext cx="200" cy="460"/>
                <a:chOff x="756" y="460"/>
                <a:chExt cx="200" cy="460"/>
              </a:xfrm>
            </p:grpSpPr>
            <p:sp>
              <p:nvSpPr>
                <p:cNvPr id="16434" name="Rectangle 59"/>
                <p:cNvSpPr>
                  <a:spLocks noChangeArrowheads="1"/>
                </p:cNvSpPr>
                <p:nvPr/>
              </p:nvSpPr>
              <p:spPr bwMode="auto">
                <a:xfrm>
                  <a:off x="756" y="46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0.35</a:t>
                  </a:r>
                </a:p>
                <a:p>
                  <a:pPr algn="ctr" eaLnBrk="0" hangingPunct="0"/>
                  <a:endParaRPr kumimoji="1" lang="en-US" altLang="zh-CN">
                    <a:latin typeface="Times New Roman" pitchFamily="18" charset="0"/>
                  </a:endParaRPr>
                </a:p>
              </p:txBody>
            </p:sp>
            <p:sp>
              <p:nvSpPr>
                <p:cNvPr id="16435" name="Rectangle 60"/>
                <p:cNvSpPr>
                  <a:spLocks noChangeArrowheads="1"/>
                </p:cNvSpPr>
                <p:nvPr/>
              </p:nvSpPr>
              <p:spPr bwMode="auto">
                <a:xfrm>
                  <a:off x="756" y="46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07" name="Group 61"/>
              <p:cNvGrpSpPr>
                <a:grpSpLocks/>
              </p:cNvGrpSpPr>
              <p:nvPr/>
            </p:nvGrpSpPr>
            <p:grpSpPr bwMode="auto">
              <a:xfrm>
                <a:off x="956" y="460"/>
                <a:ext cx="200" cy="460"/>
                <a:chOff x="956" y="460"/>
                <a:chExt cx="200" cy="460"/>
              </a:xfrm>
            </p:grpSpPr>
            <p:sp>
              <p:nvSpPr>
                <p:cNvPr id="16432" name="Rectangle 62"/>
                <p:cNvSpPr>
                  <a:spLocks noChangeArrowheads="1"/>
                </p:cNvSpPr>
                <p:nvPr/>
              </p:nvSpPr>
              <p:spPr bwMode="auto">
                <a:xfrm>
                  <a:off x="956" y="46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0.41</a:t>
                  </a:r>
                </a:p>
                <a:p>
                  <a:pPr algn="ctr" eaLnBrk="0" hangingPunct="0"/>
                  <a:endParaRPr kumimoji="1" lang="en-US" altLang="zh-CN">
                    <a:latin typeface="Times New Roman" pitchFamily="18" charset="0"/>
                  </a:endParaRPr>
                </a:p>
              </p:txBody>
            </p:sp>
            <p:sp>
              <p:nvSpPr>
                <p:cNvPr id="16433" name="Rectangle 63"/>
                <p:cNvSpPr>
                  <a:spLocks noChangeArrowheads="1"/>
                </p:cNvSpPr>
                <p:nvPr/>
              </p:nvSpPr>
              <p:spPr bwMode="auto">
                <a:xfrm>
                  <a:off x="956" y="46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08" name="Group 64"/>
              <p:cNvGrpSpPr>
                <a:grpSpLocks/>
              </p:cNvGrpSpPr>
              <p:nvPr/>
            </p:nvGrpSpPr>
            <p:grpSpPr bwMode="auto">
              <a:xfrm>
                <a:off x="1156" y="460"/>
                <a:ext cx="200" cy="460"/>
                <a:chOff x="1156" y="460"/>
                <a:chExt cx="200" cy="460"/>
              </a:xfrm>
            </p:grpSpPr>
            <p:sp>
              <p:nvSpPr>
                <p:cNvPr id="16430" name="Rectangle 65"/>
                <p:cNvSpPr>
                  <a:spLocks noChangeArrowheads="1"/>
                </p:cNvSpPr>
                <p:nvPr/>
              </p:nvSpPr>
              <p:spPr bwMode="auto">
                <a:xfrm>
                  <a:off x="1156" y="46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0.46</a:t>
                  </a:r>
                </a:p>
                <a:p>
                  <a:pPr algn="ctr" eaLnBrk="0" hangingPunct="0"/>
                  <a:endParaRPr kumimoji="1" lang="en-US" altLang="zh-CN">
                    <a:latin typeface="Times New Roman" pitchFamily="18" charset="0"/>
                  </a:endParaRPr>
                </a:p>
              </p:txBody>
            </p:sp>
            <p:sp>
              <p:nvSpPr>
                <p:cNvPr id="16431" name="Rectangle 66"/>
                <p:cNvSpPr>
                  <a:spLocks noChangeArrowheads="1"/>
                </p:cNvSpPr>
                <p:nvPr/>
              </p:nvSpPr>
              <p:spPr bwMode="auto">
                <a:xfrm>
                  <a:off x="1156" y="46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09" name="Group 67"/>
              <p:cNvGrpSpPr>
                <a:grpSpLocks/>
              </p:cNvGrpSpPr>
              <p:nvPr/>
            </p:nvGrpSpPr>
            <p:grpSpPr bwMode="auto">
              <a:xfrm>
                <a:off x="1356" y="460"/>
                <a:ext cx="200" cy="460"/>
                <a:chOff x="1356" y="460"/>
                <a:chExt cx="200" cy="460"/>
              </a:xfrm>
            </p:grpSpPr>
            <p:sp>
              <p:nvSpPr>
                <p:cNvPr id="16428" name="Rectangle 68"/>
                <p:cNvSpPr>
                  <a:spLocks noChangeArrowheads="1"/>
                </p:cNvSpPr>
                <p:nvPr/>
              </p:nvSpPr>
              <p:spPr bwMode="auto">
                <a:xfrm>
                  <a:off x="1356" y="46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0.5</a:t>
                  </a:r>
                </a:p>
                <a:p>
                  <a:pPr algn="ctr" eaLnBrk="0" hangingPunct="0"/>
                  <a:endParaRPr kumimoji="1" lang="en-US" altLang="zh-CN">
                    <a:latin typeface="Times New Roman" pitchFamily="18" charset="0"/>
                  </a:endParaRPr>
                </a:p>
              </p:txBody>
            </p:sp>
            <p:sp>
              <p:nvSpPr>
                <p:cNvPr id="16429" name="Rectangle 69"/>
                <p:cNvSpPr>
                  <a:spLocks noChangeArrowheads="1"/>
                </p:cNvSpPr>
                <p:nvPr/>
              </p:nvSpPr>
              <p:spPr bwMode="auto">
                <a:xfrm>
                  <a:off x="1356" y="46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10" name="Group 70"/>
              <p:cNvGrpSpPr>
                <a:grpSpLocks/>
              </p:cNvGrpSpPr>
              <p:nvPr/>
            </p:nvGrpSpPr>
            <p:grpSpPr bwMode="auto">
              <a:xfrm>
                <a:off x="1556" y="460"/>
                <a:ext cx="200" cy="460"/>
                <a:chOff x="1556" y="460"/>
                <a:chExt cx="200" cy="460"/>
              </a:xfrm>
            </p:grpSpPr>
            <p:sp>
              <p:nvSpPr>
                <p:cNvPr id="16426" name="Rectangle 71"/>
                <p:cNvSpPr>
                  <a:spLocks noChangeArrowheads="1"/>
                </p:cNvSpPr>
                <p:nvPr/>
              </p:nvSpPr>
              <p:spPr bwMode="auto">
                <a:xfrm>
                  <a:off x="1556" y="46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0.52</a:t>
                  </a:r>
                </a:p>
                <a:p>
                  <a:pPr algn="ctr" eaLnBrk="0" hangingPunct="0"/>
                  <a:endParaRPr kumimoji="1" lang="en-US" altLang="zh-CN">
                    <a:latin typeface="Times New Roman" pitchFamily="18" charset="0"/>
                  </a:endParaRPr>
                </a:p>
              </p:txBody>
            </p:sp>
            <p:sp>
              <p:nvSpPr>
                <p:cNvPr id="16427" name="Rectangle 72"/>
                <p:cNvSpPr>
                  <a:spLocks noChangeArrowheads="1"/>
                </p:cNvSpPr>
                <p:nvPr/>
              </p:nvSpPr>
              <p:spPr bwMode="auto">
                <a:xfrm>
                  <a:off x="1556" y="46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11" name="Group 73"/>
              <p:cNvGrpSpPr>
                <a:grpSpLocks/>
              </p:cNvGrpSpPr>
              <p:nvPr/>
            </p:nvGrpSpPr>
            <p:grpSpPr bwMode="auto">
              <a:xfrm>
                <a:off x="1756" y="460"/>
                <a:ext cx="200" cy="460"/>
                <a:chOff x="1756" y="460"/>
                <a:chExt cx="200" cy="460"/>
              </a:xfrm>
            </p:grpSpPr>
            <p:sp>
              <p:nvSpPr>
                <p:cNvPr id="16424" name="Rectangle 74"/>
                <p:cNvSpPr>
                  <a:spLocks noChangeArrowheads="1"/>
                </p:cNvSpPr>
                <p:nvPr/>
              </p:nvSpPr>
              <p:spPr bwMode="auto">
                <a:xfrm>
                  <a:off x="1756" y="46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0.53</a:t>
                  </a:r>
                </a:p>
                <a:p>
                  <a:pPr algn="ctr" eaLnBrk="0" hangingPunct="0"/>
                  <a:endParaRPr kumimoji="1" lang="en-US" altLang="zh-CN">
                    <a:latin typeface="Times New Roman" pitchFamily="18" charset="0"/>
                  </a:endParaRPr>
                </a:p>
              </p:txBody>
            </p:sp>
            <p:sp>
              <p:nvSpPr>
                <p:cNvPr id="16425" name="Rectangle 75"/>
                <p:cNvSpPr>
                  <a:spLocks noChangeArrowheads="1"/>
                </p:cNvSpPr>
                <p:nvPr/>
              </p:nvSpPr>
              <p:spPr bwMode="auto">
                <a:xfrm>
                  <a:off x="1756" y="46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12" name="Group 76"/>
              <p:cNvGrpSpPr>
                <a:grpSpLocks/>
              </p:cNvGrpSpPr>
              <p:nvPr/>
            </p:nvGrpSpPr>
            <p:grpSpPr bwMode="auto">
              <a:xfrm>
                <a:off x="1956" y="460"/>
                <a:ext cx="200" cy="460"/>
                <a:chOff x="1956" y="460"/>
                <a:chExt cx="200" cy="460"/>
              </a:xfrm>
            </p:grpSpPr>
            <p:sp>
              <p:nvSpPr>
                <p:cNvPr id="16422" name="Rectangle 77"/>
                <p:cNvSpPr>
                  <a:spLocks noChangeArrowheads="1"/>
                </p:cNvSpPr>
                <p:nvPr/>
              </p:nvSpPr>
              <p:spPr bwMode="auto">
                <a:xfrm>
                  <a:off x="1956" y="46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0.53</a:t>
                  </a:r>
                </a:p>
                <a:p>
                  <a:pPr algn="ctr" eaLnBrk="0" hangingPunct="0"/>
                  <a:endParaRPr kumimoji="1" lang="en-US" altLang="zh-CN">
                    <a:latin typeface="Times New Roman" pitchFamily="18" charset="0"/>
                  </a:endParaRPr>
                </a:p>
              </p:txBody>
            </p:sp>
            <p:sp>
              <p:nvSpPr>
                <p:cNvPr id="16423" name="Rectangle 78"/>
                <p:cNvSpPr>
                  <a:spLocks noChangeArrowheads="1"/>
                </p:cNvSpPr>
                <p:nvPr/>
              </p:nvSpPr>
              <p:spPr bwMode="auto">
                <a:xfrm>
                  <a:off x="1956" y="46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13" name="Group 79"/>
              <p:cNvGrpSpPr>
                <a:grpSpLocks/>
              </p:cNvGrpSpPr>
              <p:nvPr/>
            </p:nvGrpSpPr>
            <p:grpSpPr bwMode="auto">
              <a:xfrm>
                <a:off x="2156" y="460"/>
                <a:ext cx="200" cy="460"/>
                <a:chOff x="2156" y="460"/>
                <a:chExt cx="200" cy="460"/>
              </a:xfrm>
            </p:grpSpPr>
            <p:sp>
              <p:nvSpPr>
                <p:cNvPr id="16420" name="Rectangle 80"/>
                <p:cNvSpPr>
                  <a:spLocks noChangeArrowheads="1"/>
                </p:cNvSpPr>
                <p:nvPr/>
              </p:nvSpPr>
              <p:spPr bwMode="auto">
                <a:xfrm>
                  <a:off x="2156" y="46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0.53</a:t>
                  </a:r>
                </a:p>
                <a:p>
                  <a:pPr algn="ctr" eaLnBrk="0" hangingPunct="0"/>
                  <a:endParaRPr kumimoji="1" lang="en-US" altLang="zh-CN">
                    <a:latin typeface="Times New Roman" pitchFamily="18" charset="0"/>
                  </a:endParaRPr>
                </a:p>
              </p:txBody>
            </p:sp>
            <p:sp>
              <p:nvSpPr>
                <p:cNvPr id="16421" name="Rectangle 81"/>
                <p:cNvSpPr>
                  <a:spLocks noChangeArrowheads="1"/>
                </p:cNvSpPr>
                <p:nvPr/>
              </p:nvSpPr>
              <p:spPr bwMode="auto">
                <a:xfrm>
                  <a:off x="2156" y="46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14" name="Group 82"/>
              <p:cNvGrpSpPr>
                <a:grpSpLocks/>
              </p:cNvGrpSpPr>
              <p:nvPr/>
            </p:nvGrpSpPr>
            <p:grpSpPr bwMode="auto">
              <a:xfrm>
                <a:off x="2356" y="460"/>
                <a:ext cx="200" cy="460"/>
                <a:chOff x="2356" y="460"/>
                <a:chExt cx="200" cy="460"/>
              </a:xfrm>
            </p:grpSpPr>
            <p:sp>
              <p:nvSpPr>
                <p:cNvPr id="16418" name="Rectangle 83"/>
                <p:cNvSpPr>
                  <a:spLocks noChangeArrowheads="1"/>
                </p:cNvSpPr>
                <p:nvPr/>
              </p:nvSpPr>
              <p:spPr bwMode="auto">
                <a:xfrm>
                  <a:off x="2356" y="46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0.51</a:t>
                  </a:r>
                </a:p>
                <a:p>
                  <a:pPr algn="ctr" eaLnBrk="0" hangingPunct="0"/>
                  <a:endParaRPr kumimoji="1" lang="en-US" altLang="zh-CN">
                    <a:latin typeface="Times New Roman" pitchFamily="18" charset="0"/>
                  </a:endParaRPr>
                </a:p>
              </p:txBody>
            </p:sp>
            <p:sp>
              <p:nvSpPr>
                <p:cNvPr id="16419" name="Rectangle 84"/>
                <p:cNvSpPr>
                  <a:spLocks noChangeArrowheads="1"/>
                </p:cNvSpPr>
                <p:nvPr/>
              </p:nvSpPr>
              <p:spPr bwMode="auto">
                <a:xfrm>
                  <a:off x="2356" y="46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15" name="Group 85"/>
              <p:cNvGrpSpPr>
                <a:grpSpLocks/>
              </p:cNvGrpSpPr>
              <p:nvPr/>
            </p:nvGrpSpPr>
            <p:grpSpPr bwMode="auto">
              <a:xfrm>
                <a:off x="2556" y="460"/>
                <a:ext cx="200" cy="460"/>
                <a:chOff x="2556" y="460"/>
                <a:chExt cx="200" cy="460"/>
              </a:xfrm>
            </p:grpSpPr>
            <p:sp>
              <p:nvSpPr>
                <p:cNvPr id="16416" name="Rectangle 86"/>
                <p:cNvSpPr>
                  <a:spLocks noChangeArrowheads="1"/>
                </p:cNvSpPr>
                <p:nvPr/>
              </p:nvSpPr>
              <p:spPr bwMode="auto">
                <a:xfrm>
                  <a:off x="2556" y="460"/>
                  <a:ext cx="200"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kumimoji="1" lang="en-US" altLang="zh-CN">
                      <a:latin typeface="Times New Roman" pitchFamily="18" charset="0"/>
                    </a:rPr>
                    <a:t>0.49</a:t>
                  </a:r>
                </a:p>
                <a:p>
                  <a:pPr algn="ctr" eaLnBrk="0" hangingPunct="0"/>
                  <a:endParaRPr kumimoji="1" lang="en-US" altLang="zh-CN">
                    <a:latin typeface="Times New Roman" pitchFamily="18" charset="0"/>
                  </a:endParaRPr>
                </a:p>
              </p:txBody>
            </p:sp>
            <p:sp>
              <p:nvSpPr>
                <p:cNvPr id="16417" name="Rectangle 87"/>
                <p:cNvSpPr>
                  <a:spLocks noChangeArrowheads="1"/>
                </p:cNvSpPr>
                <p:nvPr/>
              </p:nvSpPr>
              <p:spPr bwMode="auto">
                <a:xfrm>
                  <a:off x="2556" y="460"/>
                  <a:ext cx="20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16391" name="Rectangle 88"/>
            <p:cNvSpPr>
              <a:spLocks noChangeArrowheads="1"/>
            </p:cNvSpPr>
            <p:nvPr/>
          </p:nvSpPr>
          <p:spPr bwMode="auto">
            <a:xfrm>
              <a:off x="-3" y="-3"/>
              <a:ext cx="2762" cy="926"/>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1911527144"/>
      </p:ext>
    </p:extLst>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05A3F34-B97B-4E9F-8194-C355736B7BBA}" type="slidenum">
              <a:rPr lang="en-US" altLang="zh-CN" smtClean="0">
                <a:solidFill>
                  <a:srgbClr val="FFFFFF"/>
                </a:solidFill>
              </a:rPr>
              <a:pPr eaLnBrk="1" hangingPunct="1"/>
              <a:t>19</a:t>
            </a:fld>
            <a:endParaRPr lang="en-US" altLang="zh-CN" smtClean="0">
              <a:solidFill>
                <a:srgbClr val="FFFFFF"/>
              </a:solidFill>
            </a:endParaRPr>
          </a:p>
        </p:txBody>
      </p:sp>
      <p:sp>
        <p:nvSpPr>
          <p:cNvPr id="289806" name="Rectangle 14"/>
          <p:cNvSpPr>
            <a:spLocks noGrp="1" noChangeArrowheads="1"/>
          </p:cNvSpPr>
          <p:nvPr>
            <p:ph type="title"/>
          </p:nvPr>
        </p:nvSpPr>
        <p:spPr/>
        <p:txBody>
          <a:bodyPr/>
          <a:lstStyle/>
          <a:p>
            <a:pPr eaLnBrk="1" hangingPunct="1">
              <a:defRPr/>
            </a:pPr>
            <a:r>
              <a:rPr lang="zh-CN" altLang="en-US" dirty="0" smtClean="0"/>
              <a:t>二次方程拟合步骤</a:t>
            </a:r>
            <a:endParaRPr lang="zh-CN" altLang="en-US" dirty="0" smtClean="0"/>
          </a:p>
        </p:txBody>
      </p:sp>
      <p:sp>
        <p:nvSpPr>
          <p:cNvPr id="20484" name="Rectangle 15"/>
          <p:cNvSpPr>
            <a:spLocks noGrp="1" noChangeArrowheads="1"/>
          </p:cNvSpPr>
          <p:nvPr>
            <p:ph type="body" idx="1"/>
          </p:nvPr>
        </p:nvSpPr>
        <p:spPr>
          <a:xfrm>
            <a:off x="468313" y="1484313"/>
            <a:ext cx="3970337" cy="4525962"/>
          </a:xfrm>
        </p:spPr>
        <p:txBody>
          <a:bodyPr/>
          <a:lstStyle/>
          <a:p>
            <a:pPr eaLnBrk="1" hangingPunct="1"/>
            <a:r>
              <a:rPr lang="zh-CN" altLang="en-US" sz="2400" smtClean="0"/>
              <a:t>根据数据建立散点图</a:t>
            </a:r>
          </a:p>
          <a:p>
            <a:pPr lvl="1" eaLnBrk="1" hangingPunct="1"/>
            <a:r>
              <a:rPr lang="zh-CN" altLang="en-US" sz="2000" smtClean="0"/>
              <a:t>自变量放在</a:t>
            </a:r>
            <a:r>
              <a:rPr lang="en-US" altLang="zh-CN" sz="2000" smtClean="0"/>
              <a:t>X</a:t>
            </a:r>
            <a:r>
              <a:rPr lang="zh-CN" altLang="en-US" sz="2000" smtClean="0"/>
              <a:t>轴，因变量放在</a:t>
            </a:r>
            <a:r>
              <a:rPr lang="en-US" altLang="zh-CN" sz="2000" smtClean="0"/>
              <a:t>Y</a:t>
            </a:r>
            <a:r>
              <a:rPr lang="zh-CN" altLang="en-US" sz="2000" smtClean="0"/>
              <a:t>轴</a:t>
            </a:r>
          </a:p>
          <a:p>
            <a:pPr eaLnBrk="1" hangingPunct="1"/>
            <a:r>
              <a:rPr lang="zh-CN" altLang="en-US" sz="2400" smtClean="0"/>
              <a:t>添加趋势线</a:t>
            </a:r>
          </a:p>
          <a:p>
            <a:pPr lvl="1" eaLnBrk="1" hangingPunct="1"/>
            <a:r>
              <a:rPr lang="zh-CN" altLang="en-US" sz="2000" smtClean="0"/>
              <a:t>类型为多项式 </a:t>
            </a:r>
          </a:p>
          <a:p>
            <a:pPr lvl="1" eaLnBrk="1" hangingPunct="1"/>
            <a:r>
              <a:rPr lang="zh-CN" altLang="en-US" sz="2000" smtClean="0"/>
              <a:t>选定“显示公式”和“显示</a:t>
            </a:r>
            <a:r>
              <a:rPr lang="en-US" altLang="zh-CN" sz="2000" smtClean="0"/>
              <a:t>R</a:t>
            </a:r>
            <a:r>
              <a:rPr lang="en-US" altLang="zh-CN" sz="2000" baseline="30000" smtClean="0"/>
              <a:t>2</a:t>
            </a:r>
            <a:r>
              <a:rPr lang="zh-CN" altLang="en-US" sz="2000" smtClean="0"/>
              <a:t>值”</a:t>
            </a:r>
          </a:p>
          <a:p>
            <a:pPr eaLnBrk="1" hangingPunct="1"/>
            <a:r>
              <a:rPr lang="zh-CN" altLang="en-US" sz="2400" smtClean="0"/>
              <a:t>结果很明显，拟合程度从线性方程的</a:t>
            </a:r>
            <a:r>
              <a:rPr lang="en-US" altLang="zh-CN" sz="2400" smtClean="0"/>
              <a:t>60%</a:t>
            </a:r>
            <a:r>
              <a:rPr lang="zh-CN" altLang="en-US" sz="2400" smtClean="0"/>
              <a:t>提高到二次方程的</a:t>
            </a:r>
            <a:r>
              <a:rPr lang="en-US" altLang="zh-CN" sz="2400" smtClean="0"/>
              <a:t>97%</a:t>
            </a:r>
            <a:r>
              <a:rPr lang="zh-CN" altLang="en-US" sz="2400" smtClean="0"/>
              <a:t>。</a:t>
            </a:r>
          </a:p>
          <a:p>
            <a:pPr eaLnBrk="1" hangingPunct="1"/>
            <a:r>
              <a:rPr lang="zh-CN" altLang="en-US" sz="2400" smtClean="0"/>
              <a:t>反映出观察到的饱和程度。</a:t>
            </a:r>
          </a:p>
          <a:p>
            <a:pPr lvl="1" eaLnBrk="1" hangingPunct="1"/>
            <a:endParaRPr lang="en-US" altLang="zh-CN" sz="2000" smtClean="0"/>
          </a:p>
        </p:txBody>
      </p:sp>
      <p:graphicFrame>
        <p:nvGraphicFramePr>
          <p:cNvPr id="20485" name="Object 11"/>
          <p:cNvGraphicFramePr>
            <a:graphicFrameLocks noChangeAspect="1"/>
          </p:cNvGraphicFramePr>
          <p:nvPr>
            <p:ph sz="half" idx="4294967295"/>
          </p:nvPr>
        </p:nvGraphicFramePr>
        <p:xfrm>
          <a:off x="5105400" y="3879850"/>
          <a:ext cx="4038600" cy="2862263"/>
        </p:xfrm>
        <a:graphic>
          <a:graphicData uri="http://schemas.openxmlformats.org/presentationml/2006/ole">
            <mc:AlternateContent xmlns:mc="http://schemas.openxmlformats.org/markup-compatibility/2006">
              <mc:Choice xmlns:v="urn:schemas-microsoft-com:vml" Requires="v">
                <p:oleObj spid="_x0000_s20509" name="Chart" r:id="rId3" imgW="4286564" imgH="3038788" progId="Excel.Chart.8">
                  <p:embed/>
                </p:oleObj>
              </mc:Choice>
              <mc:Fallback>
                <p:oleObj name="Chart" r:id="rId3" imgW="4286564" imgH="3038788" progId="Excel.Chart.8">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3879850"/>
                        <a:ext cx="4038600" cy="286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0486"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063" y="1196975"/>
            <a:ext cx="3173412"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1716FBB-B5A4-4C7F-8E37-7273AE3EF189}" type="slidenum">
              <a:rPr lang="en-US" altLang="zh-CN" smtClean="0">
                <a:solidFill>
                  <a:srgbClr val="FFFFFF"/>
                </a:solidFill>
              </a:rPr>
              <a:pPr eaLnBrk="1" hangingPunct="1"/>
              <a:t>20</a:t>
            </a:fld>
            <a:endParaRPr lang="en-US" altLang="zh-CN" smtClean="0">
              <a:solidFill>
                <a:srgbClr val="FFFFFF"/>
              </a:solidFill>
            </a:endParaRPr>
          </a:p>
        </p:txBody>
      </p:sp>
      <p:sp>
        <p:nvSpPr>
          <p:cNvPr id="321540" name="Rectangle 4"/>
          <p:cNvSpPr>
            <a:spLocks noGrp="1" noChangeArrowheads="1"/>
          </p:cNvSpPr>
          <p:nvPr>
            <p:ph type="title"/>
          </p:nvPr>
        </p:nvSpPr>
        <p:spPr/>
        <p:txBody>
          <a:bodyPr/>
          <a:lstStyle/>
          <a:p>
            <a:pPr eaLnBrk="1" hangingPunct="1"/>
            <a:r>
              <a:rPr lang="zh-CN" altLang="en-US" dirty="0" smtClean="0"/>
              <a:t>示例</a:t>
            </a:r>
            <a:r>
              <a:rPr lang="en-US" altLang="zh-CN" dirty="0" smtClean="0"/>
              <a:t>4-</a:t>
            </a:r>
            <a:r>
              <a:rPr lang="zh-CN" altLang="en-US" dirty="0" smtClean="0"/>
              <a:t>最大利润模型（思考）</a:t>
            </a:r>
          </a:p>
        </p:txBody>
      </p:sp>
      <p:sp>
        <p:nvSpPr>
          <p:cNvPr id="21508" name="Rectangle 5"/>
          <p:cNvSpPr>
            <a:spLocks noGrp="1" noChangeArrowheads="1"/>
          </p:cNvSpPr>
          <p:nvPr>
            <p:ph type="body" idx="1"/>
          </p:nvPr>
        </p:nvSpPr>
        <p:spPr>
          <a:xfrm>
            <a:off x="323850" y="1412875"/>
            <a:ext cx="8496300" cy="4525963"/>
          </a:xfrm>
        </p:spPr>
        <p:txBody>
          <a:bodyPr/>
          <a:lstStyle/>
          <a:p>
            <a:pPr eaLnBrk="1" hangingPunct="1"/>
            <a:r>
              <a:rPr lang="zh-CN" altLang="en-US" smtClean="0"/>
              <a:t>假设庄稼以每公斤</a:t>
            </a:r>
            <a:r>
              <a:rPr lang="en-US" altLang="zh-CN" smtClean="0"/>
              <a:t>4</a:t>
            </a:r>
            <a:r>
              <a:rPr lang="zh-CN" altLang="en-US" smtClean="0"/>
              <a:t>元的价格出售，化肥要以每克</a:t>
            </a:r>
            <a:r>
              <a:rPr lang="en-US" altLang="zh-CN" smtClean="0"/>
              <a:t>0.2</a:t>
            </a:r>
            <a:r>
              <a:rPr lang="zh-CN" altLang="en-US" smtClean="0"/>
              <a:t>元的价格购买。请确定能产生最大利润的化肥施用量。</a:t>
            </a:r>
            <a:r>
              <a:rPr lang="en-US" altLang="zh-CN" smtClean="0"/>
              <a:t>(</a:t>
            </a:r>
            <a:r>
              <a:rPr lang="zh-CN" altLang="en-US" smtClean="0"/>
              <a:t>运用规划求解</a:t>
            </a:r>
            <a:r>
              <a:rPr lang="en-US" altLang="zh-CN" smtClean="0"/>
              <a:t>)</a:t>
            </a:r>
          </a:p>
          <a:p>
            <a:pPr lvl="1" eaLnBrk="1" hangingPunct="1"/>
            <a:r>
              <a:rPr lang="zh-CN" altLang="en-US" smtClean="0"/>
              <a:t>总收益</a:t>
            </a:r>
            <a:r>
              <a:rPr lang="en-US" altLang="zh-CN" smtClean="0"/>
              <a:t>=</a:t>
            </a:r>
            <a:r>
              <a:rPr lang="zh-CN" altLang="en-US" smtClean="0"/>
              <a:t>价格</a:t>
            </a:r>
            <a:r>
              <a:rPr lang="en-US" altLang="zh-CN" smtClean="0"/>
              <a:t>×</a:t>
            </a:r>
            <a:r>
              <a:rPr lang="zh-CN" altLang="en-US" smtClean="0"/>
              <a:t>产量</a:t>
            </a:r>
            <a:r>
              <a:rPr lang="en-US" altLang="zh-CN" smtClean="0"/>
              <a:t>=4</a:t>
            </a:r>
            <a:r>
              <a:rPr lang="zh-CN" altLang="en-US" smtClean="0"/>
              <a:t>元</a:t>
            </a:r>
            <a:r>
              <a:rPr lang="en-US" altLang="zh-CN" smtClean="0"/>
              <a:t>×(-0.0066X</a:t>
            </a:r>
            <a:r>
              <a:rPr lang="en-US" altLang="zh-CN" baseline="50000" smtClean="0"/>
              <a:t>2</a:t>
            </a:r>
            <a:r>
              <a:rPr lang="en-US" altLang="zh-CN" smtClean="0"/>
              <a:t>+0.0897x+0.2419)</a:t>
            </a:r>
          </a:p>
          <a:p>
            <a:pPr lvl="1" eaLnBrk="1" hangingPunct="1"/>
            <a:r>
              <a:rPr lang="zh-CN" altLang="en-US" smtClean="0"/>
              <a:t>总成本</a:t>
            </a:r>
            <a:r>
              <a:rPr lang="en-US" altLang="zh-CN" smtClean="0"/>
              <a:t>=</a:t>
            </a:r>
            <a:r>
              <a:rPr lang="zh-CN" altLang="en-US" smtClean="0"/>
              <a:t>化肥成本</a:t>
            </a:r>
            <a:r>
              <a:rPr lang="en-US" altLang="zh-CN" smtClean="0"/>
              <a:t>×</a:t>
            </a:r>
            <a:r>
              <a:rPr lang="zh-CN" altLang="en-US" smtClean="0"/>
              <a:t>化肥施用量</a:t>
            </a:r>
            <a:r>
              <a:rPr lang="en-US" altLang="zh-CN" smtClean="0"/>
              <a:t>=0.2X</a:t>
            </a:r>
          </a:p>
        </p:txBody>
      </p:sp>
      <p:pic>
        <p:nvPicPr>
          <p:cNvPr id="21509" name="Picture 6"/>
          <p:cNvPicPr>
            <a:picLocks noChangeAspect="1" noChangeArrowheads="1"/>
          </p:cNvPicPr>
          <p:nvPr/>
        </p:nvPicPr>
        <p:blipFill>
          <a:blip r:embed="rId2">
            <a:extLst>
              <a:ext uri="{28A0092B-C50C-407E-A947-70E740481C1C}">
                <a14:useLocalDpi xmlns:a14="http://schemas.microsoft.com/office/drawing/2010/main" val="0"/>
              </a:ext>
            </a:extLst>
          </a:blip>
          <a:srcRect t="11084" r="53932" b="71191"/>
          <a:stretch>
            <a:fillRect/>
          </a:stretch>
        </p:blipFill>
        <p:spPr bwMode="auto">
          <a:xfrm>
            <a:off x="1258888" y="3789363"/>
            <a:ext cx="7056437"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F3728F7-77A8-42B6-A502-82A1C760F4B3}" type="slidenum">
              <a:rPr lang="en-US" altLang="zh-CN" smtClean="0">
                <a:solidFill>
                  <a:srgbClr val="FFFFFF"/>
                </a:solidFill>
              </a:rPr>
              <a:pPr eaLnBrk="1" hangingPunct="1"/>
              <a:t>21</a:t>
            </a:fld>
            <a:endParaRPr lang="en-US" altLang="zh-CN" smtClean="0">
              <a:solidFill>
                <a:srgbClr val="FFFFFF"/>
              </a:solidFill>
            </a:endParaRPr>
          </a:p>
        </p:txBody>
      </p:sp>
      <p:sp>
        <p:nvSpPr>
          <p:cNvPr id="355330" name="Rectangle 2"/>
          <p:cNvSpPr>
            <a:spLocks noGrp="1" noChangeArrowheads="1"/>
          </p:cNvSpPr>
          <p:nvPr>
            <p:ph type="title"/>
          </p:nvPr>
        </p:nvSpPr>
        <p:spPr/>
        <p:txBody>
          <a:bodyPr/>
          <a:lstStyle/>
          <a:p>
            <a:pPr eaLnBrk="1" hangingPunct="1">
              <a:defRPr/>
            </a:pPr>
            <a:r>
              <a:rPr lang="zh-CN" altLang="en-US" smtClean="0"/>
              <a:t>多元回归分析</a:t>
            </a:r>
          </a:p>
        </p:txBody>
      </p:sp>
      <p:sp>
        <p:nvSpPr>
          <p:cNvPr id="355331" name="Rectangle 3"/>
          <p:cNvSpPr>
            <a:spLocks noGrp="1" noChangeArrowheads="1"/>
          </p:cNvSpPr>
          <p:nvPr>
            <p:ph type="body" idx="1"/>
          </p:nvPr>
        </p:nvSpPr>
        <p:spPr/>
        <p:txBody>
          <a:bodyPr/>
          <a:lstStyle/>
          <a:p>
            <a:pPr eaLnBrk="1" hangingPunct="1">
              <a:defRPr/>
            </a:pPr>
            <a:r>
              <a:rPr lang="zh-CN" altLang="en-US" smtClean="0"/>
              <a:t>多元线性回归模型的一般形式 </a:t>
            </a:r>
          </a:p>
          <a:p>
            <a:pPr eaLnBrk="1" hangingPunct="1">
              <a:defRPr/>
            </a:pPr>
            <a:endParaRPr lang="zh-CN" altLang="en-US" smtClean="0"/>
          </a:p>
          <a:p>
            <a:pPr eaLnBrk="1" hangingPunct="1">
              <a:defRPr/>
            </a:pPr>
            <a:r>
              <a:rPr lang="zh-CN" altLang="en-US" smtClean="0"/>
              <a:t>多元线性回归预测步骤 </a:t>
            </a:r>
          </a:p>
          <a:p>
            <a:pPr lvl="1" eaLnBrk="1" hangingPunct="1">
              <a:defRPr/>
            </a:pPr>
            <a:r>
              <a:rPr kumimoji="1" lang="zh-CN" altLang="en-US" b="1" smtClean="0">
                <a:effectLst>
                  <a:outerShdw blurRad="38100" dist="38100" dir="2700000" algn="tl">
                    <a:srgbClr val="C0C0C0"/>
                  </a:outerShdw>
                </a:effectLst>
              </a:rPr>
              <a:t>获得候选自变量和因变量的观测值； </a:t>
            </a:r>
            <a:endParaRPr kumimoji="1" lang="zh-CN" altLang="en-US" smtClean="0">
              <a:effectLst>
                <a:outerShdw blurRad="38100" dist="38100" dir="2700000" algn="tl">
                  <a:srgbClr val="C0C0C0"/>
                </a:outerShdw>
              </a:effectLst>
            </a:endParaRPr>
          </a:p>
          <a:p>
            <a:pPr lvl="1" eaLnBrk="1" hangingPunct="1">
              <a:defRPr/>
            </a:pPr>
            <a:r>
              <a:rPr kumimoji="1" lang="zh-CN" altLang="en-US" b="1" smtClean="0">
                <a:effectLst>
                  <a:outerShdw blurRad="38100" dist="38100" dir="2700000" algn="tl">
                    <a:srgbClr val="C0C0C0"/>
                  </a:outerShdw>
                </a:effectLst>
              </a:rPr>
              <a:t>从候选自变量中选择合适的自变量</a:t>
            </a:r>
            <a:endParaRPr kumimoji="1" lang="zh-CN" altLang="en-US" smtClean="0">
              <a:effectLst>
                <a:outerShdw blurRad="38100" dist="38100" dir="2700000" algn="tl">
                  <a:srgbClr val="C0C0C0"/>
                </a:outerShdw>
              </a:effectLst>
            </a:endParaRPr>
          </a:p>
          <a:p>
            <a:pPr lvl="2" eaLnBrk="1" hangingPunct="1">
              <a:defRPr/>
            </a:pPr>
            <a:r>
              <a:rPr kumimoji="1" lang="zh-CN" altLang="en-US" b="1" smtClean="0">
                <a:effectLst>
                  <a:outerShdw blurRad="38100" dist="38100" dir="2700000" algn="tl">
                    <a:srgbClr val="C0C0C0"/>
                  </a:outerShdw>
                </a:effectLst>
              </a:rPr>
              <a:t>最优子集法 </a:t>
            </a:r>
            <a:endParaRPr kumimoji="1" lang="zh-CN" altLang="en-US" smtClean="0">
              <a:effectLst>
                <a:outerShdw blurRad="38100" dist="38100" dir="2700000" algn="tl">
                  <a:srgbClr val="C0C0C0"/>
                </a:outerShdw>
              </a:effectLst>
            </a:endParaRPr>
          </a:p>
          <a:p>
            <a:pPr lvl="2" eaLnBrk="1" hangingPunct="1">
              <a:defRPr/>
            </a:pPr>
            <a:r>
              <a:rPr kumimoji="1" lang="zh-CN" altLang="en-US" b="1" smtClean="0">
                <a:effectLst>
                  <a:outerShdw blurRad="38100" dist="38100" dir="2700000" algn="tl">
                    <a:srgbClr val="C0C0C0"/>
                  </a:outerShdw>
                </a:effectLst>
              </a:rPr>
              <a:t>向前增选法等 </a:t>
            </a:r>
            <a:endParaRPr kumimoji="1" lang="zh-CN" altLang="en-US" smtClean="0">
              <a:effectLst>
                <a:outerShdw blurRad="38100" dist="38100" dir="2700000" algn="tl">
                  <a:srgbClr val="C0C0C0"/>
                </a:outerShdw>
              </a:effectLst>
            </a:endParaRPr>
          </a:p>
          <a:p>
            <a:pPr lvl="1" eaLnBrk="1" hangingPunct="1">
              <a:defRPr/>
            </a:pPr>
            <a:r>
              <a:rPr kumimoji="1" lang="zh-CN" altLang="en-US" b="1" smtClean="0">
                <a:effectLst>
                  <a:outerShdw blurRad="38100" dist="38100" dir="2700000" algn="tl">
                    <a:srgbClr val="C0C0C0"/>
                  </a:outerShdw>
                </a:effectLst>
              </a:rPr>
              <a:t>确定回归系数，判断回归方程的拟合优度； </a:t>
            </a:r>
            <a:endParaRPr kumimoji="1" lang="zh-CN" altLang="en-US" smtClean="0">
              <a:effectLst>
                <a:outerShdw blurRad="38100" dist="38100" dir="2700000" algn="tl">
                  <a:srgbClr val="C0C0C0"/>
                </a:outerShdw>
              </a:effectLst>
            </a:endParaRPr>
          </a:p>
          <a:p>
            <a:pPr lvl="1" eaLnBrk="1" hangingPunct="1">
              <a:defRPr/>
            </a:pPr>
            <a:r>
              <a:rPr kumimoji="1" lang="zh-CN" altLang="en-US" b="1" smtClean="0">
                <a:effectLst>
                  <a:outerShdw blurRad="38100" dist="38100" dir="2700000" algn="tl">
                    <a:srgbClr val="C0C0C0"/>
                  </a:outerShdw>
                </a:effectLst>
              </a:rPr>
              <a:t>根据回归方程进行预测。</a:t>
            </a:r>
          </a:p>
        </p:txBody>
      </p:sp>
      <p:pic>
        <p:nvPicPr>
          <p:cNvPr id="2253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133600"/>
            <a:ext cx="31432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4"/>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5E45689-D764-42AF-AAAF-294577352A07}" type="slidenum">
              <a:rPr lang="en-US" altLang="zh-CN" smtClean="0">
                <a:solidFill>
                  <a:srgbClr val="FFFFFF"/>
                </a:solidFill>
              </a:rPr>
              <a:pPr eaLnBrk="1" hangingPunct="1"/>
              <a:t>22</a:t>
            </a:fld>
            <a:endParaRPr lang="en-US" altLang="zh-CN" smtClean="0">
              <a:solidFill>
                <a:srgbClr val="FFFFFF"/>
              </a:solidFill>
            </a:endParaRPr>
          </a:p>
        </p:txBody>
      </p:sp>
      <p:sp>
        <p:nvSpPr>
          <p:cNvPr id="345092" name="Rectangle 4"/>
          <p:cNvSpPr>
            <a:spLocks noGrp="1" noChangeArrowheads="1"/>
          </p:cNvSpPr>
          <p:nvPr>
            <p:ph type="title"/>
          </p:nvPr>
        </p:nvSpPr>
        <p:spPr/>
        <p:txBody>
          <a:bodyPr/>
          <a:lstStyle/>
          <a:p>
            <a:pPr eaLnBrk="1" hangingPunct="1"/>
            <a:r>
              <a:rPr lang="zh-CN" altLang="en-US" dirty="0" smtClean="0"/>
              <a:t>示例</a:t>
            </a:r>
            <a:r>
              <a:rPr lang="en-US" altLang="zh-CN" dirty="0" smtClean="0"/>
              <a:t>5</a:t>
            </a:r>
            <a:r>
              <a:rPr lang="zh-CN" altLang="en-US" dirty="0" smtClean="0"/>
              <a:t>：</a:t>
            </a:r>
            <a:r>
              <a:rPr lang="zh-CN" altLang="en-US" dirty="0" smtClean="0"/>
              <a:t>销售量的多元回归分析</a:t>
            </a:r>
          </a:p>
        </p:txBody>
      </p:sp>
      <p:sp>
        <p:nvSpPr>
          <p:cNvPr id="23556" name="Rectangle 5"/>
          <p:cNvSpPr>
            <a:spLocks noGrp="1" noChangeArrowheads="1"/>
          </p:cNvSpPr>
          <p:nvPr>
            <p:ph type="body" sz="half" idx="1"/>
          </p:nvPr>
        </p:nvSpPr>
        <p:spPr>
          <a:xfrm>
            <a:off x="107950" y="1268413"/>
            <a:ext cx="8856663" cy="3529012"/>
          </a:xfrm>
        </p:spPr>
        <p:txBody>
          <a:bodyPr/>
          <a:lstStyle/>
          <a:p>
            <a:pPr eaLnBrk="1" hangingPunct="1"/>
            <a:r>
              <a:rPr lang="zh-CN" altLang="en-US" sz="2000" dirty="0" smtClean="0"/>
              <a:t>某一生产空调的企业将其连续</a:t>
            </a:r>
            <a:r>
              <a:rPr lang="en-US" altLang="zh-CN" sz="2000" dirty="0" smtClean="0"/>
              <a:t>15</a:t>
            </a:r>
            <a:r>
              <a:rPr lang="zh-CN" altLang="en-US" sz="2000" dirty="0" smtClean="0"/>
              <a:t>年的销量和员工的薪酬及当地的平均户总收入情况的数据作了一个汇总，这些数据显示在工作表“多元回归补充”中。该企业的管理人员试图根据这些数据找到销量与其他两个变量之间的关系，以便进行销量的预测并为未来的预算工作提供参考。试根据这些数据分析一下，建立何种模型比较合适，并假设未来某年员工的薪酬为</a:t>
            </a:r>
            <a:r>
              <a:rPr lang="en-US" altLang="zh-CN" sz="2000" dirty="0" smtClean="0"/>
              <a:t>25</a:t>
            </a:r>
            <a:r>
              <a:rPr lang="zh-CN" altLang="en-US" sz="2000" dirty="0" smtClean="0"/>
              <a:t>万元，平均户总收入为</a:t>
            </a:r>
            <a:r>
              <a:rPr lang="en-US" altLang="zh-CN" sz="2000" dirty="0" smtClean="0"/>
              <a:t>33.4</a:t>
            </a:r>
            <a:r>
              <a:rPr lang="zh-CN" altLang="en-US" sz="2000" dirty="0" smtClean="0"/>
              <a:t>的情况下，预测该年的销量</a:t>
            </a:r>
            <a:r>
              <a:rPr lang="zh-CN" altLang="en-US" sz="2000" dirty="0" smtClean="0"/>
              <a:t>。</a:t>
            </a:r>
            <a:endParaRPr lang="zh-CN" altLang="en-US" sz="2000" dirty="0" smtClean="0"/>
          </a:p>
        </p:txBody>
      </p:sp>
      <p:pic>
        <p:nvPicPr>
          <p:cNvPr id="23557" name="Picture 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325" y="3644900"/>
            <a:ext cx="2700338" cy="227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p:txBody>
          <a:bodyPr/>
          <a:lstStyle/>
          <a:p>
            <a:pPr eaLnBrk="1" hangingPunct="1">
              <a:defRPr/>
            </a:pPr>
            <a:r>
              <a:rPr lang="zh-CN" altLang="en-US" smtClean="0"/>
              <a:t>结果分析</a:t>
            </a:r>
          </a:p>
        </p:txBody>
      </p:sp>
      <p:sp>
        <p:nvSpPr>
          <p:cNvPr id="24578"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92F732-E1F3-40CA-B43F-261DB5DB0120}" type="slidenum">
              <a:rPr lang="en-US" altLang="zh-CN" smtClean="0">
                <a:solidFill>
                  <a:srgbClr val="FFFFFF"/>
                </a:solidFill>
              </a:rPr>
              <a:pPr eaLnBrk="1" hangingPunct="1"/>
              <a:t>23</a:t>
            </a:fld>
            <a:endParaRPr lang="en-US" altLang="zh-CN" smtClean="0">
              <a:solidFill>
                <a:srgbClr val="FFFFFF"/>
              </a:solidFill>
            </a:endParaRPr>
          </a:p>
        </p:txBody>
      </p:sp>
      <p:pic>
        <p:nvPicPr>
          <p:cNvPr id="24579"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863" y="1484313"/>
            <a:ext cx="2581275"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557338"/>
            <a:ext cx="52578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5" name="Rectangle 9"/>
          <p:cNvSpPr>
            <a:spLocks noChangeArrowheads="1"/>
          </p:cNvSpPr>
          <p:nvPr/>
        </p:nvSpPr>
        <p:spPr bwMode="auto">
          <a:xfrm>
            <a:off x="395288" y="2205038"/>
            <a:ext cx="1655762" cy="144462"/>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0066"/>
              </a:solidFill>
            </a:endParaRPr>
          </a:p>
        </p:txBody>
      </p:sp>
      <p:sp>
        <p:nvSpPr>
          <p:cNvPr id="24586" name="Rectangle 10"/>
          <p:cNvSpPr>
            <a:spLocks noChangeArrowheads="1"/>
          </p:cNvSpPr>
          <p:nvPr/>
        </p:nvSpPr>
        <p:spPr bwMode="auto">
          <a:xfrm>
            <a:off x="3059113" y="3357563"/>
            <a:ext cx="1081087" cy="287337"/>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0066"/>
              </a:solidFill>
            </a:endParaRPr>
          </a:p>
        </p:txBody>
      </p:sp>
      <p:sp>
        <p:nvSpPr>
          <p:cNvPr id="24587" name="Rectangle 11"/>
          <p:cNvSpPr>
            <a:spLocks noChangeArrowheads="1"/>
          </p:cNvSpPr>
          <p:nvPr/>
        </p:nvSpPr>
        <p:spPr bwMode="auto">
          <a:xfrm>
            <a:off x="2555875" y="4149725"/>
            <a:ext cx="1081088" cy="574675"/>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0066"/>
              </a:solidFill>
            </a:endParaRPr>
          </a:p>
        </p:txBody>
      </p:sp>
      <p:sp>
        <p:nvSpPr>
          <p:cNvPr id="12" name="Text Box 10"/>
          <p:cNvSpPr txBox="1">
            <a:spLocks noChangeArrowheads="1"/>
          </p:cNvSpPr>
          <p:nvPr/>
        </p:nvSpPr>
        <p:spPr bwMode="auto">
          <a:xfrm>
            <a:off x="4283075" y="3093671"/>
            <a:ext cx="3116263" cy="646331"/>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kumimoji="1" lang="en-US" altLang="zh-CN" sz="1200" b="1" dirty="0">
                <a:effectLst>
                  <a:outerShdw blurRad="38100" dist="38100" dir="2700000" algn="tl">
                    <a:srgbClr val="FFFFFF"/>
                  </a:outerShdw>
                </a:effectLst>
              </a:rPr>
              <a:t>F</a:t>
            </a:r>
            <a:r>
              <a:rPr kumimoji="1" lang="zh-CN" altLang="en-US" sz="1200" b="1" dirty="0">
                <a:effectLst>
                  <a:outerShdw blurRad="38100" dist="38100" dir="2700000" algn="tl">
                    <a:srgbClr val="FFFFFF"/>
                  </a:outerShdw>
                </a:effectLst>
              </a:rPr>
              <a:t>统计量的</a:t>
            </a:r>
            <a:r>
              <a:rPr kumimoji="1" lang="en-US" altLang="zh-CN" sz="1200" b="1" dirty="0">
                <a:effectLst>
                  <a:outerShdw blurRad="38100" dist="38100" dir="2700000" algn="tl">
                    <a:srgbClr val="FFFFFF"/>
                  </a:outerShdw>
                </a:effectLst>
              </a:rPr>
              <a:t>P</a:t>
            </a:r>
            <a:r>
              <a:rPr kumimoji="1" lang="zh-CN" altLang="en-US" sz="1200" b="1" dirty="0">
                <a:effectLst>
                  <a:outerShdw blurRad="38100" dist="38100" dir="2700000" algn="tl">
                    <a:srgbClr val="FFFFFF"/>
                  </a:outerShdw>
                </a:effectLst>
              </a:rPr>
              <a:t>值小于显著水平（</a:t>
            </a:r>
            <a:r>
              <a:rPr kumimoji="1" lang="en-US" altLang="zh-CN" sz="1200" b="1" dirty="0">
                <a:effectLst>
                  <a:outerShdw blurRad="38100" dist="38100" dir="2700000" algn="tl">
                    <a:srgbClr val="FFFFFF"/>
                  </a:outerShdw>
                </a:effectLst>
              </a:rPr>
              <a:t>0.05</a:t>
            </a:r>
            <a:r>
              <a:rPr kumimoji="1" lang="zh-CN" altLang="en-US" sz="1200" b="1" dirty="0">
                <a:effectLst>
                  <a:outerShdw blurRad="38100" dist="38100" dir="2700000" algn="tl">
                    <a:srgbClr val="FFFFFF"/>
                  </a:outerShdw>
                </a:effectLst>
              </a:rPr>
              <a:t>），可</a:t>
            </a:r>
            <a:r>
              <a:rPr kumimoji="1" lang="zh-CN" altLang="en-US" sz="1200" b="1" dirty="0" smtClean="0">
                <a:effectLst>
                  <a:outerShdw blurRad="38100" dist="38100" dir="2700000" algn="tl">
                    <a:srgbClr val="FFFFFF"/>
                  </a:outerShdw>
                </a:effectLst>
              </a:rPr>
              <a:t>认为回归模型的总体效果显著，所有自变量和因变量的线性关系总体显著。</a:t>
            </a:r>
            <a:endParaRPr kumimoji="1" lang="zh-CN" altLang="en-US" sz="1200" b="1" dirty="0">
              <a:effectLst>
                <a:outerShdw blurRad="38100" dist="38100" dir="2700000" algn="tl">
                  <a:srgbClr val="FFFFFF"/>
                </a:outerShdw>
              </a:effectLst>
            </a:endParaRPr>
          </a:p>
        </p:txBody>
      </p:sp>
      <p:sp>
        <p:nvSpPr>
          <p:cNvPr id="13" name="Text Box 10"/>
          <p:cNvSpPr txBox="1">
            <a:spLocks noChangeArrowheads="1"/>
          </p:cNvSpPr>
          <p:nvPr/>
        </p:nvSpPr>
        <p:spPr bwMode="auto">
          <a:xfrm>
            <a:off x="2123753" y="1881872"/>
            <a:ext cx="3888110" cy="646331"/>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lvl="1">
              <a:defRPr/>
            </a:pPr>
            <a:r>
              <a:rPr lang="en-US" altLang="zh-CN" dirty="0"/>
              <a:t>R2 = </a:t>
            </a:r>
            <a:r>
              <a:rPr lang="en-US" altLang="zh-CN" dirty="0" smtClean="0"/>
              <a:t>0.9984=99.84%&gt;</a:t>
            </a:r>
            <a:r>
              <a:rPr lang="en-US" altLang="zh-CN" dirty="0"/>
              <a:t>50%</a:t>
            </a:r>
          </a:p>
          <a:p>
            <a:pPr marL="0" lvl="2">
              <a:defRPr/>
            </a:pPr>
            <a:r>
              <a:rPr lang="zh-CN" altLang="en-US" dirty="0"/>
              <a:t>说明方程拟合</a:t>
            </a:r>
            <a:r>
              <a:rPr lang="zh-CN" altLang="en-US" dirty="0" smtClean="0"/>
              <a:t>程度较好</a:t>
            </a:r>
            <a:endParaRPr kumimoji="1" lang="zh-CN" altLang="en-US" sz="1200" b="1" dirty="0">
              <a:effectLst>
                <a:outerShdw blurRad="38100" dist="38100" dir="2700000" algn="tl">
                  <a:srgbClr val="FFFFFF"/>
                </a:outerShdw>
              </a:effectLst>
            </a:endParaRPr>
          </a:p>
        </p:txBody>
      </p:sp>
      <p:sp>
        <p:nvSpPr>
          <p:cNvPr id="14" name="Text Box 9"/>
          <p:cNvSpPr txBox="1">
            <a:spLocks noChangeArrowheads="1"/>
          </p:cNvSpPr>
          <p:nvPr/>
        </p:nvSpPr>
        <p:spPr bwMode="auto">
          <a:xfrm>
            <a:off x="3707904" y="4143497"/>
            <a:ext cx="3116262" cy="4572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kumimoji="1" lang="en-US" altLang="zh-CN" sz="1200" b="1" dirty="0">
                <a:effectLst>
                  <a:outerShdw blurRad="38100" dist="38100" dir="2700000" algn="tl">
                    <a:srgbClr val="FFFFFF"/>
                  </a:outerShdw>
                </a:effectLst>
              </a:rPr>
              <a:t>t</a:t>
            </a:r>
            <a:r>
              <a:rPr kumimoji="1" lang="zh-CN" altLang="en-US" sz="1200" b="1" dirty="0">
                <a:effectLst>
                  <a:outerShdw blurRad="38100" dist="38100" dir="2700000" algn="tl">
                    <a:srgbClr val="FFFFFF"/>
                  </a:outerShdw>
                </a:effectLst>
              </a:rPr>
              <a:t>统计量的</a:t>
            </a:r>
            <a:r>
              <a:rPr kumimoji="1" lang="en-US" altLang="zh-CN" sz="1200" b="1" dirty="0">
                <a:effectLst>
                  <a:outerShdw blurRad="38100" dist="38100" dir="2700000" algn="tl">
                    <a:srgbClr val="FFFFFF"/>
                  </a:outerShdw>
                </a:effectLst>
              </a:rPr>
              <a:t>P</a:t>
            </a:r>
            <a:r>
              <a:rPr kumimoji="1" lang="zh-CN" altLang="en-US" sz="1200" b="1" dirty="0">
                <a:effectLst>
                  <a:outerShdw blurRad="38100" dist="38100" dir="2700000" algn="tl">
                    <a:srgbClr val="FFFFFF"/>
                  </a:outerShdw>
                </a:effectLst>
              </a:rPr>
              <a:t>值小于显著水平（</a:t>
            </a:r>
            <a:r>
              <a:rPr kumimoji="1" lang="en-US" altLang="zh-CN" sz="1200" b="1" dirty="0">
                <a:effectLst>
                  <a:outerShdw blurRad="38100" dist="38100" dir="2700000" algn="tl">
                    <a:srgbClr val="FFFFFF"/>
                  </a:outerShdw>
                </a:effectLst>
              </a:rPr>
              <a:t>0.05</a:t>
            </a:r>
            <a:r>
              <a:rPr kumimoji="1" lang="zh-CN" altLang="en-US" sz="1200" b="1" dirty="0">
                <a:effectLst>
                  <a:outerShdw blurRad="38100" dist="38100" dir="2700000" algn="tl">
                    <a:srgbClr val="FFFFFF"/>
                  </a:outerShdw>
                </a:effectLst>
              </a:rPr>
              <a:t>），可认为该</a:t>
            </a:r>
            <a:r>
              <a:rPr kumimoji="1" lang="zh-CN" altLang="en-US" sz="1200" b="1" dirty="0" smtClean="0">
                <a:effectLst>
                  <a:outerShdw blurRad="38100" dist="38100" dir="2700000" algn="tl">
                    <a:srgbClr val="FFFFFF"/>
                  </a:outerShdw>
                </a:effectLst>
              </a:rPr>
              <a:t>自变量对因变量的影响是显著的。</a:t>
            </a:r>
            <a:endParaRPr kumimoji="1" lang="zh-CN" altLang="en-US" sz="1200" b="1" dirty="0">
              <a:effectLst>
                <a:outerShdw blurRad="38100" dist="38100" dir="2700000" algn="tl">
                  <a:srgbClr val="FFFFFF"/>
                </a:outerShdw>
              </a:effectLst>
            </a:endParaRPr>
          </a:p>
        </p:txBody>
      </p:sp>
      <p:sp>
        <p:nvSpPr>
          <p:cNvPr id="18" name="内容占位符 3"/>
          <p:cNvSpPr>
            <a:spLocks noGrp="1"/>
          </p:cNvSpPr>
          <p:nvPr>
            <p:ph type="body" sz="half" idx="1"/>
          </p:nvPr>
        </p:nvSpPr>
        <p:spPr>
          <a:xfrm>
            <a:off x="457200" y="5013325"/>
            <a:ext cx="7067128" cy="1112838"/>
          </a:xfrm>
        </p:spPr>
        <p:txBody>
          <a:bodyPr/>
          <a:lstStyle/>
          <a:p>
            <a:pPr eaLnBrk="1" hangingPunct="1"/>
            <a:r>
              <a:rPr lang="zh-CN" altLang="en-US" sz="2000" dirty="0" smtClean="0"/>
              <a:t>建立回归方程</a:t>
            </a:r>
          </a:p>
          <a:p>
            <a:pPr lvl="1" eaLnBrk="1" hangingPunct="1"/>
            <a:r>
              <a:rPr lang="zh-CN" altLang="en-US" sz="1800" dirty="0" smtClean="0"/>
              <a:t>销量</a:t>
            </a:r>
            <a:r>
              <a:rPr lang="en-US" altLang="zh-CN" sz="1800" dirty="0" smtClean="0"/>
              <a:t>=5.92*</a:t>
            </a:r>
            <a:r>
              <a:rPr lang="zh-CN" altLang="en-US" sz="1800" dirty="0" smtClean="0"/>
              <a:t>员工薪酬</a:t>
            </a:r>
            <a:r>
              <a:rPr lang="en-US" altLang="zh-CN" sz="1800" dirty="0" smtClean="0"/>
              <a:t>+8.65*</a:t>
            </a:r>
            <a:r>
              <a:rPr lang="zh-CN" altLang="en-US" sz="1800" dirty="0" smtClean="0"/>
              <a:t>平均户总收入</a:t>
            </a:r>
            <a:r>
              <a:rPr lang="en-US" altLang="zh-CN" sz="1800" dirty="0" smtClean="0"/>
              <a:t>+105.44</a:t>
            </a:r>
          </a:p>
          <a:p>
            <a:pPr eaLnBrk="1" hangingPunct="1"/>
            <a:r>
              <a:rPr lang="zh-CN" altLang="en-US" sz="2000" dirty="0" smtClean="0"/>
              <a:t>预测值</a:t>
            </a:r>
            <a:r>
              <a:rPr lang="en-US" altLang="zh-CN" sz="2000" dirty="0" smtClean="0"/>
              <a:t>= 5.92* 250+8.65* 33.4 +105.44</a:t>
            </a:r>
          </a:p>
          <a:p>
            <a:endParaRPr lang="zh-CN" altLang="en-US" dirty="0"/>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示例</a:t>
            </a:r>
            <a:r>
              <a:rPr lang="en-US" altLang="zh-CN" dirty="0" smtClean="0"/>
              <a:t>6-</a:t>
            </a:r>
            <a:r>
              <a:rPr lang="zh-CN" altLang="en-US" dirty="0" smtClean="0"/>
              <a:t>建立不良贷款的回归方程</a:t>
            </a:r>
            <a:endParaRPr lang="zh-CN" altLang="en-US" dirty="0"/>
          </a:p>
        </p:txBody>
      </p:sp>
      <p:sp>
        <p:nvSpPr>
          <p:cNvPr id="3" name="内容占位符 2"/>
          <p:cNvSpPr>
            <a:spLocks noGrp="1"/>
          </p:cNvSpPr>
          <p:nvPr>
            <p:ph idx="1"/>
          </p:nvPr>
        </p:nvSpPr>
        <p:spPr/>
        <p:txBody>
          <a:bodyPr/>
          <a:lstStyle/>
          <a:p>
            <a:pPr eaLnBrk="1" hangingPunct="1"/>
            <a:r>
              <a:rPr lang="zh-CN" altLang="en-US" dirty="0" smtClean="0"/>
              <a:t>利用示例</a:t>
            </a:r>
            <a:r>
              <a:rPr lang="en-US" altLang="zh-CN" dirty="0" smtClean="0"/>
              <a:t>1</a:t>
            </a:r>
            <a:r>
              <a:rPr lang="zh-CN" altLang="en-US" dirty="0" smtClean="0"/>
              <a:t>中的数据，构建不良贷款对其他变量的估计方程。置信度为</a:t>
            </a:r>
            <a:r>
              <a:rPr lang="en-US" altLang="zh-CN" dirty="0" smtClean="0"/>
              <a:t>95%</a:t>
            </a:r>
            <a:r>
              <a:rPr lang="zh-CN" altLang="en-US" dirty="0" smtClean="0"/>
              <a:t>。</a:t>
            </a:r>
          </a:p>
          <a:p>
            <a:pPr eaLnBrk="1" hangingPunct="1"/>
            <a:r>
              <a:rPr lang="zh-CN" altLang="en-US" dirty="0" smtClean="0"/>
              <a:t>数据</a:t>
            </a:r>
            <a:r>
              <a:rPr lang="en-US" altLang="zh-CN" dirty="0" smtClean="0"/>
              <a:t>-</a:t>
            </a:r>
            <a:r>
              <a:rPr lang="zh-CN" altLang="en-US" dirty="0" smtClean="0"/>
              <a:t>数据分析</a:t>
            </a:r>
            <a:r>
              <a:rPr lang="en-US" altLang="zh-CN" dirty="0" smtClean="0"/>
              <a:t>-</a:t>
            </a:r>
            <a:r>
              <a:rPr lang="zh-CN" altLang="en-US" dirty="0" smtClean="0"/>
              <a:t>回归</a:t>
            </a:r>
            <a:endParaRPr lang="en-US" altLang="zh-CN" dirty="0" smtClean="0"/>
          </a:p>
          <a:p>
            <a:pPr lvl="1" eaLnBrk="1" hangingPunct="1"/>
            <a:r>
              <a:rPr lang="zh-CN" altLang="en-US" dirty="0" smtClean="0"/>
              <a:t>以</a:t>
            </a:r>
            <a:r>
              <a:rPr lang="zh-CN" altLang="en-US" dirty="0"/>
              <a:t>不良</a:t>
            </a:r>
            <a:r>
              <a:rPr lang="zh-CN" altLang="en-US" dirty="0" smtClean="0"/>
              <a:t>贷款为因变量</a:t>
            </a:r>
            <a:endParaRPr lang="en-US" altLang="zh-CN" dirty="0" smtClean="0"/>
          </a:p>
          <a:p>
            <a:pPr lvl="1" eaLnBrk="1" hangingPunct="1"/>
            <a:r>
              <a:rPr lang="zh-CN" altLang="en-US" dirty="0" smtClean="0"/>
              <a:t>以各项贷款余额、本年累计应收贷款、贷款项目个数、本年固定资产投资额为自变量</a:t>
            </a:r>
            <a:endParaRPr lang="en-US" altLang="zh-CN" dirty="0" smtClean="0"/>
          </a:p>
          <a:p>
            <a:pPr lvl="1" eaLnBrk="1" hangingPunct="1"/>
            <a:r>
              <a:rPr lang="zh-CN" altLang="en-US" dirty="0" smtClean="0"/>
              <a:t>进行回归模型估计</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AAFB989E-4296-45A8-BD0F-FD7B6A730480}" type="slidenum">
              <a:rPr lang="en-US" altLang="zh-CN" smtClean="0"/>
              <a:pPr>
                <a:defRPr/>
              </a:pPr>
              <a:t>24</a:t>
            </a:fld>
            <a:endParaRPr lang="en-US" altLang="zh-CN"/>
          </a:p>
        </p:txBody>
      </p:sp>
    </p:spTree>
    <p:extLst>
      <p:ext uri="{BB962C8B-B14F-4D97-AF65-F5344CB8AC3E}">
        <p14:creationId xmlns:p14="http://schemas.microsoft.com/office/powerpoint/2010/main" val="2448084607"/>
      </p:ext>
    </p:ext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83E057-A8A4-462B-9098-2DFD0063FD99}" type="slidenum">
              <a:rPr lang="en-US" altLang="zh-CN" smtClean="0">
                <a:solidFill>
                  <a:srgbClr val="FFFFFF"/>
                </a:solidFill>
              </a:rPr>
              <a:pPr eaLnBrk="1" hangingPunct="1"/>
              <a:t>25</a:t>
            </a:fld>
            <a:endParaRPr lang="en-US" altLang="zh-CN" smtClean="0">
              <a:solidFill>
                <a:srgbClr val="FFFFFF"/>
              </a:solidFill>
            </a:endParaRPr>
          </a:p>
        </p:txBody>
      </p:sp>
      <p:pic>
        <p:nvPicPr>
          <p:cNvPr id="2560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997200"/>
            <a:ext cx="6707187"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0450" name="Rectangle 2"/>
          <p:cNvSpPr>
            <a:spLocks noGrp="1" noChangeArrowheads="1"/>
          </p:cNvSpPr>
          <p:nvPr>
            <p:ph type="title"/>
          </p:nvPr>
        </p:nvSpPr>
        <p:spPr/>
        <p:txBody>
          <a:bodyPr/>
          <a:lstStyle/>
          <a:p>
            <a:pPr eaLnBrk="1" hangingPunct="1"/>
            <a:r>
              <a:rPr lang="zh-CN" altLang="en-US" dirty="0" smtClean="0"/>
              <a:t>结果分析</a:t>
            </a:r>
            <a:endParaRPr lang="zh-CN" altLang="en-US" dirty="0" smtClean="0"/>
          </a:p>
        </p:txBody>
      </p:sp>
      <p:sp>
        <p:nvSpPr>
          <p:cNvPr id="25605" name="Rectangle 3"/>
          <p:cNvSpPr>
            <a:spLocks noGrp="1" noChangeArrowheads="1"/>
          </p:cNvSpPr>
          <p:nvPr>
            <p:ph type="body" idx="1"/>
          </p:nvPr>
        </p:nvSpPr>
        <p:spPr>
          <a:xfrm>
            <a:off x="457200" y="1196752"/>
            <a:ext cx="8218488" cy="1656184"/>
          </a:xfrm>
        </p:spPr>
        <p:txBody>
          <a:bodyPr/>
          <a:lstStyle/>
          <a:p>
            <a:pPr eaLnBrk="1" hangingPunct="1"/>
            <a:r>
              <a:rPr lang="zh-CN" altLang="en-US" dirty="0" smtClean="0"/>
              <a:t>可见，需要剔除</a:t>
            </a:r>
            <a:r>
              <a:rPr lang="zh-CN" altLang="en-US" dirty="0" smtClean="0"/>
              <a:t>本年累计应收贷款、贷款项目个数、本年固定资产投资额</a:t>
            </a:r>
            <a:r>
              <a:rPr lang="en-US" altLang="zh-CN" dirty="0" smtClean="0"/>
              <a:t>3</a:t>
            </a:r>
            <a:r>
              <a:rPr lang="zh-CN" altLang="en-US" dirty="0" smtClean="0"/>
              <a:t>个自变量</a:t>
            </a:r>
            <a:endParaRPr lang="en-US" altLang="zh-CN" dirty="0" smtClean="0"/>
          </a:p>
          <a:p>
            <a:pPr eaLnBrk="1" hangingPunct="1"/>
            <a:r>
              <a:rPr lang="zh-CN" altLang="en-US" dirty="0" smtClean="0"/>
              <a:t>只用</a:t>
            </a:r>
            <a:r>
              <a:rPr lang="zh-CN" altLang="en-US" dirty="0" smtClean="0"/>
              <a:t>各项贷款余额作为自变量构建回归模型</a:t>
            </a:r>
            <a:endParaRPr lang="zh-CN" altLang="en-US" dirty="0" smtClean="0"/>
          </a:p>
        </p:txBody>
      </p:sp>
      <p:sp>
        <p:nvSpPr>
          <p:cNvPr id="25607" name="Rectangle 7"/>
          <p:cNvSpPr>
            <a:spLocks noChangeArrowheads="1"/>
          </p:cNvSpPr>
          <p:nvPr/>
        </p:nvSpPr>
        <p:spPr bwMode="auto">
          <a:xfrm>
            <a:off x="4140200" y="6021388"/>
            <a:ext cx="1295400" cy="503237"/>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0066"/>
              </a:solidFill>
            </a:endParaRPr>
          </a:p>
        </p:txBody>
      </p:sp>
      <p:sp>
        <p:nvSpPr>
          <p:cNvPr id="360456" name="Text Box 8"/>
          <p:cNvSpPr txBox="1">
            <a:spLocks noChangeArrowheads="1"/>
          </p:cNvSpPr>
          <p:nvPr/>
        </p:nvSpPr>
        <p:spPr bwMode="auto">
          <a:xfrm>
            <a:off x="5487988" y="6092825"/>
            <a:ext cx="3116262" cy="4572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kumimoji="1" lang="en-US" altLang="zh-CN" sz="1200" b="1">
                <a:effectLst>
                  <a:outerShdw blurRad="38100" dist="38100" dir="2700000" algn="tl">
                    <a:srgbClr val="FFFFFF"/>
                  </a:outerShdw>
                </a:effectLst>
              </a:rPr>
              <a:t>t</a:t>
            </a:r>
            <a:r>
              <a:rPr kumimoji="1" lang="zh-CN" altLang="en-US" sz="1200" b="1">
                <a:effectLst>
                  <a:outerShdw blurRad="38100" dist="38100" dir="2700000" algn="tl">
                    <a:srgbClr val="FFFFFF"/>
                  </a:outerShdw>
                </a:effectLst>
              </a:rPr>
              <a:t>统计量的</a:t>
            </a:r>
            <a:r>
              <a:rPr kumimoji="1" lang="en-US" altLang="zh-CN" sz="1200" b="1">
                <a:effectLst>
                  <a:outerShdw blurRad="38100" dist="38100" dir="2700000" algn="tl">
                    <a:srgbClr val="FFFFFF"/>
                  </a:outerShdw>
                </a:effectLst>
              </a:rPr>
              <a:t>P</a:t>
            </a:r>
            <a:r>
              <a:rPr kumimoji="1" lang="zh-CN" altLang="en-US" sz="1200" b="1">
                <a:effectLst>
                  <a:outerShdw blurRad="38100" dist="38100" dir="2700000" algn="tl">
                    <a:srgbClr val="FFFFFF"/>
                  </a:outerShdw>
                </a:effectLst>
              </a:rPr>
              <a:t>值大于显著水平（</a:t>
            </a:r>
            <a:r>
              <a:rPr kumimoji="1" lang="en-US" altLang="zh-CN" sz="1200" b="1">
                <a:effectLst>
                  <a:outerShdw blurRad="38100" dist="38100" dir="2700000" algn="tl">
                    <a:srgbClr val="FFFFFF"/>
                  </a:outerShdw>
                </a:effectLst>
              </a:rPr>
              <a:t>0.05</a:t>
            </a:r>
            <a:r>
              <a:rPr kumimoji="1" lang="zh-CN" altLang="en-US" sz="1200" b="1">
                <a:effectLst>
                  <a:outerShdw blurRad="38100" dist="38100" dir="2700000" algn="tl">
                    <a:srgbClr val="FFFFFF"/>
                  </a:outerShdw>
                </a:effectLst>
              </a:rPr>
              <a:t>），建立回归方程时应剔除该自变量</a:t>
            </a:r>
          </a:p>
        </p:txBody>
      </p:sp>
      <p:sp>
        <p:nvSpPr>
          <p:cNvPr id="25609" name="Rectangle 9"/>
          <p:cNvSpPr>
            <a:spLocks noChangeArrowheads="1"/>
          </p:cNvSpPr>
          <p:nvPr/>
        </p:nvSpPr>
        <p:spPr bwMode="auto">
          <a:xfrm>
            <a:off x="4140200" y="5800726"/>
            <a:ext cx="1295400" cy="215900"/>
          </a:xfrm>
          <a:prstGeom prst="rect">
            <a:avLst/>
          </a:prstGeom>
          <a:noFill/>
          <a:ln w="19050">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0066"/>
              </a:solidFill>
            </a:endParaRPr>
          </a:p>
        </p:txBody>
      </p:sp>
      <p:sp>
        <p:nvSpPr>
          <p:cNvPr id="360458" name="Text Box 10"/>
          <p:cNvSpPr txBox="1">
            <a:spLocks noChangeArrowheads="1"/>
          </p:cNvSpPr>
          <p:nvPr/>
        </p:nvSpPr>
        <p:spPr bwMode="auto">
          <a:xfrm>
            <a:off x="5508625" y="5589588"/>
            <a:ext cx="3116263"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kumimoji="1" lang="en-US" altLang="zh-CN" sz="1200" b="1">
                <a:effectLst>
                  <a:outerShdw blurRad="38100" dist="38100" dir="2700000" algn="tl">
                    <a:srgbClr val="FFFFFF"/>
                  </a:outerShdw>
                </a:effectLst>
              </a:rPr>
              <a:t>t</a:t>
            </a:r>
            <a:r>
              <a:rPr kumimoji="1" lang="zh-CN" altLang="en-US" sz="1200" b="1">
                <a:effectLst>
                  <a:outerShdw blurRad="38100" dist="38100" dir="2700000" algn="tl">
                    <a:srgbClr val="FFFFFF"/>
                  </a:outerShdw>
                </a:effectLst>
              </a:rPr>
              <a:t>统计量的</a:t>
            </a:r>
            <a:r>
              <a:rPr kumimoji="1" lang="en-US" altLang="zh-CN" sz="1200" b="1">
                <a:effectLst>
                  <a:outerShdw blurRad="38100" dist="38100" dir="2700000" algn="tl">
                    <a:srgbClr val="FFFFFF"/>
                  </a:outerShdw>
                </a:effectLst>
              </a:rPr>
              <a:t>P</a:t>
            </a:r>
            <a:r>
              <a:rPr kumimoji="1" lang="zh-CN" altLang="en-US" sz="1200" b="1">
                <a:effectLst>
                  <a:outerShdw blurRad="38100" dist="38100" dir="2700000" algn="tl">
                    <a:srgbClr val="FFFFFF"/>
                  </a:outerShdw>
                </a:effectLst>
              </a:rPr>
              <a:t>值小于显著水平（</a:t>
            </a:r>
            <a:r>
              <a:rPr kumimoji="1" lang="en-US" altLang="zh-CN" sz="1200" b="1">
                <a:effectLst>
                  <a:outerShdw blurRad="38100" dist="38100" dir="2700000" algn="tl">
                    <a:srgbClr val="FFFFFF"/>
                  </a:outerShdw>
                </a:effectLst>
              </a:rPr>
              <a:t>0.05</a:t>
            </a:r>
            <a:r>
              <a:rPr kumimoji="1" lang="zh-CN" altLang="en-US" sz="1200" b="1">
                <a:effectLst>
                  <a:outerShdw blurRad="38100" dist="38100" dir="2700000" algn="tl">
                    <a:srgbClr val="FFFFFF"/>
                  </a:outerShdw>
                </a:effectLst>
              </a:rPr>
              <a:t>），可用该自变量建立回归方程</a:t>
            </a: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FF92BC1-7826-45A4-958B-746BB24BEAE7}" type="slidenum">
              <a:rPr lang="en-US" altLang="zh-CN" smtClean="0">
                <a:solidFill>
                  <a:srgbClr val="FFFFFF"/>
                </a:solidFill>
              </a:rPr>
              <a:pPr eaLnBrk="1" hangingPunct="1"/>
              <a:t>26</a:t>
            </a:fld>
            <a:endParaRPr lang="en-US" altLang="zh-CN" smtClean="0">
              <a:solidFill>
                <a:srgbClr val="FFFFFF"/>
              </a:solidFill>
            </a:endParaRPr>
          </a:p>
        </p:txBody>
      </p:sp>
      <p:sp>
        <p:nvSpPr>
          <p:cNvPr id="361474" name="Rectangle 2"/>
          <p:cNvSpPr>
            <a:spLocks noGrp="1" noChangeArrowheads="1"/>
          </p:cNvSpPr>
          <p:nvPr>
            <p:ph type="title"/>
          </p:nvPr>
        </p:nvSpPr>
        <p:spPr/>
        <p:txBody>
          <a:bodyPr/>
          <a:lstStyle/>
          <a:p>
            <a:pPr eaLnBrk="1" hangingPunct="1"/>
            <a:r>
              <a:rPr lang="zh-CN" altLang="en-US" dirty="0" smtClean="0"/>
              <a:t>求</a:t>
            </a:r>
            <a:r>
              <a:rPr lang="zh-CN" altLang="en-US" dirty="0" smtClean="0"/>
              <a:t>不良贷款</a:t>
            </a:r>
            <a:r>
              <a:rPr lang="zh-CN" altLang="en-US" dirty="0" smtClean="0"/>
              <a:t>的回归方程</a:t>
            </a:r>
            <a:endParaRPr lang="zh-CN" altLang="en-US" dirty="0" smtClean="0"/>
          </a:p>
        </p:txBody>
      </p:sp>
      <p:sp>
        <p:nvSpPr>
          <p:cNvPr id="26628" name="Rectangle 3"/>
          <p:cNvSpPr>
            <a:spLocks noGrp="1" noChangeArrowheads="1"/>
          </p:cNvSpPr>
          <p:nvPr>
            <p:ph type="body" idx="1"/>
          </p:nvPr>
        </p:nvSpPr>
        <p:spPr>
          <a:xfrm>
            <a:off x="468313" y="1341438"/>
            <a:ext cx="8229600" cy="1366837"/>
          </a:xfrm>
        </p:spPr>
        <p:txBody>
          <a:bodyPr/>
          <a:lstStyle/>
          <a:p>
            <a:pPr eaLnBrk="1" hangingPunct="1">
              <a:lnSpc>
                <a:spcPct val="90000"/>
              </a:lnSpc>
            </a:pPr>
            <a:r>
              <a:rPr lang="zh-CN" altLang="en-US" sz="2400" dirty="0" smtClean="0"/>
              <a:t>构建不良贷款对贷款余额的估计方程</a:t>
            </a:r>
          </a:p>
          <a:p>
            <a:pPr lvl="1" eaLnBrk="1" hangingPunct="1">
              <a:lnSpc>
                <a:spcPct val="90000"/>
              </a:lnSpc>
            </a:pPr>
            <a:r>
              <a:rPr lang="en-US" altLang="zh-CN" sz="2000" dirty="0" smtClean="0"/>
              <a:t>y=-0.82929+0.03789x</a:t>
            </a:r>
          </a:p>
          <a:p>
            <a:pPr lvl="1" eaLnBrk="1" hangingPunct="1">
              <a:lnSpc>
                <a:spcPct val="90000"/>
              </a:lnSpc>
            </a:pPr>
            <a:r>
              <a:rPr lang="zh-CN" altLang="en-US" sz="2000" dirty="0" smtClean="0"/>
              <a:t>回归系数</a:t>
            </a:r>
            <a:r>
              <a:rPr lang="en-US" altLang="zh-CN" sz="2000" dirty="0" smtClean="0"/>
              <a:t>0.03789</a:t>
            </a:r>
            <a:r>
              <a:rPr lang="zh-CN" altLang="en-US" sz="2000" dirty="0" smtClean="0"/>
              <a:t>表示贷款余额每增加</a:t>
            </a:r>
            <a:r>
              <a:rPr lang="en-US" altLang="zh-CN" sz="2000" dirty="0" smtClean="0"/>
              <a:t>1</a:t>
            </a:r>
            <a:r>
              <a:rPr lang="zh-CN" altLang="en-US" sz="2000" dirty="0" smtClean="0"/>
              <a:t>亿元，不良贷款平均增加</a:t>
            </a:r>
            <a:r>
              <a:rPr lang="en-US" altLang="zh-CN" sz="2000" dirty="0" smtClean="0"/>
              <a:t>0.03789</a:t>
            </a:r>
            <a:r>
              <a:rPr lang="zh-CN" altLang="en-US" sz="2000" dirty="0" smtClean="0"/>
              <a:t>亿元</a:t>
            </a:r>
          </a:p>
        </p:txBody>
      </p:sp>
      <p:pic>
        <p:nvPicPr>
          <p:cNvPr id="266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852738"/>
            <a:ext cx="6694487" cy="301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25" y="2781300"/>
            <a:ext cx="2376488"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a:spLocks noGrp="1"/>
          </p:cNvSpPr>
          <p:nvPr>
            <p:ph type="sldNum" sz="quarter" idx="10"/>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1773AE6-C1AB-4184-B1AA-315E49EB2CBD}" type="slidenum">
              <a:rPr lang="en-US" altLang="zh-CN" smtClean="0">
                <a:solidFill>
                  <a:srgbClr val="FFFFFF"/>
                </a:solidFill>
              </a:rPr>
              <a:pPr eaLnBrk="1" hangingPunct="1"/>
              <a:t>27</a:t>
            </a:fld>
            <a:endParaRPr lang="en-US" altLang="zh-CN" smtClean="0">
              <a:solidFill>
                <a:srgbClr val="FFFFFF"/>
              </a:solidFill>
            </a:endParaRPr>
          </a:p>
        </p:txBody>
      </p:sp>
      <p:sp>
        <p:nvSpPr>
          <p:cNvPr id="349186" name="Rectangle 2"/>
          <p:cNvSpPr>
            <a:spLocks noGrp="1" noChangeArrowheads="1"/>
          </p:cNvSpPr>
          <p:nvPr>
            <p:ph type="title"/>
          </p:nvPr>
        </p:nvSpPr>
        <p:spPr/>
        <p:txBody>
          <a:bodyPr/>
          <a:lstStyle/>
          <a:p>
            <a:pPr eaLnBrk="1" hangingPunct="1">
              <a:defRPr/>
            </a:pPr>
            <a:r>
              <a:rPr lang="zh-CN" altLang="en-US" dirty="0" smtClean="0"/>
              <a:t>课堂练习、</a:t>
            </a:r>
            <a:r>
              <a:rPr lang="zh-CN" altLang="en-US" dirty="0" smtClean="0"/>
              <a:t>作业</a:t>
            </a:r>
            <a:endParaRPr lang="zh-CN" altLang="en-US" dirty="0" smtClean="0"/>
          </a:p>
        </p:txBody>
      </p:sp>
      <p:sp>
        <p:nvSpPr>
          <p:cNvPr id="27652" name="Rectangle 3"/>
          <p:cNvSpPr>
            <a:spLocks noGrp="1" noChangeArrowheads="1"/>
          </p:cNvSpPr>
          <p:nvPr>
            <p:ph type="body" idx="1"/>
          </p:nvPr>
        </p:nvSpPr>
        <p:spPr/>
        <p:txBody>
          <a:bodyPr/>
          <a:lstStyle/>
          <a:p>
            <a:pPr eaLnBrk="1" hangingPunct="1"/>
            <a:r>
              <a:rPr lang="zh-CN" altLang="en-US" dirty="0" smtClean="0"/>
              <a:t>课堂练习：示例</a:t>
            </a:r>
            <a:r>
              <a:rPr lang="en-US" altLang="zh-CN" dirty="0" smtClean="0"/>
              <a:t>1-6</a:t>
            </a:r>
            <a:endParaRPr lang="en-US" altLang="zh-CN" dirty="0" smtClean="0"/>
          </a:p>
          <a:p>
            <a:pPr eaLnBrk="1" hangingPunct="1"/>
            <a:r>
              <a:rPr lang="zh-CN" altLang="en-US" dirty="0" smtClean="0"/>
              <a:t>作业：</a:t>
            </a:r>
            <a:r>
              <a:rPr lang="en-US" altLang="zh-CN" dirty="0" smtClean="0"/>
              <a:t>P200-2</a:t>
            </a:r>
            <a:r>
              <a:rPr lang="zh-CN" altLang="en-US" dirty="0" smtClean="0"/>
              <a:t>、</a:t>
            </a:r>
            <a:r>
              <a:rPr lang="en-US" altLang="zh-CN" dirty="0" smtClean="0"/>
              <a:t>3</a:t>
            </a:r>
            <a:r>
              <a:rPr lang="zh-CN" altLang="en-US" dirty="0" smtClean="0"/>
              <a:t>、</a:t>
            </a:r>
            <a:r>
              <a:rPr lang="en-US" altLang="zh-CN" dirty="0" smtClean="0"/>
              <a:t>5</a:t>
            </a:r>
            <a:r>
              <a:rPr lang="zh-CN" altLang="en-US" dirty="0" smtClean="0"/>
              <a:t>，</a:t>
            </a:r>
            <a:r>
              <a:rPr lang="en-US" altLang="zh-CN" dirty="0" smtClean="0"/>
              <a:t>7</a:t>
            </a:r>
            <a:r>
              <a:rPr lang="zh-CN" altLang="en-US" dirty="0" smtClean="0"/>
              <a:t>，</a:t>
            </a:r>
            <a:r>
              <a:rPr lang="en-US" altLang="zh-CN" dirty="0" smtClean="0"/>
              <a:t>9</a:t>
            </a:r>
            <a:r>
              <a:rPr lang="zh-CN" altLang="en-US" dirty="0" smtClean="0"/>
              <a:t>、</a:t>
            </a:r>
            <a:r>
              <a:rPr lang="en-US" altLang="zh-CN" dirty="0" smtClean="0"/>
              <a:t>11</a:t>
            </a:r>
            <a:r>
              <a:rPr lang="zh-CN" altLang="en-US" dirty="0" smtClean="0"/>
              <a:t>、</a:t>
            </a:r>
            <a:r>
              <a:rPr lang="en-US" altLang="zh-CN" dirty="0" smtClean="0"/>
              <a:t>17</a:t>
            </a:r>
            <a:r>
              <a:rPr lang="zh-CN" altLang="en-US" dirty="0" smtClean="0"/>
              <a:t>、</a:t>
            </a:r>
            <a:r>
              <a:rPr lang="en-US" altLang="zh-CN" dirty="0" smtClean="0"/>
              <a:t>18</a:t>
            </a:r>
          </a:p>
          <a:p>
            <a:pPr lvl="1" eaLnBrk="1" hangingPunct="1"/>
            <a:r>
              <a:rPr lang="zh-CN" altLang="en-US" dirty="0" smtClean="0"/>
              <a:t>所有用到的数据请自行安排组织写入到</a:t>
            </a:r>
            <a:r>
              <a:rPr lang="en-US" altLang="zh-CN" dirty="0" smtClean="0"/>
              <a:t>excel</a:t>
            </a:r>
            <a:r>
              <a:rPr lang="zh-CN" altLang="en-US" dirty="0" smtClean="0"/>
              <a:t>，每个题目一个工作表</a:t>
            </a:r>
          </a:p>
          <a:p>
            <a:pPr lvl="1" eaLnBrk="1" hangingPunct="1"/>
            <a:r>
              <a:rPr lang="zh-CN" altLang="en-US" dirty="0" smtClean="0"/>
              <a:t>在做回归分析时，不要只摆结果，也请认真做好分析</a:t>
            </a:r>
          </a:p>
          <a:p>
            <a:pPr lvl="2" eaLnBrk="1" hangingPunct="1"/>
            <a:r>
              <a:rPr lang="zh-CN" altLang="en-US" dirty="0" smtClean="0"/>
              <a:t>是否可以构建回归方程</a:t>
            </a:r>
            <a:r>
              <a:rPr lang="en-US" altLang="zh-CN" dirty="0" smtClean="0"/>
              <a:t>-R2</a:t>
            </a:r>
            <a:r>
              <a:rPr lang="zh-CN" altLang="en-US" dirty="0" smtClean="0"/>
              <a:t>、</a:t>
            </a:r>
            <a:r>
              <a:rPr lang="en-US" altLang="zh-CN" dirty="0" smtClean="0"/>
              <a:t>F</a:t>
            </a:r>
            <a:r>
              <a:rPr lang="zh-CN" altLang="en-US" dirty="0" smtClean="0"/>
              <a:t>、</a:t>
            </a:r>
            <a:r>
              <a:rPr lang="en-US" altLang="zh-CN" dirty="0" smtClean="0"/>
              <a:t>t</a:t>
            </a:r>
            <a:r>
              <a:rPr lang="zh-CN" altLang="en-US" dirty="0" smtClean="0"/>
              <a:t>统计量的分析</a:t>
            </a:r>
          </a:p>
          <a:p>
            <a:pPr lvl="2" eaLnBrk="1" hangingPunct="1"/>
            <a:r>
              <a:rPr lang="zh-CN" altLang="en-US" dirty="0" smtClean="0"/>
              <a:t>回归方程是什么</a:t>
            </a:r>
          </a:p>
          <a:p>
            <a:pPr lvl="2" eaLnBrk="1" hangingPunct="1"/>
            <a:r>
              <a:rPr lang="zh-CN" altLang="en-US" dirty="0" smtClean="0"/>
              <a:t>如果需要进行预测，请写出预测结果</a:t>
            </a: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sz="2800" dirty="0" smtClean="0"/>
              <a:t>思考题</a:t>
            </a:r>
            <a:r>
              <a:rPr lang="en-US" altLang="zh-CN" sz="2800" dirty="0" smtClean="0"/>
              <a:t>-</a:t>
            </a:r>
            <a:r>
              <a:rPr lang="zh-CN" altLang="en-US" sz="2800" dirty="0" smtClean="0"/>
              <a:t>基于</a:t>
            </a:r>
            <a:r>
              <a:rPr lang="zh-CN" altLang="en-US" sz="2800" dirty="0" smtClean="0"/>
              <a:t>多元线性回归模型的国民经济发展研究</a:t>
            </a:r>
            <a:endParaRPr lang="zh-CN" altLang="en-US" sz="2800" dirty="0"/>
          </a:p>
        </p:txBody>
      </p:sp>
      <p:sp>
        <p:nvSpPr>
          <p:cNvPr id="5" name="内容占位符 4"/>
          <p:cNvSpPr>
            <a:spLocks noGrp="1"/>
          </p:cNvSpPr>
          <p:nvPr>
            <p:ph idx="1"/>
          </p:nvPr>
        </p:nvSpPr>
        <p:spPr/>
        <p:txBody>
          <a:bodyPr>
            <a:normAutofit fontScale="92500" lnSpcReduction="10000"/>
          </a:bodyPr>
          <a:lstStyle/>
          <a:p>
            <a:r>
              <a:rPr lang="zh-CN" altLang="en-US" dirty="0" smtClean="0"/>
              <a:t>国内生产总值</a:t>
            </a:r>
            <a:r>
              <a:rPr lang="en-US" altLang="zh-CN" dirty="0" smtClean="0"/>
              <a:t>(GDP)</a:t>
            </a:r>
            <a:r>
              <a:rPr lang="zh-CN" altLang="en-US" dirty="0" smtClean="0"/>
              <a:t>和国民生产总值</a:t>
            </a:r>
            <a:r>
              <a:rPr lang="en-US" altLang="zh-CN" dirty="0" smtClean="0"/>
              <a:t>(GNP)</a:t>
            </a:r>
            <a:r>
              <a:rPr lang="zh-CN" altLang="en-US" dirty="0" smtClean="0"/>
              <a:t>在经济学中常作为衡量国家或地区经济发展综合水平的重要指标。对影响</a:t>
            </a:r>
            <a:r>
              <a:rPr lang="en-US" altLang="zh-CN" dirty="0" smtClean="0"/>
              <a:t>GDP</a:t>
            </a:r>
            <a:r>
              <a:rPr lang="zh-CN" altLang="en-US" dirty="0" smtClean="0"/>
              <a:t>的几个重要因素进行分析，可以为我国国民经济发展走势提供理论与数据支持。</a:t>
            </a:r>
            <a:endParaRPr lang="en-US" altLang="zh-CN" dirty="0" smtClean="0"/>
          </a:p>
          <a:p>
            <a:r>
              <a:rPr lang="en-US" altLang="zh-CN" dirty="0" smtClean="0"/>
              <a:t>GDP</a:t>
            </a:r>
            <a:r>
              <a:rPr lang="zh-CN" altLang="en-US" dirty="0" smtClean="0"/>
              <a:t>的计算方法一般有支出法和收入法。支出法核算</a:t>
            </a:r>
            <a:r>
              <a:rPr lang="en-US" altLang="zh-CN" dirty="0" smtClean="0"/>
              <a:t>GDP</a:t>
            </a:r>
            <a:r>
              <a:rPr lang="zh-CN" altLang="en-US" dirty="0" smtClean="0"/>
              <a:t>，就是从产品的使用出发，把一年内购买的各项最终产品的支出加总而计算出的该年内生产的最终产品的市场价值。在现实生活中，产品和劳务的最后使用，主要是居民消费、企业投资、政府购买和出口。考虑到数据的可得性，考虑选取全社会固定资产投资、社会消费品零售额、进出口贸易总额、地方财政收入这四个变量作为解释变量来研究</a:t>
            </a:r>
            <a:r>
              <a:rPr lang="en-US" altLang="zh-CN" dirty="0" smtClean="0"/>
              <a:t>GDP</a:t>
            </a:r>
            <a:r>
              <a:rPr lang="zh-CN" altLang="en-US" dirty="0" smtClean="0"/>
              <a:t>的变化情况。</a:t>
            </a:r>
          </a:p>
          <a:p>
            <a:endParaRPr lang="zh-CN" altLang="en-US" dirty="0"/>
          </a:p>
        </p:txBody>
      </p:sp>
      <p:sp>
        <p:nvSpPr>
          <p:cNvPr id="2" name="太阳形 1"/>
          <p:cNvSpPr/>
          <p:nvPr/>
        </p:nvSpPr>
        <p:spPr>
          <a:xfrm>
            <a:off x="8063880" y="692696"/>
            <a:ext cx="1080120" cy="1080120"/>
          </a:xfrm>
          <a:prstGeom prst="su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45339974"/>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数据的搜集</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上海对外贸易学院主页</a:t>
            </a:r>
            <a:r>
              <a:rPr lang="en-US" altLang="zh-CN" dirty="0" smtClean="0"/>
              <a:t>-</a:t>
            </a:r>
            <a:r>
              <a:rPr lang="zh-CN" altLang="en-US" dirty="0" smtClean="0"/>
              <a:t>图书馆</a:t>
            </a:r>
            <a:r>
              <a:rPr lang="en-US" altLang="zh-CN" dirty="0" smtClean="0"/>
              <a:t>-</a:t>
            </a:r>
            <a:r>
              <a:rPr lang="zh-CN" altLang="en-US" dirty="0" smtClean="0"/>
              <a:t>电子数据库</a:t>
            </a:r>
            <a:r>
              <a:rPr lang="en-US" altLang="zh-CN" dirty="0" smtClean="0"/>
              <a:t>-</a:t>
            </a:r>
            <a:r>
              <a:rPr lang="zh-CN" altLang="en-US" dirty="0" smtClean="0"/>
              <a:t>事实类数据库</a:t>
            </a:r>
            <a:r>
              <a:rPr lang="en-US" altLang="zh-CN" dirty="0" smtClean="0"/>
              <a:t>-</a:t>
            </a:r>
            <a:r>
              <a:rPr lang="zh-CN" altLang="en-US" dirty="0" smtClean="0"/>
              <a:t>中国经济信息网</a:t>
            </a:r>
            <a:endParaRPr lang="en-US" altLang="zh-CN" dirty="0" smtClean="0"/>
          </a:p>
          <a:p>
            <a:r>
              <a:rPr lang="zh-CN" altLang="en-US" dirty="0" smtClean="0"/>
              <a:t>中经专网</a:t>
            </a:r>
            <a:r>
              <a:rPr lang="en-US" altLang="zh-CN" dirty="0" smtClean="0"/>
              <a:t>-</a:t>
            </a:r>
            <a:r>
              <a:rPr lang="zh-CN" altLang="en-US" dirty="0" smtClean="0"/>
              <a:t>统计数据</a:t>
            </a:r>
            <a:r>
              <a:rPr lang="en-US" altLang="zh-CN" dirty="0" smtClean="0"/>
              <a:t>-</a:t>
            </a:r>
            <a:r>
              <a:rPr lang="zh-CN" altLang="en-US" dirty="0" smtClean="0"/>
              <a:t>地区年鉴</a:t>
            </a:r>
            <a:endParaRPr lang="en-US" altLang="zh-CN" dirty="0" smtClean="0"/>
          </a:p>
          <a:p>
            <a:r>
              <a:rPr lang="zh-CN" altLang="en-US" dirty="0" smtClean="0"/>
              <a:t>搜集中国各地在</a:t>
            </a:r>
            <a:r>
              <a:rPr lang="en-US" altLang="zh-CN" dirty="0" smtClean="0"/>
              <a:t>2011</a:t>
            </a:r>
            <a:r>
              <a:rPr lang="zh-CN" altLang="en-US" dirty="0" smtClean="0"/>
              <a:t>年的下述数据</a:t>
            </a:r>
            <a:endParaRPr lang="en-US" altLang="zh-CN" dirty="0" smtClean="0"/>
          </a:p>
          <a:p>
            <a:pPr lvl="1"/>
            <a:r>
              <a:rPr lang="zh-CN" altLang="en-US" dirty="0" smtClean="0"/>
              <a:t>因变量</a:t>
            </a:r>
            <a:r>
              <a:rPr lang="en-US" altLang="zh-CN" dirty="0" smtClean="0"/>
              <a:t>:</a:t>
            </a:r>
            <a:r>
              <a:rPr lang="zh-CN" altLang="en-US" dirty="0" smtClean="0"/>
              <a:t>国内生产总值</a:t>
            </a:r>
            <a:endParaRPr lang="en-US" altLang="zh-CN" dirty="0" smtClean="0"/>
          </a:p>
          <a:p>
            <a:pPr lvl="1"/>
            <a:r>
              <a:rPr lang="zh-CN" altLang="en-US" dirty="0" smtClean="0"/>
              <a:t>自变量</a:t>
            </a:r>
            <a:r>
              <a:rPr lang="en-US" altLang="zh-CN" dirty="0" smtClean="0"/>
              <a:t>:</a:t>
            </a:r>
            <a:r>
              <a:rPr lang="zh-CN" altLang="en-US" dirty="0" smtClean="0"/>
              <a:t>选取全社会固定资产投资、社会消费品零售额、进出口贸易总额、地方财政收入</a:t>
            </a:r>
            <a:endParaRPr lang="en-US" altLang="zh-CN" dirty="0" smtClean="0"/>
          </a:p>
          <a:p>
            <a:r>
              <a:rPr lang="zh-CN" altLang="en-US" dirty="0" smtClean="0"/>
              <a:t>将搜集的数据整理到</a:t>
            </a:r>
            <a:r>
              <a:rPr lang="en-US" altLang="zh-CN" dirty="0" smtClean="0"/>
              <a:t>excel,</a:t>
            </a:r>
            <a:r>
              <a:rPr lang="zh-CN" altLang="en-US" dirty="0" smtClean="0"/>
              <a:t>运用所学的相关分析和多元回归分析确定上述各因素对</a:t>
            </a:r>
            <a:r>
              <a:rPr lang="en-US" altLang="zh-CN" dirty="0" smtClean="0"/>
              <a:t>GDP</a:t>
            </a:r>
            <a:r>
              <a:rPr lang="zh-CN" altLang="en-US" dirty="0" smtClean="0"/>
              <a:t>的影响</a:t>
            </a:r>
            <a:r>
              <a:rPr lang="en-US" altLang="zh-CN" dirty="0" smtClean="0"/>
              <a:t>,</a:t>
            </a:r>
            <a:r>
              <a:rPr lang="zh-CN" altLang="en-US" dirty="0" smtClean="0"/>
              <a:t>并写出决策结论</a:t>
            </a:r>
            <a:r>
              <a:rPr lang="en-US" altLang="zh-CN" dirty="0" smtClean="0"/>
              <a:t>.</a:t>
            </a:r>
            <a:endParaRPr lang="zh-CN" altLang="en-US" dirty="0"/>
          </a:p>
        </p:txBody>
      </p:sp>
    </p:spTree>
    <p:extLst>
      <p:ext uri="{BB962C8B-B14F-4D97-AF65-F5344CB8AC3E}">
        <p14:creationId xmlns:p14="http://schemas.microsoft.com/office/powerpoint/2010/main" val="1302255046"/>
      </p:ext>
    </p:extLst>
  </p:cSld>
  <p:clrMapOvr>
    <a:masterClrMapping/>
  </p:clrMapOvr>
  <p:transition>
    <p:random/>
  </p:transition>
</p:sld>
</file>

<file path=ppt/theme/theme1.xml><?xml version="1.0" encoding="utf-8"?>
<a:theme xmlns:a="http://schemas.openxmlformats.org/drawingml/2006/main" name="备课模板">
  <a:themeElements>
    <a:clrScheme name="备课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备课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备课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备课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备课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备课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备课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备课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备课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备课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备课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备课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备课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备课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备课模板</Template>
  <TotalTime>4291</TotalTime>
  <Words>2323</Words>
  <Application>Microsoft Office PowerPoint</Application>
  <PresentationFormat>全屏显示(4:3)</PresentationFormat>
  <Paragraphs>232</Paragraphs>
  <Slides>29</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4</vt:i4>
      </vt:variant>
      <vt:variant>
        <vt:lpstr>幻灯片标题</vt:lpstr>
      </vt:variant>
      <vt:variant>
        <vt:i4>29</vt:i4>
      </vt:variant>
    </vt:vector>
  </HeadingPairs>
  <TitlesOfParts>
    <vt:vector size="40" baseType="lpstr">
      <vt:lpstr>Arial</vt:lpstr>
      <vt:lpstr>宋体</vt:lpstr>
      <vt:lpstr>黑体</vt:lpstr>
      <vt:lpstr>Wingdings</vt:lpstr>
      <vt:lpstr>Times New Roman</vt:lpstr>
      <vt:lpstr>Tahoma</vt:lpstr>
      <vt:lpstr>备课模板</vt:lpstr>
      <vt:lpstr>Microsoft 公式 3.0</vt:lpstr>
      <vt:lpstr>Microsoft Office Excel 工作表</vt:lpstr>
      <vt:lpstr>MathType 4.0 Equation</vt:lpstr>
      <vt:lpstr>Microsoft Excel 图表</vt:lpstr>
      <vt:lpstr>相关分析与回归分析</vt:lpstr>
      <vt:lpstr>学习目标</vt:lpstr>
      <vt:lpstr>相关分析</vt:lpstr>
      <vt:lpstr>散点图</vt:lpstr>
      <vt:lpstr>相关系数</vt:lpstr>
      <vt:lpstr>相关系数表示的意义</vt:lpstr>
      <vt:lpstr>加载“分析工具库”</vt:lpstr>
      <vt:lpstr>示例1-利用Excel数据分析计算相关系数</vt:lpstr>
      <vt:lpstr>示例1-利用Excel数据分析计算相关系数</vt:lpstr>
      <vt:lpstr>回归分析</vt:lpstr>
      <vt:lpstr>一元线形回归分析</vt:lpstr>
      <vt:lpstr>回归模型建立的步骤 </vt:lpstr>
      <vt:lpstr>回归模型的检验 </vt:lpstr>
      <vt:lpstr>示例2-一元回归分析示例</vt:lpstr>
      <vt:lpstr>散点图与趋势线</vt:lpstr>
      <vt:lpstr>利用分析工具进行一元线形回归分析</vt:lpstr>
      <vt:lpstr>数据分析结果</vt:lpstr>
      <vt:lpstr>示例3-二次方程拟合示例</vt:lpstr>
      <vt:lpstr>二次方程拟合步骤</vt:lpstr>
      <vt:lpstr>示例4-最大利润模型（思考）</vt:lpstr>
      <vt:lpstr>多元回归分析</vt:lpstr>
      <vt:lpstr>示例5：销售量的多元回归分析</vt:lpstr>
      <vt:lpstr>结果分析</vt:lpstr>
      <vt:lpstr>示例6-建立不良贷款的回归方程</vt:lpstr>
      <vt:lpstr>结果分析</vt:lpstr>
      <vt:lpstr>求不良贷款的回归方程</vt:lpstr>
      <vt:lpstr>课堂练习、作业</vt:lpstr>
      <vt:lpstr>思考题-基于多元线性回归模型的国民经济发展研究</vt:lpstr>
      <vt:lpstr>数据的搜集</vt:lpstr>
    </vt:vector>
  </TitlesOfParts>
  <Company>shift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access2000</dc:title>
  <dc:creator>liuqing</dc:creator>
  <cp:lastModifiedBy>张晓黎</cp:lastModifiedBy>
  <cp:revision>362</cp:revision>
  <dcterms:created xsi:type="dcterms:W3CDTF">2007-02-28T02:12:04Z</dcterms:created>
  <dcterms:modified xsi:type="dcterms:W3CDTF">2011-11-26T11:59:09Z</dcterms:modified>
</cp:coreProperties>
</file>