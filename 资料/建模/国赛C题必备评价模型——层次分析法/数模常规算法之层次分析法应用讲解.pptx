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47"/>
        <p:guide pos="289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.wmf"/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3" Type="http://schemas.openxmlformats.org/officeDocument/2006/relationships/image" Target="../media/image32.wmf"/><Relationship Id="rId12" Type="http://schemas.openxmlformats.org/officeDocument/2006/relationships/image" Target="../media/image31.wmf"/><Relationship Id="rId11" Type="http://schemas.openxmlformats.org/officeDocument/2006/relationships/image" Target="../media/image30.wmf"/><Relationship Id="rId10" Type="http://schemas.openxmlformats.org/officeDocument/2006/relationships/image" Target="../media/image29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.wmf"/><Relationship Id="rId8" Type="http://schemas.openxmlformats.org/officeDocument/2006/relationships/image" Target="../media/image38.wmf"/><Relationship Id="rId7" Type="http://schemas.openxmlformats.org/officeDocument/2006/relationships/image" Target="../media/image37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36.wmf"/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7" Type="http://schemas.openxmlformats.org/officeDocument/2006/relationships/image" Target="../media/image47.wmf"/><Relationship Id="rId16" Type="http://schemas.openxmlformats.org/officeDocument/2006/relationships/image" Target="../media/image46.wmf"/><Relationship Id="rId15" Type="http://schemas.openxmlformats.org/officeDocument/2006/relationships/image" Target="../media/image45.wmf"/><Relationship Id="rId14" Type="http://schemas.openxmlformats.org/officeDocument/2006/relationships/image" Target="../media/image44.wmf"/><Relationship Id="rId13" Type="http://schemas.openxmlformats.org/officeDocument/2006/relationships/image" Target="../media/image43.wmf"/><Relationship Id="rId12" Type="http://schemas.openxmlformats.org/officeDocument/2006/relationships/image" Target="../media/image42.wmf"/><Relationship Id="rId11" Type="http://schemas.openxmlformats.org/officeDocument/2006/relationships/image" Target="../media/image41.wmf"/><Relationship Id="rId10" Type="http://schemas.openxmlformats.org/officeDocument/2006/relationships/image" Target="../media/image40.wmf"/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6" Type="http://schemas.openxmlformats.org/officeDocument/2006/relationships/image" Target="../media/image60.wmf"/><Relationship Id="rId15" Type="http://schemas.openxmlformats.org/officeDocument/2006/relationships/image" Target="../media/image59.wmf"/><Relationship Id="rId14" Type="http://schemas.openxmlformats.org/officeDocument/2006/relationships/image" Target="../media/image58.wmf"/><Relationship Id="rId13" Type="http://schemas.openxmlformats.org/officeDocument/2006/relationships/image" Target="../media/image57.wmf"/><Relationship Id="rId12" Type="http://schemas.openxmlformats.org/officeDocument/2006/relationships/image" Target="../media/image15.wmf"/><Relationship Id="rId11" Type="http://schemas.openxmlformats.org/officeDocument/2006/relationships/image" Target="../media/image14.wmf"/><Relationship Id="rId10" Type="http://schemas.openxmlformats.org/officeDocument/2006/relationships/image" Target="../media/image32.wmf"/><Relationship Id="rId1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7" Type="http://schemas.openxmlformats.org/officeDocument/2006/relationships/image" Target="../media/image82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6.wmf"/><Relationship Id="rId8" Type="http://schemas.openxmlformats.org/officeDocument/2006/relationships/image" Target="../media/image95.wmf"/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2" Type="http://schemas.openxmlformats.org/officeDocument/2006/relationships/image" Target="../media/image99.wmf"/><Relationship Id="rId11" Type="http://schemas.openxmlformats.org/officeDocument/2006/relationships/image" Target="../media/image98.wmf"/><Relationship Id="rId10" Type="http://schemas.openxmlformats.org/officeDocument/2006/relationships/image" Target="../media/image97.wmf"/><Relationship Id="rId1" Type="http://schemas.openxmlformats.org/officeDocument/2006/relationships/image" Target="../media/image8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5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322656"/>
            <a:ext cx="9144000" cy="4212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900"/>
              </a:spcBef>
            </a:pPr>
            <a:endParaRPr lang="zh-CN" altLang="en-US"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41907" y="1476044"/>
            <a:ext cx="3260188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350" spc="450" dirty="0" smtClean="0">
                <a:solidFill>
                  <a:schemeClr val="bg1"/>
                </a:solidFill>
                <a:latin typeface="Swis721 BlkCn BT" panose="020B0806030502040204" pitchFamily="34" charset="0"/>
                <a:ea typeface="汉仪菱心体简" panose="02010609000101010101" pitchFamily="49" charset="-122"/>
              </a:rPr>
              <a:t>2017</a:t>
            </a:r>
            <a:endParaRPr lang="zh-CN" altLang="en-US" sz="10350" spc="450" dirty="0">
              <a:solidFill>
                <a:schemeClr val="bg1"/>
              </a:solidFill>
              <a:latin typeface="Swis721 BlkCn BT" panose="020B0806030502040204" pitchFamily="34" charset="0"/>
              <a:ea typeface="汉仪菱心体简" panose="0201060900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43088" y="3242261"/>
            <a:ext cx="5457825" cy="1056357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bg1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330968"/>
            <a:ext cx="6858000" cy="100303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249709" y="3223401"/>
            <a:ext cx="449489" cy="449489"/>
            <a:chOff x="249705" y="3242545"/>
            <a:chExt cx="449489" cy="449489"/>
          </a:xfrm>
        </p:grpSpPr>
        <p:sp>
          <p:nvSpPr>
            <p:cNvPr id="21" name="椭圆 20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8444803" y="3185111"/>
            <a:ext cx="449489" cy="449489"/>
            <a:chOff x="249705" y="3242545"/>
            <a:chExt cx="449489" cy="449489"/>
          </a:xfrm>
        </p:grpSpPr>
        <p:sp>
          <p:nvSpPr>
            <p:cNvPr id="19" name="椭圆 18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rgbClr val="F5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322656"/>
            <a:ext cx="9144000" cy="4212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900"/>
              </a:spcBef>
            </a:pPr>
            <a:endParaRPr lang="zh-CN" altLang="en-US"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333500" y="3733801"/>
            <a:ext cx="64770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249709" y="3223401"/>
            <a:ext cx="449489" cy="449489"/>
            <a:chOff x="249705" y="3242545"/>
            <a:chExt cx="449489" cy="449489"/>
          </a:xfrm>
        </p:grpSpPr>
        <p:sp>
          <p:nvSpPr>
            <p:cNvPr id="23" name="椭圆 22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等腰三角形 23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 flipH="1">
            <a:off x="8444803" y="3185111"/>
            <a:ext cx="449489" cy="449489"/>
            <a:chOff x="249705" y="3242545"/>
            <a:chExt cx="449489" cy="449489"/>
          </a:xfrm>
        </p:grpSpPr>
        <p:sp>
          <p:nvSpPr>
            <p:cNvPr id="26" name="椭圆 25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849664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2801257"/>
            <a:ext cx="3868340" cy="33884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849664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801257"/>
            <a:ext cx="3887391" cy="33884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322656"/>
            <a:ext cx="9144000" cy="4212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900"/>
              </a:spcBef>
            </a:pPr>
            <a:endParaRPr lang="zh-CN" altLang="en-US" sz="1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49709" y="3223401"/>
            <a:ext cx="449489" cy="449489"/>
            <a:chOff x="249705" y="3242545"/>
            <a:chExt cx="449489" cy="449489"/>
          </a:xfrm>
        </p:grpSpPr>
        <p:sp>
          <p:nvSpPr>
            <p:cNvPr id="16" name="椭圆 15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8444803" y="3185111"/>
            <a:ext cx="449489" cy="449489"/>
            <a:chOff x="249705" y="3242545"/>
            <a:chExt cx="449489" cy="449489"/>
          </a:xfrm>
        </p:grpSpPr>
        <p:sp>
          <p:nvSpPr>
            <p:cNvPr id="19" name="椭圆 18"/>
            <p:cNvSpPr/>
            <p:nvPr/>
          </p:nvSpPr>
          <p:spPr>
            <a:xfrm>
              <a:off x="249705" y="3242545"/>
              <a:ext cx="449489" cy="44948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6200000">
              <a:off x="345358" y="3384746"/>
              <a:ext cx="191501" cy="165087"/>
            </a:xfrm>
            <a:prstGeom prst="triangle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812168" y="2468757"/>
            <a:ext cx="7519664" cy="1920487"/>
          </a:xfrm>
        </p:spPr>
        <p:txBody>
          <a:bodyPr>
            <a:normAutofit/>
          </a:bodyPr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58087" y="365125"/>
            <a:ext cx="957263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1" y="365125"/>
            <a:ext cx="6793706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66057"/>
            <a:ext cx="7886700" cy="567440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3A8F1-9EDF-49EF-A14D-E495AD864F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13857-8FE2-426A-A37B-64DF65062EF2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12.xml"/><Relationship Id="rId23" Type="http://schemas.openxmlformats.org/officeDocument/2006/relationships/image" Target="../media/image12.wmf"/><Relationship Id="rId22" Type="http://schemas.openxmlformats.org/officeDocument/2006/relationships/oleObject" Target="../embeddings/oleObject13.bin"/><Relationship Id="rId21" Type="http://schemas.openxmlformats.org/officeDocument/2006/relationships/image" Target="../media/image11.wmf"/><Relationship Id="rId20" Type="http://schemas.openxmlformats.org/officeDocument/2006/relationships/oleObject" Target="../embeddings/oleObject12.bin"/><Relationship Id="rId2" Type="http://schemas.openxmlformats.org/officeDocument/2006/relationships/image" Target="../media/image3.wmf"/><Relationship Id="rId19" Type="http://schemas.openxmlformats.org/officeDocument/2006/relationships/image" Target="../media/image10.wmf"/><Relationship Id="rId18" Type="http://schemas.openxmlformats.org/officeDocument/2006/relationships/oleObject" Target="../embeddings/oleObject11.bin"/><Relationship Id="rId17" Type="http://schemas.openxmlformats.org/officeDocument/2006/relationships/oleObject" Target="../embeddings/oleObject10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9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6.bin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oleObject" Target="../embeddings/oleObject17.bin"/><Relationship Id="rId7" Type="http://schemas.openxmlformats.org/officeDocument/2006/relationships/tags" Target="../tags/tag13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3.wmf"/><Relationship Id="rId19" Type="http://schemas.openxmlformats.org/officeDocument/2006/relationships/vmlDrawing" Target="../drawings/vmlDrawing2.v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4.xml"/><Relationship Id="rId16" Type="http://schemas.openxmlformats.org/officeDocument/2006/relationships/oleObject" Target="../embeddings/oleObject21.bin"/><Relationship Id="rId15" Type="http://schemas.openxmlformats.org/officeDocument/2006/relationships/image" Target="../media/image19.wmf"/><Relationship Id="rId14" Type="http://schemas.openxmlformats.org/officeDocument/2006/relationships/oleObject" Target="../embeddings/oleObject20.bin"/><Relationship Id="rId13" Type="http://schemas.openxmlformats.org/officeDocument/2006/relationships/image" Target="../media/image18.wmf"/><Relationship Id="rId12" Type="http://schemas.openxmlformats.org/officeDocument/2006/relationships/oleObject" Target="../embeddings/oleObject19.bin"/><Relationship Id="rId11" Type="http://schemas.openxmlformats.org/officeDocument/2006/relationships/image" Target="../media/image17.wmf"/><Relationship Id="rId10" Type="http://schemas.openxmlformats.org/officeDocument/2006/relationships/oleObject" Target="../embeddings/oleObject18.bin"/><Relationship Id="rId1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3.bin"/><Relationship Id="rId29" Type="http://schemas.openxmlformats.org/officeDocument/2006/relationships/vmlDrawing" Target="../drawings/vmlDrawing3.v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15.xml"/><Relationship Id="rId26" Type="http://schemas.openxmlformats.org/officeDocument/2006/relationships/image" Target="../media/image32.wmf"/><Relationship Id="rId25" Type="http://schemas.openxmlformats.org/officeDocument/2006/relationships/oleObject" Target="../embeddings/oleObject34.bin"/><Relationship Id="rId24" Type="http://schemas.openxmlformats.org/officeDocument/2006/relationships/image" Target="../media/image31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29.wmf"/><Relationship Id="rId2" Type="http://schemas.openxmlformats.org/officeDocument/2006/relationships/image" Target="../media/image20.w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6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4.wmf"/><Relationship Id="rId37" Type="http://schemas.openxmlformats.org/officeDocument/2006/relationships/vmlDrawing" Target="../drawings/vmlDrawing4.vml"/><Relationship Id="rId36" Type="http://schemas.openxmlformats.org/officeDocument/2006/relationships/slideLayout" Target="../slideLayouts/slideLayout7.xml"/><Relationship Id="rId35" Type="http://schemas.openxmlformats.org/officeDocument/2006/relationships/tags" Target="../tags/tag16.xml"/><Relationship Id="rId34" Type="http://schemas.openxmlformats.org/officeDocument/2006/relationships/image" Target="../media/image47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46.wmf"/><Relationship Id="rId31" Type="http://schemas.openxmlformats.org/officeDocument/2006/relationships/oleObject" Target="../embeddings/oleObject50.bin"/><Relationship Id="rId30" Type="http://schemas.openxmlformats.org/officeDocument/2006/relationships/image" Target="../media/image45.wmf"/><Relationship Id="rId3" Type="http://schemas.openxmlformats.org/officeDocument/2006/relationships/oleObject" Target="../embeddings/oleObject36.bin"/><Relationship Id="rId29" Type="http://schemas.openxmlformats.org/officeDocument/2006/relationships/oleObject" Target="../embeddings/oleObject49.bin"/><Relationship Id="rId28" Type="http://schemas.openxmlformats.org/officeDocument/2006/relationships/image" Target="../media/image44.wmf"/><Relationship Id="rId27" Type="http://schemas.openxmlformats.org/officeDocument/2006/relationships/oleObject" Target="../embeddings/oleObject48.bin"/><Relationship Id="rId26" Type="http://schemas.openxmlformats.org/officeDocument/2006/relationships/image" Target="../media/image43.wmf"/><Relationship Id="rId25" Type="http://schemas.openxmlformats.org/officeDocument/2006/relationships/oleObject" Target="../embeddings/oleObject47.bin"/><Relationship Id="rId24" Type="http://schemas.openxmlformats.org/officeDocument/2006/relationships/image" Target="../media/image42.wmf"/><Relationship Id="rId23" Type="http://schemas.openxmlformats.org/officeDocument/2006/relationships/oleObject" Target="../embeddings/oleObject46.bin"/><Relationship Id="rId22" Type="http://schemas.openxmlformats.org/officeDocument/2006/relationships/image" Target="../media/image41.wmf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40.wmf"/><Relationship Id="rId2" Type="http://schemas.openxmlformats.org/officeDocument/2006/relationships/image" Target="../media/image33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39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38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37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3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56.bin"/><Relationship Id="rId6" Type="http://schemas.openxmlformats.org/officeDocument/2006/relationships/oleObject" Target="../embeddings/oleObject55.bin"/><Relationship Id="rId5" Type="http://schemas.openxmlformats.org/officeDocument/2006/relationships/oleObject" Target="../embeddings/oleObject54.bin"/><Relationship Id="rId4" Type="http://schemas.openxmlformats.org/officeDocument/2006/relationships/image" Target="../media/image49.wmf"/><Relationship Id="rId3" Type="http://schemas.openxmlformats.org/officeDocument/2006/relationships/oleObject" Target="../embeddings/oleObject53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7.xml"/><Relationship Id="rId2" Type="http://schemas.openxmlformats.org/officeDocument/2006/relationships/image" Target="../media/image48.wmf"/><Relationship Id="rId19" Type="http://schemas.openxmlformats.org/officeDocument/2006/relationships/image" Target="../media/image53.wmf"/><Relationship Id="rId18" Type="http://schemas.openxmlformats.org/officeDocument/2006/relationships/oleObject" Target="../embeddings/oleObject64.bin"/><Relationship Id="rId17" Type="http://schemas.openxmlformats.org/officeDocument/2006/relationships/image" Target="../media/image52.wmf"/><Relationship Id="rId16" Type="http://schemas.openxmlformats.org/officeDocument/2006/relationships/oleObject" Target="../embeddings/oleObject63.bin"/><Relationship Id="rId15" Type="http://schemas.openxmlformats.org/officeDocument/2006/relationships/oleObject" Target="../embeddings/oleObject62.bin"/><Relationship Id="rId14" Type="http://schemas.openxmlformats.org/officeDocument/2006/relationships/oleObject" Target="../embeddings/oleObject61.bin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9.bin"/><Relationship Id="rId10" Type="http://schemas.openxmlformats.org/officeDocument/2006/relationships/oleObject" Target="../embeddings/oleObject58.bin"/><Relationship Id="rId1" Type="http://schemas.openxmlformats.org/officeDocument/2006/relationships/oleObject" Target="../embeddings/oleObject52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26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55.wmf"/><Relationship Id="rId36" Type="http://schemas.openxmlformats.org/officeDocument/2006/relationships/vmlDrawing" Target="../drawings/vmlDrawing6.vml"/><Relationship Id="rId35" Type="http://schemas.openxmlformats.org/officeDocument/2006/relationships/slideLayout" Target="../slideLayouts/slideLayout7.xml"/><Relationship Id="rId34" Type="http://schemas.openxmlformats.org/officeDocument/2006/relationships/tags" Target="../tags/tag18.xml"/><Relationship Id="rId33" Type="http://schemas.openxmlformats.org/officeDocument/2006/relationships/image" Target="../media/image60.wmf"/><Relationship Id="rId32" Type="http://schemas.openxmlformats.org/officeDocument/2006/relationships/oleObject" Target="../embeddings/oleObject81.bin"/><Relationship Id="rId31" Type="http://schemas.openxmlformats.org/officeDocument/2006/relationships/oleObject" Target="../embeddings/oleObject80.bin"/><Relationship Id="rId30" Type="http://schemas.openxmlformats.org/officeDocument/2006/relationships/image" Target="../media/image59.wmf"/><Relationship Id="rId3" Type="http://schemas.openxmlformats.org/officeDocument/2006/relationships/oleObject" Target="../embeddings/oleObject66.bin"/><Relationship Id="rId29" Type="http://schemas.openxmlformats.org/officeDocument/2006/relationships/oleObject" Target="../embeddings/oleObject79.bin"/><Relationship Id="rId28" Type="http://schemas.openxmlformats.org/officeDocument/2006/relationships/image" Target="../media/image58.wmf"/><Relationship Id="rId27" Type="http://schemas.openxmlformats.org/officeDocument/2006/relationships/oleObject" Target="../embeddings/oleObject78.bin"/><Relationship Id="rId26" Type="http://schemas.openxmlformats.org/officeDocument/2006/relationships/image" Target="../media/image57.wmf"/><Relationship Id="rId25" Type="http://schemas.openxmlformats.org/officeDocument/2006/relationships/oleObject" Target="../embeddings/oleObject77.bin"/><Relationship Id="rId24" Type="http://schemas.openxmlformats.org/officeDocument/2006/relationships/image" Target="../media/image15.wmf"/><Relationship Id="rId23" Type="http://schemas.openxmlformats.org/officeDocument/2006/relationships/oleObject" Target="../embeddings/oleObject76.bin"/><Relationship Id="rId22" Type="http://schemas.openxmlformats.org/officeDocument/2006/relationships/image" Target="../media/image14.wmf"/><Relationship Id="rId21" Type="http://schemas.openxmlformats.org/officeDocument/2006/relationships/oleObject" Target="../embeddings/oleObject75.bin"/><Relationship Id="rId20" Type="http://schemas.openxmlformats.org/officeDocument/2006/relationships/image" Target="../media/image32.wmf"/><Relationship Id="rId2" Type="http://schemas.openxmlformats.org/officeDocument/2006/relationships/image" Target="../media/image54.wmf"/><Relationship Id="rId19" Type="http://schemas.openxmlformats.org/officeDocument/2006/relationships/oleObject" Target="../embeddings/oleObject74.bin"/><Relationship Id="rId18" Type="http://schemas.openxmlformats.org/officeDocument/2006/relationships/image" Target="../media/image31.wmf"/><Relationship Id="rId17" Type="http://schemas.openxmlformats.org/officeDocument/2006/relationships/oleObject" Target="../embeddings/oleObject73.bin"/><Relationship Id="rId16" Type="http://schemas.openxmlformats.org/officeDocument/2006/relationships/image" Target="../media/image30.wmf"/><Relationship Id="rId15" Type="http://schemas.openxmlformats.org/officeDocument/2006/relationships/oleObject" Target="../embeddings/oleObject72.bin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71.bin"/><Relationship Id="rId12" Type="http://schemas.openxmlformats.org/officeDocument/2006/relationships/image" Target="../media/image28.wmf"/><Relationship Id="rId11" Type="http://schemas.openxmlformats.org/officeDocument/2006/relationships/oleObject" Target="../embeddings/oleObject70.bin"/><Relationship Id="rId10" Type="http://schemas.openxmlformats.org/officeDocument/2006/relationships/image" Target="../media/image27.wmf"/><Relationship Id="rId1" Type="http://schemas.openxmlformats.org/officeDocument/2006/relationships/oleObject" Target="../embeddings/oleObject65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61.wmf"/><Relationship Id="rId17" Type="http://schemas.openxmlformats.org/officeDocument/2006/relationships/vmlDrawing" Target="../drawings/vmlDrawing7.v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20.xml"/><Relationship Id="rId14" Type="http://schemas.openxmlformats.org/officeDocument/2006/relationships/image" Target="../media/image66.wmf"/><Relationship Id="rId13" Type="http://schemas.openxmlformats.org/officeDocument/2006/relationships/oleObject" Target="../embeddings/oleObject88.bin"/><Relationship Id="rId12" Type="http://schemas.openxmlformats.org/officeDocument/2006/relationships/tags" Target="../tags/tag19.xml"/><Relationship Id="rId11" Type="http://schemas.openxmlformats.org/officeDocument/2006/relationships/image" Target="../media/image65.wmf"/><Relationship Id="rId10" Type="http://schemas.openxmlformats.org/officeDocument/2006/relationships/oleObject" Target="../embeddings/oleObject87.bin"/><Relationship Id="rId1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67.wmf"/><Relationship Id="rId12" Type="http://schemas.openxmlformats.org/officeDocument/2006/relationships/vmlDrawing" Target="../drawings/vmlDrawing8.v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1.xml"/><Relationship Id="rId1" Type="http://schemas.openxmlformats.org/officeDocument/2006/relationships/oleObject" Target="../embeddings/oleObject89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8.bin"/><Relationship Id="rId8" Type="http://schemas.openxmlformats.org/officeDocument/2006/relationships/image" Target="../media/image74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73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72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71.w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2.xml"/><Relationship Id="rId13" Type="http://schemas.openxmlformats.org/officeDocument/2006/relationships/image" Target="../media/image76.wmf"/><Relationship Id="rId12" Type="http://schemas.openxmlformats.org/officeDocument/2006/relationships/oleObject" Target="../embeddings/oleObject100.bin"/><Relationship Id="rId11" Type="http://schemas.openxmlformats.org/officeDocument/2006/relationships/oleObject" Target="../embeddings/oleObject99.bin"/><Relationship Id="rId10" Type="http://schemas.openxmlformats.org/officeDocument/2006/relationships/image" Target="../media/image75.wmf"/><Relationship Id="rId1" Type="http://schemas.openxmlformats.org/officeDocument/2006/relationships/oleObject" Target="../embeddings/oleObject9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5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104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103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102.bin"/><Relationship Id="rId20" Type="http://schemas.openxmlformats.org/officeDocument/2006/relationships/vmlDrawing" Target="../drawings/vmlDrawing10.vml"/><Relationship Id="rId2" Type="http://schemas.openxmlformats.org/officeDocument/2006/relationships/image" Target="../media/image74.wmf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23.xml"/><Relationship Id="rId17" Type="http://schemas.openxmlformats.org/officeDocument/2006/relationships/oleObject" Target="../embeddings/oleObject109.bin"/><Relationship Id="rId16" Type="http://schemas.openxmlformats.org/officeDocument/2006/relationships/image" Target="../media/image83.wmf"/><Relationship Id="rId15" Type="http://schemas.openxmlformats.org/officeDocument/2006/relationships/oleObject" Target="../embeddings/oleObject108.bin"/><Relationship Id="rId14" Type="http://schemas.openxmlformats.org/officeDocument/2006/relationships/image" Target="../media/image82.wmf"/><Relationship Id="rId13" Type="http://schemas.openxmlformats.org/officeDocument/2006/relationships/oleObject" Target="../embeddings/oleObject107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106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10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image" Target="../media/image8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25.xml"/><Relationship Id="rId5" Type="http://schemas.openxmlformats.org/officeDocument/2006/relationships/image" Target="../media/image87.wmf"/><Relationship Id="rId4" Type="http://schemas.openxmlformats.org/officeDocument/2006/relationships/oleObject" Target="../embeddings/oleObject111.bin"/><Relationship Id="rId3" Type="http://schemas.openxmlformats.org/officeDocument/2006/relationships/image" Target="../media/image86.wmf"/><Relationship Id="rId2" Type="http://schemas.openxmlformats.org/officeDocument/2006/relationships/oleObject" Target="../embeddings/oleObject110.bin"/><Relationship Id="rId1" Type="http://schemas.openxmlformats.org/officeDocument/2006/relationships/image" Target="../media/image85.wmf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6.bin"/><Relationship Id="rId8" Type="http://schemas.openxmlformats.org/officeDocument/2006/relationships/image" Target="../media/image91.wmf"/><Relationship Id="rId7" Type="http://schemas.openxmlformats.org/officeDocument/2006/relationships/oleObject" Target="../embeddings/oleObject115.bin"/><Relationship Id="rId6" Type="http://schemas.openxmlformats.org/officeDocument/2006/relationships/image" Target="../media/image90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113.bin"/><Relationship Id="rId27" Type="http://schemas.openxmlformats.org/officeDocument/2006/relationships/vmlDrawing" Target="../drawings/vmlDrawing12.v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26.xml"/><Relationship Id="rId24" Type="http://schemas.openxmlformats.org/officeDocument/2006/relationships/image" Target="../media/image99.wmf"/><Relationship Id="rId23" Type="http://schemas.openxmlformats.org/officeDocument/2006/relationships/oleObject" Target="../embeddings/oleObject123.bin"/><Relationship Id="rId22" Type="http://schemas.openxmlformats.org/officeDocument/2006/relationships/image" Target="../media/image98.wmf"/><Relationship Id="rId21" Type="http://schemas.openxmlformats.org/officeDocument/2006/relationships/oleObject" Target="../embeddings/oleObject122.bin"/><Relationship Id="rId20" Type="http://schemas.openxmlformats.org/officeDocument/2006/relationships/image" Target="../media/image97.wmf"/><Relationship Id="rId2" Type="http://schemas.openxmlformats.org/officeDocument/2006/relationships/image" Target="../media/image88.wmf"/><Relationship Id="rId19" Type="http://schemas.openxmlformats.org/officeDocument/2006/relationships/oleObject" Target="../embeddings/oleObject121.bin"/><Relationship Id="rId18" Type="http://schemas.openxmlformats.org/officeDocument/2006/relationships/image" Target="../media/image96.wmf"/><Relationship Id="rId17" Type="http://schemas.openxmlformats.org/officeDocument/2006/relationships/oleObject" Target="../embeddings/oleObject120.bin"/><Relationship Id="rId16" Type="http://schemas.openxmlformats.org/officeDocument/2006/relationships/image" Target="../media/image95.wmf"/><Relationship Id="rId15" Type="http://schemas.openxmlformats.org/officeDocument/2006/relationships/oleObject" Target="../embeddings/oleObject119.bin"/><Relationship Id="rId14" Type="http://schemas.openxmlformats.org/officeDocument/2006/relationships/image" Target="../media/image94.wmf"/><Relationship Id="rId13" Type="http://schemas.openxmlformats.org/officeDocument/2006/relationships/oleObject" Target="../embeddings/oleObject118.bin"/><Relationship Id="rId12" Type="http://schemas.openxmlformats.org/officeDocument/2006/relationships/image" Target="../media/image93.wmf"/><Relationship Id="rId11" Type="http://schemas.openxmlformats.org/officeDocument/2006/relationships/oleObject" Target="../embeddings/oleObject117.bin"/><Relationship Id="rId10" Type="http://schemas.openxmlformats.org/officeDocument/2006/relationships/image" Target="../media/image92.wmf"/><Relationship Id="rId1" Type="http://schemas.openxmlformats.org/officeDocument/2006/relationships/oleObject" Target="../embeddings/oleObject112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27.xml"/><Relationship Id="rId3" Type="http://schemas.openxmlformats.org/officeDocument/2006/relationships/image" Target="../media/image101.wmf"/><Relationship Id="rId2" Type="http://schemas.openxmlformats.org/officeDocument/2006/relationships/oleObject" Target="../embeddings/oleObject124.bin"/><Relationship Id="rId1" Type="http://schemas.openxmlformats.org/officeDocument/2006/relationships/image" Target="../media/image100.wmf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4.v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8.xml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02.wmf"/><Relationship Id="rId1" Type="http://schemas.openxmlformats.org/officeDocument/2006/relationships/oleObject" Target="../embeddings/oleObject12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直接连接符 307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879475" y="1905000"/>
            <a:ext cx="73856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sz="40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科研交流：数学建模培训课</a:t>
            </a:r>
            <a:endParaRPr lang="zh-CN" sz="40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sz="40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层次分析法基本原理及编程实现</a:t>
            </a:r>
            <a:endParaRPr lang="zh-CN" sz="40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89125" y="3486150"/>
            <a:ext cx="5366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科研交流：老教练（微信公众号：科研交流）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直接连接符 409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00" name="文本框 4099"/>
          <p:cNvSpPr txBox="1"/>
          <p:nvPr/>
        </p:nvSpPr>
        <p:spPr>
          <a:xfrm>
            <a:off x="317500" y="1059180"/>
            <a:ext cx="8509000" cy="43230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500">
                <a:latin typeface="Arial" panose="020B0604020202020204" pitchFamily="34" charset="0"/>
              </a:rPr>
              <a:t>        </a:t>
            </a:r>
            <a:r>
              <a:rPr lang="zh-CN" altLang="en-US" sz="2500">
                <a:latin typeface="Arial" panose="020B0604020202020204" pitchFamily="34" charset="0"/>
              </a:rPr>
              <a:t>在人类社会生活的各个领域以及日常生活中，我们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经常遇到一些决策问题，例如购物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买钢笔，一般要依据质量、颜色、实用性、价格、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外形等方面的因素选择某一支钢笔。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买饭，则要依据色、香、味、价格等方面的因素选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择某种饭菜。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过去人们处理这些问题往往是凭经验，靠主观定性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的去分析，随意性较大并且缺少应有的科学性，因而常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常造成重大的失误。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        层次分析法是</a:t>
            </a:r>
            <a:r>
              <a:rPr lang="zh-CN" altLang="en-US" sz="2500">
                <a:solidFill>
                  <a:srgbClr val="FF3300"/>
                </a:solidFill>
                <a:latin typeface="Arial" panose="020B0604020202020204" pitchFamily="34" charset="0"/>
              </a:rPr>
              <a:t>将定性问题定量化处理</a:t>
            </a:r>
            <a:r>
              <a:rPr lang="zh-CN" altLang="en-US" sz="2500">
                <a:latin typeface="Arial" panose="020B0604020202020204" pitchFamily="34" charset="0"/>
              </a:rPr>
              <a:t>的一种有效手</a:t>
            </a:r>
            <a:endParaRPr lang="zh-CN" altLang="en-US" sz="2500">
              <a:latin typeface="Arial" panose="020B0604020202020204" pitchFamily="34" charset="0"/>
            </a:endParaRPr>
          </a:p>
          <a:p>
            <a:r>
              <a:rPr lang="zh-CN" altLang="en-US" sz="2500">
                <a:latin typeface="Arial" panose="020B0604020202020204" pitchFamily="34" charset="0"/>
              </a:rPr>
              <a:t>段。</a:t>
            </a:r>
            <a:endParaRPr lang="zh-CN" altLang="en-US" sz="250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直接连接符 512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4" name="文本框 5123"/>
          <p:cNvSpPr txBox="1"/>
          <p:nvPr/>
        </p:nvSpPr>
        <p:spPr>
          <a:xfrm>
            <a:off x="171133" y="1034098"/>
            <a:ext cx="8801100" cy="47894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800">
                <a:latin typeface="Arial" panose="020B0604020202020204" pitchFamily="34" charset="0"/>
              </a:rPr>
              <a:t>        </a:t>
            </a:r>
            <a:r>
              <a:rPr lang="zh-CN" altLang="en-US" sz="2800">
                <a:latin typeface="Arial" panose="020B0604020202020204" pitchFamily="34" charset="0"/>
              </a:rPr>
              <a:t>面临各种各样的方案，要进行比较、判断、评价、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最后作出决策。这个过程主观因素占有相当的比重给用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数学方法解决问题带来不便。</a:t>
            </a:r>
            <a:r>
              <a:rPr lang="en-US" altLang="zh-CN" sz="2800">
                <a:latin typeface="Arial" panose="020B0604020202020204" pitchFamily="34" charset="0"/>
              </a:rPr>
              <a:t>T.L.saaty</a:t>
            </a:r>
            <a:r>
              <a:rPr lang="zh-CN" altLang="en-US" sz="2800">
                <a:latin typeface="Arial" panose="020B0604020202020204" pitchFamily="34" charset="0"/>
              </a:rPr>
              <a:t>等人</a:t>
            </a:r>
            <a:r>
              <a:rPr lang="en-US" altLang="zh-CN" sz="2800">
                <a:latin typeface="Arial" panose="020B0604020202020204" pitchFamily="34" charset="0"/>
              </a:rPr>
              <a:t>20</a:t>
            </a:r>
            <a:r>
              <a:rPr lang="zh-CN" altLang="en-US" sz="2800">
                <a:latin typeface="Arial" panose="020B0604020202020204" pitchFamily="34" charset="0"/>
              </a:rPr>
              <a:t>世纪在七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十年代提出了一种能有效处理这类问题的实用方法。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      层次分析法（</a:t>
            </a:r>
            <a:r>
              <a:rPr lang="en-US" altLang="zh-CN" sz="2800">
                <a:latin typeface="Arial" panose="020B0604020202020204" pitchFamily="34" charset="0"/>
              </a:rPr>
              <a:t>Analytic Hierarchy Process, AHP)</a:t>
            </a:r>
            <a:r>
              <a:rPr lang="zh-CN" altLang="en-US" sz="2800">
                <a:latin typeface="Arial" panose="020B0604020202020204" pitchFamily="34" charset="0"/>
              </a:rPr>
              <a:t>这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是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一种定性和定量相结合的、系统化的、层次化的分析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方法</a:t>
            </a:r>
            <a:r>
              <a:rPr lang="zh-CN" altLang="en-US" sz="2800">
                <a:latin typeface="Arial" panose="020B0604020202020204" pitchFamily="34" charset="0"/>
              </a:rPr>
              <a:t>。过去研究自然和社会现象主要有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机理分析法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统</a:t>
            </a:r>
            <a:endParaRPr lang="zh-CN" altLang="en-US" sz="280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计分析法</a:t>
            </a:r>
            <a:r>
              <a:rPr lang="zh-CN" altLang="en-US" sz="2800">
                <a:latin typeface="Arial" panose="020B0604020202020204" pitchFamily="34" charset="0"/>
              </a:rPr>
              <a:t>两种方法，前者用经典的数学工具分析现象的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因果关系，后者以随机数学为工具，通过大量的观察数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据寻求统计规律。近年发展的系统分析是又一种方法，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而层次分析法是系统分析的数学工具之一。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直接连接符 614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48" name="文本框 6147"/>
          <p:cNvSpPr txBox="1"/>
          <p:nvPr/>
        </p:nvSpPr>
        <p:spPr>
          <a:xfrm>
            <a:off x="69850" y="835660"/>
            <a:ext cx="9074150" cy="5389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>
                <a:latin typeface="Arial" panose="020B0604020202020204" pitchFamily="34" charset="0"/>
              </a:rPr>
              <a:t>层次分析法的基本思路：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800">
                <a:latin typeface="Arial" panose="020B0604020202020204" pitchFamily="34" charset="0"/>
              </a:rPr>
              <a:t>                                     选择钢笔</a:t>
            </a:r>
            <a:endParaRPr lang="zh-CN" altLang="en-US" sz="2800">
              <a:latin typeface="Arial" panose="020B0604020202020204" pitchFamily="34" charset="0"/>
            </a:endParaRPr>
          </a:p>
          <a:p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                质量、颜色、价格、外形、实用</a:t>
            </a:r>
            <a:endParaRPr lang="zh-CN" altLang="en-US" sz="2800">
              <a:latin typeface="Arial" panose="020B0604020202020204" pitchFamily="34" charset="0"/>
            </a:endParaRPr>
          </a:p>
          <a:p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                    钢笔</a:t>
            </a:r>
            <a:r>
              <a:rPr lang="en-US" altLang="zh-CN" sz="2800">
                <a:latin typeface="Arial" panose="020B0604020202020204" pitchFamily="34" charset="0"/>
              </a:rPr>
              <a:t>1</a:t>
            </a:r>
            <a:r>
              <a:rPr lang="zh-CN" altLang="en-US" sz="2800">
                <a:latin typeface="Arial" panose="020B0604020202020204" pitchFamily="34" charset="0"/>
              </a:rPr>
              <a:t>、钢笔</a:t>
            </a:r>
            <a:r>
              <a:rPr lang="en-US" altLang="zh-CN" sz="2800">
                <a:latin typeface="Arial" panose="020B0604020202020204" pitchFamily="34" charset="0"/>
              </a:rPr>
              <a:t>2</a:t>
            </a:r>
            <a:r>
              <a:rPr lang="zh-CN" altLang="en-US" sz="2800">
                <a:latin typeface="Arial" panose="020B0604020202020204" pitchFamily="34" charset="0"/>
              </a:rPr>
              <a:t>、钢笔</a:t>
            </a:r>
            <a:r>
              <a:rPr lang="en-US" altLang="zh-CN" sz="2800">
                <a:latin typeface="Arial" panose="020B0604020202020204" pitchFamily="34" charset="0"/>
              </a:rPr>
              <a:t>3</a:t>
            </a:r>
            <a:r>
              <a:rPr lang="zh-CN" altLang="en-US" sz="2800">
                <a:latin typeface="Arial" panose="020B0604020202020204" pitchFamily="34" charset="0"/>
              </a:rPr>
              <a:t>、钢笔</a:t>
            </a:r>
            <a:r>
              <a:rPr lang="en-US" altLang="zh-CN" sz="2800">
                <a:latin typeface="Arial" panose="020B0604020202020204" pitchFamily="34" charset="0"/>
              </a:rPr>
              <a:t>4</a:t>
            </a:r>
            <a:endParaRPr lang="en-US" altLang="zh-CN" sz="2800">
              <a:latin typeface="Arial" panose="020B0604020202020204" pitchFamily="34" charset="0"/>
            </a:endParaRPr>
          </a:p>
          <a:p>
            <a:endParaRPr lang="en-US" altLang="zh-CN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1</a:t>
            </a:r>
            <a:r>
              <a:rPr lang="zh-CN" altLang="en-US" sz="2800">
                <a:latin typeface="Arial" panose="020B0604020202020204" pitchFamily="34" charset="0"/>
              </a:rPr>
              <a:t>）质量、颜色、价格、外形、实用进行排序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2</a:t>
            </a:r>
            <a:r>
              <a:rPr lang="zh-CN" altLang="en-US" sz="2800">
                <a:latin typeface="Arial" panose="020B0604020202020204" pitchFamily="34" charset="0"/>
              </a:rPr>
              <a:t>）将各个钢笔的质量、颜色、价格、外形、实用进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行排序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（</a:t>
            </a:r>
            <a:r>
              <a:rPr lang="en-US" altLang="zh-CN" sz="2800">
                <a:latin typeface="Arial" panose="020B0604020202020204" pitchFamily="34" charset="0"/>
              </a:rPr>
              <a:t>3</a:t>
            </a:r>
            <a:r>
              <a:rPr lang="zh-CN" altLang="en-US" sz="2800">
                <a:latin typeface="Arial" panose="020B0604020202020204" pitchFamily="34" charset="0"/>
              </a:rPr>
              <a:t>）经</a:t>
            </a:r>
            <a:r>
              <a:rPr lang="zh-CN" altLang="en-US" sz="2800">
                <a:solidFill>
                  <a:srgbClr val="FF3300"/>
                </a:solidFill>
                <a:latin typeface="Arial" panose="020B0604020202020204" pitchFamily="34" charset="0"/>
              </a:rPr>
              <a:t>综合分析</a:t>
            </a:r>
            <a:r>
              <a:rPr lang="zh-CN" altLang="en-US" sz="2800">
                <a:latin typeface="Arial" panose="020B0604020202020204" pitchFamily="34" charset="0"/>
              </a:rPr>
              <a:t>决定买哪支钢笔。与人们对某一复杂决策问题的思维、判断过程大体一致。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直接连接符 716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7172" name="图片 71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150"/>
            <a:ext cx="9144000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直接连接符 819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196" name="图片 81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2150"/>
            <a:ext cx="9144000" cy="6165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直接连接符 921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9220" name="组合 9219"/>
          <p:cNvGrpSpPr/>
          <p:nvPr/>
        </p:nvGrpSpPr>
        <p:grpSpPr>
          <a:xfrm>
            <a:off x="250825" y="1227138"/>
            <a:ext cx="8623300" cy="3968750"/>
            <a:chOff x="0" y="0"/>
            <a:chExt cx="5432" cy="2500"/>
          </a:xfrm>
        </p:grpSpPr>
        <p:sp>
          <p:nvSpPr>
            <p:cNvPr id="9221" name="文本框 9220"/>
            <p:cNvSpPr txBox="1"/>
            <p:nvPr/>
          </p:nvSpPr>
          <p:spPr>
            <a:xfrm>
              <a:off x="0" y="0"/>
              <a:ext cx="5432" cy="2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不完全层次结构如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目标层</a:t>
              </a:r>
              <a:r>
                <a:rPr lang="zh-CN" altLang="en-US" sz="2800">
                  <a:latin typeface="Arial" panose="020B0604020202020204" pitchFamily="34" charset="0"/>
                </a:rPr>
                <a:t>                   合理分配企业利润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准则层</a:t>
              </a:r>
              <a:r>
                <a:rPr lang="zh-CN" altLang="en-US" sz="2800">
                  <a:latin typeface="Arial" panose="020B0604020202020204" pitchFamily="34" charset="0"/>
                </a:rPr>
                <a:t>   调动积极性     提高企业质量     改善生活条件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方案层</a:t>
              </a:r>
              <a:r>
                <a:rPr lang="zh-CN" altLang="en-US" sz="2800">
                  <a:latin typeface="Arial" panose="020B0604020202020204" pitchFamily="34" charset="0"/>
                </a:rPr>
                <a:t>       发奖金     扩展福利设施     引进人才和设备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9222" name="直接连接符 9221"/>
            <p:cNvSpPr/>
            <p:nvPr/>
          </p:nvSpPr>
          <p:spPr>
            <a:xfrm flipH="1">
              <a:off x="1509" y="845"/>
              <a:ext cx="1225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3" name="直接连接符 9222"/>
            <p:cNvSpPr/>
            <p:nvPr/>
          </p:nvSpPr>
          <p:spPr>
            <a:xfrm>
              <a:off x="2734" y="890"/>
              <a:ext cx="0" cy="49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4" name="直接连接符 9223"/>
            <p:cNvSpPr/>
            <p:nvPr/>
          </p:nvSpPr>
          <p:spPr>
            <a:xfrm>
              <a:off x="2734" y="845"/>
              <a:ext cx="1588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5" name="直接连接符 9224"/>
            <p:cNvSpPr/>
            <p:nvPr/>
          </p:nvSpPr>
          <p:spPr>
            <a:xfrm>
              <a:off x="1427" y="1634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6" name="直接连接符 9225"/>
            <p:cNvSpPr/>
            <p:nvPr/>
          </p:nvSpPr>
          <p:spPr>
            <a:xfrm flipV="1">
              <a:off x="1427" y="1634"/>
              <a:ext cx="3006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7" name="直接连接符 9226"/>
            <p:cNvSpPr/>
            <p:nvPr/>
          </p:nvSpPr>
          <p:spPr>
            <a:xfrm>
              <a:off x="1419" y="1634"/>
              <a:ext cx="1328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8" name="直接连接符 9227"/>
            <p:cNvSpPr/>
            <p:nvPr/>
          </p:nvSpPr>
          <p:spPr>
            <a:xfrm flipV="1">
              <a:off x="2734" y="1634"/>
              <a:ext cx="0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29" name="直接连接符 9228"/>
            <p:cNvSpPr/>
            <p:nvPr/>
          </p:nvSpPr>
          <p:spPr>
            <a:xfrm>
              <a:off x="2734" y="1634"/>
              <a:ext cx="1736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0" name="直接连接符 9229"/>
            <p:cNvSpPr/>
            <p:nvPr/>
          </p:nvSpPr>
          <p:spPr>
            <a:xfrm flipH="1">
              <a:off x="2747" y="1634"/>
              <a:ext cx="1723" cy="5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" name="文本框 10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直接连接符 1024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4" name="文本框 10243"/>
          <p:cNvSpPr txBox="1"/>
          <p:nvPr/>
        </p:nvSpPr>
        <p:spPr>
          <a:xfrm>
            <a:off x="213360" y="1079818"/>
            <a:ext cx="8717280" cy="4697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800">
                <a:latin typeface="Arial" panose="020B0604020202020204" pitchFamily="34" charset="0"/>
              </a:rPr>
              <a:t>在层次划分及因素选取时，我们要注意三点：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Arial" panose="020B0604020202020204" pitchFamily="34" charset="0"/>
              </a:rPr>
              <a:t>  （</a:t>
            </a:r>
            <a:r>
              <a:rPr lang="en-US" altLang="zh-CN" sz="2800">
                <a:latin typeface="Arial" panose="020B0604020202020204" pitchFamily="34" charset="0"/>
              </a:rPr>
              <a:t>1</a:t>
            </a:r>
            <a:r>
              <a:rPr lang="zh-CN" altLang="en-US" sz="2800">
                <a:latin typeface="Arial" panose="020B0604020202020204" pitchFamily="34" charset="0"/>
              </a:rPr>
              <a:t>）上层对下层有支配作用；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Arial" panose="020B0604020202020204" pitchFamily="34" charset="0"/>
              </a:rPr>
              <a:t>  （</a:t>
            </a:r>
            <a:r>
              <a:rPr lang="en-US" altLang="zh-CN" sz="2800">
                <a:latin typeface="Arial" panose="020B0604020202020204" pitchFamily="34" charset="0"/>
              </a:rPr>
              <a:t>2</a:t>
            </a:r>
            <a:r>
              <a:rPr lang="zh-CN" altLang="en-US" sz="2800">
                <a:latin typeface="Arial" panose="020B0604020202020204" pitchFamily="34" charset="0"/>
              </a:rPr>
              <a:t>）同一层因素不存在支配关系（相互独立）；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>
                <a:latin typeface="Arial" panose="020B0604020202020204" pitchFamily="34" charset="0"/>
              </a:rPr>
              <a:t>  （</a:t>
            </a:r>
            <a:r>
              <a:rPr lang="en-US" altLang="zh-CN" sz="2800">
                <a:latin typeface="Arial" panose="020B0604020202020204" pitchFamily="34" charset="0"/>
              </a:rPr>
              <a:t>3</a:t>
            </a:r>
            <a:r>
              <a:rPr lang="zh-CN" altLang="en-US" sz="2800">
                <a:latin typeface="Arial" panose="020B0604020202020204" pitchFamily="34" charset="0"/>
              </a:rPr>
              <a:t>）每层因素一般不要超过</a:t>
            </a:r>
            <a:r>
              <a:rPr lang="en-US" altLang="zh-CN" sz="2800">
                <a:latin typeface="Arial" panose="020B0604020202020204" pitchFamily="34" charset="0"/>
              </a:rPr>
              <a:t>9</a:t>
            </a:r>
            <a:r>
              <a:rPr lang="zh-CN" altLang="en-US" sz="2800">
                <a:latin typeface="Arial" panose="020B0604020202020204" pitchFamily="34" charset="0"/>
              </a:rPr>
              <a:t>个。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800">
                <a:latin typeface="Arial" panose="020B0604020202020204" pitchFamily="34" charset="0"/>
              </a:rPr>
              <a:t>  （心理学家通过实验认为，人对许多东西优劣及优劣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800">
                <a:latin typeface="Arial" panose="020B0604020202020204" pitchFamily="34" charset="0"/>
              </a:rPr>
              <a:t>程度判断能力，最多大致在</a:t>
            </a:r>
            <a:r>
              <a:rPr lang="en-US" altLang="zh-CN" sz="2800">
                <a:latin typeface="Arial" panose="020B0604020202020204" pitchFamily="34" charset="0"/>
              </a:rPr>
              <a:t>9</a:t>
            </a:r>
            <a:r>
              <a:rPr lang="zh-CN" altLang="en-US" sz="2800">
                <a:latin typeface="Arial" panose="020B0604020202020204" pitchFamily="34" charset="0"/>
              </a:rPr>
              <a:t>个以内，超过这个范围就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800">
                <a:latin typeface="Arial" panose="020B0604020202020204" pitchFamily="34" charset="0"/>
              </a:rPr>
              <a:t>会判断失真。例如，人们在面对琳琅满目的商品常常会</a:t>
            </a:r>
            <a:endParaRPr lang="zh-CN" altLang="en-US" sz="28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800">
                <a:latin typeface="Arial" panose="020B0604020202020204" pitchFamily="34" charset="0"/>
              </a:rPr>
              <a:t>眼花缭乱，难以抉择。）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直接连接符 1126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8" name="文本框 11267"/>
          <p:cNvSpPr txBox="1"/>
          <p:nvPr/>
        </p:nvSpPr>
        <p:spPr>
          <a:xfrm>
            <a:off x="376238" y="804863"/>
            <a:ext cx="3976687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800">
                <a:latin typeface="Arial" panose="020B0604020202020204" pitchFamily="34" charset="0"/>
              </a:rPr>
              <a:t>步骤</a:t>
            </a:r>
            <a:r>
              <a:rPr lang="en-US" altLang="zh-CN" sz="2800">
                <a:latin typeface="Arial" panose="020B0604020202020204" pitchFamily="34" charset="0"/>
              </a:rPr>
              <a:t>2    </a:t>
            </a:r>
            <a:r>
              <a:rPr lang="zh-CN" altLang="en-US" sz="2800">
                <a:latin typeface="Arial" panose="020B0604020202020204" pitchFamily="34" charset="0"/>
              </a:rPr>
              <a:t>构造成对比较阵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pSp>
        <p:nvGrpSpPr>
          <p:cNvPr id="11269" name="组合 11268"/>
          <p:cNvGrpSpPr/>
          <p:nvPr/>
        </p:nvGrpSpPr>
        <p:grpSpPr>
          <a:xfrm>
            <a:off x="208280" y="1486218"/>
            <a:ext cx="8658225" cy="2227262"/>
            <a:chOff x="0" y="0"/>
            <a:chExt cx="5454" cy="1403"/>
          </a:xfrm>
        </p:grpSpPr>
        <p:sp>
          <p:nvSpPr>
            <p:cNvPr id="11270" name="文本框 11269"/>
            <p:cNvSpPr txBox="1"/>
            <p:nvPr/>
          </p:nvSpPr>
          <p:spPr>
            <a:xfrm>
              <a:off x="0" y="0"/>
              <a:ext cx="5454" cy="14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面对的决策问题：要比较    个因素                对目标    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的影响。我们要确定它们在   中所占的比重（</a:t>
              </a:r>
              <a:r>
                <a:rPr lang="zh-CN" altLang="en-US" sz="2800">
                  <a:solidFill>
                    <a:srgbClr val="FF3300"/>
                  </a:solidFill>
                  <a:latin typeface="Arial" panose="020B0604020202020204" pitchFamily="34" charset="0"/>
                </a:rPr>
                <a:t>权重</a:t>
              </a:r>
              <a:r>
                <a:rPr lang="zh-CN" altLang="en-US" sz="2800">
                  <a:latin typeface="Arial" panose="020B0604020202020204" pitchFamily="34" charset="0"/>
                </a:rPr>
                <a:t>），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即这    个因素对目标    的相对重要性。我们用两两比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较的方法将各因素的重要性量化。（两个东西进行比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较，最能比较出它们的优劣及优劣程度。）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1271" name="对象 11270"/>
            <p:cNvGraphicFramePr>
              <a:graphicFrameLocks noChangeAspect="1"/>
            </p:cNvGraphicFramePr>
            <p:nvPr/>
          </p:nvGraphicFramePr>
          <p:xfrm>
            <a:off x="2540" y="90"/>
            <a:ext cx="20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" imgW="127635" imgH="140335" progId="Equation.DSMT4">
                    <p:embed/>
                  </p:oleObj>
                </mc:Choice>
                <mc:Fallback>
                  <p:oleObj name="" r:id="rId1" imgW="127635" imgH="140335" progId="Equation.DSMT4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540" y="90"/>
                          <a:ext cx="206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2" name="对象 11271"/>
            <p:cNvGraphicFramePr>
              <a:graphicFrameLocks noChangeAspect="1"/>
            </p:cNvGraphicFramePr>
            <p:nvPr/>
          </p:nvGraphicFramePr>
          <p:xfrm>
            <a:off x="3426" y="0"/>
            <a:ext cx="104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3" imgW="737870" imgH="228600" progId="Equation.DSMT4">
                    <p:embed/>
                  </p:oleObj>
                </mc:Choice>
                <mc:Fallback>
                  <p:oleObj name="" r:id="rId3" imgW="737870" imgH="2286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26" y="0"/>
                          <a:ext cx="1044" cy="3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3" name="对象 11272"/>
            <p:cNvGraphicFramePr>
              <a:graphicFrameLocks noChangeAspect="1"/>
            </p:cNvGraphicFramePr>
            <p:nvPr/>
          </p:nvGraphicFramePr>
          <p:xfrm>
            <a:off x="5105" y="90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5" imgW="127635" imgH="127635" progId="Equation.DSMT4">
                    <p:embed/>
                  </p:oleObj>
                </mc:Choice>
                <mc:Fallback>
                  <p:oleObj name="" r:id="rId5" imgW="127635" imgH="127635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5" y="90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4" name="对象 11273"/>
            <p:cNvGraphicFramePr>
              <a:graphicFrameLocks noChangeAspect="1"/>
            </p:cNvGraphicFramePr>
            <p:nvPr/>
          </p:nvGraphicFramePr>
          <p:xfrm>
            <a:off x="2746" y="363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7" imgW="127635" imgH="127635" progId="Equation.DSMT4">
                    <p:embed/>
                  </p:oleObj>
                </mc:Choice>
                <mc:Fallback>
                  <p:oleObj name="" r:id="rId7" imgW="127635" imgH="127635" progId="Equation.DSMT4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746" y="363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5" name="对象 11274"/>
            <p:cNvGraphicFramePr>
              <a:graphicFrameLocks noChangeAspect="1"/>
            </p:cNvGraphicFramePr>
            <p:nvPr/>
          </p:nvGraphicFramePr>
          <p:xfrm>
            <a:off x="544" y="634"/>
            <a:ext cx="20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9" imgW="127635" imgH="140335" progId="Equation.DSMT4">
                    <p:embed/>
                  </p:oleObj>
                </mc:Choice>
                <mc:Fallback>
                  <p:oleObj name="" r:id="rId9" imgW="127635" imgH="140335" progId="Equation.DSMT4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44" y="634"/>
                          <a:ext cx="206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6" name="对象 11275"/>
            <p:cNvGraphicFramePr>
              <a:graphicFrameLocks noChangeAspect="1"/>
            </p:cNvGraphicFramePr>
            <p:nvPr/>
          </p:nvGraphicFramePr>
          <p:xfrm>
            <a:off x="2111" y="635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0" imgW="127635" imgH="127635" progId="Equation.DSMT4">
                    <p:embed/>
                  </p:oleObj>
                </mc:Choice>
                <mc:Fallback>
                  <p:oleObj name="" r:id="rId10" imgW="127635" imgH="127635" progId="Equation.DSMT4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11" y="635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277" name="组合 11276"/>
          <p:cNvGrpSpPr/>
          <p:nvPr/>
        </p:nvGrpSpPr>
        <p:grpSpPr>
          <a:xfrm>
            <a:off x="323850" y="4044950"/>
            <a:ext cx="8356600" cy="2533650"/>
            <a:chOff x="0" y="0"/>
            <a:chExt cx="5264" cy="1596"/>
          </a:xfrm>
        </p:grpSpPr>
        <p:sp>
          <p:nvSpPr>
            <p:cNvPr id="11278" name="文本框 11277"/>
            <p:cNvSpPr txBox="1"/>
            <p:nvPr/>
          </p:nvSpPr>
          <p:spPr>
            <a:xfrm>
              <a:off x="0" y="20"/>
              <a:ext cx="5264" cy="8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800">
                  <a:latin typeface="Arial" panose="020B0604020202020204" pitchFamily="34" charset="0"/>
                </a:rPr>
                <a:t>        </a:t>
              </a:r>
              <a:r>
                <a:rPr lang="zh-CN" altLang="en-US" sz="2800">
                  <a:latin typeface="Arial" panose="020B0604020202020204" pitchFamily="34" charset="0"/>
                </a:rPr>
                <a:t>每次取两个因素   和   ，用正数    表示   与   的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重要性之比。全部比较结果得到的矩阵                  称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为成对比较阵（也称为正互反矩阵）。显然有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1279" name="对象 11278"/>
            <p:cNvGraphicFramePr>
              <a:graphicFrameLocks noChangeAspect="1"/>
            </p:cNvGraphicFramePr>
            <p:nvPr/>
          </p:nvGraphicFramePr>
          <p:xfrm>
            <a:off x="2086" y="10"/>
            <a:ext cx="24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1" imgW="153035" imgH="229235" progId="Equation.DSMT4">
                    <p:embed/>
                  </p:oleObj>
                </mc:Choice>
                <mc:Fallback>
                  <p:oleObj name="" r:id="rId11" imgW="153035" imgH="229235" progId="Equation.DSMT4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86" y="10"/>
                          <a:ext cx="242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对象 11279"/>
            <p:cNvGraphicFramePr>
              <a:graphicFrameLocks noChangeAspect="1"/>
            </p:cNvGraphicFramePr>
            <p:nvPr/>
          </p:nvGraphicFramePr>
          <p:xfrm>
            <a:off x="2485" y="0"/>
            <a:ext cx="26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3" imgW="165735" imgH="241935" progId="Equation.DSMT4">
                    <p:embed/>
                  </p:oleObj>
                </mc:Choice>
                <mc:Fallback>
                  <p:oleObj name="" r:id="rId13" imgW="165735" imgH="241935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485" y="0"/>
                          <a:ext cx="26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1" name="对象 11280"/>
            <p:cNvGraphicFramePr>
              <a:graphicFrameLocks noChangeAspect="1"/>
            </p:cNvGraphicFramePr>
            <p:nvPr/>
          </p:nvGraphicFramePr>
          <p:xfrm>
            <a:off x="4283" y="10"/>
            <a:ext cx="242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5" imgW="153035" imgH="229235" progId="Equation.DSMT4">
                    <p:embed/>
                  </p:oleObj>
                </mc:Choice>
                <mc:Fallback>
                  <p:oleObj name="" r:id="rId15" imgW="153035" imgH="229235" progId="Equation.DSMT4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283" y="10"/>
                          <a:ext cx="242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对象 11281"/>
            <p:cNvGraphicFramePr>
              <a:graphicFrameLocks noChangeAspect="1"/>
            </p:cNvGraphicFramePr>
            <p:nvPr/>
          </p:nvGraphicFramePr>
          <p:xfrm>
            <a:off x="4682" y="0"/>
            <a:ext cx="26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17" imgW="165735" imgH="241935" progId="Equation.DSMT4">
                    <p:embed/>
                  </p:oleObj>
                </mc:Choice>
                <mc:Fallback>
                  <p:oleObj name="" r:id="rId17" imgW="165735" imgH="241935" progId="Equation.DSMT4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682" y="0"/>
                          <a:ext cx="262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对象 11282"/>
            <p:cNvGraphicFramePr>
              <a:graphicFrameLocks noChangeAspect="1"/>
            </p:cNvGraphicFramePr>
            <p:nvPr/>
          </p:nvGraphicFramePr>
          <p:xfrm>
            <a:off x="3588" y="20"/>
            <a:ext cx="267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8" imgW="178435" imgH="241935" progId="Equation.DSMT4">
                    <p:embed/>
                  </p:oleObj>
                </mc:Choice>
                <mc:Fallback>
                  <p:oleObj name="" r:id="rId18" imgW="178435" imgH="241935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588" y="20"/>
                          <a:ext cx="267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对象 11283"/>
            <p:cNvGraphicFramePr>
              <a:graphicFrameLocks noChangeAspect="1"/>
            </p:cNvGraphicFramePr>
            <p:nvPr/>
          </p:nvGraphicFramePr>
          <p:xfrm>
            <a:off x="3940" y="292"/>
            <a:ext cx="1049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20" imgW="699135" imgH="241300" progId="Equation.DSMT4">
                    <p:embed/>
                  </p:oleObj>
                </mc:Choice>
                <mc:Fallback>
                  <p:oleObj name="" r:id="rId20" imgW="699135" imgH="2413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940" y="292"/>
                          <a:ext cx="1049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对象 11284"/>
            <p:cNvGraphicFramePr>
              <a:graphicFrameLocks noChangeAspect="1"/>
            </p:cNvGraphicFramePr>
            <p:nvPr/>
          </p:nvGraphicFramePr>
          <p:xfrm>
            <a:off x="1088" y="927"/>
            <a:ext cx="3108" cy="6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22" imgW="2069465" imgH="444500" progId="Equation.DSMT4">
                    <p:embed/>
                  </p:oleObj>
                </mc:Choice>
                <mc:Fallback>
                  <p:oleObj name="" r:id="rId22" imgW="2069465" imgH="4445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088" y="927"/>
                          <a:ext cx="3108" cy="6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33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直接连接符 1228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2292" name="组合 12291"/>
          <p:cNvGrpSpPr/>
          <p:nvPr/>
        </p:nvGrpSpPr>
        <p:grpSpPr>
          <a:xfrm>
            <a:off x="379413" y="1017588"/>
            <a:ext cx="8153400" cy="1042987"/>
            <a:chOff x="0" y="0"/>
            <a:chExt cx="5136" cy="657"/>
          </a:xfrm>
        </p:grpSpPr>
        <p:sp>
          <p:nvSpPr>
            <p:cNvPr id="12293" name="文本框 12292"/>
            <p:cNvSpPr txBox="1"/>
            <p:nvPr/>
          </p:nvSpPr>
          <p:spPr>
            <a:xfrm>
              <a:off x="0" y="0"/>
              <a:ext cx="513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800">
                  <a:latin typeface="Arial" panose="020B0604020202020204" pitchFamily="34" charset="0"/>
                </a:rPr>
                <a:t>        </a:t>
              </a:r>
              <a:r>
                <a:rPr lang="zh-CN" altLang="en-US" sz="2800">
                  <a:latin typeface="Arial" panose="020B0604020202020204" pitchFamily="34" charset="0"/>
                </a:rPr>
                <a:t>如何选取    呢？萨迪提出了一种方法：用数字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                及其倒数                  作为标度，其意义是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2294" name="对象 12293"/>
            <p:cNvGraphicFramePr>
              <a:graphicFrameLocks noChangeAspect="1"/>
            </p:cNvGraphicFramePr>
            <p:nvPr/>
          </p:nvGraphicFramePr>
          <p:xfrm>
            <a:off x="1464" y="20"/>
            <a:ext cx="22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" r:id="rId1" imgW="178435" imgH="241935" progId="Equation.DSMT4">
                    <p:embed/>
                  </p:oleObj>
                </mc:Choice>
                <mc:Fallback>
                  <p:oleObj name="" r:id="rId1" imgW="178435" imgH="241935" progId="Equation.DSMT4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64" y="20"/>
                          <a:ext cx="223" cy="3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5" name="对象 12294"/>
            <p:cNvGraphicFramePr>
              <a:graphicFrameLocks noChangeAspect="1"/>
            </p:cNvGraphicFramePr>
            <p:nvPr/>
          </p:nvGraphicFramePr>
          <p:xfrm>
            <a:off x="240" y="338"/>
            <a:ext cx="748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3" imgW="647700" imgH="203200" progId="Equation.DSMT4">
                    <p:embed/>
                  </p:oleObj>
                </mc:Choice>
                <mc:Fallback>
                  <p:oleObj name="" r:id="rId3" imgW="647700" imgH="203200" progId="Equation.DSMT4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0" y="338"/>
                          <a:ext cx="748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6" name="对象 12295"/>
            <p:cNvGraphicFramePr>
              <a:graphicFrameLocks noChangeAspect="1"/>
            </p:cNvGraphicFramePr>
            <p:nvPr/>
          </p:nvGraphicFramePr>
          <p:xfrm>
            <a:off x="1963" y="293"/>
            <a:ext cx="1048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" name="" r:id="rId5" imgW="737235" imgH="394335" progId="Equation.DSMT4">
                    <p:embed/>
                  </p:oleObj>
                </mc:Choice>
                <mc:Fallback>
                  <p:oleObj name="" r:id="rId5" imgW="737235" imgH="394335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63" y="293"/>
                          <a:ext cx="1048" cy="3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7" name="表格 12296"/>
          <p:cNvGraphicFramePr/>
          <p:nvPr>
            <p:custDataLst>
              <p:tags r:id="rId7"/>
            </p:custDataLst>
          </p:nvPr>
        </p:nvGraphicFramePr>
        <p:xfrm>
          <a:off x="827088" y="2349500"/>
          <a:ext cx="7416800" cy="1758950"/>
        </p:xfrm>
        <a:graphic>
          <a:graphicData uri="http://schemas.openxmlformats.org/drawingml/2006/table">
            <a:tbl>
              <a:tblPr/>
              <a:tblGrid>
                <a:gridCol w="1236663"/>
                <a:gridCol w="1235075"/>
                <a:gridCol w="1236662"/>
                <a:gridCol w="1236663"/>
                <a:gridCol w="1235075"/>
                <a:gridCol w="1236662"/>
              </a:tblGrid>
              <a:tr h="89535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   </a:t>
                      </a:r>
                      <a:r>
                        <a:rPr lang="zh-CN" altLang="en-US" sz="2400"/>
                        <a:t>比</a:t>
                      </a:r>
                      <a:endParaRPr lang="zh-CN" altLang="en-US" sz="2400"/>
                    </a:p>
                  </a:txBody>
                  <a:tcPr vert="horz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重要性</a:t>
                      </a:r>
                      <a:endParaRPr lang="zh-CN" altLang="en-US" sz="2400"/>
                    </a:p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  相同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</a:t>
                      </a:r>
                      <a:r>
                        <a:rPr lang="zh-CN" altLang="en-US" sz="2400"/>
                        <a:t>稍重要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 </a:t>
                      </a:r>
                      <a:r>
                        <a:rPr lang="zh-CN" altLang="en-US" sz="2400"/>
                        <a:t>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</a:t>
                      </a:r>
                      <a:r>
                        <a:rPr lang="zh-CN" altLang="en-US" sz="2400"/>
                        <a:t>很重要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  </a:t>
                      </a:r>
                      <a:r>
                        <a:rPr lang="zh-CN" altLang="en-US" sz="2400"/>
                        <a:t>绝对</a:t>
                      </a:r>
                      <a:endParaRPr lang="zh-CN" altLang="en-US" sz="2400"/>
                    </a:p>
                    <a:p>
                      <a:pPr marL="0" lvl="0" indent="0">
                        <a:buNone/>
                      </a:pPr>
                      <a:r>
                        <a:rPr lang="zh-CN" altLang="en-US" sz="2400"/>
                        <a:t>  重要</a:t>
                      </a:r>
                      <a:endParaRPr lang="zh-CN" altLang="en-US" sz="2400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3600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/>
                    </a:p>
                  </a:txBody>
                  <a:tcPr vert="horz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 1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 3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5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7  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/>
                        <a:t>    9</a:t>
                      </a:r>
                      <a:endParaRPr lang="zh-CN" altLang="en-US"/>
                    </a:p>
                  </a:txBody>
                  <a:tcPr vert="horz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320" name="对象 12319"/>
          <p:cNvGraphicFramePr>
            <a:graphicFrameLocks noChangeAspect="1"/>
          </p:cNvGraphicFramePr>
          <p:nvPr/>
        </p:nvGraphicFramePr>
        <p:xfrm>
          <a:off x="971550" y="2565400"/>
          <a:ext cx="3365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8" imgW="153035" imgH="229235" progId="Equation.DSMT4">
                  <p:embed/>
                </p:oleObj>
              </mc:Choice>
              <mc:Fallback>
                <p:oleObj name="" r:id="rId8" imgW="153035" imgH="229235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71550" y="2565400"/>
                        <a:ext cx="33655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1" name="对象 12320"/>
          <p:cNvGraphicFramePr>
            <a:graphicFrameLocks noChangeAspect="1"/>
          </p:cNvGraphicFramePr>
          <p:nvPr/>
        </p:nvGraphicFramePr>
        <p:xfrm>
          <a:off x="1547813" y="2565400"/>
          <a:ext cx="3286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0" imgW="165735" imgH="241935" progId="Equation.DSMT4">
                  <p:embed/>
                </p:oleObj>
              </mc:Choice>
              <mc:Fallback>
                <p:oleObj name="" r:id="rId10" imgW="165735" imgH="241935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47813" y="2565400"/>
                        <a:ext cx="328612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2" name="对象 12321"/>
          <p:cNvGraphicFramePr>
            <a:graphicFrameLocks noChangeAspect="1"/>
          </p:cNvGraphicFramePr>
          <p:nvPr/>
        </p:nvGraphicFramePr>
        <p:xfrm>
          <a:off x="1258888" y="3429000"/>
          <a:ext cx="354012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2" imgW="178435" imgH="241935" progId="Equation.DSMT4">
                  <p:embed/>
                </p:oleObj>
              </mc:Choice>
              <mc:Fallback>
                <p:oleObj name="" r:id="rId12" imgW="178435" imgH="241935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58888" y="3429000"/>
                        <a:ext cx="354012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3" name="对象 12322"/>
          <p:cNvGraphicFramePr>
            <a:graphicFrameLocks noChangeAspect="1"/>
          </p:cNvGraphicFramePr>
          <p:nvPr/>
        </p:nvGraphicFramePr>
        <p:xfrm>
          <a:off x="1476375" y="4868863"/>
          <a:ext cx="14255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4" imgW="660400" imgH="203200" progId="Equation.DSMT4">
                  <p:embed/>
                </p:oleObj>
              </mc:Choice>
              <mc:Fallback>
                <p:oleObj name="" r:id="rId14" imgW="660400" imgH="2032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76375" y="4868863"/>
                        <a:ext cx="1425575" cy="439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4" name="文本框 12323"/>
          <p:cNvSpPr txBox="1"/>
          <p:nvPr/>
        </p:nvSpPr>
        <p:spPr>
          <a:xfrm>
            <a:off x="468313" y="4365625"/>
            <a:ext cx="8121650" cy="9461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800">
                <a:latin typeface="Arial" panose="020B0604020202020204" pitchFamily="34" charset="0"/>
              </a:rPr>
              <a:t>        </a:t>
            </a:r>
            <a:r>
              <a:rPr lang="zh-CN" altLang="en-US" sz="2800">
                <a:latin typeface="Arial" panose="020B0604020202020204" pitchFamily="34" charset="0"/>
              </a:rPr>
              <a:t>在每两个等级之间有一个中间状态，    可分别</a:t>
            </a:r>
            <a:endParaRPr lang="zh-CN" altLang="en-US" sz="2800">
              <a:latin typeface="Arial" panose="020B0604020202020204" pitchFamily="34" charset="0"/>
            </a:endParaRPr>
          </a:p>
          <a:p>
            <a:r>
              <a:rPr lang="zh-CN" altLang="en-US" sz="2800">
                <a:latin typeface="Arial" panose="020B0604020202020204" pitchFamily="34" charset="0"/>
              </a:rPr>
              <a:t>取值                 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aphicFrame>
        <p:nvGraphicFramePr>
          <p:cNvPr id="12325" name="对象 12324"/>
          <p:cNvGraphicFramePr>
            <a:graphicFrameLocks noChangeAspect="1"/>
          </p:cNvGraphicFramePr>
          <p:nvPr/>
        </p:nvGraphicFramePr>
        <p:xfrm>
          <a:off x="7019925" y="4365625"/>
          <a:ext cx="3540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6" imgW="178435" imgH="241935" progId="Equation.DSMT4">
                  <p:embed/>
                </p:oleObj>
              </mc:Choice>
              <mc:Fallback>
                <p:oleObj name="" r:id="rId16" imgW="178435" imgH="241935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19925" y="4365625"/>
                        <a:ext cx="354013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2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直接连接符 1331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3316" name="组合 13315"/>
          <p:cNvGrpSpPr/>
          <p:nvPr/>
        </p:nvGrpSpPr>
        <p:grpSpPr>
          <a:xfrm>
            <a:off x="755650" y="836613"/>
            <a:ext cx="6977063" cy="3081337"/>
            <a:chOff x="0" y="0"/>
            <a:chExt cx="4395" cy="1941"/>
          </a:xfrm>
        </p:grpSpPr>
        <p:sp>
          <p:nvSpPr>
            <p:cNvPr id="13317" name="文本框 13316"/>
            <p:cNvSpPr txBox="1"/>
            <p:nvPr/>
          </p:nvSpPr>
          <p:spPr>
            <a:xfrm>
              <a:off x="0" y="0"/>
              <a:ext cx="4168" cy="194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例如：评价电影的好坏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目标层                        评价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准则层   娱乐性          艺术性         教育性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  <a:p>
              <a:r>
                <a:rPr lang="zh-CN" altLang="en-US" sz="2800">
                  <a:latin typeface="Arial" panose="020B0604020202020204" pitchFamily="34" charset="0"/>
                </a:rPr>
                <a:t>方案层   电影</a:t>
              </a:r>
              <a:r>
                <a:rPr lang="en-US" altLang="zh-CN" sz="2800">
                  <a:latin typeface="Arial" panose="020B0604020202020204" pitchFamily="34" charset="0"/>
                </a:rPr>
                <a:t>1             </a:t>
              </a:r>
              <a:r>
                <a:rPr lang="zh-CN" altLang="en-US" sz="2800">
                  <a:latin typeface="Arial" panose="020B0604020202020204" pitchFamily="34" charset="0"/>
                </a:rPr>
                <a:t>电影</a:t>
              </a:r>
              <a:r>
                <a:rPr lang="en-US" altLang="zh-CN" sz="2800">
                  <a:latin typeface="Arial" panose="020B0604020202020204" pitchFamily="34" charset="0"/>
                </a:rPr>
                <a:t>2          ……</a:t>
              </a:r>
              <a:endParaRPr lang="en-US" altLang="zh-CN" sz="2800">
                <a:latin typeface="Arial" panose="020B0604020202020204" pitchFamily="34" charset="0"/>
              </a:endParaRPr>
            </a:p>
          </p:txBody>
        </p:sp>
        <p:sp>
          <p:nvSpPr>
            <p:cNvPr id="13318" name="直接连接符 13317"/>
            <p:cNvSpPr/>
            <p:nvPr/>
          </p:nvSpPr>
          <p:spPr>
            <a:xfrm flipH="1">
              <a:off x="1225" y="816"/>
              <a:ext cx="1224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19" name="直接连接符 13318"/>
            <p:cNvSpPr/>
            <p:nvPr/>
          </p:nvSpPr>
          <p:spPr>
            <a:xfrm>
              <a:off x="2449" y="816"/>
              <a:ext cx="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20" name="直接连接符 13319"/>
            <p:cNvSpPr/>
            <p:nvPr/>
          </p:nvSpPr>
          <p:spPr>
            <a:xfrm>
              <a:off x="2449" y="816"/>
              <a:ext cx="1270" cy="3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3321" name="对象 13320"/>
            <p:cNvGraphicFramePr>
              <a:graphicFrameLocks noChangeAspect="1"/>
            </p:cNvGraphicFramePr>
            <p:nvPr/>
          </p:nvGraphicFramePr>
          <p:xfrm>
            <a:off x="1645" y="1031"/>
            <a:ext cx="238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" imgW="153035" imgH="229235" progId="Equation.DSMT4">
                    <p:embed/>
                  </p:oleObj>
                </mc:Choice>
                <mc:Fallback>
                  <p:oleObj name="" r:id="rId1" imgW="153035" imgH="229235" progId="Equation.DSMT4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45" y="1031"/>
                          <a:ext cx="238" cy="3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2" name="对象 13321"/>
            <p:cNvGraphicFramePr>
              <a:graphicFrameLocks noChangeAspect="1"/>
            </p:cNvGraphicFramePr>
            <p:nvPr/>
          </p:nvGraphicFramePr>
          <p:xfrm>
            <a:off x="2948" y="1072"/>
            <a:ext cx="228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3" imgW="165735" imgH="229235" progId="Equation.DSMT4">
                    <p:embed/>
                  </p:oleObj>
                </mc:Choice>
                <mc:Fallback>
                  <p:oleObj name="" r:id="rId3" imgW="165735" imgH="229235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48" y="1072"/>
                          <a:ext cx="228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3" name="对象 13322"/>
            <p:cNvGraphicFramePr>
              <a:graphicFrameLocks noChangeAspect="1"/>
            </p:cNvGraphicFramePr>
            <p:nvPr/>
          </p:nvGraphicFramePr>
          <p:xfrm>
            <a:off x="4171" y="1051"/>
            <a:ext cx="224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5" imgW="165735" imgH="229235" progId="Equation.DSMT4">
                    <p:embed/>
                  </p:oleObj>
                </mc:Choice>
                <mc:Fallback>
                  <p:oleObj name="" r:id="rId5" imgW="165735" imgH="229235" progId="Equation.DSMT4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71" y="1051"/>
                          <a:ext cx="224" cy="3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24" name="组合 13323"/>
          <p:cNvGrpSpPr/>
          <p:nvPr/>
        </p:nvGrpSpPr>
        <p:grpSpPr>
          <a:xfrm>
            <a:off x="684213" y="4095750"/>
            <a:ext cx="2447925" cy="2141538"/>
            <a:chOff x="0" y="0"/>
            <a:chExt cx="1542" cy="1349"/>
          </a:xfrm>
        </p:grpSpPr>
        <p:sp>
          <p:nvSpPr>
            <p:cNvPr id="13325" name="文本框 13324"/>
            <p:cNvSpPr txBox="1"/>
            <p:nvPr/>
          </p:nvSpPr>
          <p:spPr>
            <a:xfrm>
              <a:off x="32" y="0"/>
              <a:ext cx="1236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800">
                  <a:latin typeface="Arial" panose="020B0604020202020204" pitchFamily="34" charset="0"/>
                </a:rPr>
                <a:t>个人认为：</a:t>
              </a:r>
              <a:endParaRPr lang="zh-CN" altLang="en-US" sz="2800">
                <a:latin typeface="Arial" panose="020B0604020202020204" pitchFamily="34" charset="0"/>
              </a:endParaRPr>
            </a:p>
            <a:p>
              <a:endParaRPr lang="zh-CN" altLang="en-US" sz="2800">
                <a:latin typeface="Arial" panose="020B0604020202020204" pitchFamily="34" charset="0"/>
              </a:endParaRPr>
            </a:p>
          </p:txBody>
        </p:sp>
        <p:graphicFrame>
          <p:nvGraphicFramePr>
            <p:cNvPr id="13326" name="对象 13325"/>
            <p:cNvGraphicFramePr>
              <a:graphicFrameLocks noChangeAspect="1"/>
            </p:cNvGraphicFramePr>
            <p:nvPr/>
          </p:nvGraphicFramePr>
          <p:xfrm>
            <a:off x="0" y="351"/>
            <a:ext cx="86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7" imgW="610235" imgH="228600" progId="Equation.DSMT4">
                    <p:embed/>
                  </p:oleObj>
                </mc:Choice>
                <mc:Fallback>
                  <p:oleObj name="" r:id="rId7" imgW="610235" imgH="2286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0" y="351"/>
                          <a:ext cx="86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对象 13326"/>
            <p:cNvGraphicFramePr>
              <a:graphicFrameLocks noChangeAspect="1"/>
            </p:cNvGraphicFramePr>
            <p:nvPr/>
          </p:nvGraphicFramePr>
          <p:xfrm>
            <a:off x="45" y="724"/>
            <a:ext cx="81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9" imgW="610235" imgH="228600" progId="Equation.DSMT4">
                    <p:embed/>
                  </p:oleObj>
                </mc:Choice>
                <mc:Fallback>
                  <p:oleObj name="" r:id="rId9" imgW="610235" imgH="228600" progId="Equation.DSMT4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5" y="724"/>
                          <a:ext cx="816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8" name="对象 13327"/>
            <p:cNvGraphicFramePr>
              <a:graphicFrameLocks noChangeAspect="1"/>
            </p:cNvGraphicFramePr>
            <p:nvPr/>
          </p:nvGraphicFramePr>
          <p:xfrm>
            <a:off x="34" y="1045"/>
            <a:ext cx="827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1" imgW="622935" imgH="228600" progId="Equation.DSMT4">
                    <p:embed/>
                  </p:oleObj>
                </mc:Choice>
                <mc:Fallback>
                  <p:oleObj name="" r:id="rId11" imgW="622935" imgH="228600" progId="Equation.DSMT4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" y="1045"/>
                          <a:ext cx="827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9" name="文本框 13328"/>
            <p:cNvSpPr txBox="1"/>
            <p:nvPr/>
          </p:nvSpPr>
          <p:spPr>
            <a:xfrm>
              <a:off x="985" y="400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稍重要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330" name="文本框 13329"/>
            <p:cNvSpPr txBox="1"/>
            <p:nvPr/>
          </p:nvSpPr>
          <p:spPr>
            <a:xfrm>
              <a:off x="1047" y="714"/>
              <a:ext cx="4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重要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331" name="文本框 13330"/>
            <p:cNvSpPr txBox="1"/>
            <p:nvPr/>
          </p:nvSpPr>
          <p:spPr>
            <a:xfrm>
              <a:off x="994" y="1068"/>
              <a:ext cx="54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稍重要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13332" name="组合 13331"/>
          <p:cNvGrpSpPr/>
          <p:nvPr/>
        </p:nvGrpSpPr>
        <p:grpSpPr>
          <a:xfrm>
            <a:off x="3419475" y="4005263"/>
            <a:ext cx="4608513" cy="2376487"/>
            <a:chOff x="0" y="0"/>
            <a:chExt cx="2903" cy="1497"/>
          </a:xfrm>
        </p:grpSpPr>
        <p:grpSp>
          <p:nvGrpSpPr>
            <p:cNvPr id="13333" name="组合 13332"/>
            <p:cNvGrpSpPr>
              <a:grpSpLocks noChangeAspect="1"/>
            </p:cNvGrpSpPr>
            <p:nvPr/>
          </p:nvGrpSpPr>
          <p:grpSpPr>
            <a:xfrm>
              <a:off x="1082" y="0"/>
              <a:ext cx="1821" cy="1497"/>
              <a:chOff x="0" y="0"/>
              <a:chExt cx="1821" cy="1497"/>
            </a:xfrm>
          </p:grpSpPr>
          <p:graphicFrame>
            <p:nvGraphicFramePr>
              <p:cNvPr id="13334" name="对象 13333"/>
              <p:cNvGraphicFramePr>
                <a:graphicFrameLocks noChangeAspect="1"/>
              </p:cNvGraphicFramePr>
              <p:nvPr/>
            </p:nvGraphicFramePr>
            <p:xfrm>
              <a:off x="234" y="181"/>
              <a:ext cx="1587" cy="1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1" name="" r:id="rId13" imgW="737870" imgH="1221105" progId="Equation.DSMT4">
                      <p:embed/>
                    </p:oleObj>
                  </mc:Choice>
                  <mc:Fallback>
                    <p:oleObj name="" r:id="rId13" imgW="737870" imgH="1221105" progId="Equation.DSMT4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234" y="181"/>
                            <a:ext cx="1587" cy="13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5" name="对象 13334"/>
              <p:cNvGraphicFramePr>
                <a:graphicFrameLocks noChangeAspect="1"/>
              </p:cNvGraphicFramePr>
              <p:nvPr/>
            </p:nvGraphicFramePr>
            <p:xfrm>
              <a:off x="415" y="0"/>
              <a:ext cx="18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15" name="" r:id="rId15" imgW="153035" imgH="229235" progId="Equation.DSMT4">
                      <p:embed/>
                    </p:oleObj>
                  </mc:Choice>
                  <mc:Fallback>
                    <p:oleObj name="" r:id="rId15" imgW="153035" imgH="229235" progId="Equation.DSMT4">
                      <p:embed/>
                      <p:pic>
                        <p:nvPicPr>
                          <p:cNvPr id="0" name="图片 311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15" y="0"/>
                            <a:ext cx="18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6" name="对象 13335"/>
              <p:cNvGraphicFramePr>
                <a:graphicFrameLocks noChangeAspect="1"/>
              </p:cNvGraphicFramePr>
              <p:nvPr/>
            </p:nvGraphicFramePr>
            <p:xfrm>
              <a:off x="1361" y="0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1" name="" r:id="rId17" imgW="165735" imgH="229235" progId="Equation.DSMT4">
                      <p:embed/>
                    </p:oleObj>
                  </mc:Choice>
                  <mc:Fallback>
                    <p:oleObj name="" r:id="rId17" imgW="165735" imgH="229235" progId="Equation.DSMT4">
                      <p:embed/>
                      <p:pic>
                        <p:nvPicPr>
                          <p:cNvPr id="0" name="图片 3120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361" y="0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7" name="对象 13336"/>
              <p:cNvGraphicFramePr>
                <a:graphicFrameLocks noChangeAspect="1"/>
              </p:cNvGraphicFramePr>
              <p:nvPr/>
            </p:nvGraphicFramePr>
            <p:xfrm>
              <a:off x="907" y="0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6" name="" r:id="rId19" imgW="165735" imgH="229235" progId="Equation.DSMT4">
                      <p:embed/>
                    </p:oleObj>
                  </mc:Choice>
                  <mc:Fallback>
                    <p:oleObj name="" r:id="rId19" imgW="165735" imgH="229235" progId="Equation.DSMT4">
                      <p:embed/>
                      <p:pic>
                        <p:nvPicPr>
                          <p:cNvPr id="0" name="图片 3105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907" y="0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8" name="对象 13337"/>
              <p:cNvGraphicFramePr>
                <a:graphicFrameLocks noChangeAspect="1"/>
              </p:cNvGraphicFramePr>
              <p:nvPr/>
            </p:nvGraphicFramePr>
            <p:xfrm>
              <a:off x="0" y="680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3" name="" r:id="rId21" imgW="165735" imgH="229235" progId="Equation.DSMT4">
                      <p:embed/>
                    </p:oleObj>
                  </mc:Choice>
                  <mc:Fallback>
                    <p:oleObj name="" r:id="rId21" imgW="165735" imgH="229235" progId="Equation.DSMT4">
                      <p:embed/>
                      <p:pic>
                        <p:nvPicPr>
                          <p:cNvPr id="0" name="图片 3102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0" y="680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9" name="对象 13338"/>
              <p:cNvGraphicFramePr>
                <a:graphicFrameLocks noChangeAspect="1"/>
              </p:cNvGraphicFramePr>
              <p:nvPr/>
            </p:nvGraphicFramePr>
            <p:xfrm>
              <a:off x="7" y="317"/>
              <a:ext cx="181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4" name="" r:id="rId23" imgW="153035" imgH="229235" progId="Equation.DSMT4">
                      <p:embed/>
                    </p:oleObj>
                  </mc:Choice>
                  <mc:Fallback>
                    <p:oleObj name="" r:id="rId23" imgW="153035" imgH="229235" progId="Equation.DSMT4">
                      <p:embed/>
                      <p:pic>
                        <p:nvPicPr>
                          <p:cNvPr id="0" name="图片 3103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7" y="317"/>
                            <a:ext cx="181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40" name="对象 13339"/>
              <p:cNvGraphicFramePr>
                <a:graphicFrameLocks noChangeAspect="1"/>
              </p:cNvGraphicFramePr>
              <p:nvPr/>
            </p:nvGraphicFramePr>
            <p:xfrm>
              <a:off x="0" y="1134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5" name="" r:id="rId25" imgW="165735" imgH="229235" progId="Equation.DSMT4">
                      <p:embed/>
                    </p:oleObj>
                  </mc:Choice>
                  <mc:Fallback>
                    <p:oleObj name="" r:id="rId25" imgW="165735" imgH="229235" progId="Equation.DSMT4">
                      <p:embed/>
                      <p:pic>
                        <p:nvPicPr>
                          <p:cNvPr id="0" name="图片 3104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0" y="1134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341" name="文本框 13340"/>
            <p:cNvSpPr txBox="1"/>
            <p:nvPr/>
          </p:nvSpPr>
          <p:spPr>
            <a:xfrm>
              <a:off x="0" y="590"/>
              <a:ext cx="98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得成对比较阵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3342" name="直接连接符 13341"/>
            <p:cNvSpPr/>
            <p:nvPr/>
          </p:nvSpPr>
          <p:spPr>
            <a:xfrm>
              <a:off x="46" y="862"/>
              <a:ext cx="9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13343" name="组合 13342"/>
          <p:cNvGrpSpPr/>
          <p:nvPr/>
        </p:nvGrpSpPr>
        <p:grpSpPr>
          <a:xfrm>
            <a:off x="7956550" y="3814763"/>
            <a:ext cx="831850" cy="2378075"/>
            <a:chOff x="0" y="0"/>
            <a:chExt cx="524" cy="1498"/>
          </a:xfrm>
        </p:grpSpPr>
        <p:sp>
          <p:nvSpPr>
            <p:cNvPr id="13344" name="左箭头 13343"/>
            <p:cNvSpPr/>
            <p:nvPr/>
          </p:nvSpPr>
          <p:spPr>
            <a:xfrm>
              <a:off x="0" y="710"/>
              <a:ext cx="181" cy="181"/>
            </a:xfrm>
            <a:prstGeom prst="lef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3345" name="文本框 13344"/>
            <p:cNvSpPr txBox="1"/>
            <p:nvPr/>
          </p:nvSpPr>
          <p:spPr>
            <a:xfrm>
              <a:off x="235" y="0"/>
              <a:ext cx="289" cy="14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这里有个逻辑上的问题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直接连接符 1433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4340" name="组合 14339"/>
          <p:cNvGrpSpPr>
            <a:grpSpLocks noChangeAspect="1"/>
          </p:cNvGrpSpPr>
          <p:nvPr/>
        </p:nvGrpSpPr>
        <p:grpSpPr>
          <a:xfrm>
            <a:off x="436563" y="838518"/>
            <a:ext cx="2890837" cy="2376487"/>
            <a:chOff x="0" y="0"/>
            <a:chExt cx="1821" cy="1497"/>
          </a:xfrm>
        </p:grpSpPr>
        <p:graphicFrame>
          <p:nvGraphicFramePr>
            <p:cNvPr id="14341" name="对象 14340"/>
            <p:cNvGraphicFramePr>
              <a:graphicFrameLocks noChangeAspect="1"/>
            </p:cNvGraphicFramePr>
            <p:nvPr/>
          </p:nvGraphicFramePr>
          <p:xfrm>
            <a:off x="234" y="181"/>
            <a:ext cx="1587" cy="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1" imgW="737870" imgH="1221105" progId="Equation.DSMT4">
                    <p:embed/>
                  </p:oleObj>
                </mc:Choice>
                <mc:Fallback>
                  <p:oleObj name="" r:id="rId1" imgW="737870" imgH="1221105" progId="Equation.DSMT4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4" y="181"/>
                          <a:ext cx="1587" cy="1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2" name="对象 14341"/>
            <p:cNvGraphicFramePr>
              <a:graphicFrameLocks noChangeAspect="1"/>
            </p:cNvGraphicFramePr>
            <p:nvPr/>
          </p:nvGraphicFramePr>
          <p:xfrm>
            <a:off x="415" y="0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3" imgW="153035" imgH="229235" progId="Equation.DSMT4">
                    <p:embed/>
                  </p:oleObj>
                </mc:Choice>
                <mc:Fallback>
                  <p:oleObj name="" r:id="rId3" imgW="153035" imgH="229235" progId="Equation.DSMT4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5" y="0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对象 14342"/>
            <p:cNvGraphicFramePr>
              <a:graphicFrameLocks noChangeAspect="1"/>
            </p:cNvGraphicFramePr>
            <p:nvPr/>
          </p:nvGraphicFramePr>
          <p:xfrm>
            <a:off x="1361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5" imgW="165735" imgH="229235" progId="Equation.DSMT4">
                    <p:embed/>
                  </p:oleObj>
                </mc:Choice>
                <mc:Fallback>
                  <p:oleObj name="" r:id="rId5" imgW="165735" imgH="229235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61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4" name="对象 14343"/>
            <p:cNvGraphicFramePr>
              <a:graphicFrameLocks noChangeAspect="1"/>
            </p:cNvGraphicFramePr>
            <p:nvPr/>
          </p:nvGraphicFramePr>
          <p:xfrm>
            <a:off x="907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7" imgW="165735" imgH="229235" progId="Equation.DSMT4">
                    <p:embed/>
                  </p:oleObj>
                </mc:Choice>
                <mc:Fallback>
                  <p:oleObj name="" r:id="rId7" imgW="165735" imgH="229235" progId="Equation.DSMT4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07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对象 14344"/>
            <p:cNvGraphicFramePr>
              <a:graphicFrameLocks noChangeAspect="1"/>
            </p:cNvGraphicFramePr>
            <p:nvPr/>
          </p:nvGraphicFramePr>
          <p:xfrm>
            <a:off x="0" y="68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9" imgW="165735" imgH="229235" progId="Equation.DSMT4">
                    <p:embed/>
                  </p:oleObj>
                </mc:Choice>
                <mc:Fallback>
                  <p:oleObj name="" r:id="rId9" imgW="165735" imgH="229235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0" y="68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6" name="对象 14345"/>
            <p:cNvGraphicFramePr>
              <a:graphicFrameLocks noChangeAspect="1"/>
            </p:cNvGraphicFramePr>
            <p:nvPr/>
          </p:nvGraphicFramePr>
          <p:xfrm>
            <a:off x="7" y="317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1" imgW="153035" imgH="229235" progId="Equation.DSMT4">
                    <p:embed/>
                  </p:oleObj>
                </mc:Choice>
                <mc:Fallback>
                  <p:oleObj name="" r:id="rId11" imgW="153035" imgH="229235" progId="Equation.DSMT4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" y="317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7" name="对象 14346"/>
            <p:cNvGraphicFramePr>
              <a:graphicFrameLocks noChangeAspect="1"/>
            </p:cNvGraphicFramePr>
            <p:nvPr/>
          </p:nvGraphicFramePr>
          <p:xfrm>
            <a:off x="0" y="1134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3" imgW="165735" imgH="229235" progId="Equation.DSMT4">
                    <p:embed/>
                  </p:oleObj>
                </mc:Choice>
                <mc:Fallback>
                  <p:oleObj name="" r:id="rId13" imgW="165735" imgH="229235" progId="Equation.DSMT4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0" y="1134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8" name="组合 14347"/>
          <p:cNvGrpSpPr/>
          <p:nvPr/>
        </p:nvGrpSpPr>
        <p:grpSpPr>
          <a:xfrm>
            <a:off x="3779838" y="1052513"/>
            <a:ext cx="4478337" cy="1676400"/>
            <a:chOff x="0" y="0"/>
            <a:chExt cx="2821" cy="1056"/>
          </a:xfrm>
        </p:grpSpPr>
        <p:graphicFrame>
          <p:nvGraphicFramePr>
            <p:cNvPr id="14349" name="对象 14348"/>
            <p:cNvGraphicFramePr>
              <a:graphicFrameLocks noChangeAspect="1"/>
            </p:cNvGraphicFramePr>
            <p:nvPr/>
          </p:nvGraphicFramePr>
          <p:xfrm>
            <a:off x="0" y="46"/>
            <a:ext cx="681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15" imgW="610235" imgH="228600" progId="Equation.DSMT4">
                    <p:embed/>
                  </p:oleObj>
                </mc:Choice>
                <mc:Fallback>
                  <p:oleObj name="" r:id="rId15" imgW="610235" imgH="228600" progId="Equation.DSMT4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0" y="46"/>
                          <a:ext cx="681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0" name="对象 14349"/>
            <p:cNvGraphicFramePr>
              <a:graphicFrameLocks noChangeAspect="1"/>
            </p:cNvGraphicFramePr>
            <p:nvPr/>
          </p:nvGraphicFramePr>
          <p:xfrm>
            <a:off x="0" y="408"/>
            <a:ext cx="695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4" name="" r:id="rId17" imgW="622935" imgH="228600" progId="Equation.DSMT4">
                    <p:embed/>
                  </p:oleObj>
                </mc:Choice>
                <mc:Fallback>
                  <p:oleObj name="" r:id="rId17" imgW="622935" imgH="228600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0" y="408"/>
                          <a:ext cx="695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右箭头 14350"/>
            <p:cNvSpPr/>
            <p:nvPr/>
          </p:nvSpPr>
          <p:spPr>
            <a:xfrm>
              <a:off x="1633" y="272"/>
              <a:ext cx="363" cy="91"/>
            </a:xfrm>
            <a:prstGeom prst="rightArrow">
              <a:avLst>
                <a:gd name="adj1" fmla="val 50000"/>
                <a:gd name="adj2" fmla="val 99725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14352" name="对象 14351"/>
            <p:cNvGraphicFramePr>
              <a:graphicFrameLocks noChangeAspect="1"/>
            </p:cNvGraphicFramePr>
            <p:nvPr/>
          </p:nvGraphicFramePr>
          <p:xfrm>
            <a:off x="2132" y="0"/>
            <a:ext cx="63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6" name="" r:id="rId19" imgW="610235" imgH="228600" progId="Equation.DSMT4">
                    <p:embed/>
                  </p:oleObj>
                </mc:Choice>
                <mc:Fallback>
                  <p:oleObj name="" r:id="rId19" imgW="610235" imgH="228600" progId="Equation.DSMT4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32" y="0"/>
                          <a:ext cx="637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对象 14352"/>
            <p:cNvGraphicFramePr>
              <a:graphicFrameLocks noChangeAspect="1"/>
            </p:cNvGraphicFramePr>
            <p:nvPr/>
          </p:nvGraphicFramePr>
          <p:xfrm>
            <a:off x="318" y="817"/>
            <a:ext cx="637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21" imgW="610235" imgH="228600" progId="Equation.DSMT4">
                    <p:embed/>
                  </p:oleObj>
                </mc:Choice>
                <mc:Fallback>
                  <p:oleObj name="" r:id="rId21" imgW="610235" imgH="228600" progId="Equation.DSMT4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8" y="817"/>
                          <a:ext cx="637" cy="2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4" name="对象 14353"/>
            <p:cNvGraphicFramePr>
              <a:graphicFrameLocks noChangeAspect="1"/>
            </p:cNvGraphicFramePr>
            <p:nvPr/>
          </p:nvGraphicFramePr>
          <p:xfrm>
            <a:off x="1088" y="32"/>
            <a:ext cx="45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" r:id="rId23" imgW="432435" imgH="229235" progId="Equation.DSMT4">
                    <p:embed/>
                  </p:oleObj>
                </mc:Choice>
                <mc:Fallback>
                  <p:oleObj name="" r:id="rId23" imgW="432435" imgH="229235" progId="Equation.DSMT4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88" y="32"/>
                          <a:ext cx="45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对象 14354"/>
            <p:cNvGraphicFramePr>
              <a:graphicFrameLocks noChangeAspect="1"/>
            </p:cNvGraphicFramePr>
            <p:nvPr/>
          </p:nvGraphicFramePr>
          <p:xfrm>
            <a:off x="1089" y="397"/>
            <a:ext cx="46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25" imgW="445770" imgH="229235" progId="Equation.DSMT4">
                    <p:embed/>
                  </p:oleObj>
                </mc:Choice>
                <mc:Fallback>
                  <p:oleObj name="" r:id="rId25" imgW="445770" imgH="229235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089" y="397"/>
                          <a:ext cx="462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6" name="文本框 14355"/>
            <p:cNvSpPr txBox="1"/>
            <p:nvPr/>
          </p:nvSpPr>
          <p:spPr>
            <a:xfrm>
              <a:off x="771" y="49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即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357" name="文本框 14356"/>
            <p:cNvSpPr txBox="1"/>
            <p:nvPr/>
          </p:nvSpPr>
          <p:spPr>
            <a:xfrm>
              <a:off x="771" y="408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即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358" name="文本框 14357"/>
            <p:cNvSpPr txBox="1"/>
            <p:nvPr/>
          </p:nvSpPr>
          <p:spPr>
            <a:xfrm>
              <a:off x="2144" y="363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即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graphicFrame>
          <p:nvGraphicFramePr>
            <p:cNvPr id="14359" name="对象 14358"/>
            <p:cNvGraphicFramePr>
              <a:graphicFrameLocks noChangeAspect="1"/>
            </p:cNvGraphicFramePr>
            <p:nvPr/>
          </p:nvGraphicFramePr>
          <p:xfrm>
            <a:off x="2359" y="363"/>
            <a:ext cx="462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27" imgW="445770" imgH="229235" progId="Equation.DSMT4">
                    <p:embed/>
                  </p:oleObj>
                </mc:Choice>
                <mc:Fallback>
                  <p:oleObj name="" r:id="rId27" imgW="445770" imgH="229235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359" y="363"/>
                          <a:ext cx="462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0" name="文本框 14359"/>
            <p:cNvSpPr txBox="1"/>
            <p:nvPr/>
          </p:nvSpPr>
          <p:spPr>
            <a:xfrm>
              <a:off x="33" y="820"/>
              <a:ext cx="2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而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361" name="文本框 14360"/>
            <p:cNvSpPr txBox="1"/>
            <p:nvPr/>
          </p:nvSpPr>
          <p:spPr>
            <a:xfrm>
              <a:off x="1031" y="820"/>
              <a:ext cx="40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>
                  <a:latin typeface="Arial" panose="020B0604020202020204" pitchFamily="34" charset="0"/>
                </a:rPr>
                <a:t>实际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graphicFrame>
          <p:nvGraphicFramePr>
            <p:cNvPr id="14362" name="对象 14361"/>
            <p:cNvGraphicFramePr>
              <a:graphicFrameLocks noChangeAspect="1"/>
            </p:cNvGraphicFramePr>
            <p:nvPr/>
          </p:nvGraphicFramePr>
          <p:xfrm>
            <a:off x="1458" y="817"/>
            <a:ext cx="449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29" imgW="432435" imgH="229235" progId="Equation.DSMT4">
                    <p:embed/>
                  </p:oleObj>
                </mc:Choice>
                <mc:Fallback>
                  <p:oleObj name="" r:id="rId29" imgW="432435" imgH="229235" progId="Equation.DSMT4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458" y="817"/>
                          <a:ext cx="449" cy="2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63" name="组合 14362"/>
          <p:cNvGrpSpPr/>
          <p:nvPr/>
        </p:nvGrpSpPr>
        <p:grpSpPr>
          <a:xfrm>
            <a:off x="250825" y="3475038"/>
            <a:ext cx="8666163" cy="2041525"/>
            <a:chOff x="0" y="0"/>
            <a:chExt cx="5459" cy="1286"/>
          </a:xfrm>
        </p:grpSpPr>
        <p:sp>
          <p:nvSpPr>
            <p:cNvPr id="14364" name="文本框 14363"/>
            <p:cNvSpPr txBox="1"/>
            <p:nvPr/>
          </p:nvSpPr>
          <p:spPr>
            <a:xfrm>
              <a:off x="409" y="0"/>
              <a:ext cx="35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这个问题我们称为逻辑上的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一致性问题</a:t>
              </a:r>
              <a:r>
                <a:rPr lang="zh-CN" altLang="en-US" sz="2400">
                  <a:latin typeface="Arial" panose="020B0604020202020204" pitchFamily="34" charset="0"/>
                </a:rPr>
                <a:t>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4365" name="文本框 14364"/>
            <p:cNvSpPr txBox="1"/>
            <p:nvPr/>
          </p:nvSpPr>
          <p:spPr>
            <a:xfrm>
              <a:off x="0" y="363"/>
              <a:ext cx="545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如果决策人对   个因素重要性的比较具有逻辑的绝对一致性，即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4366" name="对象 14365"/>
            <p:cNvGraphicFramePr>
              <a:graphicFrameLocks noChangeAspect="1"/>
            </p:cNvGraphicFramePr>
            <p:nvPr/>
          </p:nvGraphicFramePr>
          <p:xfrm>
            <a:off x="1225" y="635"/>
            <a:ext cx="2813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31" imgW="1751965" imgH="241300" progId="Equation.DSMT4">
                    <p:embed/>
                  </p:oleObj>
                </mc:Choice>
                <mc:Fallback>
                  <p:oleObj name="" r:id="rId31" imgW="1751965" imgH="241300" progId="Equation.DSMT4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225" y="635"/>
                          <a:ext cx="2813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7" name="文本框 14366"/>
            <p:cNvSpPr txBox="1"/>
            <p:nvPr/>
          </p:nvSpPr>
          <p:spPr>
            <a:xfrm>
              <a:off x="635" y="998"/>
              <a:ext cx="39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那么我们称这样的成对比较矩阵为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一致矩阵</a:t>
              </a:r>
              <a:r>
                <a:rPr lang="zh-CN" altLang="en-US" sz="2400">
                  <a:latin typeface="Arial" panose="020B0604020202020204" pitchFamily="34" charset="0"/>
                </a:rPr>
                <a:t>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4368" name="对象 14367"/>
            <p:cNvGraphicFramePr>
              <a:graphicFrameLocks noChangeAspect="1"/>
            </p:cNvGraphicFramePr>
            <p:nvPr/>
          </p:nvGraphicFramePr>
          <p:xfrm>
            <a:off x="1225" y="409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33" imgW="127635" imgH="140335" progId="Equation.DSMT4">
                    <p:embed/>
                  </p:oleObj>
                </mc:Choice>
                <mc:Fallback>
                  <p:oleObj name="" r:id="rId33" imgW="127635" imgH="140335" progId="Equation.DSMT4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225" y="409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69" name="文本框 14368"/>
          <p:cNvSpPr txBox="1"/>
          <p:nvPr/>
        </p:nvSpPr>
        <p:spPr>
          <a:xfrm>
            <a:off x="808038" y="5805488"/>
            <a:ext cx="6584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但一般来说，我们是没有办法使之完全一致的。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3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直接连接符 1536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5364" name="组合 15363"/>
          <p:cNvGrpSpPr/>
          <p:nvPr/>
        </p:nvGrpSpPr>
        <p:grpSpPr>
          <a:xfrm>
            <a:off x="323850" y="1006475"/>
            <a:ext cx="8477250" cy="1917700"/>
            <a:chOff x="0" y="0"/>
            <a:chExt cx="5340" cy="1208"/>
          </a:xfrm>
        </p:grpSpPr>
        <p:sp>
          <p:nvSpPr>
            <p:cNvPr id="15365" name="文本框 15364"/>
            <p:cNvSpPr txBox="1"/>
            <p:nvPr/>
          </p:nvSpPr>
          <p:spPr>
            <a:xfrm>
              <a:off x="0" y="0"/>
              <a:ext cx="5340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    </a:t>
              </a:r>
              <a:r>
                <a:rPr lang="zh-CN" altLang="en-US" sz="2400">
                  <a:latin typeface="Arial" panose="020B0604020202020204" pitchFamily="34" charset="0"/>
                </a:rPr>
                <a:t>由于客观事物的复杂性以及人们认识的多样性，特别是人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的思维活动不可避免地带有主观性和片面性，构造出的成对比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较阵    常常不是一致阵。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若不一致性达到很严重的程度，我们</a:t>
              </a:r>
              <a:endParaRPr lang="zh-CN" altLang="en-US" sz="2400">
                <a:solidFill>
                  <a:srgbClr val="FF3300"/>
                </a:solidFill>
                <a:latin typeface="Arial" panose="020B0604020202020204" pitchFamily="34" charset="0"/>
              </a:endParaRPr>
            </a:p>
            <a:p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建立起来的评价系统将会是很不准确的。</a:t>
              </a:r>
              <a:r>
                <a:rPr lang="zh-CN" altLang="en-US" sz="2400">
                  <a:latin typeface="Arial" panose="020B0604020202020204" pitchFamily="34" charset="0"/>
                </a:rPr>
                <a:t>因此我们就要讨论一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下我们建立的比较阵的不一致性是否在一个允许的范围内！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5366" name="对象 15365"/>
            <p:cNvGraphicFramePr>
              <a:graphicFrameLocks noChangeAspect="1"/>
            </p:cNvGraphicFramePr>
            <p:nvPr/>
          </p:nvGraphicFramePr>
          <p:xfrm>
            <a:off x="453" y="475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" imgW="153035" imgH="165735" progId="Equation.DSMT4">
                    <p:embed/>
                  </p:oleObj>
                </mc:Choice>
                <mc:Fallback>
                  <p:oleObj name="" r:id="rId1" imgW="153035" imgH="165735" progId="Equation.DSMT4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53" y="475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7" name="组合 15366"/>
          <p:cNvGrpSpPr/>
          <p:nvPr/>
        </p:nvGrpSpPr>
        <p:grpSpPr>
          <a:xfrm>
            <a:off x="250825" y="3016250"/>
            <a:ext cx="8604250" cy="2322513"/>
            <a:chOff x="0" y="0"/>
            <a:chExt cx="5420" cy="1463"/>
          </a:xfrm>
        </p:grpSpPr>
        <p:sp>
          <p:nvSpPr>
            <p:cNvPr id="15368" name="文本框 15367"/>
            <p:cNvSpPr txBox="1"/>
            <p:nvPr/>
          </p:nvSpPr>
          <p:spPr>
            <a:xfrm>
              <a:off x="0" y="0"/>
              <a:ext cx="5420" cy="14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    </a:t>
              </a:r>
              <a:r>
                <a:rPr lang="zh-CN" altLang="en-US" sz="2400">
                  <a:latin typeface="Arial" panose="020B0604020202020204" pitchFamily="34" charset="0"/>
                </a:rPr>
                <a:t>那么如何检验矩阵   的一致性呢？显然对   中的每个元素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用                   来讨论是很麻烦的，而且容易出现混乱。我们利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用矩阵理论可以证明：   阶成对比较矩阵   是一致阵，当且仅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当   的最大特征值                  。因此计算   的最大特征值就可判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断   是否是一致阵。如果   不是一致阵，我们还可以证明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               而且             越大，不一致程度越严重。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5369" name="对象 15368"/>
            <p:cNvGraphicFramePr>
              <a:graphicFrameLocks noChangeAspect="1"/>
            </p:cNvGraphicFramePr>
            <p:nvPr/>
          </p:nvGraphicFramePr>
          <p:xfrm>
            <a:off x="239" y="215"/>
            <a:ext cx="104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3" imgW="749935" imgH="241300" progId="Equation.DSMT4">
                    <p:embed/>
                  </p:oleObj>
                </mc:Choice>
                <mc:Fallback>
                  <p:oleObj name="" r:id="rId3" imgW="749935" imgH="241300" progId="Equation.DSMT4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9" y="215"/>
                          <a:ext cx="1043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0" name="对象 15369"/>
            <p:cNvGraphicFramePr>
              <a:graphicFrameLocks noChangeAspect="1"/>
            </p:cNvGraphicFramePr>
            <p:nvPr/>
          </p:nvGraphicFramePr>
          <p:xfrm>
            <a:off x="2008" y="33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5" imgW="153035" imgH="165735" progId="Equation.DSMT4">
                    <p:embed/>
                  </p:oleObj>
                </mc:Choice>
                <mc:Fallback>
                  <p:oleObj name="" r:id="rId5" imgW="153035" imgH="165735" progId="Equation.DSMT4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08" y="33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对象 15370"/>
            <p:cNvGraphicFramePr>
              <a:graphicFrameLocks noChangeAspect="1"/>
            </p:cNvGraphicFramePr>
            <p:nvPr/>
          </p:nvGraphicFramePr>
          <p:xfrm>
            <a:off x="3913" y="33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6" imgW="153035" imgH="165735" progId="Equation.DSMT4">
                    <p:embed/>
                  </p:oleObj>
                </mc:Choice>
                <mc:Fallback>
                  <p:oleObj name="" r:id="rId6" imgW="153035" imgH="165735" progId="Equation.DSMT4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13" y="33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对象 15371"/>
            <p:cNvGraphicFramePr>
              <a:graphicFrameLocks noChangeAspect="1"/>
            </p:cNvGraphicFramePr>
            <p:nvPr/>
          </p:nvGraphicFramePr>
          <p:xfrm>
            <a:off x="1935" y="534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7" imgW="127635" imgH="140335" progId="Equation.DSMT4">
                    <p:embed/>
                  </p:oleObj>
                </mc:Choice>
                <mc:Fallback>
                  <p:oleObj name="" r:id="rId7" imgW="127635" imgH="140335" progId="Equation.DSMT4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35" y="534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3" name="对象 15372"/>
            <p:cNvGraphicFramePr>
              <a:graphicFrameLocks noChangeAspect="1"/>
            </p:cNvGraphicFramePr>
            <p:nvPr/>
          </p:nvGraphicFramePr>
          <p:xfrm>
            <a:off x="3505" y="487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9" imgW="153035" imgH="165735" progId="Equation.DSMT4">
                    <p:embed/>
                  </p:oleObj>
                </mc:Choice>
                <mc:Fallback>
                  <p:oleObj name="" r:id="rId9" imgW="153035" imgH="165735" progId="Equation.DSMT4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05" y="487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4" name="对象 15373"/>
            <p:cNvGraphicFramePr>
              <a:graphicFrameLocks noChangeAspect="1"/>
            </p:cNvGraphicFramePr>
            <p:nvPr/>
          </p:nvGraphicFramePr>
          <p:xfrm>
            <a:off x="239" y="714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0" imgW="153035" imgH="165735" progId="Equation.DSMT4">
                    <p:embed/>
                  </p:oleObj>
                </mc:Choice>
                <mc:Fallback>
                  <p:oleObj name="" r:id="rId10" imgW="153035" imgH="165735" progId="Equation.DSMT4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9" y="714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5" name="对象 15374"/>
            <p:cNvGraphicFramePr>
              <a:graphicFrameLocks noChangeAspect="1"/>
            </p:cNvGraphicFramePr>
            <p:nvPr/>
          </p:nvGraphicFramePr>
          <p:xfrm>
            <a:off x="1555" y="714"/>
            <a:ext cx="9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11" imgW="737870" imgH="228600" progId="Equation.DSMT4">
                    <p:embed/>
                  </p:oleObj>
                </mc:Choice>
                <mc:Fallback>
                  <p:oleObj name="" r:id="rId11" imgW="737870" imgH="228600" progId="Equation.DSMT4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55" y="714"/>
                          <a:ext cx="9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对象 15375"/>
            <p:cNvGraphicFramePr>
              <a:graphicFrameLocks noChangeAspect="1"/>
            </p:cNvGraphicFramePr>
            <p:nvPr/>
          </p:nvGraphicFramePr>
          <p:xfrm>
            <a:off x="3460" y="714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13" imgW="153035" imgH="165735" progId="Equation.DSMT4">
                    <p:embed/>
                  </p:oleObj>
                </mc:Choice>
                <mc:Fallback>
                  <p:oleObj name="" r:id="rId13" imgW="153035" imgH="165735" progId="Equation.DSMT4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460" y="714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对象 15376"/>
            <p:cNvGraphicFramePr>
              <a:graphicFrameLocks noChangeAspect="1"/>
            </p:cNvGraphicFramePr>
            <p:nvPr/>
          </p:nvGraphicFramePr>
          <p:xfrm>
            <a:off x="239" y="940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14" imgW="153035" imgH="165735" progId="Equation.DSMT4">
                    <p:embed/>
                  </p:oleObj>
                </mc:Choice>
                <mc:Fallback>
                  <p:oleObj name="" r:id="rId14" imgW="153035" imgH="165735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9" y="940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8" name="对象 15377"/>
            <p:cNvGraphicFramePr>
              <a:graphicFrameLocks noChangeAspect="1"/>
            </p:cNvGraphicFramePr>
            <p:nvPr/>
          </p:nvGraphicFramePr>
          <p:xfrm>
            <a:off x="2144" y="940"/>
            <a:ext cx="17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15" imgW="153035" imgH="165735" progId="Equation.DSMT4">
                    <p:embed/>
                  </p:oleObj>
                </mc:Choice>
                <mc:Fallback>
                  <p:oleObj name="" r:id="rId15" imgW="153035" imgH="165735" progId="Equation.DSMT4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144" y="940"/>
                          <a:ext cx="174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对象 15378"/>
            <p:cNvGraphicFramePr>
              <a:graphicFrameLocks noChangeAspect="1"/>
            </p:cNvGraphicFramePr>
            <p:nvPr/>
          </p:nvGraphicFramePr>
          <p:xfrm>
            <a:off x="58" y="1167"/>
            <a:ext cx="95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6" imgW="737870" imgH="228600" progId="Equation.DSMT4">
                    <p:embed/>
                  </p:oleObj>
                </mc:Choice>
                <mc:Fallback>
                  <p:oleObj name="" r:id="rId16" imgW="737870" imgH="228600" progId="Equation.DSMT4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8" y="1167"/>
                          <a:ext cx="953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对象 15379"/>
            <p:cNvGraphicFramePr>
              <a:graphicFrameLocks noChangeAspect="1"/>
            </p:cNvGraphicFramePr>
            <p:nvPr/>
          </p:nvGraphicFramePr>
          <p:xfrm>
            <a:off x="1464" y="1167"/>
            <a:ext cx="65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8" imgW="508635" imgH="228600" progId="Equation.DSMT4">
                    <p:embed/>
                  </p:oleObj>
                </mc:Choice>
                <mc:Fallback>
                  <p:oleObj name="" r:id="rId18" imgW="508635" imgH="228600" progId="Equation.DSMT4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464" y="1167"/>
                          <a:ext cx="657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文本框 4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直接连接符 1638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6388" name="组合 16387"/>
          <p:cNvGrpSpPr/>
          <p:nvPr/>
        </p:nvGrpSpPr>
        <p:grpSpPr>
          <a:xfrm>
            <a:off x="468313" y="1089025"/>
            <a:ext cx="8108950" cy="1187450"/>
            <a:chOff x="0" y="0"/>
            <a:chExt cx="5108" cy="748"/>
          </a:xfrm>
        </p:grpSpPr>
        <p:sp>
          <p:nvSpPr>
            <p:cNvPr id="16389" name="文本框 16388"/>
            <p:cNvSpPr txBox="1"/>
            <p:nvPr/>
          </p:nvSpPr>
          <p:spPr>
            <a:xfrm>
              <a:off x="0" y="0"/>
              <a:ext cx="5108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</a:t>
              </a:r>
              <a:r>
                <a:rPr lang="zh-CN" altLang="en-US" sz="2400">
                  <a:latin typeface="Arial" panose="020B0604020202020204" pitchFamily="34" charset="0"/>
                </a:rPr>
                <a:t>可以看出矩阵   的不一致性是不可避免的，但只要它的不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一致性不是很严重，我们还是可以接受的。萨迪给出了一个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衡量可接受的指标以及寻求该指标的方法。共分三步：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6390" name="对象 16389"/>
            <p:cNvGraphicFramePr>
              <a:graphicFrameLocks noChangeAspect="1"/>
            </p:cNvGraphicFramePr>
            <p:nvPr/>
          </p:nvGraphicFramePr>
          <p:xfrm>
            <a:off x="1406" y="33"/>
            <a:ext cx="174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1" imgW="153035" imgH="165735" progId="Equation.DSMT4">
                    <p:embed/>
                  </p:oleObj>
                </mc:Choice>
                <mc:Fallback>
                  <p:oleObj name="" r:id="rId1" imgW="153035" imgH="165735" progId="Equation.DSMT4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406" y="33"/>
                          <a:ext cx="174" cy="1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391" name="组合 16390"/>
          <p:cNvGrpSpPr/>
          <p:nvPr/>
        </p:nvGrpSpPr>
        <p:grpSpPr>
          <a:xfrm>
            <a:off x="323850" y="2278063"/>
            <a:ext cx="8351838" cy="1366837"/>
            <a:chOff x="0" y="0"/>
            <a:chExt cx="5261" cy="861"/>
          </a:xfrm>
        </p:grpSpPr>
        <p:sp>
          <p:nvSpPr>
            <p:cNvPr id="16392" name="矩形 16391"/>
            <p:cNvSpPr/>
            <p:nvPr/>
          </p:nvSpPr>
          <p:spPr>
            <a:xfrm>
              <a:off x="0" y="0"/>
              <a:ext cx="5261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1</a:t>
              </a:r>
              <a:r>
                <a:rPr lang="zh-CN" altLang="en-US" sz="2400">
                  <a:latin typeface="Arial" panose="020B0604020202020204" pitchFamily="34" charset="0"/>
                </a:rPr>
                <a:t>）计算一致性指标</a:t>
              </a:r>
              <a:r>
                <a:rPr lang="en-US" altLang="zh-CN" sz="2400">
                  <a:latin typeface="Arial" panose="020B0604020202020204" pitchFamily="34" charset="0"/>
                </a:rPr>
                <a:t>CI</a:t>
              </a:r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consistency index)</a:t>
              </a:r>
              <a:r>
                <a:rPr lang="zh-CN" altLang="en-US" sz="2400">
                  <a:latin typeface="Arial" panose="020B0604020202020204" pitchFamily="34" charset="0"/>
                </a:rPr>
                <a:t>用来衡量   的不一致程度。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6393" name="对象 16392"/>
            <p:cNvGraphicFramePr>
              <a:graphicFrameLocks noChangeAspect="1"/>
            </p:cNvGraphicFramePr>
            <p:nvPr/>
          </p:nvGraphicFramePr>
          <p:xfrm>
            <a:off x="4581" y="45"/>
            <a:ext cx="174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4" name="" r:id="rId3" imgW="153035" imgH="165735" progId="Equation.DSMT4">
                    <p:embed/>
                  </p:oleObj>
                </mc:Choice>
                <mc:Fallback>
                  <p:oleObj name="" r:id="rId3" imgW="153035" imgH="165735" progId="Equation.DSMT4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81" y="45"/>
                          <a:ext cx="174" cy="1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4" name="对象 16393"/>
            <p:cNvGraphicFramePr>
              <a:graphicFrameLocks noChangeAspect="1"/>
            </p:cNvGraphicFramePr>
            <p:nvPr/>
          </p:nvGraphicFramePr>
          <p:xfrm>
            <a:off x="2041" y="317"/>
            <a:ext cx="1175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5" imgW="851535" imgH="394335" progId="Equation.DSMT4">
                    <p:embed/>
                  </p:oleObj>
                </mc:Choice>
                <mc:Fallback>
                  <p:oleObj name="" r:id="rId5" imgW="851535" imgH="394335" progId="Equation.DSMT4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41" y="317"/>
                          <a:ext cx="1175" cy="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5" name="矩形 16394"/>
          <p:cNvSpPr/>
          <p:nvPr/>
        </p:nvSpPr>
        <p:spPr>
          <a:xfrm>
            <a:off x="323850" y="3575050"/>
            <a:ext cx="8351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2</a:t>
            </a:r>
            <a:r>
              <a:rPr lang="zh-CN" altLang="en-US" sz="2400">
                <a:latin typeface="Arial" panose="020B0604020202020204" pitchFamily="34" charset="0"/>
              </a:rPr>
              <a:t>）查找相应的平均随机一致性指标</a:t>
            </a:r>
            <a:r>
              <a:rPr lang="en-US" altLang="zh-CN" sz="2400">
                <a:latin typeface="Arial" panose="020B0604020202020204" pitchFamily="34" charset="0"/>
              </a:rPr>
              <a:t>RI</a:t>
            </a: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random index</a:t>
            </a:r>
            <a:r>
              <a:rPr lang="zh-CN" altLang="en-US" sz="2400">
                <a:latin typeface="Arial" panose="020B0604020202020204" pitchFamily="34" charset="0"/>
              </a:rPr>
              <a:t>）。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16396" name="组合 16395"/>
          <p:cNvGrpSpPr>
            <a:grpSpLocks noChangeAspect="1"/>
          </p:cNvGrpSpPr>
          <p:nvPr/>
        </p:nvGrpSpPr>
        <p:grpSpPr>
          <a:xfrm>
            <a:off x="1249045" y="4071620"/>
            <a:ext cx="2890838" cy="2376488"/>
            <a:chOff x="0" y="0"/>
            <a:chExt cx="1821" cy="1497"/>
          </a:xfrm>
        </p:grpSpPr>
        <p:graphicFrame>
          <p:nvGraphicFramePr>
            <p:cNvPr id="16397" name="对象 16396"/>
            <p:cNvGraphicFramePr>
              <a:graphicFrameLocks noChangeAspect="1"/>
            </p:cNvGraphicFramePr>
            <p:nvPr/>
          </p:nvGraphicFramePr>
          <p:xfrm>
            <a:off x="234" y="181"/>
            <a:ext cx="1587" cy="1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7" imgW="737870" imgH="1221105" progId="Equation.DSMT4">
                    <p:embed/>
                  </p:oleObj>
                </mc:Choice>
                <mc:Fallback>
                  <p:oleObj name="" r:id="rId7" imgW="737870" imgH="1221105" progId="Equation.DSMT4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4" y="181"/>
                          <a:ext cx="1587" cy="1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8" name="对象 16397"/>
            <p:cNvGraphicFramePr>
              <a:graphicFrameLocks noChangeAspect="1"/>
            </p:cNvGraphicFramePr>
            <p:nvPr/>
          </p:nvGraphicFramePr>
          <p:xfrm>
            <a:off x="415" y="0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9" imgW="153035" imgH="229235" progId="Equation.DSMT4">
                    <p:embed/>
                  </p:oleObj>
                </mc:Choice>
                <mc:Fallback>
                  <p:oleObj name="" r:id="rId9" imgW="153035" imgH="229235" progId="Equation.DSMT4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15" y="0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9" name="对象 16398"/>
            <p:cNvGraphicFramePr>
              <a:graphicFrameLocks noChangeAspect="1"/>
            </p:cNvGraphicFramePr>
            <p:nvPr/>
          </p:nvGraphicFramePr>
          <p:xfrm>
            <a:off x="1361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11" imgW="165735" imgH="229235" progId="Equation.DSMT4">
                    <p:embed/>
                  </p:oleObj>
                </mc:Choice>
                <mc:Fallback>
                  <p:oleObj name="" r:id="rId11" imgW="165735" imgH="229235" progId="Equation.DSMT4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61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0" name="对象 16399"/>
            <p:cNvGraphicFramePr>
              <a:graphicFrameLocks noChangeAspect="1"/>
            </p:cNvGraphicFramePr>
            <p:nvPr/>
          </p:nvGraphicFramePr>
          <p:xfrm>
            <a:off x="907" y="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6" name="" r:id="rId13" imgW="165735" imgH="229235" progId="Equation.DSMT4">
                    <p:embed/>
                  </p:oleObj>
                </mc:Choice>
                <mc:Fallback>
                  <p:oleObj name="" r:id="rId13" imgW="165735" imgH="229235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07" y="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1" name="对象 16400"/>
            <p:cNvGraphicFramePr>
              <a:graphicFrameLocks noChangeAspect="1"/>
            </p:cNvGraphicFramePr>
            <p:nvPr/>
          </p:nvGraphicFramePr>
          <p:xfrm>
            <a:off x="0" y="680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15" imgW="165735" imgH="229235" progId="Equation.DSMT4">
                    <p:embed/>
                  </p:oleObj>
                </mc:Choice>
                <mc:Fallback>
                  <p:oleObj name="" r:id="rId15" imgW="165735" imgH="229235" progId="Equation.DSMT4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0" y="680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对象 16401"/>
            <p:cNvGraphicFramePr>
              <a:graphicFrameLocks noChangeAspect="1"/>
            </p:cNvGraphicFramePr>
            <p:nvPr/>
          </p:nvGraphicFramePr>
          <p:xfrm>
            <a:off x="7" y="317"/>
            <a:ext cx="18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17" imgW="153035" imgH="229235" progId="Equation.DSMT4">
                    <p:embed/>
                  </p:oleObj>
                </mc:Choice>
                <mc:Fallback>
                  <p:oleObj name="" r:id="rId17" imgW="153035" imgH="229235" progId="Equation.DSMT4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" y="317"/>
                          <a:ext cx="18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对象 16402"/>
            <p:cNvGraphicFramePr>
              <a:graphicFrameLocks noChangeAspect="1"/>
            </p:cNvGraphicFramePr>
            <p:nvPr/>
          </p:nvGraphicFramePr>
          <p:xfrm>
            <a:off x="0" y="1134"/>
            <a:ext cx="1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9" imgW="165735" imgH="229235" progId="Equation.DSMT4">
                    <p:embed/>
                  </p:oleObj>
                </mc:Choice>
                <mc:Fallback>
                  <p:oleObj name="" r:id="rId19" imgW="165735" imgH="229235" progId="Equation.DSMT4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0" y="1134"/>
                          <a:ext cx="196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404" name="文本框 16403"/>
          <p:cNvSpPr txBox="1"/>
          <p:nvPr/>
        </p:nvSpPr>
        <p:spPr>
          <a:xfrm>
            <a:off x="231775" y="4991100"/>
            <a:ext cx="793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例如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6405" name="文本框 16404"/>
          <p:cNvSpPr txBox="1"/>
          <p:nvPr/>
        </p:nvSpPr>
        <p:spPr>
          <a:xfrm>
            <a:off x="4067175" y="4295775"/>
            <a:ext cx="20129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>
                <a:latin typeface="Arial" panose="020B0604020202020204" pitchFamily="34" charset="0"/>
              </a:rPr>
              <a:t>其实比较阵就是由</a:t>
            </a:r>
            <a:endParaRPr lang="zh-CN" altLang="en-US" b="1">
              <a:latin typeface="Arial" panose="020B0604020202020204" pitchFamily="34" charset="0"/>
            </a:endParaRPr>
          </a:p>
        </p:txBody>
      </p:sp>
      <p:graphicFrame>
        <p:nvGraphicFramePr>
          <p:cNvPr id="16406" name="对象 16405"/>
          <p:cNvGraphicFramePr>
            <a:graphicFrameLocks noChangeAspect="1"/>
          </p:cNvGraphicFramePr>
          <p:nvPr/>
        </p:nvGraphicFramePr>
        <p:xfrm>
          <a:off x="6011863" y="4354513"/>
          <a:ext cx="11874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21" imgW="647700" imgH="203200" progId="Equation.DSMT4">
                  <p:embed/>
                </p:oleObj>
              </mc:Choice>
              <mc:Fallback>
                <p:oleObj name="" r:id="rId21" imgW="647700" imgH="2032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011863" y="4354513"/>
                        <a:ext cx="1187450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对象 16406"/>
          <p:cNvGraphicFramePr>
            <a:graphicFrameLocks noChangeAspect="1"/>
          </p:cNvGraphicFramePr>
          <p:nvPr/>
        </p:nvGraphicFramePr>
        <p:xfrm>
          <a:off x="7308850" y="4224338"/>
          <a:ext cx="1663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23" imgW="737235" imgH="394335" progId="Equation.DSMT4">
                  <p:embed/>
                </p:oleObj>
              </mc:Choice>
              <mc:Fallback>
                <p:oleObj name="" r:id="rId23" imgW="737235" imgH="394335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08850" y="4224338"/>
                        <a:ext cx="1663700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文本框 16407"/>
          <p:cNvSpPr txBox="1"/>
          <p:nvPr/>
        </p:nvSpPr>
        <p:spPr>
          <a:xfrm>
            <a:off x="4140200" y="4792663"/>
            <a:ext cx="5264150" cy="18764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>
                <a:latin typeface="Arial" panose="020B0604020202020204" pitchFamily="34" charset="0"/>
              </a:rPr>
              <a:t>作为元素的矩阵，我们可以用排列组合的方法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将所有的可能矩阵全部找到。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它们这些三阶阵构成一个样本空间（集合）。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算出每个矩阵的最大特征值，再取平均值，得</a:t>
            </a:r>
            <a:endParaRPr lang="zh-CN" altLang="en-US" b="1">
              <a:latin typeface="Arial" panose="020B0604020202020204" pitchFamily="34" charset="0"/>
            </a:endParaRPr>
          </a:p>
          <a:p>
            <a:endParaRPr lang="zh-CN" altLang="en-US" sz="900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到         。再计算                我们认为若                   </a:t>
            </a:r>
            <a:endParaRPr lang="zh-CN" altLang="en-US" b="1">
              <a:latin typeface="Arial" panose="020B0604020202020204" pitchFamily="34" charset="0"/>
            </a:endParaRPr>
          </a:p>
          <a:p>
            <a:r>
              <a:rPr lang="zh-CN" altLang="en-US" b="1">
                <a:latin typeface="Arial" panose="020B0604020202020204" pitchFamily="34" charset="0"/>
              </a:rPr>
              <a:t>就说    的不一致程度是可接受的。</a:t>
            </a:r>
            <a:endParaRPr lang="zh-CN" altLang="en-US" b="1">
              <a:latin typeface="Arial" panose="020B0604020202020204" pitchFamily="34" charset="0"/>
            </a:endParaRPr>
          </a:p>
        </p:txBody>
      </p:sp>
      <p:graphicFrame>
        <p:nvGraphicFramePr>
          <p:cNvPr id="16409" name="对象 16408"/>
          <p:cNvGraphicFramePr>
            <a:graphicFrameLocks noChangeAspect="1"/>
          </p:cNvGraphicFramePr>
          <p:nvPr/>
        </p:nvGraphicFramePr>
        <p:xfrm>
          <a:off x="7273925" y="5087938"/>
          <a:ext cx="13303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25" imgW="788670" imgH="228600" progId="Equation.DSMT4">
                  <p:embed/>
                </p:oleObj>
              </mc:Choice>
              <mc:Fallback>
                <p:oleObj name="" r:id="rId25" imgW="788670" imgH="2286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273925" y="5087938"/>
                        <a:ext cx="1330325" cy="385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0" name="对象 16409"/>
          <p:cNvGraphicFramePr>
            <a:graphicFrameLocks noChangeAspect="1"/>
          </p:cNvGraphicFramePr>
          <p:nvPr/>
        </p:nvGraphicFramePr>
        <p:xfrm>
          <a:off x="4500563" y="6022975"/>
          <a:ext cx="5762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27" imgW="280670" imgH="229235" progId="Equation.DSMT4">
                  <p:embed/>
                </p:oleObj>
              </mc:Choice>
              <mc:Fallback>
                <p:oleObj name="" r:id="rId27" imgW="280670" imgH="229235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500563" y="6022975"/>
                        <a:ext cx="576262" cy="360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对象 16410"/>
          <p:cNvGraphicFramePr>
            <a:graphicFrameLocks noChangeAspect="1"/>
          </p:cNvGraphicFramePr>
          <p:nvPr/>
        </p:nvGraphicFramePr>
        <p:xfrm>
          <a:off x="8115300" y="5949950"/>
          <a:ext cx="89693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29" imgW="711835" imgH="394335" progId="Equation.DSMT4">
                  <p:embed/>
                </p:oleObj>
              </mc:Choice>
              <mc:Fallback>
                <p:oleObj name="" r:id="rId29" imgW="711835" imgH="394335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115300" y="5949950"/>
                        <a:ext cx="896938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对象 16411"/>
          <p:cNvGraphicFramePr>
            <a:graphicFrameLocks noChangeAspect="1"/>
          </p:cNvGraphicFramePr>
          <p:nvPr/>
        </p:nvGraphicFramePr>
        <p:xfrm>
          <a:off x="4716463" y="6308725"/>
          <a:ext cx="276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1" imgW="153035" imgH="165735" progId="Equation.DSMT4">
                  <p:embed/>
                </p:oleObj>
              </mc:Choice>
              <mc:Fallback>
                <p:oleObj name="" r:id="rId31" imgW="153035" imgH="165735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16463" y="6308725"/>
                        <a:ext cx="276225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3" name="文本框 16412"/>
          <p:cNvSpPr txBox="1"/>
          <p:nvPr/>
        </p:nvSpPr>
        <p:spPr>
          <a:xfrm>
            <a:off x="376238" y="668338"/>
            <a:ext cx="265588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 b="1">
                <a:latin typeface="Arial" panose="020B0604020202020204" pitchFamily="34" charset="0"/>
              </a:rPr>
              <a:t>步骤</a:t>
            </a:r>
            <a:r>
              <a:rPr lang="en-US" altLang="zh-CN" sz="2400" b="1">
                <a:latin typeface="Arial" panose="020B0604020202020204" pitchFamily="34" charset="0"/>
              </a:rPr>
              <a:t>3  </a:t>
            </a:r>
            <a:r>
              <a:rPr lang="zh-CN" altLang="en-US" sz="2400" b="1">
                <a:latin typeface="Arial" panose="020B0604020202020204" pitchFamily="34" charset="0"/>
              </a:rPr>
              <a:t>一致性检验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aphicFrame>
        <p:nvGraphicFramePr>
          <p:cNvPr id="16414" name="对象 16413"/>
          <p:cNvGraphicFramePr>
            <a:graphicFrameLocks noChangeAspect="1"/>
          </p:cNvGraphicFramePr>
          <p:nvPr/>
        </p:nvGraphicFramePr>
        <p:xfrm>
          <a:off x="5940425" y="6064250"/>
          <a:ext cx="10223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32" imgW="571500" imgH="177800" progId="Equation.DSMT4">
                  <p:embed/>
                </p:oleObj>
              </mc:Choice>
              <mc:Fallback>
                <p:oleObj name="" r:id="rId32" imgW="571500" imgH="1778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40425" y="6064250"/>
                        <a:ext cx="102235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3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直接连接符 1740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7412" name="组合 17411"/>
          <p:cNvGrpSpPr/>
          <p:nvPr/>
        </p:nvGrpSpPr>
        <p:grpSpPr>
          <a:xfrm>
            <a:off x="303213" y="784225"/>
            <a:ext cx="8561387" cy="3382963"/>
            <a:chOff x="0" y="0"/>
            <a:chExt cx="5393" cy="2131"/>
          </a:xfrm>
        </p:grpSpPr>
        <p:sp>
          <p:nvSpPr>
            <p:cNvPr id="17413" name="文本框 17412"/>
            <p:cNvSpPr txBox="1"/>
            <p:nvPr/>
          </p:nvSpPr>
          <p:spPr>
            <a:xfrm>
              <a:off x="0" y="0"/>
              <a:ext cx="5393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   </a:t>
              </a:r>
              <a:r>
                <a:rPr lang="zh-CN" altLang="en-US" sz="2400">
                  <a:latin typeface="Arial" panose="020B0604020202020204" pitchFamily="34" charset="0"/>
                </a:rPr>
                <a:t>但是对于阶数比较高的矩阵集，求出其全部样本点工作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量是非常大的，我们只要在这个集合中取机抽取出足够多的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样本点（如</a:t>
              </a:r>
              <a:r>
                <a:rPr lang="en-US" altLang="zh-CN" sz="2400">
                  <a:latin typeface="Arial" panose="020B0604020202020204" pitchFamily="34" charset="0"/>
                </a:rPr>
                <a:t>500</a:t>
              </a:r>
              <a:r>
                <a:rPr lang="zh-CN" altLang="en-US" sz="2400">
                  <a:latin typeface="Arial" panose="020B0604020202020204" pitchFamily="34" charset="0"/>
                </a:rPr>
                <a:t>个），用这些样本点来计算出       的一个近似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值来代替         。可以证明当抽取出的样本点的个数足够大时，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两者的值是非常接近的。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   所以平均一致性指标是这样得到的：对于固定的   ，随机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构造成对比较阵              。从中取充分大的子样得到         </a:t>
              </a:r>
              <a:r>
                <a:rPr lang="en-US" altLang="zh-CN" sz="2400">
                  <a:latin typeface="Arial" panose="020B0604020202020204" pitchFamily="34" charset="0"/>
                </a:rPr>
                <a:t>,</a:t>
              </a:r>
              <a:r>
                <a:rPr lang="zh-CN" altLang="en-US" sz="2400">
                  <a:latin typeface="Arial" panose="020B0604020202020204" pitchFamily="34" charset="0"/>
                </a:rPr>
                <a:t>并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定义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7414" name="对象 17413"/>
            <p:cNvGraphicFramePr>
              <a:graphicFrameLocks noChangeAspect="1"/>
            </p:cNvGraphicFramePr>
            <p:nvPr/>
          </p:nvGraphicFramePr>
          <p:xfrm>
            <a:off x="3823" y="464"/>
            <a:ext cx="36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3" name="" r:id="rId1" imgW="280670" imgH="229235" progId="Equation.DSMT4">
                    <p:embed/>
                  </p:oleObj>
                </mc:Choice>
                <mc:Fallback>
                  <p:oleObj name="" r:id="rId1" imgW="280670" imgH="229235" progId="Equation.DSMT4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23" y="464"/>
                          <a:ext cx="360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对象 17414"/>
            <p:cNvGraphicFramePr>
              <a:graphicFrameLocks noChangeAspect="1"/>
            </p:cNvGraphicFramePr>
            <p:nvPr/>
          </p:nvGraphicFramePr>
          <p:xfrm>
            <a:off x="875" y="713"/>
            <a:ext cx="36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7" name="" r:id="rId3" imgW="280670" imgH="229235" progId="Equation.DSMT4">
                    <p:embed/>
                  </p:oleObj>
                </mc:Choice>
                <mc:Fallback>
                  <p:oleObj name="" r:id="rId3" imgW="280670" imgH="229235" progId="Equation.DSMT4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75" y="713"/>
                          <a:ext cx="360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6" name="对象 17415"/>
            <p:cNvGraphicFramePr>
              <a:graphicFrameLocks noChangeAspect="1"/>
            </p:cNvGraphicFramePr>
            <p:nvPr/>
          </p:nvGraphicFramePr>
          <p:xfrm>
            <a:off x="4458" y="1212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name="" r:id="rId5" imgW="127635" imgH="140335" progId="Equation.DSMT4">
                    <p:embed/>
                  </p:oleObj>
                </mc:Choice>
                <mc:Fallback>
                  <p:oleObj name="" r:id="rId5" imgW="127635" imgH="140335" progId="Equation.DSMT4">
                    <p:embed/>
                    <p:pic>
                      <p:nvPicPr>
                        <p:cNvPr id="0" name="图片 315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458" y="1212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7" name="对象 17416"/>
            <p:cNvGraphicFramePr>
              <a:graphicFrameLocks noChangeAspect="1"/>
            </p:cNvGraphicFramePr>
            <p:nvPr/>
          </p:nvGraphicFramePr>
          <p:xfrm>
            <a:off x="1405" y="1394"/>
            <a:ext cx="74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7" imgW="622935" imgH="241300" progId="Equation.DSMT4">
                    <p:embed/>
                  </p:oleObj>
                </mc:Choice>
                <mc:Fallback>
                  <p:oleObj name="" r:id="rId7" imgW="622935" imgH="241300" progId="Equation.DSMT4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5" y="1394"/>
                          <a:ext cx="740" cy="2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8" name="对象 17417"/>
            <p:cNvGraphicFramePr>
              <a:graphicFrameLocks noChangeAspect="1"/>
            </p:cNvGraphicFramePr>
            <p:nvPr/>
          </p:nvGraphicFramePr>
          <p:xfrm>
            <a:off x="4506" y="1394"/>
            <a:ext cx="36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9" imgW="280670" imgH="229235" progId="Equation.DSMT4">
                    <p:embed/>
                  </p:oleObj>
                </mc:Choice>
                <mc:Fallback>
                  <p:oleObj name="" r:id="rId9" imgW="280670" imgH="229235" progId="Equation.DSMT4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06" y="1394"/>
                          <a:ext cx="360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对象 17418"/>
            <p:cNvGraphicFramePr>
              <a:graphicFrameLocks noChangeAspect="1"/>
            </p:cNvGraphicFramePr>
            <p:nvPr/>
          </p:nvGraphicFramePr>
          <p:xfrm>
            <a:off x="2099" y="1711"/>
            <a:ext cx="908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10" imgW="851535" imgH="394335" progId="Equation.DSMT4">
                    <p:embed/>
                  </p:oleObj>
                </mc:Choice>
                <mc:Fallback>
                  <p:oleObj name="" r:id="rId10" imgW="851535" imgH="394335" progId="Equation.DSMT4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099" y="1711"/>
                          <a:ext cx="908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20" name="文本框 17419"/>
          <p:cNvSpPr txBox="1"/>
          <p:nvPr/>
        </p:nvSpPr>
        <p:spPr>
          <a:xfrm>
            <a:off x="592138" y="4240213"/>
            <a:ext cx="62817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下面给出随机一致性指标表：（随机取</a:t>
            </a:r>
            <a:r>
              <a:rPr lang="en-US" altLang="zh-CN" sz="2400">
                <a:latin typeface="Arial" panose="020B0604020202020204" pitchFamily="34" charset="0"/>
              </a:rPr>
              <a:t>500</a:t>
            </a:r>
            <a:r>
              <a:rPr lang="zh-CN" altLang="en-US" sz="2400">
                <a:latin typeface="Arial" panose="020B0604020202020204" pitchFamily="34" charset="0"/>
              </a:rPr>
              <a:t>个</a:t>
            </a:r>
            <a:r>
              <a:rPr lang="en-US" altLang="zh-CN" sz="2400">
                <a:latin typeface="Arial" panose="020B0604020202020204" pitchFamily="34" charset="0"/>
              </a:rPr>
              <a:t>)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aphicFrame>
        <p:nvGraphicFramePr>
          <p:cNvPr id="17421" name="表格 17420"/>
          <p:cNvGraphicFramePr/>
          <p:nvPr>
            <p:custDataLst>
              <p:tags r:id="rId12"/>
            </p:custDataLst>
          </p:nvPr>
        </p:nvGraphicFramePr>
        <p:xfrm>
          <a:off x="395288" y="4724400"/>
          <a:ext cx="8497888" cy="793750"/>
        </p:xfrm>
        <a:graphic>
          <a:graphicData uri="http://schemas.openxmlformats.org/drawingml/2006/table">
            <a:tbl>
              <a:tblPr/>
              <a:tblGrid>
                <a:gridCol w="849313"/>
                <a:gridCol w="850900"/>
                <a:gridCol w="849312"/>
                <a:gridCol w="849313"/>
                <a:gridCol w="850900"/>
                <a:gridCol w="849312"/>
                <a:gridCol w="849313"/>
                <a:gridCol w="849312"/>
                <a:gridCol w="850900"/>
                <a:gridCol w="849313"/>
              </a:tblGrid>
              <a:tr h="3968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endParaRPr lang="zh-CN" altLang="en-US" sz="2000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2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3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4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5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6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7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8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9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RI</a:t>
                      </a:r>
                      <a:endParaRPr lang="zh-CN" altLang="en-US" sz="2000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0.58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0.90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1.12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1.24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1.32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1.41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 sz="2000"/>
                        <a:t>1.45</a:t>
                      </a:r>
                      <a:endParaRPr lang="zh-CN" altLang="en-US" sz="2000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7456" name="对象 17455"/>
          <p:cNvGraphicFramePr>
            <a:graphicFrameLocks noChangeAspect="1"/>
          </p:cNvGraphicFramePr>
          <p:nvPr/>
        </p:nvGraphicFramePr>
        <p:xfrm>
          <a:off x="684213" y="4797425"/>
          <a:ext cx="2635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3" imgW="127635" imgH="140335" progId="Equation.DSMT4">
                  <p:embed/>
                </p:oleObj>
              </mc:Choice>
              <mc:Fallback>
                <p:oleObj name="" r:id="rId13" imgW="127635" imgH="140335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4213" y="4797425"/>
                        <a:ext cx="263525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7" name="文本框 17456"/>
          <p:cNvSpPr txBox="1"/>
          <p:nvPr/>
        </p:nvSpPr>
        <p:spPr>
          <a:xfrm>
            <a:off x="539750" y="5661025"/>
            <a:ext cx="8140700" cy="8223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sz="2400">
                <a:latin typeface="Arial" panose="020B0604020202020204" pitchFamily="34" charset="0"/>
              </a:rPr>
              <a:t>    </a:t>
            </a:r>
            <a:r>
              <a:rPr lang="zh-CN" altLang="en-US" sz="2400">
                <a:latin typeface="Arial" panose="020B0604020202020204" pitchFamily="34" charset="0"/>
              </a:rPr>
              <a:t>大家完全可以把这个结果像数学用表那样去查，这就省去</a:t>
            </a:r>
            <a:endParaRPr lang="zh-CN" altLang="en-US" sz="2400">
              <a:latin typeface="Arial" panose="020B0604020202020204" pitchFamily="34" charset="0"/>
            </a:endParaRPr>
          </a:p>
          <a:p>
            <a:r>
              <a:rPr lang="zh-CN" altLang="en-US" sz="2400">
                <a:latin typeface="Arial" panose="020B0604020202020204" pitchFamily="34" charset="0"/>
              </a:rPr>
              <a:t>了我们求子样中成对比较矩阵的最大特征值的平均值了。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7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17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0" grpId="0"/>
      <p:bldP spid="174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直接连接符 1843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8436" name="组合 18435"/>
          <p:cNvGrpSpPr/>
          <p:nvPr/>
        </p:nvGrpSpPr>
        <p:grpSpPr>
          <a:xfrm>
            <a:off x="447675" y="1093788"/>
            <a:ext cx="8624888" cy="2119312"/>
            <a:chOff x="0" y="0"/>
            <a:chExt cx="5433" cy="1335"/>
          </a:xfrm>
        </p:grpSpPr>
        <p:sp>
          <p:nvSpPr>
            <p:cNvPr id="18437" name="文本框 18436"/>
            <p:cNvSpPr txBox="1"/>
            <p:nvPr/>
          </p:nvSpPr>
          <p:spPr>
            <a:xfrm>
              <a:off x="0" y="0"/>
              <a:ext cx="39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3</a:t>
              </a:r>
              <a:r>
                <a:rPr lang="zh-CN" altLang="en-US" sz="2400">
                  <a:latin typeface="Arial" panose="020B0604020202020204" pitchFamily="34" charset="0"/>
                </a:rPr>
                <a:t>）计算一致性比例</a:t>
              </a:r>
              <a:r>
                <a:rPr lang="en-US" altLang="zh-CN" sz="2400">
                  <a:latin typeface="Arial" panose="020B0604020202020204" pitchFamily="34" charset="0"/>
                </a:rPr>
                <a:t>CR</a:t>
              </a:r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consistency ratio)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8438" name="对象 18437"/>
            <p:cNvGraphicFramePr>
              <a:graphicFrameLocks noChangeAspect="1"/>
            </p:cNvGraphicFramePr>
            <p:nvPr/>
          </p:nvGraphicFramePr>
          <p:xfrm>
            <a:off x="2054" y="260"/>
            <a:ext cx="725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1" imgW="584835" imgH="394335" progId="Equation.DSMT4">
                    <p:embed/>
                  </p:oleObj>
                </mc:Choice>
                <mc:Fallback>
                  <p:oleObj name="" r:id="rId1" imgW="584835" imgH="394335" progId="Equation.DSMT4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54" y="260"/>
                          <a:ext cx="725" cy="4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9" name="文本框 18438"/>
            <p:cNvSpPr txBox="1"/>
            <p:nvPr/>
          </p:nvSpPr>
          <p:spPr>
            <a:xfrm>
              <a:off x="0" y="817"/>
              <a:ext cx="5433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结论：当             时，认为矩阵    的不一致性是可以接受的，当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         时，则应修改比较阵     直至达到可接受为止。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8440" name="对象 18439"/>
            <p:cNvGraphicFramePr>
              <a:graphicFrameLocks noChangeAspect="1"/>
            </p:cNvGraphicFramePr>
            <p:nvPr/>
          </p:nvGraphicFramePr>
          <p:xfrm>
            <a:off x="874" y="879"/>
            <a:ext cx="634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1" name="" r:id="rId3" imgW="571500" imgH="177800" progId="Equation.DSMT4">
                    <p:embed/>
                  </p:oleObj>
                </mc:Choice>
                <mc:Fallback>
                  <p:oleObj name="" r:id="rId3" imgW="571500" imgH="177800" progId="Equation.DSMT4">
                    <p:embed/>
                    <p:pic>
                      <p:nvPicPr>
                        <p:cNvPr id="0" name="图片 316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74" y="879"/>
                          <a:ext cx="634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1" name="对象 18440"/>
            <p:cNvGraphicFramePr>
              <a:graphicFrameLocks noChangeAspect="1"/>
            </p:cNvGraphicFramePr>
            <p:nvPr/>
          </p:nvGraphicFramePr>
          <p:xfrm>
            <a:off x="103" y="1106"/>
            <a:ext cx="636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5" imgW="571500" imgH="177800" progId="Equation.DSMT4">
                    <p:embed/>
                  </p:oleObj>
                </mc:Choice>
                <mc:Fallback>
                  <p:oleObj name="" r:id="rId5" imgW="571500" imgH="1778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3" y="1106"/>
                          <a:ext cx="636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2" name="对象 18441"/>
            <p:cNvGraphicFramePr>
              <a:graphicFrameLocks noChangeAspect="1"/>
            </p:cNvGraphicFramePr>
            <p:nvPr/>
          </p:nvGraphicFramePr>
          <p:xfrm>
            <a:off x="2689" y="850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4" name="" r:id="rId7" imgW="153035" imgH="165735" progId="Equation.DSMT4">
                    <p:embed/>
                  </p:oleObj>
                </mc:Choice>
                <mc:Fallback>
                  <p:oleObj name="" r:id="rId7" imgW="153035" imgH="165735" progId="Equation.DSMT4">
                    <p:embed/>
                    <p:pic>
                      <p:nvPicPr>
                        <p:cNvPr id="0" name="图片 316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89" y="850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3" name="对象 18442"/>
            <p:cNvGraphicFramePr>
              <a:graphicFrameLocks noChangeAspect="1"/>
            </p:cNvGraphicFramePr>
            <p:nvPr/>
          </p:nvGraphicFramePr>
          <p:xfrm>
            <a:off x="2507" y="1077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5" name="" r:id="rId9" imgW="153035" imgH="165735" progId="Equation.DSMT4">
                    <p:embed/>
                  </p:oleObj>
                </mc:Choice>
                <mc:Fallback>
                  <p:oleObj name="" r:id="rId9" imgW="153035" imgH="165735" progId="Equation.DSMT4">
                    <p:embed/>
                    <p:pic>
                      <p:nvPicPr>
                        <p:cNvPr id="0" name="图片 316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507" y="1077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直接连接符 1945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60" name="文本框 19459"/>
          <p:cNvSpPr txBox="1"/>
          <p:nvPr/>
        </p:nvSpPr>
        <p:spPr>
          <a:xfrm>
            <a:off x="231775" y="955675"/>
            <a:ext cx="296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步骤</a:t>
            </a:r>
            <a:r>
              <a:rPr lang="en-US" altLang="zh-CN" sz="2400">
                <a:latin typeface="Arial" panose="020B0604020202020204" pitchFamily="34" charset="0"/>
              </a:rPr>
              <a:t>4  </a:t>
            </a:r>
            <a:r>
              <a:rPr lang="zh-CN" altLang="en-US" sz="2400">
                <a:latin typeface="Arial" panose="020B0604020202020204" pitchFamily="34" charset="0"/>
              </a:rPr>
              <a:t>计算权重向量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19461" name="组合 19460"/>
          <p:cNvGrpSpPr/>
          <p:nvPr/>
        </p:nvGrpSpPr>
        <p:grpSpPr>
          <a:xfrm>
            <a:off x="395288" y="1665288"/>
            <a:ext cx="8308975" cy="1187450"/>
            <a:chOff x="0" y="0"/>
            <a:chExt cx="5234" cy="748"/>
          </a:xfrm>
        </p:grpSpPr>
        <p:sp>
          <p:nvSpPr>
            <p:cNvPr id="19462" name="文本框 19461"/>
            <p:cNvSpPr txBox="1"/>
            <p:nvPr/>
          </p:nvSpPr>
          <p:spPr>
            <a:xfrm>
              <a:off x="0" y="0"/>
              <a:ext cx="5234" cy="74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当我们构造出了可接受的成对比较阵                ，我们就可以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计算此层中   个因素在目标   中所占的比重，将这些比重写成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向量并归一化即得权向量                          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9463" name="对象 19462"/>
            <p:cNvGraphicFramePr>
              <a:graphicFrameLocks noChangeAspect="1"/>
            </p:cNvGraphicFramePr>
            <p:nvPr/>
          </p:nvGraphicFramePr>
          <p:xfrm>
            <a:off x="3130" y="0"/>
            <a:ext cx="81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9" name="" r:id="rId1" imgW="699135" imgH="241300" progId="Equation.DSMT4">
                    <p:embed/>
                  </p:oleObj>
                </mc:Choice>
                <mc:Fallback>
                  <p:oleObj name="" r:id="rId1" imgW="699135" imgH="241300" progId="Equation.DSMT4">
                    <p:embed/>
                    <p:pic>
                      <p:nvPicPr>
                        <p:cNvPr id="0" name="图片 316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30" y="0"/>
                          <a:ext cx="810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4" name="对象 19463"/>
            <p:cNvGraphicFramePr>
              <a:graphicFrameLocks noChangeAspect="1"/>
            </p:cNvGraphicFramePr>
            <p:nvPr/>
          </p:nvGraphicFramePr>
          <p:xfrm>
            <a:off x="1016" y="273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3" imgW="127635" imgH="140335" progId="Equation.DSMT4">
                    <p:embed/>
                  </p:oleObj>
                </mc:Choice>
                <mc:Fallback>
                  <p:oleObj name="" r:id="rId3" imgW="127635" imgH="140335" progId="Equation.DSMT4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16" y="273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对象 19464"/>
            <p:cNvGraphicFramePr>
              <a:graphicFrameLocks noChangeAspect="1"/>
            </p:cNvGraphicFramePr>
            <p:nvPr/>
          </p:nvGraphicFramePr>
          <p:xfrm>
            <a:off x="2313" y="272"/>
            <a:ext cx="182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5" imgW="127635" imgH="127635" progId="Equation.DSMT4">
                    <p:embed/>
                  </p:oleObj>
                </mc:Choice>
                <mc:Fallback>
                  <p:oleObj name="" r:id="rId5" imgW="127635" imgH="127635" progId="Equation.DSMT4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13" y="272"/>
                          <a:ext cx="182" cy="1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对象 19465"/>
            <p:cNvGraphicFramePr>
              <a:graphicFrameLocks noChangeAspect="1"/>
            </p:cNvGraphicFramePr>
            <p:nvPr/>
          </p:nvGraphicFramePr>
          <p:xfrm>
            <a:off x="2223" y="499"/>
            <a:ext cx="127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3" name="" r:id="rId7" imgW="1271270" imgH="241300" progId="Equation.DSMT4">
                    <p:embed/>
                  </p:oleObj>
                </mc:Choice>
                <mc:Fallback>
                  <p:oleObj name="" r:id="rId7" imgW="1271270" imgH="241300" progId="Equation.DSMT4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23" y="499"/>
                          <a:ext cx="1270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467" name="组合 19466"/>
          <p:cNvGrpSpPr/>
          <p:nvPr/>
        </p:nvGrpSpPr>
        <p:grpSpPr>
          <a:xfrm>
            <a:off x="107950" y="3294063"/>
            <a:ext cx="8966200" cy="2511425"/>
            <a:chOff x="0" y="0"/>
            <a:chExt cx="5648" cy="1582"/>
          </a:xfrm>
        </p:grpSpPr>
        <p:sp>
          <p:nvSpPr>
            <p:cNvPr id="19468" name="文本框 19467"/>
            <p:cNvSpPr txBox="1"/>
            <p:nvPr/>
          </p:nvSpPr>
          <p:spPr>
            <a:xfrm>
              <a:off x="0" y="0"/>
              <a:ext cx="242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下面是权向量的几种求法：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469" name="文本框 19468"/>
            <p:cNvSpPr txBox="1"/>
            <p:nvPr/>
          </p:nvSpPr>
          <p:spPr>
            <a:xfrm>
              <a:off x="214" y="374"/>
              <a:ext cx="5434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1</a:t>
              </a:r>
              <a:r>
                <a:rPr lang="zh-CN" altLang="en-US" sz="2400">
                  <a:latin typeface="Arial" panose="020B0604020202020204" pitchFamily="34" charset="0"/>
                </a:rPr>
                <a:t>）和法：取成对比较阵               的   个行向量归一化后的算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术平均值近似作为权向量。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（</a:t>
              </a:r>
              <a:r>
                <a:rPr lang="en-US" altLang="zh-CN" sz="2400">
                  <a:latin typeface="Arial" panose="020B0604020202020204" pitchFamily="34" charset="0"/>
                </a:rPr>
                <a:t>2</a:t>
              </a:r>
              <a:r>
                <a:rPr lang="zh-CN" altLang="en-US" sz="2400">
                  <a:latin typeface="Arial" panose="020B0604020202020204" pitchFamily="34" charset="0"/>
                </a:rPr>
                <a:t>）</a:t>
              </a:r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特征值法：</a:t>
              </a:r>
              <a:r>
                <a:rPr lang="zh-CN" altLang="en-US" sz="2400">
                  <a:latin typeface="Arial" panose="020B0604020202020204" pitchFamily="34" charset="0"/>
                </a:rPr>
                <a:t>求矩阵               的最大大特征值所对应的向量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并进行归一化即可作为权向量（这是一种精确的方法）。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    此外还有根法、最小二乘法等。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19470" name="对象 19469"/>
            <p:cNvGraphicFramePr>
              <a:graphicFrameLocks noChangeAspect="1"/>
            </p:cNvGraphicFramePr>
            <p:nvPr/>
          </p:nvGraphicFramePr>
          <p:xfrm>
            <a:off x="2456" y="400"/>
            <a:ext cx="81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" name="" r:id="rId9" imgW="699135" imgH="241300" progId="Equation.DSMT4">
                    <p:embed/>
                  </p:oleObj>
                </mc:Choice>
                <mc:Fallback>
                  <p:oleObj name="" r:id="rId9" imgW="699135" imgH="241300" progId="Equation.DSMT4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56" y="400"/>
                          <a:ext cx="810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对象 19470"/>
            <p:cNvGraphicFramePr>
              <a:graphicFrameLocks noChangeAspect="1"/>
            </p:cNvGraphicFramePr>
            <p:nvPr/>
          </p:nvGraphicFramePr>
          <p:xfrm>
            <a:off x="2274" y="854"/>
            <a:ext cx="810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" name="" r:id="rId11" imgW="699135" imgH="241300" progId="Equation.DSMT4">
                    <p:embed/>
                  </p:oleObj>
                </mc:Choice>
                <mc:Fallback>
                  <p:oleObj name="" r:id="rId11" imgW="699135" imgH="241300" progId="Equation.DSMT4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74" y="854"/>
                          <a:ext cx="810" cy="2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2" name="对象 19471"/>
            <p:cNvGraphicFramePr>
              <a:graphicFrameLocks noChangeAspect="1"/>
            </p:cNvGraphicFramePr>
            <p:nvPr/>
          </p:nvGraphicFramePr>
          <p:xfrm>
            <a:off x="3464" y="453"/>
            <a:ext cx="164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" name="" r:id="rId12" imgW="127635" imgH="140335" progId="Equation.DSMT4">
                    <p:embed/>
                  </p:oleObj>
                </mc:Choice>
                <mc:Fallback>
                  <p:oleObj name="" r:id="rId12" imgW="127635" imgH="140335" progId="Equation.DSMT4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464" y="453"/>
                          <a:ext cx="164" cy="1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9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直接连接符 2048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4" name="文本框 20483"/>
          <p:cNvSpPr txBox="1"/>
          <p:nvPr/>
        </p:nvSpPr>
        <p:spPr>
          <a:xfrm>
            <a:off x="323850" y="855663"/>
            <a:ext cx="57308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 b="1">
                <a:latin typeface="Arial" panose="020B0604020202020204" pitchFamily="34" charset="0"/>
              </a:rPr>
              <a:t>步骤</a:t>
            </a:r>
            <a:r>
              <a:rPr lang="en-US" altLang="zh-CN" sz="2400" b="1">
                <a:latin typeface="Arial" panose="020B0604020202020204" pitchFamily="34" charset="0"/>
              </a:rPr>
              <a:t>5  </a:t>
            </a:r>
            <a:r>
              <a:rPr lang="zh-CN" altLang="en-US" sz="2400" b="1">
                <a:latin typeface="Arial" panose="020B0604020202020204" pitchFamily="34" charset="0"/>
              </a:rPr>
              <a:t>层次总排序即求各方案的综合得分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pSp>
        <p:nvGrpSpPr>
          <p:cNvPr id="20485" name="组合 20484"/>
          <p:cNvGrpSpPr/>
          <p:nvPr/>
        </p:nvGrpSpPr>
        <p:grpSpPr>
          <a:xfrm>
            <a:off x="376238" y="1358900"/>
            <a:ext cx="8456612" cy="3540125"/>
            <a:chOff x="0" y="0"/>
            <a:chExt cx="5327" cy="2230"/>
          </a:xfrm>
        </p:grpSpPr>
        <p:sp>
          <p:nvSpPr>
            <p:cNvPr id="20486" name="文本框 20485"/>
            <p:cNvSpPr txBox="1"/>
            <p:nvPr/>
          </p:nvSpPr>
          <p:spPr>
            <a:xfrm>
              <a:off x="0" y="0"/>
              <a:ext cx="5327" cy="12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</a:t>
              </a:r>
              <a:r>
                <a:rPr lang="zh-CN" altLang="en-US" sz="2400">
                  <a:latin typeface="Arial" panose="020B0604020202020204" pitchFamily="34" charset="0"/>
                </a:rPr>
                <a:t>前面我们求的都是在一层中各因素的权重，这个过程称为单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层次排序。不妨设准则层权向量                      ，而方案层有   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个方案可供选择，且每个方案的权向量分别为               。那么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每个方案对最终目标的影响程度                  就可以通过下面的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式子算出来了。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0487" name="对象 20486"/>
            <p:cNvGraphicFramePr>
              <a:graphicFrameLocks noChangeAspect="1"/>
            </p:cNvGraphicFramePr>
            <p:nvPr/>
          </p:nvGraphicFramePr>
          <p:xfrm>
            <a:off x="2734" y="261"/>
            <a:ext cx="127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2" name="" r:id="rId1" imgW="1271270" imgH="241300" progId="Equation.DSMT4">
                    <p:embed/>
                  </p:oleObj>
                </mc:Choice>
                <mc:Fallback>
                  <p:oleObj name="" r:id="rId1" imgW="1271270" imgH="241300" progId="Equation.DSMT4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734" y="261"/>
                          <a:ext cx="1270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对象 20487"/>
            <p:cNvGraphicFramePr>
              <a:graphicFrameLocks noChangeAspect="1"/>
            </p:cNvGraphicFramePr>
            <p:nvPr/>
          </p:nvGraphicFramePr>
          <p:xfrm>
            <a:off x="3958" y="488"/>
            <a:ext cx="743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3" imgW="775335" imgH="228600" progId="Equation.DSMT4">
                    <p:embed/>
                  </p:oleObj>
                </mc:Choice>
                <mc:Fallback>
                  <p:oleObj name="" r:id="rId3" imgW="775335" imgH="228600" progId="Equation.DSMT4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58" y="488"/>
                          <a:ext cx="743" cy="2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对象 20488"/>
            <p:cNvGraphicFramePr>
              <a:graphicFrameLocks noChangeAspect="1"/>
            </p:cNvGraphicFramePr>
            <p:nvPr/>
          </p:nvGraphicFramePr>
          <p:xfrm>
            <a:off x="5109" y="261"/>
            <a:ext cx="11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" name="" r:id="rId5" imgW="88900" imgH="177800" progId="Equation.DSMT4">
                    <p:embed/>
                  </p:oleObj>
                </mc:Choice>
                <mc:Fallback>
                  <p:oleObj name="" r:id="rId5" imgW="88900" imgH="177800" progId="Equation.DSMT4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09" y="261"/>
                          <a:ext cx="119" cy="2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0" name="对象 20489"/>
            <p:cNvGraphicFramePr>
              <a:graphicFrameLocks noChangeAspect="1"/>
            </p:cNvGraphicFramePr>
            <p:nvPr/>
          </p:nvGraphicFramePr>
          <p:xfrm>
            <a:off x="1010" y="1304"/>
            <a:ext cx="3301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7" imgW="3135630" imgH="241300" progId="Equation.DSMT4">
                    <p:embed/>
                  </p:oleObj>
                </mc:Choice>
                <mc:Fallback>
                  <p:oleObj name="" r:id="rId7" imgW="3135630" imgH="241300" progId="Equation.DSMT4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10" y="1304"/>
                          <a:ext cx="3301" cy="2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1" name="对象 20490"/>
            <p:cNvGraphicFramePr>
              <a:graphicFrameLocks noChangeAspect="1"/>
            </p:cNvGraphicFramePr>
            <p:nvPr/>
          </p:nvGraphicFramePr>
          <p:xfrm>
            <a:off x="2734" y="751"/>
            <a:ext cx="93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9" imgW="965835" imgH="241300" progId="Equation.DSMT4">
                    <p:embed/>
                  </p:oleObj>
                </mc:Choice>
                <mc:Fallback>
                  <p:oleObj name="" r:id="rId9" imgW="965835" imgH="241300" progId="Equation.DSMT4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34" y="751"/>
                          <a:ext cx="939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2" name="文本框 20491"/>
            <p:cNvSpPr txBox="1"/>
            <p:nvPr/>
          </p:nvSpPr>
          <p:spPr>
            <a:xfrm>
              <a:off x="12" y="1712"/>
              <a:ext cx="518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en-US" altLang="zh-CN" sz="2400">
                  <a:latin typeface="Arial" panose="020B0604020202020204" pitchFamily="34" charset="0"/>
                </a:rPr>
                <a:t>    </a:t>
              </a:r>
              <a:r>
                <a:rPr lang="zh-CN" altLang="en-US" sz="2400">
                  <a:latin typeface="Arial" panose="020B0604020202020204" pitchFamily="34" charset="0"/>
                </a:rPr>
                <a:t>其中   就是第   个方案在目标   中所占的比重，也就是第   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r>
                <a:rPr lang="zh-CN" altLang="en-US" sz="2400">
                  <a:latin typeface="Arial" panose="020B0604020202020204" pitchFamily="34" charset="0"/>
                </a:rPr>
                <a:t>个方案的最终得分，得分最高的方案即为最优方案。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0493" name="对象 20492"/>
            <p:cNvGraphicFramePr>
              <a:graphicFrameLocks noChangeAspect="1"/>
            </p:cNvGraphicFramePr>
            <p:nvPr/>
          </p:nvGraphicFramePr>
          <p:xfrm>
            <a:off x="647" y="1758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11" imgW="191135" imgH="229235" progId="Equation.DSMT4">
                    <p:embed/>
                  </p:oleObj>
                </mc:Choice>
                <mc:Fallback>
                  <p:oleObj name="" r:id="rId11" imgW="191135" imgH="229235" progId="Equation.DSMT4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47" y="1758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4" name="对象 20493"/>
            <p:cNvGraphicFramePr>
              <a:graphicFrameLocks noChangeAspect="1"/>
            </p:cNvGraphicFramePr>
            <p:nvPr/>
          </p:nvGraphicFramePr>
          <p:xfrm>
            <a:off x="1418" y="175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13" imgW="127635" imgH="178435" progId="Equation.DSMT4">
                    <p:embed/>
                  </p:oleObj>
                </mc:Choice>
                <mc:Fallback>
                  <p:oleObj name="" r:id="rId13" imgW="127635" imgH="178435" progId="Equation.DSMT4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18" y="175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5" name="对象 20494"/>
            <p:cNvGraphicFramePr>
              <a:graphicFrameLocks noChangeAspect="1"/>
            </p:cNvGraphicFramePr>
            <p:nvPr/>
          </p:nvGraphicFramePr>
          <p:xfrm>
            <a:off x="2734" y="1803"/>
            <a:ext cx="131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1" name="" r:id="rId15" imgW="127635" imgH="127635" progId="Equation.DSMT4">
                    <p:embed/>
                  </p:oleObj>
                </mc:Choice>
                <mc:Fallback>
                  <p:oleObj name="" r:id="rId15" imgW="127635" imgH="127635" progId="Equation.DSMT4">
                    <p:embed/>
                    <p:pic>
                      <p:nvPicPr>
                        <p:cNvPr id="0" name="图片 317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34" y="1803"/>
                          <a:ext cx="131" cy="1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6" name="对象 20495"/>
            <p:cNvGraphicFramePr>
              <a:graphicFrameLocks noChangeAspect="1"/>
            </p:cNvGraphicFramePr>
            <p:nvPr/>
          </p:nvGraphicFramePr>
          <p:xfrm>
            <a:off x="5002" y="1758"/>
            <a:ext cx="137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17" imgW="127635" imgH="178435" progId="Equation.DSMT4">
                    <p:embed/>
                  </p:oleObj>
                </mc:Choice>
                <mc:Fallback>
                  <p:oleObj name="" r:id="rId17" imgW="127635" imgH="178435" progId="Equation.DSMT4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02" y="1758"/>
                          <a:ext cx="137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直接连接符 2150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1508" name="图片 215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701800"/>
            <a:ext cx="8964613" cy="5111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文本框 21508"/>
          <p:cNvSpPr txBox="1"/>
          <p:nvPr/>
        </p:nvSpPr>
        <p:spPr>
          <a:xfrm>
            <a:off x="376238" y="784225"/>
            <a:ext cx="31797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层次分析法建模举例   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1510" name="文本框 21509"/>
          <p:cNvSpPr txBox="1"/>
          <p:nvPr/>
        </p:nvSpPr>
        <p:spPr>
          <a:xfrm>
            <a:off x="611188" y="1287463"/>
            <a:ext cx="31099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 b="1">
                <a:solidFill>
                  <a:srgbClr val="FF3300"/>
                </a:solidFill>
                <a:latin typeface="Arial" panose="020B0604020202020204" pitchFamily="34" charset="0"/>
              </a:rPr>
              <a:t>第一步  建立层次结构</a:t>
            </a:r>
            <a:endParaRPr lang="zh-CN" altLang="en-US" sz="2400" b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直接连接符 22529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2532" name="组合 22531"/>
          <p:cNvGrpSpPr/>
          <p:nvPr/>
        </p:nvGrpSpPr>
        <p:grpSpPr>
          <a:xfrm>
            <a:off x="34925" y="855663"/>
            <a:ext cx="8929688" cy="4733925"/>
            <a:chOff x="0" y="0"/>
            <a:chExt cx="5625" cy="2982"/>
          </a:xfrm>
        </p:grpSpPr>
        <p:pic>
          <p:nvPicPr>
            <p:cNvPr id="22533" name="图片 225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730"/>
              <a:ext cx="2837" cy="22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4" name="文本框 22533"/>
            <p:cNvSpPr txBox="1"/>
            <p:nvPr/>
          </p:nvSpPr>
          <p:spPr>
            <a:xfrm>
              <a:off x="227" y="306"/>
              <a:ext cx="48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我们用                表示景色、费用、居住、饮食、旅途。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2535" name="对象 22534"/>
            <p:cNvGraphicFramePr>
              <a:graphicFrameLocks noChangeAspect="1"/>
            </p:cNvGraphicFramePr>
            <p:nvPr/>
          </p:nvGraphicFramePr>
          <p:xfrm>
            <a:off x="862" y="328"/>
            <a:ext cx="861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3" name="" r:id="rId2" imgW="788670" imgH="228600" progId="Equation.DSMT4">
                    <p:embed/>
                  </p:oleObj>
                </mc:Choice>
                <mc:Fallback>
                  <p:oleObj name="" r:id="rId2" imgW="788670" imgH="228600" progId="Equation.DSMT4">
                    <p:embed/>
                    <p:pic>
                      <p:nvPicPr>
                        <p:cNvPr id="0" name="图片 319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62" y="328"/>
                          <a:ext cx="861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6" name="文本框 22535"/>
            <p:cNvSpPr txBox="1"/>
            <p:nvPr/>
          </p:nvSpPr>
          <p:spPr>
            <a:xfrm>
              <a:off x="215" y="0"/>
              <a:ext cx="23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solidFill>
                    <a:srgbClr val="FF3300"/>
                  </a:solidFill>
                  <a:latin typeface="Arial" panose="020B0604020202020204" pitchFamily="34" charset="0"/>
                </a:rPr>
                <a:t>第二步  构造成对比较矩阵</a:t>
              </a:r>
              <a:endParaRPr lang="zh-CN" altLang="en-US" sz="2400">
                <a:solidFill>
                  <a:srgbClr val="FF33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537" name="右箭头 22536"/>
            <p:cNvSpPr/>
            <p:nvPr/>
          </p:nvSpPr>
          <p:spPr>
            <a:xfrm>
              <a:off x="2858" y="1666"/>
              <a:ext cx="181" cy="317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aphicFrame>
          <p:nvGraphicFramePr>
            <p:cNvPr id="22538" name="对象 22537"/>
            <p:cNvGraphicFramePr>
              <a:graphicFrameLocks noChangeAspect="1"/>
            </p:cNvGraphicFramePr>
            <p:nvPr/>
          </p:nvGraphicFramePr>
          <p:xfrm>
            <a:off x="3130" y="805"/>
            <a:ext cx="2495" cy="19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8" name="" r:id="rId4" imgW="1841500" imgH="1473200" progId="Equation.DSMT4">
                    <p:embed/>
                  </p:oleObj>
                </mc:Choice>
                <mc:Fallback>
                  <p:oleObj name="" r:id="rId4" imgW="1841500" imgH="1473200" progId="Equation.DSMT4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130" y="805"/>
                          <a:ext cx="2495" cy="19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直接连接符 2355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3556" name="组合 23555"/>
          <p:cNvGrpSpPr/>
          <p:nvPr/>
        </p:nvGrpSpPr>
        <p:grpSpPr>
          <a:xfrm>
            <a:off x="250825" y="765175"/>
            <a:ext cx="8183563" cy="2400300"/>
            <a:chOff x="0" y="0"/>
            <a:chExt cx="5155" cy="1512"/>
          </a:xfrm>
        </p:grpSpPr>
        <p:sp>
          <p:nvSpPr>
            <p:cNvPr id="23557" name="文本框 23556"/>
            <p:cNvSpPr txBox="1"/>
            <p:nvPr/>
          </p:nvSpPr>
          <p:spPr>
            <a:xfrm>
              <a:off x="182" y="0"/>
              <a:ext cx="14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的最大特征值为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3558" name="组合 23557"/>
            <p:cNvGrpSpPr/>
            <p:nvPr/>
          </p:nvGrpSpPr>
          <p:grpSpPr>
            <a:xfrm>
              <a:off x="0" y="45"/>
              <a:ext cx="5155" cy="1467"/>
              <a:chOff x="0" y="0"/>
              <a:chExt cx="5155" cy="1467"/>
            </a:xfrm>
          </p:grpSpPr>
          <p:graphicFrame>
            <p:nvGraphicFramePr>
              <p:cNvPr id="23559" name="对象 23558"/>
              <p:cNvGraphicFramePr>
                <a:graphicFrameLocks noChangeAspect="1"/>
              </p:cNvGraphicFramePr>
              <p:nvPr/>
            </p:nvGraphicFramePr>
            <p:xfrm>
              <a:off x="49" y="0"/>
              <a:ext cx="215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7" name="" r:id="rId1" imgW="153035" imgH="165735" progId="Equation.DSMT4">
                      <p:embed/>
                    </p:oleObj>
                  </mc:Choice>
                  <mc:Fallback>
                    <p:oleObj name="" r:id="rId1" imgW="153035" imgH="165735" progId="Equation.DSMT4">
                      <p:embed/>
                      <p:pic>
                        <p:nvPicPr>
                          <p:cNvPr id="0" name="图片 3186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9" y="0"/>
                            <a:ext cx="215" cy="2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0" name="对象 23559"/>
              <p:cNvGraphicFramePr>
                <a:graphicFrameLocks noChangeAspect="1"/>
              </p:cNvGraphicFramePr>
              <p:nvPr/>
            </p:nvGraphicFramePr>
            <p:xfrm>
              <a:off x="1588" y="0"/>
              <a:ext cx="926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5" name="" r:id="rId3" imgW="635000" imgH="177800" progId="Equation.DSMT4">
                      <p:embed/>
                    </p:oleObj>
                  </mc:Choice>
                  <mc:Fallback>
                    <p:oleObj name="" r:id="rId3" imgW="635000" imgH="177800" progId="Equation.DSMT4">
                      <p:embed/>
                      <p:pic>
                        <p:nvPicPr>
                          <p:cNvPr id="0" name="图片 318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588" y="0"/>
                            <a:ext cx="926" cy="25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1" name="对象 23560"/>
              <p:cNvGraphicFramePr>
                <a:graphicFrameLocks noChangeAspect="1"/>
              </p:cNvGraphicFramePr>
              <p:nvPr/>
            </p:nvGraphicFramePr>
            <p:xfrm>
              <a:off x="1815" y="272"/>
              <a:ext cx="3340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6" name="" r:id="rId5" imgW="2538095" imgH="203200" progId="Equation.DSMT4">
                      <p:embed/>
                    </p:oleObj>
                  </mc:Choice>
                  <mc:Fallback>
                    <p:oleObj name="" r:id="rId5" imgW="2538095" imgH="203200" progId="Equation.DSMT4">
                      <p:embed/>
                      <p:pic>
                        <p:nvPicPr>
                          <p:cNvPr id="0" name="图片 3195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815" y="272"/>
                            <a:ext cx="3340" cy="26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62" name="文本框 23561"/>
              <p:cNvSpPr txBox="1"/>
              <p:nvPr/>
            </p:nvSpPr>
            <p:spPr>
              <a:xfrm>
                <a:off x="0" y="227"/>
                <a:ext cx="184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2400">
                    <a:latin typeface="Arial" panose="020B0604020202020204" pitchFamily="34" charset="0"/>
                  </a:rPr>
                  <a:t>归一化后特征向量为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23563" name="对象 23562"/>
              <p:cNvGraphicFramePr>
                <a:graphicFrameLocks noChangeAspect="1"/>
              </p:cNvGraphicFramePr>
              <p:nvPr/>
            </p:nvGraphicFramePr>
            <p:xfrm>
              <a:off x="137" y="590"/>
              <a:ext cx="1315" cy="5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2" name="" r:id="rId7" imgW="927735" imgH="394335" progId="Equation.DSMT4">
                      <p:embed/>
                    </p:oleObj>
                  </mc:Choice>
                  <mc:Fallback>
                    <p:oleObj name="" r:id="rId7" imgW="927735" imgH="394335" progId="Equation.DSMT4">
                      <p:embed/>
                      <p:pic>
                        <p:nvPicPr>
                          <p:cNvPr id="0" name="图片 3191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37" y="590"/>
                            <a:ext cx="1315" cy="55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4" name="对象 23563"/>
              <p:cNvGraphicFramePr>
                <a:graphicFrameLocks noChangeAspect="1"/>
              </p:cNvGraphicFramePr>
              <p:nvPr/>
            </p:nvGraphicFramePr>
            <p:xfrm>
              <a:off x="1724" y="726"/>
              <a:ext cx="922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8" name="" r:id="rId9" imgW="622300" imgH="177800" progId="Equation.DSMT4">
                      <p:embed/>
                    </p:oleObj>
                  </mc:Choice>
                  <mc:Fallback>
                    <p:oleObj name="" r:id="rId9" imgW="622300" imgH="177800" progId="Equation.DSMT4">
                      <p:embed/>
                      <p:pic>
                        <p:nvPicPr>
                          <p:cNvPr id="0" name="图片 318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724" y="726"/>
                            <a:ext cx="922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5" name="对象 23564"/>
              <p:cNvGraphicFramePr>
                <a:graphicFrameLocks noChangeAspect="1"/>
              </p:cNvGraphicFramePr>
              <p:nvPr/>
            </p:nvGraphicFramePr>
            <p:xfrm>
              <a:off x="2858" y="635"/>
              <a:ext cx="1947" cy="4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6" name="" r:id="rId11" imgW="1574165" imgH="393700" progId="Equation.DSMT4">
                      <p:embed/>
                    </p:oleObj>
                  </mc:Choice>
                  <mc:Fallback>
                    <p:oleObj name="" r:id="rId11" imgW="1574165" imgH="393700" progId="Equation.DSMT4">
                      <p:embed/>
                      <p:pic>
                        <p:nvPicPr>
                          <p:cNvPr id="0" name="图片 3185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858" y="635"/>
                            <a:ext cx="1947" cy="4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6" name="对象 23565"/>
              <p:cNvGraphicFramePr>
                <a:graphicFrameLocks noChangeAspect="1"/>
              </p:cNvGraphicFramePr>
              <p:nvPr/>
            </p:nvGraphicFramePr>
            <p:xfrm>
              <a:off x="91" y="1225"/>
              <a:ext cx="215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7" name="" r:id="rId13" imgW="153035" imgH="165735" progId="Equation.DSMT4">
                      <p:embed/>
                    </p:oleObj>
                  </mc:Choice>
                  <mc:Fallback>
                    <p:oleObj name="" r:id="rId13" imgW="153035" imgH="165735" progId="Equation.DSMT4">
                      <p:embed/>
                      <p:pic>
                        <p:nvPicPr>
                          <p:cNvPr id="0" name="图片 3196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91" y="1225"/>
                            <a:ext cx="215" cy="2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67" name="文本框 23566"/>
              <p:cNvSpPr txBox="1"/>
              <p:nvPr/>
            </p:nvSpPr>
            <p:spPr>
              <a:xfrm>
                <a:off x="236" y="1179"/>
                <a:ext cx="2804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r>
                  <a:rPr lang="zh-CN" altLang="en-US" sz="2400">
                    <a:latin typeface="Arial" panose="020B0604020202020204" pitchFamily="34" charset="0"/>
                  </a:rPr>
                  <a:t>通过了一致性验证，是可行的。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3568" name="组合 23567"/>
          <p:cNvGrpSpPr/>
          <p:nvPr/>
        </p:nvGrpSpPr>
        <p:grpSpPr>
          <a:xfrm>
            <a:off x="250825" y="3213100"/>
            <a:ext cx="8253413" cy="3638550"/>
            <a:chOff x="0" y="0"/>
            <a:chExt cx="5199" cy="2292"/>
          </a:xfrm>
        </p:grpSpPr>
        <p:sp>
          <p:nvSpPr>
            <p:cNvPr id="23569" name="文本框 23568"/>
            <p:cNvSpPr txBox="1"/>
            <p:nvPr/>
          </p:nvSpPr>
          <p:spPr>
            <a:xfrm>
              <a:off x="91" y="0"/>
              <a:ext cx="51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与此类似，我们可以求出方案层中各方案的成对比较矩阵。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aphicFrame>
          <p:nvGraphicFramePr>
            <p:cNvPr id="23570" name="对象 23569"/>
            <p:cNvGraphicFramePr>
              <a:graphicFrameLocks noChangeAspect="1"/>
            </p:cNvGraphicFramePr>
            <p:nvPr/>
          </p:nvGraphicFramePr>
          <p:xfrm>
            <a:off x="0" y="272"/>
            <a:ext cx="1316" cy="10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15" imgW="1221105" imgH="941070" progId="Equation.DSMT4">
                    <p:embed/>
                  </p:oleObj>
                </mc:Choice>
                <mc:Fallback>
                  <p:oleObj name="" r:id="rId15" imgW="1221105" imgH="941070" progId="Equation.DSMT4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0" y="272"/>
                          <a:ext cx="1316" cy="10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对象 23570"/>
            <p:cNvGraphicFramePr>
              <a:graphicFrameLocks noChangeAspect="1"/>
            </p:cNvGraphicFramePr>
            <p:nvPr/>
          </p:nvGraphicFramePr>
          <p:xfrm>
            <a:off x="1826" y="272"/>
            <a:ext cx="1350" cy="1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" name="" r:id="rId17" imgW="1233170" imgH="940435" progId="Equation.DSMT4">
                    <p:embed/>
                  </p:oleObj>
                </mc:Choice>
                <mc:Fallback>
                  <p:oleObj name="" r:id="rId17" imgW="1233170" imgH="940435" progId="Equation.DSMT4">
                    <p:embed/>
                    <p:pic>
                      <p:nvPicPr>
                        <p:cNvPr id="0" name="图片 3188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826" y="272"/>
                          <a:ext cx="1350" cy="10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2" name="对象 23571"/>
            <p:cNvGraphicFramePr>
              <a:graphicFrameLocks noChangeAspect="1"/>
            </p:cNvGraphicFramePr>
            <p:nvPr/>
          </p:nvGraphicFramePr>
          <p:xfrm>
            <a:off x="3720" y="181"/>
            <a:ext cx="1451" cy="10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19" imgW="1220470" imgH="864235" progId="Equation.DSMT4">
                    <p:embed/>
                  </p:oleObj>
                </mc:Choice>
                <mc:Fallback>
                  <p:oleObj name="" r:id="rId19" imgW="1220470" imgH="864235" progId="Equation.DSMT4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720" y="181"/>
                          <a:ext cx="1451" cy="10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对象 23572"/>
            <p:cNvGraphicFramePr>
              <a:graphicFrameLocks noChangeAspect="1"/>
            </p:cNvGraphicFramePr>
            <p:nvPr/>
          </p:nvGraphicFramePr>
          <p:xfrm>
            <a:off x="908" y="1225"/>
            <a:ext cx="1269" cy="1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4" name="" r:id="rId21" imgW="1118870" imgH="941070" progId="Equation.DSMT4">
                    <p:embed/>
                  </p:oleObj>
                </mc:Choice>
                <mc:Fallback>
                  <p:oleObj name="" r:id="rId21" imgW="1118870" imgH="941070" progId="Equation.DSMT4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908" y="1225"/>
                          <a:ext cx="1269" cy="106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4" name="对象 23573"/>
            <p:cNvGraphicFramePr>
              <a:graphicFrameLocks noChangeAspect="1"/>
            </p:cNvGraphicFramePr>
            <p:nvPr/>
          </p:nvGraphicFramePr>
          <p:xfrm>
            <a:off x="2858" y="1179"/>
            <a:ext cx="1315" cy="11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5" name="" r:id="rId23" imgW="1118870" imgH="941070" progId="Equation.DSMT4">
                    <p:embed/>
                  </p:oleObj>
                </mc:Choice>
                <mc:Fallback>
                  <p:oleObj name="" r:id="rId23" imgW="1118870" imgH="941070" progId="Equation.DSMT4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858" y="1179"/>
                          <a:ext cx="1315" cy="11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直接连接符 24577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4580" name="图片 245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341438"/>
            <a:ext cx="7416800" cy="52689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81" name="文本框 24580"/>
          <p:cNvSpPr txBox="1"/>
          <p:nvPr/>
        </p:nvSpPr>
        <p:spPr>
          <a:xfrm>
            <a:off x="447675" y="855663"/>
            <a:ext cx="67437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2400">
                <a:latin typeface="Arial" panose="020B0604020202020204" pitchFamily="34" charset="0"/>
              </a:rPr>
              <a:t>对                    进行一致性检验：发现全部通过。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aphicFrame>
        <p:nvGraphicFramePr>
          <p:cNvPr id="24582" name="对象 24581"/>
          <p:cNvGraphicFramePr>
            <a:graphicFrameLocks noChangeAspect="1"/>
          </p:cNvGraphicFramePr>
          <p:nvPr/>
        </p:nvGraphicFramePr>
        <p:xfrm>
          <a:off x="827088" y="908050"/>
          <a:ext cx="16573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2" imgW="890270" imgH="228600" progId="Equation.DSMT4">
                  <p:embed/>
                </p:oleObj>
              </mc:Choice>
              <mc:Fallback>
                <p:oleObj name="" r:id="rId2" imgW="890270" imgH="2286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7088" y="908050"/>
                        <a:ext cx="1657350" cy="425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8280" y="57150"/>
            <a:ext cx="461772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科研交流美赛尖端培训课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直接连接符 25601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5604" name="组合 25603"/>
          <p:cNvGrpSpPr/>
          <p:nvPr/>
        </p:nvGrpSpPr>
        <p:grpSpPr>
          <a:xfrm>
            <a:off x="323850" y="1052513"/>
            <a:ext cx="8353425" cy="4057650"/>
            <a:chOff x="0" y="0"/>
            <a:chExt cx="5262" cy="2556"/>
          </a:xfrm>
        </p:grpSpPr>
        <p:graphicFrame>
          <p:nvGraphicFramePr>
            <p:cNvPr id="25605" name="对象 25604"/>
            <p:cNvGraphicFramePr>
              <a:graphicFrameLocks noChangeAspect="1"/>
            </p:cNvGraphicFramePr>
            <p:nvPr/>
          </p:nvGraphicFramePr>
          <p:xfrm>
            <a:off x="2388" y="1434"/>
            <a:ext cx="576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1" name="" r:id="rId1" imgW="128270" imgH="199390" progId="Equation.DSMT4">
                    <p:embed/>
                  </p:oleObj>
                </mc:Choice>
                <mc:Fallback>
                  <p:oleObj name="" r:id="rId1" imgW="128270" imgH="199390" progId="Equation.DSMT4">
                    <p:embed/>
                    <p:pic>
                      <p:nvPicPr>
                        <p:cNvPr id="0" name="图片 320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88" y="1434"/>
                          <a:ext cx="576" cy="12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06" name="对象 25605"/>
            <p:cNvGraphicFramePr>
              <a:graphicFrameLocks noChangeAspect="1"/>
            </p:cNvGraphicFramePr>
            <p:nvPr/>
          </p:nvGraphicFramePr>
          <p:xfrm>
            <a:off x="0" y="447"/>
            <a:ext cx="5262" cy="1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9" name="" r:id="rId3" imgW="4127500" imgH="1143000" progId="Equation.DSMT4">
                    <p:embed/>
                  </p:oleObj>
                </mc:Choice>
                <mc:Fallback>
                  <p:oleObj name="" r:id="rId3" imgW="4127500" imgH="1143000" progId="Equation.DSMT4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447"/>
                          <a:ext cx="5262" cy="14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7" name="文本框 25606"/>
            <p:cNvSpPr txBox="1"/>
            <p:nvPr/>
          </p:nvSpPr>
          <p:spPr>
            <a:xfrm>
              <a:off x="45" y="0"/>
              <a:ext cx="280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计算每个方案对最终目标的权重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08" name="文本框 25607"/>
            <p:cNvSpPr txBox="1"/>
            <p:nvPr/>
          </p:nvSpPr>
          <p:spPr>
            <a:xfrm>
              <a:off x="998" y="2268"/>
              <a:ext cx="29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sz="2400">
                  <a:latin typeface="Arial" panose="020B0604020202020204" pitchFamily="34" charset="0"/>
                </a:rPr>
                <a:t>所以最终的方案以去桂林为最佳！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直接连接符 26625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28" name="文本框 26627"/>
          <p:cNvSpPr txBox="1"/>
          <p:nvPr/>
        </p:nvSpPr>
        <p:spPr>
          <a:xfrm>
            <a:off x="433705" y="893128"/>
            <a:ext cx="8277225" cy="452310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层次分析法的不足：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1</a:t>
            </a:r>
            <a:r>
              <a:rPr lang="zh-CN" altLang="en-US" sz="2400">
                <a:latin typeface="Arial" panose="020B0604020202020204" pitchFamily="34" charset="0"/>
              </a:rPr>
              <a:t>）它只能从现有的方案中选择出较优的一个，并不能提供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出一个新的或是更好的方案来。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2</a:t>
            </a:r>
            <a:r>
              <a:rPr lang="zh-CN" altLang="en-US" sz="2400">
                <a:latin typeface="Arial" panose="020B0604020202020204" pitchFamily="34" charset="0"/>
              </a:rPr>
              <a:t>）该方法中的比较，判断以及结果都是比较粗的，并不适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合精确的计算。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（</a:t>
            </a:r>
            <a:r>
              <a:rPr lang="en-US" altLang="zh-CN" sz="2400">
                <a:latin typeface="Arial" panose="020B0604020202020204" pitchFamily="34" charset="0"/>
              </a:rPr>
              <a:t>3</a:t>
            </a:r>
            <a:r>
              <a:rPr lang="zh-CN" altLang="en-US" sz="2400">
                <a:latin typeface="Arial" panose="020B0604020202020204" pitchFamily="34" charset="0"/>
              </a:rPr>
              <a:t>）建立层次结构及成对比较矩阵，人的主观因素起很大作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用，这是一个无法克服的缺点。（但我们可以让多个专家来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Arial" panose="020B0604020202020204" pitchFamily="34" charset="0"/>
              </a:rPr>
              <a:t>做出判断，或者以问卷调查方式得出比较阵。）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直接连接符 28673"/>
          <p:cNvSpPr/>
          <p:nvPr/>
        </p:nvSpPr>
        <p:spPr>
          <a:xfrm>
            <a:off x="0" y="692150"/>
            <a:ext cx="9144000" cy="0"/>
          </a:xfrm>
          <a:prstGeom prst="line">
            <a:avLst/>
          </a:prstGeom>
          <a:ln w="412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76" name="文本框 28675"/>
          <p:cNvSpPr txBox="1"/>
          <p:nvPr/>
        </p:nvSpPr>
        <p:spPr>
          <a:xfrm>
            <a:off x="2027555" y="2492375"/>
            <a:ext cx="5088255" cy="144526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8800" i="1">
                <a:solidFill>
                  <a:srgbClr val="FF3300"/>
                </a:solidFill>
                <a:latin typeface="Arial" panose="020B0604020202020204" pitchFamily="34" charset="0"/>
              </a:rPr>
              <a:t>谢   谢  ！</a:t>
            </a:r>
            <a:endParaRPr lang="zh-CN" altLang="en-US" sz="8800" i="1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8280" y="57150"/>
            <a:ext cx="5462270" cy="5530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3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科研交流数学建模系统培训课</a:t>
            </a:r>
            <a:endParaRPr lang="zh-CN" altLang="en-US" sz="3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basetag"/>
  <p:tag name="KSO_WM_TEMPLATE_INDEX" val="20164537"/>
</p:tagLst>
</file>

<file path=ppt/tags/tag2.xml><?xml version="1.0" encoding="utf-8"?>
<p:tagLst xmlns:p="http://schemas.openxmlformats.org/presentationml/2006/main">
  <p:tag name="KSO_WM_TAG_VERSION" val="1.0"/>
  <p:tag name="KSO_WM_TEMPLATE_CATEGORY" val="basetag"/>
  <p:tag name="KSO_WM_TEMPLATE_INDEX" val="20164537"/>
</p:tagLst>
</file>

<file path=ppt/tags/tag3.xml><?xml version="1.0" encoding="utf-8"?>
<p:tagLst xmlns:p="http://schemas.openxmlformats.org/presentationml/2006/main">
  <p:tag name="KSO_WM_TEMPLATE_CATEGORY" val="basetag"/>
  <p:tag name="KSO_WM_TEMPLATE_INDEX" val="20163741"/>
  <p:tag name="KSO_WM_TAG_VERSION" val="1.0"/>
  <p:tag name="KSO_WM_TEMPLATE_THUMBS_INDEX" val="1、5、6、7、9、10、14、15、18、21、22、27"/>
  <p:tag name="KSO_WM_BEAUTIFY_FLAG" val="#wm#"/>
</p:tagLst>
</file>

<file path=ppt/tags/tag4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5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6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7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8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9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0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1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2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3.xml><?xml version="1.0" encoding="utf-8"?>
<p:tagLst xmlns:p="http://schemas.openxmlformats.org/presentationml/2006/main">
  <p:tag name="KSO_WM_UNIT_TABLE_BEAUTIFY" val="{77800605-3d56-486d-ad08-edcf1f9daf17}"/>
</p:tagLst>
</file>

<file path=ppt/tags/tag14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5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6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7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8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19.xml><?xml version="1.0" encoding="utf-8"?>
<p:tagLst xmlns:p="http://schemas.openxmlformats.org/presentationml/2006/main">
  <p:tag name="KSO_WM_UNIT_TABLE_BEAUTIFY" val="{48d179d1-9afd-406f-a61c-5e0701e97585}"/>
</p:tagLst>
</file>

<file path=ppt/tags/tag20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1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2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3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4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5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6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7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8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29.xml><?xml version="1.0" encoding="utf-8"?>
<p:tagLst xmlns:p="http://schemas.openxmlformats.org/presentationml/2006/main">
  <p:tag name="KSO_WM_TEMPLATE_CATEGORY" val="basetag"/>
  <p:tag name="KSO_WM_TEMPLATE_INDEX" val="20164537"/>
</p:tagLst>
</file>

<file path=ppt/tags/tag30.xml><?xml version="1.0" encoding="utf-8"?>
<p:tagLst xmlns:p="http://schemas.openxmlformats.org/presentationml/2006/main">
  <p:tag name="KSO_WM_TEMPLATE_CATEGORY" val="basetag"/>
  <p:tag name="KSO_WM_TEMPLATE_INDEX" val="20164537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4022</Words>
  <Application>WPS 演示</Application>
  <PresentationFormat>在屏幕上显示</PresentationFormat>
  <Paragraphs>339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126</vt:i4>
      </vt:variant>
      <vt:variant>
        <vt:lpstr>幻灯片标题</vt:lpstr>
      </vt:variant>
      <vt:variant>
        <vt:i4>25</vt:i4>
      </vt:variant>
    </vt:vector>
  </HeadingPairs>
  <TitlesOfParts>
    <vt:vector size="162" baseType="lpstr">
      <vt:lpstr>Arial</vt:lpstr>
      <vt:lpstr>宋体</vt:lpstr>
      <vt:lpstr>Wingdings</vt:lpstr>
      <vt:lpstr>微软雅黑</vt:lpstr>
      <vt:lpstr>Swis721 BlkCn BT</vt:lpstr>
      <vt:lpstr>Yu Gothic UI Semibold</vt:lpstr>
      <vt:lpstr>汉仪菱心体简</vt:lpstr>
      <vt:lpstr>黑体</vt:lpstr>
      <vt:lpstr>Arial Unicode MS</vt:lpstr>
      <vt:lpstr>Calibri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LLXX</cp:lastModifiedBy>
  <cp:revision>33</cp:revision>
  <dcterms:created xsi:type="dcterms:W3CDTF">2018-11-07T13:46:00Z</dcterms:created>
  <dcterms:modified xsi:type="dcterms:W3CDTF">2020-07-08T03:12:51Z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2052-11.1.0.9739</vt:lpwstr>
  </property>
</Properties>
</file>