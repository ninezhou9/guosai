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0" r:id="rId5"/>
    <p:sldId id="262" r:id="rId6"/>
    <p:sldId id="279" r:id="rId7"/>
    <p:sldId id="280" r:id="rId8"/>
    <p:sldId id="281" r:id="rId9"/>
    <p:sldId id="263" r:id="rId10"/>
    <p:sldId id="282" r:id="rId11"/>
    <p:sldId id="283" r:id="rId12"/>
    <p:sldId id="289" r:id="rId13"/>
    <p:sldId id="290" r:id="rId14"/>
    <p:sldId id="291" r:id="rId15"/>
    <p:sldId id="276" r:id="rId16"/>
    <p:sldId id="285" r:id="rId17"/>
    <p:sldId id="292" r:id="rId18"/>
    <p:sldId id="293" r:id="rId19"/>
    <p:sldId id="306" r:id="rId20"/>
    <p:sldId id="307" r:id="rId21"/>
    <p:sldId id="308" r:id="rId22"/>
    <p:sldId id="286" r:id="rId23"/>
    <p:sldId id="287" r:id="rId24"/>
    <p:sldId id="288" r:id="rId25"/>
    <p:sldId id="311" r:id="rId26"/>
    <p:sldId id="309" r:id="rId27"/>
    <p:sldId id="310" r:id="rId28"/>
    <p:sldId id="273" r:id="rId29"/>
    <p:sldId id="275" r:id="rId3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1195B-83DD-40CD-B552-C649BE2EA0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E374D-6E28-41D4-B529-E46F9BB59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1195B-83DD-40CD-B552-C649BE2EA0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3078638"/>
            <a:ext cx="9144000" cy="886397"/>
          </a:xfrm>
        </p:spPr>
        <p:txBody>
          <a:bodyPr tIns="0" bIns="0" anchor="ctr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4015102"/>
            <a:ext cx="9144000" cy="965389"/>
          </a:xfrm>
        </p:spPr>
        <p:txBody>
          <a:bodyPr tIns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3500094" y="2599962"/>
            <a:ext cx="765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7856310" y="2599962"/>
            <a:ext cx="765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65888"/>
            <a:ext cx="732276" cy="324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16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08254" y="2320925"/>
            <a:ext cx="6039836" cy="798023"/>
          </a:xfrm>
        </p:spPr>
        <p:txBody>
          <a:bodyPr anchor="b" anchorCtr="0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808254" y="3246477"/>
            <a:ext cx="6039837" cy="609604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92400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865888"/>
            <a:ext cx="732276" cy="324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16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92400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865888"/>
            <a:ext cx="732276" cy="324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16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459753" y="2997522"/>
            <a:ext cx="765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>
            <p:custDataLst>
              <p:tags r:id="rId3"/>
            </p:custDataLst>
          </p:nvPr>
        </p:nvCxnSpPr>
        <p:spPr>
          <a:xfrm>
            <a:off x="7977333" y="2997522"/>
            <a:ext cx="765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945827"/>
            <a:ext cx="9144000" cy="1597212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1524000" y="3595333"/>
            <a:ext cx="9144000" cy="1237127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56000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865888"/>
            <a:ext cx="732276" cy="324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16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image" Target="../media/image3.wmf"/><Relationship Id="rId7" Type="http://schemas.openxmlformats.org/officeDocument/2006/relationships/oleObject" Target="../embeddings/oleObject2.bin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Relationship Id="rId3" Type="http://schemas.openxmlformats.org/officeDocument/2006/relationships/tags" Target="../tags/tag35.xml"/><Relationship Id="rId2" Type="http://schemas.openxmlformats.org/officeDocument/2006/relationships/tags" Target="../../../tags/tag36.xml"/><Relationship Id="rId12" Type="http://schemas.openxmlformats.org/officeDocument/2006/relationships/notesSlide" Target="../notesSlides/notesSlide4.xml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39.xml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tags" Target="../tags/tag38.xml"/><Relationship Id="rId2" Type="http://schemas.openxmlformats.org/officeDocument/2006/relationships/tags" Target="../../../tags/tag39.xml"/><Relationship Id="rId1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4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tags" Target="../tags/tag41.xml"/><Relationship Id="rId2" Type="http://schemas.openxmlformats.org/officeDocument/2006/relationships/tags" Target="../../../tags/tag43.xml"/><Relationship Id="rId1" Type="http://schemas.openxmlformats.org/officeDocument/2006/relationships/tags" Target="../tags/tag4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45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tags" Target="../tags/tag44.xml"/><Relationship Id="rId2" Type="http://schemas.openxmlformats.org/officeDocument/2006/relationships/tags" Target="../../../tags/tag46.xml"/><Relationship Id="rId1" Type="http://schemas.openxmlformats.org/officeDocument/2006/relationships/tags" Target="../tags/tag4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47.xml"/><Relationship Id="rId2" Type="http://schemas.openxmlformats.org/officeDocument/2006/relationships/image" Target="../media/image10.png"/><Relationship Id="rId1" Type="http://schemas.openxmlformats.org/officeDocument/2006/relationships/tags" Target="../tags/tag46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49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48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51.xml"/><Relationship Id="rId2" Type="http://schemas.openxmlformats.org/officeDocument/2006/relationships/image" Target="../media/image13.png"/><Relationship Id="rId1" Type="http://schemas.openxmlformats.org/officeDocument/2006/relationships/tags" Target="../tags/tag5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5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5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55.xml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0" Type="http://schemas.openxmlformats.org/officeDocument/2006/relationships/notesSlide" Target="../notesSlides/notesSlide12.xml"/><Relationship Id="rId1" Type="http://schemas.openxmlformats.org/officeDocument/2006/relationships/tags" Target="../tags/tag5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58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tags" Target="../tags/tag57.xml"/><Relationship Id="rId2" Type="http://schemas.openxmlformats.org/officeDocument/2006/relationships/tags" Target="../../../tags/tag59.xml"/><Relationship Id="rId1" Type="http://schemas.openxmlformats.org/officeDocument/2006/relationships/tags" Target="../tags/tag5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6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hyperlink" Target="https://blog.csdn.net/baimafujinji/article/details/51179381" TargetMode="External"/><Relationship Id="rId1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64.xml"/><Relationship Id="rId3" Type="http://schemas.openxmlformats.org/officeDocument/2006/relationships/image" Target="../media/image39.png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6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68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9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70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71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523366" y="2088038"/>
            <a:ext cx="9144000" cy="886397"/>
          </a:xfrm>
        </p:spPr>
        <p:txBody>
          <a:bodyPr lIns="90000" tIns="0" rIns="90000" bIns="0">
            <a:normAutofit/>
          </a:bodyPr>
          <a:lstStyle/>
          <a:p>
            <a:r>
              <a:rPr lang="en-US" altLang="zh-CN">
                <a:sym typeface="+mn-lt"/>
              </a:rPr>
              <a:t>Logistic </a:t>
            </a:r>
            <a:r>
              <a:rPr lang="zh-CN" altLang="en-US">
                <a:sym typeface="+mn-lt"/>
              </a:rPr>
              <a:t>回归</a:t>
            </a:r>
            <a:endParaRPr lang="zh-CN" altLang="en-US">
              <a:sym typeface="+mn-lt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184525" y="5569585"/>
            <a:ext cx="5822950" cy="721995"/>
          </a:xfrm>
        </p:spPr>
        <p:txBody>
          <a:bodyPr lIns="90000" tIns="0" rIns="90000" bIns="46800"/>
          <a:lstStyle/>
          <a:p>
            <a:r>
              <a:rPr lang="zh-CN" altLang="en-US" sz="2000" dirty="0">
                <a:sym typeface="+mn-lt"/>
              </a:rPr>
              <a:t>王蕊                  </a:t>
            </a:r>
            <a:r>
              <a:rPr lang="en-US" altLang="zh-CN" sz="2000" dirty="0">
                <a:sym typeface="+mn-lt"/>
              </a:rPr>
              <a:t>2018.5.19 </a:t>
            </a: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799856" y="1598108"/>
            <a:ext cx="269729" cy="260231"/>
          </a:xfrm>
          <a:prstGeom prst="rect">
            <a:avLst/>
          </a:prstGeom>
        </p:spPr>
        <p:txBody>
          <a:bodyPr lIns="0" tIns="0" rIns="0" bIns="0" anchor="ctr">
            <a:normAutofit fontScale="85000" lnSpcReduction="10000"/>
          </a:bodyPr>
          <a:lstStyle/>
          <a:p>
            <a:r>
              <a:rPr lang="en-US" altLang="ko-KR" sz="2000" dirty="0"/>
              <a:t>01</a:t>
            </a:r>
            <a:endParaRPr lang="en-US" altLang="ko-KR" sz="2000" dirty="0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210177" y="1516220"/>
            <a:ext cx="1440160" cy="43157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lvl="0"/>
            <a:r>
              <a:rPr lang="zh-CN" altLang="en-US" sz="2400" dirty="0">
                <a:solidFill>
                  <a:srgbClr val="529BA0"/>
                </a:solidFill>
                <a:sym typeface="+mn-lt"/>
              </a:rPr>
              <a:t>背景</a:t>
            </a:r>
            <a:endParaRPr lang="zh-CN" altLang="en-US" sz="2400" dirty="0">
              <a:solidFill>
                <a:srgbClr val="529BA0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799856" y="2567932"/>
            <a:ext cx="269729" cy="260231"/>
          </a:xfrm>
          <a:prstGeom prst="rect">
            <a:avLst/>
          </a:prstGeom>
        </p:spPr>
        <p:txBody>
          <a:bodyPr lIns="0" tIns="0" rIns="0" bIns="0" anchor="ctr">
            <a:normAutofit lnSpcReduction="10000"/>
          </a:bodyPr>
          <a:lstStyle/>
          <a:p>
            <a:r>
              <a:rPr lang="en-US" altLang="ko-KR"/>
              <a:t>02</a:t>
            </a:r>
            <a:endParaRPr lang="en-US" altLang="ko-KR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799856" y="3532797"/>
            <a:ext cx="269729" cy="260231"/>
          </a:xfrm>
          <a:prstGeom prst="rect">
            <a:avLst/>
          </a:prstGeom>
        </p:spPr>
        <p:txBody>
          <a:bodyPr lIns="0" tIns="0" rIns="0" bIns="0" anchor="ctr">
            <a:normAutofit lnSpcReduction="10000"/>
          </a:bodyPr>
          <a:lstStyle/>
          <a:p>
            <a:r>
              <a:rPr lang="en-US" altLang="ko-KR" dirty="0"/>
              <a:t>03</a:t>
            </a:r>
            <a:endParaRPr lang="en-US" altLang="ko-KR" dirty="0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799856" y="4497660"/>
            <a:ext cx="269729" cy="260231"/>
          </a:xfrm>
          <a:prstGeom prst="rect">
            <a:avLst/>
          </a:prstGeom>
        </p:spPr>
        <p:txBody>
          <a:bodyPr lIns="0" tIns="0" rIns="0" bIns="0" anchor="ctr">
            <a:normAutofit lnSpcReduction="10000"/>
          </a:bodyPr>
          <a:lstStyle/>
          <a:p>
            <a:r>
              <a:rPr lang="en-US" altLang="ko-KR" dirty="0"/>
              <a:t>04</a:t>
            </a:r>
            <a:endParaRPr lang="en-US" altLang="ko-KR" dirty="0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743856" y="1977086"/>
            <a:ext cx="2625252" cy="82401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1" hangingPunct="1">
              <a:buClrTx/>
              <a:buSzTx/>
              <a:buFontTx/>
              <a:buNone/>
              <a:defRPr/>
            </a:pPr>
            <a:r>
              <a:rPr lang="zh-CN" altLang="en-US" sz="4000">
                <a:latin typeface="+mj-lt"/>
                <a:ea typeface="+mj-ea"/>
                <a:cs typeface="+mj-cs"/>
              </a:rPr>
              <a:t>目录</a:t>
            </a:r>
            <a:endParaRPr lang="zh-CN" altLang="en-US" sz="4000">
              <a:latin typeface="+mj-lt"/>
              <a:ea typeface="+mj-ea"/>
              <a:cs typeface="+mj-cs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7"/>
            </p:custDataLst>
          </p:nvPr>
        </p:nvCxnSpPr>
        <p:spPr>
          <a:xfrm>
            <a:off x="758627" y="1644739"/>
            <a:ext cx="2595712" cy="0"/>
          </a:xfrm>
          <a:prstGeom prst="line">
            <a:avLst/>
          </a:prstGeom>
          <a:noFill/>
          <a:ln w="22225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1534915" y="1687564"/>
            <a:ext cx="1043135" cy="260232"/>
          </a:xfrm>
          <a:prstGeom prst="rect">
            <a:avLst/>
          </a:prstGeom>
          <a:noFill/>
          <a:effectLst>
            <a:innerShdw blurRad="63500" dist="50800">
              <a:sysClr val="windowText" lastClr="000000">
                <a:alpha val="50000"/>
              </a:sysClr>
            </a:innerShdw>
          </a:effectLst>
        </p:spPr>
        <p:txBody>
          <a:bodyPr wrap="square">
            <a:noAutofit/>
          </a:bodyPr>
          <a:lstStyle/>
          <a:p>
            <a:pPr marL="0" marR="0" lvl="0" indent="0" algn="ctr" defTabSz="914400" eaLnBrk="1" fontAlgn="auto" latinLnBrk="1" hangingPunct="1">
              <a:buClrTx/>
              <a:buSzTx/>
              <a:buFontTx/>
              <a:buNone/>
              <a:defRPr/>
            </a:pPr>
            <a:r>
              <a:rPr kumimoji="0" lang="en-US" altLang="zh-CN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CONGTENT</a:t>
            </a:r>
            <a:endParaRPr kumimoji="0" lang="en-US" altLang="zh-CN" sz="105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14" name="直接连接符 13"/>
          <p:cNvCxnSpPr/>
          <p:nvPr>
            <p:custDataLst>
              <p:tags r:id="rId9"/>
            </p:custDataLst>
          </p:nvPr>
        </p:nvCxnSpPr>
        <p:spPr>
          <a:xfrm>
            <a:off x="762051" y="2924944"/>
            <a:ext cx="2592288" cy="0"/>
          </a:xfrm>
          <a:prstGeom prst="line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17" name="直接连接符 16"/>
          <p:cNvCxnSpPr/>
          <p:nvPr>
            <p:custDataLst>
              <p:tags r:id="rId10"/>
            </p:custDataLst>
          </p:nvPr>
        </p:nvCxnSpPr>
        <p:spPr>
          <a:xfrm>
            <a:off x="4691844" y="1960657"/>
            <a:ext cx="571642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1"/>
            </p:custDataLst>
          </p:nvPr>
        </p:nvCxnSpPr>
        <p:spPr>
          <a:xfrm>
            <a:off x="4691844" y="2950471"/>
            <a:ext cx="571642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>
            <a:off x="4691844" y="3940285"/>
            <a:ext cx="571642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4808066" y="5481166"/>
            <a:ext cx="269729" cy="260231"/>
          </a:xfrm>
          <a:prstGeom prst="rect">
            <a:avLst/>
          </a:prstGeom>
        </p:spPr>
        <p:txBody>
          <a:bodyPr lIns="0" tIns="0" rIns="0" bIns="0" anchor="ctr">
            <a:normAutofit lnSpcReduction="10000"/>
          </a:bodyPr>
          <a:lstStyle/>
          <a:p>
            <a:r>
              <a:rPr lang="en-US" altLang="ko-KR" dirty="0"/>
              <a:t>05</a:t>
            </a:r>
            <a:endParaRPr lang="en-US" altLang="ko-KR" dirty="0"/>
          </a:p>
        </p:txBody>
      </p:sp>
      <p:cxnSp>
        <p:nvCxnSpPr>
          <p:cNvPr id="28" name="直接连接符 27"/>
          <p:cNvCxnSpPr/>
          <p:nvPr>
            <p:custDataLst>
              <p:tags r:id="rId14"/>
            </p:custDataLst>
          </p:nvPr>
        </p:nvCxnSpPr>
        <p:spPr>
          <a:xfrm>
            <a:off x="4700054" y="4898840"/>
            <a:ext cx="571642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5"/>
            </p:custDataLst>
          </p:nvPr>
        </p:nvSpPr>
        <p:spPr>
          <a:xfrm>
            <a:off x="5210177" y="2488785"/>
            <a:ext cx="3271214" cy="43157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sym typeface="+mn-lt"/>
              </a:rPr>
              <a:t>二项</a:t>
            </a:r>
            <a:r>
              <a:rPr lang="en-US" altLang="zh-CN" sz="2400" dirty="0">
                <a:solidFill>
                  <a:schemeClr val="accent1"/>
                </a:solidFill>
                <a:sym typeface="+mn-lt"/>
              </a:rPr>
              <a:t>logistic</a:t>
            </a:r>
            <a:r>
              <a:rPr lang="zh-CN" altLang="en-US" sz="2400" dirty="0">
                <a:solidFill>
                  <a:schemeClr val="accent1"/>
                </a:solidFill>
                <a:sym typeface="+mn-lt"/>
              </a:rPr>
              <a:t>回归模型</a:t>
            </a:r>
            <a:endParaRPr lang="zh-CN" altLang="en-US" sz="2400" dirty="0">
              <a:solidFill>
                <a:schemeClr val="accent1"/>
              </a:solidFill>
              <a:sym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16"/>
            </p:custDataLst>
          </p:nvPr>
        </p:nvSpPr>
        <p:spPr>
          <a:xfrm>
            <a:off x="5210177" y="3454316"/>
            <a:ext cx="2319336" cy="43157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sym typeface="+mn-lt"/>
              </a:rPr>
              <a:t>决策边界</a:t>
            </a:r>
            <a:endParaRPr lang="zh-CN" altLang="en-US" sz="2400" dirty="0">
              <a:solidFill>
                <a:schemeClr val="accent1"/>
              </a:solidFill>
              <a:sym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17"/>
            </p:custDataLst>
          </p:nvPr>
        </p:nvSpPr>
        <p:spPr>
          <a:xfrm>
            <a:off x="5210176" y="4412871"/>
            <a:ext cx="2047873" cy="43157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sym typeface="+mn-lt"/>
              </a:rPr>
              <a:t>模型参数估计</a:t>
            </a:r>
            <a:endParaRPr lang="zh-CN" altLang="en-US" sz="2400" dirty="0">
              <a:solidFill>
                <a:schemeClr val="accent1"/>
              </a:solidFill>
              <a:sym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18"/>
            </p:custDataLst>
          </p:nvPr>
        </p:nvSpPr>
        <p:spPr>
          <a:xfrm>
            <a:off x="5210177" y="5402684"/>
            <a:ext cx="2047872" cy="43157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sym typeface="+mn-lt"/>
              </a:rPr>
              <a:t>Logistic</a:t>
            </a:r>
            <a:r>
              <a:rPr lang="zh-CN" altLang="en-US" sz="2400" dirty="0">
                <a:solidFill>
                  <a:schemeClr val="accent1"/>
                </a:solidFill>
                <a:sym typeface="+mn-lt"/>
              </a:rPr>
              <a:t>的拓展</a:t>
            </a:r>
            <a:endParaRPr lang="zh-CN" altLang="en-US" sz="2400" dirty="0">
              <a:solidFill>
                <a:schemeClr val="accent1"/>
              </a:solidFill>
              <a:sym typeface="+mn-lt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zh-CN" altLang="en-US" sz="3600" dirty="0">
                <a:sym typeface="+mn-lt"/>
              </a:rPr>
              <a:t>背景</a:t>
            </a:r>
            <a:endParaRPr lang="zh-CN" altLang="en-US" sz="3600" dirty="0"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355725"/>
            <a:ext cx="10515600" cy="535686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800" dirty="0">
                <a:latin typeface="Tahoma" panose="020B0604030504040204" pitchFamily="2" charset="0"/>
                <a:sym typeface="+mn-ea"/>
              </a:rPr>
              <a:t>logistic</a:t>
            </a:r>
            <a:r>
              <a:rPr lang="zh-CN" altLang="en-US" sz="1800" dirty="0">
                <a:latin typeface="Tahoma" panose="020B0604030504040204" pitchFamily="2" charset="0"/>
                <a:sym typeface="+mn-ea"/>
              </a:rPr>
              <a:t>回归为概率型非线性回归模型，是研究分类观察结果(</a:t>
            </a:r>
            <a:r>
              <a:rPr lang="en-US" altLang="zh-CN" sz="1800" dirty="0">
                <a:latin typeface="Tahoma" panose="020B0604030504040204" pitchFamily="2" charset="0"/>
                <a:sym typeface="+mn-ea"/>
              </a:rPr>
              <a:t>y)</a:t>
            </a:r>
            <a:r>
              <a:rPr lang="zh-CN" altLang="en-US" sz="1800" dirty="0">
                <a:latin typeface="Tahoma" panose="020B0604030504040204" pitchFamily="2" charset="0"/>
                <a:sym typeface="+mn-ea"/>
              </a:rPr>
              <a:t>与一些影响因素(</a:t>
            </a:r>
            <a:r>
              <a:rPr lang="en-US" altLang="zh-CN" sz="1800" dirty="0">
                <a:latin typeface="Tahoma" panose="020B0604030504040204" pitchFamily="2" charset="0"/>
                <a:sym typeface="+mn-ea"/>
              </a:rPr>
              <a:t>x)</a:t>
            </a:r>
            <a:r>
              <a:rPr lang="zh-CN" altLang="en-US" sz="1800" dirty="0">
                <a:latin typeface="Tahoma" panose="020B0604030504040204" pitchFamily="2" charset="0"/>
                <a:sym typeface="+mn-ea"/>
              </a:rPr>
              <a:t>之间关系的一种多变量分析方法</a:t>
            </a:r>
            <a:endParaRPr lang="zh-CN" altLang="en-US" sz="1800" dirty="0">
              <a:latin typeface="Tahoma" panose="020B0604030504040204" pitchFamily="2" charset="0"/>
            </a:endParaRPr>
          </a:p>
          <a:p>
            <a:pPr marL="533400" indent="-533400" algn="just">
              <a:buNone/>
            </a:pPr>
            <a:r>
              <a:rPr lang="zh-CN" altLang="en-US" sz="1800" b="1" dirty="0">
                <a:solidFill>
                  <a:schemeClr val="tx2"/>
                </a:solidFill>
                <a:sym typeface="+mn-ea"/>
              </a:rPr>
              <a:t>问题提出：</a:t>
            </a:r>
            <a:endParaRPr lang="zh-CN" altLang="en-US" sz="1800" b="1" dirty="0">
              <a:solidFill>
                <a:schemeClr val="tx2"/>
              </a:solidFill>
            </a:endParaRPr>
          </a:p>
          <a:p>
            <a:pPr marL="533400" indent="-533400" algn="just">
              <a:buNone/>
            </a:pPr>
            <a:r>
              <a:rPr lang="zh-CN" altLang="en-US" sz="1800" b="1" dirty="0">
                <a:sym typeface="+mn-ea"/>
              </a:rPr>
              <a:t>       </a:t>
            </a:r>
            <a:r>
              <a:rPr lang="zh-CN" altLang="en-US" sz="1800" dirty="0">
                <a:sym typeface="+mn-ea"/>
              </a:rPr>
              <a:t> 医学研究中常研究某因素存在条件下某结果是否发生？以及之间的关系如何？</a:t>
            </a:r>
            <a:endParaRPr lang="zh-CN" altLang="en-US" sz="1800" dirty="0"/>
          </a:p>
          <a:p>
            <a:pPr marL="533400" indent="-533400" algn="ctr">
              <a:buNone/>
            </a:pPr>
            <a:r>
              <a:rPr lang="zh-CN" altLang="en-US" sz="1800" dirty="0">
                <a:sym typeface="+mn-ea"/>
              </a:rPr>
              <a:t>       因素（</a:t>
            </a:r>
            <a:r>
              <a:rPr lang="en-US" altLang="zh-CN" sz="1800" dirty="0">
                <a:sym typeface="+mn-ea"/>
              </a:rPr>
              <a:t>X）                                                  </a:t>
            </a:r>
            <a:r>
              <a:rPr lang="zh-CN" altLang="en-US" sz="1800" dirty="0">
                <a:sym typeface="+mn-ea"/>
              </a:rPr>
              <a:t>疾病结果（</a:t>
            </a:r>
            <a:r>
              <a:rPr lang="en-US" altLang="zh-CN" sz="1800" dirty="0">
                <a:sym typeface="+mn-ea"/>
              </a:rPr>
              <a:t>Y）                    </a:t>
            </a:r>
            <a:endParaRPr lang="en-US" altLang="zh-CN" sz="1800" dirty="0"/>
          </a:p>
          <a:p>
            <a:pPr marL="533400" indent="-533400" algn="ctr">
              <a:buNone/>
            </a:pPr>
            <a:r>
              <a:rPr lang="en-US" altLang="zh-CN" sz="1800" dirty="0">
                <a:sym typeface="+mn-ea"/>
              </a:rPr>
              <a:t>   x1，x2，x3</a:t>
            </a:r>
            <a:r>
              <a:rPr lang="en-US" altLang="zh-CN" sz="1800" dirty="0">
                <a:latin typeface="Times New Roman" panose="02020603050405020304" pitchFamily="2" charset="0"/>
                <a:sym typeface="+mn-ea"/>
              </a:rPr>
              <a:t>…</a:t>
            </a:r>
            <a:r>
              <a:rPr lang="en-US" altLang="zh-CN" sz="1800" dirty="0">
                <a:sym typeface="+mn-ea"/>
              </a:rPr>
              <a:t>X</a:t>
            </a:r>
            <a:r>
              <a:rPr lang="en-US" altLang="zh-CN" sz="1800" baseline="-25000" dirty="0">
                <a:sym typeface="+mn-ea"/>
              </a:rPr>
              <a:t>K</a:t>
            </a:r>
            <a:r>
              <a:rPr lang="en-US" altLang="zh-CN" sz="1800" dirty="0">
                <a:sym typeface="+mn-ea"/>
              </a:rPr>
              <a:t>                                            </a:t>
            </a:r>
            <a:r>
              <a:rPr lang="zh-CN" altLang="en-US" sz="1800" dirty="0">
                <a:sym typeface="+mn-ea"/>
              </a:rPr>
              <a:t>发生          </a:t>
            </a:r>
            <a:r>
              <a:rPr lang="en-US" altLang="zh-CN" sz="1800" dirty="0">
                <a:sym typeface="+mn-ea"/>
              </a:rPr>
              <a:t>Y=1</a:t>
            </a:r>
            <a:endParaRPr lang="en-US" altLang="zh-CN" sz="1800" dirty="0"/>
          </a:p>
          <a:p>
            <a:pPr marL="533400" indent="-533400" algn="ctr">
              <a:buNone/>
            </a:pPr>
            <a:r>
              <a:rPr lang="zh-CN" altLang="en-US" sz="1800" dirty="0">
                <a:sym typeface="+mn-ea"/>
              </a:rPr>
              <a:t>                                                                         不发生      </a:t>
            </a:r>
            <a:r>
              <a:rPr lang="en-US" altLang="zh-CN" sz="1800" dirty="0">
                <a:sym typeface="+mn-ea"/>
              </a:rPr>
              <a:t>Y=0</a:t>
            </a:r>
            <a:endParaRPr lang="en-US" altLang="zh-CN" sz="1800" dirty="0"/>
          </a:p>
          <a:p>
            <a:pPr marL="533400" indent="-533400" algn="ctr">
              <a:buNone/>
            </a:pPr>
            <a:endParaRPr lang="en-US" altLang="zh-CN" sz="1800" dirty="0"/>
          </a:p>
          <a:p>
            <a:pPr marL="533400" indent="-533400" algn="ctr">
              <a:buNone/>
            </a:pPr>
            <a:r>
              <a:rPr lang="zh-CN" altLang="en-US" sz="1800" dirty="0">
                <a:sym typeface="+mn-ea"/>
              </a:rPr>
              <a:t>例：暴露因素                                                    冠心病结果</a:t>
            </a:r>
            <a:endParaRPr lang="zh-CN" altLang="en-US" sz="1800" dirty="0"/>
          </a:p>
          <a:p>
            <a:pPr marL="533400" indent="-533400" algn="ctr">
              <a:buNone/>
            </a:pPr>
            <a:r>
              <a:rPr lang="zh-CN" altLang="en-US" sz="1800" dirty="0">
                <a:sym typeface="+mn-ea"/>
              </a:rPr>
              <a:t>高血压史(</a:t>
            </a:r>
            <a:r>
              <a:rPr lang="en-US" altLang="zh-CN" sz="1800" dirty="0">
                <a:sym typeface="+mn-ea"/>
              </a:rPr>
              <a:t>x1)：</a:t>
            </a:r>
            <a:r>
              <a:rPr lang="zh-CN" altLang="en-US" sz="1800" dirty="0">
                <a:sym typeface="+mn-ea"/>
              </a:rPr>
              <a:t>有  或  无                                      有    或   无</a:t>
            </a:r>
            <a:endParaRPr lang="zh-CN" altLang="en-US" sz="1800" dirty="0">
              <a:sym typeface="+mn-ea"/>
            </a:endParaRPr>
          </a:p>
          <a:p>
            <a:pPr marL="533400" indent="-533400" algn="l">
              <a:buNone/>
            </a:pPr>
            <a:r>
              <a:rPr lang="zh-CN" altLang="en-US" sz="1800" dirty="0">
                <a:sym typeface="+mn-ea"/>
              </a:rPr>
              <a:t>                                  高血脂史(</a:t>
            </a:r>
            <a:r>
              <a:rPr lang="en-US" altLang="zh-CN" sz="1800" dirty="0">
                <a:sym typeface="+mn-ea"/>
              </a:rPr>
              <a:t>x2)： </a:t>
            </a:r>
            <a:r>
              <a:rPr lang="zh-CN" altLang="en-US" sz="1800" dirty="0">
                <a:sym typeface="+mn-ea"/>
              </a:rPr>
              <a:t>有  或  无</a:t>
            </a:r>
            <a:endParaRPr lang="zh-CN" altLang="en-US" sz="1800" dirty="0">
              <a:sym typeface="+mn-ea"/>
            </a:endParaRPr>
          </a:p>
          <a:p>
            <a:pPr marL="533400" indent="-533400" algn="l">
              <a:buNone/>
            </a:pPr>
            <a:r>
              <a:rPr lang="zh-CN" altLang="en-US" sz="1800" dirty="0">
                <a:sym typeface="+mn-ea"/>
              </a:rPr>
              <a:t>                                  吸烟(</a:t>
            </a:r>
            <a:r>
              <a:rPr lang="en-US" altLang="zh-CN" sz="1800" dirty="0">
                <a:sym typeface="+mn-ea"/>
              </a:rPr>
              <a:t>x3)：        </a:t>
            </a:r>
            <a:r>
              <a:rPr lang="zh-CN" altLang="en-US" sz="1800" dirty="0">
                <a:sym typeface="+mn-ea"/>
              </a:rPr>
              <a:t>有  或  无</a:t>
            </a:r>
            <a:endParaRPr lang="zh-CN" altLang="en-US" sz="1800" b="1" dirty="0"/>
          </a:p>
          <a:p>
            <a:pPr marL="533400" indent="-533400"/>
            <a:endParaRPr lang="zh-CN" altLang="en-US" sz="1800" b="1" dirty="0"/>
          </a:p>
          <a:p>
            <a:pPr algn="just">
              <a:lnSpc>
                <a:spcPct val="120000"/>
              </a:lnSpc>
            </a:pPr>
            <a:endParaRPr lang="zh-CN" altLang="en-US" sz="18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zh-CN" altLang="en-US" sz="3600" dirty="0">
                <a:sym typeface="+mn-lt"/>
              </a:rPr>
              <a:t>背景</a:t>
            </a:r>
            <a:endParaRPr lang="zh-CN" altLang="en-US" sz="3600" dirty="0"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838200" y="1355725"/>
                <a:ext cx="10515600" cy="5356860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800" dirty="0"/>
                  <a:t>对比线性回归模型：                          ，可否令模型的预测值逼近 </a:t>
                </a:r>
                <a:r>
                  <a:rPr lang="en-US" altLang="zh-CN" sz="1800" dirty="0"/>
                  <a:t>y </a:t>
                </a:r>
                <a:r>
                  <a:rPr lang="zh-CN" altLang="en-US" sz="1800" dirty="0"/>
                  <a:t>的衍生物呢？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800" dirty="0"/>
                  <a:t>引入联系函数</a:t>
                </a:r>
                <a:r>
                  <a:rPr lang="en-US" altLang="zh-CN" sz="1800" dirty="0"/>
                  <a:t>g(.)</a:t>
                </a:r>
                <a:r>
                  <a:rPr lang="zh-CN" altLang="en-US" sz="1800" dirty="0"/>
                  <a:t>的概念：考虑单调可微函数 </a:t>
                </a:r>
                <a:r>
                  <a:rPr lang="en-US" altLang="zh-CN" sz="1800" dirty="0"/>
                  <a:t>g(.)</a:t>
                </a:r>
                <a:r>
                  <a:rPr lang="zh-CN" altLang="en-US" sz="1800" dirty="0"/>
                  <a:t>，令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1800" b="1" dirty="0"/>
                  <a:t>                                                                                                                                     </a:t>
                </a:r>
                <a:r>
                  <a:rPr lang="zh-CN" altLang="en-US" sz="1800" dirty="0"/>
                  <a:t>（</a:t>
                </a:r>
                <a:r>
                  <a:rPr lang="en-US" altLang="zh-CN" sz="1800" dirty="0"/>
                  <a:t>1</a:t>
                </a:r>
                <a:r>
                  <a:rPr lang="zh-CN" altLang="en-US" sz="1800" dirty="0"/>
                  <a:t>）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800" dirty="0">
                    <a:sym typeface="+mn-lt"/>
                  </a:rPr>
                  <a:t>这样的得到的模型称为</a:t>
                </a:r>
                <a:r>
                  <a:rPr lang="en-US" altLang="zh-CN" sz="1800" dirty="0">
                    <a:sym typeface="+mn-lt"/>
                  </a:rPr>
                  <a:t>“</a:t>
                </a:r>
                <a:r>
                  <a:rPr lang="zh-CN" altLang="en-US" sz="1800" dirty="0">
                    <a:sym typeface="+mn-lt"/>
                  </a:rPr>
                  <a:t>广义线性模型</a:t>
                </a:r>
                <a:r>
                  <a:rPr lang="en-US" altLang="zh-CN" sz="1800" dirty="0">
                    <a:sym typeface="+mn-lt"/>
                  </a:rPr>
                  <a:t>”</a:t>
                </a:r>
                <a:r>
                  <a:rPr lang="zh-CN" altLang="en-US" sz="1800" dirty="0">
                    <a:sym typeface="+mn-lt"/>
                  </a:rPr>
                  <a:t>，其中</a:t>
                </a:r>
                <a:r>
                  <a:rPr lang="zh-CN" altLang="en-US" sz="1800" dirty="0">
                    <a:sym typeface="+mn-ea"/>
                  </a:rPr>
                  <a:t> </a:t>
                </a:r>
                <a:r>
                  <a:rPr lang="en-US" altLang="zh-CN" sz="1800" dirty="0">
                    <a:sym typeface="+mn-ea"/>
                  </a:rPr>
                  <a:t>g(.)</a:t>
                </a:r>
                <a:r>
                  <a:rPr lang="zh-CN" altLang="en-US" sz="1800" dirty="0">
                    <a:sym typeface="+mn-ea"/>
                  </a:rPr>
                  <a:t>称为联系函数。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800" dirty="0">
                    <a:sym typeface="+mn-ea"/>
                  </a:rPr>
                  <a:t>考虑分类任务，我们需要在广义线性模型中，寻找一个单调可微的函数将分类任务的真实标记 </a:t>
                </a:r>
                <a:r>
                  <a:rPr lang="en-US" altLang="zh-CN" sz="1800" dirty="0">
                    <a:sym typeface="+mn-ea"/>
                  </a:rPr>
                  <a:t>y</a:t>
                </a:r>
                <a:r>
                  <a:rPr lang="zh-CN" altLang="en-US" sz="1800" dirty="0">
                    <a:sym typeface="+mn-ea"/>
                  </a:rPr>
                  <a:t>与线性回归模型的预测值联系起来。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800" dirty="0">
                    <a:sym typeface="+mn-ea"/>
                  </a:rPr>
                  <a:t>考虑二分类任务，其输出标记为：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ea"/>
                      </a:rPr>
                      <m:t>𝑦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ea"/>
                          </a:rPr>
                          <m:t>0,1</m:t>
                        </m:r>
                      </m:e>
                    </m:d>
                    <m:r>
                      <a:rPr lang="zh-CN" alt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，</m:t>
                    </m:r>
                  </m:oMath>
                </a14:m>
                <a:r>
                  <a:rPr lang="zh-CN" altLang="en-US" sz="1800" b="0" dirty="0">
                    <a:latin typeface="+mn-ea"/>
                    <a:sym typeface="+mn-ea"/>
                  </a:rPr>
                  <a:t>而线性回归模型产生的预测值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ea"/>
                      </a:rPr>
                      <m:t>𝑧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ea"/>
                      </a:rPr>
                      <m:t>=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ea"/>
                          </a:rPr>
                          <m:t>𝑤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ea"/>
                          </a:rPr>
                          <m:t>𝑇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ea"/>
                      </a:rPr>
                      <m:t>+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sym typeface="+mn-ea"/>
                      </a:rPr>
                      <m:t>是</m:t>
                    </m:r>
                  </m:oMath>
                </a14:m>
                <a:r>
                  <a:rPr lang="zh-CN" altLang="en-US" sz="1800" b="0" dirty="0">
                    <a:latin typeface="+mn-ea"/>
                    <a:sym typeface="+mn-ea"/>
                  </a:rPr>
                  <a:t>实值，于是我们需要将实值</a:t>
                </a:r>
                <a:r>
                  <a:rPr lang="en-US" altLang="zh-CN" sz="1800" b="0" dirty="0">
                    <a:latin typeface="+mn-ea"/>
                    <a:sym typeface="+mn-ea"/>
                  </a:rPr>
                  <a:t>z</a:t>
                </a:r>
                <a:r>
                  <a:rPr lang="zh-CN" altLang="en-US" sz="1800" b="0" dirty="0">
                    <a:latin typeface="+mn-ea"/>
                    <a:sym typeface="+mn-ea"/>
                  </a:rPr>
                  <a:t>转换为</a:t>
                </a:r>
                <a:r>
                  <a:rPr lang="en-US" altLang="zh-CN" sz="1800" b="0" dirty="0">
                    <a:latin typeface="+mn-ea"/>
                    <a:sym typeface="+mn-ea"/>
                  </a:rPr>
                  <a:t>0</a:t>
                </a:r>
                <a:r>
                  <a:rPr lang="en-US" altLang="zh-CN" sz="1800" dirty="0">
                    <a:latin typeface="+mn-ea"/>
                    <a:sym typeface="+mn-ea"/>
                  </a:rPr>
                  <a:t>/1</a:t>
                </a:r>
                <a:r>
                  <a:rPr lang="zh-CN" altLang="en-US" sz="1800" dirty="0">
                    <a:latin typeface="+mn-ea"/>
                    <a:sym typeface="+mn-ea"/>
                  </a:rPr>
                  <a:t>值。最理想的是“单位阶跃函数”</a:t>
                </a:r>
                <a:endParaRPr lang="en-US" altLang="zh-CN" sz="1800" dirty="0">
                  <a:latin typeface="+mn-ea"/>
                  <a:sym typeface="+mn-ea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  <a:sym typeface="+mn-ea"/>
                        </a:rPr>
                        <m:t>𝑦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sym typeface="+mn-ea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</m:ctrlPr>
                            </m:eqArr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0,       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𝑧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&lt;0;</m:t>
                              </m:r>
                            </m:e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0.5,    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𝑧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=0;</m:t>
                              </m:r>
                            </m:e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1,        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𝑧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&gt;0;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800" dirty="0">
                  <a:latin typeface="+mn-ea"/>
                  <a:sym typeface="+mn-ea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lang="en-US" altLang="zh-CN" sz="1800" dirty="0"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xfrm>
                <a:off x="838200" y="1355725"/>
                <a:ext cx="10515600" cy="5356860"/>
              </a:xfrm>
              <a:blipFill rotWithShape="1">
                <a:blip r:embed="rId4"/>
                <a:stretch>
                  <a:fillRect l="-406" r="-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267710" y="1310005"/>
          <a:ext cx="1496060" cy="456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" r:id="rId5" imgW="749300" imgH="228600" progId="Equation.KSEE3">
                  <p:embed/>
                </p:oleObj>
              </mc:Choice>
              <mc:Fallback>
                <p:oleObj name="" r:id="rId5" imgW="7493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67710" y="1310005"/>
                        <a:ext cx="1496060" cy="456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763770" y="2354580"/>
          <a:ext cx="165036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" r:id="rId7" imgW="990600" imgH="228600" progId="Equation.KSEE3">
                  <p:embed/>
                </p:oleObj>
              </mc:Choice>
              <mc:Fallback>
                <p:oleObj name="" r:id="rId7" imgW="9906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63770" y="2354580"/>
                        <a:ext cx="1650365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zh-CN" altLang="en-US" sz="3600" dirty="0">
                <a:sym typeface="+mn-lt"/>
              </a:rPr>
              <a:t>背景</a:t>
            </a:r>
            <a:endParaRPr lang="zh-CN" altLang="en-US" sz="3600" dirty="0"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838200" y="1355725"/>
                <a:ext cx="10515600" cy="5356860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800" dirty="0">
                    <a:sym typeface="+mn-ea"/>
                  </a:rPr>
                  <a:t>但由于单位阶跃函数不连续，因此不能作为连接函数，我们用单调可微的对数几率函数（</a:t>
                </a:r>
                <a:r>
                  <a:rPr lang="en-US" altLang="zh-CN" sz="1800" dirty="0">
                    <a:sym typeface="+mn-ea"/>
                  </a:rPr>
                  <a:t>logistic function</a:t>
                </a:r>
                <a:r>
                  <a:rPr lang="zh-CN" altLang="en-US" sz="1800" dirty="0">
                    <a:sym typeface="+mn-ea"/>
                  </a:rPr>
                  <a:t>）来替代：                                 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ea"/>
                      </a:rPr>
                      <m:t>𝑦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ea"/>
                      </a:rPr>
                      <m:t>=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ea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ea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ea"/>
                              </a:rPr>
                              <m:t>−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ea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1800" dirty="0">
                  <a:sym typeface="+mn-ea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800" dirty="0">
                    <a:sym typeface="+mn-ea"/>
                  </a:rPr>
                  <a:t>对数几率函数是一种</a:t>
                </a:r>
                <a:r>
                  <a:rPr lang="en-US" altLang="zh-CN" sz="1800" dirty="0">
                    <a:sym typeface="+mn-ea"/>
                  </a:rPr>
                  <a:t>sigmoid</a:t>
                </a:r>
                <a:r>
                  <a:rPr lang="zh-CN" altLang="en-US" sz="1800" dirty="0">
                    <a:sym typeface="+mn-ea"/>
                  </a:rPr>
                  <a:t>函数，它将</a:t>
                </a:r>
                <a:r>
                  <a:rPr lang="en-US" altLang="zh-CN" sz="1800" dirty="0">
                    <a:sym typeface="+mn-ea"/>
                  </a:rPr>
                  <a:t>z</a:t>
                </a:r>
                <a:r>
                  <a:rPr lang="zh-CN" altLang="en-US" sz="1800" dirty="0">
                    <a:sym typeface="+mn-ea"/>
                  </a:rPr>
                  <a:t>值转换为一个接近</a:t>
                </a:r>
                <a:r>
                  <a:rPr lang="en-US" altLang="zh-CN" sz="1800" dirty="0">
                    <a:sym typeface="+mn-ea"/>
                  </a:rPr>
                  <a:t>0</a:t>
                </a:r>
                <a:r>
                  <a:rPr lang="zh-CN" altLang="en-US" sz="1800" dirty="0">
                    <a:sym typeface="+mn-ea"/>
                  </a:rPr>
                  <a:t>或</a:t>
                </a:r>
                <a:r>
                  <a:rPr lang="en-US" altLang="zh-CN" sz="1800" dirty="0">
                    <a:sym typeface="+mn-ea"/>
                  </a:rPr>
                  <a:t>1</a:t>
                </a:r>
                <a:r>
                  <a:rPr lang="zh-CN" altLang="en-US" sz="1800" dirty="0">
                    <a:sym typeface="+mn-ea"/>
                  </a:rPr>
                  <a:t>的</a:t>
                </a:r>
                <a:r>
                  <a:rPr lang="en-US" altLang="zh-CN" sz="1800" dirty="0">
                    <a:sym typeface="+mn-ea"/>
                  </a:rPr>
                  <a:t>y</a:t>
                </a:r>
                <a:r>
                  <a:rPr lang="zh-CN" altLang="en-US" sz="1800" dirty="0">
                    <a:sym typeface="+mn-ea"/>
                  </a:rPr>
                  <a:t>值，并且其输出值在 </a:t>
                </a:r>
                <a:r>
                  <a:rPr lang="en-US" altLang="zh-CN" sz="1800" dirty="0">
                    <a:sym typeface="+mn-ea"/>
                  </a:rPr>
                  <a:t>z=0 </a:t>
                </a:r>
                <a:r>
                  <a:rPr lang="zh-CN" altLang="en-US" sz="1800" dirty="0">
                    <a:sym typeface="+mn-ea"/>
                  </a:rPr>
                  <a:t>处很陡，将对数几率函数作为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ea"/>
                          </a:rPr>
                          <m:t>𝑔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ea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ea"/>
                          </a:rPr>
                          <m:t>∙</m:t>
                        </m:r>
                      </m:e>
                    </m:d>
                    <m:r>
                      <a:rPr lang="zh-CN" altLang="en-US" sz="1800" i="1">
                        <a:latin typeface="Cambria Math" panose="02040503050406030204" pitchFamily="18" charset="0"/>
                        <a:sym typeface="+mn-ea"/>
                      </a:rPr>
                      <m:t>带入</m:t>
                    </m:r>
                  </m:oMath>
                </a14:m>
                <a:r>
                  <a:rPr lang="zh-CN" altLang="en-US" sz="1800" dirty="0">
                    <a:sym typeface="+mn-ea"/>
                  </a:rPr>
                  <a:t>（</a:t>
                </a:r>
                <a:r>
                  <a:rPr lang="en-US" altLang="zh-CN" sz="1800" dirty="0">
                    <a:sym typeface="+mn-ea"/>
                  </a:rPr>
                  <a:t>1</a:t>
                </a:r>
                <a:r>
                  <a:rPr lang="zh-CN" altLang="en-US" sz="1800" dirty="0">
                    <a:sym typeface="+mn-ea"/>
                  </a:rPr>
                  <a:t>）式得：</a:t>
                </a:r>
                <a:endParaRPr lang="en-US" altLang="zh-CN" sz="1800" dirty="0">
                  <a:sym typeface="+mn-ea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  <a:sym typeface="+mn-ea"/>
                        </a:rPr>
                        <m:t>𝑦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sym typeface="+mn-ea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sym typeface="+mn-ea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sym typeface="+mn-ea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sym typeface="+mn-ea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+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𝑏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1800" dirty="0"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xfrm>
                <a:off x="838200" y="1355725"/>
                <a:ext cx="10515600" cy="5356860"/>
              </a:xfrm>
              <a:blipFill rotWithShape="1">
                <a:blip r:embed="rId4"/>
                <a:stretch>
                  <a:fillRect l="-406" r="-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825" y="3920173"/>
            <a:ext cx="5028349" cy="2792412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zh-CN" altLang="en-US" sz="3600" dirty="0">
                <a:sym typeface="+mn-lt"/>
              </a:rPr>
              <a:t>背景</a:t>
            </a:r>
            <a:endParaRPr lang="zh-CN" altLang="en-US" sz="3600" dirty="0"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722242" y="1501140"/>
                <a:ext cx="10747513" cy="5356860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800" dirty="0">
                    <a:sym typeface="+mn-ea"/>
                  </a:rPr>
                  <a:t>上式经过变换可化为：</a:t>
                </a:r>
                <a:endParaRPr lang="en-US" altLang="zh-CN" sz="1800" dirty="0">
                  <a:sym typeface="+mn-ea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lang="en-US" altLang="zh-CN" sz="1800" dirty="0">
                  <a:sym typeface="+mn-ea"/>
                </a:endParaRPr>
              </a:p>
              <a:p>
                <a:pPr algn="just"/>
                <a:r>
                  <a:rPr lang="zh-CN" altLang="en-US" sz="1800" dirty="0">
                    <a:sym typeface="+mn-ea"/>
                  </a:rPr>
                  <a:t>若将 </a:t>
                </a:r>
                <a:r>
                  <a:rPr lang="en-US" altLang="zh-CN" sz="1800" dirty="0">
                    <a:sym typeface="+mn-ea"/>
                  </a:rPr>
                  <a:t>y </a:t>
                </a:r>
                <a:r>
                  <a:rPr lang="zh-CN" altLang="en-US" sz="1800" dirty="0">
                    <a:sym typeface="+mn-ea"/>
                  </a:rPr>
                  <a:t>视为样本</a:t>
                </a:r>
                <a:r>
                  <a:rPr lang="en-US" altLang="zh-CN" sz="1800" dirty="0">
                    <a:sym typeface="+mn-ea"/>
                  </a:rPr>
                  <a:t>x</a:t>
                </a:r>
                <a:r>
                  <a:rPr lang="zh-CN" altLang="en-US" sz="1800" dirty="0">
                    <a:sym typeface="+mn-ea"/>
                  </a:rPr>
                  <a:t>作为正例的可能性，则 </a:t>
                </a:r>
                <a:r>
                  <a:rPr lang="en-US" altLang="zh-CN" sz="1800" dirty="0">
                    <a:sym typeface="+mn-ea"/>
                  </a:rPr>
                  <a:t>1-y </a:t>
                </a:r>
                <a:r>
                  <a:rPr lang="zh-CN" altLang="en-US" sz="1800" dirty="0">
                    <a:sym typeface="+mn-ea"/>
                  </a:rPr>
                  <a:t>是其反例的可能性，两者的比值为：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  <a:sym typeface="+mn-ea"/>
                          </a:rPr>
                          <m:t>y</m:t>
                        </m:r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sym typeface="+mn-ea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1800" i="1" smtClean="0">
                            <a:latin typeface="Cambria Math" panose="02040503050406030204" pitchFamily="18" charset="0"/>
                            <a:sym typeface="+mn-ea"/>
                          </a:rPr>
                          <m:t>y</m:t>
                        </m:r>
                      </m:den>
                    </m:f>
                  </m:oMath>
                </a14:m>
                <a:r>
                  <a:rPr lang="zh-CN" altLang="en-US" sz="1800" dirty="0">
                    <a:sym typeface="+mn-ea"/>
                  </a:rPr>
                  <a:t>，称为几率，反映了</a:t>
                </a:r>
                <a:r>
                  <a:rPr lang="en-US" altLang="zh-CN" sz="1800" dirty="0">
                    <a:sym typeface="+mn-ea"/>
                  </a:rPr>
                  <a:t>x</a:t>
                </a:r>
                <a:r>
                  <a:rPr lang="zh-CN" altLang="en-US" sz="1800" dirty="0">
                    <a:sym typeface="+mn-ea"/>
                  </a:rPr>
                  <a:t>作为正例的相对可能性，对几率取对数则得到“对数几率”</a:t>
                </a:r>
                <a:endParaRPr lang="en-US" altLang="zh-CN" sz="1800" dirty="0">
                  <a:sym typeface="+mn-ea"/>
                </a:endParaRPr>
              </a:p>
              <a:p>
                <a:pPr algn="just"/>
                <a:r>
                  <a:rPr lang="zh-CN" altLang="en-US" sz="1800" dirty="0">
                    <a:sym typeface="+mn-ea"/>
                  </a:rPr>
                  <a:t>由此可以看出，实际上是在用线性回归模型的预测结果去逼近真实标记的对数几率，因此其对应的模型称为“对数几率回归”（</a:t>
                </a:r>
                <a:r>
                  <a:rPr lang="en-US" altLang="zh-CN" sz="1800" dirty="0">
                    <a:sym typeface="+mn-ea"/>
                  </a:rPr>
                  <a:t>logistic regression</a:t>
                </a:r>
                <a:r>
                  <a:rPr lang="zh-CN" altLang="en-US" sz="1800" dirty="0">
                    <a:sym typeface="+mn-ea"/>
                  </a:rPr>
                  <a:t>）。</a:t>
                </a:r>
                <a:endParaRPr lang="en-US" altLang="zh-CN" sz="1800" dirty="0">
                  <a:sym typeface="+mn-ea"/>
                </a:endParaRPr>
              </a:p>
              <a:p>
                <a:pPr algn="just"/>
                <a:r>
                  <a:rPr lang="zh-CN" altLang="en-US" sz="1800" b="1" dirty="0">
                    <a:sym typeface="+mn-ea"/>
                  </a:rPr>
                  <a:t>注意：虽然它的名字叫回归，但事实上是一个分类学习方法</a:t>
                </a:r>
                <a:endParaRPr lang="en-US" altLang="zh-CN" sz="1800" b="1" dirty="0">
                  <a:sym typeface="+mn-ea"/>
                </a:endParaRPr>
              </a:p>
              <a:p>
                <a:pPr algn="just"/>
                <a:r>
                  <a:rPr lang="zh-CN" altLang="en-US" sz="1800" b="1" dirty="0">
                    <a:sym typeface="+mn-ea"/>
                  </a:rPr>
                  <a:t>优点：</a:t>
                </a:r>
                <a:r>
                  <a:rPr lang="zh-CN" altLang="en-US" sz="1800" dirty="0">
                    <a:sym typeface="+mn-ea"/>
                  </a:rPr>
                  <a:t>直接对分类可能性进行建模，无需事先假设数据分布</a:t>
                </a:r>
                <a:endParaRPr lang="en-US" altLang="zh-CN" sz="1800" dirty="0">
                  <a:sym typeface="+mn-ea"/>
                </a:endParaRPr>
              </a:p>
              <a:p>
                <a:pPr marL="0" indent="0" algn="just">
                  <a:buNone/>
                </a:pPr>
                <a:r>
                  <a:rPr lang="en-US" altLang="zh-CN" sz="1800" dirty="0">
                    <a:sym typeface="+mn-ea"/>
                  </a:rPr>
                  <a:t>              </a:t>
                </a:r>
                <a:r>
                  <a:rPr lang="zh-CN" altLang="en-US" sz="1800" dirty="0">
                    <a:sym typeface="+mn-ea"/>
                  </a:rPr>
                  <a:t>它不仅可以预测出类别，而是可得到近似概率预测，这对许多需利用概率辅助决策的任务很有用</a:t>
                </a:r>
                <a:endParaRPr lang="en-US" altLang="zh-CN" sz="1800" dirty="0">
                  <a:sym typeface="+mn-ea"/>
                </a:endParaRPr>
              </a:p>
              <a:p>
                <a:pPr marL="0" indent="0" algn="just">
                  <a:buNone/>
                </a:pPr>
                <a:r>
                  <a:rPr lang="en-US" altLang="zh-CN" sz="1800" dirty="0">
                    <a:sym typeface="+mn-ea"/>
                  </a:rPr>
                  <a:t>              </a:t>
                </a:r>
                <a:r>
                  <a:rPr lang="zh-CN" altLang="en-US" sz="1800" dirty="0">
                    <a:sym typeface="+mn-ea"/>
                  </a:rPr>
                  <a:t>对率函数是任意阶可导的凸函数，有很好的数学行知，可以用优化算法求最优解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xfrm>
                <a:off x="722242" y="1501140"/>
                <a:ext cx="10747513" cy="5356860"/>
              </a:xfrm>
              <a:blipFill rotWithShape="1">
                <a:blip r:embed="rId4"/>
                <a:stretch>
                  <a:fillRect l="-340" r="-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4:artisticCrisscrossEtching id="{20635BF5-3734-417C-B482-45D4FCACCC71}"/>
                  </a:ext>
                </a:extLst>
              </p:cNvPr>
              <p:cNvSpPr txBox="1"/>
              <p:nvPr/>
            </p:nvSpPr>
            <p:spPr>
              <a:xfrm>
                <a:off x="5175459" y="1690688"/>
                <a:ext cx="1841081" cy="5216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459" y="1690688"/>
                <a:ext cx="1841081" cy="52161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90526"/>
            <a:ext cx="10515600" cy="1325563"/>
          </a:xfr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r>
              <a:rPr lang="zh-CN" altLang="en-US" dirty="0">
                <a:sym typeface="+mn-lt"/>
              </a:rPr>
              <a:t>二项</a:t>
            </a:r>
            <a:r>
              <a:rPr lang="en-US" altLang="zh-CN" dirty="0">
                <a:sym typeface="+mn-lt"/>
              </a:rPr>
              <a:t>Logistic</a:t>
            </a:r>
            <a:r>
              <a:rPr lang="zh-CN" altLang="en-US" dirty="0">
                <a:sym typeface="+mn-lt"/>
              </a:rPr>
              <a:t>回归模型</a:t>
            </a:r>
            <a:endParaRPr lang="zh-CN" altLang="en-US" dirty="0"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half" idx="1"/>
                <p:custDataLst>
                  <p:tags r:id="rId2"/>
                </p:custDataLst>
              </p:nvPr>
            </p:nvSpPr>
            <p:spPr>
              <a:xfrm>
                <a:off x="838200" y="1557063"/>
                <a:ext cx="10515600" cy="4351338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800" dirty="0">
                    <a:sym typeface="+mn-lt"/>
                  </a:rPr>
                  <a:t>将上面式子中的 </a:t>
                </a:r>
                <a:r>
                  <a:rPr lang="en-US" altLang="zh-CN" sz="1800" dirty="0">
                    <a:sym typeface="+mn-lt"/>
                  </a:rPr>
                  <a:t>y </a:t>
                </a:r>
                <a:r>
                  <a:rPr lang="zh-CN" altLang="en-US" sz="1800" dirty="0">
                    <a:sym typeface="+mn-lt"/>
                  </a:rPr>
                  <a:t>视为后验概率估计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𝑝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𝑦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=1|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𝑥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)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sym typeface="+mn-lt"/>
                      </a:rPr>
                      <m:t>，</m:t>
                    </m:r>
                  </m:oMath>
                </a14:m>
                <a:r>
                  <a:rPr lang="zh-CN" altLang="en-US" sz="1800" dirty="0">
                    <a:sym typeface="+mn-lt"/>
                  </a:rPr>
                  <a:t>则上式可重新写为：</a:t>
                </a:r>
                <a:endParaRPr lang="en-US" altLang="zh-CN" sz="1800" dirty="0">
                  <a:sym typeface="+mn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i="1" dirty="0">
                          <a:latin typeface="Cambria Math" panose="02040503050406030204" pitchFamily="18" charset="0"/>
                          <a:sym typeface="+mn-lt"/>
                        </a:rPr>
                        <m:t>ln</m:t>
                      </m:r>
                      <m:f>
                        <m:f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𝑝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(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𝑦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=1|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𝑥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𝑝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(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𝑦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=0|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𝑥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)</m:t>
                          </m:r>
                        </m:den>
                      </m:f>
                      <m:r>
                        <a:rPr lang="en-US" altLang="zh-CN" sz="1800" b="0" i="0" dirty="0" smtClean="0">
                          <a:latin typeface="Cambria Math" panose="02040503050406030204" pitchFamily="18" charset="0"/>
                          <a:sym typeface="+mn-lt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𝑤</m:t>
                          </m:r>
                        </m:e>
                        <m:sup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sym typeface="+mn-lt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sym typeface="+mn-lt"/>
                        </a:rPr>
                        <m:t>+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sym typeface="+mn-lt"/>
                        </a:rPr>
                        <m:t>𝑏</m:t>
                      </m:r>
                    </m:oMath>
                  </m:oMathPara>
                </a14:m>
                <a:endParaRPr lang="en-US" altLang="zh-CN" sz="1800" dirty="0">
                  <a:sym typeface="+mn-lt"/>
                </a:endParaRPr>
              </a:p>
              <a:p>
                <a:r>
                  <a:rPr lang="zh-CN" altLang="en-US" sz="1800" dirty="0">
                    <a:sym typeface="+mn-lt"/>
                  </a:rPr>
                  <a:t>显然有：</a:t>
                </a:r>
                <a:endParaRPr lang="en-US" altLang="zh-CN" sz="1800" dirty="0">
                  <a:sym typeface="+mn-lt"/>
                </a:endParaRPr>
              </a:p>
              <a:p>
                <a:pPr marL="0" indent="0">
                  <a:buNone/>
                </a:pPr>
                <a:endParaRPr lang="en-US" altLang="zh-CN" sz="1800" dirty="0">
                  <a:sym typeface="+mn-lt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  <p:custDataLst>
                  <p:tags r:id="rId3"/>
                </p:custDataLst>
              </p:nvPr>
            </p:nvSpPr>
            <p:spPr>
              <a:xfrm>
                <a:off x="838200" y="1557063"/>
                <a:ext cx="10515600" cy="4351338"/>
              </a:xfrm>
              <a:blipFill rotWithShape="1">
                <a:blip r:embed="rId4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305" y="3266378"/>
            <a:ext cx="7291389" cy="3201096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90526"/>
            <a:ext cx="10515600" cy="1325563"/>
          </a:xfr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r>
              <a:rPr lang="zh-CN" altLang="en-US" dirty="0">
                <a:sym typeface="+mn-lt"/>
              </a:rPr>
              <a:t>二项</a:t>
            </a:r>
            <a:r>
              <a:rPr lang="en-US" altLang="zh-CN" dirty="0">
                <a:sym typeface="+mn-lt"/>
              </a:rPr>
              <a:t>Logistic</a:t>
            </a:r>
            <a:r>
              <a:rPr lang="zh-CN" altLang="en-US" dirty="0">
                <a:sym typeface="+mn-lt"/>
              </a:rPr>
              <a:t>回归模型</a:t>
            </a:r>
            <a:endParaRPr lang="zh-CN" altLang="en-US" dirty="0">
              <a:sym typeface="+mn-lt"/>
            </a:endParaRPr>
          </a:p>
        </p:txBody>
      </p:sp>
      <p:pic>
        <p:nvPicPr>
          <p:cNvPr id="8" name="内容占位符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50231" y="1550578"/>
            <a:ext cx="8491538" cy="4916896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90526"/>
            <a:ext cx="10515600" cy="1325563"/>
          </a:xfr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r>
              <a:rPr lang="zh-CN" altLang="en-US" dirty="0">
                <a:sym typeface="+mn-lt"/>
              </a:rPr>
              <a:t>二项</a:t>
            </a:r>
            <a:r>
              <a:rPr lang="en-US" altLang="zh-CN" dirty="0">
                <a:sym typeface="+mn-lt"/>
              </a:rPr>
              <a:t>Logistic</a:t>
            </a:r>
            <a:r>
              <a:rPr lang="zh-CN" altLang="en-US" dirty="0">
                <a:sym typeface="+mn-lt"/>
              </a:rPr>
              <a:t>回归模型</a:t>
            </a:r>
            <a:endParaRPr lang="zh-CN" altLang="en-US" dirty="0">
              <a:sym typeface="+mn-lt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42127" y="1581325"/>
            <a:ext cx="8107745" cy="24620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127" y="4043363"/>
            <a:ext cx="8018225" cy="2057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90526"/>
            <a:ext cx="10515600" cy="1325563"/>
          </a:xfr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r>
              <a:rPr lang="zh-CN" altLang="en-US" dirty="0">
                <a:sym typeface="+mn-lt"/>
              </a:rPr>
              <a:t>决策边界</a:t>
            </a:r>
            <a:r>
              <a:rPr lang="en-US" altLang="zh-CN" b="1" dirty="0"/>
              <a:t>(Decision Boundary)</a:t>
            </a:r>
            <a:endParaRPr lang="zh-CN" altLang="en-US" dirty="0"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>
                <a:extLst>
                  <a:ext uri="{FF2B5EF4-FFF2-40B4-BE49-F238E27FC236}">
                    <a14:artisticCrisscrossEtching id="{27D6A36E-8747-4B89-8905-8966BB7B145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10515599" cy="435133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1800" dirty="0"/>
                  <a:t>由前面的公式可知：</a:t>
                </a:r>
                <a:r>
                  <a:rPr lang="en-US" altLang="zh-CN" sz="18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i="0" smtClean="0">
                        <a:latin typeface="Cambria Math" panose="02040503050406030204" pitchFamily="18" charset="0"/>
                        <a:sym typeface="+mn-ea"/>
                      </a:rPr>
                      <m:t>h</m:t>
                    </m:r>
                    <m:r>
                      <a:rPr lang="en-US" altLang="zh-CN" sz="1800" b="0" i="0" smtClean="0">
                        <a:latin typeface="Cambria Math" panose="02040503050406030204" pitchFamily="18" charset="0"/>
                        <a:sym typeface="+mn-ea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800" b="0" i="0" smtClean="0">
                        <a:latin typeface="Cambria Math" panose="02040503050406030204" pitchFamily="18" charset="0"/>
                        <a:sym typeface="+mn-ea"/>
                      </a:rPr>
                      <m:t>z</m:t>
                    </m:r>
                    <m:r>
                      <a:rPr lang="en-US" altLang="zh-CN" sz="1800" b="0" i="0" smtClean="0">
                        <a:latin typeface="Cambria Math" panose="02040503050406030204" pitchFamily="18" charset="0"/>
                        <a:sym typeface="+mn-ea"/>
                      </a:rPr>
                      <m:t>)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sym typeface="+mn-ea"/>
                      </a:rPr>
                      <m:t>=</m:t>
                    </m:r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  <a:sym typeface="+mn-ea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sym typeface="+mn-ea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sym typeface="+mn-ea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1800" i="1" smtClean="0">
                                <a:latin typeface="Cambria Math" panose="02040503050406030204" pitchFamily="18" charset="0"/>
                                <a:sym typeface="+mn-ea"/>
                              </a:rPr>
                              <m:t>z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i="1" smtClean="0">
                          <a:latin typeface="Cambria Math" panose="02040503050406030204" pitchFamily="18" charset="0"/>
                          <a:sym typeface="+mn-ea"/>
                        </a:rPr>
                        <m:t>z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sym typeface="+mn-ea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sym typeface="+mn-ea"/>
                            </a:rPr>
                            <m:t>𝑤</m:t>
                          </m:r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sym typeface="+mn-ea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b="0" i="1" smtClean="0">
                          <a:latin typeface="Cambria Math" panose="02040503050406030204" pitchFamily="18" charset="0"/>
                          <a:sym typeface="+mn-ea"/>
                        </a:rPr>
                        <m:t>𝑥</m:t>
                      </m:r>
                    </m:oMath>
                  </m:oMathPara>
                </a14:m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≥0.5⇒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&lt;0.5⟹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800" dirty="0"/>
              </a:p>
              <a:p>
                <a:r>
                  <a:rPr lang="zh-CN" altLang="en-US" sz="1800" dirty="0"/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sz="1800" dirty="0"/>
                  <a:t>，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zh-CN" altLang="en-US" sz="1800" dirty="0"/>
                  <a:t>此时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sym typeface="+mn-ea"/>
                          </a:rPr>
                          <m:t>𝑤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sym typeface="+mn-ea"/>
                          </a:rPr>
                          <m:t>𝑇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  <a:sym typeface="+mn-ea"/>
                      </a:rPr>
                      <m:t>𝑥</m:t>
                    </m:r>
                  </m:oMath>
                </a14:m>
                <a:r>
                  <a:rPr lang="en-US" altLang="zh-CN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en-US" sz="1800" dirty="0"/>
                  <a:t>，总的来说</a:t>
                </a:r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sym typeface="+mn-ea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sym typeface="+mn-ea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sym typeface="+mn-ea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altLang="zh-CN" sz="1800" dirty="0"/>
                                <m:t> 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≥0⇒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sym typeface="+mn-ea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sym typeface="+mn-ea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sym typeface="+mn-ea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altLang="zh-CN" sz="1800" dirty="0"/>
                                <m:t> 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&lt;0⟹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800" dirty="0"/>
              </a:p>
              <a:p>
                <a:r>
                  <a:rPr lang="zh-CN" altLang="en-US" sz="1800" dirty="0"/>
                  <a:t>因此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>
                        <a:latin typeface="Cambria Math" panose="02040503050406030204" pitchFamily="18" charset="0"/>
                        <a:sym typeface="+mn-ea"/>
                      </a:rPr>
                      <m:t>z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sym typeface="+mn-ea"/>
                      </a:rPr>
                      <m:t>=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sym typeface="+mn-ea"/>
                          </a:rPr>
                          <m:t>𝑤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sym typeface="+mn-ea"/>
                          </a:rPr>
                          <m:t>𝑇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  <a:sym typeface="+mn-ea"/>
                      </a:rPr>
                      <m:t>𝑥</m:t>
                    </m:r>
                  </m:oMath>
                </a14:m>
                <a:r>
                  <a:rPr lang="zh-CN" altLang="en-US" sz="1800" dirty="0"/>
                  <a:t>就是决策边界（分类超平面）。决策边界可以是线性的，也可以是非线性的。下面举例说明：</a:t>
                </a:r>
                <a:endParaRPr lang="en-US" altLang="zh-CN" sz="1800" dirty="0"/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10515599" cy="4351338"/>
              </a:xfrm>
              <a:blipFill rotWithShape="1">
                <a:blip r:embed="rId2"/>
                <a:stretch>
                  <a:fillRect l="-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90526"/>
            <a:ext cx="10515600" cy="1325563"/>
          </a:xfr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r>
              <a:rPr lang="zh-CN" altLang="en-US" dirty="0">
                <a:sym typeface="+mn-lt"/>
              </a:rPr>
              <a:t>决策边界</a:t>
            </a:r>
            <a:r>
              <a:rPr lang="en-US" altLang="zh-CN" b="1" dirty="0"/>
              <a:t>(Decision Boundary)</a:t>
            </a:r>
            <a:endParaRPr lang="zh-CN" altLang="en-US" dirty="0">
              <a:sym typeface="+mn-lt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52" y="2264393"/>
            <a:ext cx="3781425" cy="2743200"/>
          </a:xfrm>
        </p:spPr>
      </p:pic>
      <p:sp>
        <p:nvSpPr>
          <p:cNvPr id="6" name="文本框 5"/>
          <p:cNvSpPr txBox="1"/>
          <p:nvPr/>
        </p:nvSpPr>
        <p:spPr>
          <a:xfrm>
            <a:off x="838200" y="1789333"/>
            <a:ext cx="66360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假设有两类数据集，如图所示：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这是，我们假设决策边界是线性的，则假设函数为</a:t>
            </a:r>
            <a:r>
              <a:rPr lang="en-US" altLang="zh-CN" dirty="0"/>
              <a:t>: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052" y="5620186"/>
            <a:ext cx="2033887" cy="3754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487" y="1053306"/>
            <a:ext cx="4159843" cy="369331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489" y="4929041"/>
            <a:ext cx="2543100" cy="1346157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90526"/>
            <a:ext cx="10515600" cy="1325563"/>
          </a:xfr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r>
              <a:rPr lang="zh-CN" altLang="en-US" dirty="0">
                <a:sym typeface="+mn-lt"/>
              </a:rPr>
              <a:t>决策边界</a:t>
            </a:r>
            <a:r>
              <a:rPr lang="en-US" altLang="zh-CN" b="1" dirty="0"/>
              <a:t>(Decision Boundary)</a:t>
            </a:r>
            <a:endParaRPr lang="zh-CN" altLang="en-US" dirty="0">
              <a:sym typeface="+mn-lt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838199" y="1639910"/>
            <a:ext cx="5648326" cy="4351338"/>
          </a:xfrm>
        </p:spPr>
        <p:txBody>
          <a:bodyPr>
            <a:normAutofit/>
          </a:bodyPr>
          <a:lstStyle/>
          <a:p>
            <a:r>
              <a:rPr lang="zh-CN" altLang="en-US" sz="1600" dirty="0">
                <a:solidFill>
                  <a:srgbClr val="4F4F4F"/>
                </a:solidFill>
                <a:latin typeface="-apple-system"/>
              </a:rPr>
              <a:t>假设有这样两类的训练数据，如下图所示：</a:t>
            </a:r>
            <a:endParaRPr lang="en-US" altLang="zh-CN" sz="1600" dirty="0">
              <a:solidFill>
                <a:srgbClr val="4F4F4F"/>
              </a:solidFill>
              <a:latin typeface="-apple-system"/>
            </a:endParaRPr>
          </a:p>
          <a:p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r>
              <a:rPr lang="zh-CN" altLang="en-US" sz="1600" dirty="0">
                <a:solidFill>
                  <a:srgbClr val="4F4F4F"/>
                </a:solidFill>
                <a:latin typeface="-apple-system"/>
              </a:rPr>
              <a:t>显然，这个例子比上一例更为复杂，此时决策边界不适合使用线性的函数去表示，这是我们需要考虑非线性的拟合，这里，我们使用多项式拟合。即：</a:t>
            </a:r>
            <a:endParaRPr lang="en-US" altLang="zh-CN" sz="1600" dirty="0">
              <a:solidFill>
                <a:srgbClr val="4F4F4F"/>
              </a:solidFill>
              <a:latin typeface="-apple-system"/>
            </a:endParaRPr>
          </a:p>
          <a:p>
            <a:pPr marL="0" indent="0">
              <a:buNone/>
            </a:pPr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45" y="2114550"/>
            <a:ext cx="3781425" cy="2628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782" y="5991248"/>
            <a:ext cx="2542857" cy="37142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86525" y="1639910"/>
            <a:ext cx="5186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我们假设求得：</a:t>
            </a:r>
            <a:endParaRPr lang="zh-CN" altLang="en-US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010" y="1601032"/>
            <a:ext cx="2730808" cy="36933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486525" y="2114550"/>
            <a:ext cx="4605293" cy="362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/>
              <a:t>当</a:t>
            </a:r>
            <a:r>
              <a:rPr lang="en-US" altLang="zh-CN" sz="1600" dirty="0"/>
              <a:t>θ</a:t>
            </a:r>
            <a:r>
              <a:rPr lang="zh-CN" altLang="en-US" sz="1600" dirty="0"/>
              <a:t>确定后，决策边界就会确定。</a:t>
            </a:r>
            <a:endParaRPr lang="zh-CN" alt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248" y="2510684"/>
            <a:ext cx="4009524" cy="285714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86525" y="5291383"/>
            <a:ext cx="5186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从上图可见，可得</a:t>
            </a:r>
            <a:r>
              <a:rPr lang="en-US" altLang="zh-CN" sz="1600" dirty="0"/>
              <a:t>:                       </a:t>
            </a:r>
            <a:r>
              <a:rPr lang="zh-CN" altLang="en-US" sz="1600" dirty="0"/>
              <a:t>决策边界为：</a:t>
            </a:r>
            <a:endParaRPr lang="zh-CN" altLang="en-US" sz="16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9647" y="5869269"/>
            <a:ext cx="2374303" cy="69048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087" y="5852978"/>
            <a:ext cx="1033413" cy="381378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90526"/>
            <a:ext cx="10515600" cy="1325563"/>
          </a:xfr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r>
              <a:rPr lang="zh-CN" altLang="en-US" dirty="0">
                <a:sym typeface="+mn-lt"/>
              </a:rPr>
              <a:t>模型参数估计</a:t>
            </a:r>
            <a:endParaRPr lang="zh-CN" altLang="en-US" dirty="0"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half" idx="1"/>
                <p:custDataLst>
                  <p:tags r:id="rId2"/>
                </p:custDataLst>
              </p:nvPr>
            </p:nvSpPr>
            <p:spPr>
              <a:xfrm>
                <a:off x="842962" y="1825625"/>
                <a:ext cx="10515599" cy="4351338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800" dirty="0">
                    <a:sym typeface="+mn-lt"/>
                  </a:rPr>
                  <a:t>Logistic</a:t>
                </a:r>
                <a:r>
                  <a:rPr lang="zh-CN" altLang="en-US" sz="1800" dirty="0">
                    <a:sym typeface="+mn-lt"/>
                  </a:rPr>
                  <a:t>回归模型学习时，对于给定数据集</a:t>
                </a:r>
                <a:r>
                  <a:rPr lang="en-US" altLang="zh-CN" sz="1800" dirty="0">
                    <a:sym typeface="+mn-lt"/>
                  </a:rPr>
                  <a:t>T={(x1,y1),(x2,y2),(x3,y3)…(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𝑥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𝑚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 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𝑦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1800" dirty="0">
                    <a:sym typeface="+mn-lt"/>
                  </a:rPr>
                  <a:t>)}</a:t>
                </a:r>
                <a:r>
                  <a:rPr lang="zh-CN" altLang="en-US" sz="1800" dirty="0">
                    <a:sym typeface="+mn-lt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  <a:sym typeface="+mn-lt"/>
                          </a:rPr>
                          <m:t>i</m:t>
                        </m:r>
                      </m:sub>
                    </m:sSub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lt"/>
                      </a:rPr>
                      <m:t>∈</m:t>
                    </m:r>
                    <m:sSup>
                      <m:s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lt"/>
                          </a:rPr>
                          <m:t>𝑅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lt"/>
                          </a:rPr>
                          <m:t>𝑛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lt"/>
                          </a:rPr>
                          <m:t>𝑦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lt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lt"/>
                      </a:rPr>
                      <m:t>∈{0,1}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lt"/>
                      </a:rPr>
                      <m:t>，</m:t>
                    </m:r>
                  </m:oMath>
                </a14:m>
                <a:r>
                  <a:rPr lang="zh-CN" altLang="en-US" sz="1800" dirty="0">
                    <a:sym typeface="+mn-lt"/>
                  </a:rPr>
                  <a:t>可以用极大似然估计估计模型参数，从而得到</a:t>
                </a:r>
                <a:r>
                  <a:rPr lang="en-US" altLang="zh-CN" sz="1800" dirty="0">
                    <a:sym typeface="+mn-lt"/>
                  </a:rPr>
                  <a:t>logistic</a:t>
                </a:r>
                <a:r>
                  <a:rPr lang="zh-CN" altLang="en-US" sz="1800" dirty="0">
                    <a:sym typeface="+mn-lt"/>
                  </a:rPr>
                  <a:t>回归模型。</a:t>
                </a:r>
                <a:endParaRPr lang="en-US" altLang="zh-CN" sz="1800" dirty="0">
                  <a:sym typeface="+mn-lt"/>
                </a:endParaRPr>
              </a:p>
              <a:p>
                <a:r>
                  <a:rPr lang="zh-CN" altLang="en-US" sz="1800" dirty="0">
                    <a:sym typeface="+mn-lt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𝑝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𝑃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(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𝑦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=1|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𝑥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)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sym typeface="+mn-lt"/>
                      </a:rPr>
                      <m:t>为</m:t>
                    </m:r>
                  </m:oMath>
                </a14:m>
                <a:r>
                  <a:rPr lang="zh-CN" altLang="en-US" sz="1800" dirty="0">
                    <a:sym typeface="+mn-lt"/>
                  </a:rPr>
                  <a:t>给定条件下得到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𝑦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=1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sym typeface="+mn-lt"/>
                      </a:rPr>
                      <m:t>的</m:t>
                    </m:r>
                  </m:oMath>
                </a14:m>
                <a:r>
                  <a:rPr lang="zh-CN" altLang="en-US" sz="1800" dirty="0">
                    <a:sym typeface="+mn-lt"/>
                  </a:rPr>
                  <a:t>概率，同样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sym typeface="+mn-lt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sym typeface="+mn-lt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sym typeface="+mn-lt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0</m:t>
                    </m:r>
                  </m:oMath>
                </a14:m>
                <a:r>
                  <a:rPr lang="zh-CN" altLang="en-US" sz="1800" dirty="0">
                    <a:sym typeface="+mn-lt"/>
                  </a:rPr>
                  <a:t>的概率为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+mn-lt"/>
                      </a:rPr>
                      <m:t>𝑃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sym typeface="+mn-lt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sym typeface="+mn-lt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  <a:sym typeface="+mn-lt"/>
                          </a:rPr>
                          <m:t>=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0</m:t>
                        </m:r>
                      </m:e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sym typeface="+mn-lt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sym typeface="+mn-lt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800" i="1" smtClean="0">
                        <a:latin typeface="Cambria Math" panose="02040503050406030204" pitchFamily="18" charset="0"/>
                        <a:sym typeface="+mn-lt"/>
                      </a:rPr>
                      <m:t>=</m:t>
                    </m:r>
                    <m:r>
                      <a:rPr lang="en-US" altLang="zh-CN" sz="1800" b="0" i="0" smtClean="0">
                        <a:latin typeface="Cambria Math" panose="02040503050406030204" pitchFamily="18" charset="0"/>
                        <a:sym typeface="+mn-lt"/>
                      </a:rPr>
                      <m:t>1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−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𝑝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>
                    <a:sym typeface="+mn-lt"/>
                  </a:rPr>
                  <a:t>，所以得到一个观测值的概率为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𝑃</m:t>
                    </m:r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lt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800" i="1">
                                <a:latin typeface="Cambria Math" panose="02040503050406030204" pitchFamily="18" charset="0"/>
                                <a:sym typeface="+mn-lt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lt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+mn-lt"/>
                      </a:rPr>
                      <m:t>=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lt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lt"/>
                              </a:rPr>
                              <m:t>𝑖</m:t>
                            </m:r>
                          </m:sub>
                        </m:sSub>
                      </m:e>
                      <m:sup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lt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lt"/>
                              </a:rPr>
                              <m:t>𝑖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sym typeface="+mn-lt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sym typeface="+mn-lt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sym typeface="+mn-lt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  <a:sym typeface="+mn-lt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sz="1800" dirty="0">
                            <a:sym typeface="+mn-lt"/>
                          </a:rPr>
                          <m:t> 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+mn-lt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lt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+mn-lt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1800" dirty="0">
                    <a:sym typeface="+mn-lt"/>
                  </a:rPr>
                  <a:t>。</a:t>
                </a:r>
                <a:endParaRPr lang="en-US" altLang="zh-CN" sz="1800" dirty="0">
                  <a:sym typeface="+mn-lt"/>
                </a:endParaRPr>
              </a:p>
              <a:p>
                <a:endParaRPr lang="en-US" altLang="zh-CN" sz="1800" dirty="0">
                  <a:sym typeface="+mn-lt"/>
                </a:endParaRPr>
              </a:p>
              <a:p>
                <a:r>
                  <a:rPr lang="zh-CN" altLang="en-US" sz="1800" dirty="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因为各个观测样本之间相互独立，那么它们的联合分布为各边缘分布的乘积。得到似然函数为：</a:t>
                </a:r>
                <a:endParaRPr lang="en-US" altLang="zh-CN" sz="1800" dirty="0">
                  <a:solidFill>
                    <a:srgbClr val="000000"/>
                  </a:solidFill>
                  <a:latin typeface="Verdana" panose="020B0604030504040204" pitchFamily="34" charset="0"/>
                </a:endParaRPr>
              </a:p>
              <a:p>
                <a:endParaRPr lang="en-US" altLang="zh-CN" sz="1800" dirty="0">
                  <a:solidFill>
                    <a:srgbClr val="000000"/>
                  </a:solidFill>
                  <a:latin typeface="Verdana" panose="020B0604030504040204" pitchFamily="34" charset="0"/>
                </a:endParaRPr>
              </a:p>
              <a:p>
                <a:endParaRPr lang="en-US" altLang="zh-CN" sz="1800" dirty="0">
                  <a:solidFill>
                    <a:srgbClr val="000000"/>
                  </a:solidFill>
                  <a:latin typeface="Verdana" panose="020B0604030504040204" pitchFamily="34" charset="0"/>
                </a:endParaRPr>
              </a:p>
              <a:p>
                <a:r>
                  <a:rPr lang="zh-CN" altLang="en-US" sz="1800" dirty="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然后我们的目标是求出使这一似然函数的值最大的参数估计，最大似然估计就是求出参数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,</a:t>
                </a:r>
                <a:r>
                  <a:rPr lang="zh-CN" altLang="en-US" sz="1800" dirty="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使得</a:t>
                </a:r>
                <a:r>
                  <a:rPr lang="en-US" altLang="zh-CN" sz="1800" dirty="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L(w)</a:t>
                </a:r>
                <a:r>
                  <a:rPr lang="zh-CN" altLang="en-US" sz="1800" dirty="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取得最大值。</a:t>
                </a:r>
                <a:endParaRPr lang="en-US" altLang="zh-CN" sz="1800" dirty="0">
                  <a:solidFill>
                    <a:srgbClr val="000000"/>
                  </a:solidFill>
                  <a:latin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  <p:custDataLst>
                  <p:tags r:id="rId3"/>
                </p:custDataLst>
              </p:nvPr>
            </p:nvSpPr>
            <p:spPr>
              <a:xfrm>
                <a:off x="842962" y="1825625"/>
                <a:ext cx="10515599" cy="4351338"/>
              </a:xfrm>
              <a:blipFill rotWithShape="1">
                <a:blip r:embed="rId4"/>
                <a:stretch>
                  <a:fillRect l="-348" r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6" name="AutoShape 2" descr="http://img.blog.csdn.net/20140528203021781"/>
          <p:cNvSpPr>
            <a:spLocks noChangeAspect="1" noChangeArrowheads="1"/>
          </p:cNvSpPr>
          <p:nvPr/>
        </p:nvSpPr>
        <p:spPr bwMode="auto">
          <a:xfrm>
            <a:off x="263525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AutoShape 3" descr="http://img.blog.csdn.net/20140528203128218"/>
          <p:cNvSpPr>
            <a:spLocks noChangeAspect="1" noChangeArrowheads="1"/>
          </p:cNvSpPr>
          <p:nvPr/>
        </p:nvSpPr>
        <p:spPr bwMode="auto">
          <a:xfrm>
            <a:off x="1482725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AutoShape 4" descr="http://img.blog.csdn.net/20140528203228140"/>
          <p:cNvSpPr>
            <a:spLocks noChangeAspect="1" noChangeArrowheads="1"/>
          </p:cNvSpPr>
          <p:nvPr/>
        </p:nvSpPr>
        <p:spPr bwMode="auto">
          <a:xfrm>
            <a:off x="136525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AutoShape 5" descr="http://img.blog.csdn.net/20140528203404875"/>
          <p:cNvSpPr>
            <a:spLocks noChangeAspect="1" noChangeArrowheads="1"/>
          </p:cNvSpPr>
          <p:nvPr/>
        </p:nvSpPr>
        <p:spPr bwMode="auto">
          <a:xfrm>
            <a:off x="847725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AutoShape 6" descr="http://img.blog.csdn.net/20140528203619875"/>
          <p:cNvSpPr>
            <a:spLocks noChangeAspect="1" noChangeArrowheads="1"/>
          </p:cNvSpPr>
          <p:nvPr/>
        </p:nvSpPr>
        <p:spPr bwMode="auto">
          <a:xfrm>
            <a:off x="2828925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429001"/>
            <a:ext cx="6496050" cy="414946"/>
          </a:xfrm>
          <a:prstGeom prst="rect">
            <a:avLst/>
          </a:prstGeom>
        </p:spPr>
      </p:pic>
      <p:pic>
        <p:nvPicPr>
          <p:cNvPr id="3080" name="Picture 8" descr="http://img.blog.csdn.net/2014052820410221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575" y="4280452"/>
            <a:ext cx="2990850" cy="634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90526"/>
            <a:ext cx="10515600" cy="1325563"/>
          </a:xfr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r>
              <a:rPr lang="zh-CN" altLang="en-US" dirty="0">
                <a:sym typeface="+mn-lt"/>
              </a:rPr>
              <a:t>模型参数估计</a:t>
            </a:r>
            <a:endParaRPr lang="zh-CN" altLang="en-US" dirty="0"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56685" y="1716089"/>
            <a:ext cx="10515599" cy="435133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dirty="0">
                <a:sym typeface="+mn-lt"/>
              </a:rPr>
              <a:t>对</a:t>
            </a:r>
            <a:r>
              <a:rPr lang="en-US" altLang="zh-CN" sz="1800" dirty="0">
                <a:sym typeface="+mn-lt"/>
              </a:rPr>
              <a:t>L(w)</a:t>
            </a:r>
            <a:r>
              <a:rPr lang="zh-CN" altLang="en-US" sz="1800" dirty="0">
                <a:sym typeface="+mn-lt"/>
              </a:rPr>
              <a:t>取对数得：</a:t>
            </a:r>
            <a:endParaRPr lang="en-US" altLang="zh-CN" sz="1800" dirty="0"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1800" dirty="0"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627" y="1751866"/>
            <a:ext cx="4085714" cy="4761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083" y="2411351"/>
            <a:ext cx="6234115" cy="376561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320" y="2349023"/>
            <a:ext cx="4071371" cy="1325563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294782" y="3699337"/>
            <a:ext cx="528761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这样的方程一共有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n+1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个，所以现在的问题转化为解这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n+1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个方程形成的方程组。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上述方程比较复杂，一般方法似乎不能解之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，因而我们常引入拟牛顿法或梯度下降法进行求解。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4782" y="5285361"/>
            <a:ext cx="5611465" cy="1477328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模型参数估计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952499" y="1539875"/>
            <a:ext cx="3587934" cy="1446213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502128" y="1539875"/>
            <a:ext cx="5737373" cy="4351338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Logistic 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代价函数的意思是，当假设为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h(x)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，而如果训练集中该组数据分类结果为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1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，则使用上式作为代价函数；反之，使用下式。我们通过作图，对该代价函数进行详细分析。</a:t>
            </a:r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pPr latinLnBrk="1"/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当 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y=1 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时，观察上图，易得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:</a:t>
            </a:r>
            <a:br>
              <a:rPr lang="en-US" altLang="zh-CN" sz="1800" dirty="0">
                <a:solidFill>
                  <a:srgbClr val="4F4F4F"/>
                </a:solidFill>
                <a:latin typeface="-apple-system"/>
              </a:rPr>
            </a:br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pPr latinLnBrk="1"/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如果训练集数据结果是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1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（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y=1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），同时假设结果也为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1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，这时由此函数可得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,cost=0;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而这时假设函数结果接近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0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，则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cost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接近无穷大，即为错误的预测付出很大代价。</a:t>
            </a:r>
            <a:endParaRPr lang="zh-CN" altLang="en-US" sz="1800" dirty="0">
              <a:solidFill>
                <a:srgbClr val="4F4F4F"/>
              </a:solidFill>
              <a:latin typeface="-apple-system"/>
            </a:endParaRPr>
          </a:p>
          <a:p>
            <a:endParaRPr lang="zh-CN" altLang="en-US" sz="1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75" y="3429000"/>
            <a:ext cx="3752381" cy="27142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模型参数估计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2057571"/>
            <a:ext cx="4227690" cy="3082467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latinLnBrk="1"/>
            <a:r>
              <a:rPr lang="zh-CN" altLang="en-US" sz="2000" dirty="0">
                <a:solidFill>
                  <a:srgbClr val="4F4F4F"/>
                </a:solidFill>
                <a:latin typeface="-apple-system"/>
              </a:rPr>
              <a:t>当</a:t>
            </a:r>
            <a:r>
              <a:rPr lang="en-US" altLang="zh-CN" sz="2000" dirty="0">
                <a:solidFill>
                  <a:srgbClr val="4F4F4F"/>
                </a:solidFill>
                <a:latin typeface="-apple-system"/>
              </a:rPr>
              <a:t>y=0</a:t>
            </a:r>
            <a:r>
              <a:rPr lang="zh-CN" altLang="en-US" sz="2000" dirty="0">
                <a:solidFill>
                  <a:srgbClr val="4F4F4F"/>
                </a:solidFill>
                <a:latin typeface="-apple-system"/>
              </a:rPr>
              <a:t>时</a:t>
            </a:r>
            <a:endParaRPr lang="zh-CN" altLang="en-US" sz="2000" dirty="0">
              <a:solidFill>
                <a:srgbClr val="4F4F4F"/>
              </a:solidFill>
              <a:latin typeface="-apple-system"/>
            </a:endParaRPr>
          </a:p>
          <a:p>
            <a:pPr algn="just" latinLnBrk="1"/>
            <a:r>
              <a:rPr lang="zh-CN" altLang="en-US" sz="2000" dirty="0">
                <a:solidFill>
                  <a:srgbClr val="4F4F4F"/>
                </a:solidFill>
                <a:latin typeface="-apple-system"/>
              </a:rPr>
              <a:t>观察上图，如果训练集数据是</a:t>
            </a:r>
            <a:r>
              <a:rPr lang="en-US" altLang="zh-CN" sz="2000" dirty="0">
                <a:solidFill>
                  <a:srgbClr val="4F4F4F"/>
                </a:solidFill>
                <a:latin typeface="-apple-system"/>
              </a:rPr>
              <a:t>0</a:t>
            </a:r>
            <a:r>
              <a:rPr lang="zh-CN" altLang="en-US" sz="2000" dirty="0">
                <a:solidFill>
                  <a:srgbClr val="4F4F4F"/>
                </a:solidFill>
                <a:latin typeface="-apple-system"/>
              </a:rPr>
              <a:t>，同时假设结果也为</a:t>
            </a:r>
            <a:r>
              <a:rPr lang="en-US" altLang="zh-CN" sz="2000" dirty="0">
                <a:solidFill>
                  <a:srgbClr val="4F4F4F"/>
                </a:solidFill>
                <a:latin typeface="-apple-system"/>
              </a:rPr>
              <a:t>0</a:t>
            </a:r>
            <a:r>
              <a:rPr lang="zh-CN" altLang="en-US" sz="2000" dirty="0">
                <a:solidFill>
                  <a:srgbClr val="4F4F4F"/>
                </a:solidFill>
                <a:latin typeface="-apple-system"/>
              </a:rPr>
              <a:t>，则此时代价函数值为</a:t>
            </a:r>
            <a:r>
              <a:rPr lang="en-US" altLang="zh-CN" sz="2000" dirty="0">
                <a:solidFill>
                  <a:srgbClr val="4F4F4F"/>
                </a:solidFill>
                <a:latin typeface="-apple-system"/>
              </a:rPr>
              <a:t>0</a:t>
            </a:r>
            <a:r>
              <a:rPr lang="zh-CN" altLang="en-US" sz="2000" dirty="0">
                <a:solidFill>
                  <a:srgbClr val="4F4F4F"/>
                </a:solidFill>
                <a:latin typeface="-apple-system"/>
              </a:rPr>
              <a:t>；相反，如果假设接近</a:t>
            </a:r>
            <a:r>
              <a:rPr lang="en-US" altLang="zh-CN" sz="2000" dirty="0">
                <a:solidFill>
                  <a:srgbClr val="4F4F4F"/>
                </a:solidFill>
                <a:latin typeface="-apple-system"/>
              </a:rPr>
              <a:t>1</a:t>
            </a:r>
            <a:r>
              <a:rPr lang="zh-CN" altLang="en-US" sz="2000" dirty="0">
                <a:solidFill>
                  <a:srgbClr val="4F4F4F"/>
                </a:solidFill>
                <a:latin typeface="-apple-system"/>
              </a:rPr>
              <a:t>，代价值会激增。</a:t>
            </a:r>
            <a:endParaRPr lang="zh-CN" altLang="en-US" sz="2000" dirty="0">
              <a:solidFill>
                <a:srgbClr val="4F4F4F"/>
              </a:solidFill>
              <a:latin typeface="-apple-system"/>
            </a:endParaRPr>
          </a:p>
          <a:p>
            <a:pPr algn="just" latinLnBrk="1"/>
            <a:r>
              <a:rPr lang="zh-CN" altLang="en-US" sz="2000" dirty="0">
                <a:solidFill>
                  <a:srgbClr val="4F4F4F"/>
                </a:solidFill>
                <a:latin typeface="-apple-system"/>
              </a:rPr>
              <a:t>由上面的分析，如上式的代价函数很适合</a:t>
            </a:r>
            <a:r>
              <a:rPr lang="en-US" altLang="zh-CN" sz="2000" dirty="0">
                <a:solidFill>
                  <a:srgbClr val="4F4F4F"/>
                </a:solidFill>
                <a:latin typeface="-apple-system"/>
              </a:rPr>
              <a:t>Logistic</a:t>
            </a:r>
            <a:r>
              <a:rPr lang="zh-CN" altLang="en-US" sz="2000" dirty="0">
                <a:solidFill>
                  <a:srgbClr val="4F4F4F"/>
                </a:solidFill>
                <a:latin typeface="-apple-system"/>
              </a:rPr>
              <a:t>回归，同时该类型的对数函数是凸函数，利于梯度下降的使用。</a:t>
            </a:r>
            <a:endParaRPr lang="zh-CN" altLang="en-US" sz="2000" dirty="0">
              <a:solidFill>
                <a:srgbClr val="4F4F4F"/>
              </a:solidFill>
              <a:latin typeface="-apple-system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模型参数估计</a:t>
            </a:r>
            <a:r>
              <a:rPr lang="zh-CN" altLang="en-US" sz="2800" dirty="0"/>
              <a:t>（gradient descend）</a:t>
            </a:r>
            <a:endParaRPr lang="zh-CN" altLang="en-US" sz="28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latinLnBrk="1"/>
            <a:endParaRPr lang="zh-CN" altLang="en-US" sz="2000" dirty="0">
              <a:solidFill>
                <a:srgbClr val="4F4F4F"/>
              </a:solidFill>
              <a:latin typeface="-apple-system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内容占位符 5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704215" y="1718310"/>
            <a:ext cx="5775960" cy="30581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600" y="967740"/>
            <a:ext cx="3565525" cy="35655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275" y="4776470"/>
            <a:ext cx="528574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模型参数估计</a:t>
            </a:r>
            <a:r>
              <a:rPr lang="zh-CN" altLang="en-US" sz="2800"/>
              <a:t>（</a:t>
            </a:r>
            <a:r>
              <a:rPr lang="en-US" altLang="zh-CN" sz="2800"/>
              <a:t>BFGS</a:t>
            </a:r>
            <a:r>
              <a:rPr lang="zh-CN" altLang="en-US" sz="2800"/>
              <a:t>）</a:t>
            </a:r>
            <a:endParaRPr lang="zh-CN" altLang="en-US" sz="280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532255"/>
            <a:ext cx="8914130" cy="42665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879715" y="5264785"/>
            <a:ext cx="3474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tooltip="" action="ppaction://hlinkfile"/>
              </a:rPr>
              <a:t>https://blog.csdn.net/baimafujinji/article/details/51179381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模型参数估计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635" y="1753235"/>
            <a:ext cx="9142730" cy="33515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90526"/>
            <a:ext cx="10515600" cy="1325563"/>
          </a:xfr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r>
              <a:rPr lang="en-US" altLang="zh-CN" dirty="0">
                <a:sym typeface="+mn-lt"/>
              </a:rPr>
              <a:t>Logistic</a:t>
            </a:r>
            <a:r>
              <a:rPr lang="zh-CN" altLang="en-US" dirty="0">
                <a:sym typeface="+mn-lt"/>
              </a:rPr>
              <a:t>的拓展</a:t>
            </a:r>
            <a:endParaRPr lang="zh-CN" altLang="en-US" dirty="0"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38199" y="1825625"/>
            <a:ext cx="10515599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根据上述所讲，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Logistic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回归只能进行二分类，但实际生活中，存在着许多的多元分类，如：给邮件上标签，即对邮件进行分类；所患疾病的判断；天气情况的预测，等等。但也可以推广为多项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logistic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回归</a:t>
            </a:r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r>
              <a:rPr lang="zh-CN" altLang="en-US" sz="1800" dirty="0">
                <a:sym typeface="+mn-lt"/>
              </a:rPr>
              <a:t>如果遇到多元分类问题，</a:t>
            </a:r>
            <a:r>
              <a:rPr lang="zh-CN" altLang="zh-CN" sz="1800" dirty="0">
                <a:solidFill>
                  <a:srgbClr val="4F4F4F"/>
                </a:solidFill>
                <a:latin typeface="Arial" panose="020B0604020202020204" pitchFamily="34" charset="0"/>
                <a:ea typeface="-apple-system"/>
              </a:rPr>
              <a:t>可以将其看作是多个二分类的问题来解决。举了例子，假设有训练集数据，如下图所示:</a:t>
            </a:r>
            <a:endParaRPr lang="en-US" altLang="zh-CN" sz="1800" dirty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" y="3905619"/>
            <a:ext cx="3990476" cy="295238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24966" y="4320148"/>
            <a:ext cx="5772150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20000"/>
              </a:lnSpc>
              <a:spcBef>
                <a:spcPts val="1000"/>
              </a:spcBef>
            </a:pPr>
            <a:r>
              <a:rPr lang="zh-CN" altLang="en-US" dirty="0">
                <a:latin typeface="-apple-system"/>
              </a:rPr>
              <a:t>显然，如图所示，数据应该是分成三类的。此时，我们可以这个多分类的问题，转化为三个二元分类的问题。现在，我们进行三个二元分类。</a:t>
            </a:r>
            <a:endParaRPr lang="zh-CN" altLang="en-US" dirty="0">
              <a:latin typeface="-apple-system"/>
            </a:endParaRPr>
          </a:p>
          <a:p>
            <a:br>
              <a:rPr lang="zh-CN" altLang="en-US" dirty="0"/>
            </a:br>
            <a:endParaRPr lang="zh-CN" altLang="en-US" dirty="0"/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467098"/>
            <a:ext cx="3748084" cy="30285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30034"/>
            <a:ext cx="3532805" cy="301422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284" y="478125"/>
            <a:ext cx="3718260" cy="2950875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405" y="3730034"/>
            <a:ext cx="3762017" cy="307575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368" y="478125"/>
            <a:ext cx="3764360" cy="29508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6422" y="3730034"/>
            <a:ext cx="3620350" cy="3014228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90526"/>
            <a:ext cx="10515600" cy="1325563"/>
          </a:xfr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r>
              <a:rPr lang="en-US" altLang="zh-CN" dirty="0">
                <a:sym typeface="+mn-lt"/>
              </a:rPr>
              <a:t>Logistic</a:t>
            </a:r>
            <a:r>
              <a:rPr lang="zh-CN" altLang="en-US" dirty="0">
                <a:sym typeface="+mn-lt"/>
              </a:rPr>
              <a:t>的拓展</a:t>
            </a:r>
            <a:endParaRPr lang="zh-CN" altLang="en-US" dirty="0"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38197" y="1600235"/>
            <a:ext cx="10515599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这时我们有三个分类器，即三个假设函数：</a:t>
            </a:r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由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Logistic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回归，我们可以求出每一类的概率：</a:t>
            </a:r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因此，要进行分类很简单，就是输入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x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，然后带入三个分类器（或者说是假设函数），就能求出属于某一类的概率值，哪个概率值大就属于哪一类。即：</a:t>
            </a:r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多项</a:t>
            </a:r>
            <a:r>
              <a:rPr lang="en-US" altLang="zh-CN" sz="1800" dirty="0">
                <a:solidFill>
                  <a:srgbClr val="4F4F4F"/>
                </a:solidFill>
                <a:latin typeface="-apple-system"/>
              </a:rPr>
              <a:t>logistic</a:t>
            </a:r>
            <a:r>
              <a:rPr lang="zh-CN" altLang="en-US" sz="1800" dirty="0">
                <a:solidFill>
                  <a:srgbClr val="4F4F4F"/>
                </a:solidFill>
                <a:latin typeface="-apple-system"/>
              </a:rPr>
              <a:t>回归：</a:t>
            </a:r>
            <a:endParaRPr lang="en-US" altLang="zh-CN" sz="1800" dirty="0">
              <a:solidFill>
                <a:srgbClr val="4F4F4F"/>
              </a:solidFill>
              <a:latin typeface="-apple-system"/>
            </a:endParaRPr>
          </a:p>
          <a:p>
            <a:endParaRPr lang="en-US" altLang="zh-CN" sz="1800" dirty="0"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948" y="1607096"/>
            <a:ext cx="1596371" cy="4175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721" y="2056757"/>
            <a:ext cx="2219195" cy="41751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881" y="3540970"/>
            <a:ext cx="2756233" cy="46986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0727" y="4227831"/>
            <a:ext cx="7028815" cy="220948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logistic</a:t>
            </a:r>
            <a:r>
              <a:rPr lang="zh-CN" altLang="en-US"/>
              <a:t>的拓展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1035" y="1443990"/>
            <a:ext cx="10869930" cy="5246370"/>
          </a:xfrm>
        </p:spPr>
        <p:txBody>
          <a:bodyPr>
            <a:noAutofit/>
          </a:bodyPr>
          <a:p>
            <a:r>
              <a:rPr lang="zh-CN" altLang="en-US" sz="1600" b="1"/>
              <a:t>逻辑斯蒂回归适合应用在什么场景？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       在我们的工业应用上，如果需要作出分类的数据拥有很多有意义的特征，每个特征（我们假设这些特征都是有效的）都对最后的分类结果又或多或少的影响，那么最简单最有效的办法就是将这些特征线性加权，一起参与到作出决策的过程中。比如预测广告的点击率，又比如从原始数据集中筛选出符合某种要求的有用的子数据集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       逻辑斯蒂回归还有一个优点，那就是它不是硬性地将分类结果定为0或者1，而是给出了0和1之间的概率。这就相当于对每条数据的分类结果给出了一个打分。打分越高的数据越是我们想要的。如果我们要从一个数据集中筛选出一批数据（比如100个），就只要选出打分排名前100的数据就可以了。我们也可以根据实际情况设定一个阀值，大于这个阀值的归为一类，小于这个阀值的归为另一类。</a:t>
            </a:r>
            <a:endParaRPr lang="zh-CN" altLang="en-US" sz="1600"/>
          </a:p>
          <a:p>
            <a:r>
              <a:rPr lang="zh-CN" altLang="en-US" sz="1600" b="1"/>
              <a:t>如何提高逻辑斯蒂回归的分类准确性？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       个人感觉，只要特征找的准，数据量足够大，逻辑斯蒂回归将会非常好用。另外，还要注意避免过拟合。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        特征选择的话，由于逻辑斯蒂回归的优点，开始的时候不用考虑各个特征之间是否有相关性，直接把能用的特征全部线性加权起来就好。经过初步训练，观察各个特征的权值，如果权值接近为0，那么就可以将这个特征看做是不相关的可以去除的特征。总结起来就是：先做加法再做减法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       解决过拟合的方法不过两种，一种是减少特征的个数；另一种是模型选择的正则化方法。正则化的话，可以参考岭回归方法。</a:t>
            </a:r>
            <a:endParaRPr lang="zh-CN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logistic</a:t>
            </a:r>
            <a:r>
              <a:rPr lang="zh-CN" altLang="en-US"/>
              <a:t>的拓展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2359025" y="1376680"/>
            <a:ext cx="7474585" cy="3622040"/>
          </a:xfrm>
          <a:prstGeom prst="rect">
            <a:avLst/>
          </a:prstGeom>
        </p:spPr>
      </p:pic>
      <p:pic>
        <p:nvPicPr>
          <p:cNvPr id="6" name="内容占位符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82850" y="4839335"/>
            <a:ext cx="7041515" cy="16916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logistic</a:t>
            </a:r>
            <a:r>
              <a:rPr lang="zh-CN" altLang="en-US"/>
              <a:t>的拓展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3781425" y="875030"/>
            <a:ext cx="8209915" cy="4413250"/>
          </a:xfrm>
          <a:prstGeom prst="rect">
            <a:avLst/>
          </a:prstGeom>
        </p:spPr>
      </p:pic>
      <p:sp>
        <p:nvSpPr>
          <p:cNvPr id="7" name="内容占位符 6"/>
          <p:cNvSpPr/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5288280"/>
            <a:ext cx="8324215" cy="12446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93394" y="1473200"/>
            <a:ext cx="11321415" cy="17032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lvl="0">
              <a:lnSpc>
                <a:spcPct val="90000"/>
              </a:lnSpc>
              <a:spcBef>
                <a:spcPct val="0"/>
              </a:spcBef>
              <a:buNone/>
              <a:defRPr sz="4800">
                <a:solidFill>
                  <a:srgbClr val="00B0F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dirty="0">
                <a:solidFill>
                  <a:schemeClr val="accent1"/>
                </a:solidFill>
                <a:sym typeface="+mn-lt"/>
              </a:rPr>
              <a:t>代码示例</a:t>
            </a:r>
            <a:endParaRPr lang="zh-CN" altLang="en-US" sz="4400" dirty="0">
              <a:solidFill>
                <a:schemeClr val="accent1"/>
              </a:solidFill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93393" y="3426000"/>
            <a:ext cx="11321415" cy="1069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36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bg1">
                    <a:lumMod val="85000"/>
                  </a:schemeClr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>
                    <a:lumMod val="8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zh-CN" altLang="en-US" sz="1800" dirty="0">
              <a:latin typeface="+mn-lt"/>
              <a:ea typeface="+mn-ea"/>
              <a:sym typeface="+mn-lt"/>
            </a:endParaRPr>
          </a:p>
        </p:txBody>
      </p:sp>
      <p:cxnSp>
        <p:nvCxnSpPr>
          <p:cNvPr id="5" name="直接连接符 4"/>
          <p:cNvCxnSpPr/>
          <p:nvPr>
            <p:custDataLst>
              <p:tags r:id="rId3"/>
            </p:custDataLst>
          </p:nvPr>
        </p:nvCxnSpPr>
        <p:spPr>
          <a:xfrm>
            <a:off x="493395" y="3293110"/>
            <a:ext cx="11321413" cy="635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lt"/>
              </a:rPr>
              <a:t>谢谢观看</a:t>
            </a:r>
            <a:endParaRPr lang="zh-CN" altLang="en-US">
              <a:sym typeface="+mn-lt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>
                <a:sym typeface="+mn-lt"/>
              </a:rPr>
              <a:t>THANK YOU</a:t>
            </a:r>
            <a:endParaRPr lang="en-US" altLang="zh-CN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4567_1*i*3"/>
  <p:tag name="KSO_WM_TEMPLATE_CATEGORY" val="custom"/>
  <p:tag name="KSO_WM_TEMPLATE_INDEX" val="20184567"/>
  <p:tag name="KSO_WM_UNIT_INDEX" val="3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4567_1*i*4"/>
  <p:tag name="KSO_WM_TEMPLATE_CATEGORY" val="custom"/>
  <p:tag name="KSO_WM_TEMPLATE_INDEX" val="20184567"/>
  <p:tag name="KSO_WM_UNIT_INDEX" val="4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1639_3*i*3"/>
  <p:tag name="KSO_WM_TEMPLATE_CATEGORY" val="custom"/>
  <p:tag name="KSO_WM_TEMPLATE_INDEX" val="20181639"/>
  <p:tag name="KSO_WM_UNIT_INDEX" val="3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4567_22*i*2"/>
  <p:tag name="KSO_WM_TEMPLATE_CATEGORY" val="custom"/>
  <p:tag name="KSO_WM_TEMPLATE_INDEX" val="20184567"/>
  <p:tag name="KSO_WM_UNIT_INDEX" val="2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4567_22*i*3"/>
  <p:tag name="KSO_WM_TEMPLATE_CATEGORY" val="custom"/>
  <p:tag name="KSO_WM_TEMPLATE_INDEX" val="20184567"/>
  <p:tag name="KSO_WM_UNIT_INDEX" val="3"/>
</p:tagLst>
</file>

<file path=ppt/tags/tag6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</p:tagLst>
</file>

<file path=ppt/tags/tag7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0962_1"/>
  <p:tag name="KSO_WM_TEMPLATE_CATEGORY" val="custom"/>
  <p:tag name="KSO_WM_TEMPLATE_INDEX" val="20184567"/>
  <p:tag name="KSO_WM_TEMPLATE_SUBCATEGORY" val="combine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THUMBS_INDEX" val="1、2、3、4、5、6、7、11、14、15、16、17"/>
</p:tagLst>
</file>

<file path=ppt/tags/tag9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TYPE" val="a"/>
  <p:tag name="KSO_WM_UNIT_INDEX" val="1"/>
  <p:tag name="KSO_WM_UNIT_LAYERLEVEL" val="1"/>
  <p:tag name="KSO_WM_UNIT_VALUE" val="16"/>
  <p:tag name="KSO_WM_UNIT_ISCONTENTSTITLE" val="0"/>
  <p:tag name="KSO_WM_UNIT_HIGHLIGHT" val="0"/>
  <p:tag name="KSO_WM_UNIT_COMPATIBLE" val="0"/>
  <p:tag name="KSO_WM_UNIT_CLEAR" val="0"/>
  <p:tag name="KSO_WM_UNIT_ID" val="custom20184567_1*a*1"/>
  <p:tag name="KSO_WM_UNIT_PRESET_TEXT" val="毕业答辩模板"/>
</p:tagLst>
</file>

<file path=ppt/tags/tag10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TYPE" val="b"/>
  <p:tag name="KSO_WM_UNIT_INDEX" val="1"/>
  <p:tag name="KSO_WM_UNIT_LAYERLEVEL" val="1"/>
  <p:tag name="KSO_WM_UNIT_VALUE" val="70"/>
  <p:tag name="KSO_WM_UNIT_ISCONTENTSTITLE" val="0"/>
  <p:tag name="KSO_WM_UNIT_HIGHLIGHT" val="0"/>
  <p:tag name="KSO_WM_UNIT_COMPATIBLE" val="0"/>
  <p:tag name="KSO_WM_UNIT_CLEAR" val="0"/>
  <p:tag name="KSO_WM_UNIT_PRESET_TEXT_INDEX" val="4"/>
  <p:tag name="KSO_WM_UNIT_PRESET_TEXT_LEN" val="57"/>
  <p:tag name="KSO_WM_UNIT_ID" val="custom20184567_1*b*1"/>
</p:tagLst>
</file>

<file path=ppt/tags/tag11.xml><?xml version="1.0" encoding="utf-8"?>
<p:tagLst xmlns:p="http://schemas.openxmlformats.org/presentationml/2006/main">
  <p:tag name="KSO_WM_TAG_VERSION" val="1.0"/>
  <p:tag name="KSO_WM_SLIDE_ITEM_CNT" val="2"/>
  <p:tag name="KSO_WM_SLIDE_LAYOUT" val="a_b"/>
  <p:tag name="KSO_WM_SLIDE_LAYOUT_CNT" val="1_1"/>
  <p:tag name="KSO_WM_SLIDE_TYPE" val="title"/>
  <p:tag name="KSO_WM_BEAUTIFY_FLAG" val="#wm#"/>
  <p:tag name="KSO_WM_COMBINE_RELATE_SLIDE_ID" val="background20180962_1"/>
  <p:tag name="KSO_WM_TEMPLATE_CATEGORY" val="custom"/>
  <p:tag name="KSO_WM_TEMPLATE_INDEX" val="20184567"/>
  <p:tag name="KSO_WM_SLIDE_ID" val="custom20184567_1"/>
  <p:tag name="KSO_WM_SLIDE_INDEX" val="1"/>
  <p:tag name="KSO_WM_TEMPLATE_SUBCATEGORY" val="combine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SUBTYPE" val="pureTxt"/>
  <p:tag name="KSO_WM_TEMPLATE_THUMBS_INDEX" val="1、2、3、4、5、6、7、11、14、15、16、17、"/>
</p:tagLst>
</file>

<file path=ppt/tags/tag12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i"/>
  <p:tag name="KSO_WM_UNIT_INDEX" val="1_1_1"/>
  <p:tag name="KSO_WM_UNIT_ID" val="custom20184567_2*l_h_i*1_1_1"/>
  <p:tag name="KSO_WM_UNIT_LAYERLEVEL" val="1_1_1"/>
  <p:tag name="KSO_WM_DIAGRAM_GROUP_CODE" val="l1-1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f"/>
  <p:tag name="KSO_WM_UNIT_INDEX" val="1_1_1"/>
  <p:tag name="KSO_WM_UNIT_ID" val="custom20184567_2*l_h_f*1_1_1"/>
  <p:tag name="KSO_WM_UNIT_LAYERLEVEL" val="1_1_1"/>
  <p:tag name="KSO_WM_UNIT_VALUE" val="4"/>
  <p:tag name="KSO_WM_UNIT_HIGHLIGHT" val="0"/>
  <p:tag name="KSO_WM_UNIT_COMPATIBLE" val="0"/>
  <p:tag name="KSO_WM_UNIT_CLEAR" val="0"/>
  <p:tag name="KSO_WM_DIAGRAM_GROUP_CODE" val="l1-1"/>
  <p:tag name="KSO_WM_BEAUTIFY_FLAG" val="#wm#"/>
  <p:tag name="KSO_WM_UNIT_PRESET_TEXT" val="绪论"/>
  <p:tag name="KSO_WM_UNIT_USESOURCEFORMAT_APPLY" val="1"/>
</p:tagLst>
</file>

<file path=ppt/tags/tag14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i"/>
  <p:tag name="KSO_WM_UNIT_INDEX" val="1_2_1"/>
  <p:tag name="KSO_WM_UNIT_ID" val="custom20184567_2*l_h_i*1_2_1"/>
  <p:tag name="KSO_WM_UNIT_LAYERLEVEL" val="1_1_1"/>
  <p:tag name="KSO_WM_DIAGRAM_GROUP_CODE" val="l1-1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5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i"/>
  <p:tag name="KSO_WM_UNIT_INDEX" val="1_3_1"/>
  <p:tag name="KSO_WM_UNIT_ID" val="custom20184567_2*l_h_i*1_3_1"/>
  <p:tag name="KSO_WM_UNIT_LAYERLEVEL" val="1_1_1"/>
  <p:tag name="KSO_WM_DIAGRAM_GROUP_CODE" val="l1-1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i"/>
  <p:tag name="KSO_WM_UNIT_INDEX" val="1_4_1"/>
  <p:tag name="KSO_WM_UNIT_ID" val="custom20184567_2*l_h_i*1_4_1"/>
  <p:tag name="KSO_WM_UNIT_LAYERLEVEL" val="1_1_1"/>
  <p:tag name="KSO_WM_DIAGRAM_GROUP_CODE" val="l1-1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a"/>
  <p:tag name="KSO_WM_UNIT_INDEX" val="1"/>
  <p:tag name="KSO_WM_UNIT_ID" val="custom20184567_2*a*1"/>
  <p:tag name="KSO_WM_UNIT_LAYERLEVEL" val="1"/>
  <p:tag name="KSO_WM_UNIT_ISCONTENTSTITLE" val="1"/>
  <p:tag name="KSO_WM_UNIT_VALUE" val="5"/>
  <p:tag name="KSO_WM_UNIT_HIGHLIGHT" val="0"/>
  <p:tag name="KSO_WM_UNIT_COMPATIBLE" val="0"/>
  <p:tag name="KSO_WM_UNIT_CLEAR" val="0"/>
  <p:tag name="KSO_WM_BEAUTIFY_FLAG" val="#wm#"/>
  <p:tag name="KSO_WM_UNIT_PRESET_TEXT" val="目录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4567_2*i*6"/>
  <p:tag name="KSO_WM_TEMPLATE_CATEGORY" val="custom"/>
  <p:tag name="KSO_WM_TEMPLATE_INDEX" val="20184567"/>
  <p:tag name="KSO_WM_UNIT_INDEX" val="6"/>
</p:tagLst>
</file>

<file path=ppt/tags/tag19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b"/>
  <p:tag name="KSO_WM_UNIT_INDEX" val="1"/>
  <p:tag name="KSO_WM_UNIT_ID" val="custom20184567_2*b*1"/>
  <p:tag name="KSO_WM_UNIT_LAYERLEVEL" val="1"/>
  <p:tag name="KSO_WM_UNIT_VALUE" val="6"/>
  <p:tag name="KSO_WM_UNIT_ISCONTENTSTITLE" val="0"/>
  <p:tag name="KSO_WM_UNIT_HIGHLIGHT" val="0"/>
  <p:tag name="KSO_WM_UNIT_COMPATIBLE" val="0"/>
  <p:tag name="KSO_WM_UNIT_CLEAR" val="0"/>
  <p:tag name="KSO_WM_BEAUTIFY_FLAG" val="#wm#"/>
  <p:tag name="KSO_WM_UNIT_PRESET_TEXT" val="CONGTENT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4567_2*i*8"/>
  <p:tag name="KSO_WM_TEMPLATE_CATEGORY" val="custom"/>
  <p:tag name="KSO_WM_TEMPLATE_INDEX" val="20184567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i"/>
  <p:tag name="KSO_WM_UNIT_INDEX" val="1_1_2"/>
  <p:tag name="KSO_WM_UNIT_ID" val="custom20184567_2*l_h_i*1_1_2"/>
  <p:tag name="KSO_WM_UNIT_LAYERLEVEL" val="1_1_1"/>
  <p:tag name="KSO_WM_DIAGRAM_GROUP_CODE" val="l1-1"/>
  <p:tag name="KSO_WM_BEAUTIFY_FLAG" val="#wm#"/>
  <p:tag name="KSO_WM_UNIT_LINE_FORE_SCHEMECOLOR_INDEX" val="5"/>
  <p:tag name="KSO_WM_UNIT_LINE_FILL_TYPE" val="2"/>
  <p:tag name="KSO_WM_UNIT_USESOURCEFORMAT_APPLY" val="1"/>
</p:tagLst>
</file>

<file path=ppt/tags/tag22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i"/>
  <p:tag name="KSO_WM_UNIT_INDEX" val="1_2_2"/>
  <p:tag name="KSO_WM_UNIT_ID" val="custom20184567_2*l_h_i*1_2_2"/>
  <p:tag name="KSO_WM_UNIT_LAYERLEVEL" val="1_1_1"/>
  <p:tag name="KSO_WM_DIAGRAM_GROUP_CODE" val="l1-1"/>
  <p:tag name="KSO_WM_BEAUTIFY_FLAG" val="#wm#"/>
  <p:tag name="KSO_WM_UNIT_LINE_FORE_SCHEMECOLOR_INDEX" val="5"/>
  <p:tag name="KSO_WM_UNIT_LINE_FILL_TYPE" val="2"/>
  <p:tag name="KSO_WM_UNIT_USESOURCEFORMAT_APPLY" val="1"/>
</p:tagLst>
</file>

<file path=ppt/tags/tag23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i"/>
  <p:tag name="KSO_WM_UNIT_INDEX" val="1_3_2"/>
  <p:tag name="KSO_WM_UNIT_ID" val="custom20184567_2*l_h_i*1_3_2"/>
  <p:tag name="KSO_WM_UNIT_LAYERLEVEL" val="1_1_1"/>
  <p:tag name="KSO_WM_DIAGRAM_GROUP_CODE" val="l1-1"/>
  <p:tag name="KSO_WM_BEAUTIFY_FLAG" val="#wm#"/>
  <p:tag name="KSO_WM_UNIT_LINE_FORE_SCHEMECOLOR_INDEX" val="5"/>
  <p:tag name="KSO_WM_UNIT_LINE_FILL_TYPE" val="2"/>
  <p:tag name="KSO_WM_UNIT_USESOURCEFORMAT_APPLY" val="1"/>
</p:tagLst>
</file>

<file path=ppt/tags/tag24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i"/>
  <p:tag name="KSO_WM_UNIT_INDEX" val="1_5_1"/>
  <p:tag name="KSO_WM_UNIT_ID" val="custom20184567_2*l_h_i*1_5_1"/>
  <p:tag name="KSO_WM_UNIT_LAYERLEVEL" val="1_1_1"/>
  <p:tag name="KSO_WM_DIAGRAM_GROUP_CODE" val="l1-1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25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i"/>
  <p:tag name="KSO_WM_UNIT_INDEX" val="1_4_2"/>
  <p:tag name="KSO_WM_UNIT_ID" val="custom20184567_2*l_h_i*1_4_2"/>
  <p:tag name="KSO_WM_UNIT_LAYERLEVEL" val="1_1_1"/>
  <p:tag name="KSO_WM_DIAGRAM_GROUP_CODE" val="l1-1"/>
  <p:tag name="KSO_WM_BEAUTIFY_FLAG" val="#wm#"/>
  <p:tag name="KSO_WM_UNIT_LINE_FORE_SCHEMECOLOR_INDEX" val="5"/>
  <p:tag name="KSO_WM_UNIT_LINE_FILL_TYPE" val="2"/>
  <p:tag name="KSO_WM_UNIT_USESOURCEFORMAT_APPLY" val="1"/>
</p:tagLst>
</file>

<file path=ppt/tags/tag26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f"/>
  <p:tag name="KSO_WM_UNIT_INDEX" val="1_2_1"/>
  <p:tag name="KSO_WM_UNIT_ID" val="custom20184567_2*l_h_f*1_2_1"/>
  <p:tag name="KSO_WM_UNIT_LAYERLEVEL" val="1_1_1"/>
  <p:tag name="KSO_WM_UNIT_VALUE" val="4"/>
  <p:tag name="KSO_WM_UNIT_HIGHLIGHT" val="0"/>
  <p:tag name="KSO_WM_UNIT_COMPATIBLE" val="0"/>
  <p:tag name="KSO_WM_UNIT_CLEAR" val="0"/>
  <p:tag name="KSO_WM_DIAGRAM_GROUP_CODE" val="l1-1"/>
  <p:tag name="KSO_WM_BEAUTIFY_FLAG" val="#wm#"/>
  <p:tag name="KSO_WM_UNIT_PRESET_TEXT" val="研究方法"/>
  <p:tag name="KSO_WM_UNIT_TEXT_FILL_FORE_SCHEMECOLOR_INDEX" val="5"/>
  <p:tag name="KSO_WM_UNIT_TEXT_FILL_TYPE" val="1"/>
  <p:tag name="KSO_WM_UNIT_USESOURCEFORMAT_APPLY" val="1"/>
</p:tagLst>
</file>

<file path=ppt/tags/tag27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f"/>
  <p:tag name="KSO_WM_UNIT_INDEX" val="1_3_1"/>
  <p:tag name="KSO_WM_UNIT_ID" val="custom20184567_2*l_h_f*1_3_1"/>
  <p:tag name="KSO_WM_UNIT_LAYERLEVEL" val="1_1_1"/>
  <p:tag name="KSO_WM_UNIT_VALUE" val="4"/>
  <p:tag name="KSO_WM_UNIT_HIGHLIGHT" val="0"/>
  <p:tag name="KSO_WM_UNIT_COMPATIBLE" val="0"/>
  <p:tag name="KSO_WM_UNIT_CLEAR" val="0"/>
  <p:tag name="KSO_WM_DIAGRAM_GROUP_CODE" val="l1-1"/>
  <p:tag name="KSO_WM_BEAUTIFY_FLAG" val="#wm#"/>
  <p:tag name="KSO_WM_UNIT_PRESET_TEXT" val="技术实践"/>
  <p:tag name="KSO_WM_UNIT_TEXT_FILL_FORE_SCHEMECOLOR_INDEX" val="5"/>
  <p:tag name="KSO_WM_UNIT_TEXT_FILL_TYPE" val="1"/>
  <p:tag name="KSO_WM_UNIT_USESOURCEFORMAT_APPLY" val="1"/>
</p:tagLst>
</file>

<file path=ppt/tags/tag28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f"/>
  <p:tag name="KSO_WM_UNIT_INDEX" val="1_4_1"/>
  <p:tag name="KSO_WM_UNIT_ID" val="custom20184567_2*l_h_f*1_4_1"/>
  <p:tag name="KSO_WM_UNIT_LAYERLEVEL" val="1_1_1"/>
  <p:tag name="KSO_WM_UNIT_VALUE" val="4"/>
  <p:tag name="KSO_WM_UNIT_HIGHLIGHT" val="0"/>
  <p:tag name="KSO_WM_UNIT_COMPATIBLE" val="0"/>
  <p:tag name="KSO_WM_UNIT_CLEAR" val="0"/>
  <p:tag name="KSO_WM_DIAGRAM_GROUP_CODE" val="l1-1"/>
  <p:tag name="KSO_WM_BEAUTIFY_FLAG" val="#wm#"/>
  <p:tag name="KSO_WM_UNIT_PRESET_TEXT" val="成果应用"/>
  <p:tag name="KSO_WM_UNIT_TEXT_FILL_FORE_SCHEMECOLOR_INDEX" val="5"/>
  <p:tag name="KSO_WM_UNIT_TEXT_FILL_TYPE" val="1"/>
  <p:tag name="KSO_WM_UNIT_USESOURCEFORMAT_APPLY" val="1"/>
</p:tagLst>
</file>

<file path=ppt/tags/tag29.xml><?xml version="1.0" encoding="utf-8"?>
<p:tagLst xmlns:p="http://schemas.openxmlformats.org/presentationml/2006/main">
  <p:tag name="KSO_WM_TAG_VERSION" val="1.0"/>
  <p:tag name="KSO_WM_TEMPLATE_CATEGORY" val="custom"/>
  <p:tag name="KSO_WM_TEMPLATE_INDEX" val="20184567"/>
  <p:tag name="KSO_WM_UNIT_TYPE" val="l_h_f"/>
  <p:tag name="KSO_WM_UNIT_INDEX" val="1_5_1"/>
  <p:tag name="KSO_WM_UNIT_ID" val="custom20184567_2*l_h_f*1_5_1"/>
  <p:tag name="KSO_WM_UNIT_LAYERLEVEL" val="1_1_1"/>
  <p:tag name="KSO_WM_UNIT_VALUE" val="4"/>
  <p:tag name="KSO_WM_UNIT_HIGHLIGHT" val="0"/>
  <p:tag name="KSO_WM_UNIT_COMPATIBLE" val="0"/>
  <p:tag name="KSO_WM_UNIT_CLEAR" val="0"/>
  <p:tag name="KSO_WM_DIAGRAM_GROUP_CODE" val="l1-1"/>
  <p:tag name="KSO_WM_BEAUTIFY_FLAG" val="#wm#"/>
  <p:tag name="KSO_WM_UNIT_PRESET_TEXT" val="总结展望"/>
  <p:tag name="KSO_WM_UNIT_TEXT_FILL_FORE_SCHEMECOLOR_INDEX" val="5"/>
  <p:tag name="KSO_WM_UNIT_TEXT_FILL_TYPE" val="1"/>
  <p:tag name="KSO_WM_UNIT_USESOURCEFORMAT_APPLY" val="1"/>
</p:tagLst>
</file>

<file path=ppt/tags/tag30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SLIDE_ID" val="custom20184567_2"/>
  <p:tag name="KSO_WM_SLIDE_INDEX" val="2"/>
  <p:tag name="KSO_WM_SLIDE_ITEM_CNT" val="5"/>
  <p:tag name="KSO_WM_SLIDE_LAYOUT" val="a_l_b"/>
  <p:tag name="KSO_WM_SLIDE_LAYOUT_CNT" val="1_1_1"/>
  <p:tag name="KSO_WM_SLIDE_TYPE" val="contents"/>
  <p:tag name="KSO_WM_SLIDE_SUBTYPE" val="pureTxt"/>
  <p:tag name="KSO_WM_BEAUTIFY_FLAG" val="#wm#"/>
  <p:tag name="KSO_WM_DIAGRAM_GROUP_CODE" val="l1-1"/>
</p:tagLst>
</file>

<file path=ppt/tags/tag31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4*a*1"/>
</p:tagLst>
</file>

<file path=ppt/tags/tag32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465"/>
  <p:tag name="KSO_WM_UNIT_PRESET_TEXT_INDEX" val="5"/>
  <p:tag name="KSO_WM_UNIT_CLEAR" val="0"/>
  <p:tag name="KSO_WM_UNIT_COMPATIBLE" val="0"/>
  <p:tag name="KSO_WM_UNIT_HIGHLIGHT" val="0"/>
  <p:tag name="KSO_WM_UNIT_VALUE" val="585"/>
  <p:tag name="KSO_WM_UNIT_LAYERLEVEL" val="1"/>
  <p:tag name="KSO_WM_UNIT_INDEX" val="1"/>
  <p:tag name="KSO_WM_UNIT_TYPE" val="f"/>
  <p:tag name="KSO_WM_UNIT_ID" val="custom20184567_4*f*1"/>
</p:tagLst>
</file>

<file path=ppt/tags/tag33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TAG_VERSION" val="1.0"/>
  <p:tag name="KSO_WM_COMBINE_RELATE_SLIDE_ID" val="background20180962_2"/>
  <p:tag name="KSO_WM_TEMPLATE_CATEGORY" val="custom"/>
  <p:tag name="KSO_WM_TEMPLATE_INDEX" val="20184567"/>
  <p:tag name="KSO_WM_SLIDE_ID" val="custom20184567_4"/>
  <p:tag name="KSO_WM_SLIDE_INDEX" val="4"/>
  <p:tag name="KSO_WM_TEMPLATE_SUBCATEGORY" val="combine"/>
  <p:tag name="KSO_WM_SLIDE_SUBTYPE" val="pureTxt"/>
</p:tagLst>
</file>

<file path=ppt/tags/tag34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4*a*1"/>
</p:tagLst>
</file>

<file path=ppt/tags/tag35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465"/>
  <p:tag name="KSO_WM_UNIT_PRESET_TEXT_INDEX" val="5"/>
  <p:tag name="KSO_WM_UNIT_CLEAR" val="0"/>
  <p:tag name="KSO_WM_UNIT_COMPATIBLE" val="0"/>
  <p:tag name="KSO_WM_UNIT_HIGHLIGHT" val="0"/>
  <p:tag name="KSO_WM_UNIT_VALUE" val="585"/>
  <p:tag name="KSO_WM_UNIT_LAYERLEVEL" val="1"/>
  <p:tag name="KSO_WM_UNIT_INDEX" val="1"/>
  <p:tag name="KSO_WM_UNIT_TYPE" val="f"/>
  <p:tag name="KSO_WM_UNIT_ID" val="custom20184567_4*f*1"/>
</p:tagLst>
</file>

<file path=ppt/tags/tag36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TAG_VERSION" val="1.0"/>
  <p:tag name="KSO_WM_COMBINE_RELATE_SLIDE_ID" val="background20180962_2"/>
  <p:tag name="KSO_WM_TEMPLATE_CATEGORY" val="custom"/>
  <p:tag name="KSO_WM_TEMPLATE_INDEX" val="20184567"/>
  <p:tag name="KSO_WM_SLIDE_ID" val="custom20184567_4"/>
  <p:tag name="KSO_WM_SLIDE_INDEX" val="4"/>
  <p:tag name="KSO_WM_TEMPLATE_SUBCATEGORY" val="combine"/>
  <p:tag name="KSO_WM_SLIDE_SUBTYPE" val="pureTxt"/>
</p:tagLst>
</file>

<file path=ppt/tags/tag37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4*a*1"/>
</p:tagLst>
</file>

<file path=ppt/tags/tag38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465"/>
  <p:tag name="KSO_WM_UNIT_PRESET_TEXT_INDEX" val="5"/>
  <p:tag name="KSO_WM_UNIT_CLEAR" val="0"/>
  <p:tag name="KSO_WM_UNIT_COMPATIBLE" val="0"/>
  <p:tag name="KSO_WM_UNIT_HIGHLIGHT" val="0"/>
  <p:tag name="KSO_WM_UNIT_VALUE" val="585"/>
  <p:tag name="KSO_WM_UNIT_LAYERLEVEL" val="1"/>
  <p:tag name="KSO_WM_UNIT_INDEX" val="1"/>
  <p:tag name="KSO_WM_UNIT_TYPE" val="f"/>
  <p:tag name="KSO_WM_UNIT_ID" val="custom20184567_4*f*1"/>
</p:tagLst>
</file>

<file path=ppt/tags/tag39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TAG_VERSION" val="1.0"/>
  <p:tag name="KSO_WM_COMBINE_RELATE_SLIDE_ID" val="background20180962_2"/>
  <p:tag name="KSO_WM_TEMPLATE_CATEGORY" val="custom"/>
  <p:tag name="KSO_WM_TEMPLATE_INDEX" val="20184567"/>
  <p:tag name="KSO_WM_SLIDE_ID" val="custom20184567_4"/>
  <p:tag name="KSO_WM_SLIDE_INDEX" val="4"/>
  <p:tag name="KSO_WM_TEMPLATE_SUBCATEGORY" val="combine"/>
  <p:tag name="KSO_WM_SLIDE_SUBTYPE" val="pureTxt"/>
</p:tagLst>
</file>

<file path=ppt/tags/tag40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4*a*1"/>
</p:tagLst>
</file>

<file path=ppt/tags/tag41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465"/>
  <p:tag name="KSO_WM_UNIT_PRESET_TEXT_INDEX" val="5"/>
  <p:tag name="KSO_WM_UNIT_CLEAR" val="0"/>
  <p:tag name="KSO_WM_UNIT_COMPATIBLE" val="0"/>
  <p:tag name="KSO_WM_UNIT_HIGHLIGHT" val="0"/>
  <p:tag name="KSO_WM_UNIT_VALUE" val="585"/>
  <p:tag name="KSO_WM_UNIT_LAYERLEVEL" val="1"/>
  <p:tag name="KSO_WM_UNIT_INDEX" val="1"/>
  <p:tag name="KSO_WM_UNIT_TYPE" val="f"/>
  <p:tag name="KSO_WM_UNIT_ID" val="custom20184567_4*f*1"/>
</p:tagLst>
</file>

<file path=ppt/tags/tag42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TAG_VERSION" val="1.0"/>
  <p:tag name="KSO_WM_COMBINE_RELATE_SLIDE_ID" val="background20180962_2"/>
  <p:tag name="KSO_WM_TEMPLATE_CATEGORY" val="custom"/>
  <p:tag name="KSO_WM_TEMPLATE_INDEX" val="20184567"/>
  <p:tag name="KSO_WM_SLIDE_ID" val="custom20184567_4"/>
  <p:tag name="KSO_WM_SLIDE_INDEX" val="4"/>
  <p:tag name="KSO_WM_TEMPLATE_SUBCATEGORY" val="combine"/>
  <p:tag name="KSO_WM_SLIDE_SUBTYPE" val="pureTxt"/>
</p:tagLst>
</file>

<file path=ppt/tags/tag43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5*a*1"/>
</p:tagLst>
</file>

<file path=ppt/tags/tag44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232"/>
  <p:tag name="KSO_WM_UNIT_PRESET_TEXT_INDEX" val="5"/>
  <p:tag name="KSO_WM_UNIT_CLEAR" val="0"/>
  <p:tag name="KSO_WM_UNIT_COMPATIBLE" val="0"/>
  <p:tag name="KSO_WM_UNIT_HIGHLIGHT" val="0"/>
  <p:tag name="KSO_WM_UNIT_VALUE" val="273"/>
  <p:tag name="KSO_WM_UNIT_LAYERLEVEL" val="1"/>
  <p:tag name="KSO_WM_UNIT_INDEX" val="1"/>
  <p:tag name="KSO_WM_UNIT_TYPE" val="f"/>
  <p:tag name="KSO_WM_UNIT_ID" val="custom20184567_5*f*1"/>
</p:tagLst>
</file>

<file path=ppt/tags/tag45.xml><?xml version="1.0" encoding="utf-8"?>
<p:tagLst xmlns:p="http://schemas.openxmlformats.org/presentationml/2006/main">
  <p:tag name="KSO_WM_SLIDE_SIZE" val="828*342"/>
  <p:tag name="KSO_WM_SLIDE_POSITION" val="66*143"/>
  <p:tag name="KSO_WM_SLIDE_LAYOUT_CNT" val="1_2"/>
  <p:tag name="KSO_WM_SLIDE_LAYOUT" val="a_f"/>
  <p:tag name="KSO_WM_BEAUTIFY_FLAG" val="#wm#"/>
  <p:tag name="KSO_WM_SLIDE_TYPE" val="text"/>
  <p:tag name="KSO_WM_SLIDE_ITEM_CNT" val="2"/>
  <p:tag name="KSO_WM_TAG_VERSION" val="1.0"/>
  <p:tag name="KSO_WM_COMBINE_RELATE_SLIDE_ID" val="background20180962_3"/>
  <p:tag name="KSO_WM_TEMPLATE_CATEGORY" val="custom"/>
  <p:tag name="KSO_WM_TEMPLATE_INDEX" val="20184567"/>
  <p:tag name="KSO_WM_SLIDE_ID" val="custom20184567_5"/>
  <p:tag name="KSO_WM_SLIDE_INDEX" val="5"/>
  <p:tag name="KSO_WM_TEMPLATE_SUBCATEGORY" val="combine"/>
  <p:tag name="KSO_WM_SLIDE_SUBTYPE" val="pureTxt"/>
</p:tagLst>
</file>

<file path=ppt/tags/tag46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5*a*1"/>
</p:tagLst>
</file>

<file path=ppt/tags/tag47.xml><?xml version="1.0" encoding="utf-8"?>
<p:tagLst xmlns:p="http://schemas.openxmlformats.org/presentationml/2006/main">
  <p:tag name="KSO_WM_SLIDE_SIZE" val="828*342"/>
  <p:tag name="KSO_WM_SLIDE_POSITION" val="66*143"/>
  <p:tag name="KSO_WM_SLIDE_LAYOUT_CNT" val="1_2"/>
  <p:tag name="KSO_WM_SLIDE_LAYOUT" val="a_f"/>
  <p:tag name="KSO_WM_BEAUTIFY_FLAG" val="#wm#"/>
  <p:tag name="KSO_WM_SLIDE_TYPE" val="text"/>
  <p:tag name="KSO_WM_SLIDE_ITEM_CNT" val="2"/>
  <p:tag name="KSO_WM_TAG_VERSION" val="1.0"/>
  <p:tag name="KSO_WM_COMBINE_RELATE_SLIDE_ID" val="background20180962_3"/>
  <p:tag name="KSO_WM_TEMPLATE_CATEGORY" val="custom"/>
  <p:tag name="KSO_WM_TEMPLATE_INDEX" val="20184567"/>
  <p:tag name="KSO_WM_SLIDE_ID" val="custom20184567_5"/>
  <p:tag name="KSO_WM_SLIDE_INDEX" val="5"/>
  <p:tag name="KSO_WM_TEMPLATE_SUBCATEGORY" val="combine"/>
  <p:tag name="KSO_WM_SLIDE_SUBTYPE" val="pureTxt"/>
</p:tagLst>
</file>

<file path=ppt/tags/tag48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5*a*1"/>
</p:tagLst>
</file>

<file path=ppt/tags/tag49.xml><?xml version="1.0" encoding="utf-8"?>
<p:tagLst xmlns:p="http://schemas.openxmlformats.org/presentationml/2006/main">
  <p:tag name="KSO_WM_SLIDE_SIZE" val="828*342"/>
  <p:tag name="KSO_WM_SLIDE_POSITION" val="66*143"/>
  <p:tag name="KSO_WM_SLIDE_LAYOUT_CNT" val="1_2"/>
  <p:tag name="KSO_WM_SLIDE_LAYOUT" val="a_f"/>
  <p:tag name="KSO_WM_BEAUTIFY_FLAG" val="#wm#"/>
  <p:tag name="KSO_WM_SLIDE_TYPE" val="text"/>
  <p:tag name="KSO_WM_SLIDE_ITEM_CNT" val="2"/>
  <p:tag name="KSO_WM_TAG_VERSION" val="1.0"/>
  <p:tag name="KSO_WM_COMBINE_RELATE_SLIDE_ID" val="background20180962_3"/>
  <p:tag name="KSO_WM_TEMPLATE_CATEGORY" val="custom"/>
  <p:tag name="KSO_WM_TEMPLATE_INDEX" val="20184567"/>
  <p:tag name="KSO_WM_SLIDE_ID" val="custom20184567_5"/>
  <p:tag name="KSO_WM_SLIDE_INDEX" val="5"/>
  <p:tag name="KSO_WM_TEMPLATE_SUBCATEGORY" val="combine"/>
  <p:tag name="KSO_WM_SLIDE_SUBTYPE" val="pureTxt"/>
</p:tagLst>
</file>

<file path=ppt/tags/tag50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5*a*1"/>
</p:tagLst>
</file>

<file path=ppt/tags/tag51.xml><?xml version="1.0" encoding="utf-8"?>
<p:tagLst xmlns:p="http://schemas.openxmlformats.org/presentationml/2006/main">
  <p:tag name="KSO_WM_SLIDE_SIZE" val="828*342"/>
  <p:tag name="KSO_WM_SLIDE_POSITION" val="66*143"/>
  <p:tag name="KSO_WM_SLIDE_LAYOUT_CNT" val="1_2"/>
  <p:tag name="KSO_WM_SLIDE_LAYOUT" val="a_f"/>
  <p:tag name="KSO_WM_BEAUTIFY_FLAG" val="#wm#"/>
  <p:tag name="KSO_WM_SLIDE_TYPE" val="text"/>
  <p:tag name="KSO_WM_SLIDE_ITEM_CNT" val="2"/>
  <p:tag name="KSO_WM_TAG_VERSION" val="1.0"/>
  <p:tag name="KSO_WM_COMBINE_RELATE_SLIDE_ID" val="background20180962_3"/>
  <p:tag name="KSO_WM_TEMPLATE_CATEGORY" val="custom"/>
  <p:tag name="KSO_WM_TEMPLATE_INDEX" val="20184567"/>
  <p:tag name="KSO_WM_SLIDE_ID" val="custom20184567_5"/>
  <p:tag name="KSO_WM_SLIDE_INDEX" val="5"/>
  <p:tag name="KSO_WM_TEMPLATE_SUBCATEGORY" val="combine"/>
  <p:tag name="KSO_WM_SLIDE_SUBTYPE" val="pureTxt"/>
</p:tagLst>
</file>

<file path=ppt/tags/tag52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5*a*1"/>
</p:tagLst>
</file>

<file path=ppt/tags/tag53.xml><?xml version="1.0" encoding="utf-8"?>
<p:tagLst xmlns:p="http://schemas.openxmlformats.org/presentationml/2006/main">
  <p:tag name="KSO_WM_SLIDE_SIZE" val="828*342"/>
  <p:tag name="KSO_WM_SLIDE_POSITION" val="66*143"/>
  <p:tag name="KSO_WM_SLIDE_LAYOUT_CNT" val="1_2"/>
  <p:tag name="KSO_WM_SLIDE_LAYOUT" val="a_f"/>
  <p:tag name="KSO_WM_BEAUTIFY_FLAG" val="#wm#"/>
  <p:tag name="KSO_WM_SLIDE_TYPE" val="text"/>
  <p:tag name="KSO_WM_SLIDE_ITEM_CNT" val="2"/>
  <p:tag name="KSO_WM_TAG_VERSION" val="1.0"/>
  <p:tag name="KSO_WM_COMBINE_RELATE_SLIDE_ID" val="background20180962_3"/>
  <p:tag name="KSO_WM_TEMPLATE_CATEGORY" val="custom"/>
  <p:tag name="KSO_WM_TEMPLATE_INDEX" val="20184567"/>
  <p:tag name="KSO_WM_SLIDE_ID" val="custom20184567_5"/>
  <p:tag name="KSO_WM_SLIDE_INDEX" val="5"/>
  <p:tag name="KSO_WM_TEMPLATE_SUBCATEGORY" val="combine"/>
  <p:tag name="KSO_WM_SLIDE_SUBTYPE" val="pureTxt"/>
</p:tagLst>
</file>

<file path=ppt/tags/tag54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5*a*1"/>
</p:tagLst>
</file>

<file path=ppt/tags/tag55.xml><?xml version="1.0" encoding="utf-8"?>
<p:tagLst xmlns:p="http://schemas.openxmlformats.org/presentationml/2006/main">
  <p:tag name="KSO_WM_SLIDE_SIZE" val="828*342"/>
  <p:tag name="KSO_WM_SLIDE_POSITION" val="66*143"/>
  <p:tag name="KSO_WM_SLIDE_LAYOUT_CNT" val="1_2"/>
  <p:tag name="KSO_WM_SLIDE_LAYOUT" val="a_f"/>
  <p:tag name="KSO_WM_BEAUTIFY_FLAG" val="#wm#"/>
  <p:tag name="KSO_WM_SLIDE_TYPE" val="text"/>
  <p:tag name="KSO_WM_SLIDE_ITEM_CNT" val="2"/>
  <p:tag name="KSO_WM_TAG_VERSION" val="1.0"/>
  <p:tag name="KSO_WM_COMBINE_RELATE_SLIDE_ID" val="background20180962_3"/>
  <p:tag name="KSO_WM_TEMPLATE_CATEGORY" val="custom"/>
  <p:tag name="KSO_WM_TEMPLATE_INDEX" val="20184567"/>
  <p:tag name="KSO_WM_SLIDE_ID" val="custom20184567_5"/>
  <p:tag name="KSO_WM_SLIDE_INDEX" val="5"/>
  <p:tag name="KSO_WM_TEMPLATE_SUBCATEGORY" val="combine"/>
  <p:tag name="KSO_WM_SLIDE_SUBTYPE" val="pureTxt"/>
</p:tagLst>
</file>

<file path=ppt/tags/tag56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5*a*1"/>
</p:tagLst>
</file>

<file path=ppt/tags/tag57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232"/>
  <p:tag name="KSO_WM_UNIT_PRESET_TEXT_INDEX" val="5"/>
  <p:tag name="KSO_WM_UNIT_CLEAR" val="0"/>
  <p:tag name="KSO_WM_UNIT_COMPATIBLE" val="0"/>
  <p:tag name="KSO_WM_UNIT_HIGHLIGHT" val="0"/>
  <p:tag name="KSO_WM_UNIT_VALUE" val="273"/>
  <p:tag name="KSO_WM_UNIT_LAYERLEVEL" val="1"/>
  <p:tag name="KSO_WM_UNIT_INDEX" val="1"/>
  <p:tag name="KSO_WM_UNIT_TYPE" val="f"/>
  <p:tag name="KSO_WM_UNIT_ID" val="custom20184567_5*f*1"/>
</p:tagLst>
</file>

<file path=ppt/tags/tag58.xml><?xml version="1.0" encoding="utf-8"?>
<p:tagLst xmlns:p="http://schemas.openxmlformats.org/presentationml/2006/main">
  <p:tag name="KSO_WM_SLIDE_SIZE" val="828*342"/>
  <p:tag name="KSO_WM_SLIDE_POSITION" val="66*143"/>
  <p:tag name="KSO_WM_SLIDE_LAYOUT_CNT" val="1_2"/>
  <p:tag name="KSO_WM_SLIDE_LAYOUT" val="a_f"/>
  <p:tag name="KSO_WM_BEAUTIFY_FLAG" val="#wm#"/>
  <p:tag name="KSO_WM_SLIDE_TYPE" val="text"/>
  <p:tag name="KSO_WM_SLIDE_ITEM_CNT" val="2"/>
  <p:tag name="KSO_WM_TAG_VERSION" val="1.0"/>
  <p:tag name="KSO_WM_COMBINE_RELATE_SLIDE_ID" val="background20180962_3"/>
  <p:tag name="KSO_WM_TEMPLATE_CATEGORY" val="custom"/>
  <p:tag name="KSO_WM_TEMPLATE_INDEX" val="20184567"/>
  <p:tag name="KSO_WM_SLIDE_ID" val="custom20184567_5"/>
  <p:tag name="KSO_WM_SLIDE_INDEX" val="5"/>
  <p:tag name="KSO_WM_TEMPLATE_SUBCATEGORY" val="combine"/>
  <p:tag name="KSO_WM_SLIDE_SUBTYPE" val="pureTxt"/>
</p:tagLst>
</file>

<file path=ppt/tags/tag59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5*a*1"/>
</p:tagLst>
</file>

<file path=ppt/tags/tag60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232"/>
  <p:tag name="KSO_WM_UNIT_PRESET_TEXT_INDEX" val="5"/>
  <p:tag name="KSO_WM_UNIT_CLEAR" val="0"/>
  <p:tag name="KSO_WM_UNIT_COMPATIBLE" val="0"/>
  <p:tag name="KSO_WM_UNIT_HIGHLIGHT" val="0"/>
  <p:tag name="KSO_WM_UNIT_VALUE" val="273"/>
  <p:tag name="KSO_WM_UNIT_LAYERLEVEL" val="1"/>
  <p:tag name="KSO_WM_UNIT_INDEX" val="1"/>
  <p:tag name="KSO_WM_UNIT_TYPE" val="f"/>
  <p:tag name="KSO_WM_UNIT_ID" val="custom20184567_5*f*1"/>
</p:tagLst>
</file>

<file path=ppt/tags/tag61.xml><?xml version="1.0" encoding="utf-8"?>
<p:tagLst xmlns:p="http://schemas.openxmlformats.org/presentationml/2006/main">
  <p:tag name="KSO_WM_SLIDE_SIZE" val="828*342"/>
  <p:tag name="KSO_WM_SLIDE_POSITION" val="66*143"/>
  <p:tag name="KSO_WM_SLIDE_LAYOUT_CNT" val="1_2"/>
  <p:tag name="KSO_WM_SLIDE_LAYOUT" val="a_f"/>
  <p:tag name="KSO_WM_BEAUTIFY_FLAG" val="#wm#"/>
  <p:tag name="KSO_WM_SLIDE_TYPE" val="text"/>
  <p:tag name="KSO_WM_SLIDE_ITEM_CNT" val="2"/>
  <p:tag name="KSO_WM_TAG_VERSION" val="1.0"/>
  <p:tag name="KSO_WM_COMBINE_RELATE_SLIDE_ID" val="background20180962_3"/>
  <p:tag name="KSO_WM_TEMPLATE_CATEGORY" val="custom"/>
  <p:tag name="KSO_WM_TEMPLATE_INDEX" val="20184567"/>
  <p:tag name="KSO_WM_SLIDE_ID" val="custom20184567_5"/>
  <p:tag name="KSO_WM_SLIDE_INDEX" val="5"/>
  <p:tag name="KSO_WM_TEMPLATE_SUBCATEGORY" val="combine"/>
  <p:tag name="KSO_WM_SLIDE_SUBTYPE" val="pureTxt"/>
</p:tagLst>
</file>

<file path=ppt/tags/tag62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5*a*1"/>
</p:tagLst>
</file>

<file path=ppt/tags/tag63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232"/>
  <p:tag name="KSO_WM_UNIT_PRESET_TEXT_INDEX" val="5"/>
  <p:tag name="KSO_WM_UNIT_CLEAR" val="0"/>
  <p:tag name="KSO_WM_UNIT_COMPATIBLE" val="0"/>
  <p:tag name="KSO_WM_UNIT_HIGHLIGHT" val="0"/>
  <p:tag name="KSO_WM_UNIT_VALUE" val="273"/>
  <p:tag name="KSO_WM_UNIT_LAYERLEVEL" val="1"/>
  <p:tag name="KSO_WM_UNIT_INDEX" val="1"/>
  <p:tag name="KSO_WM_UNIT_TYPE" val="f"/>
  <p:tag name="KSO_WM_UNIT_ID" val="custom20184567_5*f*1"/>
</p:tagLst>
</file>

<file path=ppt/tags/tag64.xml><?xml version="1.0" encoding="utf-8"?>
<p:tagLst xmlns:p="http://schemas.openxmlformats.org/presentationml/2006/main">
  <p:tag name="KSO_WM_SLIDE_SIZE" val="828*342"/>
  <p:tag name="KSO_WM_SLIDE_POSITION" val="66*143"/>
  <p:tag name="KSO_WM_SLIDE_LAYOUT_CNT" val="1_2"/>
  <p:tag name="KSO_WM_SLIDE_LAYOUT" val="a_f"/>
  <p:tag name="KSO_WM_BEAUTIFY_FLAG" val="#wm#"/>
  <p:tag name="KSO_WM_SLIDE_TYPE" val="text"/>
  <p:tag name="KSO_WM_SLIDE_ITEM_CNT" val="2"/>
  <p:tag name="KSO_WM_TAG_VERSION" val="1.0"/>
  <p:tag name="KSO_WM_COMBINE_RELATE_SLIDE_ID" val="background20180962_3"/>
  <p:tag name="KSO_WM_TEMPLATE_CATEGORY" val="custom"/>
  <p:tag name="KSO_WM_TEMPLATE_INDEX" val="20184567"/>
  <p:tag name="KSO_WM_SLIDE_ID" val="custom20184567_5"/>
  <p:tag name="KSO_WM_SLIDE_INDEX" val="5"/>
  <p:tag name="KSO_WM_TEMPLATE_SUBCATEGORY" val="combine"/>
  <p:tag name="KSO_WM_SLIDE_SUBTYPE" val="pureTxt"/>
</p:tagLst>
</file>

<file path=ppt/tags/tag65.xml><?xml version="1.0" encoding="utf-8"?>
<p:tagLst xmlns:p="http://schemas.openxmlformats.org/presentationml/2006/main">
  <p:tag name="KSO_WM_SLIDE_SIZE" val="828*342"/>
  <p:tag name="KSO_WM_SLIDE_POSITION" val="66*143"/>
  <p:tag name="KSO_WM_SLIDE_LAYOUT_CNT" val="1_2"/>
  <p:tag name="KSO_WM_SLIDE_LAYOUT" val="a_f"/>
  <p:tag name="KSO_WM_BEAUTIFY_FLAG" val="#wm#"/>
  <p:tag name="KSO_WM_SLIDE_TYPE" val="text"/>
  <p:tag name="KSO_WM_SLIDE_ITEM_CNT" val="2"/>
  <p:tag name="KSO_WM_TAG_VERSION" val="1.0"/>
  <p:tag name="KSO_WM_COMBINE_RELATE_SLIDE_ID" val="background20180962_3"/>
  <p:tag name="KSO_WM_TEMPLATE_CATEGORY" val="custom"/>
  <p:tag name="KSO_WM_TEMPLATE_INDEX" val="20184567"/>
  <p:tag name="KSO_WM_SLIDE_ID" val="custom20184567_5"/>
  <p:tag name="KSO_WM_SLIDE_INDEX" val="5"/>
  <p:tag name="KSO_WM_TEMPLATE_SUBCATEGORY" val="combine"/>
  <p:tag name="KSO_WM_SLIDE_SUBTYPE" val="pureTxt"/>
</p:tagLst>
</file>

<file path=ppt/tags/tag66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TYPE" val="a"/>
  <p:tag name="KSO_WM_UNIT_ID" val="custom20184567_5*a*1"/>
</p:tagLst>
</file>

<file path=ppt/tags/tag67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232"/>
  <p:tag name="KSO_WM_UNIT_PRESET_TEXT_INDEX" val="5"/>
  <p:tag name="KSO_WM_UNIT_CLEAR" val="0"/>
  <p:tag name="KSO_WM_UNIT_COMPATIBLE" val="0"/>
  <p:tag name="KSO_WM_UNIT_HIGHLIGHT" val="0"/>
  <p:tag name="KSO_WM_UNIT_VALUE" val="273"/>
  <p:tag name="KSO_WM_UNIT_LAYERLEVEL" val="1"/>
  <p:tag name="KSO_WM_UNIT_INDEX" val="1"/>
  <p:tag name="KSO_WM_UNIT_TYPE" val="f"/>
  <p:tag name="KSO_WM_UNIT_ID" val="custom20184567_5*f*1"/>
</p:tagLst>
</file>

<file path=ppt/tags/tag68.xml><?xml version="1.0" encoding="utf-8"?>
<p:tagLst xmlns:p="http://schemas.openxmlformats.org/presentationml/2006/main">
  <p:tag name="KSO_WM_SLIDE_SIZE" val="828*342"/>
  <p:tag name="KSO_WM_SLIDE_POSITION" val="66*143"/>
  <p:tag name="KSO_WM_SLIDE_LAYOUT_CNT" val="1_2"/>
  <p:tag name="KSO_WM_SLIDE_LAYOUT" val="a_f"/>
  <p:tag name="KSO_WM_BEAUTIFY_FLAG" val="#wm#"/>
  <p:tag name="KSO_WM_SLIDE_TYPE" val="text"/>
  <p:tag name="KSO_WM_SLIDE_ITEM_CNT" val="2"/>
  <p:tag name="KSO_WM_TAG_VERSION" val="1.0"/>
  <p:tag name="KSO_WM_COMBINE_RELATE_SLIDE_ID" val="background20180962_3"/>
  <p:tag name="KSO_WM_TEMPLATE_CATEGORY" val="custom"/>
  <p:tag name="KSO_WM_TEMPLATE_INDEX" val="20184567"/>
  <p:tag name="KSO_WM_SLIDE_ID" val="custom20184567_5"/>
  <p:tag name="KSO_WM_SLIDE_INDEX" val="5"/>
  <p:tag name="KSO_WM_TEMPLATE_SUBCATEGORY" val="combine"/>
  <p:tag name="KSO_WM_SLIDE_SUBTYPE" val="pureTxt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184567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184567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184567"/>
</p:tagLst>
</file>

<file path=ppt/tags/tag72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42"/>
  <p:tag name="KSO_WM_UNIT_LAYERLEVEL" val="1"/>
  <p:tag name="KSO_WM_UNIT_INDEX" val="1"/>
  <p:tag name="KSO_WM_UNIT_TYPE" val="a"/>
  <p:tag name="KSO_WM_UNIT_ID" val="custom20184567_15*a*1"/>
</p:tagLst>
</file>

<file path=ppt/tags/tag73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PRESET_TEXT_LEN" val="57"/>
  <p:tag name="KSO_WM_UNIT_PRESET_TEXT_INDEX" val="4"/>
  <p:tag name="KSO_WM_UNIT_CLEAR" val="0"/>
  <p:tag name="KSO_WM_UNIT_COMPATIBLE" val="0"/>
  <p:tag name="KSO_WM_UNIT_HIGHLIGHT" val="0"/>
  <p:tag name="KSO_WM_UNIT_VALUE" val="144"/>
  <p:tag name="KSO_WM_UNIT_LAYERLEVEL" val="1"/>
  <p:tag name="KSO_WM_UNIT_INDEX" val="1"/>
  <p:tag name="KSO_WM_UNIT_TYPE" val="f"/>
  <p:tag name="KSO_WM_UNIT_ID" val="custom20184567_15*f*1"/>
</p:tagLst>
</file>

<file path=ppt/tags/tag7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4567_15*i*2"/>
  <p:tag name="KSO_WM_TEMPLATE_CATEGORY" val="custom"/>
  <p:tag name="KSO_WM_TEMPLATE_INDEX" val="20184567"/>
  <p:tag name="KSO_WM_UNIT_INDEX" val="2"/>
</p:tagLst>
</file>

<file path=ppt/tags/tag75.xml><?xml version="1.0" encoding="utf-8"?>
<p:tagLst xmlns:p="http://schemas.openxmlformats.org/presentationml/2006/main">
  <p:tag name="KSO_WM_SLIDE_LAYOUT_CNT" val="1_1"/>
  <p:tag name="KSO_WM_SLIDE_LAYOUT" val="a_f"/>
  <p:tag name="KSO_WM_SLIDE_SIZE" val="891*84"/>
  <p:tag name="KSO_WM_SLIDE_POSITION" val="38*269"/>
  <p:tag name="KSO_WM_BEAUTIFY_FLAG" val="#wm#"/>
  <p:tag name="KSO_WM_SLIDE_TYPE" val="text"/>
  <p:tag name="KSO_WM_SLIDE_ITEM_CNT" val="1"/>
  <p:tag name="KSO_WM_TAG_VERSION" val="1.0"/>
  <p:tag name="KSO_WM_COMBINE_RELATE_SLIDE_ID" val="background20180962_8"/>
  <p:tag name="KSO_WM_TEMPLATE_CATEGORY" val="custom"/>
  <p:tag name="KSO_WM_TEMPLATE_INDEX" val="20184567"/>
  <p:tag name="KSO_WM_SLIDE_ID" val="custom20184567_15"/>
  <p:tag name="KSO_WM_SLIDE_INDEX" val="15"/>
  <p:tag name="KSO_WM_TEMPLATE_SUBCATEGORY" val="combine"/>
  <p:tag name="KSO_WM_SLIDE_SUBTYPE" val="pureTxt"/>
</p:tagLst>
</file>

<file path=ppt/tags/tag76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TYPE" val="a"/>
  <p:tag name="KSO_WM_UNIT_INDEX" val="1"/>
  <p:tag name="KSO_WM_UNIT_LAYERLEVEL" val="1"/>
  <p:tag name="KSO_WM_UNIT_VALUE" val="11"/>
  <p:tag name="KSO_WM_UNIT_ISCONTENTSTITLE" val="0"/>
  <p:tag name="KSO_WM_UNIT_HIGHLIGHT" val="0"/>
  <p:tag name="KSO_WM_UNIT_COMPATIBLE" val="0"/>
  <p:tag name="KSO_WM_UNIT_CLEAR" val="0"/>
  <p:tag name="KSO_WM_UNIT_ID" val="custom20184567_17*a*1"/>
  <p:tag name="KSO_WM_UNIT_PRESET_TEXT" val="谢谢观看"/>
</p:tagLst>
</file>

<file path=ppt/tags/tag77.xml><?xml version="1.0" encoding="utf-8"?>
<p:tagLst xmlns:p="http://schemas.openxmlformats.org/presentationml/2006/main">
  <p:tag name="KSO_WM_TEMPLATE_CATEGORY" val="custom"/>
  <p:tag name="KSO_WM_TEMPLATE_INDEX" val="20184567"/>
  <p:tag name="KSO_WM_TAG_VERSION" val="1.0"/>
  <p:tag name="KSO_WM_BEAUTIFY_FLAG" val="#wm#"/>
  <p:tag name="KSO_WM_UNIT_TYPE" val="f"/>
  <p:tag name="KSO_WM_UNIT_INDEX" val="1"/>
  <p:tag name="KSO_WM_UNIT_LAYERLEVEL" val="1"/>
  <p:tag name="KSO_WM_UNIT_VALUE" val="50"/>
  <p:tag name="KSO_WM_UNIT_HIGHLIGHT" val="0"/>
  <p:tag name="KSO_WM_UNIT_COMPATIBLE" val="0"/>
  <p:tag name="KSO_WM_UNIT_CLEAR" val="0"/>
  <p:tag name="KSO_WM_UNIT_ID" val="custom20184567_17*f*1"/>
  <p:tag name="KSO_WM_UNIT_PRESET_TEXT" val="THANK YOU"/>
</p:tagLst>
</file>

<file path=ppt/tags/tag78.xml><?xml version="1.0" encoding="utf-8"?>
<p:tagLst xmlns:p="http://schemas.openxmlformats.org/presentationml/2006/main">
  <p:tag name="KSO_WM_TAG_VERSION" val="1.0"/>
  <p:tag name="KSO_WM_SLIDE_ITEM_CNT" val="2"/>
  <p:tag name="KSO_WM_SLIDE_LAYOUT" val="a_f"/>
  <p:tag name="KSO_WM_SLIDE_LAYOUT_CNT" val="1_1"/>
  <p:tag name="KSO_WM_SLIDE_TYPE" val="endPage"/>
  <p:tag name="KSO_WM_BEAUTIFY_FLAG" val="#wm#"/>
  <p:tag name="KSO_WM_COMBINE_RELATE_SLIDE_ID" val="background20180962_10"/>
  <p:tag name="KSO_WM_TEMPLATE_CATEGORY" val="custom"/>
  <p:tag name="KSO_WM_TEMPLATE_INDEX" val="20184567"/>
  <p:tag name="KSO_WM_SLIDE_ID" val="custom20184567_17"/>
  <p:tag name="KSO_WM_SLIDE_INDEX" val="17"/>
  <p:tag name="KSO_WM_TEMPLATE_SUBCATEGORY" val="combine"/>
  <p:tag name="KSO_WM_SLIDE_SUBTYPE" val="pureTxt"/>
</p:tagLst>
</file>

<file path=ppt/theme/theme1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29BA0"/>
      </a:accent1>
      <a:accent2>
        <a:srgbClr val="A0C1D1"/>
      </a:accent2>
      <a:accent3>
        <a:srgbClr val="FFFFFF"/>
      </a:accent3>
      <a:accent4>
        <a:srgbClr val="000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ibctw3x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2538</Words>
  <Application>WPS 演示</Application>
  <PresentationFormat>宽屏</PresentationFormat>
  <Paragraphs>191</Paragraphs>
  <Slides>27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宋体</vt:lpstr>
      <vt:lpstr>Wingdings</vt:lpstr>
      <vt:lpstr>Tahoma</vt:lpstr>
      <vt:lpstr>Times New Roman</vt:lpstr>
      <vt:lpstr>Calibri</vt:lpstr>
      <vt:lpstr>微软雅黑</vt:lpstr>
      <vt:lpstr>Arial Unicode MS</vt:lpstr>
      <vt:lpstr>-apple-system</vt:lpstr>
      <vt:lpstr>Verdana</vt:lpstr>
      <vt:lpstr>Arial</vt:lpstr>
      <vt:lpstr>黑体</vt:lpstr>
      <vt:lpstr>Segoe Print</vt:lpstr>
      <vt:lpstr>1_Office 主题</vt:lpstr>
      <vt:lpstr>Equation.KSEE3</vt:lpstr>
      <vt:lpstr>Equation.KSEE3</vt:lpstr>
      <vt:lpstr>Logistic 回归</vt:lpstr>
      <vt:lpstr>PowerPoint 演示文稿</vt:lpstr>
      <vt:lpstr>背景</vt:lpstr>
      <vt:lpstr>背景</vt:lpstr>
      <vt:lpstr>背景</vt:lpstr>
      <vt:lpstr>背景</vt:lpstr>
      <vt:lpstr>二项Logistic回归模型</vt:lpstr>
      <vt:lpstr>二项Logistic回归模型</vt:lpstr>
      <vt:lpstr>二项Logistic回归模型</vt:lpstr>
      <vt:lpstr>决策边界(Decision Boundary)</vt:lpstr>
      <vt:lpstr>决策边界(Decision Boundary)</vt:lpstr>
      <vt:lpstr>决策边界(Decision Boundary)</vt:lpstr>
      <vt:lpstr>模型参数估计</vt:lpstr>
      <vt:lpstr>模型参数估计</vt:lpstr>
      <vt:lpstr>模型参数估计</vt:lpstr>
      <vt:lpstr>模型参数估计</vt:lpstr>
      <vt:lpstr>模型参数估计</vt:lpstr>
      <vt:lpstr>PowerPoint 演示文稿</vt:lpstr>
      <vt:lpstr>PowerPoint 演示文稿</vt:lpstr>
      <vt:lpstr>Logistic的拓展</vt:lpstr>
      <vt:lpstr> </vt:lpstr>
      <vt:lpstr>Logistic的拓展</vt:lpstr>
      <vt:lpstr>PowerPoint 演示文稿</vt:lpstr>
      <vt:lpstr>PowerPoint 演示文稿</vt:lpstr>
      <vt:lpstr>PowerPoint 演示文稿</vt:lpstr>
      <vt:lpstr>PowerPoint 演示文稿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[The best or nothing]</cp:lastModifiedBy>
  <cp:revision>41</cp:revision>
  <dcterms:created xsi:type="dcterms:W3CDTF">2018-05-19T04:59:00Z</dcterms:created>
  <dcterms:modified xsi:type="dcterms:W3CDTF">2018-05-25T07:34:01Z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